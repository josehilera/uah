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2" r:id="rId2"/>
  </p:sldMasterIdLst>
  <p:notesMasterIdLst>
    <p:notesMasterId r:id="rId16"/>
  </p:notesMasterIdLst>
  <p:sldIdLst>
    <p:sldId id="500" r:id="rId3"/>
    <p:sldId id="501" r:id="rId4"/>
    <p:sldId id="407" r:id="rId5"/>
    <p:sldId id="527" r:id="rId6"/>
    <p:sldId id="533" r:id="rId7"/>
    <p:sldId id="534" r:id="rId8"/>
    <p:sldId id="528" r:id="rId9"/>
    <p:sldId id="529" r:id="rId10"/>
    <p:sldId id="530" r:id="rId11"/>
    <p:sldId id="531" r:id="rId12"/>
    <p:sldId id="535" r:id="rId13"/>
    <p:sldId id="536" r:id="rId14"/>
    <p:sldId id="526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434" autoAdjust="0"/>
  </p:normalViewPr>
  <p:slideViewPr>
    <p:cSldViewPr snapToGrid="0">
      <p:cViewPr varScale="1">
        <p:scale>
          <a:sx n="68" d="100"/>
          <a:sy n="68" d="100"/>
        </p:scale>
        <p:origin x="1166" y="101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6FEF4D-0142-46B4-AC7F-5B868160AD8E}" type="datetimeFigureOut">
              <a:rPr lang="es-ES" smtClean="0"/>
              <a:t>12/11/2025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8CBC7-3B2B-4C22-92A9-AEE2213136AA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6109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B8CBC7-3B2B-4C22-92A9-AEE2213136A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3979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2387600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ctr"/>
          <a:lstStyle>
            <a:lvl1pPr algn="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0323" y="2854692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311319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45223" y="1491517"/>
            <a:ext cx="9161585" cy="4698268"/>
          </a:xfrm>
        </p:spPr>
        <p:txBody>
          <a:bodyPr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/>
            </a:lvl1pPr>
            <a:lvl2pPr marL="685800" indent="-228600">
              <a:spcBef>
                <a:spcPts val="1200"/>
              </a:spcBef>
              <a:buFont typeface="Courier New" panose="02070309020205020404" pitchFamily="49" charset="0"/>
              <a:buChar char="o"/>
              <a:defRPr/>
            </a:lvl2pPr>
            <a:lvl3pPr>
              <a:spcBef>
                <a:spcPts val="1200"/>
              </a:spcBef>
              <a:defRPr/>
            </a:lvl3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0EA5-8E19-4BC4-934C-2C82A50D6490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9226061" y="6356350"/>
            <a:ext cx="2743200" cy="365125"/>
          </a:xfrm>
        </p:spPr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4316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marL="354013" indent="0">
              <a:defRPr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7538" y="1491517"/>
            <a:ext cx="11025553" cy="4698268"/>
          </a:xfrm>
        </p:spPr>
        <p:txBody>
          <a:bodyPr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/>
            </a:lvl1pPr>
            <a:lvl2pPr marL="685800" indent="-228600">
              <a:spcBef>
                <a:spcPts val="1200"/>
              </a:spcBef>
              <a:buFont typeface="Courier New" panose="02070309020205020404" pitchFamily="49" charset="0"/>
              <a:buChar char="o"/>
              <a:defRPr/>
            </a:lvl2pPr>
            <a:lvl3pPr>
              <a:spcBef>
                <a:spcPts val="1200"/>
              </a:spcBef>
              <a:defRPr/>
            </a:lvl3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0EA5-8E19-4BC4-934C-2C82A50D6490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9226061" y="6356350"/>
            <a:ext cx="2743200" cy="365125"/>
          </a:xfrm>
        </p:spPr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71519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C9D08-3C16-416B-B8F9-4D4A629F38C9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1949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E605-5CBB-40FE-87B4-05B62A5CAB7C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88140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06281-1CDF-413F-B502-D8EF9109D251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665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46C39-2265-4ECA-84D0-AFE501AC4C1C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40353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D3683-7933-4D92-B730-4B8490CCDF4B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45139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D45B-6432-4BD4-BB2B-6E8E1493A879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8924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BFDE-1D6E-4E03-A53A-F1B29D2D0A86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87348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43F0-BAC6-4443-92A3-9EA2CC19B9B7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59388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633C-AB28-4AC7-B7B0-41DFBCF1B247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11380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3348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9229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83556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85864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97660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89982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97037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98797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08488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84880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1310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46C39-2265-4ECA-84D0-AFE501AC4C1C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75578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2" r:id="rId4"/>
    <p:sldLayoutId id="2147483653" r:id="rId5"/>
    <p:sldLayoutId id="2147483654" r:id="rId6"/>
    <p:sldLayoutId id="2147483661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2111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ah.es/es/estudios/profesor/Jose-Ramon-Hilera-Gonzalez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creativecommons.org/licenses/by-sa/4.0/" TargetMode="External"/><Relationship Id="rId4" Type="http://schemas.openxmlformats.org/officeDocument/2006/relationships/hyperlink" Target="https://twitter.com/software_a11y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oe.es/diario_boe/txt.php?id=BOE-A-2018-12699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dministracionelectronica.gob.es/ctt/dir3/descargas" TargetMode="External"/><Relationship Id="rId2" Type="http://schemas.openxmlformats.org/officeDocument/2006/relationships/hyperlink" Target="https://administracionelectronica.gob.es/pae_Home/pae_Estrategias/pae_Accesibilidad/implantacion-rd-1112-2018/unidades-responsables-de-accesibilidad.html#.YoeZtVRBxZU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dministracionelectronica.gob.es/pae_Home/pae_Estrategias/pae_Accesibilidad/implantacion-rd-1112-2018/unidades-responsables-de-accesibilidad.html#.YoeZtVRBxZU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dministracionelectronica.gob.es/pae_Home/dam/jcr:04b2f6f7-01fe-43fe-bc01-0bf4b09f8a9f/INFOG_PresentacionInfomres_PeriodosPosteriores_CS6.svg" TargetMode="External"/><Relationship Id="rId2" Type="http://schemas.openxmlformats.org/officeDocument/2006/relationships/hyperlink" Target="https://administracionelectronica.gob.es/pae_Home/pae_Estrategias/pae_Accesibilidad/implantacion-rd-1112-2018/monitorizacion_y_reporte.html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administracionelectronica.gob.es/pae_Home/pae_Estrategias/pae_Accesibilidad/implantacion-rd-1112-2018/unidades-responsables-de-accesibilidad.html#INFORMESURA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portalesmunicipales.dival.es/sites/default/files/Documentos/Accesibilidad/Recogida%20de%20informes%20de%20accesibilidad%20-%20Manual%20de%20usuario.pdf" TargetMode="External"/><Relationship Id="rId2" Type="http://schemas.openxmlformats.org/officeDocument/2006/relationships/hyperlink" Target="https://administracionelectronica.gob.es/accesibilidad/recogidaInformes.htm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listas-ctt.administracionelectronica.gob.es/pipermail/caccesibilidad-uras/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/>
              <a:t>Unidades </a:t>
            </a:r>
            <a:r>
              <a:rPr lang="es-ES" dirty="0"/>
              <a:t>Responsables de Accesibilidad (URA)</a:t>
            </a:r>
          </a:p>
        </p:txBody>
      </p:sp>
      <p:sp>
        <p:nvSpPr>
          <p:cNvPr id="6" name="Subtítulo 5"/>
          <p:cNvSpPr>
            <a:spLocks noGrp="1"/>
          </p:cNvSpPr>
          <p:nvPr>
            <p:ph type="subTitle" idx="1"/>
          </p:nvPr>
        </p:nvSpPr>
        <p:spPr>
          <a:xfrm>
            <a:off x="703385" y="4210492"/>
            <a:ext cx="11087100" cy="1908953"/>
          </a:xfrm>
        </p:spPr>
        <p:txBody>
          <a:bodyPr>
            <a:normAutofit/>
          </a:bodyPr>
          <a:lstStyle/>
          <a:p>
            <a:pPr algn="r"/>
            <a:r>
              <a:rPr lang="en-US" b="1" dirty="0"/>
              <a:t>								</a:t>
            </a:r>
            <a:r>
              <a:rPr lang="en-US" b="1" dirty="0">
                <a:hlinkClick r:id="rId3"/>
              </a:rPr>
              <a:t>José Ramón Hilera González</a:t>
            </a:r>
            <a:br>
              <a:rPr lang="en-US" b="1" dirty="0"/>
            </a:br>
            <a:r>
              <a:rPr lang="en-US" sz="2000" dirty="0"/>
              <a:t>jose.hilera@uah.es</a:t>
            </a:r>
            <a:br>
              <a:rPr lang="en-US" sz="2000" b="1" dirty="0"/>
            </a:br>
            <a:r>
              <a:rPr lang="en-US" sz="2000" dirty="0">
                <a:hlinkClick r:id="rId4"/>
              </a:rPr>
              <a:t>@software_a11y</a:t>
            </a:r>
            <a:endParaRPr lang="en-US" sz="2000" dirty="0"/>
          </a:p>
          <a:p>
            <a:pPr algn="r"/>
            <a:endParaRPr lang="en-US" b="1" i="1" dirty="0"/>
          </a:p>
          <a:p>
            <a:pPr algn="r"/>
            <a:endParaRPr lang="es-ES" i="1" dirty="0"/>
          </a:p>
          <a:p>
            <a:endParaRPr lang="es-ES" dirty="0"/>
          </a:p>
        </p:txBody>
      </p:sp>
      <p:pic>
        <p:nvPicPr>
          <p:cNvPr id="7" name="Imagen 6" title="Licencia CC BY-SA">
            <a:hlinkClick r:id="rId5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17" y="5972364"/>
            <a:ext cx="1658180" cy="584132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4294967295"/>
          </p:nvPr>
        </p:nvSpPr>
        <p:spPr>
          <a:xfrm>
            <a:off x="9173309" y="6373934"/>
            <a:ext cx="2743200" cy="365125"/>
          </a:xfrm>
        </p:spPr>
        <p:txBody>
          <a:bodyPr/>
          <a:lstStyle/>
          <a:p>
            <a:fld id="{C9400CC4-AA0F-4E2E-A7D9-25BF1D2A8A6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0172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Contenidos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dirty="0"/>
              <a:t>Introducción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Ámbito competencial de una URA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Designación de una URA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Listado de </a:t>
            </a:r>
            <a:r>
              <a:rPr lang="es-ES" dirty="0" err="1"/>
              <a:t>URAs</a:t>
            </a:r>
            <a:r>
              <a:rPr lang="es-ES" dirty="0"/>
              <a:t> actualizado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Funciones de la URA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Informes a elaborar por la URA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Red de contactos de </a:t>
            </a:r>
            <a:r>
              <a:rPr lang="es-ES" dirty="0" err="1"/>
              <a:t>URAs</a:t>
            </a:r>
            <a:endParaRPr lang="es-ES" dirty="0"/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Conclusiones</a:t>
            </a:r>
          </a:p>
          <a:p>
            <a:pPr marL="514350" indent="-514350">
              <a:buFont typeface="+mj-lt"/>
              <a:buAutoNum type="arabicPeriod"/>
            </a:pPr>
            <a:endParaRPr lang="es-ES" dirty="0"/>
          </a:p>
          <a:p>
            <a:pPr marL="514350" indent="-514350">
              <a:buFont typeface="+mj-lt"/>
              <a:buAutoNum type="arabicPeriod"/>
            </a:pPr>
            <a:endParaRPr lang="es-ES" dirty="0"/>
          </a:p>
          <a:p>
            <a:pPr marL="514350" indent="-514350">
              <a:buFont typeface="+mj-lt"/>
              <a:buAutoNum type="arabicPeriod"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5299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Introducción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Según el </a:t>
            </a:r>
            <a:r>
              <a:rPr lang="es-ES" dirty="0">
                <a:hlinkClick r:id="rId2"/>
              </a:rPr>
              <a:t>RD 1112/2018</a:t>
            </a:r>
            <a:r>
              <a:rPr lang="es-ES" dirty="0"/>
              <a:t> existirán Unidades Responsables de Accesibilidad (URA) encargadas de garantizar el cumplimiento de los requisitos de accesibilidad de los sitios web y aplicaciones para dispositivos móviles dentro de su ámbito competencial.</a:t>
            </a:r>
          </a:p>
          <a:p>
            <a:r>
              <a:rPr lang="es-ES" dirty="0"/>
              <a:t>Cada URA definirá el modelo de funcionamiento dentro de su ámbito competencial actuando directamente sobre todo el ámbito o con un posible esquema de responsables de accesibilidad delegados en los diferentes organismos o entidades dependientes.</a:t>
            </a:r>
          </a:p>
          <a:p>
            <a:endParaRPr lang="es-ES" dirty="0"/>
          </a:p>
          <a:p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62950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67A72A-A8AB-415C-AA6F-AE30171C6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Ámbito competencial de una URA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EE6D9F-FBB4-4870-B845-19DDC3239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/>
              <a:t>En la Administración General del Estado se designarán las </a:t>
            </a:r>
            <a:r>
              <a:rPr lang="es-ES" dirty="0" err="1"/>
              <a:t>URAs</a:t>
            </a:r>
            <a:r>
              <a:rPr lang="es-ES" dirty="0"/>
              <a:t> en el ámbito de las Subsecretarías de cada Departamento considerando todos los posibles organismos públicos y entidades de derecho público dependientes de ese Departamento.</a:t>
            </a:r>
          </a:p>
          <a:p>
            <a:pPr lvl="1"/>
            <a:r>
              <a:rPr lang="es-ES" dirty="0"/>
              <a:t>Se ha designado una URA por cada Ministerio.</a:t>
            </a:r>
          </a:p>
          <a:p>
            <a:r>
              <a:rPr lang="es-ES" dirty="0"/>
              <a:t>En las comunidades autónomas se designará la URA para todo el ámbito autonómico.</a:t>
            </a:r>
          </a:p>
          <a:p>
            <a:pPr lvl="1"/>
            <a:r>
              <a:rPr lang="es-ES" dirty="0"/>
              <a:t>Se ha designado una URA por cada Gobierno Autonómico</a:t>
            </a:r>
          </a:p>
          <a:p>
            <a:r>
              <a:rPr lang="es-ES" dirty="0"/>
              <a:t>En las entidades locales y demás organismos obligados (como universidades, tribunales, Congreso, Senado, etc.) se designará, conforme a sus características organizativas propias, la URA de su ámbito.</a:t>
            </a:r>
          </a:p>
          <a:p>
            <a:pPr lvl="1"/>
            <a:r>
              <a:rPr lang="es-ES" dirty="0"/>
              <a:t>Cada entidad local deberá designar su unidad responsable de accesibilidad salvo aquellos casos, que considerando el tamaño de la entidad local y la labor realizada desde la diputación provincial o equivalente, se estime oportuno designar un responsable de accesibilidad único para múltiples entidades locales.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EE58F4-23B3-4119-8B59-E1A0D7CB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13595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F2222-2004-42F7-8A24-23489FB2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Designación de una URA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FC2F4D-7187-401A-95D2-5CAC32860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En el </a:t>
            </a:r>
            <a:r>
              <a:rPr lang="es-ES" dirty="0">
                <a:hlinkClick r:id="rId2"/>
              </a:rPr>
              <a:t>Observatorio de Accesibilidad</a:t>
            </a:r>
            <a:r>
              <a:rPr lang="es-ES" dirty="0"/>
              <a:t> se indica que para designar o modificar una URA hay que enviar a </a:t>
            </a:r>
            <a:r>
              <a:rPr lang="es-ES" b="1" dirty="0"/>
              <a:t>observ.accesibilidad@correo.gob.es </a:t>
            </a:r>
            <a:r>
              <a:rPr lang="es-ES" dirty="0"/>
              <a:t>un documento firmado electrónicamente en el que figure la siguiente información:</a:t>
            </a:r>
          </a:p>
          <a:p>
            <a:pPr lvl="1"/>
            <a:r>
              <a:rPr lang="es-ES" dirty="0"/>
              <a:t>Datos de contacto de la URA designada: </a:t>
            </a:r>
          </a:p>
          <a:p>
            <a:pPr lvl="2"/>
            <a:r>
              <a:rPr lang="es-ES" dirty="0"/>
              <a:t>Nombre o denominación</a:t>
            </a:r>
          </a:p>
          <a:p>
            <a:pPr lvl="2"/>
            <a:r>
              <a:rPr lang="es-ES" dirty="0">
                <a:hlinkClick r:id="rId3"/>
              </a:rPr>
              <a:t>Código DIR3</a:t>
            </a:r>
            <a:endParaRPr lang="es-ES" dirty="0"/>
          </a:p>
          <a:p>
            <a:pPr lvl="2"/>
            <a:r>
              <a:rPr lang="es-ES" dirty="0"/>
              <a:t>Dirección</a:t>
            </a:r>
          </a:p>
          <a:p>
            <a:pPr lvl="2"/>
            <a:r>
              <a:rPr lang="es-ES" dirty="0"/>
              <a:t>Teléfono</a:t>
            </a:r>
          </a:p>
          <a:p>
            <a:pPr lvl="2"/>
            <a:r>
              <a:rPr lang="es-ES" dirty="0"/>
              <a:t>Correo electrónico.</a:t>
            </a:r>
          </a:p>
          <a:p>
            <a:pPr lvl="1"/>
            <a:r>
              <a:rPr lang="es-ES" dirty="0"/>
              <a:t>Titular de la URA: </a:t>
            </a:r>
          </a:p>
          <a:p>
            <a:pPr lvl="2"/>
            <a:r>
              <a:rPr lang="es-ES" dirty="0"/>
              <a:t>Nombre y apellidos</a:t>
            </a:r>
          </a:p>
          <a:p>
            <a:pPr lvl="2"/>
            <a:r>
              <a:rPr lang="es-ES" dirty="0"/>
              <a:t>Correo electrónico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4B2B59-5C1F-447A-8AAE-BEEE5083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56449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256226-53F9-49E9-AE43-120B88596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Listado de </a:t>
            </a:r>
            <a:r>
              <a:rPr lang="es-ES" dirty="0" err="1"/>
              <a:t>URAs</a:t>
            </a:r>
            <a:r>
              <a:rPr lang="es-ES" dirty="0"/>
              <a:t> actuales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48F4C0-E3B1-4E2E-9DD3-1F9BDA7FF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Listado disponible en el </a:t>
            </a:r>
            <a:r>
              <a:rPr lang="es-ES" dirty="0">
                <a:hlinkClick r:id="rId2"/>
              </a:rPr>
              <a:t>Observatorio de Accesibilidad</a:t>
            </a:r>
            <a:r>
              <a:rPr lang="es-ES" dirty="0"/>
              <a:t> organizado por ámbito</a:t>
            </a:r>
          </a:p>
          <a:p>
            <a:pPr lvl="1"/>
            <a:r>
              <a:rPr lang="es-ES" dirty="0"/>
              <a:t>Administración General del Estado</a:t>
            </a:r>
          </a:p>
          <a:p>
            <a:pPr lvl="1"/>
            <a:r>
              <a:rPr lang="es-ES" dirty="0"/>
              <a:t>Comunidades Autónomas</a:t>
            </a:r>
          </a:p>
          <a:p>
            <a:pPr lvl="1"/>
            <a:r>
              <a:rPr lang="es-ES" dirty="0"/>
              <a:t>Entidades Locales (en archivo Excel)</a:t>
            </a:r>
          </a:p>
          <a:p>
            <a:pPr lvl="1"/>
            <a:r>
              <a:rPr lang="es-ES" dirty="0"/>
              <a:t>Universidades (en archivo Excel)</a:t>
            </a:r>
          </a:p>
          <a:p>
            <a:pPr lvl="1"/>
            <a:r>
              <a:rPr lang="es-ES" dirty="0"/>
              <a:t>Otras Instituciones</a:t>
            </a:r>
          </a:p>
          <a:p>
            <a:pPr lvl="1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AAB125-6501-414D-A25F-140BBFE21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6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4CD031E-8870-4BE3-B3E3-2F7F4FCC9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076" y="2395496"/>
            <a:ext cx="4464232" cy="407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416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AFB7EB-FF65-45A9-B8BE-192A263C1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Funciones de la URA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FAEBD0-99C1-4C81-B9C9-6161A67A1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538" y="1491517"/>
            <a:ext cx="11025553" cy="5229958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lphaLcParenR"/>
            </a:pPr>
            <a:r>
              <a:rPr lang="es-ES" dirty="0"/>
              <a:t>Coordinar y velar por el funcionamiento efectivo de los </a:t>
            </a:r>
            <a:r>
              <a:rPr lang="es-ES" b="1" dirty="0"/>
              <a:t>mecanismos de comunicación </a:t>
            </a:r>
            <a:r>
              <a:rPr lang="es-ES" dirty="0"/>
              <a:t>ayudando a la definición, emitiendo directrices y promoviendo la existencia de los medios y procedimientos para garantizar una adecuada gestión y atención de cuantas consultas, sugerencias, comunicaciones, quejas y solicitudes de información accesible se reciban en cada uno de los órganos, organismos o entidades bajo su competencia.</a:t>
            </a:r>
          </a:p>
          <a:p>
            <a:pPr marL="514350" indent="-514350">
              <a:buFont typeface="+mj-lt"/>
              <a:buAutoNum type="alphaLcParenR"/>
            </a:pPr>
            <a:r>
              <a:rPr lang="es-ES" dirty="0"/>
              <a:t>Atender y dar respuesta a las </a:t>
            </a:r>
            <a:r>
              <a:rPr lang="es-ES" b="1" dirty="0"/>
              <a:t>reclamaciones</a:t>
            </a:r>
            <a:r>
              <a:rPr lang="es-ES" dirty="0"/>
              <a:t> que le sean dirigidas.</a:t>
            </a:r>
          </a:p>
          <a:p>
            <a:pPr marL="514350" indent="-514350">
              <a:buFont typeface="+mj-lt"/>
              <a:buAutoNum type="alphaLcParenR"/>
            </a:pPr>
            <a:r>
              <a:rPr lang="es-ES" dirty="0"/>
              <a:t>Revisar las evaluaciones realizadas para acogerse a la excepción del cumplimiento de los requisitos de accesibilidad por imponer éstos una </a:t>
            </a:r>
            <a:r>
              <a:rPr lang="es-ES" b="1" dirty="0"/>
              <a:t>carga desproporcionada</a:t>
            </a:r>
            <a:r>
              <a:rPr lang="es-ES" dirty="0"/>
              <a:t>.</a:t>
            </a:r>
          </a:p>
          <a:p>
            <a:pPr marL="514350" indent="-514350">
              <a:buFont typeface="+mj-lt"/>
              <a:buAutoNum type="alphaLcParenR"/>
            </a:pPr>
            <a:r>
              <a:rPr lang="es-ES" dirty="0"/>
              <a:t>C</a:t>
            </a:r>
            <a:r>
              <a:rPr lang="es-ES" b="1" dirty="0"/>
              <a:t>oordinar las revisiones periódicas de accesibilidad </a:t>
            </a:r>
            <a:r>
              <a:rPr lang="es-ES" dirty="0"/>
              <a:t>con la colaboración, en su caso, de las Unidades de tecnologías de la información y comunicaciones.</a:t>
            </a:r>
          </a:p>
          <a:p>
            <a:pPr marL="514350" indent="-514350">
              <a:buFont typeface="+mj-lt"/>
              <a:buAutoNum type="alphaLcParenR"/>
            </a:pPr>
            <a:r>
              <a:rPr lang="es-ES" dirty="0"/>
              <a:t>Coordinar y fomentar </a:t>
            </a:r>
            <a:r>
              <a:rPr lang="es-ES" b="1" dirty="0"/>
              <a:t>actividades de promoción, concienciación y formación</a:t>
            </a:r>
            <a:r>
              <a:rPr lang="es-ES" dirty="0"/>
              <a:t>.</a:t>
            </a:r>
          </a:p>
          <a:p>
            <a:pPr marL="514350" indent="-514350">
              <a:buFont typeface="+mj-lt"/>
              <a:buAutoNum type="alphaLcParenR"/>
            </a:pPr>
            <a:r>
              <a:rPr lang="es-ES" dirty="0"/>
              <a:t>Realizar los </a:t>
            </a:r>
            <a:r>
              <a:rPr lang="es-ES" b="1" dirty="0"/>
              <a:t>informes anuales </a:t>
            </a:r>
            <a:r>
              <a:rPr lang="es-ES" dirty="0"/>
              <a:t>establecidos.</a:t>
            </a:r>
          </a:p>
          <a:p>
            <a:pPr marL="514350" indent="-514350">
              <a:buFont typeface="+mj-lt"/>
              <a:buAutoNum type="alphaLcParenR"/>
            </a:pPr>
            <a:r>
              <a:rPr lang="es-ES" dirty="0"/>
              <a:t>Actuar como </a:t>
            </a:r>
            <a:r>
              <a:rPr lang="es-ES" b="1" dirty="0"/>
              <a:t>punto de contacto </a:t>
            </a:r>
            <a:r>
              <a:rPr lang="es-ES" dirty="0"/>
              <a:t>con el organismo encargado de realizar el seguimiento y presentación de informes y colaborar con las tareas que tiene asignadas</a:t>
            </a:r>
          </a:p>
          <a:p>
            <a:pPr marL="514350" indent="-514350">
              <a:buFont typeface="+mj-lt"/>
              <a:buAutoNum type="alphaLcParenR"/>
            </a:pPr>
            <a:r>
              <a:rPr lang="es-ES" dirty="0"/>
              <a:t>Cualesquiera otras, que en garantía de la accesibilidad de los sitios web y aplicaciones para dispositivos móviles le puedan ser atribuidas.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B0A7A0-E390-4E32-9601-0B936DBFC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26026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9DB57-CE0D-44B4-A211-8D109429A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6. Informes a elaborar por la URA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6D1556-F46D-4528-AF34-3329BB082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539" y="1491517"/>
            <a:ext cx="5568461" cy="4698268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Cada URA debe preparar tres informes anuales sobre su ámbito de actuación que enviará al organismo de seguimiento (</a:t>
            </a:r>
            <a:r>
              <a:rPr lang="es-ES" dirty="0">
                <a:hlinkClick r:id="rId2"/>
              </a:rPr>
              <a:t>Observatorio de Accesibilidad</a:t>
            </a:r>
            <a:r>
              <a:rPr lang="es-ES" dirty="0"/>
              <a:t>) antes del 1 de octubre de cada año</a:t>
            </a:r>
          </a:p>
          <a:p>
            <a:pPr marL="914400" lvl="1" indent="-457200">
              <a:buFont typeface="+mj-lt"/>
              <a:buAutoNum type="alphaLcParenR"/>
            </a:pPr>
            <a:r>
              <a:rPr lang="es-ES" dirty="0"/>
              <a:t>Informe sobre la atención de quejas y reclamaciones</a:t>
            </a:r>
          </a:p>
          <a:p>
            <a:pPr marL="914400" lvl="1" indent="-457200">
              <a:buFont typeface="+mj-lt"/>
              <a:buAutoNum type="alphaLcParenR"/>
            </a:pPr>
            <a:r>
              <a:rPr lang="es-ES" dirty="0"/>
              <a:t>Informe de seguimiento sobre el cumplimiento de los requisitos de accesibilidad</a:t>
            </a:r>
          </a:p>
          <a:p>
            <a:pPr marL="914400" lvl="1" indent="-457200">
              <a:buFont typeface="+mj-lt"/>
              <a:buAutoNum type="alphaLcParenR"/>
            </a:pPr>
            <a:r>
              <a:rPr lang="es-ES" dirty="0"/>
              <a:t>Informe de seguimiento sobre la promoción, concienciación y formación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C17035-986D-4412-822C-C1E4E8A48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8</a:t>
            </a:fld>
            <a:endParaRPr lang="es-ES" dirty="0"/>
          </a:p>
        </p:txBody>
      </p:sp>
      <p:pic>
        <p:nvPicPr>
          <p:cNvPr id="6" name="Gráfico 5">
            <a:hlinkClick r:id="rId3"/>
            <a:extLst>
              <a:ext uri="{FF2B5EF4-FFF2-40B4-BE49-F238E27FC236}">
                <a16:creationId xmlns:a16="http://schemas.microsoft.com/office/drawing/2014/main" id="{D2E42289-6217-4D35-855D-233C17C8D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30620" y="1666875"/>
            <a:ext cx="5961380" cy="4212614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34BF3515-426E-4415-AC0F-0FB1B97E1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3773182"/>
            <a:ext cx="3130061" cy="22222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3303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9DB57-CE0D-44B4-A211-8D109429A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6. Informes a elaborar por la URA</a:t>
            </a:r>
            <a:br>
              <a:rPr lang="es-ES" dirty="0"/>
            </a:br>
            <a:r>
              <a:rPr lang="es-ES" dirty="0"/>
              <a:t>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6D1556-F46D-4528-AF34-3329BB082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/>
              <a:t>Informe sobre la atención de quejas y reclamaciones. Incluirá:</a:t>
            </a:r>
          </a:p>
          <a:p>
            <a:pPr lvl="1"/>
            <a:r>
              <a:rPr lang="es-ES" dirty="0"/>
              <a:t>Medidas puestas en práctica para atender las quejas y reclamaciones</a:t>
            </a:r>
          </a:p>
          <a:p>
            <a:pPr lvl="1"/>
            <a:r>
              <a:rPr lang="es-ES" dirty="0"/>
              <a:t>Un estudio de las comunicaciones, consultas, sugerencias, solicitudes de información accesible y quejas formuladas</a:t>
            </a:r>
          </a:p>
          <a:p>
            <a:pPr lvl="1"/>
            <a:r>
              <a:rPr lang="es-ES" dirty="0"/>
              <a:t>Un estudio de las reclamaciones atendidas y revisiones realizadas</a:t>
            </a:r>
          </a:p>
          <a:p>
            <a:r>
              <a:rPr lang="es-ES" dirty="0"/>
              <a:t>Informe de seguimiento de los requisitos de accesibilidad. Incluirá:</a:t>
            </a:r>
          </a:p>
          <a:p>
            <a:pPr lvl="1"/>
            <a:r>
              <a:rPr lang="es-ES" dirty="0"/>
              <a:t>Medidas puestas en marcha para garantizar las revisiones periódicas de accesibilidad </a:t>
            </a:r>
          </a:p>
          <a:p>
            <a:pPr lvl="1"/>
            <a:r>
              <a:rPr lang="es-ES" dirty="0"/>
              <a:t>Resultados derivados de las medidas</a:t>
            </a:r>
          </a:p>
          <a:p>
            <a:pPr lvl="1"/>
            <a:r>
              <a:rPr lang="es-ES" dirty="0"/>
              <a:t>Todos los informes de revisión de la accesibilidad realizados por las entidades </a:t>
            </a:r>
          </a:p>
          <a:p>
            <a:r>
              <a:rPr lang="es-ES" dirty="0"/>
              <a:t>Informe de seguimiento sobre la promoción, concienciación y formación. Incluirá:</a:t>
            </a:r>
          </a:p>
          <a:p>
            <a:pPr lvl="1"/>
            <a:r>
              <a:rPr lang="es-ES" dirty="0"/>
              <a:t>Medidas puestas en marcha sobre promoción, concienciación y formación en accesibilidad</a:t>
            </a:r>
          </a:p>
          <a:p>
            <a:pPr lvl="1"/>
            <a:r>
              <a:rPr lang="es-ES" dirty="0"/>
              <a:t>Resultados derivados de las medidas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C17035-986D-4412-822C-C1E4E8A48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1890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9DB57-CE0D-44B4-A211-8D109429A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6. Informes a elaborar por la URA</a:t>
            </a:r>
            <a:br>
              <a:rPr lang="es-ES" dirty="0"/>
            </a:br>
            <a:r>
              <a:rPr lang="es-ES" dirty="0"/>
              <a:t>Modelos para los informes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6D1556-F46D-4528-AF34-3329BB082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>
                <a:hlinkClick r:id="rId2"/>
              </a:rPr>
              <a:t>Modelos disponibles en el Observatorio de Accesibilidad</a:t>
            </a:r>
            <a:r>
              <a:rPr lang="es-ES" dirty="0"/>
              <a:t> en formatos XLSX y ODS</a:t>
            </a:r>
          </a:p>
          <a:p>
            <a:endParaRPr lang="es-ES" dirty="0"/>
          </a:p>
          <a:p>
            <a:endParaRPr lang="es-ES" dirty="0"/>
          </a:p>
          <a:p>
            <a:pPr lvl="1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C17035-986D-4412-822C-C1E4E8A48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10</a:t>
            </a:fld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021F6DE-EC75-4CDC-B318-74BA282CC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317" y="2611421"/>
            <a:ext cx="4639488" cy="163515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1A1428E-C395-4DA4-96EA-922803E7F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149" y="2675106"/>
            <a:ext cx="5687851" cy="222963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072CD84-E568-490E-AD02-30A6EB80C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4895" y="5175153"/>
            <a:ext cx="7587574" cy="153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384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D6938-8BF9-41C9-8834-8067BFA4C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6. Informes a elaborar por la URA</a:t>
            </a:r>
            <a:br>
              <a:rPr lang="es-ES" dirty="0"/>
            </a:br>
            <a:r>
              <a:rPr lang="es-ES" dirty="0"/>
              <a:t>Recogida de informes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EF32C4-E112-4480-A349-2709F8E63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539" y="1491517"/>
            <a:ext cx="5327726" cy="4698268"/>
          </a:xfrm>
        </p:spPr>
        <p:txBody>
          <a:bodyPr/>
          <a:lstStyle/>
          <a:p>
            <a:r>
              <a:rPr lang="es-ES" dirty="0"/>
              <a:t>Desde el Portal de la Administración electrónica, las </a:t>
            </a:r>
            <a:r>
              <a:rPr lang="es-ES" dirty="0" err="1"/>
              <a:t>URAs</a:t>
            </a:r>
            <a:r>
              <a:rPr lang="es-ES" dirty="0"/>
              <a:t> deben enviar los informes, utilizando un formulario de </a:t>
            </a:r>
            <a:r>
              <a:rPr lang="es-ES" dirty="0">
                <a:hlinkClick r:id="rId2"/>
              </a:rPr>
              <a:t>Recogida de Informes de Accesibilidad</a:t>
            </a:r>
            <a:r>
              <a:rPr lang="es-ES" dirty="0"/>
              <a:t> </a:t>
            </a:r>
          </a:p>
          <a:p>
            <a:r>
              <a:rPr lang="es-ES" dirty="0"/>
              <a:t>Existe un </a:t>
            </a:r>
            <a:r>
              <a:rPr lang="es-ES" dirty="0">
                <a:hlinkClick r:id="rId3"/>
              </a:rPr>
              <a:t>manual de usuario del formulario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888DA2-1C59-4D57-AC3A-3C3012991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11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6A21FFF-DE00-4B7B-B26A-40BCA158A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30331"/>
            <a:ext cx="6080588" cy="385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16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31C95C-6F33-4C54-99B8-58AB9BD66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7. Red de Contactos de </a:t>
            </a:r>
            <a:r>
              <a:rPr lang="es-ES" dirty="0" err="1"/>
              <a:t>URAs</a:t>
            </a:r>
            <a:r>
              <a:rPr lang="es-ES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6A341A-BC35-4B34-96D5-1D86F1BA3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En el RD 1112/2018 Art. 20 se  crea la Red de Contactos de Accesibilidad Digital de las Administraciones Públicas con funciones de asistencia al Ministerio </a:t>
            </a:r>
          </a:p>
          <a:p>
            <a:r>
              <a:rPr lang="es-ES" dirty="0"/>
              <a:t>En la Red están incluidas las personas titulares de las </a:t>
            </a:r>
            <a:r>
              <a:rPr lang="es-ES" dirty="0" err="1"/>
              <a:t>URAs</a:t>
            </a:r>
            <a:endParaRPr lang="es-ES" dirty="0"/>
          </a:p>
          <a:p>
            <a:r>
              <a:rPr lang="es-ES" dirty="0"/>
              <a:t>Existe una lista de distribución: </a:t>
            </a:r>
            <a:r>
              <a:rPr lang="es-ES" dirty="0">
                <a:hlinkClick r:id="rId2"/>
              </a:rPr>
              <a:t>Caccesibilidad-uras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FADEBF-73FD-4077-A1B0-AD7E15CD2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93237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8. Conclusiones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>
          <a:xfrm>
            <a:off x="527538" y="1491516"/>
            <a:ext cx="11025553" cy="4964367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Los organismos del sector público a cargo de un sitio web o aplicación móvil    dependen de una Unidad Responsable de Accesibilidad (URA)</a:t>
            </a:r>
          </a:p>
          <a:p>
            <a:r>
              <a:rPr lang="es-ES" dirty="0"/>
              <a:t>Una URA debe recopilar los informes sobre la accesibilidad de los sitios web y aplicaciones móviles de los organismos de su ámbito competencial</a:t>
            </a:r>
          </a:p>
          <a:p>
            <a:r>
              <a:rPr lang="es-ES" dirty="0"/>
              <a:t>Cada URA debe enviar anualmente al Organismo de seguimiento (en España, el Observatorio de Accesibilidad) informes sobre su actividad</a:t>
            </a:r>
          </a:p>
          <a:p>
            <a:r>
              <a:rPr lang="es-ES" dirty="0"/>
              <a:t>Las </a:t>
            </a:r>
            <a:r>
              <a:rPr lang="es-ES" dirty="0" err="1"/>
              <a:t>URAs</a:t>
            </a:r>
            <a:r>
              <a:rPr lang="es-ES" dirty="0"/>
              <a:t> son las encargadas del seguimiento:</a:t>
            </a:r>
          </a:p>
          <a:p>
            <a:pPr lvl="1"/>
            <a:r>
              <a:rPr lang="es-ES" dirty="0"/>
              <a:t>sobre el cumplimiento de los requisitos de accesibilidad</a:t>
            </a:r>
          </a:p>
          <a:p>
            <a:pPr lvl="1"/>
            <a:r>
              <a:rPr lang="es-ES" dirty="0"/>
              <a:t>sobre la atención de quejas y reclamaciones</a:t>
            </a:r>
          </a:p>
          <a:p>
            <a:pPr lvl="1"/>
            <a:r>
              <a:rPr lang="es-ES" dirty="0"/>
              <a:t>sobre la promoción, concienciación y formación en accesibilidad</a:t>
            </a:r>
          </a:p>
          <a:p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201666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2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8877</TotalTime>
  <Words>1033</Words>
  <Application>Microsoft Office PowerPoint</Application>
  <PresentationFormat>Panorámica</PresentationFormat>
  <Paragraphs>105</Paragraphs>
  <Slides>13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Wingdings</vt:lpstr>
      <vt:lpstr>Tema de Office</vt:lpstr>
      <vt:lpstr>Diseño personalizado</vt:lpstr>
      <vt:lpstr>Unidades Responsables de Accesibilidad (URA)</vt:lpstr>
      <vt:lpstr>Contenidos</vt:lpstr>
      <vt:lpstr>1. Introducción</vt:lpstr>
      <vt:lpstr>2. Ámbito competencial de una URA</vt:lpstr>
      <vt:lpstr>3. Designación de una URA</vt:lpstr>
      <vt:lpstr>4. Listado de URAs actuales</vt:lpstr>
      <vt:lpstr>5. Funciones de la URA</vt:lpstr>
      <vt:lpstr>6. Informes a elaborar por la URA</vt:lpstr>
      <vt:lpstr>6. Informes a elaborar por la URA Contenido</vt:lpstr>
      <vt:lpstr>6. Informes a elaborar por la URA Modelos para los informes</vt:lpstr>
      <vt:lpstr>6. Informes a elaborar por la URA Recogida de informes</vt:lpstr>
      <vt:lpstr>7. Red de Contactos de URAs </vt:lpstr>
      <vt:lpstr>8. 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Unidades Responsables de Accesibilidad (URA)</dc:title>
  <dc:creator>Hilera González José Ramón</dc:creator>
  <cp:lastModifiedBy>jose hilera</cp:lastModifiedBy>
  <cp:revision>550</cp:revision>
  <dcterms:created xsi:type="dcterms:W3CDTF">2016-04-13T08:22:41Z</dcterms:created>
  <dcterms:modified xsi:type="dcterms:W3CDTF">2025-11-12T18:23:38Z</dcterms:modified>
</cp:coreProperties>
</file>