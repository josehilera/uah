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</p:sldMasterIdLst>
  <p:notesMasterIdLst>
    <p:notesMasterId r:id="rId31"/>
  </p:notesMasterIdLst>
  <p:sldIdLst>
    <p:sldId id="500" r:id="rId3"/>
    <p:sldId id="501" r:id="rId4"/>
    <p:sldId id="407" r:id="rId5"/>
    <p:sldId id="558" r:id="rId6"/>
    <p:sldId id="588" r:id="rId7"/>
    <p:sldId id="546" r:id="rId8"/>
    <p:sldId id="554" r:id="rId9"/>
    <p:sldId id="555" r:id="rId10"/>
    <p:sldId id="596" r:id="rId11"/>
    <p:sldId id="551" r:id="rId12"/>
    <p:sldId id="552" r:id="rId13"/>
    <p:sldId id="549" r:id="rId14"/>
    <p:sldId id="550" r:id="rId15"/>
    <p:sldId id="556" r:id="rId16"/>
    <p:sldId id="548" r:id="rId17"/>
    <p:sldId id="520" r:id="rId18"/>
    <p:sldId id="507" r:id="rId19"/>
    <p:sldId id="513" r:id="rId20"/>
    <p:sldId id="404" r:id="rId21"/>
    <p:sldId id="508" r:id="rId22"/>
    <p:sldId id="509" r:id="rId23"/>
    <p:sldId id="459" r:id="rId24"/>
    <p:sldId id="598" r:id="rId25"/>
    <p:sldId id="505" r:id="rId26"/>
    <p:sldId id="597" r:id="rId27"/>
    <p:sldId id="557" r:id="rId28"/>
    <p:sldId id="518" r:id="rId29"/>
    <p:sldId id="526" r:id="rId3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434" autoAdjust="0"/>
  </p:normalViewPr>
  <p:slideViewPr>
    <p:cSldViewPr snapToGrid="0">
      <p:cViewPr varScale="1">
        <p:scale>
          <a:sx n="68" d="100"/>
          <a:sy n="68" d="100"/>
        </p:scale>
        <p:origin x="1166" y="101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FEF4D-0142-46B4-AC7F-5B868160AD8E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8CBC7-3B2B-4C22-92A9-AEE2213136A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10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8CBC7-3B2B-4C22-92A9-AEE2213136A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3979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387600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ctr"/>
          <a:lstStyle>
            <a:lvl1pPr algn="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0323" y="2854692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1131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45223" y="1491517"/>
            <a:ext cx="9161585" cy="469826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200"/>
              </a:spcBef>
              <a:buFont typeface="Courier New" panose="02070309020205020404" pitchFamily="49" charset="0"/>
              <a:buChar char="o"/>
              <a:defRPr/>
            </a:lvl2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0EA5-8E19-4BC4-934C-2C82A50D6490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26061" y="6356350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431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354013" indent="0">
              <a:defRPr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469826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200"/>
              </a:spcBef>
              <a:buFont typeface="Courier New" panose="02070309020205020404" pitchFamily="49" charset="0"/>
              <a:buChar char="o"/>
              <a:defRPr/>
            </a:lvl2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0EA5-8E19-4BC4-934C-2C82A50D6490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26061" y="6356350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151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C9D08-3C16-416B-B8F9-4D4A629F38C9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194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E605-5CBB-40FE-87B4-05B62A5CAB7C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814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06281-1CDF-413F-B502-D8EF9109D251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6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46C39-2265-4ECA-84D0-AFE501AC4C1C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035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D3683-7933-4D92-B730-4B8490CCDF4B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5139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D45B-6432-4BD4-BB2B-6E8E1493A879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924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BFDE-1D6E-4E03-A53A-F1B29D2D0A86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734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43F0-BAC6-4443-92A3-9EA2CC19B9B7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9388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633C-AB28-4AC7-B7B0-41DFBCF1B247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11380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3348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9229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355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586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766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998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9703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9879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08488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8488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31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46C39-2265-4ECA-84D0-AFE501AC4C1C}" type="datetime1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557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53" r:id="rId5"/>
    <p:sldLayoutId id="2147483654" r:id="rId6"/>
    <p:sldLayoutId id="2147483661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B338E-2CA8-4990-93F8-04B6F142715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211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ah.es/es/estudios/profesor/Jose-Ramon-Hilera-Gonzalez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creativecommons.org/licenses/by-sa/4.0/" TargetMode="External"/><Relationship Id="rId4" Type="http://schemas.openxmlformats.org/officeDocument/2006/relationships/hyperlink" Target="https://twitter.com/software_a11y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osehilera.github.io/a11y-lists/a11y-evaluation-tools.html" TargetMode="External"/><Relationship Id="rId2" Type="http://schemas.openxmlformats.org/officeDocument/2006/relationships/hyperlink" Target="https://www.w3.org/WAI/ER/tools/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0CTezA0iDdaWggaqxuHawj-5u8YXdZeWBJsIkuvJ364/edit?usp=sharing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ave.webaim.org/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administracionelectronica.gob.es/pae_Home/pae_Estrategias/pae_Accesibilidad/pae_Comunidad_Accesibilidad/Video-Servicio-Diagnostico-en-linea.html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chrome.google.com/webstore/detail/axe-devtools-web-accessib/lhdoppojpmngadmnindnejefpokejbdd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pgi.com/color-contrast-checker/" TargetMode="External"/><Relationship Id="rId2" Type="http://schemas.openxmlformats.org/officeDocument/2006/relationships/hyperlink" Target="https://docs.google.com/spreadsheets/d/10CTezA0iDdaWggaqxuHawj-5u8YXdZeWBJsIkuvJ364/edit?usp=sharing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hrome.google.com/webstore/detail/wcag-color-contrast-check/plnahcmalebffmaghcpcmpaciebdhg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tpgi.com/color-contrast-checker/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trace.umd.edu/peat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dministracionelectronica.gob.es/pae_Home/pae_Estrategias/pae_Accesibilidad/pae_documentacion/pae_eInclusion_Accesibilidad_de_PDF.html" TargetMode="External"/><Relationship Id="rId2" Type="http://schemas.openxmlformats.org/officeDocument/2006/relationships/hyperlink" Target="https://docs.google.com/spreadsheets/d/10CTezA0iDdaWggaqxuHawj-5u8YXdZeWBJsIkuvJ364/edit?usp=sharing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checkers.eiii.eu/en/pdfcheck/" TargetMode="External"/><Relationship Id="rId7" Type="http://schemas.openxmlformats.org/officeDocument/2006/relationships/image" Target="../media/image11.png"/><Relationship Id="rId2" Type="http://schemas.openxmlformats.org/officeDocument/2006/relationships/hyperlink" Target="https://pac.pdf-accessibility.org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pave-pdf.org/pave/index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pederick.com/work/web-developer/" TargetMode="External"/><Relationship Id="rId2" Type="http://schemas.openxmlformats.org/officeDocument/2006/relationships/hyperlink" Target="https://docs.google.com/spreadsheets/d/10CTezA0iDdaWggaqxuHawj-5u8YXdZeWBJsIkuvJ364/edit?usp=sharing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dpn.io/pen/debug/YLMqbo" TargetMode="External"/><Relationship Id="rId4" Type="http://schemas.openxmlformats.org/officeDocument/2006/relationships/hyperlink" Target="https://chromewebstore.google.com/detail/headingsmap/flbjommegcjonpdmenkdiocclhjacmbi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chrome.google.com/webstore/detail/web-developer/bfbameneiokkgbdmiekhjnmfkcnldhhm?hl=es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SlBY2cBbfmg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chrome.google.com/webstore/category/collection/3p_accessibility_extensions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g7QfYwMOWo?si=MjgJSGPxs_2WNj-w" TargetMode="External"/><Relationship Id="rId2" Type="http://schemas.openxmlformats.org/officeDocument/2006/relationships/hyperlink" Target="https://nvda.es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tHDOg8TdGg0?si=PL5dKmiQg_zohIF0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google.android.marvin.talkback&amp;gl=ES" TargetMode="External"/><Relationship Id="rId2" Type="http://schemas.openxmlformats.org/officeDocument/2006/relationships/hyperlink" Target="https://youtu.be/tHDOg8TdGg0?si=PL5dKmiQg_zohIF0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hyperlink" Target="https://support.google.com/accessibility/android/answer/6151827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playlist?list=PLoGFizEtm_6hpR94GCSk834-rs_094U02&amp;si=tXtwhqQYR9CtMelO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0CTezA0iDdaWggaqxuHawj-5u8YXdZeWBJsIkuvJ364/edit?usp=sharing" TargetMode="Externa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videmux.sourceforge.net/download.html" TargetMode="External"/><Relationship Id="rId2" Type="http://schemas.openxmlformats.org/officeDocument/2006/relationships/hyperlink" Target="https://obsproject.com/es/download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videolan.org/vlc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hrome.google.com/webstore/detail/chromelens/idikgljglpfilbhaboonnpnnincjhjkd" TargetMode="External"/><Relationship Id="rId2" Type="http://schemas.openxmlformats.org/officeDocument/2006/relationships/hyperlink" Target="https://docs.google.com/spreadsheets/d/10CTezA0iDdaWggaqxuHawj-5u8YXdZeWBJsIkuvJ364/edit?usp=sharing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Herramientas para la revisión de la accesibilidad de un sitio web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>
          <a:xfrm>
            <a:off x="703385" y="4210492"/>
            <a:ext cx="11087100" cy="1908953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								</a:t>
            </a:r>
            <a:r>
              <a:rPr lang="en-US" b="1" dirty="0">
                <a:hlinkClick r:id="rId3"/>
              </a:rPr>
              <a:t>José Ramón Hilera González</a:t>
            </a:r>
            <a:br>
              <a:rPr lang="en-US" b="1" dirty="0"/>
            </a:br>
            <a:r>
              <a:rPr lang="en-US" sz="2000" dirty="0"/>
              <a:t>jose.hilera@uah.es</a:t>
            </a:r>
            <a:br>
              <a:rPr lang="en-US" sz="2000" b="1" dirty="0"/>
            </a:br>
            <a:r>
              <a:rPr lang="en-US" sz="2000" dirty="0">
                <a:hlinkClick r:id="rId4"/>
              </a:rPr>
              <a:t>@software_a11y</a:t>
            </a:r>
            <a:endParaRPr lang="en-US" sz="2000" dirty="0"/>
          </a:p>
          <a:p>
            <a:pPr algn="r"/>
            <a:endParaRPr lang="en-US" b="1" i="1" dirty="0"/>
          </a:p>
          <a:p>
            <a:pPr algn="r"/>
            <a:endParaRPr lang="es-ES" i="1" dirty="0"/>
          </a:p>
          <a:p>
            <a:endParaRPr lang="es-ES" dirty="0"/>
          </a:p>
        </p:txBody>
      </p:sp>
      <p:pic>
        <p:nvPicPr>
          <p:cNvPr id="7" name="Imagen 6" title="Licencia CC BY-SA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17" y="5972364"/>
            <a:ext cx="1658180" cy="584132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4294967295"/>
          </p:nvPr>
        </p:nvSpPr>
        <p:spPr>
          <a:xfrm>
            <a:off x="9173309" y="6373934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017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Introducción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Herramientas de evaluación automática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Herramientas de evaluación manual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Conjunto básico de herramientas para la evaluación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Conclusiones</a:t>
            </a:r>
          </a:p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529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Introducción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La comprobación, revisión, o evaluación de la accesibilidad de un sitio web consiste en comprobar si dicho sitio web no presenta barreras para su utilización por parte de personas con diferentes tipos de discapacidad</a:t>
            </a:r>
          </a:p>
          <a:p>
            <a:r>
              <a:rPr lang="es-ES" dirty="0"/>
              <a:t>La revisión de la accesibilidad implica:</a:t>
            </a:r>
          </a:p>
          <a:p>
            <a:pPr lvl="1"/>
            <a:r>
              <a:rPr lang="es-ES" dirty="0"/>
              <a:t>Utilizar herramientas de evaluación automática</a:t>
            </a:r>
          </a:p>
          <a:p>
            <a:pPr lvl="1"/>
            <a:r>
              <a:rPr lang="es-ES" dirty="0"/>
              <a:t>Utilizar herramientas de evaluación manual</a:t>
            </a:r>
          </a:p>
          <a:p>
            <a:r>
              <a:rPr lang="es-ES" dirty="0"/>
              <a:t>Existen publicadas listas de herramientas</a:t>
            </a:r>
          </a:p>
          <a:p>
            <a:pPr lvl="1"/>
            <a:r>
              <a:rPr lang="es-ES" dirty="0"/>
              <a:t>Lista de herramientas del </a:t>
            </a:r>
            <a:r>
              <a:rPr lang="es-ES" dirty="0">
                <a:hlinkClick r:id="rId2"/>
              </a:rPr>
              <a:t>W3C</a:t>
            </a:r>
            <a:endParaRPr lang="es-ES" dirty="0"/>
          </a:p>
          <a:p>
            <a:pPr lvl="1"/>
            <a:r>
              <a:rPr lang="es-ES" dirty="0"/>
              <a:t>Lista de herramientas </a:t>
            </a:r>
            <a:r>
              <a:rPr lang="es-ES" dirty="0">
                <a:hlinkClick r:id="rId3"/>
              </a:rPr>
              <a:t>a11y-evaluation-tools</a:t>
            </a:r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6295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Herramientas de evaluación automática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6"/>
            <a:ext cx="11230453" cy="5092163"/>
          </a:xfrm>
        </p:spPr>
        <p:txBody>
          <a:bodyPr>
            <a:normAutofit lnSpcReduction="10000"/>
          </a:bodyPr>
          <a:lstStyle/>
          <a:p>
            <a:r>
              <a:rPr lang="es-ES" dirty="0"/>
              <a:t>Permiten encontrar de forma automática posibles problemas de accesibilidad en los sitios web</a:t>
            </a:r>
          </a:p>
          <a:p>
            <a:r>
              <a:rPr lang="es-ES" dirty="0"/>
              <a:t>Categorías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Evaluación automática de una o varias páginas web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Evaluación automática de contraste de colores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Evaluación automática de destellos en animaciones o vídeos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Evaluación automática de documentos no web (</a:t>
            </a:r>
            <a:r>
              <a:rPr lang="es-ES" dirty="0" err="1"/>
              <a:t>pdf</a:t>
            </a:r>
            <a:r>
              <a:rPr lang="es-ES" dirty="0"/>
              <a:t>, docx, </a:t>
            </a:r>
            <a:r>
              <a:rPr lang="es-ES" dirty="0" err="1"/>
              <a:t>pptx</a:t>
            </a:r>
            <a:r>
              <a:rPr lang="es-ES" dirty="0"/>
              <a:t>, </a:t>
            </a:r>
            <a:r>
              <a:rPr lang="es-ES" dirty="0" err="1"/>
              <a:t>xslx</a:t>
            </a:r>
            <a:r>
              <a:rPr lang="es-ES" dirty="0"/>
              <a:t>, </a:t>
            </a:r>
            <a:r>
              <a:rPr lang="es-ES" dirty="0" err="1"/>
              <a:t>odf</a:t>
            </a:r>
            <a:r>
              <a:rPr lang="es-ES" dirty="0"/>
              <a:t>, </a:t>
            </a:r>
            <a:r>
              <a:rPr lang="es-ES" dirty="0" err="1"/>
              <a:t>epub</a:t>
            </a:r>
            <a:r>
              <a:rPr lang="es-ES" dirty="0"/>
              <a:t>). Cuando hay que revisar requisitos relacionados con:</a:t>
            </a:r>
          </a:p>
          <a:p>
            <a:pPr lvl="2"/>
            <a:r>
              <a:rPr lang="es-ES" dirty="0"/>
              <a:t>documentos descargables desde un sitio web</a:t>
            </a:r>
          </a:p>
          <a:p>
            <a:pPr lvl="2"/>
            <a:r>
              <a:rPr lang="es-ES" dirty="0"/>
              <a:t>funciones de transformación de documentos de un sitio web</a:t>
            </a:r>
          </a:p>
          <a:p>
            <a:pPr lvl="2"/>
            <a:r>
              <a:rPr lang="es-ES" dirty="0"/>
              <a:t>la documentación de ayuda o apoyo asociada a un sitio web</a:t>
            </a:r>
          </a:p>
          <a:p>
            <a:endParaRPr lang="es-ES" dirty="0"/>
          </a:p>
          <a:p>
            <a:endParaRPr lang="es-ES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658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Herramientas de evaluación automática</a:t>
            </a:r>
            <a:br>
              <a:rPr lang="es-ES" dirty="0"/>
            </a:br>
            <a:r>
              <a:rPr lang="es-ES" dirty="0"/>
              <a:t>Búsqueda de herramientas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6"/>
            <a:ext cx="11230453" cy="5092163"/>
          </a:xfrm>
        </p:spPr>
        <p:txBody>
          <a:bodyPr>
            <a:normAutofit lnSpcReduction="10000"/>
          </a:bodyPr>
          <a:lstStyle/>
          <a:p>
            <a:r>
              <a:rPr lang="es-ES" dirty="0"/>
              <a:t>Se pueden buscar herramientas disponibles en el mercado usando la lista </a:t>
            </a:r>
            <a:r>
              <a:rPr lang="es-ES" dirty="0">
                <a:hlinkClick r:id="rId2"/>
              </a:rPr>
              <a:t>a11y-evaluation-tools</a:t>
            </a:r>
            <a:r>
              <a:rPr lang="es-ES" dirty="0"/>
              <a:t>:</a:t>
            </a:r>
          </a:p>
          <a:p>
            <a:r>
              <a:rPr lang="es-ES" dirty="0"/>
              <a:t>CATEGORY=“</a:t>
            </a:r>
            <a:r>
              <a:rPr lang="es-ES" dirty="0" err="1"/>
              <a:t>Automatic</a:t>
            </a:r>
            <a:r>
              <a:rPr lang="es-ES" dirty="0"/>
              <a:t> </a:t>
            </a:r>
            <a:r>
              <a:rPr lang="es-ES" dirty="0" err="1"/>
              <a:t>Evaluation</a:t>
            </a:r>
            <a:r>
              <a:rPr lang="es-ES" dirty="0"/>
              <a:t> Tool”</a:t>
            </a:r>
          </a:p>
          <a:p>
            <a:pPr lvl="1"/>
            <a:r>
              <a:rPr lang="es-ES" dirty="0"/>
              <a:t>SCOPE=“Web Page”</a:t>
            </a:r>
          </a:p>
          <a:p>
            <a:pPr lvl="1"/>
            <a:r>
              <a:rPr lang="es-ES" dirty="0"/>
              <a:t>SCOPE=“Web Site”</a:t>
            </a:r>
          </a:p>
          <a:p>
            <a:pPr lvl="1"/>
            <a:r>
              <a:rPr lang="es-ES" dirty="0"/>
              <a:t>SCOPE=“Color Contrast”</a:t>
            </a:r>
          </a:p>
          <a:p>
            <a:pPr lvl="1"/>
            <a:r>
              <a:rPr lang="es-ES" dirty="0"/>
              <a:t>SCOPE=“</a:t>
            </a:r>
            <a:r>
              <a:rPr lang="es-ES" dirty="0" err="1"/>
              <a:t>Document</a:t>
            </a:r>
            <a:r>
              <a:rPr lang="es-ES" dirty="0"/>
              <a:t>”</a:t>
            </a:r>
          </a:p>
          <a:p>
            <a:r>
              <a:rPr lang="es-ES" dirty="0"/>
              <a:t>Otros filtros</a:t>
            </a:r>
          </a:p>
          <a:p>
            <a:pPr lvl="1"/>
            <a:r>
              <a:rPr lang="es-ES" dirty="0"/>
              <a:t>TYPE=“Online </a:t>
            </a:r>
            <a:r>
              <a:rPr lang="es-ES" dirty="0" err="1"/>
              <a:t>tool</a:t>
            </a:r>
            <a:r>
              <a:rPr lang="es-ES" dirty="0"/>
              <a:t>”, “Browser Plugin”, …</a:t>
            </a:r>
          </a:p>
          <a:p>
            <a:pPr lvl="1"/>
            <a:r>
              <a:rPr lang="es-ES" dirty="0"/>
              <a:t>LICENCE=“Open </a:t>
            </a:r>
            <a:r>
              <a:rPr lang="es-ES" dirty="0" err="1"/>
              <a:t>Source</a:t>
            </a:r>
            <a:r>
              <a:rPr lang="es-ES" dirty="0"/>
              <a:t>”, “Free”, …</a:t>
            </a:r>
          </a:p>
          <a:p>
            <a:endParaRPr lang="es-ES" dirty="0"/>
          </a:p>
          <a:p>
            <a:endParaRPr lang="es-ES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7476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Herramientas de evaluación automática</a:t>
            </a:r>
            <a:br>
              <a:rPr lang="es-ES" dirty="0"/>
            </a:br>
            <a:r>
              <a:rPr lang="es-ES" dirty="0"/>
              <a:t>Ejemplos de herramientas de evaluación de páginas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9" y="1491517"/>
            <a:ext cx="11102808" cy="1623158"/>
          </a:xfrm>
        </p:spPr>
        <p:txBody>
          <a:bodyPr>
            <a:normAutofit fontScale="92500" lnSpcReduction="20000"/>
          </a:bodyPr>
          <a:lstStyle/>
          <a:p>
            <a:r>
              <a:rPr lang="es-ES" dirty="0">
                <a:hlinkClick r:id="rId2"/>
              </a:rPr>
              <a:t>Servicio de diagnóstico en línea</a:t>
            </a:r>
            <a:r>
              <a:rPr lang="es-ES" dirty="0"/>
              <a:t> (Herramienta on-line, asíncrona)</a:t>
            </a:r>
          </a:p>
          <a:p>
            <a:r>
              <a:rPr lang="es-ES" dirty="0">
                <a:hlinkClick r:id="rId3"/>
              </a:rPr>
              <a:t>WAVE</a:t>
            </a:r>
            <a:r>
              <a:rPr lang="es-ES" dirty="0"/>
              <a:t> (Herramienta on-line, extensión de navegador, síncrona)</a:t>
            </a:r>
          </a:p>
          <a:p>
            <a:r>
              <a:rPr lang="en-US" dirty="0">
                <a:hlinkClick r:id="rId4"/>
              </a:rPr>
              <a:t>axe </a:t>
            </a:r>
            <a:r>
              <a:rPr lang="en-US" dirty="0" err="1">
                <a:hlinkClick r:id="rId4"/>
              </a:rPr>
              <a:t>DevTools</a:t>
            </a:r>
            <a:r>
              <a:rPr lang="en-US" dirty="0">
                <a:hlinkClick r:id="rId4"/>
              </a:rPr>
              <a:t> - Web Accessibility Testing</a:t>
            </a:r>
            <a:r>
              <a:rPr lang="es-ES" dirty="0"/>
              <a:t> (Extensión de navegador)</a:t>
            </a:r>
          </a:p>
          <a:p>
            <a:pPr lvl="1"/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6</a:t>
            </a:fld>
            <a:endParaRPr lang="es-E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DEAF4F5-4767-417D-B0E6-DB63EC130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8955" y="4171479"/>
            <a:ext cx="4147546" cy="19049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A6E94CB-4EC4-4BDC-B29B-BE92BB37C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7030" y="4171479"/>
            <a:ext cx="3799980" cy="19049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FD0CEDD-4D1D-4C55-82DE-17D02639B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21" y="3616325"/>
            <a:ext cx="2807396" cy="3105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2959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Herramientas de evaluación automática</a:t>
            </a:r>
            <a:br>
              <a:rPr lang="es-ES" dirty="0"/>
            </a:br>
            <a:r>
              <a:rPr lang="es-ES" dirty="0"/>
              <a:t>Ejemplos de herramientas para contraste de colores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230453" cy="4698268"/>
          </a:xfrm>
        </p:spPr>
        <p:txBody>
          <a:bodyPr>
            <a:normAutofit/>
          </a:bodyPr>
          <a:lstStyle/>
          <a:p>
            <a:r>
              <a:rPr lang="es-ES" dirty="0"/>
              <a:t>Filtros en </a:t>
            </a:r>
            <a:r>
              <a:rPr lang="es-ES" dirty="0">
                <a:hlinkClick r:id="rId2"/>
              </a:rPr>
              <a:t>a11y-evaluation-tools</a:t>
            </a:r>
            <a:endParaRPr lang="es-ES" dirty="0"/>
          </a:p>
          <a:p>
            <a:pPr lvl="1"/>
            <a:r>
              <a:rPr lang="es-ES" dirty="0"/>
              <a:t>CATEGORY=“</a:t>
            </a:r>
            <a:r>
              <a:rPr lang="es-ES" dirty="0" err="1"/>
              <a:t>Automatic</a:t>
            </a:r>
            <a:r>
              <a:rPr lang="es-ES" dirty="0"/>
              <a:t> </a:t>
            </a:r>
            <a:r>
              <a:rPr lang="es-ES" dirty="0" err="1"/>
              <a:t>Evaluation</a:t>
            </a:r>
            <a:r>
              <a:rPr lang="es-ES" dirty="0"/>
              <a:t> Tool” </a:t>
            </a:r>
          </a:p>
          <a:p>
            <a:pPr lvl="1"/>
            <a:r>
              <a:rPr lang="es-ES" dirty="0"/>
              <a:t>SCOPE=“Color Contrast” </a:t>
            </a:r>
          </a:p>
          <a:p>
            <a:r>
              <a:rPr lang="es-ES" dirty="0"/>
              <a:t>Ejemplos:</a:t>
            </a:r>
          </a:p>
          <a:p>
            <a:pPr lvl="1"/>
            <a:r>
              <a:rPr lang="es-ES" dirty="0">
                <a:hlinkClick r:id="rId3"/>
              </a:rPr>
              <a:t>Colour Contrast Analyser (CCA)</a:t>
            </a:r>
            <a:r>
              <a:rPr lang="es-ES" dirty="0"/>
              <a:t> (Aplicación de escritorio)</a:t>
            </a:r>
          </a:p>
          <a:p>
            <a:pPr lvl="1"/>
            <a:r>
              <a:rPr lang="en-US" dirty="0">
                <a:hlinkClick r:id="rId4"/>
              </a:rPr>
              <a:t>WCAG Color Contrast Checker</a:t>
            </a:r>
            <a:r>
              <a:rPr lang="en-US" dirty="0"/>
              <a:t> (Extensión para Chrome y Firefox)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1178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Herramientas de evaluación automática</a:t>
            </a:r>
            <a:br>
              <a:rPr lang="es-ES" dirty="0"/>
            </a:br>
            <a:r>
              <a:rPr lang="es-ES" dirty="0"/>
              <a:t>Ejemplo para contraste de colores: CCA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6"/>
            <a:ext cx="11230453" cy="950026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Descargar de </a:t>
            </a:r>
            <a:r>
              <a:rPr lang="es-ES" dirty="0">
                <a:hlinkClick r:id="rId2"/>
              </a:rPr>
              <a:t>https://www.tpgi.com/color-contrast-checker/</a:t>
            </a:r>
            <a:endParaRPr lang="es-ES" dirty="0"/>
          </a:p>
          <a:p>
            <a:r>
              <a:rPr lang="es-ES" dirty="0"/>
              <a:t>Ejecutar CCA y seleccionar con la pipeta los colores a comparar.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8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B7BE87F-5C4E-484E-BB4A-41CFB5FEE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300" y="2554664"/>
            <a:ext cx="5312690" cy="4340341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E4A3D81-531D-4586-9AB3-39E907799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35296" y="3429000"/>
            <a:ext cx="475488" cy="102374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16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AA47B-378E-EE15-A38E-7F032B135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Herramientas de evaluación automática</a:t>
            </a:r>
            <a:br>
              <a:rPr lang="es-ES" dirty="0"/>
            </a:br>
            <a:r>
              <a:rPr lang="es-ES" dirty="0"/>
              <a:t>Ejemplo para detección de destellos: PEAT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034BB7-EBE5-9DF6-EDDB-C094A551F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946883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Descargar de </a:t>
            </a:r>
            <a:r>
              <a:rPr lang="es-ES" dirty="0">
                <a:hlinkClick r:id="rId2"/>
              </a:rPr>
              <a:t>https://trace.umd.edu/peat/</a:t>
            </a:r>
            <a:endParaRPr lang="es-ES" dirty="0"/>
          </a:p>
          <a:p>
            <a:r>
              <a:rPr lang="es-ES" dirty="0"/>
              <a:t>Ejecutar PEAT y analizar un archivo de vídeo. 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A19933-407D-04EC-475F-BCE2624F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9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110056-FCFC-F805-0B2D-8BCB5BC01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699" y="2566761"/>
            <a:ext cx="5452368" cy="378958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62B4B51-2DFE-6387-360B-AF9A7A881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609" y="2604354"/>
            <a:ext cx="3898904" cy="37895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9308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Herramientas de evaluación automática</a:t>
            </a:r>
            <a:br>
              <a:rPr lang="es-ES" dirty="0"/>
            </a:br>
            <a:r>
              <a:rPr lang="es-ES" dirty="0"/>
              <a:t>Ejemplos para evaluar documentos no web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230453" cy="4698268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Para evaluar documentos </a:t>
            </a:r>
            <a:r>
              <a:rPr lang="es-ES" dirty="0" err="1"/>
              <a:t>pdf</a:t>
            </a:r>
            <a:r>
              <a:rPr lang="es-ES" dirty="0"/>
              <a:t>, Office (docx, </a:t>
            </a:r>
            <a:r>
              <a:rPr lang="es-ES" dirty="0" err="1"/>
              <a:t>pptx</a:t>
            </a:r>
            <a:r>
              <a:rPr lang="es-ES" dirty="0"/>
              <a:t>, </a:t>
            </a:r>
            <a:r>
              <a:rPr lang="es-ES" dirty="0" err="1"/>
              <a:t>xslx</a:t>
            </a:r>
            <a:r>
              <a:rPr lang="es-ES" dirty="0"/>
              <a:t>), LibreOffice-ODF (</a:t>
            </a:r>
            <a:r>
              <a:rPr lang="es-ES" dirty="0" err="1"/>
              <a:t>odt</a:t>
            </a:r>
            <a:r>
              <a:rPr lang="es-ES" dirty="0"/>
              <a:t>, </a:t>
            </a:r>
            <a:r>
              <a:rPr lang="es-ES" dirty="0" err="1"/>
              <a:t>ods</a:t>
            </a:r>
            <a:r>
              <a:rPr lang="es-ES" dirty="0"/>
              <a:t>, </a:t>
            </a:r>
            <a:r>
              <a:rPr lang="es-ES" dirty="0" err="1"/>
              <a:t>odp</a:t>
            </a:r>
            <a:r>
              <a:rPr lang="es-ES" dirty="0"/>
              <a:t>), </a:t>
            </a:r>
            <a:r>
              <a:rPr lang="es-ES" dirty="0" err="1"/>
              <a:t>epub</a:t>
            </a:r>
            <a:r>
              <a:rPr lang="es-ES" dirty="0"/>
              <a:t>.</a:t>
            </a:r>
          </a:p>
          <a:p>
            <a:r>
              <a:rPr lang="es-ES" dirty="0"/>
              <a:t>Filtros en </a:t>
            </a:r>
            <a:r>
              <a:rPr lang="es-ES" dirty="0">
                <a:hlinkClick r:id="rId2"/>
              </a:rPr>
              <a:t>a11y-evaluation-tools</a:t>
            </a:r>
            <a:endParaRPr lang="es-ES" dirty="0"/>
          </a:p>
          <a:p>
            <a:pPr lvl="1"/>
            <a:r>
              <a:rPr lang="es-ES" dirty="0"/>
              <a:t>CATEGORY=“</a:t>
            </a:r>
            <a:r>
              <a:rPr lang="es-ES" dirty="0" err="1"/>
              <a:t>Automatic</a:t>
            </a:r>
            <a:r>
              <a:rPr lang="es-ES" dirty="0"/>
              <a:t> </a:t>
            </a:r>
            <a:r>
              <a:rPr lang="es-ES" dirty="0" err="1"/>
              <a:t>Evaluation</a:t>
            </a:r>
            <a:r>
              <a:rPr lang="es-ES" dirty="0"/>
              <a:t> Tool” </a:t>
            </a:r>
          </a:p>
          <a:p>
            <a:pPr lvl="1"/>
            <a:r>
              <a:rPr lang="es-ES" dirty="0"/>
              <a:t>SCOPE=“</a:t>
            </a:r>
            <a:r>
              <a:rPr lang="es-ES" dirty="0" err="1"/>
              <a:t>Document</a:t>
            </a:r>
            <a:r>
              <a:rPr lang="es-ES" dirty="0"/>
              <a:t>” </a:t>
            </a:r>
          </a:p>
          <a:p>
            <a:r>
              <a:rPr lang="es-ES" dirty="0"/>
              <a:t>Ejemplos:</a:t>
            </a:r>
          </a:p>
          <a:p>
            <a:pPr lvl="1"/>
            <a:r>
              <a:rPr lang="es-ES" dirty="0"/>
              <a:t>PAC (</a:t>
            </a:r>
            <a:r>
              <a:rPr lang="es-ES" dirty="0" err="1"/>
              <a:t>pdf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PAVE (</a:t>
            </a:r>
            <a:r>
              <a:rPr lang="es-ES" dirty="0" err="1"/>
              <a:t>pdf</a:t>
            </a:r>
            <a:r>
              <a:rPr lang="es-ES" dirty="0"/>
              <a:t>)</a:t>
            </a:r>
          </a:p>
          <a:p>
            <a:pPr lvl="1"/>
            <a:r>
              <a:rPr lang="en-US" dirty="0"/>
              <a:t>Office Accessibility Checker (docx, pptx, xlsx)</a:t>
            </a:r>
          </a:p>
          <a:p>
            <a:pPr lvl="1"/>
            <a:r>
              <a:rPr lang="en-US" dirty="0"/>
              <a:t>LibreOffice Accessibility Checker (</a:t>
            </a:r>
            <a:r>
              <a:rPr lang="en-US" dirty="0" err="1"/>
              <a:t>odt</a:t>
            </a:r>
            <a:r>
              <a:rPr lang="en-US" dirty="0"/>
              <a:t>, </a:t>
            </a:r>
            <a:r>
              <a:rPr lang="en-US" dirty="0" err="1"/>
              <a:t>odp</a:t>
            </a:r>
            <a:r>
              <a:rPr lang="en-US" dirty="0"/>
              <a:t>, </a:t>
            </a:r>
            <a:r>
              <a:rPr lang="en-US" dirty="0" err="1"/>
              <a:t>ods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Ace (</a:t>
            </a:r>
            <a:r>
              <a:rPr lang="en-US" dirty="0" err="1"/>
              <a:t>epub</a:t>
            </a:r>
            <a:r>
              <a:rPr lang="en-US" dirty="0"/>
              <a:t>)</a:t>
            </a:r>
          </a:p>
        </p:txBody>
      </p:sp>
      <p:pic>
        <p:nvPicPr>
          <p:cNvPr id="6" name="Imagen 5" descr="Página web sobre accesibilidad en PDF's y documentos ofimáticos del observatroio de accesibilidad">
            <a:hlinkClick r:id="rId3"/>
            <a:extLst>
              <a:ext uri="{FF2B5EF4-FFF2-40B4-BE49-F238E27FC236}">
                <a16:creationId xmlns:a16="http://schemas.microsoft.com/office/drawing/2014/main" id="{0943CE51-E74D-41F1-807B-AA91CDD7D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2657" y="3260184"/>
            <a:ext cx="4011805" cy="2205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25988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Herramientas de evaluación automática</a:t>
            </a:r>
            <a:br>
              <a:rPr lang="es-ES" dirty="0"/>
            </a:br>
            <a:r>
              <a:rPr lang="es-ES" dirty="0"/>
              <a:t>Ejemplo para PDF: PAC, </a:t>
            </a:r>
            <a:r>
              <a:rPr lang="es-ES" dirty="0" err="1"/>
              <a:t>Tingtun</a:t>
            </a:r>
            <a:r>
              <a:rPr lang="es-ES" dirty="0"/>
              <a:t>, PAVE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133519" cy="5007606"/>
          </a:xfrm>
        </p:spPr>
        <p:txBody>
          <a:bodyPr>
            <a:normAutofit/>
          </a:bodyPr>
          <a:lstStyle/>
          <a:p>
            <a:r>
              <a:rPr lang="es-ES" dirty="0"/>
              <a:t>Herramientas: </a:t>
            </a:r>
          </a:p>
          <a:p>
            <a:pPr lvl="1"/>
            <a:r>
              <a:rPr lang="es-ES" dirty="0">
                <a:hlinkClick r:id="rId2"/>
              </a:rPr>
              <a:t>PAC: PDF Accessibility </a:t>
            </a:r>
            <a:r>
              <a:rPr lang="es-ES" dirty="0" err="1">
                <a:hlinkClick r:id="rId2"/>
              </a:rPr>
              <a:t>Checker</a:t>
            </a:r>
            <a:r>
              <a:rPr lang="es-ES" dirty="0"/>
              <a:t> (aplicación de escritorio)</a:t>
            </a:r>
          </a:p>
          <a:p>
            <a:pPr lvl="1"/>
            <a:r>
              <a:rPr lang="es-ES" dirty="0" err="1">
                <a:hlinkClick r:id="rId3"/>
              </a:rPr>
              <a:t>Tingtun</a:t>
            </a:r>
            <a:r>
              <a:rPr lang="es-ES" dirty="0">
                <a:hlinkClick r:id="rId3"/>
              </a:rPr>
              <a:t> PDF </a:t>
            </a:r>
            <a:r>
              <a:rPr lang="es-ES" dirty="0" err="1">
                <a:hlinkClick r:id="rId3"/>
              </a:rPr>
              <a:t>Checker</a:t>
            </a:r>
            <a:r>
              <a:rPr lang="es-ES" dirty="0"/>
              <a:t> (online, permite evaluar un </a:t>
            </a:r>
            <a:r>
              <a:rPr lang="es-ES" dirty="0" err="1"/>
              <a:t>pdf</a:t>
            </a:r>
            <a:r>
              <a:rPr lang="es-ES" dirty="0"/>
              <a:t> a partir de su URL)</a:t>
            </a:r>
          </a:p>
          <a:p>
            <a:pPr lvl="1"/>
            <a:r>
              <a:rPr lang="es-ES" dirty="0">
                <a:hlinkClick r:id="rId4"/>
              </a:rPr>
              <a:t>PAVE</a:t>
            </a:r>
            <a:r>
              <a:rPr lang="es-ES" dirty="0"/>
              <a:t> (online, permite reparar los errores de un </a:t>
            </a:r>
            <a:r>
              <a:rPr lang="es-ES" dirty="0" err="1"/>
              <a:t>pdf</a:t>
            </a:r>
            <a:r>
              <a:rPr lang="es-ES" dirty="0"/>
              <a:t>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11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DC69470-103B-4A86-A19A-9CA88AC68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3137" y="4036774"/>
            <a:ext cx="3525053" cy="243235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C2A7E23-19C7-4FD1-B429-5823AF5D2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2961" y="4036773"/>
            <a:ext cx="3562318" cy="243235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AFB70A2-541A-5FF9-5C20-E45D90CCB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063" y="4029523"/>
            <a:ext cx="2548895" cy="243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14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1D338-8B68-46FE-9273-AEA5E7D6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Herramientas de evaluación manual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9B359C-17F3-4AB8-8E33-B4643DF23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Para la evaluación manual se pueden utilizar diferentes tipos de herramientas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Herramientas de visualización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Tecnologías de apoyo utilizadas por usuarios con discapacidad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Herramientas de manejo de vídeo: grabador de pantalla, reproductor y editor de vídeo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Simuladores de discapacidad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E56438-AF54-4D96-A328-926A3D9B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5348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1D338-8B68-46FE-9273-AEA5E7D6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Herramientas de visualización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9B359C-17F3-4AB8-8E33-B4643DF23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Son herramientas que ayudan a encontrar posibles errores de accesibilidad, visualizando características de la página web en su estado original o simulando algún cambio  </a:t>
            </a:r>
          </a:p>
          <a:p>
            <a:r>
              <a:rPr lang="es-ES" dirty="0"/>
              <a:t>Filtro en </a:t>
            </a:r>
            <a:r>
              <a:rPr lang="es-ES" dirty="0">
                <a:hlinkClick r:id="rId2"/>
              </a:rPr>
              <a:t>a11y-evaluation-tools</a:t>
            </a:r>
            <a:endParaRPr lang="es-ES" dirty="0"/>
          </a:p>
          <a:p>
            <a:pPr lvl="1"/>
            <a:r>
              <a:rPr lang="es-ES" dirty="0"/>
              <a:t>CATEGORY=“</a:t>
            </a:r>
            <a:r>
              <a:rPr lang="es-ES" dirty="0" err="1"/>
              <a:t>Visualization</a:t>
            </a:r>
            <a:r>
              <a:rPr lang="es-ES" dirty="0"/>
              <a:t>”</a:t>
            </a:r>
          </a:p>
          <a:p>
            <a:r>
              <a:rPr lang="es-ES" dirty="0"/>
              <a:t>Ejemplos</a:t>
            </a:r>
          </a:p>
          <a:p>
            <a:pPr lvl="1"/>
            <a:r>
              <a:rPr lang="es-ES" dirty="0">
                <a:hlinkClick r:id="rId3"/>
              </a:rPr>
              <a:t>Web </a:t>
            </a:r>
            <a:r>
              <a:rPr lang="es-ES" dirty="0" err="1">
                <a:hlinkClick r:id="rId3"/>
              </a:rPr>
              <a:t>Developer</a:t>
            </a:r>
            <a:r>
              <a:rPr lang="es-ES" dirty="0"/>
              <a:t> (Extensión para Chrome, </a:t>
            </a:r>
            <a:r>
              <a:rPr lang="es-ES" dirty="0" err="1"/>
              <a:t>Firexox</a:t>
            </a:r>
            <a:r>
              <a:rPr lang="es-ES" dirty="0"/>
              <a:t>, Opera) </a:t>
            </a:r>
          </a:p>
          <a:p>
            <a:pPr lvl="1"/>
            <a:r>
              <a:rPr lang="es-ES" dirty="0">
                <a:hlinkClick r:id="rId4"/>
              </a:rPr>
              <a:t>HeadingsMap</a:t>
            </a:r>
            <a:r>
              <a:rPr lang="es-ES" dirty="0"/>
              <a:t> (Extensión para Chrome, Edge, </a:t>
            </a:r>
            <a:r>
              <a:rPr lang="es-ES" dirty="0" err="1"/>
              <a:t>Firexox</a:t>
            </a:r>
            <a:r>
              <a:rPr lang="es-ES" dirty="0"/>
              <a:t>)</a:t>
            </a:r>
          </a:p>
          <a:p>
            <a:pPr lvl="1"/>
            <a:r>
              <a:rPr lang="es-ES" dirty="0">
                <a:hlinkClick r:id="rId5"/>
              </a:rPr>
              <a:t>Text </a:t>
            </a:r>
            <a:r>
              <a:rPr lang="es-ES" dirty="0" err="1">
                <a:hlinkClick r:id="rId5"/>
              </a:rPr>
              <a:t>Spacing</a:t>
            </a:r>
            <a:r>
              <a:rPr lang="es-ES" dirty="0"/>
              <a:t> (Marcador para cualquier navegador)</a:t>
            </a:r>
          </a:p>
          <a:p>
            <a:pPr lvl="1"/>
            <a:r>
              <a:rPr lang="es-ES" dirty="0"/>
              <a:t>Inspector de código del propio navegador</a:t>
            </a:r>
          </a:p>
          <a:p>
            <a:pPr lvl="1"/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E56438-AF54-4D96-A328-926A3D9B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7224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1D338-8B68-46FE-9273-AEA5E7D6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Ejemplo de herramienta de visualización: Web </a:t>
            </a:r>
            <a:r>
              <a:rPr lang="es-ES" dirty="0" err="1"/>
              <a:t>Developer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9B359C-17F3-4AB8-8E33-B4643DF23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Instalar </a:t>
            </a:r>
            <a:r>
              <a:rPr lang="es-ES" dirty="0">
                <a:hlinkClick r:id="rId2"/>
              </a:rPr>
              <a:t>extensión Web </a:t>
            </a:r>
            <a:r>
              <a:rPr lang="es-ES" dirty="0" err="1">
                <a:hlinkClick r:id="rId2"/>
              </a:rPr>
              <a:t>Developer</a:t>
            </a:r>
            <a:r>
              <a:rPr lang="es-ES" dirty="0">
                <a:hlinkClick r:id="rId2"/>
              </a:rPr>
              <a:t> para Chrome</a:t>
            </a:r>
            <a:endParaRPr lang="es-ES" dirty="0"/>
          </a:p>
          <a:p>
            <a:r>
              <a:rPr lang="es-ES" dirty="0"/>
              <a:t>Aparece en la barra de extensiones y permite, por ejemplo, visualizar el texto alternativo de las imágenes de la página abierta en el navegador</a:t>
            </a:r>
          </a:p>
          <a:p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E56438-AF54-4D96-A328-926A3D9B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14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ABC8D6-0B4D-4FF4-8B1A-73FAB2FC7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98" y="3389031"/>
            <a:ext cx="11255604" cy="240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39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Tecnologías de apoyo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6"/>
            <a:ext cx="11025553" cy="5028553"/>
          </a:xfrm>
        </p:spPr>
        <p:txBody>
          <a:bodyPr>
            <a:normAutofit/>
          </a:bodyPr>
          <a:lstStyle/>
          <a:p>
            <a:r>
              <a:rPr lang="es-ES" dirty="0"/>
              <a:t>Para la evaluación completa de la accesibilidad de un sito web es conveniente realizar pruebas con usuarios con capacidades diferentes</a:t>
            </a:r>
          </a:p>
          <a:p>
            <a:pPr lvl="1"/>
            <a:r>
              <a:rPr lang="es-ES" dirty="0"/>
              <a:t>Ceguera, baja visión, sordera, etc..</a:t>
            </a:r>
          </a:p>
          <a:p>
            <a:r>
              <a:rPr lang="es-ES" dirty="0"/>
              <a:t>Si no es posible, el evaluador debe realizar pruebas utilizando las </a:t>
            </a:r>
            <a:r>
              <a:rPr lang="es-ES" b="1" dirty="0"/>
              <a:t>tecnologías de apoyo</a:t>
            </a:r>
            <a:r>
              <a:rPr lang="es-ES" dirty="0"/>
              <a:t> que habitualmente usan personas con discapacidad</a:t>
            </a:r>
          </a:p>
          <a:p>
            <a:pPr lvl="1"/>
            <a:r>
              <a:rPr lang="es-ES" dirty="0"/>
              <a:t>Una tecnología de apoyo es un producto software o hardware que permite el acceso de una persona con discapacidad a una característica a la que no tendría la oportunidad de acceder de otra forma</a:t>
            </a:r>
          </a:p>
          <a:p>
            <a:pPr lvl="1"/>
            <a:r>
              <a:rPr lang="es-ES" dirty="0"/>
              <a:t>Ejemplos: Lector de pantalla (software), pulsador (hardware), …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19516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DA790-3B11-4E2E-B7C0-B23169F0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Tecnologías de apoyo. Tipos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F33AC5-C5EE-4E96-9F99-78891016B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Tipos de Tecnologías de Apoyo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Ajustes de accesibilidad del Sistema Operativo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Ajustes de accesibilidad del Navegador Web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Lector de pantalla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Otras tecnologías de apoyo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FB2880-602D-4FE4-9FA1-CD222892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0126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tabLst>
                <a:tab pos="1252538" algn="l"/>
              </a:tabLst>
            </a:pPr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Tecnologías de apoyo. Ajustes del Sistema Operativo (1)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17</a:t>
            </a:fld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5229958"/>
          </a:xfrm>
        </p:spPr>
        <p:txBody>
          <a:bodyPr>
            <a:normAutofit/>
          </a:bodyPr>
          <a:lstStyle/>
          <a:p>
            <a:r>
              <a:rPr lang="es-ES" b="1" dirty="0"/>
              <a:t>Ejemplo: </a:t>
            </a:r>
            <a:r>
              <a:rPr lang="es-ES" b="1" dirty="0">
                <a:hlinkClick r:id="rId2"/>
              </a:rPr>
              <a:t>Ajustes sobre visión en Windows</a:t>
            </a:r>
            <a:endParaRPr lang="es-ES" b="1" dirty="0"/>
          </a:p>
          <a:p>
            <a:pPr lvl="1"/>
            <a:r>
              <a:rPr lang="es-ES" dirty="0"/>
              <a:t>Pantalla: Agrandar el texto, zoom, brillo, animaciones, transparencia, barras de desplazamiento, notificaciones, imagen de fondo de escritorio.</a:t>
            </a:r>
          </a:p>
          <a:p>
            <a:pPr lvl="1"/>
            <a:r>
              <a:rPr lang="es-ES" dirty="0"/>
              <a:t>Puntero del ratón: tamaño y color, comentarios táctiles.</a:t>
            </a:r>
          </a:p>
          <a:p>
            <a:pPr lvl="1"/>
            <a:r>
              <a:rPr lang="es-ES" dirty="0"/>
              <a:t>Cursor de texto: tamaño y color, apariencia</a:t>
            </a:r>
          </a:p>
          <a:p>
            <a:pPr lvl="1"/>
            <a:r>
              <a:rPr lang="es-ES" dirty="0"/>
              <a:t>Lupa: activar, nivel de zoom, hacer que la lupa siga al puntero del ratón o foco del teclado</a:t>
            </a:r>
          </a:p>
          <a:p>
            <a:pPr lvl="1"/>
            <a:r>
              <a:rPr lang="es-ES" dirty="0"/>
              <a:t>Filtros de color: activar filtros de daltonismo.</a:t>
            </a:r>
          </a:p>
          <a:p>
            <a:pPr lvl="1"/>
            <a:r>
              <a:rPr lang="es-ES" dirty="0"/>
              <a:t>Contraste alto: activar contraste alto, personalizar colores de contraste alto</a:t>
            </a:r>
          </a:p>
          <a:p>
            <a:pPr lvl="1"/>
            <a:r>
              <a:rPr lang="es-ES" dirty="0"/>
              <a:t>Narrador: Activar lector de pantalla, velocidad de la voz, tono de la voz, nivel de detalle, lectura de mayúscula, lectura de escritura, braille</a:t>
            </a:r>
          </a:p>
        </p:txBody>
      </p:sp>
    </p:spTree>
    <p:extLst>
      <p:ext uri="{BB962C8B-B14F-4D97-AF65-F5344CB8AC3E}">
        <p14:creationId xmlns:p14="http://schemas.microsoft.com/office/powerpoint/2010/main" val="1370687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tabLst>
                <a:tab pos="1252538" algn="l"/>
              </a:tabLst>
            </a:pPr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Tecnologías de apoyo. Ajustes del Sistema Operativo (2)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18</a:t>
            </a:fld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5229958"/>
          </a:xfrm>
        </p:spPr>
        <p:txBody>
          <a:bodyPr>
            <a:normAutofit/>
          </a:bodyPr>
          <a:lstStyle/>
          <a:p>
            <a:r>
              <a:rPr lang="es-ES" dirty="0"/>
              <a:t>Ajustes sobre audición</a:t>
            </a:r>
          </a:p>
          <a:p>
            <a:pPr lvl="1"/>
            <a:r>
              <a:rPr lang="es-ES" dirty="0"/>
              <a:t>Audio: volumen, activar sonido mono, mostrar alertas de sonido visualmente</a:t>
            </a:r>
          </a:p>
          <a:p>
            <a:pPr lvl="1"/>
            <a:r>
              <a:rPr lang="es-ES" dirty="0"/>
              <a:t>Subtítulos: fuente del texto, fondo del texto, contraste del texto</a:t>
            </a:r>
          </a:p>
          <a:p>
            <a:r>
              <a:rPr lang="es-ES" dirty="0"/>
              <a:t>Ajustes sobre interacción y destreza</a:t>
            </a:r>
          </a:p>
          <a:p>
            <a:pPr lvl="1"/>
            <a:r>
              <a:rPr lang="es-ES" dirty="0"/>
              <a:t>Voz: hablar en lugar de escribir, control por voz</a:t>
            </a:r>
          </a:p>
          <a:p>
            <a:pPr lvl="1"/>
            <a:r>
              <a:rPr lang="es-ES" dirty="0"/>
              <a:t>Teclado: teclado en pantalla, teclas especiales, facilitar la escritura en el teclado</a:t>
            </a:r>
          </a:p>
          <a:p>
            <a:pPr lvl="1"/>
            <a:r>
              <a:rPr lang="es-ES" dirty="0"/>
              <a:t>Ratón: controlar el ratón con un teclado, intercambiar los botones del ratón, rueda del ratón</a:t>
            </a:r>
          </a:p>
          <a:p>
            <a:pPr lvl="1"/>
            <a:r>
              <a:rPr lang="es-ES" dirty="0"/>
              <a:t>Control ocular: conexión de un dispositivo de seguimiento ocular</a:t>
            </a:r>
          </a:p>
        </p:txBody>
      </p:sp>
    </p:spTree>
    <p:extLst>
      <p:ext uri="{BB962C8B-B14F-4D97-AF65-F5344CB8AC3E}">
        <p14:creationId xmlns:p14="http://schemas.microsoft.com/office/powerpoint/2010/main" val="149902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tabLst>
                <a:tab pos="1252538" algn="l"/>
              </a:tabLst>
            </a:pPr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Tecnologías de apoyo. Ajustes del Sistema Operativo (3)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19</a:t>
            </a:fld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522995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b="1" dirty="0"/>
              <a:t>Ejemplo: Ajustes en dispositivo móvil Android</a:t>
            </a:r>
          </a:p>
          <a:p>
            <a:r>
              <a:rPr lang="es-ES" dirty="0"/>
              <a:t>Ajustes sobre visión</a:t>
            </a:r>
          </a:p>
          <a:p>
            <a:pPr lvl="1"/>
            <a:r>
              <a:rPr lang="es-ES" dirty="0"/>
              <a:t>Tema con contraste alto, fuentes de contraste alto, teclado de contraste alto, mostrar formas de botones, ver colores negativos, ajuste del color, eliminar animaciones, lupa, ampliación, puntero de ratón, tamaño y estilo de fuente, zoom de pantalla</a:t>
            </a:r>
          </a:p>
          <a:p>
            <a:r>
              <a:rPr lang="es-ES" dirty="0"/>
              <a:t> Ajustes sobre audición</a:t>
            </a:r>
          </a:p>
          <a:p>
            <a:pPr lvl="1"/>
            <a:r>
              <a:rPr lang="es-ES" dirty="0"/>
              <a:t>Detectores de sonido, Silenciar todos los sonidos, balance </a:t>
            </a:r>
            <a:r>
              <a:rPr lang="es-ES" dirty="0" err="1"/>
              <a:t>izq</a:t>
            </a:r>
            <a:r>
              <a:rPr lang="es-ES" dirty="0"/>
              <a:t>/der, audio mono, subtítulos, voz a texto</a:t>
            </a:r>
          </a:p>
          <a:p>
            <a:r>
              <a:rPr lang="es-ES" dirty="0"/>
              <a:t>Ajustes sobre interacción y destreza</a:t>
            </a:r>
          </a:p>
          <a:p>
            <a:pPr lvl="1"/>
            <a:r>
              <a:rPr lang="es-ES" dirty="0"/>
              <a:t>Acciones personalizables, menú de asistencia, clic cuando se para el puntero, respuesta y finalización de llamadas, control de interacción, pulsación larga, ignorar pulsaciones repetidas, </a:t>
            </a:r>
          </a:p>
          <a:p>
            <a:r>
              <a:rPr lang="es-ES" dirty="0"/>
              <a:t>Otros ajustes avanzados</a:t>
            </a:r>
          </a:p>
          <a:p>
            <a:pPr lvl="1"/>
            <a:r>
              <a:rPr lang="es-ES" dirty="0"/>
              <a:t>Botones encendido, subir/bajar volumen, notificación con flash, recordatorio de notificaciones, etiqueta de voz, bloqueo por direcciones</a:t>
            </a:r>
          </a:p>
          <a:p>
            <a:r>
              <a:rPr lang="es-ES" dirty="0"/>
              <a:t>Servicios de accesibilidad externos instalables</a:t>
            </a:r>
          </a:p>
          <a:p>
            <a:pPr lvl="1"/>
            <a:r>
              <a:rPr lang="es-ES" dirty="0"/>
              <a:t>Lector de pantalla, pulsador, acceso por voz, ratón pulsador, teclado Braille, etc.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4190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tabLst>
                <a:tab pos="1252538" algn="l"/>
              </a:tabLst>
            </a:pPr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Tecnologías de apoyo. Ajustes del navegador web (1)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20</a:t>
            </a:fld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522995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b="1" dirty="0"/>
              <a:t>Ejemplo: Ajustes en Chrome</a:t>
            </a:r>
          </a:p>
          <a:p>
            <a:r>
              <a:rPr lang="es-ES" dirty="0"/>
              <a:t>chrome://settings/accessibility</a:t>
            </a:r>
          </a:p>
          <a:p>
            <a:r>
              <a:rPr lang="es-ES" dirty="0"/>
              <a:t>Subtítulos automáticos</a:t>
            </a:r>
          </a:p>
          <a:p>
            <a:r>
              <a:rPr lang="es-ES" dirty="0"/>
              <a:t>Preferencias de subtítulos</a:t>
            </a:r>
          </a:p>
          <a:p>
            <a:r>
              <a:rPr lang="es-ES" dirty="0"/>
              <a:t>Destacar el objeto seleccionado</a:t>
            </a:r>
          </a:p>
          <a:p>
            <a:r>
              <a:rPr lang="es-ES" dirty="0"/>
              <a:t>Desplazarse por las páginas con un cursor de texto</a:t>
            </a:r>
          </a:p>
          <a:p>
            <a:r>
              <a:rPr lang="es-ES" dirty="0"/>
              <a:t>Añadir </a:t>
            </a:r>
            <a:r>
              <a:rPr lang="es-ES" dirty="0" err="1"/>
              <a:t>extensione</a:t>
            </a:r>
            <a:r>
              <a:rPr lang="es-ES" dirty="0"/>
              <a:t> de accesibilidad (</a:t>
            </a:r>
            <a:r>
              <a:rPr lang="es-ES" dirty="0">
                <a:hlinkClick r:id="rId2"/>
              </a:rPr>
              <a:t>Chrome web store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Traductor de Google</a:t>
            </a:r>
          </a:p>
          <a:p>
            <a:pPr lvl="1"/>
            <a:r>
              <a:rPr lang="es-ES" dirty="0"/>
              <a:t>Open </a:t>
            </a:r>
            <a:r>
              <a:rPr lang="es-ES" dirty="0" err="1"/>
              <a:t>Dyslexic</a:t>
            </a:r>
            <a:endParaRPr lang="es-ES" dirty="0"/>
          </a:p>
          <a:p>
            <a:pPr lvl="1"/>
            <a:r>
              <a:rPr lang="es-ES" dirty="0" err="1"/>
              <a:t>Read</a:t>
            </a:r>
            <a:r>
              <a:rPr lang="es-ES" dirty="0"/>
              <a:t> </a:t>
            </a:r>
            <a:r>
              <a:rPr lang="es-ES" dirty="0" err="1"/>
              <a:t>aloud</a:t>
            </a:r>
            <a:endParaRPr lang="es-ES" dirty="0"/>
          </a:p>
          <a:p>
            <a:pPr lvl="1"/>
            <a:r>
              <a:rPr lang="es-ES" dirty="0"/>
              <a:t>Input </a:t>
            </a:r>
            <a:r>
              <a:rPr lang="es-ES" dirty="0" err="1"/>
              <a:t>tools</a:t>
            </a:r>
            <a:endParaRPr lang="es-ES" dirty="0"/>
          </a:p>
          <a:p>
            <a:pPr lvl="1"/>
            <a:r>
              <a:rPr lang="es-ES" dirty="0"/>
              <a:t>Etc..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1993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7B6B5-2605-439B-9633-76E98B93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9022"/>
            <a:ext cx="12192000" cy="1325563"/>
          </a:xfrm>
        </p:spPr>
        <p:txBody>
          <a:bodyPr>
            <a:normAutofit/>
          </a:bodyPr>
          <a:lstStyle/>
          <a:p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Tecnologías de apoyo. Lector de pantalla (1)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D4254B-A349-4335-96E5-6C37807EE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un programa que describe con voz lo que hay en la pantalla</a:t>
            </a:r>
          </a:p>
          <a:p>
            <a:r>
              <a:rPr lang="es-ES" dirty="0"/>
              <a:t>Ejemplos</a:t>
            </a:r>
          </a:p>
          <a:p>
            <a:pPr lvl="1"/>
            <a:r>
              <a:rPr lang="es-ES" dirty="0"/>
              <a:t>JAWS: Para ordenadores con Windows y con MacOS</a:t>
            </a:r>
          </a:p>
          <a:p>
            <a:pPr lvl="1"/>
            <a:r>
              <a:rPr lang="es-ES" dirty="0">
                <a:hlinkClick r:id="rId2"/>
              </a:rPr>
              <a:t>NVDA</a:t>
            </a:r>
            <a:r>
              <a:rPr lang="es-ES" dirty="0"/>
              <a:t>: Para ordenadores con Windows </a:t>
            </a:r>
          </a:p>
          <a:p>
            <a:pPr lvl="1"/>
            <a:r>
              <a:rPr lang="es-ES" dirty="0"/>
              <a:t>Narrador: Para ordenadores con Windows</a:t>
            </a:r>
          </a:p>
          <a:p>
            <a:pPr lvl="1"/>
            <a:r>
              <a:rPr lang="es-ES" dirty="0"/>
              <a:t>Orca: Para ordenadores con Linux</a:t>
            </a:r>
          </a:p>
          <a:p>
            <a:pPr lvl="1"/>
            <a:r>
              <a:rPr lang="es-ES" dirty="0">
                <a:hlinkClick r:id="rId3"/>
              </a:rPr>
              <a:t>VoiceOver</a:t>
            </a:r>
            <a:r>
              <a:rPr lang="es-ES" dirty="0"/>
              <a:t>: Para ordenadores con MacOS y dispositivos móviles con iOS</a:t>
            </a:r>
          </a:p>
          <a:p>
            <a:pPr lvl="1"/>
            <a:r>
              <a:rPr lang="es-ES" dirty="0">
                <a:hlinkClick r:id="rId4"/>
              </a:rPr>
              <a:t>TalkBack</a:t>
            </a:r>
            <a:r>
              <a:rPr lang="es-ES" dirty="0"/>
              <a:t>: Para dispositivos móviles con Android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C3A580-FDC5-433E-B8C7-5D53E8408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8128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252538" algn="l"/>
              </a:tabLst>
            </a:pPr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Tecnologías de apoyo. Lector de pantalla (2)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527538" y="1491516"/>
            <a:ext cx="9063723" cy="536648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/>
              <a:t>Ejemplo: </a:t>
            </a:r>
            <a:r>
              <a:rPr lang="es-ES" b="1" dirty="0">
                <a:hlinkClick r:id="rId2"/>
              </a:rPr>
              <a:t>TalkBack</a:t>
            </a:r>
            <a:r>
              <a:rPr lang="es-ES" b="1" dirty="0"/>
              <a:t> para dispositivos Android</a:t>
            </a:r>
          </a:p>
          <a:p>
            <a:r>
              <a:rPr lang="es-ES" dirty="0"/>
              <a:t>Está incluido en </a:t>
            </a:r>
            <a:r>
              <a:rPr lang="es-ES" dirty="0">
                <a:hlinkClick r:id="rId3"/>
              </a:rPr>
              <a:t>Suite Accesibilidad Android</a:t>
            </a:r>
            <a:endParaRPr lang="es-ES" dirty="0"/>
          </a:p>
          <a:p>
            <a:r>
              <a:rPr lang="en-US" dirty="0" err="1"/>
              <a:t>Activar</a:t>
            </a:r>
            <a:r>
              <a:rPr lang="en-US" dirty="0"/>
              <a:t> </a:t>
            </a:r>
            <a:r>
              <a:rPr lang="en-US" dirty="0" err="1"/>
              <a:t>TalkBack</a:t>
            </a:r>
            <a:r>
              <a:rPr lang="en-US" dirty="0"/>
              <a:t>:</a:t>
            </a:r>
          </a:p>
          <a:p>
            <a:pPr lvl="1"/>
            <a:r>
              <a:rPr lang="es-ES" dirty="0"/>
              <a:t>Ajustes </a:t>
            </a:r>
            <a:r>
              <a:rPr lang="es-ES" dirty="0">
                <a:sym typeface="Wingdings" panose="05000000000000000000" pitchFamily="2" charset="2"/>
              </a:rPr>
              <a:t> Accesibilidad  Servicios instalados  TalkBack  Activado</a:t>
            </a:r>
          </a:p>
          <a:p>
            <a:pPr lvl="1"/>
            <a:r>
              <a:rPr lang="es-ES" dirty="0">
                <a:sym typeface="Wingdings" panose="05000000000000000000" pitchFamily="2" charset="2"/>
                <a:hlinkClick r:id="rId4"/>
              </a:rPr>
              <a:t>Gestos básicos</a:t>
            </a:r>
            <a:r>
              <a:rPr lang="es-ES" dirty="0">
                <a:sym typeface="Wingdings" panose="05000000000000000000" pitchFamily="2" charset="2"/>
              </a:rPr>
              <a:t>:</a:t>
            </a:r>
          </a:p>
          <a:p>
            <a:pPr lvl="2"/>
            <a:r>
              <a:rPr lang="es-ES" dirty="0">
                <a:sym typeface="Wingdings" panose="05000000000000000000" pitchFamily="2" charset="2"/>
              </a:rPr>
              <a:t>Ir al siguiente elemento de la pantalla: Deslizar el dedo hacia la derecha</a:t>
            </a:r>
          </a:p>
          <a:p>
            <a:pPr lvl="2"/>
            <a:r>
              <a:rPr lang="es-ES" dirty="0">
                <a:sym typeface="Wingdings" panose="05000000000000000000" pitchFamily="2" charset="2"/>
              </a:rPr>
              <a:t>Ir al elemento anterior de la pantalla: Deslizar el dedo hacia la izquierda</a:t>
            </a:r>
          </a:p>
          <a:p>
            <a:pPr lvl="2"/>
            <a:r>
              <a:rPr lang="es-ES" dirty="0">
                <a:sym typeface="Wingdings" panose="05000000000000000000" pitchFamily="2" charset="2"/>
              </a:rPr>
              <a:t>Seleccionar el elemento marcado: Tocar dos veces</a:t>
            </a:r>
          </a:p>
          <a:p>
            <a:pPr lvl="2"/>
            <a:r>
              <a:rPr lang="es-ES" dirty="0">
                <a:sym typeface="Wingdings" panose="05000000000000000000" pitchFamily="2" charset="2"/>
              </a:rPr>
              <a:t>Pantalla Inicio: Hacia arriba y luego hacia la izquierda</a:t>
            </a:r>
          </a:p>
          <a:p>
            <a:pPr lvl="2"/>
            <a:r>
              <a:rPr lang="es-ES" dirty="0">
                <a:sym typeface="Wingdings" panose="05000000000000000000" pitchFamily="2" charset="2"/>
              </a:rPr>
              <a:t>Atrás: Hacia abajo y luego hacia la izquierda</a:t>
            </a:r>
          </a:p>
          <a:p>
            <a:pPr lvl="2"/>
            <a:r>
              <a:rPr lang="es-ES" dirty="0">
                <a:sym typeface="Wingdings" panose="05000000000000000000" pitchFamily="2" charset="2"/>
              </a:rPr>
              <a:t>Menú contextual: Hacia arriba y luego hacia la derecha</a:t>
            </a:r>
          </a:p>
          <a:p>
            <a:pPr lvl="2"/>
            <a:r>
              <a:rPr lang="es-ES" dirty="0">
                <a:sym typeface="Wingdings" panose="05000000000000000000" pitchFamily="2" charset="2"/>
              </a:rPr>
              <a:t>Opciones de lectura: Hacia arriba y luego hacia abajo</a:t>
            </a:r>
          </a:p>
          <a:p>
            <a:pPr lvl="2"/>
            <a:r>
              <a:rPr lang="es-ES" dirty="0">
                <a:sym typeface="Wingdings" panose="05000000000000000000" pitchFamily="2" charset="2"/>
              </a:rPr>
              <a:t>Ir al siguiente elemento de la opción de lectura elegida: Hacia abajo</a:t>
            </a:r>
          </a:p>
          <a:p>
            <a:pPr lvl="2"/>
            <a:r>
              <a:rPr lang="es-ES" dirty="0">
                <a:sym typeface="Wingdings" panose="05000000000000000000" pitchFamily="2" charset="2"/>
              </a:rPr>
              <a:t>Ir al anterior elemento de la opción de lectura elegida: Hacia arriba</a:t>
            </a:r>
          </a:p>
          <a:p>
            <a:pPr lvl="2"/>
            <a:endParaRPr lang="es-ES" dirty="0">
              <a:sym typeface="Wingdings" panose="05000000000000000000" pitchFamily="2" charset="2"/>
            </a:endParaRPr>
          </a:p>
          <a:p>
            <a:pPr lvl="2"/>
            <a:endParaRPr lang="es-ES" dirty="0">
              <a:sym typeface="Wingdings" panose="05000000000000000000" pitchFamily="2" charset="2"/>
            </a:endParaRPr>
          </a:p>
          <a:p>
            <a:pPr lvl="2"/>
            <a:endParaRPr lang="es-ES" dirty="0">
              <a:sym typeface="Wingdings" panose="05000000000000000000" pitchFamily="2" charset="2"/>
            </a:endParaRPr>
          </a:p>
          <a:p>
            <a:endParaRPr lang="es-E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  <a:p>
            <a:pPr lvl="1"/>
            <a:endParaRPr lang="es-ES" dirty="0"/>
          </a:p>
        </p:txBody>
      </p:sp>
      <p:pic>
        <p:nvPicPr>
          <p:cNvPr id="7" name="Imagen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709" y="1324420"/>
            <a:ext cx="935934" cy="56156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6B705C1-FCF0-43CF-993D-B1255351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992" y="2000279"/>
            <a:ext cx="2278118" cy="4401515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0000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05FF5-4492-88B2-8EBE-81706D0ED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AEE34-225A-FC67-EE6F-0EA2471EE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252538" algn="l"/>
              </a:tabLst>
            </a:pPr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Tecnologías de apoyo. Lector de pantalla (3)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F44354DC-2380-D712-8187-AF6A5D7E5E18}"/>
              </a:ext>
            </a:extLst>
          </p:cNvPr>
          <p:cNvSpPr txBox="1">
            <a:spLocks/>
          </p:cNvSpPr>
          <p:nvPr/>
        </p:nvSpPr>
        <p:spPr>
          <a:xfrm>
            <a:off x="527538" y="1491517"/>
            <a:ext cx="11100018" cy="4864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/>
              <a:t>Ejemplo: </a:t>
            </a:r>
            <a:r>
              <a:rPr lang="es-ES" b="1" dirty="0">
                <a:hlinkClick r:id="rId2"/>
              </a:rPr>
              <a:t>NVDA</a:t>
            </a:r>
            <a:r>
              <a:rPr lang="es-ES" b="1" dirty="0"/>
              <a:t> para Windows</a:t>
            </a:r>
          </a:p>
          <a:p>
            <a:r>
              <a:rPr lang="es-ES" dirty="0"/>
              <a:t>Mostrar la voz del lector en modo texto</a:t>
            </a:r>
            <a:endParaRPr lang="en-US" dirty="0"/>
          </a:p>
          <a:p>
            <a:pPr lvl="1"/>
            <a:r>
              <a:rPr lang="es-ES" dirty="0" err="1"/>
              <a:t>Ins+N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Herramientas  Visualizador Voz</a:t>
            </a:r>
          </a:p>
          <a:p>
            <a:r>
              <a:rPr lang="es-ES" dirty="0">
                <a:sym typeface="Wingdings" panose="05000000000000000000" pitchFamily="2" charset="2"/>
              </a:rPr>
              <a:t>Consejos para navegar:</a:t>
            </a:r>
          </a:p>
          <a:p>
            <a:pPr lvl="1"/>
            <a:r>
              <a:rPr lang="es-ES" dirty="0">
                <a:sym typeface="Wingdings" panose="05000000000000000000" pitchFamily="2" charset="2"/>
              </a:rPr>
              <a:t>Tecla modificadora NVDA por defecto: </a:t>
            </a:r>
            <a:r>
              <a:rPr lang="es-ES" dirty="0" err="1">
                <a:sym typeface="Wingdings" panose="05000000000000000000" pitchFamily="2" charset="2"/>
              </a:rPr>
              <a:t>BloqMayusc</a:t>
            </a:r>
            <a:endParaRPr lang="es-ES" dirty="0">
              <a:sym typeface="Wingdings" panose="05000000000000000000" pitchFamily="2" charset="2"/>
            </a:endParaRPr>
          </a:p>
          <a:p>
            <a:pPr lvl="1"/>
            <a:r>
              <a:rPr lang="es-ES" dirty="0">
                <a:sym typeface="Wingdings" panose="05000000000000000000" pitchFamily="2" charset="2"/>
              </a:rPr>
              <a:t>Pausa: </a:t>
            </a:r>
            <a:r>
              <a:rPr lang="es-ES" dirty="0" err="1">
                <a:sym typeface="Wingdings" panose="05000000000000000000" pitchFamily="2" charset="2"/>
              </a:rPr>
              <a:t>Ctrl</a:t>
            </a:r>
            <a:r>
              <a:rPr lang="es-ES" dirty="0">
                <a:sym typeface="Wingdings" panose="05000000000000000000" pitchFamily="2" charset="2"/>
              </a:rPr>
              <a:t> o Shift</a:t>
            </a:r>
          </a:p>
          <a:p>
            <a:pPr lvl="1"/>
            <a:r>
              <a:rPr lang="es-ES" dirty="0">
                <a:sym typeface="Wingdings" panose="05000000000000000000" pitchFamily="2" charset="2"/>
              </a:rPr>
              <a:t>Ir al siguiente/anterior elemento de la página: Flecha hacia abajo/arriba</a:t>
            </a:r>
          </a:p>
          <a:p>
            <a:pPr lvl="1"/>
            <a:r>
              <a:rPr lang="es-ES" dirty="0">
                <a:sym typeface="Wingdings" panose="05000000000000000000" pitchFamily="2" charset="2"/>
              </a:rPr>
              <a:t>Ir al siguiente elemento interactivo de la página: Tabulador</a:t>
            </a:r>
          </a:p>
          <a:p>
            <a:pPr lvl="1"/>
            <a:r>
              <a:rPr lang="es-ES" dirty="0">
                <a:sym typeface="Wingdings" panose="05000000000000000000" pitchFamily="2" charset="2"/>
              </a:rPr>
              <a:t>Seleccionar el elemento marcado: </a:t>
            </a:r>
            <a:r>
              <a:rPr lang="es-ES" dirty="0" err="1">
                <a:sym typeface="Wingdings" panose="05000000000000000000" pitchFamily="2" charset="2"/>
              </a:rPr>
              <a:t>Intro</a:t>
            </a:r>
            <a:endParaRPr lang="es-ES" dirty="0">
              <a:sym typeface="Wingdings" panose="05000000000000000000" pitchFamily="2" charset="2"/>
            </a:endParaRPr>
          </a:p>
          <a:p>
            <a:pPr lvl="1"/>
            <a:r>
              <a:rPr lang="es-ES" dirty="0">
                <a:sym typeface="Wingdings" panose="05000000000000000000" pitchFamily="2" charset="2"/>
              </a:rPr>
              <a:t>Menú con todos los elementos navegables de la página: Ins+F7</a:t>
            </a:r>
          </a:p>
          <a:p>
            <a:pPr lvl="2"/>
            <a:endParaRPr lang="es-ES" dirty="0">
              <a:sym typeface="Wingdings" panose="05000000000000000000" pitchFamily="2" charset="2"/>
            </a:endParaRPr>
          </a:p>
          <a:p>
            <a:pPr lvl="2"/>
            <a:endParaRPr lang="es-ES" dirty="0">
              <a:sym typeface="Wingdings" panose="05000000000000000000" pitchFamily="2" charset="2"/>
            </a:endParaRPr>
          </a:p>
          <a:p>
            <a:pPr lvl="2"/>
            <a:endParaRPr lang="es-ES" dirty="0">
              <a:sym typeface="Wingdings" panose="05000000000000000000" pitchFamily="2" charset="2"/>
            </a:endParaRPr>
          </a:p>
          <a:p>
            <a:endParaRPr lang="es-E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9EAEDE-FB30-58D3-DEA1-4D770DF7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4662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Tecnologías de apoyo. Otras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Pulsador</a:t>
            </a:r>
          </a:p>
          <a:p>
            <a:r>
              <a:rPr lang="es-ES" dirty="0"/>
              <a:t>Teclado/</a:t>
            </a:r>
            <a:r>
              <a:rPr lang="es-ES" dirty="0" err="1"/>
              <a:t>display</a:t>
            </a:r>
            <a:r>
              <a:rPr lang="es-ES" dirty="0"/>
              <a:t> Braille</a:t>
            </a:r>
          </a:p>
          <a:p>
            <a:r>
              <a:rPr lang="es-ES" dirty="0"/>
              <a:t>Acceso por voz</a:t>
            </a:r>
          </a:p>
          <a:p>
            <a:r>
              <a:rPr lang="es-ES" dirty="0"/>
              <a:t>Acceso por gestos faciales</a:t>
            </a:r>
          </a:p>
          <a:p>
            <a:r>
              <a:rPr lang="es-ES" dirty="0"/>
              <a:t>Asistente</a:t>
            </a:r>
          </a:p>
          <a:p>
            <a:r>
              <a:rPr lang="es-ES" dirty="0"/>
              <a:t>Transcripción instantánea</a:t>
            </a:r>
          </a:p>
          <a:p>
            <a:r>
              <a:rPr lang="es-ES" dirty="0"/>
              <a:t>Amplificador de sonido</a:t>
            </a:r>
          </a:p>
          <a:p>
            <a:r>
              <a:rPr lang="es-ES" dirty="0"/>
              <a:t>…</a:t>
            </a:r>
          </a:p>
          <a:p>
            <a:r>
              <a:rPr lang="es-ES" b="1" dirty="0"/>
              <a:t>Ver todas en </a:t>
            </a:r>
            <a:r>
              <a:rPr lang="es-ES" b="1" dirty="0">
                <a:hlinkClick r:id="rId2"/>
              </a:rPr>
              <a:t>a11y-evaluation-tools</a:t>
            </a:r>
            <a:r>
              <a:rPr lang="es-ES" b="1" dirty="0"/>
              <a:t>, filtrando </a:t>
            </a:r>
            <a:r>
              <a:rPr lang="es-ES" b="1" i="1" dirty="0"/>
              <a:t>CATEGORY=“</a:t>
            </a:r>
            <a:r>
              <a:rPr lang="es-ES" b="1" i="1" dirty="0" err="1"/>
              <a:t>Assistive</a:t>
            </a:r>
            <a:r>
              <a:rPr lang="es-ES" b="1" i="1" dirty="0"/>
              <a:t> </a:t>
            </a:r>
            <a:r>
              <a:rPr lang="es-ES" b="1" i="1" dirty="0" err="1"/>
              <a:t>technology</a:t>
            </a:r>
            <a:r>
              <a:rPr lang="es-ES" b="1" i="1" dirty="0"/>
              <a:t>” 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8573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68E42-33A1-4B15-C370-AC52DA50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Manejo de  vídeo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CA191-A3F7-7F7E-793D-99EE1B8F2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Para revisar algunos requisitos relacionados con contenidos multimedia en páginas web, como la resolución mínima necesaria o la sincronización de subtítulos, se necesita un grabador de pantalla, un reproductor o un editor de vídeo.</a:t>
            </a:r>
          </a:p>
          <a:p>
            <a:r>
              <a:rPr lang="es-ES" dirty="0"/>
              <a:t>Ejemplos</a:t>
            </a:r>
          </a:p>
          <a:p>
            <a:pPr lvl="1"/>
            <a:r>
              <a:rPr lang="es-ES" dirty="0"/>
              <a:t>Grabador: </a:t>
            </a:r>
            <a:r>
              <a:rPr lang="es-E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OBS Studio (</a:t>
            </a:r>
            <a:r>
              <a:rPr lang="es-E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Windows/Mac/Linux)</a:t>
            </a:r>
            <a:r>
              <a:rPr lang="es-ES" dirty="0"/>
              <a:t> </a:t>
            </a:r>
          </a:p>
          <a:p>
            <a:pPr lvl="1"/>
            <a:r>
              <a:rPr lang="es-ES" dirty="0"/>
              <a:t>Reproductor: </a:t>
            </a:r>
            <a:r>
              <a:rPr lang="es-E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VLC (</a:t>
            </a:r>
            <a:r>
              <a:rPr lang="es-E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Windows/Mac/Linux)</a:t>
            </a:r>
            <a:r>
              <a:rPr lang="es-ES" dirty="0"/>
              <a:t> </a:t>
            </a:r>
          </a:p>
          <a:p>
            <a:pPr lvl="1"/>
            <a:r>
              <a:rPr lang="es-ES" dirty="0"/>
              <a:t>Editor: </a:t>
            </a:r>
            <a:r>
              <a:rPr lang="es-E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Avidemux (Windows/Mac/Linux)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4433A2-E8AB-E2CB-FB87-22E7A027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3295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Herramientas de evaluación manual</a:t>
            </a:r>
            <a:br>
              <a:rPr lang="es-ES" dirty="0"/>
            </a:br>
            <a:r>
              <a:rPr lang="es-ES" dirty="0"/>
              <a:t>Simuladores de discapacidad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2278796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Se recomienda utilizar también </a:t>
            </a:r>
            <a:r>
              <a:rPr lang="es-ES" b="1" dirty="0"/>
              <a:t>simuladores de discapacidad</a:t>
            </a:r>
          </a:p>
          <a:p>
            <a:pPr lvl="1"/>
            <a:r>
              <a:rPr lang="es-ES" dirty="0"/>
              <a:t>Simuladores de diferentes problemas de visión </a:t>
            </a:r>
          </a:p>
          <a:p>
            <a:r>
              <a:rPr lang="es-ES" dirty="0"/>
              <a:t>Filtro en </a:t>
            </a:r>
            <a:r>
              <a:rPr lang="es-ES" dirty="0">
                <a:hlinkClick r:id="rId2"/>
              </a:rPr>
              <a:t>a11y-evaluation-tools</a:t>
            </a:r>
            <a:endParaRPr lang="es-ES" dirty="0"/>
          </a:p>
          <a:p>
            <a:pPr lvl="1"/>
            <a:r>
              <a:rPr lang="es-ES" dirty="0"/>
              <a:t>CATEGORY=“</a:t>
            </a:r>
            <a:r>
              <a:rPr lang="es-ES" dirty="0" err="1"/>
              <a:t>User</a:t>
            </a:r>
            <a:r>
              <a:rPr lang="es-ES" dirty="0"/>
              <a:t> Simulator”</a:t>
            </a:r>
          </a:p>
          <a:p>
            <a:r>
              <a:rPr lang="es-ES" dirty="0"/>
              <a:t>Ejemplo: </a:t>
            </a:r>
            <a:r>
              <a:rPr lang="en-US" dirty="0">
                <a:hlinkClick r:id="rId3"/>
              </a:rPr>
              <a:t>ChromeLens</a:t>
            </a:r>
            <a:r>
              <a:rPr lang="en-US" dirty="0"/>
              <a:t> (</a:t>
            </a:r>
            <a:r>
              <a:rPr lang="en-US" dirty="0" err="1"/>
              <a:t>Instalar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Chrome y </a:t>
            </a:r>
            <a:r>
              <a:rPr lang="en-US" dirty="0" err="1"/>
              <a:t>abrir</a:t>
            </a:r>
            <a:r>
              <a:rPr lang="en-US" dirty="0"/>
              <a:t> con </a:t>
            </a:r>
            <a:r>
              <a:rPr lang="en-US" dirty="0" err="1"/>
              <a:t>Ctrl+Shift+i</a:t>
            </a:r>
            <a:r>
              <a:rPr lang="en-US" dirty="0"/>
              <a:t>)</a:t>
            </a:r>
          </a:p>
          <a:p>
            <a:pPr lvl="1"/>
            <a:endParaRPr lang="es-ES" dirty="0"/>
          </a:p>
          <a:p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26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9A8976B-9C21-44E7-8019-BD1D650F7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346" y="3911600"/>
            <a:ext cx="8629650" cy="28098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4648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2D853-003B-8A7C-7750-FA68D15D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Conjunto básico de herramientas para la revisión de sitios web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76919507-BD66-FC01-1864-76FEF00AA6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4963578"/>
              </p:ext>
            </p:extLst>
          </p:nvPr>
        </p:nvGraphicFramePr>
        <p:xfrm>
          <a:off x="696685" y="1496161"/>
          <a:ext cx="10526485" cy="4108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316">
                  <a:extLst>
                    <a:ext uri="{9D8B030D-6E8A-4147-A177-3AD203B41FA5}">
                      <a16:colId xmlns:a16="http://schemas.microsoft.com/office/drawing/2014/main" val="3922058163"/>
                    </a:ext>
                  </a:extLst>
                </a:gridCol>
                <a:gridCol w="7580169">
                  <a:extLst>
                    <a:ext uri="{9D8B030D-6E8A-4147-A177-3AD203B41FA5}">
                      <a16:colId xmlns:a16="http://schemas.microsoft.com/office/drawing/2014/main" val="1460990395"/>
                    </a:ext>
                  </a:extLst>
                </a:gridCol>
              </a:tblGrid>
              <a:tr h="474153"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Herramienta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196450"/>
                  </a:ext>
                </a:extLst>
              </a:tr>
              <a:tr h="41910"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Evaluación automática de páginas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Servicio de diagnóstico en línea, WAVE, </a:t>
                      </a:r>
                      <a:r>
                        <a:rPr lang="es-E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HTMLChecker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081549054"/>
                  </a:ext>
                </a:extLst>
              </a:tr>
              <a:tr h="41910"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Evaluación automática de contraste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Colour Contrast Analyser</a:t>
                      </a:r>
                    </a:p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WCAG Color Contrast </a:t>
                      </a:r>
                      <a:r>
                        <a:rPr lang="es-E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Checker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29882682"/>
                  </a:ext>
                </a:extLst>
              </a:tr>
              <a:tr h="41910"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Evaluación automática de destellos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PEAT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67110758"/>
                  </a:ext>
                </a:extLst>
              </a:tr>
              <a:tr h="205559"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Revisiones mediante visualización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Web </a:t>
                      </a:r>
                      <a:r>
                        <a:rPr lang="es-E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Developer</a:t>
                      </a:r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Toolbar</a:t>
                      </a:r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HeadingsMap, Text </a:t>
                      </a:r>
                      <a:r>
                        <a:rPr lang="es-E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Spacing</a:t>
                      </a:r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Inspector de código del navegador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928790353"/>
                  </a:ext>
                </a:extLst>
              </a:tr>
              <a:tr h="205559"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Lector de pantalla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NVDA, TalkBack (Android) o VoiceOver (iOS)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136400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Preferencias de usuario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Ajustes del sistema operativo y navegador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791022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Manejo de vídeo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 Studio, VLC, </a:t>
                      </a:r>
                      <a:r>
                        <a:rPr lang="es-E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Avidemux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138442762"/>
                  </a:ext>
                </a:extLst>
              </a:tr>
              <a:tr h="94028"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Medición de tiempo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Cronómetro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617826226"/>
                  </a:ext>
                </a:extLst>
              </a:tr>
              <a:tr h="115479"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Accesibilidad PDF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PAC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228346635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F434EA-E3E7-D663-6D12-34B039D4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948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Conclusiones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527538" y="1491516"/>
            <a:ext cx="11025553" cy="4964367"/>
          </a:xfrm>
        </p:spPr>
        <p:txBody>
          <a:bodyPr>
            <a:normAutofit/>
          </a:bodyPr>
          <a:lstStyle/>
          <a:p>
            <a:r>
              <a:rPr lang="es-ES" dirty="0"/>
              <a:t>Para comprobar si un sitio web es accesible hay que verificar si cumple todos los requisitos establecidos en la normativa</a:t>
            </a:r>
          </a:p>
          <a:p>
            <a:r>
              <a:rPr lang="es-ES" dirty="0"/>
              <a:t>El evaluador puede utilizar recursos que le faciliten el trabajo, como herramientas de evaluación automática y de evaluación manual</a:t>
            </a:r>
          </a:p>
          <a:p>
            <a:r>
              <a:rPr lang="es-ES" dirty="0"/>
              <a:t>Siempre hay que realizar una evaluación manual para confirmar los resultados de la evaluación automática</a:t>
            </a:r>
          </a:p>
          <a:p>
            <a:r>
              <a:rPr lang="es-ES" dirty="0"/>
              <a:t>Lo ideal sería contar con usuarios con discapacidad para probar el sitio web</a:t>
            </a:r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01666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10048</TotalTime>
  <Words>2103</Words>
  <Application>Microsoft Office PowerPoint</Application>
  <PresentationFormat>Panorámica</PresentationFormat>
  <Paragraphs>284</Paragraphs>
  <Slides>28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Wingdings</vt:lpstr>
      <vt:lpstr>Tema de Office</vt:lpstr>
      <vt:lpstr>Diseño personalizado</vt:lpstr>
      <vt:lpstr>Herramientas para la revisión de la accesibilidad de un sitio web</vt:lpstr>
      <vt:lpstr>Contenidos</vt:lpstr>
      <vt:lpstr>1. Introducción</vt:lpstr>
      <vt:lpstr>2. Herramientas de evaluación automática</vt:lpstr>
      <vt:lpstr>2. Herramientas de evaluación automática Búsqueda de herramientas</vt:lpstr>
      <vt:lpstr>2. Herramientas de evaluación automática Ejemplos de herramientas de evaluación de páginas</vt:lpstr>
      <vt:lpstr>2. Herramientas de evaluación automática Ejemplos de herramientas para contraste de colores</vt:lpstr>
      <vt:lpstr>2. Herramientas de evaluación automática Ejemplo para contraste de colores: CCA</vt:lpstr>
      <vt:lpstr>2. Herramientas de evaluación automática Ejemplo para detección de destellos: PEAT</vt:lpstr>
      <vt:lpstr>2. Herramientas de evaluación automática Ejemplos para evaluar documentos no web</vt:lpstr>
      <vt:lpstr>2. Herramientas de evaluación automática Ejemplo para PDF: PAC, Tingtun, PAVE</vt:lpstr>
      <vt:lpstr>3. Herramientas de evaluación manual</vt:lpstr>
      <vt:lpstr>3. Herramientas de evaluación manual Herramientas de visualización</vt:lpstr>
      <vt:lpstr>3. Herramientas de evaluación manual Ejemplo de herramienta de visualización: Web Developer</vt:lpstr>
      <vt:lpstr>3. Herramientas de evaluación manual Tecnologías de apoyo</vt:lpstr>
      <vt:lpstr>3. Herramientas de evaluación manual Tecnologías de apoyo. Tipos</vt:lpstr>
      <vt:lpstr>3. Herramientas de evaluación manual Tecnologías de apoyo. Ajustes del Sistema Operativo (1)</vt:lpstr>
      <vt:lpstr>3. Herramientas de evaluación manual Tecnologías de apoyo. Ajustes del Sistema Operativo (2)</vt:lpstr>
      <vt:lpstr>3. Herramientas de evaluación manual Tecnologías de apoyo. Ajustes del Sistema Operativo (3)</vt:lpstr>
      <vt:lpstr>3. Herramientas de evaluación manual Tecnologías de apoyo. Ajustes del navegador web (1)</vt:lpstr>
      <vt:lpstr>3. Herramientas de evaluación manual Tecnologías de apoyo. Lector de pantalla (1)</vt:lpstr>
      <vt:lpstr>3. Herramientas de evaluación manual Tecnologías de apoyo. Lector de pantalla (2)</vt:lpstr>
      <vt:lpstr>3. Herramientas de evaluación manual Tecnologías de apoyo. Lector de pantalla (3)</vt:lpstr>
      <vt:lpstr>3. Herramientas de evaluación manual Tecnologías de apoyo. Otras</vt:lpstr>
      <vt:lpstr>3. Herramientas de evaluación manual Manejo de  vídeo</vt:lpstr>
      <vt:lpstr>3. Herramientas de evaluación manual Simuladores de discapacidad</vt:lpstr>
      <vt:lpstr>4. Conjunto básico de herramientas para la revisión de sitios web</vt:lpstr>
      <vt:lpstr>5.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Herramientas para la revision de la accesibilidad</dc:title>
  <dc:creator>Hilera González José Ramón</dc:creator>
  <cp:lastModifiedBy>jose hilera</cp:lastModifiedBy>
  <cp:revision>599</cp:revision>
  <dcterms:created xsi:type="dcterms:W3CDTF">2016-04-13T08:22:41Z</dcterms:created>
  <dcterms:modified xsi:type="dcterms:W3CDTF">2025-11-17T23:19:39Z</dcterms:modified>
</cp:coreProperties>
</file>