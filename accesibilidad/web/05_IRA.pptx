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2" r:id="rId2"/>
  </p:sldMasterIdLst>
  <p:notesMasterIdLst>
    <p:notesMasterId r:id="rId15"/>
  </p:notesMasterIdLst>
  <p:sldIdLst>
    <p:sldId id="314" r:id="rId3"/>
    <p:sldId id="388" r:id="rId4"/>
    <p:sldId id="587" r:id="rId5"/>
    <p:sldId id="497" r:id="rId6"/>
    <p:sldId id="584" r:id="rId7"/>
    <p:sldId id="512" r:id="rId8"/>
    <p:sldId id="515" r:id="rId9"/>
    <p:sldId id="506" r:id="rId10"/>
    <p:sldId id="557" r:id="rId11"/>
    <p:sldId id="551" r:id="rId12"/>
    <p:sldId id="586" r:id="rId13"/>
    <p:sldId id="526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138" autoAdjust="0"/>
    <p:restoredTop sz="95226" autoAdjust="0"/>
  </p:normalViewPr>
  <p:slideViewPr>
    <p:cSldViewPr snapToGrid="0">
      <p:cViewPr varScale="1">
        <p:scale>
          <a:sx n="67" d="100"/>
          <a:sy n="67" d="100"/>
        </p:scale>
        <p:origin x="58" y="187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6FEF4D-0142-46B4-AC7F-5B868160AD8E}" type="datetimeFigureOut">
              <a:rPr lang="es-ES" smtClean="0"/>
              <a:t>12/11/2025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8CBC7-3B2B-4C22-92A9-AEE2213136AA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6109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B8CBC7-3B2B-4C22-92A9-AEE2213136A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7725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2387600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ctr"/>
          <a:lstStyle>
            <a:lvl1pPr algn="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0323" y="2854692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311319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45223" y="1491517"/>
            <a:ext cx="9161585" cy="4698268"/>
          </a:xfrm>
        </p:spPr>
        <p:txBody>
          <a:bodyPr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/>
            </a:lvl1pPr>
            <a:lvl2pPr marL="685800" indent="-228600">
              <a:spcBef>
                <a:spcPts val="1200"/>
              </a:spcBef>
              <a:buFont typeface="Courier New" panose="02070309020205020404" pitchFamily="49" charset="0"/>
              <a:buChar char="o"/>
              <a:defRPr/>
            </a:lvl2pPr>
            <a:lvl3pPr>
              <a:spcBef>
                <a:spcPts val="1200"/>
              </a:spcBef>
              <a:defRPr/>
            </a:lvl3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0EA5-8E19-4BC4-934C-2C82A50D6490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9226061" y="6356350"/>
            <a:ext cx="2743200" cy="365125"/>
          </a:xfrm>
        </p:spPr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4316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marL="354013" indent="0">
              <a:defRPr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7538" y="1491517"/>
            <a:ext cx="11025553" cy="4698268"/>
          </a:xfrm>
        </p:spPr>
        <p:txBody>
          <a:bodyPr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/>
            </a:lvl1pPr>
            <a:lvl2pPr marL="685800" indent="-228600">
              <a:spcBef>
                <a:spcPts val="1200"/>
              </a:spcBef>
              <a:buFont typeface="Courier New" panose="02070309020205020404" pitchFamily="49" charset="0"/>
              <a:buChar char="o"/>
              <a:defRPr/>
            </a:lvl2pPr>
            <a:lvl3pPr>
              <a:spcBef>
                <a:spcPts val="1200"/>
              </a:spcBef>
              <a:defRPr/>
            </a:lvl3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0EA5-8E19-4BC4-934C-2C82A50D6490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9226061" y="6356350"/>
            <a:ext cx="2743200" cy="365125"/>
          </a:xfrm>
        </p:spPr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71519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C9D08-3C16-416B-B8F9-4D4A629F38C9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1949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E605-5CBB-40FE-87B4-05B62A5CAB7C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88140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06281-1CDF-413F-B502-D8EF9109D251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665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46C39-2265-4ECA-84D0-AFE501AC4C1C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40353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D3683-7933-4D92-B730-4B8490CCDF4B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45139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D45B-6432-4BD4-BB2B-6E8E1493A879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8924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BFDE-1D6E-4E03-A53A-F1B29D2D0A86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87348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43F0-BAC6-4443-92A3-9EA2CC19B9B7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59388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633C-AB28-4AC7-B7B0-41DFBCF1B247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11380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3348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9229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83556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85864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97660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89982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97037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98797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08488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84880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1310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46C39-2265-4ECA-84D0-AFE501AC4C1C}" type="datetime1">
              <a:rPr lang="es-ES" smtClean="0"/>
              <a:t>12/11/2025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75578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2" r:id="rId4"/>
    <p:sldLayoutId id="2147483653" r:id="rId5"/>
    <p:sldLayoutId id="2147483654" r:id="rId6"/>
    <p:sldLayoutId id="2147483661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B338E-2CA8-4990-93F8-04B6F142715C}" type="datetimeFigureOut">
              <a:rPr lang="es-ES" smtClean="0"/>
              <a:t>12/11/2025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2111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ah.es/es/estudios/profesor/Jose-Ramon-Hilera-Gonzalez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creativecommons.org/licenses/by-nc-sa/4.0/" TargetMode="External"/><Relationship Id="rId4" Type="http://schemas.openxmlformats.org/officeDocument/2006/relationships/hyperlink" Target="https://twitter.com/software_a11y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dministracionelectronica.gob.es/pae_Home/pae_Estrategias/pae_Accesibilidad/pae_normativa/pae_eInclusion_Normas_Accesibilidad.html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administracionelectronica.gob.es/comunidades/resources/Comunidades/21/Descargas/Guia-Tecnica-Revision-Accesibilidad-Sitio-Web-UNE-EN-301549-2022-v1-0.pdf?idElemento=864&amp;idComunidad=21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.org/WAI/WCAG21/Understanding/intro#understanding-the-four-principles-of-accessibility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eur-lex.europa.eu/legal-content/ES/TXT/HTML/?uri=CELEX:32018D1524&amp;from=ES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dministracionelectronica.gob.es/comunidades/resources/Comunidades/21/Descargas/Informe%20Revision%20Accesibilidad%20-%20Sitios%20web%20-%20v1-0-2.xlsx?idElemento=684" TargetMode="External"/><Relationship Id="rId2" Type="http://schemas.openxmlformats.org/officeDocument/2006/relationships/hyperlink" Target="https://administracionelectronica.gob.es/pae_Home/pae_Estrategias/pae_Accesibilidad/implantacion-rd-1112-2018/revisiones_accesibilidad.html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administracionelectronica.gob.es/comunidades/resources/Comunidades/21/Descargas/Informe%20Revision%20Accesibilidad%20-%20Sitios%20web%20-%20v1-0-2%20-ODS%20-%20173%20KB-.ods?idElemento=683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osehilera/accesibilidad/tree/master/plantillas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Informe de Revisión</a:t>
            </a:r>
            <a:br>
              <a:rPr lang="es-ES" dirty="0"/>
            </a:br>
            <a:r>
              <a:rPr lang="es-ES" dirty="0"/>
              <a:t>de Accesibilidad (IRA) de un sitio web</a:t>
            </a:r>
          </a:p>
        </p:txBody>
      </p:sp>
      <p:sp>
        <p:nvSpPr>
          <p:cNvPr id="6" name="Subtítulo 5"/>
          <p:cNvSpPr>
            <a:spLocks noGrp="1"/>
          </p:cNvSpPr>
          <p:nvPr>
            <p:ph type="subTitle" idx="1"/>
          </p:nvPr>
        </p:nvSpPr>
        <p:spPr>
          <a:xfrm>
            <a:off x="703385" y="4210492"/>
            <a:ext cx="11087100" cy="1908953"/>
          </a:xfrm>
        </p:spPr>
        <p:txBody>
          <a:bodyPr>
            <a:normAutofit/>
          </a:bodyPr>
          <a:lstStyle/>
          <a:p>
            <a:pPr algn="r"/>
            <a:r>
              <a:rPr lang="en-US" b="1" dirty="0"/>
              <a:t>								</a:t>
            </a:r>
            <a:r>
              <a:rPr lang="en-US" b="1" dirty="0">
                <a:hlinkClick r:id="rId3"/>
              </a:rPr>
              <a:t>José Ramón Hilera González</a:t>
            </a:r>
            <a:br>
              <a:rPr lang="en-US" b="1" dirty="0"/>
            </a:br>
            <a:r>
              <a:rPr lang="en-US" sz="2000" dirty="0"/>
              <a:t>jose.hilera@uah.es</a:t>
            </a:r>
            <a:br>
              <a:rPr lang="en-US" sz="2000" dirty="0"/>
            </a:br>
            <a:r>
              <a:rPr lang="en-US" sz="2000" dirty="0">
                <a:hlinkClick r:id="rId4"/>
              </a:rPr>
              <a:t>@software_a11y</a:t>
            </a:r>
            <a:endParaRPr lang="en-US" sz="2000" dirty="0"/>
          </a:p>
          <a:p>
            <a:endParaRPr lang="en-US" b="1" dirty="0"/>
          </a:p>
          <a:p>
            <a:pPr algn="r"/>
            <a:endParaRPr lang="es-ES" i="1" dirty="0"/>
          </a:p>
          <a:p>
            <a:endParaRPr lang="es-ES" dirty="0"/>
          </a:p>
        </p:txBody>
      </p:sp>
      <p:pic>
        <p:nvPicPr>
          <p:cNvPr id="8" name="Picture 2" descr="Licencia de Creative Commons BY-NC-SA">
            <a:hlinkClick r:id="rId5"/>
            <a:extLst>
              <a:ext uri="{FF2B5EF4-FFF2-40B4-BE49-F238E27FC236}">
                <a16:creationId xmlns:a16="http://schemas.microsoft.com/office/drawing/2014/main" id="{CAC9F331-4732-4A3B-A1F5-B501B305563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07" y="5910510"/>
            <a:ext cx="1620000" cy="570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4294967295"/>
          </p:nvPr>
        </p:nvSpPr>
        <p:spPr>
          <a:xfrm>
            <a:off x="9173309" y="6373934"/>
            <a:ext cx="2743200" cy="365125"/>
          </a:xfrm>
        </p:spPr>
        <p:txBody>
          <a:bodyPr/>
          <a:lstStyle/>
          <a:p>
            <a:fld id="{C9400CC4-AA0F-4E2E-A7D9-25BF1D2A8A6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6781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Contenido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dirty="0"/>
              <a:t>Introducción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Requisitos a revisar (UNE-EN 301549:2022)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Muestra de páginas web y documentos no web a revisar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Modelo de Informe de revisión de accesibilidad (IRA)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Conclusiones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55628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28C841-5B86-625F-161E-B816960E4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Introducción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76385A8-F1AA-B21E-FFF8-8606C4B38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Los resultados de la revisión de accesibilidad de un sitio web  deben registrarse en un Informe de Revisión de Accesibilidad (IRA)</a:t>
            </a:r>
          </a:p>
          <a:p>
            <a:r>
              <a:rPr lang="es-ES" dirty="0"/>
              <a:t>En el informe se debe indicar para cada página web del sitio si cumple cada requisito establecido en la norma UNE-EN 301549:2022</a:t>
            </a:r>
          </a:p>
          <a:p>
            <a:pPr lvl="1"/>
            <a:r>
              <a:rPr lang="es-ES" dirty="0"/>
              <a:t>“Pasa”, “Falla” o “No Aplica” </a:t>
            </a:r>
          </a:p>
          <a:p>
            <a:r>
              <a:rPr lang="es-ES" dirty="0"/>
              <a:t>Previamente a elaborar el informe hay que elegir una muestra de las páginas web y documentos no web descargables a revisar</a:t>
            </a:r>
          </a:p>
          <a:p>
            <a:r>
              <a:rPr lang="es-ES" dirty="0"/>
              <a:t>El Observatorio de Accesibilidad ha publicado una plantilla para el IRA que establece un máximo de 35 elementos en la muestra (entre páginas y documentos)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FAE92E-B6CC-8580-4582-EC23E3F68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9372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Requisitos a revisar (UNE-EN 301549:2022)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7537" y="1491516"/>
            <a:ext cx="10634105" cy="2462967"/>
          </a:xfrm>
        </p:spPr>
        <p:txBody>
          <a:bodyPr>
            <a:normAutofit/>
          </a:bodyPr>
          <a:lstStyle/>
          <a:p>
            <a:r>
              <a:rPr lang="es-ES" dirty="0"/>
              <a:t>La norma </a:t>
            </a:r>
            <a:r>
              <a:rPr lang="es-ES" dirty="0">
                <a:hlinkClick r:id="rId2"/>
              </a:rPr>
              <a:t>UNE-EN 301549</a:t>
            </a:r>
            <a:r>
              <a:rPr lang="es-ES" dirty="0"/>
              <a:t> establece los requisitos que debe cumplir un sitio web para considerarse accesible según los términos del RD 1112/2018</a:t>
            </a:r>
          </a:p>
          <a:p>
            <a:r>
              <a:rPr lang="es-ES" dirty="0"/>
              <a:t>El Anexo A.1 incluye una tabla resumen con los requisitos exigidos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4</a:t>
            </a:fld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9E2205-FD08-7E0D-61CA-91EBCFF89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15" y="4168082"/>
            <a:ext cx="10144648" cy="208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148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Requisitos a revisar (UNE-EN 301549:2022)</a:t>
            </a:r>
            <a:br>
              <a:rPr lang="es-ES" dirty="0"/>
            </a:br>
            <a:r>
              <a:rPr lang="es-ES"/>
              <a:t>Guía técnica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7538" y="1491516"/>
            <a:ext cx="7206785" cy="5366484"/>
          </a:xfrm>
        </p:spPr>
        <p:txBody>
          <a:bodyPr>
            <a:normAutofit fontScale="85000" lnSpcReduction="10000"/>
          </a:bodyPr>
          <a:lstStyle/>
          <a:p>
            <a:r>
              <a:rPr lang="es-ES" dirty="0"/>
              <a:t>Se deben verificar los 137 requisitos establecidos por la norma UNE-EN 301549:2022 en la tabla A.1</a:t>
            </a:r>
          </a:p>
          <a:p>
            <a:pPr lvl="1"/>
            <a:r>
              <a:rPr lang="es-ES" dirty="0"/>
              <a:t>Requisitos condicionales</a:t>
            </a:r>
          </a:p>
          <a:p>
            <a:pPr lvl="1"/>
            <a:r>
              <a:rPr lang="es-ES" dirty="0"/>
              <a:t>Requisitos incondicionales</a:t>
            </a:r>
          </a:p>
          <a:p>
            <a:r>
              <a:rPr lang="es-ES" dirty="0"/>
              <a:t>El resultado de la verificación de un requisito para una página web o un documento no web puede ser</a:t>
            </a:r>
          </a:p>
          <a:p>
            <a:pPr lvl="1"/>
            <a:r>
              <a:rPr lang="es-ES" dirty="0"/>
              <a:t>N/A (No Aplicable), Falla, Pasa</a:t>
            </a:r>
          </a:p>
          <a:p>
            <a:r>
              <a:rPr lang="es-ES" dirty="0"/>
              <a:t>Existe una </a:t>
            </a:r>
            <a:r>
              <a:rPr lang="es-ES" dirty="0">
                <a:hlinkClick r:id="rId2"/>
              </a:rPr>
              <a:t>guía técnica</a:t>
            </a:r>
            <a:r>
              <a:rPr lang="es-ES" dirty="0"/>
              <a:t> de ayuda para la revisión de cada requisito, disponible en la Comunidad Accesibilidad (previo registro)</a:t>
            </a:r>
          </a:p>
          <a:p>
            <a:pPr lvl="1"/>
            <a:r>
              <a:rPr lang="es-ES" dirty="0"/>
              <a:t>Sección: Documentación &gt; Revisiones de accesibilidad</a:t>
            </a:r>
          </a:p>
          <a:p>
            <a:pPr lvl="1"/>
            <a:r>
              <a:rPr lang="es-ES" dirty="0"/>
              <a:t>Para descargarla hay que estar registrado en la Comunidad</a:t>
            </a:r>
          </a:p>
          <a:p>
            <a:pPr lvl="1"/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5</a:t>
            </a:fld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256C9CF-2034-16E0-0BF7-BB263EA7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849" y="1737654"/>
            <a:ext cx="3149111" cy="46186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92089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Requisitos a revisar (UNE-EN 301549:2022)</a:t>
            </a:r>
            <a:br>
              <a:rPr lang="es-ES" dirty="0"/>
            </a:br>
            <a:r>
              <a:rPr lang="es-ES" dirty="0"/>
              <a:t>Categorías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Los 137 requisitos se organizan en siete categorías. </a:t>
            </a:r>
          </a:p>
          <a:p>
            <a:pPr lvl="1"/>
            <a:r>
              <a:rPr lang="es-ES" dirty="0" err="1"/>
              <a:t>Nº</a:t>
            </a:r>
            <a:r>
              <a:rPr lang="es-ES" dirty="0"/>
              <a:t> 1 a 3. Genéricos (condicionales)</a:t>
            </a:r>
          </a:p>
          <a:p>
            <a:pPr lvl="1"/>
            <a:r>
              <a:rPr lang="es-ES" dirty="0" err="1"/>
              <a:t>Nº</a:t>
            </a:r>
            <a:r>
              <a:rPr lang="es-ES" dirty="0"/>
              <a:t> 4 a 22. Comunicación bidireccional (condicionales)</a:t>
            </a:r>
          </a:p>
          <a:p>
            <a:pPr lvl="1"/>
            <a:r>
              <a:rPr lang="es-ES" dirty="0" err="1"/>
              <a:t>Nº</a:t>
            </a:r>
            <a:r>
              <a:rPr lang="es-ES" dirty="0"/>
              <a:t> 23 a 31. Capacidades de vídeo (condicionales)</a:t>
            </a:r>
          </a:p>
          <a:p>
            <a:pPr lvl="1"/>
            <a:r>
              <a:rPr lang="es-ES" dirty="0" err="1"/>
              <a:t>Nº</a:t>
            </a:r>
            <a:r>
              <a:rPr lang="es-ES" dirty="0"/>
              <a:t> 32 a 81 Páginas web (condicionales)</a:t>
            </a:r>
          </a:p>
          <a:p>
            <a:pPr lvl="1"/>
            <a:r>
              <a:rPr lang="es-ES" dirty="0" err="1"/>
              <a:t>Nº</a:t>
            </a:r>
            <a:r>
              <a:rPr lang="es-ES" dirty="0"/>
              <a:t> 82 a 126. Documentos no web (condicionales)</a:t>
            </a:r>
          </a:p>
          <a:p>
            <a:pPr lvl="1"/>
            <a:r>
              <a:rPr lang="es-ES" dirty="0" err="1"/>
              <a:t>Nº</a:t>
            </a:r>
            <a:r>
              <a:rPr lang="es-ES" dirty="0"/>
              <a:t> 127 a 132. Software (condicionales e incondicionales)</a:t>
            </a:r>
          </a:p>
          <a:p>
            <a:pPr lvl="1"/>
            <a:r>
              <a:rPr lang="es-ES" dirty="0" err="1"/>
              <a:t>Nº</a:t>
            </a:r>
            <a:r>
              <a:rPr lang="es-ES" dirty="0"/>
              <a:t> 133 a 137. Documentación y servicios de apoyo (incondicionales)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9158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Requisitos a revisar</a:t>
            </a:r>
            <a:br>
              <a:rPr lang="es-ES" dirty="0"/>
            </a:br>
            <a:r>
              <a:rPr lang="es-ES" dirty="0"/>
              <a:t>Principios de accesibilidad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ES" dirty="0"/>
              <a:t>Cada uno de los 137 requisitos permite comprobar el cumplimiento parcial de uno o varios de los 4 principios de accesibilidad conocidos como POUR, definidos originalmente por el </a:t>
            </a:r>
            <a:r>
              <a:rPr lang="es-ES" dirty="0">
                <a:hlinkClick r:id="rId2"/>
              </a:rPr>
              <a:t>W3C</a:t>
            </a:r>
            <a:r>
              <a:rPr lang="es-ES" dirty="0"/>
              <a:t>. </a:t>
            </a:r>
          </a:p>
          <a:p>
            <a:pPr lvl="1"/>
            <a:r>
              <a:rPr lang="es-ES" b="1" u="sng" dirty="0" err="1"/>
              <a:t>P</a:t>
            </a:r>
            <a:r>
              <a:rPr lang="es-ES" dirty="0" err="1"/>
              <a:t>erceivable</a:t>
            </a:r>
            <a:r>
              <a:rPr lang="es-ES" dirty="0"/>
              <a:t> (Perceptible). La información y los componentes de la interfaz de usuario deben ser presentados a los usuarios de modo que ellos puedan percibirlos.</a:t>
            </a:r>
          </a:p>
          <a:p>
            <a:pPr lvl="1"/>
            <a:r>
              <a:rPr lang="es-ES" b="1" u="sng" dirty="0"/>
              <a:t>O</a:t>
            </a:r>
            <a:r>
              <a:rPr lang="es-ES" dirty="0"/>
              <a:t>perable. Los componentes de la interfaz de usuario y la navegación deben ser operables.</a:t>
            </a:r>
          </a:p>
          <a:p>
            <a:pPr lvl="1"/>
            <a:r>
              <a:rPr lang="es-ES" b="1" u="sng" dirty="0" err="1"/>
              <a:t>U</a:t>
            </a:r>
            <a:r>
              <a:rPr lang="es-ES" dirty="0" err="1"/>
              <a:t>nderstandable</a:t>
            </a:r>
            <a:r>
              <a:rPr lang="es-ES" dirty="0"/>
              <a:t> (Comprensible). La información y el manejo de la interfaz de usuario deben ser comprensibles.</a:t>
            </a:r>
          </a:p>
          <a:p>
            <a:pPr lvl="1"/>
            <a:r>
              <a:rPr lang="es-ES" b="1" u="sng" dirty="0" err="1"/>
              <a:t>R</a:t>
            </a:r>
            <a:r>
              <a:rPr lang="es-ES" dirty="0" err="1"/>
              <a:t>obust</a:t>
            </a:r>
            <a:r>
              <a:rPr lang="es-ES" dirty="0"/>
              <a:t>. El contenido debe ser interpretado de forma fiable por las tecnologías de apoyo.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23149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Muestra de páginas y documentos a revisar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dirty="0"/>
              <a:t>Hay que identifican las páginas en procesos completos de uso del sitio web para realizar una determinada tarea. </a:t>
            </a:r>
          </a:p>
          <a:p>
            <a:r>
              <a:rPr lang="es-ES" dirty="0"/>
              <a:t>Según la </a:t>
            </a:r>
            <a:r>
              <a:rPr lang="es-ES" dirty="0">
                <a:hlinkClick r:id="rId2"/>
              </a:rPr>
              <a:t>Decisión UE 2018/1524</a:t>
            </a:r>
            <a:r>
              <a:rPr lang="es-ES" dirty="0"/>
              <a:t>, hay que incluir en la muestra:</a:t>
            </a:r>
          </a:p>
          <a:p>
            <a:pPr marL="914400" lvl="1" indent="-457200">
              <a:buFont typeface="+mj-lt"/>
              <a:buAutoNum type="alphaLcParenR"/>
            </a:pPr>
            <a:r>
              <a:rPr lang="es-ES" dirty="0"/>
              <a:t>páginas de inicio, inicio de sesión, mapa del sitio web, contacto, ayuda e información legal;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s-ES" dirty="0"/>
              <a:t>como mínimo, una página pertinente para cada tipo de servicio prestado por el sitio y para cualquier otro uso principal previsto del sitio, incluida la función de búsqueda;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s-ES" dirty="0"/>
              <a:t>las páginas que contengan la declaración o la política de accesibilidad y el mecanismo de comunicación;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s-ES" dirty="0"/>
              <a:t>ejemplos de las páginas cuya apariencia sea sustancialmente distinta o que presenten un tipo de contenido diferente;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s-ES" dirty="0"/>
              <a:t>como mínimo, un documento descargable pertinente, si procede, para cada tipo de servicio prestado por el sitio y cualquier otro uso principal previsto del sitio;</a:t>
            </a:r>
          </a:p>
          <a:p>
            <a:pPr marL="914400" lvl="1" indent="-457200">
              <a:buFont typeface="+mj-lt"/>
              <a:buAutoNum type="alphaLcParenR"/>
            </a:pPr>
            <a:r>
              <a:rPr lang="es-ES" dirty="0"/>
              <a:t>cualquier otra página que el organismo considere pertinente;</a:t>
            </a:r>
          </a:p>
          <a:p>
            <a:pPr marL="914400" lvl="1" indent="-457200">
              <a:buFont typeface="+mj-lt"/>
              <a:buAutoNum type="alphaLcParenR"/>
            </a:pPr>
            <a:r>
              <a:rPr lang="es-ES" dirty="0"/>
              <a:t>páginas seleccionadas al azar que representen, como mínimo, un 10 % de la muestra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44707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4. Modelo de informe de revisión (IRA)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Se debe usar el modelo de </a:t>
            </a:r>
            <a:r>
              <a:rPr lang="es-ES" b="1" dirty="0"/>
              <a:t>Informe de Revisión de Accesibilidad (IRA)</a:t>
            </a:r>
            <a:r>
              <a:rPr lang="es-ES" dirty="0"/>
              <a:t> disponible en el </a:t>
            </a:r>
            <a:r>
              <a:rPr lang="es-ES" dirty="0">
                <a:hlinkClick r:id="rId2"/>
              </a:rPr>
              <a:t>Observatorio de Accesibilidad</a:t>
            </a:r>
            <a:r>
              <a:rPr lang="es-ES" dirty="0"/>
              <a:t>, con formato Excel(xlsx)/LibreOffice(</a:t>
            </a:r>
            <a:r>
              <a:rPr lang="es-ES" dirty="0" err="1"/>
              <a:t>ods</a:t>
            </a:r>
            <a:r>
              <a:rPr lang="es-ES" dirty="0"/>
              <a:t>), que incluye varias hojas de cálculo para recoger los resultados de la evaluación </a:t>
            </a:r>
          </a:p>
          <a:p>
            <a:pPr lvl="1"/>
            <a:r>
              <a:rPr lang="es-ES" dirty="0">
                <a:hlinkClick r:id="rId3"/>
              </a:rPr>
              <a:t>Informe de revisión de la accesibilidad para sitios web (en formato XLSX)</a:t>
            </a:r>
            <a:endParaRPr lang="es-ES" dirty="0"/>
          </a:p>
          <a:p>
            <a:pPr lvl="1"/>
            <a:r>
              <a:rPr lang="es-ES" dirty="0">
                <a:hlinkClick r:id="rId4"/>
              </a:rPr>
              <a:t>Informe de revisión de la accesibilidad para sitios web (en formato ODS)</a:t>
            </a:r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30149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4. Modelo de informe de revisión (IRA)</a:t>
            </a:r>
            <a:br>
              <a:rPr lang="es-ES" dirty="0"/>
            </a:br>
            <a:r>
              <a:rPr lang="es-ES" dirty="0"/>
              <a:t>Apartados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7539" y="1491516"/>
            <a:ext cx="3519168" cy="5142747"/>
          </a:xfrm>
        </p:spPr>
        <p:txBody>
          <a:bodyPr>
            <a:normAutofit fontScale="77500" lnSpcReduction="20000"/>
          </a:bodyPr>
          <a:lstStyle/>
          <a:p>
            <a:r>
              <a:rPr lang="es-ES" dirty="0"/>
              <a:t>Hojas de cálculo</a:t>
            </a:r>
          </a:p>
          <a:p>
            <a:pPr lvl="1"/>
            <a:r>
              <a:rPr lang="es-ES" dirty="0"/>
              <a:t>00.Info</a:t>
            </a:r>
          </a:p>
          <a:p>
            <a:pPr lvl="1"/>
            <a:r>
              <a:rPr lang="es-ES" dirty="0"/>
              <a:t>01.Definición de ámbito</a:t>
            </a:r>
          </a:p>
          <a:p>
            <a:pPr lvl="1"/>
            <a:r>
              <a:rPr lang="es-ES" dirty="0"/>
              <a:t>02.Tecnologías</a:t>
            </a:r>
          </a:p>
          <a:p>
            <a:pPr lvl="1"/>
            <a:r>
              <a:rPr lang="es-ES" dirty="0"/>
              <a:t>03.Muestra</a:t>
            </a:r>
          </a:p>
          <a:p>
            <a:pPr lvl="1"/>
            <a:r>
              <a:rPr lang="es-ES" dirty="0"/>
              <a:t>R5.Genéricos</a:t>
            </a:r>
          </a:p>
          <a:p>
            <a:pPr lvl="1"/>
            <a:r>
              <a:rPr lang="es-ES" dirty="0"/>
              <a:t>R6.Voz</a:t>
            </a:r>
          </a:p>
          <a:p>
            <a:pPr lvl="1"/>
            <a:r>
              <a:rPr lang="es-ES" dirty="0"/>
              <a:t>R7.Vídeo</a:t>
            </a:r>
          </a:p>
          <a:p>
            <a:pPr lvl="1"/>
            <a:r>
              <a:rPr lang="es-ES" dirty="0"/>
              <a:t>R9.Web</a:t>
            </a:r>
          </a:p>
          <a:p>
            <a:pPr lvl="1"/>
            <a:r>
              <a:rPr lang="es-ES" dirty="0"/>
              <a:t>R10.Documentos no web</a:t>
            </a:r>
          </a:p>
          <a:p>
            <a:pPr lvl="1"/>
            <a:r>
              <a:rPr lang="es-ES" dirty="0"/>
              <a:t> R11.Software</a:t>
            </a:r>
          </a:p>
          <a:p>
            <a:pPr lvl="1"/>
            <a:r>
              <a:rPr lang="es-ES" dirty="0"/>
              <a:t>R12.ServiciosApoyo</a:t>
            </a:r>
          </a:p>
          <a:p>
            <a:pPr lvl="1"/>
            <a:r>
              <a:rPr lang="es-ES" dirty="0"/>
              <a:t>RESULTADOS</a:t>
            </a:r>
          </a:p>
          <a:p>
            <a:pPr lvl="1"/>
            <a:r>
              <a:rPr lang="es-ES" dirty="0"/>
              <a:t>Change Log</a:t>
            </a:r>
          </a:p>
          <a:p>
            <a:pPr lvl="1"/>
            <a:endParaRPr lang="es-ES" dirty="0"/>
          </a:p>
          <a:p>
            <a:pPr lvl="1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10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05B691C-192F-F16D-5704-80D88ECAE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436" y="1840438"/>
            <a:ext cx="8230206" cy="429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264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4. Modelo de informe de revisión (IRA)</a:t>
            </a:r>
            <a:br>
              <a:rPr lang="es-ES" dirty="0"/>
            </a:br>
            <a:r>
              <a:rPr lang="es-ES" dirty="0"/>
              <a:t>Informes adicionales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El modelo de informe no permite incluir comentarios del evaluador sobre los errores encontrados, herramientas utilizadas en cada requisito, procesos completos revisados o el texto de la declaración de accesibilidad</a:t>
            </a:r>
          </a:p>
          <a:p>
            <a:r>
              <a:rPr lang="es-ES" dirty="0"/>
              <a:t>Se recomienda elaborar un </a:t>
            </a:r>
            <a:r>
              <a:rPr lang="es-ES" dirty="0">
                <a:hlinkClick r:id="rId2"/>
              </a:rPr>
              <a:t>archivo anexo al IRA</a:t>
            </a:r>
            <a:r>
              <a:rPr lang="es-ES" dirty="0"/>
              <a:t> con las siguientes hojas de cálculo:</a:t>
            </a:r>
          </a:p>
          <a:p>
            <a:pPr lvl="1"/>
            <a:r>
              <a:rPr lang="es-ES" dirty="0"/>
              <a:t>Procesos: La Decisión (UE) 2018/1524 indica que, si cualquiera de las páginas de la muestra seleccionada es una etapa de un proceso o caso de uso del sitio web, deberán verificarse todas las páginas del proceso. </a:t>
            </a:r>
          </a:p>
          <a:p>
            <a:pPr lvl="1"/>
            <a:r>
              <a:rPr lang="es-ES" dirty="0"/>
              <a:t>Comentarios: Justificación de la valoración de cada requisito y herramientas usadas.</a:t>
            </a:r>
          </a:p>
          <a:p>
            <a:pPr lvl="1"/>
            <a:r>
              <a:rPr lang="es-ES" dirty="0"/>
              <a:t>Declaración: Texto para la declaración de accesibilidad del sitio web.</a:t>
            </a:r>
          </a:p>
          <a:p>
            <a:r>
              <a:rPr lang="es-ES" dirty="0"/>
              <a:t>Adicionalmente, se debe elaborar un </a:t>
            </a:r>
            <a:r>
              <a:rPr lang="es-ES" dirty="0">
                <a:hlinkClick r:id="rId2"/>
              </a:rPr>
              <a:t>informe de errores</a:t>
            </a:r>
            <a:r>
              <a:rPr lang="es-ES" dirty="0"/>
              <a:t>, cuyo objetivo es informar de los incumplimientos detectados al equipo encargado de su resolución, en el que se recoja:</a:t>
            </a:r>
          </a:p>
          <a:p>
            <a:pPr lvl="1"/>
            <a:r>
              <a:rPr lang="es-ES" dirty="0"/>
              <a:t>El detalle de las disconformidades y posibles soluciones</a:t>
            </a:r>
          </a:p>
          <a:p>
            <a:pPr lvl="1"/>
            <a:r>
              <a:rPr lang="es-ES" dirty="0"/>
              <a:t>Un resumen de los incumplimientos frecuentes o críticos </a:t>
            </a:r>
          </a:p>
          <a:p>
            <a:pPr lvl="1"/>
            <a:r>
              <a:rPr lang="es-ES" dirty="0"/>
              <a:t>Detalles acerca de las herramientas empleadas</a:t>
            </a:r>
          </a:p>
          <a:p>
            <a:pPr lvl="1"/>
            <a:r>
              <a:rPr lang="es-ES" dirty="0"/>
              <a:t>Si se han realizado pruebas de usabilidad, una descripción de las mismas </a:t>
            </a:r>
          </a:p>
          <a:p>
            <a:r>
              <a:rPr lang="es-ES" dirty="0"/>
              <a:t>Al Observatorio de Accesibilidad sólo hay que enviar el IRA</a:t>
            </a:r>
          </a:p>
          <a:p>
            <a:pPr marL="0" indent="0">
              <a:buNone/>
            </a:pPr>
            <a:endParaRPr lang="es-ES" dirty="0"/>
          </a:p>
          <a:p>
            <a:pPr lvl="1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21379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Conclusiones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>
          <a:xfrm>
            <a:off x="527538" y="1491516"/>
            <a:ext cx="11025553" cy="4964367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Los resultados de la revisión de accesibilidad de un sitio web  deben registrarse en un Informe de Revisión de Accesibilidad (IRA) en forma de archivo de hojas de cálculo</a:t>
            </a:r>
          </a:p>
          <a:p>
            <a:r>
              <a:rPr lang="es-ES" dirty="0"/>
              <a:t>En el IRA se debe indicar para cada página web y documento no web descargable si cumple cada requisito establecido en la norma UNE-EN 301549:2022</a:t>
            </a:r>
          </a:p>
          <a:p>
            <a:r>
              <a:rPr lang="es-ES" dirty="0"/>
              <a:t>El IRA se complementa con</a:t>
            </a:r>
          </a:p>
          <a:p>
            <a:pPr lvl="1"/>
            <a:r>
              <a:rPr lang="es-ES" dirty="0"/>
              <a:t>Un archivo anexo de hojas de cálculo con procesos, comentarios y la declaración de accesibilidad </a:t>
            </a:r>
          </a:p>
          <a:p>
            <a:pPr lvl="1"/>
            <a:r>
              <a:rPr lang="es-ES" dirty="0"/>
              <a:t>Un Informe de errores para informar de los incumplimientos detectados al equipo encargado de su resolución</a:t>
            </a:r>
          </a:p>
          <a:p>
            <a:r>
              <a:rPr lang="es-ES" dirty="0"/>
              <a:t>Al Observatorio de Accesibilidad sólo hay que enviar el IRA</a:t>
            </a:r>
          </a:p>
          <a:p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201666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13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8226</TotalTime>
  <Words>1172</Words>
  <Application>Microsoft Office PowerPoint</Application>
  <PresentationFormat>Panorámica</PresentationFormat>
  <Paragraphs>106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Wingdings</vt:lpstr>
      <vt:lpstr>Tema de Office</vt:lpstr>
      <vt:lpstr>Diseño personalizado</vt:lpstr>
      <vt:lpstr>Informe de Revisión de Accesibilidad (IRA) de un sitio web</vt:lpstr>
      <vt:lpstr>Contenido</vt:lpstr>
      <vt:lpstr>1. Introducción</vt:lpstr>
      <vt:lpstr>2. Requisitos a revisar (UNE-EN 301549:2022)</vt:lpstr>
      <vt:lpstr>2. Requisitos a revisar (UNE-EN 301549:2022) Guía técnica</vt:lpstr>
      <vt:lpstr>2. Requisitos a revisar (UNE-EN 301549:2022) Categorías</vt:lpstr>
      <vt:lpstr>2. Requisitos a revisar Principios de accesibilidad</vt:lpstr>
      <vt:lpstr>3. Muestra de páginas y documentos a revisar</vt:lpstr>
      <vt:lpstr>4. Modelo de informe de revisión (IRA)</vt:lpstr>
      <vt:lpstr>4. Modelo de informe de revisión (IRA) Apartados</vt:lpstr>
      <vt:lpstr>4. Modelo de informe de revisión (IRA) Informes adicionales</vt:lpstr>
      <vt:lpstr>5. 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de revisión de accesibilidad (IRA)</dc:title>
  <dc:creator>Hilera González José Ramón</dc:creator>
  <cp:lastModifiedBy>jose hilera</cp:lastModifiedBy>
  <cp:revision>521</cp:revision>
  <dcterms:created xsi:type="dcterms:W3CDTF">2016-04-13T08:22:41Z</dcterms:created>
  <dcterms:modified xsi:type="dcterms:W3CDTF">2025-11-12T18:38:46Z</dcterms:modified>
</cp:coreProperties>
</file>