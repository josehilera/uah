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19"/>
  </p:notesMasterIdLst>
  <p:sldIdLst>
    <p:sldId id="500" r:id="rId3"/>
    <p:sldId id="501" r:id="rId4"/>
    <p:sldId id="407" r:id="rId5"/>
    <p:sldId id="503" r:id="rId6"/>
    <p:sldId id="505" r:id="rId7"/>
    <p:sldId id="506" r:id="rId8"/>
    <p:sldId id="587" r:id="rId9"/>
    <p:sldId id="588" r:id="rId10"/>
    <p:sldId id="589" r:id="rId11"/>
    <p:sldId id="583" r:id="rId12"/>
    <p:sldId id="585" r:id="rId13"/>
    <p:sldId id="586" r:id="rId14"/>
    <p:sldId id="584" r:id="rId15"/>
    <p:sldId id="581" r:id="rId16"/>
    <p:sldId id="582" r:id="rId17"/>
    <p:sldId id="526"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autoAdjust="0"/>
    <p:restoredTop sz="86449" autoAdjust="0"/>
  </p:normalViewPr>
  <p:slideViewPr>
    <p:cSldViewPr snapToGrid="0">
      <p:cViewPr varScale="1">
        <p:scale>
          <a:sx n="62" d="100"/>
          <a:sy n="62" d="100"/>
        </p:scale>
        <p:origin x="1310" y="62"/>
      </p:cViewPr>
      <p:guideLst/>
    </p:cSldViewPr>
  </p:slideViewPr>
  <p:outlineViewPr>
    <p:cViewPr>
      <p:scale>
        <a:sx n="33" d="100"/>
        <a:sy n="33" d="100"/>
      </p:scale>
      <p:origin x="0" y="-62443"/>
    </p:cViewPr>
  </p:outlin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13/11/2025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1763979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09B8CBC7-3B2B-4C22-92A9-AEE2213136AA}" type="slidenum">
              <a:rPr lang="es-ES" smtClean="0"/>
              <a:t>14</a:t>
            </a:fld>
            <a:endParaRPr lang="es-ES" dirty="0"/>
          </a:p>
        </p:txBody>
      </p:sp>
    </p:spTree>
    <p:extLst>
      <p:ext uri="{BB962C8B-B14F-4D97-AF65-F5344CB8AC3E}">
        <p14:creationId xmlns:p14="http://schemas.microsoft.com/office/powerpoint/2010/main" val="548748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13/11/2025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13/11/2025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13/11/2025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13/11/2025</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13/11/2025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13/11/2025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13/11/2025</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13/11/2025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13/11/2025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13/11/2025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13/11/2025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13/11/2025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13/11/2025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13/11/2025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13/11/2025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13/11/2025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13/11/2025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13/11/2025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13/11/2025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13/11/2025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13/11/2025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13/11/2025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13/11/2025</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13/11/2025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uah.es/es/estudios/profesor/Jose-Ramon-Hilera-Gonzale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creativecommons.org/licenses/by-sa/4.0/" TargetMode="External"/><Relationship Id="rId4" Type="http://schemas.openxmlformats.org/officeDocument/2006/relationships/hyperlink" Target="https://twitter.com/software_a11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eur-lex.europa.eu/legal-content/ES/TXT/HTML/?uri=CELEX:32018D1524&amp;from=ES"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administracionelectronica.gob.es/comunidades/verPestanaGeneral.htm?idComunidad=accesibilidad"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administracionelectronica.gob.es/pae_Home/pae_Estrategias/pae_Accesibilidad/implantacion-rd-1112-2018/revisiones_accesibilidad.htm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www.boe.es/buscar/doc.php?id=DOUE-L-2018-81649"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dministracionelectronica.gob.es/comunidades/resources/Comunidades/21/Descargas/Guia-Tecnica-Revision-Accesibilidad-Sitio-Web-UNE-EN-301549-2022-v1-0.pdf?idElemento=864&amp;idComunidad=21"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administracionelectronica.gob.es/comunidades/accesibilidad/documentacio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dministracionelectronica.gob.es/PAe/accesibilidad/metodologiaProfundidadSitiosWeb"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Revisión de la accesibilidad </a:t>
            </a:r>
            <a:br>
              <a:rPr lang="es-ES" dirty="0"/>
            </a:br>
            <a:r>
              <a:rPr lang="es-ES" dirty="0"/>
              <a:t>de un sitio web</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a:hlinkClick r:id="rId3"/>
              </a:rPr>
              <a:t>José Ramón Hilera González</a:t>
            </a:r>
            <a:br>
              <a:rPr lang="en-US" b="1" dirty="0"/>
            </a:br>
            <a:r>
              <a:rPr lang="en-US" sz="2000" dirty="0"/>
              <a:t>jose.hilera@uah.es</a:t>
            </a:r>
            <a:br>
              <a:rPr lang="en-US" sz="2000" b="1" dirty="0"/>
            </a:br>
            <a:r>
              <a:rPr lang="en-US" sz="2000" dirty="0">
                <a:hlinkClick r:id="rId4"/>
              </a:rPr>
              <a:t>@software_a11y</a:t>
            </a:r>
            <a:endParaRPr lang="en-US" sz="2000" dirty="0"/>
          </a:p>
          <a:p>
            <a:pPr algn="r"/>
            <a:endParaRPr lang="en-US" b="1" i="1" dirty="0"/>
          </a:p>
          <a:p>
            <a:pPr algn="r"/>
            <a:endParaRPr lang="es-ES" i="1" dirty="0"/>
          </a:p>
          <a:p>
            <a:endParaRPr lang="es-ES" dirty="0"/>
          </a:p>
        </p:txBody>
      </p:sp>
      <p:pic>
        <p:nvPicPr>
          <p:cNvPr id="7" name="Imagen 6" title="Licencia CC BY-SA">
            <a:hlinkClick r:id="rId5"/>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917" y="597236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1160172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Contenidos</a:t>
            </a:r>
          </a:p>
        </p:txBody>
      </p:sp>
      <p:sp>
        <p:nvSpPr>
          <p:cNvPr id="3" name="Marcador de contenido 2"/>
          <p:cNvSpPr>
            <a:spLocks noGrp="1"/>
          </p:cNvSpPr>
          <p:nvPr>
            <p:ph idx="1"/>
          </p:nvPr>
        </p:nvSpPr>
        <p:spPr/>
        <p:txBody>
          <a:bodyPr>
            <a:normAutofit/>
          </a:bodyPr>
          <a:lstStyle/>
          <a:p>
            <a:pPr marL="514350" indent="-514350">
              <a:buFont typeface="+mj-lt"/>
              <a:buAutoNum type="arabicPeriod"/>
            </a:pPr>
            <a:r>
              <a:rPr lang="es-ES" dirty="0"/>
              <a:t>Introducción</a:t>
            </a:r>
          </a:p>
          <a:p>
            <a:pPr marL="514350" indent="-514350">
              <a:buFont typeface="+mj-lt"/>
              <a:buAutoNum type="arabicPeriod"/>
            </a:pPr>
            <a:r>
              <a:rPr lang="es-ES" dirty="0"/>
              <a:t>Etapas de la revisión</a:t>
            </a:r>
          </a:p>
          <a:p>
            <a:pPr marL="514350" indent="-514350">
              <a:buFont typeface="+mj-lt"/>
              <a:buAutoNum type="arabicPeriod"/>
            </a:pPr>
            <a:r>
              <a:rPr lang="es-ES" dirty="0"/>
              <a:t>Requisitos a revisar</a:t>
            </a:r>
          </a:p>
          <a:p>
            <a:pPr marL="514350" indent="-514350">
              <a:buFont typeface="+mj-lt"/>
              <a:buAutoNum type="arabicPeriod"/>
            </a:pPr>
            <a:r>
              <a:rPr lang="es-ES" dirty="0"/>
              <a:t>Resultados agregados</a:t>
            </a:r>
          </a:p>
          <a:p>
            <a:pPr marL="514350" indent="-514350">
              <a:buFont typeface="+mj-lt"/>
              <a:buAutoNum type="arabicPeriod"/>
            </a:pPr>
            <a:r>
              <a:rPr lang="es-ES" dirty="0"/>
              <a:t>Conclusiones</a:t>
            </a:r>
          </a:p>
          <a:p>
            <a:pPr marL="514350" indent="-514350">
              <a:buFont typeface="+mj-lt"/>
              <a:buAutoNum type="arabicPeriod"/>
            </a:pPr>
            <a:endParaRPr lang="es-ES" dirty="0"/>
          </a:p>
          <a:p>
            <a:pPr marL="514350" indent="-514350">
              <a:buFont typeface="+mj-lt"/>
              <a:buAutoNum type="arabicPeriod"/>
            </a:pPr>
            <a:endParaRPr lang="es-ES" dirty="0"/>
          </a:p>
          <a:p>
            <a:pPr marL="514350" indent="-514350">
              <a:buFont typeface="+mj-lt"/>
              <a:buAutoNum type="arabicPeriod"/>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3055299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Introducción</a:t>
            </a:r>
          </a:p>
        </p:txBody>
      </p:sp>
      <p:sp>
        <p:nvSpPr>
          <p:cNvPr id="3" name="Marcador de contenido 2"/>
          <p:cNvSpPr>
            <a:spLocks noGrp="1"/>
          </p:cNvSpPr>
          <p:nvPr>
            <p:ph idx="1"/>
          </p:nvPr>
        </p:nvSpPr>
        <p:spPr/>
        <p:txBody>
          <a:bodyPr>
            <a:normAutofit lnSpcReduction="10000"/>
          </a:bodyPr>
          <a:lstStyle/>
          <a:p>
            <a:r>
              <a:rPr lang="es-ES" dirty="0"/>
              <a:t>La revisión de la accesibilidad de un sitio web consiste en comprobar si el sitio web presenta barreras para su utilización por parte de personas con diferentes tipos de discapacidad</a:t>
            </a:r>
          </a:p>
          <a:p>
            <a:r>
              <a:rPr lang="es-ES" dirty="0"/>
              <a:t>Para ello hay que comprobar si el sitio web cumple todos los requisitos de la tabla A.1 de la norma UNE-EN 301549:2022, que sean aplicables</a:t>
            </a:r>
          </a:p>
          <a:p>
            <a:r>
              <a:rPr lang="es-ES" dirty="0"/>
              <a:t>La revisión implica:</a:t>
            </a:r>
          </a:p>
          <a:p>
            <a:pPr lvl="1"/>
            <a:r>
              <a:rPr lang="es-ES" dirty="0"/>
              <a:t>Realizar evaluación automática con herramientas software</a:t>
            </a:r>
          </a:p>
          <a:p>
            <a:pPr lvl="1"/>
            <a:r>
              <a:rPr lang="es-ES" dirty="0"/>
              <a:t>Realizar evaluación manual con usuarios o con expertos en accesibilidad</a:t>
            </a:r>
          </a:p>
          <a:p>
            <a:pPr lvl="1"/>
            <a:r>
              <a:rPr lang="es-ES" dirty="0"/>
              <a:t>Informar de los resultados</a:t>
            </a:r>
          </a:p>
          <a:p>
            <a:pPr lvl="1"/>
            <a:endParaRPr lang="es-ES" dirty="0"/>
          </a:p>
          <a:p>
            <a:pPr lvl="1"/>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spTree>
    <p:extLst>
      <p:ext uri="{BB962C8B-B14F-4D97-AF65-F5344CB8AC3E}">
        <p14:creationId xmlns:p14="http://schemas.microsoft.com/office/powerpoint/2010/main" val="1862950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Etapas de la revisión de un sitio web</a:t>
            </a:r>
          </a:p>
        </p:txBody>
      </p:sp>
      <p:sp>
        <p:nvSpPr>
          <p:cNvPr id="3" name="Marcador de contenido 2"/>
          <p:cNvSpPr>
            <a:spLocks noGrp="1"/>
          </p:cNvSpPr>
          <p:nvPr>
            <p:ph idx="1"/>
          </p:nvPr>
        </p:nvSpPr>
        <p:spPr/>
        <p:txBody>
          <a:bodyPr>
            <a:normAutofit/>
          </a:bodyPr>
          <a:lstStyle/>
          <a:p>
            <a:r>
              <a:rPr lang="es-ES" dirty="0"/>
              <a:t>Paso 1. Explorar el sitio web</a:t>
            </a:r>
          </a:p>
          <a:p>
            <a:r>
              <a:rPr lang="es-ES" dirty="0"/>
              <a:t>Paso 2. Elegir una muestra representativa</a:t>
            </a:r>
          </a:p>
          <a:p>
            <a:r>
              <a:rPr lang="es-ES" dirty="0"/>
              <a:t>Paso 3. (OPCIONAL) Obtener de forma automática un borrador de Informe de Revisión de Accesibilidad (IRA)</a:t>
            </a:r>
          </a:p>
          <a:p>
            <a:r>
              <a:rPr lang="es-ES" dirty="0"/>
              <a:t>Paso 4. Completar el IRA</a:t>
            </a:r>
          </a:p>
          <a:p>
            <a:r>
              <a:rPr lang="es-ES" dirty="0"/>
              <a:t>Paso 5. Redactar una declaración de accesibilidad</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4</a:t>
            </a:fld>
            <a:endParaRPr lang="es-ES" dirty="0"/>
          </a:p>
        </p:txBody>
      </p:sp>
    </p:spTree>
    <p:extLst>
      <p:ext uri="{BB962C8B-B14F-4D97-AF65-F5344CB8AC3E}">
        <p14:creationId xmlns:p14="http://schemas.microsoft.com/office/powerpoint/2010/main" val="259049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2. Etapas de la revisión de un sitio web</a:t>
            </a:r>
            <a:br>
              <a:rPr lang="es-ES" dirty="0"/>
            </a:br>
            <a:r>
              <a:rPr lang="es-ES" dirty="0"/>
              <a:t>Paso 1: Explorar el sitio web</a:t>
            </a:r>
          </a:p>
        </p:txBody>
      </p:sp>
      <p:sp>
        <p:nvSpPr>
          <p:cNvPr id="3" name="Marcador de contenido 2"/>
          <p:cNvSpPr>
            <a:spLocks noGrp="1"/>
          </p:cNvSpPr>
          <p:nvPr>
            <p:ph idx="1"/>
          </p:nvPr>
        </p:nvSpPr>
        <p:spPr/>
        <p:txBody>
          <a:bodyPr>
            <a:normAutofit fontScale="92500" lnSpcReduction="10000"/>
          </a:bodyPr>
          <a:lstStyle/>
          <a:p>
            <a:r>
              <a:rPr lang="es-ES" dirty="0"/>
              <a:t>El revisor explora el sitio web para comprender su uso, propósito y funcionalidad</a:t>
            </a:r>
          </a:p>
          <a:p>
            <a:r>
              <a:rPr lang="es-ES" dirty="0"/>
              <a:t>Se identifican las páginas del sitio web implicadas en procesos completos de uso para realizar una determinada tarea. </a:t>
            </a:r>
          </a:p>
          <a:p>
            <a:r>
              <a:rPr lang="es-ES" dirty="0"/>
              <a:t>Se identifica la funcionalidad esencial, aquella que, si se elimina, cambia fundamentalmente el uso o el propósito del sitio web para los usuarios. </a:t>
            </a:r>
          </a:p>
          <a:p>
            <a:r>
              <a:rPr lang="es-ES" dirty="0"/>
              <a:t>Se identifica la variedad de tipos de páginas (por apariencia, tipo de interacción, ..)</a:t>
            </a:r>
          </a:p>
          <a:p>
            <a:r>
              <a:rPr lang="es-ES" dirty="0"/>
              <a:t>Se comprueba si hay documentos descargables en el sitio web</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5</a:t>
            </a:fld>
            <a:endParaRPr lang="es-ES" dirty="0"/>
          </a:p>
        </p:txBody>
      </p:sp>
    </p:spTree>
    <p:extLst>
      <p:ext uri="{BB962C8B-B14F-4D97-AF65-F5344CB8AC3E}">
        <p14:creationId xmlns:p14="http://schemas.microsoft.com/office/powerpoint/2010/main" val="3286939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2. Etapas de la revisión de un sitio web</a:t>
            </a:r>
            <a:br>
              <a:rPr lang="es-ES" dirty="0"/>
            </a:br>
            <a:r>
              <a:rPr lang="es-ES" dirty="0"/>
              <a:t>Paso 2: Elegir una muestra representativa (1)</a:t>
            </a:r>
          </a:p>
        </p:txBody>
      </p:sp>
      <p:sp>
        <p:nvSpPr>
          <p:cNvPr id="3" name="Marcador de contenido 2"/>
          <p:cNvSpPr>
            <a:spLocks noGrp="1"/>
          </p:cNvSpPr>
          <p:nvPr>
            <p:ph idx="1"/>
          </p:nvPr>
        </p:nvSpPr>
        <p:spPr/>
        <p:txBody>
          <a:bodyPr>
            <a:normAutofit fontScale="92500" lnSpcReduction="10000"/>
          </a:bodyPr>
          <a:lstStyle/>
          <a:p>
            <a:r>
              <a:rPr lang="es-ES" dirty="0"/>
              <a:t>Según la </a:t>
            </a:r>
            <a:r>
              <a:rPr lang="es-ES" dirty="0">
                <a:hlinkClick r:id="rId2"/>
              </a:rPr>
              <a:t>Decisión (UE) 2018/1524</a:t>
            </a:r>
            <a:r>
              <a:rPr lang="es-ES" dirty="0"/>
              <a:t>, hay que incluir en la muestra:</a:t>
            </a:r>
          </a:p>
          <a:p>
            <a:pPr marL="914400" lvl="1" indent="-457200">
              <a:buFont typeface="+mj-lt"/>
              <a:buAutoNum type="alphaLcParenR"/>
            </a:pPr>
            <a:r>
              <a:rPr lang="es-ES" dirty="0"/>
              <a:t>páginas de inicio, inicio de sesión, mapa del sitio, contacto, ayuda e información legal; </a:t>
            </a:r>
          </a:p>
          <a:p>
            <a:pPr marL="914400" lvl="1" indent="-457200">
              <a:buFont typeface="+mj-lt"/>
              <a:buAutoNum type="alphaLcParenR"/>
            </a:pPr>
            <a:r>
              <a:rPr lang="es-ES" dirty="0"/>
              <a:t>como mínimo, una página pertinente para cada tipo de servicio prestado por el sitio y para cualquier otro uso principal previsto del sitio, incluida la función de búsqueda; </a:t>
            </a:r>
          </a:p>
          <a:p>
            <a:pPr marL="914400" lvl="1" indent="-457200">
              <a:buFont typeface="+mj-lt"/>
              <a:buAutoNum type="alphaLcParenR"/>
            </a:pPr>
            <a:r>
              <a:rPr lang="es-ES" dirty="0"/>
              <a:t>las páginas que contengan la declaración o la política de accesibilidad y el mecanismo de comunicación; </a:t>
            </a:r>
          </a:p>
          <a:p>
            <a:pPr marL="914400" lvl="1" indent="-457200">
              <a:buFont typeface="+mj-lt"/>
              <a:buAutoNum type="alphaLcParenR"/>
            </a:pPr>
            <a:r>
              <a:rPr lang="es-ES" dirty="0"/>
              <a:t>ejemplos de las páginas cuya apariencia sea sustancialmente distinta o que presenten un tipo de contenido diferente; </a:t>
            </a:r>
          </a:p>
          <a:p>
            <a:pPr marL="914400" lvl="1" indent="-457200">
              <a:buFont typeface="+mj-lt"/>
              <a:buAutoNum type="alphaLcParenR"/>
            </a:pPr>
            <a:r>
              <a:rPr lang="es-ES" dirty="0"/>
              <a:t>como mínimo, un documento descargable pertinente, si procede, para cada tipo de servicio prestado por el sitio y cualquier otro uso principal previsto del sitio;</a:t>
            </a:r>
          </a:p>
          <a:p>
            <a:pPr marL="914400" lvl="1" indent="-457200">
              <a:buFont typeface="+mj-lt"/>
              <a:buAutoNum type="alphaLcParenR"/>
            </a:pPr>
            <a:r>
              <a:rPr lang="es-ES" dirty="0"/>
              <a:t>cualquier otra página que el organismo considere pertinente;</a:t>
            </a:r>
          </a:p>
          <a:p>
            <a:pPr marL="914400" lvl="1" indent="-457200">
              <a:buFont typeface="+mj-lt"/>
              <a:buAutoNum type="alphaLcParenR"/>
            </a:pPr>
            <a:r>
              <a:rPr lang="es-ES" dirty="0"/>
              <a:t>páginas seleccionadas al azar que representen, como mínimo, un 10 % de la muestra.</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424470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21336-AA17-AA08-D8A3-EDB19D05C5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8309D7-07C4-F584-8F43-4405B59E4609}"/>
              </a:ext>
            </a:extLst>
          </p:cNvPr>
          <p:cNvSpPr>
            <a:spLocks noGrp="1"/>
          </p:cNvSpPr>
          <p:nvPr>
            <p:ph type="title"/>
          </p:nvPr>
        </p:nvSpPr>
        <p:spPr/>
        <p:txBody>
          <a:bodyPr>
            <a:normAutofit/>
          </a:bodyPr>
          <a:lstStyle/>
          <a:p>
            <a:r>
              <a:rPr lang="es-ES" dirty="0"/>
              <a:t>2. Etapas de la revisión de un sitio web</a:t>
            </a:r>
            <a:br>
              <a:rPr lang="es-ES" dirty="0"/>
            </a:br>
            <a:r>
              <a:rPr lang="es-ES" dirty="0"/>
              <a:t>Paso 2: Elegir una muestra representativa (2)</a:t>
            </a:r>
          </a:p>
        </p:txBody>
      </p:sp>
      <p:sp>
        <p:nvSpPr>
          <p:cNvPr id="3" name="Marcador de contenido 2">
            <a:extLst>
              <a:ext uri="{FF2B5EF4-FFF2-40B4-BE49-F238E27FC236}">
                <a16:creationId xmlns:a16="http://schemas.microsoft.com/office/drawing/2014/main" id="{3350018B-B9F6-8084-1BBA-C728390AEC13}"/>
              </a:ext>
            </a:extLst>
          </p:cNvPr>
          <p:cNvSpPr>
            <a:spLocks noGrp="1"/>
          </p:cNvSpPr>
          <p:nvPr>
            <p:ph idx="1"/>
          </p:nvPr>
        </p:nvSpPr>
        <p:spPr/>
        <p:txBody>
          <a:bodyPr>
            <a:normAutofit fontScale="85000" lnSpcReduction="10000"/>
          </a:bodyPr>
          <a:lstStyle/>
          <a:p>
            <a:r>
              <a:rPr lang="es-ES" dirty="0"/>
              <a:t>Páginas de inicio: </a:t>
            </a:r>
          </a:p>
          <a:p>
            <a:pPr lvl="1"/>
            <a:r>
              <a:rPr lang="es-ES" dirty="0"/>
              <a:t>Si en el sitio web hay varias páginas de inicio, en función del idioma elegido (español o inglés) y del perfil del usuario, por lo que habrá que incluirlas en la muestra si tienen diferencias significativas.</a:t>
            </a:r>
          </a:p>
          <a:p>
            <a:r>
              <a:rPr lang="es-ES_tradnl" dirty="0"/>
              <a:t>Páginas de búsqueda</a:t>
            </a:r>
          </a:p>
          <a:p>
            <a:pPr lvl="1"/>
            <a:r>
              <a:rPr lang="es-ES_tradnl" dirty="0"/>
              <a:t>Hay que incluir en la muestra páginas que incluyan funciones de búsqueda. Si en  la página de inicio hay una caja de búsqueda general, se pueden incluir otras páginas que incluyan otras búsquedas.</a:t>
            </a:r>
          </a:p>
          <a:p>
            <a:r>
              <a:rPr lang="es-ES" dirty="0"/>
              <a:t>Páginas que contengan la declaración de accesibilidad y el mecanismo de comunicación</a:t>
            </a:r>
          </a:p>
          <a:p>
            <a:pPr lvl="1"/>
            <a:r>
              <a:rPr lang="es-ES" dirty="0"/>
              <a:t>Hay que incluir la página de la declaración y las correspondientes al mecanismo de contacto. Si hubiera varias hay que incluirlas todas, pues hay que asegurarse que cualquier persona que tenga problemas de accesibilidad pueda contactar siguiendo los pasos indicados en la declaración.</a:t>
            </a:r>
          </a:p>
          <a:p>
            <a:endParaRPr lang="es-ES" dirty="0"/>
          </a:p>
        </p:txBody>
      </p:sp>
      <p:sp>
        <p:nvSpPr>
          <p:cNvPr id="4" name="Marcador de número de diapositiva 3">
            <a:extLst>
              <a:ext uri="{FF2B5EF4-FFF2-40B4-BE49-F238E27FC236}">
                <a16:creationId xmlns:a16="http://schemas.microsoft.com/office/drawing/2014/main" id="{48AFE167-4849-66E1-3ACF-4933307DA23F}"/>
              </a:ext>
            </a:extLst>
          </p:cNvPr>
          <p:cNvSpPr>
            <a:spLocks noGrp="1"/>
          </p:cNvSpPr>
          <p:nvPr>
            <p:ph type="sldNum" sz="quarter" idx="12"/>
          </p:nvPr>
        </p:nvSpPr>
        <p:spPr/>
        <p:txBody>
          <a:bodyPr/>
          <a:lstStyle/>
          <a:p>
            <a:fld id="{C9400CC4-AA0F-4E2E-A7D9-25BF1D2A8A65}" type="slidenum">
              <a:rPr lang="es-ES" smtClean="0"/>
              <a:t>7</a:t>
            </a:fld>
            <a:endParaRPr lang="es-ES" dirty="0"/>
          </a:p>
        </p:txBody>
      </p:sp>
    </p:spTree>
    <p:extLst>
      <p:ext uri="{BB962C8B-B14F-4D97-AF65-F5344CB8AC3E}">
        <p14:creationId xmlns:p14="http://schemas.microsoft.com/office/powerpoint/2010/main" val="2986084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657AD-67DF-0305-E246-CF1BCFB946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265186-5C1E-466C-3657-74552F0F1379}"/>
              </a:ext>
            </a:extLst>
          </p:cNvPr>
          <p:cNvSpPr>
            <a:spLocks noGrp="1"/>
          </p:cNvSpPr>
          <p:nvPr>
            <p:ph type="title"/>
          </p:nvPr>
        </p:nvSpPr>
        <p:spPr/>
        <p:txBody>
          <a:bodyPr>
            <a:normAutofit/>
          </a:bodyPr>
          <a:lstStyle/>
          <a:p>
            <a:r>
              <a:rPr lang="es-ES" dirty="0"/>
              <a:t>2. Etapas de la revisión de un sitio web</a:t>
            </a:r>
            <a:br>
              <a:rPr lang="es-ES" dirty="0"/>
            </a:br>
            <a:r>
              <a:rPr lang="es-ES" dirty="0"/>
              <a:t>Paso 2: Elegir una muestra representativa (3)</a:t>
            </a:r>
          </a:p>
        </p:txBody>
      </p:sp>
      <p:sp>
        <p:nvSpPr>
          <p:cNvPr id="3" name="Marcador de contenido 2">
            <a:extLst>
              <a:ext uri="{FF2B5EF4-FFF2-40B4-BE49-F238E27FC236}">
                <a16:creationId xmlns:a16="http://schemas.microsoft.com/office/drawing/2014/main" id="{C5833EB9-7749-6538-2B31-2AE51F9DEC3A}"/>
              </a:ext>
            </a:extLst>
          </p:cNvPr>
          <p:cNvSpPr>
            <a:spLocks noGrp="1"/>
          </p:cNvSpPr>
          <p:nvPr>
            <p:ph idx="1"/>
          </p:nvPr>
        </p:nvSpPr>
        <p:spPr/>
        <p:txBody>
          <a:bodyPr>
            <a:normAutofit fontScale="85000" lnSpcReduction="20000"/>
          </a:bodyPr>
          <a:lstStyle/>
          <a:p>
            <a:r>
              <a:rPr lang="es-ES" dirty="0"/>
              <a:t>Páginas y documentos que formen parte de un proceso: </a:t>
            </a:r>
          </a:p>
          <a:p>
            <a:pPr lvl="1"/>
            <a:r>
              <a:rPr lang="es-ES" dirty="0"/>
              <a:t>Hay que identificar al menos un proceso, e incluir en la muestra todas las páginas las necesarias para completar el proceso. </a:t>
            </a:r>
          </a:p>
          <a:p>
            <a:pPr lvl="1"/>
            <a:r>
              <a:rPr lang="es-ES" dirty="0"/>
              <a:t>Un proceso es una funcionalidad de sitio web que requiere la introducción de datos por parte del usuario, y comienza por la página en la que el usuario debe empezar a introducir los datos.</a:t>
            </a:r>
          </a:p>
          <a:p>
            <a:pPr lvl="1"/>
            <a:r>
              <a:rPr lang="es-ES" dirty="0"/>
              <a:t>Las páginas implicadas en los procesos hay que señalarlas con el tipo “Servicio/Proceso” en el IRA, excepto si ya han sido identificadas como alguno de los otros tipos, ya que el modelo de IRA no permite elegir más de un tipo. </a:t>
            </a:r>
          </a:p>
          <a:p>
            <a:pPr lvl="2"/>
            <a:r>
              <a:rPr lang="es-ES" dirty="0"/>
              <a:t>Por ejemplo, una búsqueda es un proceso, pero la primera página del proceso de búsqueda ya habrá sido incluida en la muestra como de tipo “Búsqueda.</a:t>
            </a:r>
          </a:p>
          <a:p>
            <a:pPr lvl="1"/>
            <a:r>
              <a:rPr lang="es-ES" dirty="0"/>
              <a:t>Puede ocurrir que el finalizar el proceso, la URL de la página web sea la misma que la de la solicitud, aunque el contenido es diferente, por tratarse de una página web dinámica. </a:t>
            </a:r>
            <a:r>
              <a:rPr lang="es-ES_tradnl" dirty="0"/>
              <a:t>En ese caso, hay que incluir en la muestra dos páginas web con la misma URL.</a:t>
            </a:r>
          </a:p>
          <a:p>
            <a:pPr lvl="1"/>
            <a:r>
              <a:rPr lang="es-ES" dirty="0"/>
              <a:t>En las etapas de un proceso que implican rellenar un documento no web, no se deben señalar en el IRA con el tipo “Servicio/Proceso” sino como “Documento descargable”.</a:t>
            </a:r>
          </a:p>
          <a:p>
            <a:pPr lvl="1"/>
            <a:r>
              <a:rPr lang="es-ES" dirty="0"/>
              <a:t>Al menos hay que elegir un proceso.</a:t>
            </a:r>
          </a:p>
          <a:p>
            <a:endParaRPr lang="es-ES" dirty="0"/>
          </a:p>
        </p:txBody>
      </p:sp>
      <p:sp>
        <p:nvSpPr>
          <p:cNvPr id="4" name="Marcador de número de diapositiva 3">
            <a:extLst>
              <a:ext uri="{FF2B5EF4-FFF2-40B4-BE49-F238E27FC236}">
                <a16:creationId xmlns:a16="http://schemas.microsoft.com/office/drawing/2014/main" id="{675293A5-6D8B-12AF-F839-ED5F964B5886}"/>
              </a:ext>
            </a:extLst>
          </p:cNvPr>
          <p:cNvSpPr>
            <a:spLocks noGrp="1"/>
          </p:cNvSpPr>
          <p:nvPr>
            <p:ph type="sldNum" sz="quarter" idx="12"/>
          </p:nvPr>
        </p:nvSpPr>
        <p:spPr/>
        <p:txBody>
          <a:bodyPr/>
          <a:lstStyle/>
          <a:p>
            <a:fld id="{C9400CC4-AA0F-4E2E-A7D9-25BF1D2A8A65}" type="slidenum">
              <a:rPr lang="es-ES" smtClean="0"/>
              <a:t>8</a:t>
            </a:fld>
            <a:endParaRPr lang="es-ES" dirty="0"/>
          </a:p>
        </p:txBody>
      </p:sp>
    </p:spTree>
    <p:extLst>
      <p:ext uri="{BB962C8B-B14F-4D97-AF65-F5344CB8AC3E}">
        <p14:creationId xmlns:p14="http://schemas.microsoft.com/office/powerpoint/2010/main" val="1130027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5AF5F-05F7-C4B5-56B9-4A73F8B818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52730C-C19E-F5BD-C944-939579E2A80B}"/>
              </a:ext>
            </a:extLst>
          </p:cNvPr>
          <p:cNvSpPr>
            <a:spLocks noGrp="1"/>
          </p:cNvSpPr>
          <p:nvPr>
            <p:ph type="title"/>
          </p:nvPr>
        </p:nvSpPr>
        <p:spPr/>
        <p:txBody>
          <a:bodyPr>
            <a:normAutofit/>
          </a:bodyPr>
          <a:lstStyle/>
          <a:p>
            <a:r>
              <a:rPr lang="es-ES" dirty="0"/>
              <a:t>2. Etapas de la revisión de un sitio web</a:t>
            </a:r>
            <a:br>
              <a:rPr lang="es-ES" dirty="0"/>
            </a:br>
            <a:r>
              <a:rPr lang="es-ES" dirty="0"/>
              <a:t>Paso 2: Elegir una muestra representativa (4)</a:t>
            </a:r>
          </a:p>
        </p:txBody>
      </p:sp>
      <p:sp>
        <p:nvSpPr>
          <p:cNvPr id="3" name="Marcador de contenido 2">
            <a:extLst>
              <a:ext uri="{FF2B5EF4-FFF2-40B4-BE49-F238E27FC236}">
                <a16:creationId xmlns:a16="http://schemas.microsoft.com/office/drawing/2014/main" id="{E2970194-83CF-A41C-423D-518D4CC2B5EC}"/>
              </a:ext>
            </a:extLst>
          </p:cNvPr>
          <p:cNvSpPr>
            <a:spLocks noGrp="1"/>
          </p:cNvSpPr>
          <p:nvPr>
            <p:ph idx="1"/>
          </p:nvPr>
        </p:nvSpPr>
        <p:spPr/>
        <p:txBody>
          <a:bodyPr>
            <a:normAutofit fontScale="85000" lnSpcReduction="20000"/>
          </a:bodyPr>
          <a:lstStyle/>
          <a:p>
            <a:r>
              <a:rPr lang="es-ES" dirty="0"/>
              <a:t>Páginas tipo</a:t>
            </a:r>
          </a:p>
          <a:p>
            <a:pPr lvl="1"/>
            <a:r>
              <a:rPr lang="es-ES" dirty="0"/>
              <a:t>En los sitios web hay páginas que se basan en una misma plantilla, por lo que se puede elegir un ejemplo de página que corresponde a un tipo de plantilla.</a:t>
            </a:r>
          </a:p>
          <a:p>
            <a:pPr lvl="1"/>
            <a:r>
              <a:rPr lang="es-ES" dirty="0"/>
              <a:t>Se pueden descartar algunas si se detecta que son similares a otras e incluyen el mismo tipo de elementos.</a:t>
            </a:r>
          </a:p>
          <a:p>
            <a:r>
              <a:rPr lang="es-ES" dirty="0"/>
              <a:t>Otras páginas y documentos </a:t>
            </a:r>
          </a:p>
          <a:p>
            <a:pPr lvl="1"/>
            <a:r>
              <a:rPr lang="es-ES" dirty="0"/>
              <a:t>Hay que incluir páginas cuya apariencia sea sustancialmente distinta al resto o que presenten un tipo de contenido diferente.</a:t>
            </a:r>
          </a:p>
          <a:p>
            <a:r>
              <a:rPr lang="es-ES" dirty="0"/>
              <a:t>Páginas aleatorias</a:t>
            </a:r>
          </a:p>
          <a:p>
            <a:pPr lvl="1"/>
            <a:r>
              <a:rPr lang="es-ES" dirty="0"/>
              <a:t>A la muestra “estructural” que se ha seleccionado por categorías, hay que añadirle al  menos un 10% de páginas para la muestra “aleatoria”.</a:t>
            </a:r>
          </a:p>
          <a:p>
            <a:pPr lvl="1"/>
            <a:r>
              <a:rPr lang="es-ES" dirty="0"/>
              <a:t>Ejemplo: Si hay 29 elementos en la muestra estructural, un 10% serían 2,9 páginas, por lo que habría que elegir 3 páginas aleatorias (redondeando por exceso).</a:t>
            </a:r>
          </a:p>
          <a:p>
            <a:endParaRPr lang="es-ES" dirty="0"/>
          </a:p>
        </p:txBody>
      </p:sp>
      <p:sp>
        <p:nvSpPr>
          <p:cNvPr id="4" name="Marcador de número de diapositiva 3">
            <a:extLst>
              <a:ext uri="{FF2B5EF4-FFF2-40B4-BE49-F238E27FC236}">
                <a16:creationId xmlns:a16="http://schemas.microsoft.com/office/drawing/2014/main" id="{C0736397-8E14-B4EB-B5A3-D890CF8DCC18}"/>
              </a:ext>
            </a:extLst>
          </p:cNvPr>
          <p:cNvSpPr>
            <a:spLocks noGrp="1"/>
          </p:cNvSpPr>
          <p:nvPr>
            <p:ph type="sldNum" sz="quarter" idx="12"/>
          </p:nvPr>
        </p:nvSpPr>
        <p:spPr/>
        <p:txBody>
          <a:bodyPr/>
          <a:lstStyle/>
          <a:p>
            <a:fld id="{C9400CC4-AA0F-4E2E-A7D9-25BF1D2A8A65}" type="slidenum">
              <a:rPr lang="es-ES" smtClean="0"/>
              <a:t>9</a:t>
            </a:fld>
            <a:endParaRPr lang="es-ES" dirty="0"/>
          </a:p>
        </p:txBody>
      </p:sp>
    </p:spTree>
    <p:extLst>
      <p:ext uri="{BB962C8B-B14F-4D97-AF65-F5344CB8AC3E}">
        <p14:creationId xmlns:p14="http://schemas.microsoft.com/office/powerpoint/2010/main" val="2902095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9E679-C671-0297-03DA-978C37548F88}"/>
              </a:ext>
            </a:extLst>
          </p:cNvPr>
          <p:cNvSpPr>
            <a:spLocks noGrp="1"/>
          </p:cNvSpPr>
          <p:nvPr>
            <p:ph type="title"/>
          </p:nvPr>
        </p:nvSpPr>
        <p:spPr/>
        <p:txBody>
          <a:bodyPr>
            <a:normAutofit fontScale="90000"/>
          </a:bodyPr>
          <a:lstStyle/>
          <a:p>
            <a:r>
              <a:rPr lang="es-ES" dirty="0"/>
              <a:t>2. Etapas de la revisión de un sitio web</a:t>
            </a:r>
            <a:br>
              <a:rPr lang="es-ES" dirty="0"/>
            </a:br>
            <a:r>
              <a:rPr lang="es-ES" dirty="0"/>
              <a:t>Paso 3: Obtener de forma automática un borrador de IRA</a:t>
            </a:r>
          </a:p>
        </p:txBody>
      </p:sp>
      <p:sp>
        <p:nvSpPr>
          <p:cNvPr id="3" name="Marcador de contenido 2">
            <a:extLst>
              <a:ext uri="{FF2B5EF4-FFF2-40B4-BE49-F238E27FC236}">
                <a16:creationId xmlns:a16="http://schemas.microsoft.com/office/drawing/2014/main" id="{C5DF4B06-52CF-AF73-8C3D-8553C84C5C09}"/>
              </a:ext>
            </a:extLst>
          </p:cNvPr>
          <p:cNvSpPr>
            <a:spLocks noGrp="1"/>
          </p:cNvSpPr>
          <p:nvPr>
            <p:ph idx="1"/>
          </p:nvPr>
        </p:nvSpPr>
        <p:spPr/>
        <p:txBody>
          <a:bodyPr>
            <a:normAutofit lnSpcReduction="10000"/>
          </a:bodyPr>
          <a:lstStyle/>
          <a:p>
            <a:r>
              <a:rPr lang="es-ES" dirty="0"/>
              <a:t>Este paso es opcional, a realizar sólo si se está registrado en la </a:t>
            </a:r>
            <a:r>
              <a:rPr lang="es-ES" dirty="0">
                <a:hlinkClick r:id="rId2"/>
              </a:rPr>
              <a:t>Comunidad Accesibilidad</a:t>
            </a:r>
            <a:r>
              <a:rPr lang="es-ES" dirty="0"/>
              <a:t> del Observatorio de Accesibilidad</a:t>
            </a:r>
          </a:p>
          <a:p>
            <a:r>
              <a:rPr lang="es-ES" dirty="0"/>
              <a:t>Se realiza una primera revisión simplificada, utilizando el Servicio de diagnóstico en línea del Observatorio de Accesibilidad</a:t>
            </a:r>
          </a:p>
          <a:p>
            <a:r>
              <a:rPr lang="es-ES" dirty="0"/>
              <a:t>Se obtiene un archivo zip con un borrador de Informe de Revisión de Accesibilidad (IRA), en formato .xlsx y .</a:t>
            </a:r>
            <a:r>
              <a:rPr lang="es-ES" dirty="0" err="1"/>
              <a:t>ods</a:t>
            </a:r>
            <a:r>
              <a:rPr lang="es-ES" dirty="0"/>
              <a:t> (hojas de cálculo)</a:t>
            </a:r>
          </a:p>
          <a:p>
            <a:pPr lvl="1"/>
            <a:r>
              <a:rPr lang="es-ES" dirty="0"/>
              <a:t>Acompañado de otros dos documentos generados por el Servicio:</a:t>
            </a:r>
          </a:p>
          <a:p>
            <a:pPr lvl="2"/>
            <a:r>
              <a:rPr lang="es-ES" dirty="0"/>
              <a:t>Un documento resumen para el seguimiento simplificado, en formato </a:t>
            </a:r>
            <a:r>
              <a:rPr lang="es-ES" dirty="0" err="1"/>
              <a:t>pdf</a:t>
            </a:r>
            <a:r>
              <a:rPr lang="es-ES" dirty="0"/>
              <a:t> </a:t>
            </a:r>
          </a:p>
          <a:p>
            <a:pPr lvl="2"/>
            <a:r>
              <a:rPr lang="es-ES" dirty="0"/>
              <a:t>Un documento de hallazgos detectados, en formato </a:t>
            </a:r>
            <a:r>
              <a:rPr lang="es-ES" dirty="0" err="1"/>
              <a:t>odt</a:t>
            </a:r>
            <a:endParaRPr lang="es-ES" dirty="0"/>
          </a:p>
          <a:p>
            <a:pPr lvl="2"/>
            <a:endParaRPr lang="es-ES" dirty="0"/>
          </a:p>
        </p:txBody>
      </p:sp>
      <p:sp>
        <p:nvSpPr>
          <p:cNvPr id="4" name="Marcador de número de diapositiva 3">
            <a:extLst>
              <a:ext uri="{FF2B5EF4-FFF2-40B4-BE49-F238E27FC236}">
                <a16:creationId xmlns:a16="http://schemas.microsoft.com/office/drawing/2014/main" id="{D6AFC27F-AB86-0C36-99E1-4D1AAC928B0A}"/>
              </a:ext>
            </a:extLst>
          </p:cNvPr>
          <p:cNvSpPr>
            <a:spLocks noGrp="1"/>
          </p:cNvSpPr>
          <p:nvPr>
            <p:ph type="sldNum" sz="quarter" idx="12"/>
          </p:nvPr>
        </p:nvSpPr>
        <p:spPr/>
        <p:txBody>
          <a:bodyPr/>
          <a:lstStyle/>
          <a:p>
            <a:fld id="{C9400CC4-AA0F-4E2E-A7D9-25BF1D2A8A65}" type="slidenum">
              <a:rPr lang="es-ES" smtClean="0"/>
              <a:t>10</a:t>
            </a:fld>
            <a:endParaRPr lang="es-ES" dirty="0"/>
          </a:p>
        </p:txBody>
      </p:sp>
    </p:spTree>
    <p:extLst>
      <p:ext uri="{BB962C8B-B14F-4D97-AF65-F5344CB8AC3E}">
        <p14:creationId xmlns:p14="http://schemas.microsoft.com/office/powerpoint/2010/main" val="3911486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9E679-C671-0297-03DA-978C37548F88}"/>
              </a:ext>
            </a:extLst>
          </p:cNvPr>
          <p:cNvSpPr>
            <a:spLocks noGrp="1"/>
          </p:cNvSpPr>
          <p:nvPr>
            <p:ph type="title"/>
          </p:nvPr>
        </p:nvSpPr>
        <p:spPr/>
        <p:txBody>
          <a:bodyPr>
            <a:normAutofit/>
          </a:bodyPr>
          <a:lstStyle/>
          <a:p>
            <a:r>
              <a:rPr lang="es-ES" dirty="0"/>
              <a:t>2. Etapas de la revisión de un sitio web</a:t>
            </a:r>
            <a:br>
              <a:rPr lang="es-ES" dirty="0"/>
            </a:br>
            <a:r>
              <a:rPr lang="es-ES" dirty="0"/>
              <a:t>Paso 4: Completar el IRA</a:t>
            </a:r>
          </a:p>
        </p:txBody>
      </p:sp>
      <p:sp>
        <p:nvSpPr>
          <p:cNvPr id="3" name="Marcador de contenido 2">
            <a:extLst>
              <a:ext uri="{FF2B5EF4-FFF2-40B4-BE49-F238E27FC236}">
                <a16:creationId xmlns:a16="http://schemas.microsoft.com/office/drawing/2014/main" id="{C5DF4B06-52CF-AF73-8C3D-8553C84C5C09}"/>
              </a:ext>
            </a:extLst>
          </p:cNvPr>
          <p:cNvSpPr>
            <a:spLocks noGrp="1"/>
          </p:cNvSpPr>
          <p:nvPr>
            <p:ph idx="1"/>
          </p:nvPr>
        </p:nvSpPr>
        <p:spPr>
          <a:xfrm>
            <a:off x="527538" y="1491517"/>
            <a:ext cx="11025553" cy="5057564"/>
          </a:xfrm>
        </p:spPr>
        <p:txBody>
          <a:bodyPr>
            <a:normAutofit fontScale="77500" lnSpcReduction="20000"/>
          </a:bodyPr>
          <a:lstStyle/>
          <a:p>
            <a:r>
              <a:rPr lang="es-ES" dirty="0"/>
              <a:t>Si no se ha realizado el paso 3, en este paso se parte de un IRA vacío, usando el </a:t>
            </a:r>
            <a:r>
              <a:rPr lang="es-ES" dirty="0">
                <a:hlinkClick r:id="rId2"/>
              </a:rPr>
              <a:t>modelo de IRA ofrecido por el Observatorio de Accesibilidad</a:t>
            </a:r>
            <a:endParaRPr lang="es-ES" dirty="0"/>
          </a:p>
          <a:p>
            <a:r>
              <a:rPr lang="es-ES" dirty="0"/>
              <a:t>Si se ha realizado el paso 3, en el borrador de IRA obtenido, el resultado para la mayoría de los requisitos es N/T (No Testado o No revisado)</a:t>
            </a:r>
          </a:p>
          <a:p>
            <a:r>
              <a:rPr lang="es-ES" dirty="0"/>
              <a:t>Hay que revisar uno por uno todos los requisitos del IRA, y al finalizar no debe quedar ninguno N/T</a:t>
            </a:r>
          </a:p>
          <a:p>
            <a:pPr lvl="1"/>
            <a:r>
              <a:rPr lang="es-ES" dirty="0"/>
              <a:t>Sólo debe haber resultados: Pasa, Falla o N/A (No Aplicable)</a:t>
            </a:r>
          </a:p>
          <a:p>
            <a:pPr lvl="1"/>
            <a:r>
              <a:rPr lang="es-ES" dirty="0"/>
              <a:t>También hay que comprobar los resultados Pasa o Falla del borrador obtenido, para evitar falsos negativos o falsos positivos</a:t>
            </a:r>
          </a:p>
          <a:p>
            <a:r>
              <a:rPr lang="es-ES" dirty="0"/>
              <a:t>Para la revisión se utilizan herramientas de evaluación automática y herramientas de evaluación manual </a:t>
            </a:r>
          </a:p>
          <a:p>
            <a:r>
              <a:rPr lang="es-ES" dirty="0"/>
              <a:t>Se debe justificar en un documento de errores, las razones por la que se incumplen los requisitos marcados como “Falla” en el IRA</a:t>
            </a:r>
          </a:p>
        </p:txBody>
      </p:sp>
      <p:sp>
        <p:nvSpPr>
          <p:cNvPr id="4" name="Marcador de número de diapositiva 3">
            <a:extLst>
              <a:ext uri="{FF2B5EF4-FFF2-40B4-BE49-F238E27FC236}">
                <a16:creationId xmlns:a16="http://schemas.microsoft.com/office/drawing/2014/main" id="{D6AFC27F-AB86-0C36-99E1-4D1AAC928B0A}"/>
              </a:ext>
            </a:extLst>
          </p:cNvPr>
          <p:cNvSpPr>
            <a:spLocks noGrp="1"/>
          </p:cNvSpPr>
          <p:nvPr>
            <p:ph type="sldNum" sz="quarter" idx="12"/>
          </p:nvPr>
        </p:nvSpPr>
        <p:spPr/>
        <p:txBody>
          <a:bodyPr/>
          <a:lstStyle/>
          <a:p>
            <a:fld id="{C9400CC4-AA0F-4E2E-A7D9-25BF1D2A8A65}" type="slidenum">
              <a:rPr lang="es-ES" smtClean="0"/>
              <a:t>11</a:t>
            </a:fld>
            <a:endParaRPr lang="es-ES" dirty="0"/>
          </a:p>
        </p:txBody>
      </p:sp>
    </p:spTree>
    <p:extLst>
      <p:ext uri="{BB962C8B-B14F-4D97-AF65-F5344CB8AC3E}">
        <p14:creationId xmlns:p14="http://schemas.microsoft.com/office/powerpoint/2010/main" val="939999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29E679-C671-0297-03DA-978C37548F88}"/>
              </a:ext>
            </a:extLst>
          </p:cNvPr>
          <p:cNvSpPr>
            <a:spLocks noGrp="1"/>
          </p:cNvSpPr>
          <p:nvPr>
            <p:ph type="title"/>
          </p:nvPr>
        </p:nvSpPr>
        <p:spPr/>
        <p:txBody>
          <a:bodyPr>
            <a:normAutofit/>
          </a:bodyPr>
          <a:lstStyle/>
          <a:p>
            <a:r>
              <a:rPr lang="es-ES" dirty="0"/>
              <a:t>2. Etapas de la revisión de un sitio web</a:t>
            </a:r>
            <a:br>
              <a:rPr lang="es-ES" dirty="0"/>
            </a:br>
            <a:r>
              <a:rPr lang="es-ES" dirty="0"/>
              <a:t>Paso 5: Redactar una declaración de accesibilidad</a:t>
            </a:r>
          </a:p>
        </p:txBody>
      </p:sp>
      <p:sp>
        <p:nvSpPr>
          <p:cNvPr id="3" name="Marcador de contenido 2">
            <a:extLst>
              <a:ext uri="{FF2B5EF4-FFF2-40B4-BE49-F238E27FC236}">
                <a16:creationId xmlns:a16="http://schemas.microsoft.com/office/drawing/2014/main" id="{C5DF4B06-52CF-AF73-8C3D-8553C84C5C09}"/>
              </a:ext>
            </a:extLst>
          </p:cNvPr>
          <p:cNvSpPr>
            <a:spLocks noGrp="1"/>
          </p:cNvSpPr>
          <p:nvPr>
            <p:ph idx="1"/>
          </p:nvPr>
        </p:nvSpPr>
        <p:spPr/>
        <p:txBody>
          <a:bodyPr/>
          <a:lstStyle/>
          <a:p>
            <a:r>
              <a:rPr lang="es-ES" dirty="0"/>
              <a:t>Para finalizar la revisión, se debe redactar una declaración de accesibilidad del sitio web</a:t>
            </a:r>
          </a:p>
          <a:p>
            <a:r>
              <a:rPr lang="de-DE" dirty="0"/>
              <a:t>La declaración debe incluir la información exigida por la </a:t>
            </a:r>
            <a:r>
              <a:rPr lang="es-ES" dirty="0">
                <a:hlinkClick r:id="rId2"/>
              </a:rPr>
              <a:t>Decisión (UE) 2018/1523</a:t>
            </a:r>
            <a:r>
              <a:rPr lang="es-ES" dirty="0"/>
              <a:t>)</a:t>
            </a:r>
          </a:p>
          <a:p>
            <a:r>
              <a:rPr lang="es-ES" dirty="0"/>
              <a:t>La declaración debe publicarse en el sitio web del organismo responsable</a:t>
            </a:r>
          </a:p>
          <a:p>
            <a:endParaRPr lang="es-ES" dirty="0"/>
          </a:p>
        </p:txBody>
      </p:sp>
      <p:sp>
        <p:nvSpPr>
          <p:cNvPr id="4" name="Marcador de número de diapositiva 3">
            <a:extLst>
              <a:ext uri="{FF2B5EF4-FFF2-40B4-BE49-F238E27FC236}">
                <a16:creationId xmlns:a16="http://schemas.microsoft.com/office/drawing/2014/main" id="{D6AFC27F-AB86-0C36-99E1-4D1AAC928B0A}"/>
              </a:ext>
            </a:extLst>
          </p:cNvPr>
          <p:cNvSpPr>
            <a:spLocks noGrp="1"/>
          </p:cNvSpPr>
          <p:nvPr>
            <p:ph type="sldNum" sz="quarter" idx="12"/>
          </p:nvPr>
        </p:nvSpPr>
        <p:spPr/>
        <p:txBody>
          <a:bodyPr/>
          <a:lstStyle/>
          <a:p>
            <a:fld id="{C9400CC4-AA0F-4E2E-A7D9-25BF1D2A8A65}" type="slidenum">
              <a:rPr lang="es-ES" smtClean="0"/>
              <a:t>12</a:t>
            </a:fld>
            <a:endParaRPr lang="es-ES" dirty="0"/>
          </a:p>
        </p:txBody>
      </p:sp>
    </p:spTree>
    <p:extLst>
      <p:ext uri="{BB962C8B-B14F-4D97-AF65-F5344CB8AC3E}">
        <p14:creationId xmlns:p14="http://schemas.microsoft.com/office/powerpoint/2010/main" val="1628310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Requisitos a revisar</a:t>
            </a:r>
          </a:p>
        </p:txBody>
      </p:sp>
      <p:sp>
        <p:nvSpPr>
          <p:cNvPr id="3" name="Marcador de contenido 2"/>
          <p:cNvSpPr>
            <a:spLocks noGrp="1"/>
          </p:cNvSpPr>
          <p:nvPr>
            <p:ph idx="1"/>
          </p:nvPr>
        </p:nvSpPr>
        <p:spPr>
          <a:xfrm>
            <a:off x="527538" y="1491516"/>
            <a:ext cx="7206785" cy="5366484"/>
          </a:xfrm>
        </p:spPr>
        <p:txBody>
          <a:bodyPr>
            <a:normAutofit fontScale="92500" lnSpcReduction="10000"/>
          </a:bodyPr>
          <a:lstStyle/>
          <a:p>
            <a:r>
              <a:rPr lang="es-ES" dirty="0"/>
              <a:t>Se deben revisar los 137 requisitos establecidos en la tabla A.1 de la norma UNE-EN 301549:2022</a:t>
            </a:r>
          </a:p>
          <a:p>
            <a:pPr lvl="1"/>
            <a:r>
              <a:rPr lang="es-ES" dirty="0"/>
              <a:t>Para cada página web de la muestra se deben revisar 92 de los 137 requisitos</a:t>
            </a:r>
          </a:p>
          <a:p>
            <a:pPr lvl="1"/>
            <a:r>
              <a:rPr lang="es-ES" dirty="0"/>
              <a:t>Para cada documento descargable de la muestra se deben revisar 45 de los 137 requisitos</a:t>
            </a:r>
          </a:p>
          <a:p>
            <a:r>
              <a:rPr lang="es-ES" dirty="0"/>
              <a:t>El resultado de la verificación de un requisito para una página web o un documento puede ser</a:t>
            </a:r>
          </a:p>
          <a:p>
            <a:pPr lvl="1"/>
            <a:r>
              <a:rPr lang="es-ES" dirty="0"/>
              <a:t>Pasa, Falla, N/A (No Aplicable)</a:t>
            </a:r>
          </a:p>
          <a:p>
            <a:r>
              <a:rPr lang="es-ES" dirty="0"/>
              <a:t>Puede utilizarse la </a:t>
            </a:r>
            <a:r>
              <a:rPr lang="es-ES" dirty="0">
                <a:hlinkClick r:id="rId2"/>
              </a:rPr>
              <a:t>guía técnica</a:t>
            </a:r>
            <a:r>
              <a:rPr lang="es-ES" dirty="0"/>
              <a:t> de ayuda creada por el Observatorio de Accesibilidad, para la revisión de cada requisito</a:t>
            </a:r>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13</a:t>
            </a:fld>
            <a:endParaRPr lang="es-ES" dirty="0"/>
          </a:p>
        </p:txBody>
      </p:sp>
      <p:pic>
        <p:nvPicPr>
          <p:cNvPr id="5" name="Imagen 4">
            <a:extLst>
              <a:ext uri="{FF2B5EF4-FFF2-40B4-BE49-F238E27FC236}">
                <a16:creationId xmlns:a16="http://schemas.microsoft.com/office/drawing/2014/main" id="{9256C9CF-2034-16E0-0BF7-BB263EA7A05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41849" y="1737654"/>
            <a:ext cx="3149111" cy="4618696"/>
          </a:xfrm>
          <a:prstGeom prst="rect">
            <a:avLst/>
          </a:prstGeom>
          <a:ln>
            <a:solidFill>
              <a:schemeClr val="tx1"/>
            </a:solidFill>
          </a:ln>
        </p:spPr>
      </p:pic>
    </p:spTree>
    <p:extLst>
      <p:ext uri="{BB962C8B-B14F-4D97-AF65-F5344CB8AC3E}">
        <p14:creationId xmlns:p14="http://schemas.microsoft.com/office/powerpoint/2010/main" val="2492089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F3147C7-D5C7-420A-B98F-01EE5BE790F5}"/>
              </a:ext>
            </a:extLst>
          </p:cNvPr>
          <p:cNvSpPr>
            <a:spLocks noGrp="1"/>
          </p:cNvSpPr>
          <p:nvPr>
            <p:ph type="title"/>
          </p:nvPr>
        </p:nvSpPr>
        <p:spPr/>
        <p:txBody>
          <a:bodyPr/>
          <a:lstStyle/>
          <a:p>
            <a:r>
              <a:rPr lang="es-ES" dirty="0"/>
              <a:t>4. Resultados agregados</a:t>
            </a:r>
          </a:p>
        </p:txBody>
      </p:sp>
      <p:sp>
        <p:nvSpPr>
          <p:cNvPr id="4" name="Marcador de contenido 3">
            <a:extLst>
              <a:ext uri="{FF2B5EF4-FFF2-40B4-BE49-F238E27FC236}">
                <a16:creationId xmlns:a16="http://schemas.microsoft.com/office/drawing/2014/main" id="{7C9DA080-473F-47C5-8068-F6A9F9D01553}"/>
              </a:ext>
            </a:extLst>
          </p:cNvPr>
          <p:cNvSpPr>
            <a:spLocks noGrp="1"/>
          </p:cNvSpPr>
          <p:nvPr>
            <p:ph idx="1"/>
          </p:nvPr>
        </p:nvSpPr>
        <p:spPr>
          <a:xfrm>
            <a:off x="527538" y="1491516"/>
            <a:ext cx="11025553" cy="5088393"/>
          </a:xfrm>
        </p:spPr>
        <p:txBody>
          <a:bodyPr>
            <a:normAutofit fontScale="85000" lnSpcReduction="10000"/>
          </a:bodyPr>
          <a:lstStyle/>
          <a:p>
            <a:r>
              <a:rPr lang="es-ES" dirty="0"/>
              <a:t>Al finalizar la revisión, en la sección RESULTADOS del Informe de Revisión de Accesibilidad (IRA), se calculan de forma automática algunos resultados agregados, cuyo </a:t>
            </a:r>
            <a:r>
              <a:rPr lang="es-ES" dirty="0">
                <a:hlinkClick r:id="rId3"/>
              </a:rPr>
              <a:t>método de cálculo</a:t>
            </a:r>
            <a:r>
              <a:rPr lang="es-ES" dirty="0"/>
              <a:t> ha sido definido por el  Observatorio de Accesibilidad</a:t>
            </a:r>
          </a:p>
          <a:p>
            <a:r>
              <a:rPr lang="es-ES" dirty="0"/>
              <a:t>Situación de cumplimiento del sitio web</a:t>
            </a:r>
          </a:p>
          <a:p>
            <a:pPr lvl="1"/>
            <a:r>
              <a:rPr lang="es-ES" b="1" dirty="0"/>
              <a:t>Plenamente conforme</a:t>
            </a:r>
            <a:r>
              <a:rPr lang="es-ES" dirty="0"/>
              <a:t>: Cuando </a:t>
            </a:r>
            <a:r>
              <a:rPr lang="es-ES" dirty="0" err="1"/>
              <a:t>Nº</a:t>
            </a:r>
            <a:r>
              <a:rPr lang="es-ES" dirty="0"/>
              <a:t> Requisitos “No Conforme” = 0 </a:t>
            </a:r>
          </a:p>
          <a:p>
            <a:pPr lvl="1"/>
            <a:r>
              <a:rPr lang="es-ES" b="1" dirty="0"/>
              <a:t>Parcialmente conforme</a:t>
            </a:r>
            <a:r>
              <a:rPr lang="es-ES" dirty="0"/>
              <a:t>: Cuando </a:t>
            </a:r>
            <a:r>
              <a:rPr lang="es-ES" dirty="0" err="1"/>
              <a:t>Nº</a:t>
            </a:r>
            <a:r>
              <a:rPr lang="es-ES" dirty="0"/>
              <a:t> Requisitos “Conforme” &gt; </a:t>
            </a:r>
            <a:r>
              <a:rPr lang="es-ES" dirty="0" err="1"/>
              <a:t>Nº</a:t>
            </a:r>
            <a:r>
              <a:rPr lang="es-ES" dirty="0"/>
              <a:t> Requisitos “No Conforme” </a:t>
            </a:r>
          </a:p>
          <a:p>
            <a:pPr lvl="1"/>
            <a:r>
              <a:rPr lang="es-ES" b="1" dirty="0"/>
              <a:t>Aún no es conforme</a:t>
            </a:r>
            <a:r>
              <a:rPr lang="es-ES" dirty="0"/>
              <a:t>: Cuando </a:t>
            </a:r>
            <a:r>
              <a:rPr lang="es-ES" dirty="0" err="1"/>
              <a:t>Nº</a:t>
            </a:r>
            <a:r>
              <a:rPr lang="es-ES" dirty="0"/>
              <a:t> Requisitos “Conforme” ≤ </a:t>
            </a:r>
            <a:r>
              <a:rPr lang="es-ES" dirty="0" err="1"/>
              <a:t>Nº</a:t>
            </a:r>
            <a:r>
              <a:rPr lang="es-ES" dirty="0"/>
              <a:t> Requisitos “No Conforme” </a:t>
            </a:r>
          </a:p>
          <a:p>
            <a:r>
              <a:rPr lang="es-ES" dirty="0"/>
              <a:t>Teniendo en cuenta que</a:t>
            </a:r>
          </a:p>
          <a:p>
            <a:pPr lvl="1"/>
            <a:r>
              <a:rPr lang="es-ES" dirty="0"/>
              <a:t>Requisito “Conforme”: Se cumple (el resultado es “Pasa”) como mínimo en un 90% de las páginas en las que el requisito es aplicable.</a:t>
            </a:r>
          </a:p>
          <a:p>
            <a:pPr lvl="1"/>
            <a:r>
              <a:rPr lang="es-ES"/>
              <a:t>Requisito “No Conforme”: Se cumple (el resultado es “Pasa”) en menos del 90% de las páginas en las que el requisito es aplicable.</a:t>
            </a:r>
            <a:endParaRPr lang="es-ES" dirty="0"/>
          </a:p>
          <a:p>
            <a:endParaRPr lang="es-ES" dirty="0"/>
          </a:p>
          <a:p>
            <a:endParaRPr lang="es-ES" dirty="0"/>
          </a:p>
          <a:p>
            <a:endParaRPr lang="es-ES" dirty="0"/>
          </a:p>
        </p:txBody>
      </p:sp>
      <p:sp>
        <p:nvSpPr>
          <p:cNvPr id="2" name="Marcador de número de diapositiva 1">
            <a:extLst>
              <a:ext uri="{FF2B5EF4-FFF2-40B4-BE49-F238E27FC236}">
                <a16:creationId xmlns:a16="http://schemas.microsoft.com/office/drawing/2014/main" id="{BCE913B7-8B61-4604-83E2-B300A59BC3E3}"/>
              </a:ext>
            </a:extLst>
          </p:cNvPr>
          <p:cNvSpPr>
            <a:spLocks noGrp="1"/>
          </p:cNvSpPr>
          <p:nvPr>
            <p:ph type="sldNum" sz="quarter" idx="12"/>
          </p:nvPr>
        </p:nvSpPr>
        <p:spPr/>
        <p:txBody>
          <a:bodyPr/>
          <a:lstStyle/>
          <a:p>
            <a:fld id="{C9400CC4-AA0F-4E2E-A7D9-25BF1D2A8A65}" type="slidenum">
              <a:rPr lang="es-ES" smtClean="0"/>
              <a:t>14</a:t>
            </a:fld>
            <a:endParaRPr lang="es-ES" dirty="0"/>
          </a:p>
        </p:txBody>
      </p:sp>
    </p:spTree>
    <p:extLst>
      <p:ext uri="{BB962C8B-B14F-4D97-AF65-F5344CB8AC3E}">
        <p14:creationId xmlns:p14="http://schemas.microsoft.com/office/powerpoint/2010/main" val="814037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CF3147C7-D5C7-420A-B98F-01EE5BE790F5}"/>
              </a:ext>
            </a:extLst>
          </p:cNvPr>
          <p:cNvSpPr>
            <a:spLocks noGrp="1"/>
          </p:cNvSpPr>
          <p:nvPr>
            <p:ph type="title"/>
          </p:nvPr>
        </p:nvSpPr>
        <p:spPr/>
        <p:txBody>
          <a:bodyPr/>
          <a:lstStyle/>
          <a:p>
            <a:r>
              <a:rPr lang="es-ES" dirty="0"/>
              <a:t>4. Resultados agregados</a:t>
            </a:r>
            <a:br>
              <a:rPr lang="es-ES" dirty="0"/>
            </a:br>
            <a:r>
              <a:rPr lang="es-ES" dirty="0"/>
              <a:t>Puntuación Media del Sitio Web (PMSW)</a:t>
            </a:r>
          </a:p>
        </p:txBody>
      </p:sp>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7C9DA080-473F-47C5-8068-F6A9F9D01553}"/>
                  </a:ext>
                </a:extLst>
              </p:cNvPr>
              <p:cNvSpPr>
                <a:spLocks noGrp="1"/>
              </p:cNvSpPr>
              <p:nvPr>
                <p:ph idx="1"/>
              </p:nvPr>
            </p:nvSpPr>
            <p:spPr>
              <a:xfrm>
                <a:off x="527538" y="1491516"/>
                <a:ext cx="11025553" cy="5088393"/>
              </a:xfrm>
            </p:spPr>
            <p:txBody>
              <a:bodyPr>
                <a:normAutofit/>
              </a:bodyPr>
              <a:lstStyle/>
              <a:p>
                <a:r>
                  <a:rPr lang="es-ES" dirty="0">
                    <a:hlinkClick r:id="rId2"/>
                  </a:rPr>
                  <a:t>Puntuación Media del Sitio Web</a:t>
                </a:r>
                <a:r>
                  <a:rPr lang="es-ES" dirty="0"/>
                  <a:t> (valor entre 0 y 10):</a:t>
                </a:r>
              </a:p>
              <a:p>
                <a:pPr lvl="1"/>
                <a14:m>
                  <m:oMath xmlns:m="http://schemas.openxmlformats.org/officeDocument/2006/math">
                    <m:r>
                      <a:rPr lang="es-ES" sz="1800" b="0" i="1" smtClean="0">
                        <a:latin typeface="Cambria Math" panose="02040503050406030204" pitchFamily="18" charset="0"/>
                      </a:rPr>
                      <m:t>𝑃𝑀𝑆𝑊</m:t>
                    </m:r>
                    <m:r>
                      <a:rPr lang="es-ES" sz="1800" b="0" i="1" smtClean="0">
                        <a:latin typeface="Cambria Math" panose="02040503050406030204" pitchFamily="18" charset="0"/>
                      </a:rPr>
                      <m:t>= </m:t>
                    </m:r>
                    <m:d>
                      <m:dPr>
                        <m:begChr m:val="["/>
                        <m:endChr m:val="]"/>
                        <m:ctrlPr>
                          <a:rPr lang="es-ES" sz="1800" b="0" i="1" smtClean="0">
                            <a:latin typeface="Cambria Math" panose="02040503050406030204" pitchFamily="18" charset="0"/>
                          </a:rPr>
                        </m:ctrlPr>
                      </m:dPr>
                      <m:e>
                        <m:d>
                          <m:dPr>
                            <m:ctrlPr>
                              <a:rPr lang="es-ES" sz="1800" b="0" i="1" smtClean="0">
                                <a:latin typeface="Cambria Math" panose="02040503050406030204" pitchFamily="18" charset="0"/>
                              </a:rPr>
                            </m:ctrlPr>
                          </m:dPr>
                          <m:e>
                            <m:f>
                              <m:fPr>
                                <m:ctrlPr>
                                  <a:rPr lang="es-ES" sz="1800" b="0" i="1" smtClean="0">
                                    <a:latin typeface="Cambria Math" panose="02040503050406030204" pitchFamily="18" charset="0"/>
                                  </a:rPr>
                                </m:ctrlPr>
                              </m:fPr>
                              <m:num>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𝑃</m:t>
                                </m:r>
                              </m:num>
                              <m:den>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𝑃</m:t>
                                </m:r>
                                <m:r>
                                  <a:rPr lang="es-ES" sz="1800" b="0" i="1" smtClean="0">
                                    <a:latin typeface="Cambria Math" panose="02040503050406030204" pitchFamily="18" charset="0"/>
                                  </a:rPr>
                                  <m:t>+</m:t>
                                </m:r>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𝐷</m:t>
                                </m:r>
                              </m:den>
                            </m:f>
                          </m:e>
                        </m:d>
                        <m:d>
                          <m:dPr>
                            <m:ctrlPr>
                              <a:rPr lang="es-ES" sz="1800" b="0" i="1" smtClean="0">
                                <a:latin typeface="Cambria Math" panose="02040503050406030204" pitchFamily="18" charset="0"/>
                              </a:rPr>
                            </m:ctrlPr>
                          </m:dPr>
                          <m:e>
                            <m:f>
                              <m:fPr>
                                <m:ctrlPr>
                                  <a:rPr lang="es-ES" sz="1800" b="0" i="1" smtClean="0">
                                    <a:latin typeface="Cambria Math" panose="02040503050406030204" pitchFamily="18" charset="0"/>
                                  </a:rPr>
                                </m:ctrlPr>
                              </m:fPr>
                              <m:num>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𝑅𝑃</m:t>
                                    </m:r>
                                  </m:e>
                                  <m:sub>
                                    <m:r>
                                      <a:rPr lang="es-ES" sz="1800" b="0" i="1" smtClean="0">
                                        <a:latin typeface="Cambria Math" panose="02040503050406030204" pitchFamily="18" charset="0"/>
                                      </a:rPr>
                                      <m:t>𝐶𝑜𝑛𝑓𝑜𝑟𝑚𝑒</m:t>
                                    </m:r>
                                  </m:sub>
                                </m:sSub>
                              </m:num>
                              <m:den>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𝑅𝑃</m:t>
                                    </m:r>
                                  </m:e>
                                  <m:sub>
                                    <m:r>
                                      <a:rPr lang="es-ES" sz="1800" b="0" i="1" smtClean="0">
                                        <a:latin typeface="Cambria Math" panose="02040503050406030204" pitchFamily="18" charset="0"/>
                                      </a:rPr>
                                      <m:t>𝐶𝑜𝑛𝑓𝑜𝑟𝑚𝑒</m:t>
                                    </m:r>
                                  </m:sub>
                                </m:sSub>
                                <m:r>
                                  <a:rPr lang="es-ES" sz="1800" b="0" i="1" smtClean="0">
                                    <a:latin typeface="Cambria Math" panose="02040503050406030204" pitchFamily="18" charset="0"/>
                                  </a:rPr>
                                  <m:t>+</m:t>
                                </m:r>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𝑁</m:t>
                                    </m:r>
                                    <m:r>
                                      <a:rPr lang="es-ES" sz="1800" b="0" i="1" smtClean="0">
                                        <a:latin typeface="Cambria Math" panose="02040503050406030204" pitchFamily="18" charset="0"/>
                                      </a:rPr>
                                      <m:t>º</m:t>
                                    </m:r>
                                    <m:r>
                                      <a:rPr lang="es-ES" sz="1800" b="0" i="1" smtClean="0">
                                        <a:latin typeface="Cambria Math" panose="02040503050406030204" pitchFamily="18" charset="0"/>
                                      </a:rPr>
                                      <m:t>𝑅𝑃</m:t>
                                    </m:r>
                                  </m:e>
                                  <m:sub>
                                    <m:r>
                                      <a:rPr lang="es-ES" sz="1800" b="0" i="1" smtClean="0">
                                        <a:latin typeface="Cambria Math" panose="02040503050406030204" pitchFamily="18" charset="0"/>
                                      </a:rPr>
                                      <m:t>𝑁𝑜</m:t>
                                    </m:r>
                                    <m:r>
                                      <a:rPr lang="es-ES" sz="1800" b="0" i="1" smtClean="0">
                                        <a:latin typeface="Cambria Math" panose="02040503050406030204" pitchFamily="18" charset="0"/>
                                      </a:rPr>
                                      <m:t> </m:t>
                                    </m:r>
                                    <m:r>
                                      <a:rPr lang="es-ES" sz="1800" b="0" i="1" smtClean="0">
                                        <a:latin typeface="Cambria Math" panose="02040503050406030204" pitchFamily="18" charset="0"/>
                                      </a:rPr>
                                      <m:t>𝐶𝑜𝑛𝑓𝑜𝑟𝑚𝑒</m:t>
                                    </m:r>
                                  </m:sub>
                                </m:sSub>
                              </m:den>
                            </m:f>
                          </m:e>
                        </m:d>
                        <m:r>
                          <a:rPr lang="es-ES" sz="1800" b="0" i="1" smtClean="0">
                            <a:latin typeface="Cambria Math" panose="02040503050406030204" pitchFamily="18" charset="0"/>
                          </a:rPr>
                          <m:t>+</m:t>
                        </m:r>
                        <m:d>
                          <m:dPr>
                            <m:ctrlPr>
                              <a:rPr lang="es-ES" sz="1800" i="1">
                                <a:latin typeface="Cambria Math" panose="02040503050406030204" pitchFamily="18" charset="0"/>
                              </a:rPr>
                            </m:ctrlPr>
                          </m:dPr>
                          <m:e>
                            <m:f>
                              <m:fPr>
                                <m:ctrlPr>
                                  <a:rPr lang="es-ES" sz="1800" i="1">
                                    <a:latin typeface="Cambria Math" panose="02040503050406030204" pitchFamily="18" charset="0"/>
                                  </a:rPr>
                                </m:ctrlPr>
                              </m:fPr>
                              <m:num>
                                <m:r>
                                  <a:rPr lang="es-ES" sz="1800" i="1">
                                    <a:latin typeface="Cambria Math" panose="02040503050406030204" pitchFamily="18" charset="0"/>
                                  </a:rPr>
                                  <m:t>𝑁</m:t>
                                </m:r>
                                <m:r>
                                  <a:rPr lang="es-ES" sz="1800" i="1">
                                    <a:latin typeface="Cambria Math" panose="02040503050406030204" pitchFamily="18" charset="0"/>
                                  </a:rPr>
                                  <m:t>º</m:t>
                                </m:r>
                                <m:r>
                                  <a:rPr lang="es-ES" sz="1800" b="0" i="1" smtClean="0">
                                    <a:latin typeface="Cambria Math" panose="02040503050406030204" pitchFamily="18" charset="0"/>
                                  </a:rPr>
                                  <m:t>𝐷</m:t>
                                </m:r>
                              </m:num>
                              <m:den>
                                <m:r>
                                  <a:rPr lang="es-ES" sz="1800" i="1">
                                    <a:latin typeface="Cambria Math" panose="02040503050406030204" pitchFamily="18" charset="0"/>
                                  </a:rPr>
                                  <m:t>𝑁</m:t>
                                </m:r>
                                <m:r>
                                  <a:rPr lang="es-ES" sz="1800" i="1">
                                    <a:latin typeface="Cambria Math" panose="02040503050406030204" pitchFamily="18" charset="0"/>
                                  </a:rPr>
                                  <m:t>º</m:t>
                                </m:r>
                                <m:r>
                                  <a:rPr lang="es-ES" sz="1800" i="1">
                                    <a:latin typeface="Cambria Math" panose="02040503050406030204" pitchFamily="18" charset="0"/>
                                  </a:rPr>
                                  <m:t>𝑃</m:t>
                                </m:r>
                                <m:r>
                                  <a:rPr lang="es-ES" sz="1800" i="1">
                                    <a:latin typeface="Cambria Math" panose="02040503050406030204" pitchFamily="18" charset="0"/>
                                  </a:rPr>
                                  <m:t>+</m:t>
                                </m:r>
                                <m:r>
                                  <a:rPr lang="es-ES" sz="1800" i="1">
                                    <a:latin typeface="Cambria Math" panose="02040503050406030204" pitchFamily="18" charset="0"/>
                                  </a:rPr>
                                  <m:t>𝑁</m:t>
                                </m:r>
                                <m:r>
                                  <a:rPr lang="es-ES" sz="1800" i="1">
                                    <a:latin typeface="Cambria Math" panose="02040503050406030204" pitchFamily="18" charset="0"/>
                                  </a:rPr>
                                  <m:t>º</m:t>
                                </m:r>
                                <m:r>
                                  <a:rPr lang="es-ES" sz="1800" i="1">
                                    <a:latin typeface="Cambria Math" panose="02040503050406030204" pitchFamily="18" charset="0"/>
                                  </a:rPr>
                                  <m:t>𝐷</m:t>
                                </m:r>
                              </m:den>
                            </m:f>
                          </m:e>
                        </m:d>
                        <m:d>
                          <m:dPr>
                            <m:ctrlPr>
                              <a:rPr lang="es-ES" sz="1800" i="1">
                                <a:latin typeface="Cambria Math" panose="02040503050406030204" pitchFamily="18" charset="0"/>
                              </a:rPr>
                            </m:ctrlPr>
                          </m:dPr>
                          <m:e>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latin typeface="Cambria Math" panose="02040503050406030204" pitchFamily="18" charset="0"/>
                                      </a:rPr>
                                      <m:t>𝑁</m:t>
                                    </m:r>
                                    <m:r>
                                      <a:rPr lang="es-ES" sz="1800" i="1">
                                        <a:latin typeface="Cambria Math" panose="02040503050406030204" pitchFamily="18" charset="0"/>
                                      </a:rPr>
                                      <m:t>º</m:t>
                                    </m:r>
                                    <m:r>
                                      <a:rPr lang="es-ES" sz="1800" i="1">
                                        <a:latin typeface="Cambria Math" panose="02040503050406030204" pitchFamily="18" charset="0"/>
                                      </a:rPr>
                                      <m:t>𝑅𝐷</m:t>
                                    </m:r>
                                  </m:e>
                                  <m:sub>
                                    <m:r>
                                      <a:rPr lang="es-ES" sz="1800" i="1">
                                        <a:latin typeface="Cambria Math" panose="02040503050406030204" pitchFamily="18" charset="0"/>
                                      </a:rPr>
                                      <m:t>𝐶𝑜𝑛𝑓𝑜𝑟𝑚𝑒</m:t>
                                    </m:r>
                                  </m:sub>
                                </m:sSub>
                              </m:num>
                              <m:den>
                                <m:sSub>
                                  <m:sSubPr>
                                    <m:ctrlPr>
                                      <a:rPr lang="es-ES" sz="1800" i="1">
                                        <a:latin typeface="Cambria Math" panose="02040503050406030204" pitchFamily="18" charset="0"/>
                                      </a:rPr>
                                    </m:ctrlPr>
                                  </m:sSubPr>
                                  <m:e>
                                    <m:r>
                                      <a:rPr lang="es-ES" sz="1800" i="1">
                                        <a:latin typeface="Cambria Math" panose="02040503050406030204" pitchFamily="18" charset="0"/>
                                      </a:rPr>
                                      <m:t>𝑁</m:t>
                                    </m:r>
                                    <m:r>
                                      <a:rPr lang="es-ES" sz="1800" i="1">
                                        <a:latin typeface="Cambria Math" panose="02040503050406030204" pitchFamily="18" charset="0"/>
                                      </a:rPr>
                                      <m:t>º</m:t>
                                    </m:r>
                                    <m:r>
                                      <a:rPr lang="es-ES" sz="1800" i="1">
                                        <a:latin typeface="Cambria Math" panose="02040503050406030204" pitchFamily="18" charset="0"/>
                                      </a:rPr>
                                      <m:t>𝑅𝐷</m:t>
                                    </m:r>
                                  </m:e>
                                  <m:sub>
                                    <m:r>
                                      <a:rPr lang="es-ES" sz="1800" i="1">
                                        <a:latin typeface="Cambria Math" panose="02040503050406030204" pitchFamily="18" charset="0"/>
                                      </a:rPr>
                                      <m:t>𝐶𝑜𝑛𝑓𝑜𝑟𝑚𝑒</m:t>
                                    </m:r>
                                  </m:sub>
                                </m:sSub>
                                <m:r>
                                  <a:rPr lang="es-ES" sz="1800" i="1">
                                    <a:latin typeface="Cambria Math" panose="02040503050406030204" pitchFamily="18" charset="0"/>
                                  </a:rPr>
                                  <m:t>+</m:t>
                                </m:r>
                                <m:sSub>
                                  <m:sSubPr>
                                    <m:ctrlPr>
                                      <a:rPr lang="es-ES" sz="1800" i="1">
                                        <a:latin typeface="Cambria Math" panose="02040503050406030204" pitchFamily="18" charset="0"/>
                                      </a:rPr>
                                    </m:ctrlPr>
                                  </m:sSubPr>
                                  <m:e>
                                    <m:r>
                                      <a:rPr lang="es-ES" sz="1800" i="1">
                                        <a:latin typeface="Cambria Math" panose="02040503050406030204" pitchFamily="18" charset="0"/>
                                      </a:rPr>
                                      <m:t>𝑁</m:t>
                                    </m:r>
                                    <m:r>
                                      <a:rPr lang="es-ES" sz="1800" i="1">
                                        <a:latin typeface="Cambria Math" panose="02040503050406030204" pitchFamily="18" charset="0"/>
                                      </a:rPr>
                                      <m:t>º</m:t>
                                    </m:r>
                                    <m:r>
                                      <a:rPr lang="es-ES" sz="1800" i="1">
                                        <a:latin typeface="Cambria Math" panose="02040503050406030204" pitchFamily="18" charset="0"/>
                                      </a:rPr>
                                      <m:t>𝑅𝐷</m:t>
                                    </m:r>
                                  </m:e>
                                  <m:sub>
                                    <m:r>
                                      <a:rPr lang="es-ES" sz="1800" i="1">
                                        <a:latin typeface="Cambria Math" panose="02040503050406030204" pitchFamily="18" charset="0"/>
                                      </a:rPr>
                                      <m:t>𝑁𝑜</m:t>
                                    </m:r>
                                    <m:r>
                                      <a:rPr lang="es-ES" sz="1800" i="1">
                                        <a:latin typeface="Cambria Math" panose="02040503050406030204" pitchFamily="18" charset="0"/>
                                      </a:rPr>
                                      <m:t> </m:t>
                                    </m:r>
                                    <m:r>
                                      <a:rPr lang="es-ES" sz="1800" i="1">
                                        <a:latin typeface="Cambria Math" panose="02040503050406030204" pitchFamily="18" charset="0"/>
                                      </a:rPr>
                                      <m:t>𝐶𝑜𝑛𝑓𝑜𝑟𝑚𝑒</m:t>
                                    </m:r>
                                  </m:sub>
                                </m:sSub>
                              </m:den>
                            </m:f>
                          </m:e>
                        </m:d>
                      </m:e>
                    </m:d>
                    <m:r>
                      <a:rPr lang="es-ES" sz="1800" b="0" i="1" smtClean="0">
                        <a:latin typeface="Cambria Math" panose="02040503050406030204" pitchFamily="18" charset="0"/>
                      </a:rPr>
                      <m:t>𝑥</m:t>
                    </m:r>
                    <m:r>
                      <a:rPr lang="es-ES" sz="1800" b="0" i="1" smtClean="0">
                        <a:latin typeface="Cambria Math" panose="02040503050406030204" pitchFamily="18" charset="0"/>
                      </a:rPr>
                      <m:t>10</m:t>
                    </m:r>
                  </m:oMath>
                </a14:m>
                <a:endParaRPr lang="es-ES" sz="1800" dirty="0"/>
              </a:p>
              <a:p>
                <a:r>
                  <a:rPr lang="es-ES" dirty="0"/>
                  <a:t>Siendo</a:t>
                </a:r>
              </a:p>
              <a:p>
                <a:pPr lvl="1"/>
                <a14:m>
                  <m:oMath xmlns:m="http://schemas.openxmlformats.org/officeDocument/2006/math">
                    <m:r>
                      <a:rPr lang="es-ES" b="0" i="1" smtClean="0">
                        <a:latin typeface="Cambria Math" panose="02040503050406030204" pitchFamily="18" charset="0"/>
                      </a:rPr>
                      <m:t>𝑁</m:t>
                    </m:r>
                    <m:r>
                      <a:rPr lang="es-ES" b="0" i="1" smtClean="0">
                        <a:latin typeface="Cambria Math" panose="02040503050406030204" pitchFamily="18" charset="0"/>
                      </a:rPr>
                      <m:t>º</m:t>
                    </m:r>
                    <m:r>
                      <a:rPr lang="es-ES" b="0" i="1" smtClean="0">
                        <a:latin typeface="Cambria Math" panose="02040503050406030204" pitchFamily="18" charset="0"/>
                      </a:rPr>
                      <m:t>𝑃</m:t>
                    </m:r>
                    <m:r>
                      <a:rPr lang="es-ES" b="0" i="1" smtClean="0">
                        <a:latin typeface="Cambria Math" panose="02040503050406030204" pitchFamily="18" charset="0"/>
                      </a:rPr>
                      <m:t> </m:t>
                    </m:r>
                  </m:oMath>
                </a14:m>
                <a:r>
                  <a:rPr lang="es-ES" dirty="0"/>
                  <a:t>: Número de páginas web de la muestra</a:t>
                </a:r>
              </a:p>
              <a:p>
                <a:pPr lvl="1"/>
                <a14:m>
                  <m:oMath xmlns:m="http://schemas.openxmlformats.org/officeDocument/2006/math">
                    <m:r>
                      <a:rPr lang="es-ES" b="0" i="1" smtClean="0">
                        <a:latin typeface="Cambria Math" panose="02040503050406030204" pitchFamily="18" charset="0"/>
                      </a:rPr>
                      <m:t>𝑁</m:t>
                    </m:r>
                    <m:r>
                      <a:rPr lang="es-ES" b="0" i="1" smtClean="0">
                        <a:latin typeface="Cambria Math" panose="02040503050406030204" pitchFamily="18" charset="0"/>
                      </a:rPr>
                      <m:t>º</m:t>
                    </m:r>
                    <m:r>
                      <a:rPr lang="es-ES" b="0" i="1" smtClean="0">
                        <a:latin typeface="Cambria Math" panose="02040503050406030204" pitchFamily="18" charset="0"/>
                      </a:rPr>
                      <m:t>𝐷</m:t>
                    </m:r>
                    <m:r>
                      <a:rPr lang="es-ES" b="0" i="1" smtClean="0">
                        <a:latin typeface="Cambria Math" panose="02040503050406030204" pitchFamily="18" charset="0"/>
                      </a:rPr>
                      <m:t> </m:t>
                    </m:r>
                  </m:oMath>
                </a14:m>
                <a:r>
                  <a:rPr lang="es-ES" dirty="0"/>
                  <a:t>: Número de documentos de la muestra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𝑁</m:t>
                        </m:r>
                        <m:r>
                          <a:rPr lang="es-ES" i="1">
                            <a:latin typeface="Cambria Math" panose="02040503050406030204" pitchFamily="18" charset="0"/>
                          </a:rPr>
                          <m:t>º</m:t>
                        </m:r>
                        <m:r>
                          <a:rPr lang="es-ES" i="1">
                            <a:latin typeface="Cambria Math" panose="02040503050406030204" pitchFamily="18" charset="0"/>
                          </a:rPr>
                          <m:t>𝑅𝑃</m:t>
                        </m:r>
                      </m:e>
                      <m:sub>
                        <m:r>
                          <a:rPr lang="es-ES" i="1">
                            <a:latin typeface="Cambria Math" panose="02040503050406030204" pitchFamily="18" charset="0"/>
                          </a:rPr>
                          <m:t>𝐶𝑜𝑛𝑓𝑜𝑟𝑚𝑒</m:t>
                        </m:r>
                        <m:r>
                          <a:rPr lang="es-ES" i="1">
                            <a:latin typeface="Cambria Math" panose="02040503050406030204" pitchFamily="18" charset="0"/>
                          </a:rPr>
                          <m:t>,   </m:t>
                        </m:r>
                        <m:r>
                          <a:rPr lang="es-ES" i="1">
                            <a:latin typeface="Cambria Math" panose="02040503050406030204" pitchFamily="18" charset="0"/>
                          </a:rPr>
                          <m:t>𝑁𝑜</m:t>
                        </m:r>
                        <m:r>
                          <a:rPr lang="es-ES" i="1">
                            <a:latin typeface="Cambria Math" panose="02040503050406030204" pitchFamily="18" charset="0"/>
                          </a:rPr>
                          <m:t> </m:t>
                        </m:r>
                        <m:r>
                          <a:rPr lang="es-ES" i="1">
                            <a:latin typeface="Cambria Math" panose="02040503050406030204" pitchFamily="18" charset="0"/>
                          </a:rPr>
                          <m:t>𝐶𝑜𝑛𝑓𝑜𝑟𝑚𝑒</m:t>
                        </m:r>
                      </m:sub>
                    </m:sSub>
                    <m:r>
                      <a:rPr lang="es-ES" i="1">
                        <a:latin typeface="Cambria Math" panose="02040503050406030204" pitchFamily="18" charset="0"/>
                      </a:rPr>
                      <m:t>: </m:t>
                    </m:r>
                  </m:oMath>
                </a14:m>
                <a:r>
                  <a:rPr lang="es-ES" dirty="0"/>
                  <a:t>Número de requisitos de accesibilidad relativos a páginas web evaluados a nivel de sitio web como Conformes o No conformes.</a:t>
                </a:r>
              </a:p>
              <a:p>
                <a:pPr lvl="1"/>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𝑁</m:t>
                        </m:r>
                        <m:r>
                          <a:rPr lang="es-ES" i="1">
                            <a:latin typeface="Cambria Math" panose="02040503050406030204" pitchFamily="18" charset="0"/>
                          </a:rPr>
                          <m:t>º</m:t>
                        </m:r>
                        <m:r>
                          <a:rPr lang="es-ES" i="1">
                            <a:latin typeface="Cambria Math" panose="02040503050406030204" pitchFamily="18" charset="0"/>
                          </a:rPr>
                          <m:t>𝑅𝐷</m:t>
                        </m:r>
                      </m:e>
                      <m:sub>
                        <m:r>
                          <a:rPr lang="es-ES" i="1">
                            <a:latin typeface="Cambria Math" panose="02040503050406030204" pitchFamily="18" charset="0"/>
                          </a:rPr>
                          <m:t>𝐶𝑜𝑛𝑓𝑜𝑟𝑚𝑒</m:t>
                        </m:r>
                        <m:r>
                          <a:rPr lang="es-ES" i="1">
                            <a:latin typeface="Cambria Math" panose="02040503050406030204" pitchFamily="18" charset="0"/>
                          </a:rPr>
                          <m:t>,   </m:t>
                        </m:r>
                        <m:r>
                          <a:rPr lang="es-ES" i="1">
                            <a:latin typeface="Cambria Math" panose="02040503050406030204" pitchFamily="18" charset="0"/>
                          </a:rPr>
                          <m:t>𝑁𝑜</m:t>
                        </m:r>
                        <m:r>
                          <a:rPr lang="es-ES" i="1">
                            <a:latin typeface="Cambria Math" panose="02040503050406030204" pitchFamily="18" charset="0"/>
                          </a:rPr>
                          <m:t> </m:t>
                        </m:r>
                        <m:r>
                          <a:rPr lang="es-ES" i="1">
                            <a:latin typeface="Cambria Math" panose="02040503050406030204" pitchFamily="18" charset="0"/>
                          </a:rPr>
                          <m:t>𝐶𝑜𝑛𝑓𝑜𝑟𝑚𝑒</m:t>
                        </m:r>
                      </m:sub>
                    </m:sSub>
                    <m:r>
                      <a:rPr lang="es-ES" i="1">
                        <a:latin typeface="Cambria Math" panose="02040503050406030204" pitchFamily="18" charset="0"/>
                      </a:rPr>
                      <m:t>: </m:t>
                    </m:r>
                  </m:oMath>
                </a14:m>
                <a:r>
                  <a:rPr lang="es-ES" dirty="0"/>
                  <a:t>Número de requisitos de accesibilidad relativos a documentos evaluados a nivel de sitio web como Conformes o No conformes.</a:t>
                </a:r>
              </a:p>
            </p:txBody>
          </p:sp>
        </mc:Choice>
        <mc:Fallback xmlns="">
          <p:sp>
            <p:nvSpPr>
              <p:cNvPr id="4" name="Marcador de contenido 3">
                <a:extLst>
                  <a:ext uri="{FF2B5EF4-FFF2-40B4-BE49-F238E27FC236}">
                    <a16:creationId xmlns:a16="http://schemas.microsoft.com/office/drawing/2014/main" id="{7C9DA080-473F-47C5-8068-F6A9F9D01553}"/>
                  </a:ext>
                </a:extLst>
              </p:cNvPr>
              <p:cNvSpPr>
                <a:spLocks noGrp="1" noRot="1" noChangeAspect="1" noMove="1" noResize="1" noEditPoints="1" noAdjustHandles="1" noChangeArrowheads="1" noChangeShapeType="1" noTextEdit="1"/>
              </p:cNvSpPr>
              <p:nvPr>
                <p:ph idx="1"/>
              </p:nvPr>
            </p:nvSpPr>
            <p:spPr>
              <a:xfrm>
                <a:off x="527538" y="1491516"/>
                <a:ext cx="11025553" cy="5088393"/>
              </a:xfrm>
              <a:blipFill>
                <a:blip r:embed="rId3"/>
                <a:stretch>
                  <a:fillRect l="-996" t="-240"/>
                </a:stretch>
              </a:blipFill>
            </p:spPr>
            <p:txBody>
              <a:bodyPr/>
              <a:lstStyle/>
              <a:p>
                <a:r>
                  <a:rPr lang="es-ES">
                    <a:noFill/>
                  </a:rPr>
                  <a:t> </a:t>
                </a:r>
              </a:p>
            </p:txBody>
          </p:sp>
        </mc:Fallback>
      </mc:AlternateContent>
      <p:sp>
        <p:nvSpPr>
          <p:cNvPr id="2" name="Marcador de número de diapositiva 1">
            <a:extLst>
              <a:ext uri="{FF2B5EF4-FFF2-40B4-BE49-F238E27FC236}">
                <a16:creationId xmlns:a16="http://schemas.microsoft.com/office/drawing/2014/main" id="{BCE913B7-8B61-4604-83E2-B300A59BC3E3}"/>
              </a:ext>
            </a:extLst>
          </p:cNvPr>
          <p:cNvSpPr>
            <a:spLocks noGrp="1"/>
          </p:cNvSpPr>
          <p:nvPr>
            <p:ph type="sldNum" sz="quarter" idx="12"/>
          </p:nvPr>
        </p:nvSpPr>
        <p:spPr/>
        <p:txBody>
          <a:bodyPr/>
          <a:lstStyle/>
          <a:p>
            <a:fld id="{C9400CC4-AA0F-4E2E-A7D9-25BF1D2A8A65}" type="slidenum">
              <a:rPr lang="es-ES" smtClean="0"/>
              <a:t>15</a:t>
            </a:fld>
            <a:endParaRPr lang="es-ES" dirty="0"/>
          </a:p>
        </p:txBody>
      </p:sp>
    </p:spTree>
    <p:extLst>
      <p:ext uri="{BB962C8B-B14F-4D97-AF65-F5344CB8AC3E}">
        <p14:creationId xmlns:p14="http://schemas.microsoft.com/office/powerpoint/2010/main" val="2128990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5. Conclusiones</a:t>
            </a:r>
          </a:p>
        </p:txBody>
      </p:sp>
      <p:sp>
        <p:nvSpPr>
          <p:cNvPr id="6" name="Marcador de contenido 5"/>
          <p:cNvSpPr>
            <a:spLocks noGrp="1"/>
          </p:cNvSpPr>
          <p:nvPr>
            <p:ph idx="1"/>
          </p:nvPr>
        </p:nvSpPr>
        <p:spPr>
          <a:xfrm>
            <a:off x="527538" y="1491516"/>
            <a:ext cx="11025553" cy="5229959"/>
          </a:xfrm>
        </p:spPr>
        <p:txBody>
          <a:bodyPr>
            <a:normAutofit fontScale="92500"/>
          </a:bodyPr>
          <a:lstStyle/>
          <a:p>
            <a:r>
              <a:rPr lang="es-ES" dirty="0"/>
              <a:t>La revisión de un sitio web consiste en seleccionar una muestra de páginas web y documentos descargables del sitio web, revisar 92 requisitos en cada página de la muestra y 45 en cada documento de la muestra, elaborar un Informe de Revisión de Accesibilidad (IRA), y redactar una declaración de accesibilidad.</a:t>
            </a:r>
          </a:p>
          <a:p>
            <a:pPr lvl="1"/>
            <a:r>
              <a:rPr lang="es-ES" dirty="0"/>
              <a:t>Los 137 requisitos a revisar son los establecidos en la tabla A.1 de la norma UNE-EN 301549:2022</a:t>
            </a:r>
          </a:p>
          <a:p>
            <a:pPr lvl="1"/>
            <a:r>
              <a:rPr lang="es-ES" dirty="0"/>
              <a:t>Se debe elaborar también un documento o informe anexo para explicar los errores de accesibilidad detectados</a:t>
            </a:r>
          </a:p>
          <a:p>
            <a:r>
              <a:rPr lang="es-ES" dirty="0"/>
              <a:t>Al finalizar la revisión en profundidad se pueden obtener resultados agregados</a:t>
            </a:r>
          </a:p>
          <a:p>
            <a:pPr lvl="1"/>
            <a:r>
              <a:rPr lang="es-ES" dirty="0"/>
              <a:t> Situación de cumplimiento del sitio web</a:t>
            </a:r>
          </a:p>
          <a:p>
            <a:pPr lvl="1"/>
            <a:r>
              <a:rPr lang="es-ES" dirty="0"/>
              <a:t>Puntuación media del sitio web </a:t>
            </a:r>
          </a:p>
          <a:p>
            <a:endParaRPr lang="es-ES" dirty="0"/>
          </a:p>
          <a:p>
            <a:pPr marL="0" indent="0">
              <a:buNone/>
            </a:pPr>
            <a:endParaRPr lang="es-ES" dirty="0"/>
          </a:p>
          <a:p>
            <a:pPr marL="0" indent="0">
              <a:buNone/>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16</a:t>
            </a:fld>
            <a:endParaRPr lang="es-ES" dirty="0"/>
          </a:p>
        </p:txBody>
      </p:sp>
    </p:spTree>
    <p:extLst>
      <p:ext uri="{BB962C8B-B14F-4D97-AF65-F5344CB8AC3E}">
        <p14:creationId xmlns:p14="http://schemas.microsoft.com/office/powerpoint/2010/main" val="2120166628"/>
      </p:ext>
    </p:extLst>
  </p:cSld>
  <p:clrMapOvr>
    <a:masterClrMapping/>
  </p:clrMapOvr>
</p:sld>
</file>

<file path=ppt/theme/theme1.xml><?xml version="1.0" encoding="utf-8"?>
<a:theme xmlns:a="http://schemas.openxmlformats.org/drawingml/2006/main" name="Tema de Office">
  <a:themeElements>
    <a:clrScheme name="Personalizado 2">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000000"/>
      </a:hlink>
      <a:folHlink>
        <a:srgbClr val="0000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9338</TotalTime>
  <Words>1912</Words>
  <Application>Microsoft Office PowerPoint</Application>
  <PresentationFormat>Panorámica</PresentationFormat>
  <Paragraphs>135</Paragraphs>
  <Slides>16</Slides>
  <Notes>2</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16</vt:i4>
      </vt:variant>
    </vt:vector>
  </HeadingPairs>
  <TitlesOfParts>
    <vt:vector size="24" baseType="lpstr">
      <vt:lpstr>Arial</vt:lpstr>
      <vt:lpstr>Calibri</vt:lpstr>
      <vt:lpstr>Calibri Light</vt:lpstr>
      <vt:lpstr>Cambria Math</vt:lpstr>
      <vt:lpstr>Courier New</vt:lpstr>
      <vt:lpstr>Wingdings</vt:lpstr>
      <vt:lpstr>Tema de Office</vt:lpstr>
      <vt:lpstr>Diseño personalizado</vt:lpstr>
      <vt:lpstr>Revisión de la accesibilidad  de un sitio web</vt:lpstr>
      <vt:lpstr>Contenidos</vt:lpstr>
      <vt:lpstr>1. Introducción</vt:lpstr>
      <vt:lpstr>2. Etapas de la revisión de un sitio web</vt:lpstr>
      <vt:lpstr>2. Etapas de la revisión de un sitio web Paso 1: Explorar el sitio web</vt:lpstr>
      <vt:lpstr>2. Etapas de la revisión de un sitio web Paso 2: Elegir una muestra representativa (1)</vt:lpstr>
      <vt:lpstr>2. Etapas de la revisión de un sitio web Paso 2: Elegir una muestra representativa (2)</vt:lpstr>
      <vt:lpstr>2. Etapas de la revisión de un sitio web Paso 2: Elegir una muestra representativa (3)</vt:lpstr>
      <vt:lpstr>2. Etapas de la revisión de un sitio web Paso 2: Elegir una muestra representativa (4)</vt:lpstr>
      <vt:lpstr>2. Etapas de la revisión de un sitio web Paso 3: Obtener de forma automática un borrador de IRA</vt:lpstr>
      <vt:lpstr>2. Etapas de la revisión de un sitio web Paso 4: Completar el IRA</vt:lpstr>
      <vt:lpstr>2. Etapas de la revisión de un sitio web Paso 5: Redactar una declaración de accesibilidad</vt:lpstr>
      <vt:lpstr>3. Requisitos a revisar</vt:lpstr>
      <vt:lpstr>4. Resultados agregados</vt:lpstr>
      <vt:lpstr>4. Resultados agregados Puntuación Media del Sitio Web (PMSW)</vt:lpstr>
      <vt:lpstr>5.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Revisión de la accesibilidad de un sitio web</dc:title>
  <dc:creator>Hilera González José Ramón</dc:creator>
  <cp:lastModifiedBy>jose hilera</cp:lastModifiedBy>
  <cp:revision>589</cp:revision>
  <dcterms:created xsi:type="dcterms:W3CDTF">2016-04-13T08:22:41Z</dcterms:created>
  <dcterms:modified xsi:type="dcterms:W3CDTF">2025-11-13T14:55:03Z</dcterms:modified>
</cp:coreProperties>
</file>