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2" r:id="rId2"/>
  </p:sldMasterIdLst>
  <p:notesMasterIdLst>
    <p:notesMasterId r:id="rId26"/>
  </p:notesMasterIdLst>
  <p:sldIdLst>
    <p:sldId id="500" r:id="rId3"/>
    <p:sldId id="501" r:id="rId4"/>
    <p:sldId id="555" r:id="rId5"/>
    <p:sldId id="859" r:id="rId6"/>
    <p:sldId id="297" r:id="rId7"/>
    <p:sldId id="588" r:id="rId8"/>
    <p:sldId id="589" r:id="rId9"/>
    <p:sldId id="298" r:id="rId10"/>
    <p:sldId id="626" r:id="rId11"/>
    <p:sldId id="587" r:id="rId12"/>
    <p:sldId id="627" r:id="rId13"/>
    <p:sldId id="628" r:id="rId14"/>
    <p:sldId id="629" r:id="rId15"/>
    <p:sldId id="630" r:id="rId16"/>
    <p:sldId id="631" r:id="rId17"/>
    <p:sldId id="632" r:id="rId18"/>
    <p:sldId id="591" r:id="rId19"/>
    <p:sldId id="592" r:id="rId20"/>
    <p:sldId id="856" r:id="rId21"/>
    <p:sldId id="857" r:id="rId22"/>
    <p:sldId id="858" r:id="rId23"/>
    <p:sldId id="590" r:id="rId24"/>
    <p:sldId id="526" r:id="rId2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65" autoAdjust="0"/>
    <p:restoredTop sz="94809" autoAdjust="0"/>
  </p:normalViewPr>
  <p:slideViewPr>
    <p:cSldViewPr snapToGrid="0">
      <p:cViewPr varScale="1">
        <p:scale>
          <a:sx n="63" d="100"/>
          <a:sy n="63" d="100"/>
        </p:scale>
        <p:origin x="77" y="182"/>
      </p:cViewPr>
      <p:guideLst/>
    </p:cSldViewPr>
  </p:slideViewPr>
  <p:outlineViewPr>
    <p:cViewPr>
      <p:scale>
        <a:sx n="33" d="100"/>
        <a:sy n="33" d="100"/>
      </p:scale>
      <p:origin x="0" y="-62443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FEF4D-0142-46B4-AC7F-5B868160AD8E}" type="datetimeFigureOut">
              <a:rPr lang="es-ES" smtClean="0"/>
              <a:t>13/11/2025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8CBC7-3B2B-4C22-92A9-AEE2213136AA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10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B8CBC7-3B2B-4C22-92A9-AEE2213136A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397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5406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8209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9033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0161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1751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6836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5406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0161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54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5406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0161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549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1384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10726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2035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00643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7204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3111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387600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ctr"/>
          <a:lstStyle>
            <a:lvl1pPr algn="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40323" y="2854692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11319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45223" y="1491517"/>
            <a:ext cx="9161585" cy="469826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200"/>
              </a:spcBef>
              <a:buFont typeface="Courier New" panose="02070309020205020404" pitchFamily="49" charset="0"/>
              <a:buChar char="o"/>
              <a:defRPr/>
            </a:lvl2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0EA5-8E19-4BC4-934C-2C82A50D6490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26061" y="6356350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431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354013" indent="0">
              <a:defRPr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7538" y="1491517"/>
            <a:ext cx="11025553" cy="4698268"/>
          </a:xfrm>
        </p:spPr>
        <p:txBody>
          <a:bodyPr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/>
            </a:lvl1pPr>
            <a:lvl2pPr marL="685800" indent="-228600">
              <a:spcBef>
                <a:spcPts val="1200"/>
              </a:spcBef>
              <a:buFont typeface="Courier New" panose="02070309020205020404" pitchFamily="49" charset="0"/>
              <a:buChar char="o"/>
              <a:defRPr/>
            </a:lvl2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70EA5-8E19-4BC4-934C-2C82A50D6490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9226061" y="6356350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151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C9D08-3C16-416B-B8F9-4D4A629F38C9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194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1E605-5CBB-40FE-87B4-05B62A5CAB7C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814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06281-1CDF-413F-B502-D8EF9109D251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6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46C39-2265-4ECA-84D0-AFE501AC4C1C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035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D3683-7933-4D92-B730-4B8490CCDF4B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5139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D45B-6432-4BD4-BB2B-6E8E1493A879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924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0BFDE-1D6E-4E03-A53A-F1B29D2D0A86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8734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143F0-BAC6-4443-92A3-9EA2CC19B9B7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9388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7633C-AB28-4AC7-B7B0-41DFBCF1B247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11380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3348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9229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355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586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97660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8998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9703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98797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08488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84880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131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46C39-2265-4ECA-84D0-AFE501AC4C1C}" type="datetime1">
              <a:rPr lang="es-ES" smtClean="0"/>
              <a:t>13/11/2025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00CC4-AA0F-4E2E-A7D9-25BF1D2A8A6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557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2" r:id="rId4"/>
    <p:sldLayoutId id="2147483653" r:id="rId5"/>
    <p:sldLayoutId id="2147483654" r:id="rId6"/>
    <p:sldLayoutId id="2147483661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B338E-2CA8-4990-93F8-04B6F142715C}" type="datetimeFigureOut">
              <a:rPr lang="es-ES" smtClean="0"/>
              <a:t>13/11/2025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9350B-99D0-4E5C-997D-9130554D62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2111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ah.es/es/estudios/profesor/Jose-Ramon-Hilera-Gonzalez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s://creativecommons.org/licenses/by-sa/4.0/" TargetMode="External"/><Relationship Id="rId4" Type="http://schemas.openxmlformats.org/officeDocument/2006/relationships/hyperlink" Target="https://twitter.com/software_a11y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sehilera/accesibilidad/tree/master/normas" TargetMode="External"/><Relationship Id="rId2" Type="http://schemas.openxmlformats.org/officeDocument/2006/relationships/hyperlink" Target="https://administracionelectronica.gob.es/comunidades/resources/Comunidades/21/Descargas/Guia-Tecnica-Revision-Accesibilidad-Sitio-Web-UNE-EN-301549-2022-v1-0.pdf?idElemento=864&amp;idComunidad=21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.org/TR/WCAG21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s-ES" dirty="0"/>
            </a:br>
            <a:r>
              <a:rPr lang="es-ES" dirty="0"/>
              <a:t>Requisitos de accesibilidad a revisar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>
          <a:xfrm>
            <a:off x="703385" y="4210492"/>
            <a:ext cx="11087100" cy="1908953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								</a:t>
            </a:r>
            <a:r>
              <a:rPr lang="en-US" b="1" dirty="0">
                <a:hlinkClick r:id="rId3"/>
              </a:rPr>
              <a:t>José Ramón Hilera González</a:t>
            </a:r>
            <a:br>
              <a:rPr lang="en-US" b="1" dirty="0"/>
            </a:br>
            <a:r>
              <a:rPr lang="en-US" sz="2000" dirty="0"/>
              <a:t>jose.hilera@uah.es</a:t>
            </a:r>
            <a:br>
              <a:rPr lang="en-US" sz="2000" b="1" dirty="0"/>
            </a:br>
            <a:r>
              <a:rPr lang="en-US" sz="2000" dirty="0">
                <a:hlinkClick r:id="rId4"/>
              </a:rPr>
              <a:t>@software_a11y</a:t>
            </a:r>
            <a:endParaRPr lang="en-US" sz="2000" dirty="0"/>
          </a:p>
          <a:p>
            <a:pPr algn="r"/>
            <a:endParaRPr lang="en-US" b="1" i="1" dirty="0"/>
          </a:p>
          <a:p>
            <a:pPr algn="r"/>
            <a:endParaRPr lang="es-ES" i="1" dirty="0"/>
          </a:p>
          <a:p>
            <a:endParaRPr lang="es-ES" dirty="0"/>
          </a:p>
        </p:txBody>
      </p:sp>
      <p:pic>
        <p:nvPicPr>
          <p:cNvPr id="7" name="Imagen 6" title="Licencia CC BY-SA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17" y="5972364"/>
            <a:ext cx="1658180" cy="584132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4294967295"/>
          </p:nvPr>
        </p:nvSpPr>
        <p:spPr>
          <a:xfrm>
            <a:off x="9173309" y="6373934"/>
            <a:ext cx="2743200" cy="365125"/>
          </a:xfrm>
        </p:spPr>
        <p:txBody>
          <a:bodyPr/>
          <a:lstStyle/>
          <a:p>
            <a:fld id="{C9400CC4-AA0F-4E2E-A7D9-25BF1D2A8A6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0172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45223" y="1491517"/>
            <a:ext cx="9507261" cy="4698268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/>
              <a:t>Introducción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Requisitos genéricos 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Requisitos sobre comunicación bidireccional por voz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Requisitos sobre capacidades de vídeo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Requisitos sobre páginas web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Requisitos sobre documentos no web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Requisitos sobre software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Requisitos sobre documentación y servicios de apoyo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Conclusiones</a:t>
            </a:r>
          </a:p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  <a:p>
            <a:pPr marL="514350" indent="-51435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529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Introducción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Para determinar la accesibilidad se deben revisar los 137 requisitos establecidos en la tabla A.1 de la norma UNE-EN 301549:2022</a:t>
            </a:r>
          </a:p>
          <a:p>
            <a:r>
              <a:rPr lang="es-ES" dirty="0"/>
              <a:t>Los 137 requisitos se organizan en siete categorías. </a:t>
            </a:r>
          </a:p>
          <a:p>
            <a:pPr lvl="1"/>
            <a:r>
              <a:rPr lang="es-ES" dirty="0"/>
              <a:t>Nº 1 a 3. Genéricos (condicionales)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4 a 22. Comunicación bidireccional (condicionales)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23 a 31. Capacidades de vídeo (condicionales)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32 a 81 Páginas web (condicionales)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82 a 126. Documentos no web (condicionales)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127 a 132. Software (condicionales e incondicionales)</a:t>
            </a:r>
          </a:p>
          <a:p>
            <a:pPr lvl="1"/>
            <a:r>
              <a:rPr lang="es-ES" dirty="0" err="1"/>
              <a:t>Nº</a:t>
            </a:r>
            <a:r>
              <a:rPr lang="es-ES" dirty="0"/>
              <a:t> 133 a 137. Documentación y servicios de apoyo (incondicionales)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465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E823-1517-0005-6990-1AF979738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4A650-458F-5046-1804-0A4F0303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Introducción</a:t>
            </a:r>
            <a:br>
              <a:rPr lang="es-ES" dirty="0"/>
            </a:br>
            <a:r>
              <a:rPr lang="es-ES" dirty="0"/>
              <a:t>Revisión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EED378-A330-0B29-1036-AB3CB0677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538" y="1491517"/>
            <a:ext cx="10991671" cy="4698268"/>
          </a:xfrm>
        </p:spPr>
        <p:txBody>
          <a:bodyPr>
            <a:normAutofit/>
          </a:bodyPr>
          <a:lstStyle/>
          <a:p>
            <a:r>
              <a:rPr lang="es-ES" dirty="0"/>
              <a:t>Para la revisión de cada requisito, se recomienda consultar la </a:t>
            </a:r>
            <a:r>
              <a:rPr lang="es-ES" dirty="0">
                <a:hlinkClick r:id="rId2"/>
              </a:rPr>
              <a:t>guía técnica</a:t>
            </a:r>
            <a:r>
              <a:rPr lang="es-ES" dirty="0"/>
              <a:t> de ayuda creada por el Observatorio de Accesibilidad</a:t>
            </a:r>
          </a:p>
          <a:p>
            <a:r>
              <a:rPr lang="es-ES" dirty="0"/>
              <a:t>Disponible un </a:t>
            </a:r>
            <a:r>
              <a:rPr lang="es-ES" dirty="0">
                <a:hlinkClick r:id="rId3"/>
              </a:rPr>
              <a:t>resumen de los requisitos</a:t>
            </a:r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7C1648-E56D-D686-419F-F6428103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4</a:t>
            </a:fld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C30ECF-1F67-03F0-7E36-336791539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791" y="3428999"/>
            <a:ext cx="1995504" cy="29267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FB65031-CFD7-8545-B958-DD0EA8A9C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6250" y="3428998"/>
            <a:ext cx="9065573" cy="292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3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2. Requisitos genéricos</a:t>
            </a:r>
            <a:endParaRPr dirty="0"/>
          </a:p>
        </p:txBody>
      </p:sp>
      <p:sp>
        <p:nvSpPr>
          <p:cNvPr id="182" name="Google Shape;182;p3"/>
          <p:cNvSpPr txBox="1">
            <a:spLocks noGrp="1"/>
          </p:cNvSpPr>
          <p:nvPr>
            <p:ph type="body" idx="1"/>
          </p:nvPr>
        </p:nvSpPr>
        <p:spPr>
          <a:xfrm>
            <a:off x="527538" y="1491517"/>
            <a:ext cx="11025553" cy="469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ES" dirty="0"/>
              <a:t>En la categoría de requisitos genéricos de la norma UNE-EN 301549:2022 se encuentra los requisitos que tienen difícil cabida en el resto de las categorías.</a:t>
            </a:r>
          </a:p>
          <a:p>
            <a:r>
              <a:rPr lang="es-ES" dirty="0"/>
              <a:t>Están incluidos en el capítulo 5 de la norma</a:t>
            </a:r>
          </a:p>
          <a:p>
            <a:r>
              <a:rPr lang="es-ES" dirty="0"/>
              <a:t>Son 3 requisitos, numerados de 1 a 3 en la tabla A.1 de la norma</a:t>
            </a:r>
          </a:p>
          <a:p>
            <a:endParaRPr lang="es-ES"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185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2. Requisitos genéricos</a:t>
            </a:r>
            <a:br>
              <a:rPr lang="es-ES" dirty="0"/>
            </a:br>
            <a:r>
              <a:rPr lang="es-ES" dirty="0"/>
              <a:t>Lista de requisitos</a:t>
            </a:r>
            <a:endParaRPr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1C6AEDA9-BF76-94A1-AEDE-C54435426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1741592"/>
              </p:ext>
            </p:extLst>
          </p:nvPr>
        </p:nvGraphicFramePr>
        <p:xfrm>
          <a:off x="527049" y="1492250"/>
          <a:ext cx="11047328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750">
                  <a:extLst>
                    <a:ext uri="{9D8B030D-6E8A-4147-A177-3AD203B41FA5}">
                      <a16:colId xmlns:a16="http://schemas.microsoft.com/office/drawing/2014/main" val="3865493427"/>
                    </a:ext>
                  </a:extLst>
                </a:gridCol>
                <a:gridCol w="3675643">
                  <a:extLst>
                    <a:ext uri="{9D8B030D-6E8A-4147-A177-3AD203B41FA5}">
                      <a16:colId xmlns:a16="http://schemas.microsoft.com/office/drawing/2014/main" val="328212924"/>
                    </a:ext>
                  </a:extLst>
                </a:gridCol>
                <a:gridCol w="6833935">
                  <a:extLst>
                    <a:ext uri="{9D8B030D-6E8A-4147-A177-3AD203B41FA5}">
                      <a16:colId xmlns:a16="http://schemas.microsoft.com/office/drawing/2014/main" val="31856850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Nº</a:t>
                      </a:r>
                      <a:endParaRPr lang="es-E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Requisito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1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5.2 Activación de características de accesibilidad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dirty="0"/>
                        <a:t>Debe ser posible activar aquellas características de accesibilidad documentadas que sean necesarias para satisfacer una necesidad específica sin tener que recurrir para ello a un método que no sea compatible con esa necesidad.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70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5.3 Biométrica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000" dirty="0"/>
                        <a:t>El sitio web no debe depender del uso de una característica biológica particular como único medio de identificación del usuario o de control del sitio web.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45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5.4 Preservación de la información de accesibilidad durante una conversión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dirty="0"/>
                        <a:t>Cuando en el sitio web hay una función de conversión de información, se debe preservar toda la información que se proporciona a efectos de la accesibilidad que no esté sujeta al derecho de propiedad intelectual, en la medida en que el formato de destino pueda contener o sea compatible con esa información.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319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705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3. Requisitos sobre comunicación bidireccional por voz</a:t>
            </a:r>
            <a:endParaRPr dirty="0"/>
          </a:p>
        </p:txBody>
      </p:sp>
      <p:sp>
        <p:nvSpPr>
          <p:cNvPr id="182" name="Google Shape;182;p3"/>
          <p:cNvSpPr txBox="1">
            <a:spLocks noGrp="1"/>
          </p:cNvSpPr>
          <p:nvPr>
            <p:ph type="body" idx="1"/>
          </p:nvPr>
        </p:nvSpPr>
        <p:spPr>
          <a:xfrm>
            <a:off x="527538" y="1491517"/>
            <a:ext cx="11025553" cy="469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ES" dirty="0"/>
              <a:t>Estos requisitos hay que revisarlos si el sitio web ofrece funcionalidad para la comunicación con otros usuarios mediante llamadas de voz o videollamadas.</a:t>
            </a:r>
          </a:p>
          <a:p>
            <a:r>
              <a:rPr lang="es-ES" dirty="0"/>
              <a:t>Están incluidos en el capítulo 6 de la norma UNE-EN 301549:2022 </a:t>
            </a:r>
          </a:p>
          <a:p>
            <a:r>
              <a:rPr lang="es-ES" dirty="0"/>
              <a:t>Son 19 requisitos, numerados de 4 a 22 en la tabla A.1 de la norma</a:t>
            </a:r>
          </a:p>
          <a:p>
            <a:endParaRPr lang="es-ES"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733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3. Requisitos sobre comunicación bidireccional por voz </a:t>
            </a:r>
            <a:br>
              <a:rPr lang="es-ES" dirty="0"/>
            </a:br>
            <a:r>
              <a:rPr lang="es-ES" dirty="0"/>
              <a:t>Lista de requisitos</a:t>
            </a:r>
            <a:endParaRPr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641D01-5972-F289-59B1-1025DA09B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4" name="Tabla 8">
            <a:extLst>
              <a:ext uri="{FF2B5EF4-FFF2-40B4-BE49-F238E27FC236}">
                <a16:creationId xmlns:a16="http://schemas.microsoft.com/office/drawing/2014/main" id="{8810FCB0-950D-E04B-91A6-885A7B18C8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2014748"/>
              </p:ext>
            </p:extLst>
          </p:nvPr>
        </p:nvGraphicFramePr>
        <p:xfrm>
          <a:off x="527050" y="1492250"/>
          <a:ext cx="11026772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571">
                  <a:extLst>
                    <a:ext uri="{9D8B030D-6E8A-4147-A177-3AD203B41FA5}">
                      <a16:colId xmlns:a16="http://schemas.microsoft.com/office/drawing/2014/main" val="3865493427"/>
                    </a:ext>
                  </a:extLst>
                </a:gridCol>
                <a:gridCol w="5111723">
                  <a:extLst>
                    <a:ext uri="{9D8B030D-6E8A-4147-A177-3AD203B41FA5}">
                      <a16:colId xmlns:a16="http://schemas.microsoft.com/office/drawing/2014/main" val="328212924"/>
                    </a:ext>
                  </a:extLst>
                </a:gridCol>
                <a:gridCol w="527124">
                  <a:extLst>
                    <a:ext uri="{9D8B030D-6E8A-4147-A177-3AD203B41FA5}">
                      <a16:colId xmlns:a16="http://schemas.microsoft.com/office/drawing/2014/main" val="425224540"/>
                    </a:ext>
                  </a:extLst>
                </a:gridCol>
                <a:gridCol w="4916354">
                  <a:extLst>
                    <a:ext uri="{9D8B030D-6E8A-4147-A177-3AD203B41FA5}">
                      <a16:colId xmlns:a16="http://schemas.microsoft.com/office/drawing/2014/main" val="2007173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 err="1"/>
                        <a:t>Nº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Requisito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 err="1"/>
                        <a:t>Nº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Requisito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1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6.1 Anchura de banda para voz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14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6.2.3 d) Interoperabilidad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02270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6.2.1.1 Comunicación mediante transmisión de texto en tiempo real (RTT)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6.2.4 Capacidad de respuesta de RTT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91845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6.2.1.2 Voz y texto simultáneos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16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6.3 Identificación de llamadas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11431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6.2.2.1 Presentación en pantalla diferenciable visualmente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17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6.4 Alternativas a los servicios basados en voz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758929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6.2.2.2 Dirección de envío y recepción determinable por software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18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6.5.2 a) Resolución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42023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6.2.2.3 Identificación del hablante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6.5.3 a) Frecuencia de imagen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62499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6.2.2.4 Indicador visual de audio con RTT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20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6.5.4 Sincronización de audio y vídeo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55842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6.2.3 a) Interoperabilidad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21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6.5.5 Indicador visual de audio con vídeo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437703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6.2.3 b) Interoperabilidad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22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6.5.6 Identificación del hablante con comunicación por vídeo (lengua de signos)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46585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6.2.3 c) Interoperabilidad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165042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0664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4. Requisitos sobre capacidades de vídeo</a:t>
            </a:r>
            <a:endParaRPr dirty="0"/>
          </a:p>
        </p:txBody>
      </p:sp>
      <p:sp>
        <p:nvSpPr>
          <p:cNvPr id="182" name="Google Shape;182;p3"/>
          <p:cNvSpPr txBox="1">
            <a:spLocks noGrp="1"/>
          </p:cNvSpPr>
          <p:nvPr>
            <p:ph type="body" idx="1"/>
          </p:nvPr>
        </p:nvSpPr>
        <p:spPr>
          <a:xfrm>
            <a:off x="527538" y="1491517"/>
            <a:ext cx="11025553" cy="469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ES" dirty="0"/>
              <a:t>Estos requisitos hay que revisarlos si el sitio web incluye vídeos.</a:t>
            </a:r>
          </a:p>
          <a:p>
            <a:r>
              <a:rPr lang="es-ES" dirty="0"/>
              <a:t>Son requisitos que debe cumplir el reproductor de los vídeos, no el contenido de los vídeos.</a:t>
            </a:r>
          </a:p>
          <a:p>
            <a:r>
              <a:rPr lang="es-ES" dirty="0"/>
              <a:t>Están incluidos en el capítulo 7 de la norma UNE-EN 301549:2022 </a:t>
            </a:r>
          </a:p>
          <a:p>
            <a:r>
              <a:rPr lang="es-ES" dirty="0"/>
              <a:t>Son 9 requisitos, numerados de 23 a 31 en la tabla A.1 de la norma</a:t>
            </a:r>
          </a:p>
          <a:p>
            <a:endParaRPr lang="es-ES"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2750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4. Requisitos sobre capacidades de vídeo</a:t>
            </a:r>
            <a:br>
              <a:rPr lang="es-ES" dirty="0"/>
            </a:br>
            <a:r>
              <a:rPr lang="es-ES" dirty="0"/>
              <a:t>Lista </a:t>
            </a:r>
            <a:r>
              <a:rPr lang="es-ES"/>
              <a:t>de requisitos</a:t>
            </a:r>
            <a:endParaRPr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1C6AEDA9-BF76-94A1-AEDE-C54435426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9172594"/>
              </p:ext>
            </p:extLst>
          </p:nvPr>
        </p:nvGraphicFramePr>
        <p:xfrm>
          <a:off x="527050" y="1492250"/>
          <a:ext cx="10445750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732">
                  <a:extLst>
                    <a:ext uri="{9D8B030D-6E8A-4147-A177-3AD203B41FA5}">
                      <a16:colId xmlns:a16="http://schemas.microsoft.com/office/drawing/2014/main" val="3865493427"/>
                    </a:ext>
                  </a:extLst>
                </a:gridCol>
                <a:gridCol w="9476018">
                  <a:extLst>
                    <a:ext uri="{9D8B030D-6E8A-4147-A177-3AD203B41FA5}">
                      <a16:colId xmlns:a16="http://schemas.microsoft.com/office/drawing/2014/main" val="328212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2000" dirty="0" err="1"/>
                        <a:t>Nº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Requisito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16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23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7.1.1 Reproducción del subtitulado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022708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24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7.1.2 Sincronización del subtitulado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91845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25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7.1.3 Preservación del subtitulado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11431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26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7.1.4 Características de los subtítulos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758929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27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7.1.5 Subtítulos hablados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42023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28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7.2.1 Reproducción de la audiodescripción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62499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29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7.2.2 Sincronización de la audiodescripción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55842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30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7.2.3 Preservación de la audiodescripción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437703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31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7.3 Controles de usuario para subtítulos y </a:t>
                      </a:r>
                      <a:r>
                        <a:rPr lang="es-E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audiodescripción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46585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4696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5. Requisitos sobre páginas web</a:t>
            </a:r>
            <a:endParaRPr dirty="0"/>
          </a:p>
        </p:txBody>
      </p:sp>
      <p:sp>
        <p:nvSpPr>
          <p:cNvPr id="182" name="Google Shape;182;p3"/>
          <p:cNvSpPr txBox="1">
            <a:spLocks noGrp="1"/>
          </p:cNvSpPr>
          <p:nvPr>
            <p:ph type="body" idx="1"/>
          </p:nvPr>
        </p:nvSpPr>
        <p:spPr>
          <a:xfrm>
            <a:off x="527538" y="1491517"/>
            <a:ext cx="11025553" cy="469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ES" dirty="0"/>
              <a:t>Estos requisitos hay que revisarlos en todas las páginas web incluidas en la muestra.</a:t>
            </a:r>
          </a:p>
          <a:p>
            <a:r>
              <a:rPr lang="es-ES" dirty="0"/>
              <a:t>Se trata de requisitos equivalentes a los criterios de conformidad de la recomendación </a:t>
            </a:r>
            <a:r>
              <a:rPr lang="es-ES" dirty="0">
                <a:hlinkClick r:id="rId3"/>
              </a:rPr>
              <a:t>WCAG</a:t>
            </a:r>
            <a:r>
              <a:rPr lang="es-ES" dirty="0"/>
              <a:t> 2.1 que tienen el mismo código y nombre.</a:t>
            </a:r>
          </a:p>
          <a:p>
            <a:r>
              <a:rPr lang="es-ES" dirty="0"/>
              <a:t>Están incluidos en el capítulo 9 de la norma UNE-EN 301549:2022.</a:t>
            </a:r>
          </a:p>
          <a:p>
            <a:r>
              <a:rPr lang="es-ES" dirty="0"/>
              <a:t>Son 50 requisitos, numerados de 32 a 81 en la tabla A.1 de la norma.</a:t>
            </a:r>
          </a:p>
          <a:p>
            <a:endParaRPr lang="es-ES"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2921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5. Requisitos sobre páginas web</a:t>
            </a:r>
            <a:br>
              <a:rPr lang="es-ES" dirty="0"/>
            </a:br>
            <a:r>
              <a:rPr lang="es-ES" dirty="0"/>
              <a:t>Lista de requisitos (1)</a:t>
            </a:r>
            <a:endParaRPr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1C6AEDA9-BF76-94A1-AEDE-C54435426F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7050" y="1492250"/>
          <a:ext cx="11026772" cy="4884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076">
                  <a:extLst>
                    <a:ext uri="{9D8B030D-6E8A-4147-A177-3AD203B41FA5}">
                      <a16:colId xmlns:a16="http://schemas.microsoft.com/office/drawing/2014/main" val="3865493427"/>
                    </a:ext>
                  </a:extLst>
                </a:gridCol>
                <a:gridCol w="4211053">
                  <a:extLst>
                    <a:ext uri="{9D8B030D-6E8A-4147-A177-3AD203B41FA5}">
                      <a16:colId xmlns:a16="http://schemas.microsoft.com/office/drawing/2014/main" val="328212924"/>
                    </a:ext>
                  </a:extLst>
                </a:gridCol>
                <a:gridCol w="613610">
                  <a:extLst>
                    <a:ext uri="{9D8B030D-6E8A-4147-A177-3AD203B41FA5}">
                      <a16:colId xmlns:a16="http://schemas.microsoft.com/office/drawing/2014/main" val="425224540"/>
                    </a:ext>
                  </a:extLst>
                </a:gridCol>
                <a:gridCol w="5538033">
                  <a:extLst>
                    <a:ext uri="{9D8B030D-6E8A-4147-A177-3AD203B41FA5}">
                      <a16:colId xmlns:a16="http://schemas.microsoft.com/office/drawing/2014/main" val="2007173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 err="1"/>
                        <a:t>Nº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Requisito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 err="1"/>
                        <a:t>Nº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Requisito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16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32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9.1.1.1 Contenido no textual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45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9.1.4.4 Cambio de tamaño del texto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02270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33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9.1.2.1 Solo audio y solo vídeo (grabado)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46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9.1.4.5 Imágenes de texto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918451264"/>
                  </a:ext>
                </a:extLst>
              </a:tr>
              <a:tr h="156411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34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9.1.2.2 Subtítulos (grabados)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47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9.1.4.10 Reajuste del texto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114319854"/>
                  </a:ext>
                </a:extLst>
              </a:tr>
              <a:tr h="178469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35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9.1.2.3 Audiodescripción o contenido multimedia alternativo (grabado)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48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9.1.4.11 Contraste no textual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758929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36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9.1.2.5 Audiodescripción (grabada)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49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9.1.4.12 Espaciado del texto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42023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37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9.1.3.1 Información y relaciones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9.1.4.13 Contenido señalado con el puntero o que tiene el foco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624993886"/>
                  </a:ext>
                </a:extLst>
              </a:tr>
              <a:tr h="76601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38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9.1.3.2 Secuencia significativa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9.2.1.1 Teclado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55842728"/>
                  </a:ext>
                </a:extLst>
              </a:tr>
              <a:tr h="42645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39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9.1.3.3 Características sensoriales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9.2.1.2 Sin trampas para el foco del teclado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437703145"/>
                  </a:ext>
                </a:extLst>
              </a:tr>
              <a:tr h="153069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40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9.1.3.4 Orientación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9.2.1.4 Atajos del teclado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46585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41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9.1.3.5 Identificación del propósito de la entrada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9.2.2.1 Tiempo ajustable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165042209"/>
                  </a:ext>
                </a:extLst>
              </a:tr>
              <a:tr h="201329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42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9.1.4.1 Uso del color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9.2.2.2 Poner en pausa, detener, ocultar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003439945"/>
                  </a:ext>
                </a:extLst>
              </a:tr>
              <a:tr h="203468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43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9.1.4.2 Control del audio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9.2.3.1 Umbral de tres destellos o menos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310172346"/>
                  </a:ext>
                </a:extLst>
              </a:tr>
              <a:tr h="169512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44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9.1.4.3 Contraste (mínimo)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57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9.2.4.1 Evitar bloques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052282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354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5. Requisitos sobre páginas web</a:t>
            </a:r>
            <a:br>
              <a:rPr lang="es-ES" dirty="0"/>
            </a:br>
            <a:r>
              <a:rPr lang="es-ES" dirty="0"/>
              <a:t>Lista de requisitos (2)</a:t>
            </a:r>
            <a:endParaRPr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1C6AEDA9-BF76-94A1-AEDE-C54435426F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7050" y="1492250"/>
          <a:ext cx="11026772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076">
                  <a:extLst>
                    <a:ext uri="{9D8B030D-6E8A-4147-A177-3AD203B41FA5}">
                      <a16:colId xmlns:a16="http://schemas.microsoft.com/office/drawing/2014/main" val="3865493427"/>
                    </a:ext>
                  </a:extLst>
                </a:gridCol>
                <a:gridCol w="4211053">
                  <a:extLst>
                    <a:ext uri="{9D8B030D-6E8A-4147-A177-3AD203B41FA5}">
                      <a16:colId xmlns:a16="http://schemas.microsoft.com/office/drawing/2014/main" val="328212924"/>
                    </a:ext>
                  </a:extLst>
                </a:gridCol>
                <a:gridCol w="613610">
                  <a:extLst>
                    <a:ext uri="{9D8B030D-6E8A-4147-A177-3AD203B41FA5}">
                      <a16:colId xmlns:a16="http://schemas.microsoft.com/office/drawing/2014/main" val="425224540"/>
                    </a:ext>
                  </a:extLst>
                </a:gridCol>
                <a:gridCol w="5538033">
                  <a:extLst>
                    <a:ext uri="{9D8B030D-6E8A-4147-A177-3AD203B41FA5}">
                      <a16:colId xmlns:a16="http://schemas.microsoft.com/office/drawing/2014/main" val="2007173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800" dirty="0" err="1"/>
                        <a:t>Nº</a:t>
                      </a:r>
                      <a:endParaRPr lang="es-E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Requisito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 err="1"/>
                        <a:t>Nº</a:t>
                      </a:r>
                      <a:endParaRPr lang="es-E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Requisito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16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9.2.4.2 Titulado del documento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9.3.2.1 Al recibir el foco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02270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59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9.2.4.3 Orden del foco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9.3.2.2 Al recibir entradas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918451264"/>
                  </a:ext>
                </a:extLst>
              </a:tr>
              <a:tr h="156411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9.2.4.4 Propósito de los enlaces (en contexto)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9.3.2.3 Navegación coherente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114319854"/>
                  </a:ext>
                </a:extLst>
              </a:tr>
              <a:tr h="178469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9.2.4.5 Múltiples vías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9.3.2.4 Identificación coherente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758929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9.2.4.6 Encabezados y etiquetas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9.3.3.1 Identificación de errores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42023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9.2.4.7 Foco visible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9.3.3.2 Etiquetas o instrucciones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624993886"/>
                  </a:ext>
                </a:extLst>
              </a:tr>
              <a:tr h="76601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9.2.5.1 Gestos con el puntero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9.3.3.3 Sugerencias ante errores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55842728"/>
                  </a:ext>
                </a:extLst>
              </a:tr>
              <a:tr h="42645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9.2.5.2 Cancelación del puntero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77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9.3.3.4. Prevención de errores (legales, financieros, de datos)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437703145"/>
                  </a:ext>
                </a:extLst>
              </a:tr>
              <a:tr h="153069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9.2.5.3 Inclusión de la etiqueta en el nombre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9.4.1.1 Procesamiento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46585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67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9.2.5.4 Activación mediante movimiento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79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9.4.1.2 Nombre, función, valor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165042209"/>
                  </a:ext>
                </a:extLst>
              </a:tr>
              <a:tr h="201329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9.3.1.1 Idioma de la página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80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9.4.1.3 Mensajes de estado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003439945"/>
                  </a:ext>
                </a:extLst>
              </a:tr>
              <a:tr h="203468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69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9.3.1.2 Idioma de las partes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81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9.6 Requisitos de conformidad de las Pautas WCAG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310172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678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6. Requisitos sobre documentos no web</a:t>
            </a:r>
            <a:endParaRPr dirty="0"/>
          </a:p>
        </p:txBody>
      </p:sp>
      <p:sp>
        <p:nvSpPr>
          <p:cNvPr id="182" name="Google Shape;182;p3"/>
          <p:cNvSpPr txBox="1">
            <a:spLocks noGrp="1"/>
          </p:cNvSpPr>
          <p:nvPr>
            <p:ph type="body" idx="1"/>
          </p:nvPr>
        </p:nvSpPr>
        <p:spPr>
          <a:xfrm>
            <a:off x="527538" y="1491517"/>
            <a:ext cx="11025553" cy="469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ES" dirty="0"/>
              <a:t>En la categoría de requisitos sobre documentos no web de la norma UNE-EN 301549:2022 se encuentran los requisitos que hay que revisar si en un sitio hay documentos descargables (</a:t>
            </a:r>
            <a:r>
              <a:rPr lang="es-ES" dirty="0" err="1"/>
              <a:t>pdf</a:t>
            </a:r>
            <a:r>
              <a:rPr lang="es-ES" dirty="0"/>
              <a:t>, docx, xlsx, </a:t>
            </a:r>
            <a:r>
              <a:rPr lang="es-ES" dirty="0" err="1"/>
              <a:t>ods</a:t>
            </a:r>
            <a:r>
              <a:rPr lang="es-ES" dirty="0"/>
              <a:t>, </a:t>
            </a:r>
            <a:r>
              <a:rPr lang="es-ES" dirty="0" err="1"/>
              <a:t>odt</a:t>
            </a:r>
            <a:r>
              <a:rPr lang="es-ES" dirty="0"/>
              <a:t>, </a:t>
            </a:r>
            <a:r>
              <a:rPr lang="es-ES" dirty="0" err="1"/>
              <a:t>epub</a:t>
            </a:r>
            <a:r>
              <a:rPr lang="es-ES" dirty="0"/>
              <a:t>, ..) y uno o varios de ellos se han incluido en la muestra.</a:t>
            </a:r>
          </a:p>
          <a:p>
            <a:r>
              <a:rPr lang="es-ES" dirty="0"/>
              <a:t>Están descritos en el capítulo 10 de la norma UNE-EN 301549:2022.</a:t>
            </a:r>
          </a:p>
          <a:p>
            <a:r>
              <a:rPr lang="es-ES" dirty="0"/>
              <a:t>Son 45 requisitos, numerados de 82 a 126 en la tabla A.1 de la norma.</a:t>
            </a:r>
          </a:p>
          <a:p>
            <a:endParaRPr lang="es-ES"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4011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6. Requisitos sobre documentos no web</a:t>
            </a:r>
            <a:br>
              <a:rPr lang="es-ES" dirty="0"/>
            </a:br>
            <a:r>
              <a:rPr lang="es-ES" dirty="0"/>
              <a:t>Lista de requisitos (1)</a:t>
            </a:r>
            <a:endParaRPr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1C6AEDA9-BF76-94A1-AEDE-C54435426F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7050" y="1492250"/>
          <a:ext cx="11026772" cy="485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076">
                  <a:extLst>
                    <a:ext uri="{9D8B030D-6E8A-4147-A177-3AD203B41FA5}">
                      <a16:colId xmlns:a16="http://schemas.microsoft.com/office/drawing/2014/main" val="3865493427"/>
                    </a:ext>
                  </a:extLst>
                </a:gridCol>
                <a:gridCol w="4211053">
                  <a:extLst>
                    <a:ext uri="{9D8B030D-6E8A-4147-A177-3AD203B41FA5}">
                      <a16:colId xmlns:a16="http://schemas.microsoft.com/office/drawing/2014/main" val="328212924"/>
                    </a:ext>
                  </a:extLst>
                </a:gridCol>
                <a:gridCol w="613610">
                  <a:extLst>
                    <a:ext uri="{9D8B030D-6E8A-4147-A177-3AD203B41FA5}">
                      <a16:colId xmlns:a16="http://schemas.microsoft.com/office/drawing/2014/main" val="425224540"/>
                    </a:ext>
                  </a:extLst>
                </a:gridCol>
                <a:gridCol w="5538033">
                  <a:extLst>
                    <a:ext uri="{9D8B030D-6E8A-4147-A177-3AD203B41FA5}">
                      <a16:colId xmlns:a16="http://schemas.microsoft.com/office/drawing/2014/main" val="2007173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800" dirty="0" err="1"/>
                        <a:t>Nº</a:t>
                      </a:r>
                      <a:endParaRPr lang="es-E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Requisito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 err="1"/>
                        <a:t>Nº</a:t>
                      </a:r>
                      <a:endParaRPr lang="es-E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Requisito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16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82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10.1.1.1 Contenido no textual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10.1.4.3 Contraste (mínimo)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02270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83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10.1.2.1 Solo audio y solo vídeo (grabado)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10.1.4.4 Cambio de tamaño del texto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918451264"/>
                  </a:ext>
                </a:extLst>
              </a:tr>
              <a:tr h="156411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84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10.1.2.2 Subtítulos (grabados)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10.1.4.5 Imágenes de texto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114319854"/>
                  </a:ext>
                </a:extLst>
              </a:tr>
              <a:tr h="178469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85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10.1.2.3 Audiodescripción o contenido multimedia alternativo (grabado)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97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10.1.4.10 Reajuste del texto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758929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86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10.1.2.5 Audiodescripción (grabada)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10.1.4.11 Contraste no textual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42023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87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10.1.3.1 Información y relaciones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10.1.4.12 Espaciado del texto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624993886"/>
                  </a:ext>
                </a:extLst>
              </a:tr>
              <a:tr h="76601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88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10.1.3.2 Secuencia significativa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10.1.4.13 Contenido señalado con el puntero o que tiene el foco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55842728"/>
                  </a:ext>
                </a:extLst>
              </a:tr>
              <a:tr h="42645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89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10.1.3.3 Características sensoriales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10.2.1.1 Teclado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437703145"/>
                  </a:ext>
                </a:extLst>
              </a:tr>
              <a:tr h="153069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10.1.3.4 Orientación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10.2.1.2 Sin trampas para el foco del teclado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46585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10.1.3.5 Identificación del propósito de la entrada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10.2.1.4 Atajos del teclado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165042209"/>
                  </a:ext>
                </a:extLst>
              </a:tr>
              <a:tr h="267168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10.1.4.1 Uso del color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10.2.2.1 Tiempo ajustable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003439945"/>
                  </a:ext>
                </a:extLst>
              </a:tr>
              <a:tr h="267168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93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10.1.4.2 Control del audio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10.2.2.2 Poner en pausa, detener, ocultar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252068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814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6. Requisitos sobre documentos no web </a:t>
            </a:r>
            <a:br>
              <a:rPr lang="es-ES" dirty="0"/>
            </a:br>
            <a:r>
              <a:rPr lang="es-ES" dirty="0"/>
              <a:t>Lista de requisitos (2)</a:t>
            </a:r>
            <a:endParaRPr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1C6AEDA9-BF76-94A1-AEDE-C54435426F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7050" y="1492250"/>
          <a:ext cx="11026772" cy="4569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076">
                  <a:extLst>
                    <a:ext uri="{9D8B030D-6E8A-4147-A177-3AD203B41FA5}">
                      <a16:colId xmlns:a16="http://schemas.microsoft.com/office/drawing/2014/main" val="3865493427"/>
                    </a:ext>
                  </a:extLst>
                </a:gridCol>
                <a:gridCol w="4211053">
                  <a:extLst>
                    <a:ext uri="{9D8B030D-6E8A-4147-A177-3AD203B41FA5}">
                      <a16:colId xmlns:a16="http://schemas.microsoft.com/office/drawing/2014/main" val="328212924"/>
                    </a:ext>
                  </a:extLst>
                </a:gridCol>
                <a:gridCol w="613610">
                  <a:extLst>
                    <a:ext uri="{9D8B030D-6E8A-4147-A177-3AD203B41FA5}">
                      <a16:colId xmlns:a16="http://schemas.microsoft.com/office/drawing/2014/main" val="425224540"/>
                    </a:ext>
                  </a:extLst>
                </a:gridCol>
                <a:gridCol w="5538033">
                  <a:extLst>
                    <a:ext uri="{9D8B030D-6E8A-4147-A177-3AD203B41FA5}">
                      <a16:colId xmlns:a16="http://schemas.microsoft.com/office/drawing/2014/main" val="2007173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800" dirty="0" err="1"/>
                        <a:t>Nº</a:t>
                      </a:r>
                      <a:endParaRPr lang="es-E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Requisito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 err="1"/>
                        <a:t>Nº</a:t>
                      </a:r>
                      <a:endParaRPr lang="es-E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dirty="0"/>
                        <a:t>Requisito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16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10.2.3.1 Umbral de tres destellos o menos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117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10.3.1.2 Idioma de las partes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02270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107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10.2.4.2 Titulado del documento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10.3.2.1 Al recibir el foco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918451264"/>
                  </a:ext>
                </a:extLst>
              </a:tr>
              <a:tr h="156411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108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10.2.4.3 Orden del foco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10.3.2.2 Al recibir entradas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114319854"/>
                  </a:ext>
                </a:extLst>
              </a:tr>
              <a:tr h="178469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109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10.2.4.4 Propósito de los enlaces (en contexto)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10.3.3.1 Identificación de errores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758929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10.2.4.6 Encabezados y etiquetas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10.3.3.2 Etiquetas o instrucciones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342023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111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10.2.4.7 Foco visible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10.3.3.3 Sugerencias ante errores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624993886"/>
                  </a:ext>
                </a:extLst>
              </a:tr>
              <a:tr h="76601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112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10.2.5.1 Gestos con el puntero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10.3.3.4. Prevención de errores (legales, financieros, de datos)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55842728"/>
                  </a:ext>
                </a:extLst>
              </a:tr>
              <a:tr h="42645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113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10.2.5.2 Cancelación del puntero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10.4.1.1 Procesamiento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437703145"/>
                  </a:ext>
                </a:extLst>
              </a:tr>
              <a:tr h="153069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114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10.2.5.3 Inclusión de la etiqueta en el nombre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10.4.1.2 Nombre, función, valor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2946585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115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10.2.5.4 Activación mediante movimiento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10.4.1.3 Mensajes de estado</a:t>
                      </a: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4165042209"/>
                  </a:ext>
                </a:extLst>
              </a:tr>
              <a:tr h="201329">
                <a:tc>
                  <a:txBody>
                    <a:bodyPr/>
                    <a:lstStyle/>
                    <a:p>
                      <a:pPr algn="ctr" fontAlgn="t"/>
                      <a:r>
                        <a:rPr lang="es-E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116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18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10.3.1.1 Idioma de la página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t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1"/>
                      </a:endParaRPr>
                    </a:p>
                  </a:txBody>
                  <a:tcPr marL="7620" marR="7620" marT="7620" marB="0"/>
                </a:tc>
                <a:extLst>
                  <a:ext uri="{0D108BD9-81ED-4DB2-BD59-A6C34878D82A}">
                    <a16:rowId xmlns:a16="http://schemas.microsoft.com/office/drawing/2014/main" val="1003439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734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6. Requisitos sobre documentos no web</a:t>
            </a:r>
            <a:br>
              <a:rPr lang="es-ES" dirty="0"/>
            </a:br>
            <a:r>
              <a:rPr lang="es-ES" dirty="0"/>
              <a:t>Equivalencia con requisitos sobre páginas web</a:t>
            </a:r>
            <a:endParaRPr dirty="0"/>
          </a:p>
        </p:txBody>
      </p:sp>
      <p:sp>
        <p:nvSpPr>
          <p:cNvPr id="182" name="Google Shape;182;p3"/>
          <p:cNvSpPr txBox="1">
            <a:spLocks noGrp="1"/>
          </p:cNvSpPr>
          <p:nvPr>
            <p:ph type="body" idx="1"/>
          </p:nvPr>
        </p:nvSpPr>
        <p:spPr>
          <a:xfrm>
            <a:off x="527538" y="1491517"/>
            <a:ext cx="11025553" cy="469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ES" dirty="0"/>
              <a:t>Cada uno de los 45 requisitos sobre documentos no web del capítulo 10 de la norma, coincide con un requisito equivalente sobre páginas web del capítulo 9.</a:t>
            </a:r>
          </a:p>
          <a:p>
            <a:r>
              <a:rPr lang="es-ES" dirty="0"/>
              <a:t>Ni en el capítulo 9 ni en el 10 se describen los requisitos, sólo se incluye un enlace a la explicación sobre cada requisito en la recomendación WCAG 2.1.</a:t>
            </a:r>
          </a:p>
          <a:p>
            <a:pPr lvl="1"/>
            <a:r>
              <a:rPr lang="es-ES" dirty="0"/>
              <a:t>En su interpretación para el capítulo 10, donde se indica “página web” en WCAG, hay que entender que ahora se refiere a “documento no web”.</a:t>
            </a:r>
          </a:p>
          <a:p>
            <a:endParaRPr lang="es-ES"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6776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6. Requisitos sobre documentos no web</a:t>
            </a:r>
            <a:br>
              <a:rPr lang="es-ES" dirty="0"/>
            </a:br>
            <a:r>
              <a:rPr lang="es-ES" dirty="0"/>
              <a:t>Consejos para la revisión</a:t>
            </a:r>
            <a:endParaRPr dirty="0"/>
          </a:p>
        </p:txBody>
      </p:sp>
      <p:sp>
        <p:nvSpPr>
          <p:cNvPr id="182" name="Google Shape;182;p3"/>
          <p:cNvSpPr txBox="1">
            <a:spLocks noGrp="1"/>
          </p:cNvSpPr>
          <p:nvPr>
            <p:ph type="body" idx="1"/>
          </p:nvPr>
        </p:nvSpPr>
        <p:spPr>
          <a:xfrm>
            <a:off x="527538" y="1491517"/>
            <a:ext cx="11025553" cy="469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ES" dirty="0"/>
              <a:t>La mayoría de los requisitos sobre documentos no web se revisan de la misma forma que los requisitos equivalentes sobre páginas web.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  <p:graphicFrame>
        <p:nvGraphicFramePr>
          <p:cNvPr id="2" name="Tabla 2">
            <a:extLst>
              <a:ext uri="{FF2B5EF4-FFF2-40B4-BE49-F238E27FC236}">
                <a16:creationId xmlns:a16="http://schemas.microsoft.com/office/drawing/2014/main" id="{D88E8C05-EDD1-40EA-9BC5-864501021A53}"/>
              </a:ext>
            </a:extLst>
          </p:cNvPr>
          <p:cNvGraphicFramePr>
            <a:graphicFrameLocks noGrp="1"/>
          </p:cNvGraphicFramePr>
          <p:nvPr/>
        </p:nvGraphicFramePr>
        <p:xfrm>
          <a:off x="638909" y="2779419"/>
          <a:ext cx="10784406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2203">
                  <a:extLst>
                    <a:ext uri="{9D8B030D-6E8A-4147-A177-3AD203B41FA5}">
                      <a16:colId xmlns:a16="http://schemas.microsoft.com/office/drawing/2014/main" val="3655456497"/>
                    </a:ext>
                  </a:extLst>
                </a:gridCol>
                <a:gridCol w="5392203">
                  <a:extLst>
                    <a:ext uri="{9D8B030D-6E8A-4147-A177-3AD203B41FA5}">
                      <a16:colId xmlns:a16="http://schemas.microsoft.com/office/drawing/2014/main" val="3375759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Revisión de una página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Revisión de un documento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07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En algunos requisitos se usan herramientas de evaluación automática de páginas web (ej. WAVE)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 los requisitos equivalentes se puede usar (si existe) una herramienta de evaluación automática para el tipo de documento (ej. PAC para revisar un </a:t>
                      </a:r>
                      <a:r>
                        <a:rPr lang="es-ES" dirty="0" err="1"/>
                        <a:t>pdf</a:t>
                      </a:r>
                      <a:r>
                        <a:rPr lang="es-E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570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En muchos requisitos hay que usar un lector de pantalla (ej. NVDA).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 los requisitos equivalentes hay que usar también un lector de pantalla (ej. NVDA).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62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En algunos requisitos hay que usar una herramienta de evaluación de contraste de colores (ej. CCA).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En los requisitos equivalentes hay que usar también una herramienta de contras de colores (ej. CCA)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86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En algunos requisitos hay que usar un reproductor de vídeo y audio (ej. VLC).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En los requisitos equivalentes hay que usar también un reproductor de vídeo y audio (ej. VLC)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398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En muchos requisitos se realiza una comprobación manual o visual.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En los requisitos equivalentes también se realiza la misma comprobación manual o visual.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9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253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7. Requisitos sobre software</a:t>
            </a:r>
            <a:endParaRPr dirty="0"/>
          </a:p>
        </p:txBody>
      </p:sp>
      <p:sp>
        <p:nvSpPr>
          <p:cNvPr id="182" name="Google Shape;182;p3"/>
          <p:cNvSpPr txBox="1">
            <a:spLocks noGrp="1"/>
          </p:cNvSpPr>
          <p:nvPr>
            <p:ph type="body" idx="1"/>
          </p:nvPr>
        </p:nvSpPr>
        <p:spPr>
          <a:xfrm>
            <a:off x="527538" y="1491517"/>
            <a:ext cx="11025553" cy="469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ES"/>
              <a:t>En la categoría de requisitos sobre software de la norma UNE-EN 301549:2022 se encuentran requisitos sobre el contenido de páginas web que no están incluidos en la recomendación WCAG 2.1 y, por tanto, no aparecen en el capítulo 9.</a:t>
            </a:r>
            <a:endParaRPr lang="es-ES" dirty="0"/>
          </a:p>
          <a:p>
            <a:r>
              <a:rPr lang="es-ES" dirty="0"/>
              <a:t>Están descritos en el capítulo 11 de la norma UNE-EN 301549:2022.</a:t>
            </a:r>
          </a:p>
          <a:p>
            <a:r>
              <a:rPr lang="es-ES" dirty="0"/>
              <a:t>Son 6 requisitos, numerados de 127 a 132 en la tabla A.1 de la norma.</a:t>
            </a:r>
          </a:p>
          <a:p>
            <a:endParaRPr lang="es-ES"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614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7. Requisitos sobre software</a:t>
            </a:r>
            <a:br>
              <a:rPr lang="es-ES" dirty="0"/>
            </a:br>
            <a:r>
              <a:rPr lang="es-ES" dirty="0"/>
              <a:t>Lista de requisitos</a:t>
            </a:r>
            <a:endParaRPr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20</a:t>
            </a:fld>
            <a:endParaRPr/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1C6AEDA9-BF76-94A1-AEDE-C54435426F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7050" y="1492250"/>
          <a:ext cx="10927013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446">
                  <a:extLst>
                    <a:ext uri="{9D8B030D-6E8A-4147-A177-3AD203B41FA5}">
                      <a16:colId xmlns:a16="http://schemas.microsoft.com/office/drawing/2014/main" val="3865493427"/>
                    </a:ext>
                  </a:extLst>
                </a:gridCol>
                <a:gridCol w="9438567">
                  <a:extLst>
                    <a:ext uri="{9D8B030D-6E8A-4147-A177-3AD203B41FA5}">
                      <a16:colId xmlns:a16="http://schemas.microsoft.com/office/drawing/2014/main" val="328212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 err="1"/>
                        <a:t>Nº</a:t>
                      </a:r>
                      <a:endParaRPr lang="es-E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Requisito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16914"/>
                  </a:ext>
                </a:extLst>
              </a:tr>
              <a:tr h="230338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11.7 Preferencias de usuario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708567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11.8.1 Tecnología de gestión de contenidos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451264"/>
                  </a:ext>
                </a:extLst>
              </a:tr>
              <a:tr h="156411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11.8.2 Creación de contenidos accesibles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4319854"/>
                  </a:ext>
                </a:extLst>
              </a:tr>
              <a:tr h="178469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11.8.3 Preservación de la información de accesibilidad durante las transformaciones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929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11.8.4 Servicio de reparación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023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11.8.5 Plantillas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993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4286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8. Requisitos sobre documentación y servicios de apoyo</a:t>
            </a:r>
            <a:endParaRPr dirty="0"/>
          </a:p>
        </p:txBody>
      </p:sp>
      <p:sp>
        <p:nvSpPr>
          <p:cNvPr id="182" name="Google Shape;182;p3"/>
          <p:cNvSpPr txBox="1">
            <a:spLocks noGrp="1"/>
          </p:cNvSpPr>
          <p:nvPr>
            <p:ph type="body" idx="1"/>
          </p:nvPr>
        </p:nvSpPr>
        <p:spPr>
          <a:xfrm>
            <a:off x="527538" y="1491517"/>
            <a:ext cx="11025553" cy="4698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s-ES" dirty="0"/>
              <a:t>Son requisitos relacionados con la accesibilidad de la documentación sobre el uso del sitio web y de los servicios que ofrecen apoyo al usuario.</a:t>
            </a:r>
          </a:p>
          <a:p>
            <a:r>
              <a:rPr lang="es-ES" dirty="0"/>
              <a:t>Están descritos en el capítulo 12 de la norma UNE-EN 301549:2022.</a:t>
            </a:r>
          </a:p>
          <a:p>
            <a:r>
              <a:rPr lang="es-ES" dirty="0"/>
              <a:t>Son 5 requisitos, numerados de 133 a 137 en la tabla A.1 de la norma.</a:t>
            </a:r>
          </a:p>
          <a:p>
            <a:r>
              <a:rPr lang="es-ES" dirty="0"/>
              <a:t>Son requisitos incondicionales, el resultado no puede ser “No Aplicable”</a:t>
            </a:r>
          </a:p>
          <a:p>
            <a:r>
              <a:rPr lang="es-ES" dirty="0"/>
              <a:t>Son requisitos globales, que no se revisan para cada página web de la muestra, sino para todo el sitio web.</a:t>
            </a:r>
          </a:p>
          <a:p>
            <a:endParaRPr lang="es-ES"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9792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rgbClr val="8EC5F7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354013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dirty="0"/>
              <a:t>8. Requisitos sobre documentación y servicios de apoyo</a:t>
            </a:r>
            <a:br>
              <a:rPr lang="es-ES" dirty="0"/>
            </a:br>
            <a:r>
              <a:rPr lang="es-ES" dirty="0"/>
              <a:t>Lista de requisitos</a:t>
            </a:r>
            <a:endParaRPr dirty="0"/>
          </a:p>
        </p:txBody>
      </p:sp>
      <p:sp>
        <p:nvSpPr>
          <p:cNvPr id="183" name="Google Shape;183;p3"/>
          <p:cNvSpPr txBox="1">
            <a:spLocks noGrp="1"/>
          </p:cNvSpPr>
          <p:nvPr>
            <p:ph type="sldNum" idx="12"/>
          </p:nvPr>
        </p:nvSpPr>
        <p:spPr>
          <a:xfrm>
            <a:off x="922606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  <p:graphicFrame>
        <p:nvGraphicFramePr>
          <p:cNvPr id="8" name="Tabla 8">
            <a:extLst>
              <a:ext uri="{FF2B5EF4-FFF2-40B4-BE49-F238E27FC236}">
                <a16:creationId xmlns:a16="http://schemas.microsoft.com/office/drawing/2014/main" id="{1C6AEDA9-BF76-94A1-AEDE-C54435426F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7050" y="1492250"/>
          <a:ext cx="1092701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446">
                  <a:extLst>
                    <a:ext uri="{9D8B030D-6E8A-4147-A177-3AD203B41FA5}">
                      <a16:colId xmlns:a16="http://schemas.microsoft.com/office/drawing/2014/main" val="3865493427"/>
                    </a:ext>
                  </a:extLst>
                </a:gridCol>
                <a:gridCol w="9438567">
                  <a:extLst>
                    <a:ext uri="{9D8B030D-6E8A-4147-A177-3AD203B41FA5}">
                      <a16:colId xmlns:a16="http://schemas.microsoft.com/office/drawing/2014/main" val="328212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 err="1"/>
                        <a:t>Nº</a:t>
                      </a:r>
                      <a:endParaRPr lang="es-E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Requisito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716914"/>
                  </a:ext>
                </a:extLst>
              </a:tr>
              <a:tr h="230338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12.1.1 Características de accesibilidad y compatibilidad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708567"/>
                  </a:ext>
                </a:extLst>
              </a:tr>
              <a:tr h="217838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12.1.2 Documentación accesible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451264"/>
                  </a:ext>
                </a:extLst>
              </a:tr>
              <a:tr h="156411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12.2.2 Información sobre las características de accesibilidad y compatibilidad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319854"/>
                  </a:ext>
                </a:extLst>
              </a:tr>
              <a:tr h="178469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12.2.3 Comunicación efectiva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929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1"/>
                        </a:rPr>
                        <a:t>12.2.4 Documentación accesible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23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073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9. Conclusiones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>
          <a:xfrm>
            <a:off x="527538" y="1491516"/>
            <a:ext cx="11025553" cy="5229959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Para determinar la accesibilidad de un sitio web se deben revisar los 137 requisitos establecidos en la tabla A.1 de la norma UNE-EN 301549:2022</a:t>
            </a:r>
          </a:p>
          <a:p>
            <a:r>
              <a:rPr lang="es-ES" dirty="0"/>
              <a:t>Los 137 requisitos se organizan en siete categorías. </a:t>
            </a:r>
          </a:p>
          <a:p>
            <a:pPr lvl="1"/>
            <a:r>
              <a:rPr lang="es-ES" dirty="0"/>
              <a:t>Genéricos</a:t>
            </a:r>
          </a:p>
          <a:p>
            <a:pPr lvl="1"/>
            <a:r>
              <a:rPr lang="es-ES" dirty="0"/>
              <a:t>Comunicación bidireccional</a:t>
            </a:r>
          </a:p>
          <a:p>
            <a:pPr lvl="1"/>
            <a:r>
              <a:rPr lang="es-ES" dirty="0"/>
              <a:t>Capacidades de vídeo</a:t>
            </a:r>
          </a:p>
          <a:p>
            <a:pPr lvl="1"/>
            <a:r>
              <a:rPr lang="es-ES" dirty="0"/>
              <a:t>Páginas web</a:t>
            </a:r>
          </a:p>
          <a:p>
            <a:pPr lvl="1"/>
            <a:r>
              <a:rPr lang="es-ES" dirty="0"/>
              <a:t>Documentos no web</a:t>
            </a:r>
          </a:p>
          <a:p>
            <a:pPr lvl="1"/>
            <a:r>
              <a:rPr lang="es-ES" dirty="0"/>
              <a:t>Software </a:t>
            </a:r>
          </a:p>
          <a:p>
            <a:pPr lvl="1"/>
            <a:r>
              <a:rPr lang="es-ES" dirty="0"/>
              <a:t>Documentación y servicios de apoyo (incondicionales)</a:t>
            </a:r>
          </a:p>
          <a:p>
            <a:r>
              <a:rPr lang="es-ES" dirty="0"/>
              <a:t>Para  que un sitio web sea accesible, debe cumplir todos los requisitos que sean aplicables.</a:t>
            </a:r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00CC4-AA0F-4E2E-A7D9-25BF1D2A8A65}" type="slidenum">
              <a:rPr lang="es-ES" smtClean="0"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01666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9537</TotalTime>
  <Words>2268</Words>
  <Application>Microsoft Office PowerPoint</Application>
  <PresentationFormat>Panorámica</PresentationFormat>
  <Paragraphs>428</Paragraphs>
  <Slides>23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Arial</vt:lpstr>
      <vt:lpstr>Arial1</vt:lpstr>
      <vt:lpstr>Calibri</vt:lpstr>
      <vt:lpstr>Calibri Light</vt:lpstr>
      <vt:lpstr>Courier New</vt:lpstr>
      <vt:lpstr>Wingdings</vt:lpstr>
      <vt:lpstr>Tema de Office</vt:lpstr>
      <vt:lpstr>Diseño personalizado</vt:lpstr>
      <vt:lpstr> Requisitos de accesibilidad a revisar</vt:lpstr>
      <vt:lpstr>Contenidos</vt:lpstr>
      <vt:lpstr>1. Introducción</vt:lpstr>
      <vt:lpstr>1. Introducción Revisión</vt:lpstr>
      <vt:lpstr>2. Requisitos genéricos</vt:lpstr>
      <vt:lpstr>2. Requisitos genéricos Lista de requisitos</vt:lpstr>
      <vt:lpstr>3. Requisitos sobre comunicación bidireccional por voz</vt:lpstr>
      <vt:lpstr>3. Requisitos sobre comunicación bidireccional por voz  Lista de requisitos</vt:lpstr>
      <vt:lpstr>4. Requisitos sobre capacidades de vídeo</vt:lpstr>
      <vt:lpstr>4. Requisitos sobre capacidades de vídeo Lista de requisitos</vt:lpstr>
      <vt:lpstr>5. Requisitos sobre páginas web</vt:lpstr>
      <vt:lpstr>5. Requisitos sobre páginas web Lista de requisitos (1)</vt:lpstr>
      <vt:lpstr>5. Requisitos sobre páginas web Lista de requisitos (2)</vt:lpstr>
      <vt:lpstr>6. Requisitos sobre documentos no web</vt:lpstr>
      <vt:lpstr>6. Requisitos sobre documentos no web Lista de requisitos (1)</vt:lpstr>
      <vt:lpstr>6. Requisitos sobre documentos no web  Lista de requisitos (2)</vt:lpstr>
      <vt:lpstr>6. Requisitos sobre documentos no web Equivalencia con requisitos sobre páginas web</vt:lpstr>
      <vt:lpstr>6. Requisitos sobre documentos no web Consejos para la revisión</vt:lpstr>
      <vt:lpstr>7. Requisitos sobre software</vt:lpstr>
      <vt:lpstr>7. Requisitos sobre software Lista de requisitos</vt:lpstr>
      <vt:lpstr>8. Requisitos sobre documentación y servicios de apoyo</vt:lpstr>
      <vt:lpstr>8. Requisitos sobre documentación y servicios de apoyo Lista de requisitos</vt:lpstr>
      <vt:lpstr>9.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Requisitos a revisar</dc:title>
  <dc:creator>Hilera González José Ramón</dc:creator>
  <cp:lastModifiedBy>jose hilera</cp:lastModifiedBy>
  <cp:revision>606</cp:revision>
  <dcterms:created xsi:type="dcterms:W3CDTF">2016-04-13T08:22:41Z</dcterms:created>
  <dcterms:modified xsi:type="dcterms:W3CDTF">2025-11-13T07:33:00Z</dcterms:modified>
</cp:coreProperties>
</file>