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12"/>
  </p:notesMasterIdLst>
  <p:sldIdLst>
    <p:sldId id="314" r:id="rId3"/>
    <p:sldId id="439" r:id="rId4"/>
    <p:sldId id="391" r:id="rId5"/>
    <p:sldId id="458" r:id="rId6"/>
    <p:sldId id="457" r:id="rId7"/>
    <p:sldId id="506" r:id="rId8"/>
    <p:sldId id="507" r:id="rId9"/>
    <p:sldId id="459" r:id="rId10"/>
    <p:sldId id="452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93681" autoAdjust="0"/>
  </p:normalViewPr>
  <p:slideViewPr>
    <p:cSldViewPr snapToGrid="0">
      <p:cViewPr varScale="1">
        <p:scale>
          <a:sx n="68" d="100"/>
          <a:sy n="68" d="100"/>
        </p:scale>
        <p:origin x="494" y="7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FEF4D-0142-46B4-AC7F-5B868160AD8E}" type="datetimeFigureOut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8CBC7-3B2B-4C22-92A9-AEE2213136A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7725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651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1582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ECE8-2C61-72EB-2D03-031B04E3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FEA78A-675D-A6A3-FF33-0BA6AF962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F846AD-47C6-ED44-39C6-2811160FC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BC2000-4D1D-003B-24AC-A5D6D0AFD5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0001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3828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F791-15D5-6D76-F455-69FB4536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9C1695-627C-ABA5-EF80-1B312B19F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1FEFE8-C549-C2D4-6B8F-D1C3EB391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1E3A9A-2A5A-CF16-9A75-0F88FCE2C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4556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8315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0323" y="2854692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7"/>
            <a:ext cx="9161585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354013" indent="0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151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C9D08-3C16-416B-B8F9-4D4A629F38C9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194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E605-5CBB-40FE-87B4-05B62A5CAB7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814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6281-1CDF-413F-B502-D8EF9109D251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6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6C39-2265-4ECA-84D0-AFE501AC4C1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03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D3683-7933-4D92-B730-4B8490CCDF4B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513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D45B-6432-4BD4-BB2B-6E8E1493A879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9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BFDE-1D6E-4E03-A53A-F1B29D2D0A86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34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43F0-BAC6-4443-92A3-9EA2CC19B9B7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9388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33C-AB28-4AC7-B7B0-41DFBCF1B247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1380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34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22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35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586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6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98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70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879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848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488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31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46C39-2265-4ECA-84D0-AFE501AC4C1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557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1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h.es/es/estudios/profesor/Jose-Ramon-Hilera-Gonzale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creativecommons.org/licenses/by-sa/4.0/" TargetMode="External"/><Relationship Id="rId4" Type="http://schemas.openxmlformats.org/officeDocument/2006/relationships/hyperlink" Target="https://twitter.com/software_a11y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e.es/eli/es/rdlg/2013/11/29/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e.es/diario_boe/txt.php?id=BOE-A-2018-1269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bancomundial.org/es/topic/disabilit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dministracionelectronica.gob.es/pae_Home/pae_Estrategias/pae_Accesibilidad/pae_documentacion/pae_eInclusion_Accesibilidad_de_apps.html#.XZcIgWZS9ZU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WO5N3n1DXU?si=cPDIbxAdQX4hPiAd" TargetMode="External"/><Relationship Id="rId2" Type="http://schemas.openxmlformats.org/officeDocument/2006/relationships/hyperlink" Target="https://youtu.be/UIpyMFcCdpA?si=98evHbBZlcus-9i0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youtu.be/apEz73_H2fU?si=1w4pwZKNCzLbtP3f" TargetMode="External"/><Relationship Id="rId4" Type="http://schemas.openxmlformats.org/officeDocument/2006/relationships/hyperlink" Target="https://youtu.be/UQIZme1P6Tw?si=qLdKywHSGbb5Vc7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ur-lex.europa.eu/legal-content/es/ALL/?uri=CELEX:32016L210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boe.es/buscar/act.php?id=BOE-A-2018-1269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Accesibilidad de sitios web </a:t>
            </a:r>
            <a:br>
              <a:rPr lang="es-ES" dirty="0"/>
            </a:br>
            <a:r>
              <a:rPr lang="es-ES" dirty="0"/>
              <a:t>y de aplicaciones móviles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703385" y="4210492"/>
            <a:ext cx="11087100" cy="1908953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								</a:t>
            </a:r>
            <a:r>
              <a:rPr lang="en-US" b="1" dirty="0">
                <a:hlinkClick r:id="rId3"/>
              </a:rPr>
              <a:t>José Ramón Hilera González</a:t>
            </a:r>
            <a:br>
              <a:rPr lang="en-US" b="1" dirty="0"/>
            </a:br>
            <a:r>
              <a:rPr lang="en-US" sz="2000" dirty="0"/>
              <a:t>jose.hilera@uah.es</a:t>
            </a:r>
            <a:br>
              <a:rPr lang="en-US" sz="2000" b="1" dirty="0"/>
            </a:br>
            <a:r>
              <a:rPr lang="en-US" sz="2000" dirty="0">
                <a:hlinkClick r:id="rId4"/>
              </a:rPr>
              <a:t>@software_a11y</a:t>
            </a:r>
            <a:endParaRPr lang="en-US" sz="2000" dirty="0"/>
          </a:p>
          <a:p>
            <a:pPr algn="r"/>
            <a:endParaRPr lang="en-US" b="1" i="1" dirty="0"/>
          </a:p>
          <a:p>
            <a:pPr algn="r"/>
            <a:endParaRPr lang="es-ES" i="1" dirty="0"/>
          </a:p>
          <a:p>
            <a:endParaRPr lang="es-ES" dirty="0"/>
          </a:p>
        </p:txBody>
      </p:sp>
      <p:pic>
        <p:nvPicPr>
          <p:cNvPr id="7" name="Imagen 6" descr="Licencia CC BY-SA">
            <a:hlinkClick r:id="rId5"/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17" y="5972364"/>
            <a:ext cx="1658180" cy="584132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73813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78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6"/>
            <a:ext cx="9161585" cy="628088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Definición</a:t>
            </a:r>
            <a:r>
              <a:rPr lang="en-US" dirty="0"/>
              <a:t> de accesibilidad universal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Definición de sitio web/aplicación móvil accesible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Usuarios con discapacidad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Accesibilidad de sitios web y de aplicaciones móviles de las Administraciones Públicas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Reflexiones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123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Definición de accesibilidad universal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527539" y="1491517"/>
            <a:ext cx="7632488" cy="4698268"/>
          </a:xfrm>
        </p:spPr>
        <p:txBody>
          <a:bodyPr>
            <a:normAutofit fontScale="85000" lnSpcReduction="10000"/>
          </a:bodyPr>
          <a:lstStyle/>
          <a:p>
            <a:r>
              <a:rPr lang="es-ES" b="1" dirty="0"/>
              <a:t>Accesibilidad universal</a:t>
            </a:r>
            <a:r>
              <a:rPr lang="es-ES" dirty="0"/>
              <a:t>: Condición que deben cumplir los entornos, procesos, bienes, </a:t>
            </a:r>
            <a:r>
              <a:rPr lang="es-ES" b="1" dirty="0"/>
              <a:t>productos</a:t>
            </a:r>
            <a:r>
              <a:rPr lang="es-ES" dirty="0"/>
              <a:t> y </a:t>
            </a:r>
            <a:r>
              <a:rPr lang="es-ES" b="1" dirty="0"/>
              <a:t>servicios</a:t>
            </a:r>
            <a:r>
              <a:rPr lang="es-ES" dirty="0"/>
              <a:t>, así como los objetos, instrumentos, herramientas y dispositivos, para ser </a:t>
            </a:r>
            <a:r>
              <a:rPr lang="es-ES" b="1" dirty="0"/>
              <a:t>comprensibles</a:t>
            </a:r>
            <a:r>
              <a:rPr lang="es-ES" dirty="0"/>
              <a:t>, </a:t>
            </a:r>
            <a:r>
              <a:rPr lang="es-ES" b="1" dirty="0"/>
              <a:t>utilizables</a:t>
            </a:r>
            <a:r>
              <a:rPr lang="es-ES" dirty="0"/>
              <a:t> y practicables por </a:t>
            </a:r>
            <a:r>
              <a:rPr lang="es-ES" b="1" dirty="0"/>
              <a:t>todas las personas </a:t>
            </a:r>
            <a:r>
              <a:rPr lang="es-ES" dirty="0"/>
              <a:t>en condiciones de seguridad y comodidad y de la forma más autónoma y natural posible. </a:t>
            </a:r>
          </a:p>
          <a:p>
            <a:pPr lvl="1"/>
            <a:r>
              <a:rPr lang="es-ES" dirty="0"/>
              <a:t>Ley General de derechos de las personas con discapacidad y de su inclusión social (</a:t>
            </a:r>
            <a:r>
              <a:rPr lang="es-ES" dirty="0">
                <a:hlinkClick r:id="rId3"/>
              </a:rPr>
              <a:t>LGDPDIS</a:t>
            </a:r>
            <a:r>
              <a:rPr lang="es-ES" dirty="0"/>
              <a:t>)</a:t>
            </a:r>
          </a:p>
          <a:p>
            <a:r>
              <a:rPr lang="es-ES" dirty="0"/>
              <a:t>Los </a:t>
            </a:r>
            <a:r>
              <a:rPr lang="es-ES" b="1" dirty="0"/>
              <a:t>sitios web </a:t>
            </a:r>
            <a:r>
              <a:rPr lang="es-ES" dirty="0"/>
              <a:t>y las </a:t>
            </a:r>
            <a:r>
              <a:rPr lang="es-ES" b="1" dirty="0"/>
              <a:t>aplicaciones móviles </a:t>
            </a:r>
            <a:r>
              <a:rPr lang="es-ES" dirty="0"/>
              <a:t>pueden considerarse productos (software) y también servicios</a:t>
            </a:r>
          </a:p>
          <a:p>
            <a:pPr marL="0" indent="0">
              <a:buNone/>
            </a:pPr>
            <a:endParaRPr lang="es-ES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3</a:t>
            </a:fld>
            <a:endParaRPr lang="es-ES" dirty="0"/>
          </a:p>
        </p:txBody>
      </p:sp>
      <p:pic>
        <p:nvPicPr>
          <p:cNvPr id="3" name="Imagen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007" y="2322266"/>
            <a:ext cx="4008120" cy="2498211"/>
          </a:xfrm>
          <a:prstGeom prst="rect">
            <a:avLst/>
          </a:prstGeom>
        </p:spPr>
      </p:pic>
      <p:sp>
        <p:nvSpPr>
          <p:cNvPr id="7" name="CuadroTexto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226061" y="4820477"/>
            <a:ext cx="2431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Logotipo de accesibilidad de la ONU</a:t>
            </a:r>
          </a:p>
        </p:txBody>
      </p:sp>
    </p:spTree>
    <p:extLst>
      <p:ext uri="{BB962C8B-B14F-4D97-AF65-F5344CB8AC3E}">
        <p14:creationId xmlns:p14="http://schemas.microsoft.com/office/powerpoint/2010/main" val="410548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1109-0C06-ADED-B589-F32DC3A8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CF0813B-E797-9F10-5767-F9B9B301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2. Definición de sitio web/app móvil accesible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05B259-8EED-9E67-7594-6ACAFDBF3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1491517"/>
            <a:ext cx="7940601" cy="4698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Sitios web accesibles y apps accesibles</a:t>
            </a:r>
            <a:r>
              <a:rPr lang="es-ES" dirty="0"/>
              <a:t>: </a:t>
            </a:r>
          </a:p>
          <a:p>
            <a:r>
              <a:rPr lang="es-ES" dirty="0"/>
              <a:t>Son aquellos sitios web y aplicaciones móviles que, al ser diseñados, construidos, mantenidos y actualizados, se respetan principios y se aplican técnicas para garantizar la igualdad y la </a:t>
            </a:r>
            <a:r>
              <a:rPr lang="es-ES" b="1" dirty="0"/>
              <a:t>no discriminación </a:t>
            </a:r>
            <a:r>
              <a:rPr lang="es-ES" dirty="0"/>
              <a:t>en el acceso de las personas usuarias, en particular de las </a:t>
            </a:r>
            <a:r>
              <a:rPr lang="es-ES" b="1" dirty="0"/>
              <a:t>personas con discapacidad</a:t>
            </a:r>
            <a:r>
              <a:rPr lang="es-ES" dirty="0"/>
              <a:t> y de las </a:t>
            </a:r>
            <a:r>
              <a:rPr lang="es-ES" b="1" dirty="0"/>
              <a:t>personas mayores </a:t>
            </a:r>
            <a:r>
              <a:rPr lang="es-ES" dirty="0"/>
              <a:t>(</a:t>
            </a:r>
            <a:r>
              <a:rPr lang="es-ES" dirty="0">
                <a:hlinkClick r:id="rId3"/>
              </a:rPr>
              <a:t>RD 1112</a:t>
            </a:r>
            <a:r>
              <a:rPr lang="es-ES" dirty="0"/>
              <a:t>)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98DCC0-D5FA-13A5-E078-E63FBA78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4</a:t>
            </a:fld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103ECA-4991-2192-AB51-214033CC8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085" y="1707051"/>
            <a:ext cx="28575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Usuarios con discapacidad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82430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Unos 1000 millones de habitantes, el 15 % de la población del mundo, experimentan algún tipo de discapacidad.</a:t>
            </a:r>
          </a:p>
        </p:txBody>
      </p:sp>
      <p:pic>
        <p:nvPicPr>
          <p:cNvPr id="2" name="Imagen 1" descr="Página web del Banco Mund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81" y="2563599"/>
            <a:ext cx="7946749" cy="4157876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5</a:t>
            </a:fld>
            <a:endParaRPr lang="es-ES" dirty="0"/>
          </a:p>
        </p:txBody>
      </p:sp>
      <p:sp>
        <p:nvSpPr>
          <p:cNvPr id="10" name="CuadroTexto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710530" y="6356350"/>
            <a:ext cx="1629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Fuente: </a:t>
            </a:r>
            <a:r>
              <a:rPr lang="es-ES" sz="1200" dirty="0">
                <a:hlinkClick r:id="rId4"/>
              </a:rPr>
              <a:t>Banco Mundial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35095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Usuarios con discapacidad</a:t>
            </a:r>
            <a:br>
              <a:rPr lang="es-ES" dirty="0"/>
            </a:br>
            <a:r>
              <a:rPr lang="es-ES" dirty="0"/>
              <a:t>Tipos de discapacidad</a:t>
            </a:r>
          </a:p>
        </p:txBody>
      </p:sp>
      <p:pic>
        <p:nvPicPr>
          <p:cNvPr id="11" name="Marcador de contenido 10" title="&quot;&quot;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3669" y="1679715"/>
            <a:ext cx="9335020" cy="489999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61085" y="6525612"/>
            <a:ext cx="39138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Fuente: </a:t>
            </a:r>
            <a:r>
              <a:rPr lang="es-E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Guía de accesibilidad de aplicación móviles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886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5E08D-762A-5E48-A6CC-11D68C59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Usuarios con discapacidad</a:t>
            </a:r>
            <a:br>
              <a:rPr lang="es-ES" dirty="0"/>
            </a:br>
            <a:r>
              <a:rPr lang="es-ES" dirty="0"/>
              <a:t>Ejemplos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E76593-9AE0-2615-920A-C856AC67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hlinkClick r:id="rId2"/>
              </a:rPr>
              <a:t>Usuaria con discapacidad visual</a:t>
            </a:r>
            <a:endParaRPr lang="es-ES" dirty="0"/>
          </a:p>
          <a:p>
            <a:r>
              <a:rPr lang="es-ES" dirty="0">
                <a:hlinkClick r:id="rId3"/>
              </a:rPr>
              <a:t>Usuario con discapacidad auditiva</a:t>
            </a:r>
            <a:endParaRPr lang="es-ES" dirty="0"/>
          </a:p>
          <a:p>
            <a:r>
              <a:rPr lang="es-ES" dirty="0">
                <a:hlinkClick r:id="rId4"/>
              </a:rPr>
              <a:t>Usuarios con discapacidad motora utilizando pulsador</a:t>
            </a:r>
            <a:r>
              <a:rPr lang="es-ES" dirty="0"/>
              <a:t> </a:t>
            </a:r>
          </a:p>
          <a:p>
            <a:r>
              <a:rPr lang="es-ES" dirty="0">
                <a:hlinkClick r:id="rId5"/>
              </a:rPr>
              <a:t>Usuarios con discapacidad motora utilizando control por voz</a:t>
            </a:r>
            <a:r>
              <a:rPr lang="es-ES" dirty="0"/>
              <a:t> 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BDD9EB-CA6F-CD48-5B7E-4595950D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130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E8AD-2736-E158-53BC-701BA8AB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E7B2285-D9B1-4CFB-9F10-C02AB32F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Accesibilidad de sitios web y de aplicaciones móviles de las Administraciones Públicas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87B3D3-BF4A-FEA5-6A40-C82BB0D0C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1491517"/>
            <a:ext cx="11043573" cy="5229958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En España y en la Unión Europea, los sitios web y las aplicaciones móviles de las Administraciones Públicas deben cumplir la “</a:t>
            </a:r>
            <a:r>
              <a:rPr lang="es-ES" b="1" dirty="0">
                <a:hlinkClick r:id="rId3"/>
              </a:rPr>
              <a:t>Directiva (UE) 2016/2102</a:t>
            </a:r>
            <a:r>
              <a:rPr lang="es-ES" dirty="0"/>
              <a:t>, del Parlamento Europeo y del Consejo, de 26 de octubre de 2016, sobre la accesibilidad de los sitios web y aplicaciones para dispositivos móviles de los organismos del sector público”</a:t>
            </a:r>
            <a:r>
              <a:rPr lang="es-ES" i="1" dirty="0"/>
              <a:t> </a:t>
            </a:r>
          </a:p>
          <a:p>
            <a:pPr lvl="1"/>
            <a:r>
              <a:rPr lang="es-ES" dirty="0"/>
              <a:t>Transpuesta en España al ordenamiento jurídico como </a:t>
            </a:r>
            <a:r>
              <a:rPr lang="es-ES" b="1" dirty="0">
                <a:hlinkClick r:id="rId4"/>
              </a:rPr>
              <a:t>Real Decreto 1112/2018</a:t>
            </a:r>
            <a:endParaRPr lang="es-ES" b="1" dirty="0"/>
          </a:p>
          <a:p>
            <a:r>
              <a:rPr lang="es-ES" dirty="0"/>
              <a:t>El objetivo es asegurar que los </a:t>
            </a:r>
            <a:r>
              <a:rPr lang="es-ES" b="1" dirty="0"/>
              <a:t>ciudadanos se beneficien</a:t>
            </a:r>
            <a:r>
              <a:rPr lang="es-ES" dirty="0"/>
              <a:t> de un acceso más amplio a los </a:t>
            </a:r>
            <a:r>
              <a:rPr lang="es-ES" b="1" dirty="0"/>
              <a:t>servicios del sector público</a:t>
            </a:r>
            <a:r>
              <a:rPr lang="es-ES" dirty="0"/>
              <a:t> mediante sitios web y aplicaciones para dispositivos móviles</a:t>
            </a:r>
          </a:p>
          <a:p>
            <a:r>
              <a:rPr lang="es-ES" dirty="0"/>
              <a:t>La Directiva establece unos </a:t>
            </a:r>
            <a:r>
              <a:rPr lang="es-ES" b="1" dirty="0"/>
              <a:t>requisitos mínimos de accesibilidad obligatorios </a:t>
            </a:r>
            <a:r>
              <a:rPr lang="es-ES" dirty="0"/>
              <a:t>e impone la elaboración, actualización periódica y publicación de una </a:t>
            </a:r>
            <a:r>
              <a:rPr lang="es-ES" b="1" dirty="0"/>
              <a:t>declaración de accesibilidad </a:t>
            </a:r>
            <a:r>
              <a:rPr lang="es-ES" dirty="0"/>
              <a:t>sobre la conformidad de sus sitios web y aplicaciones para dispositivos móviles con los requisitos mínimos de accesibilidad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D9BC10-8A6A-14C3-F15B-372E2162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085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Reflexiones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2963143"/>
          </a:xfrm>
        </p:spPr>
        <p:txBody>
          <a:bodyPr>
            <a:normAutofit/>
          </a:bodyPr>
          <a:lstStyle/>
          <a:p>
            <a:r>
              <a:rPr lang="es-ES" dirty="0"/>
              <a:t>La accesibilidad de los sitios web no es una elección del desarrollador, es una obligación ética, pero también una obligación legal</a:t>
            </a:r>
          </a:p>
          <a:p>
            <a:r>
              <a:rPr lang="es-ES" dirty="0"/>
              <a:t>Los sitios web accesibles benefician a los usuarios con discapacidad, pero también pueden beneficiar a cualquier usuario en muchas situaciones (deslumbramiento, ruido, accidente, ..)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9</a:t>
            </a:fld>
            <a:endParaRPr lang="es-ES" dirty="0"/>
          </a:p>
        </p:txBody>
      </p:sp>
      <p:pic>
        <p:nvPicPr>
          <p:cNvPr id="5" name="Imagen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270" y="4762437"/>
            <a:ext cx="2663688" cy="1776475"/>
          </a:xfrm>
          <a:prstGeom prst="rect">
            <a:avLst/>
          </a:prstGeom>
        </p:spPr>
      </p:pic>
      <p:pic>
        <p:nvPicPr>
          <p:cNvPr id="6" name="Imagen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492" y="4811335"/>
            <a:ext cx="2983016" cy="1678677"/>
          </a:xfrm>
          <a:prstGeom prst="rect">
            <a:avLst/>
          </a:prstGeom>
        </p:spPr>
      </p:pic>
      <p:sp>
        <p:nvSpPr>
          <p:cNvPr id="7" name="CuadroTexto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604492" y="6538912"/>
            <a:ext cx="1595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ES" sz="1200" dirty="0" err="1"/>
              <a:t>Messicanbeer</a:t>
            </a:r>
            <a:endParaRPr lang="es-ES" sz="1200" dirty="0"/>
          </a:p>
        </p:txBody>
      </p:sp>
      <p:sp>
        <p:nvSpPr>
          <p:cNvPr id="8" name="CuadroTexto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99059" y="6538911"/>
            <a:ext cx="1720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</a:t>
            </a:r>
            <a:r>
              <a:rPr lang="es-ES" sz="1200" dirty="0" err="1"/>
              <a:t>lightfieldstudios</a:t>
            </a:r>
            <a:endParaRPr lang="es-ES" sz="1200" dirty="0"/>
          </a:p>
        </p:txBody>
      </p:sp>
      <p:pic>
        <p:nvPicPr>
          <p:cNvPr id="9" name="Imagen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54" y="5043868"/>
            <a:ext cx="2570922" cy="1446144"/>
          </a:xfrm>
          <a:prstGeom prst="rect">
            <a:avLst/>
          </a:prstGeom>
        </p:spPr>
      </p:pic>
      <p:sp>
        <p:nvSpPr>
          <p:cNvPr id="10" name="CuadroTexto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90649" y="6490012"/>
            <a:ext cx="1856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Imagen: conexionmas.com</a:t>
            </a:r>
          </a:p>
        </p:txBody>
      </p:sp>
    </p:spTree>
    <p:extLst>
      <p:ext uri="{BB962C8B-B14F-4D97-AF65-F5344CB8AC3E}">
        <p14:creationId xmlns:p14="http://schemas.microsoft.com/office/powerpoint/2010/main" val="2425093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4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8054</TotalTime>
  <Words>552</Words>
  <Application>Microsoft Office PowerPoint</Application>
  <PresentationFormat>Panorámica</PresentationFormat>
  <Paragraphs>55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Wingdings</vt:lpstr>
      <vt:lpstr>Tema de Office</vt:lpstr>
      <vt:lpstr>Diseño personalizado</vt:lpstr>
      <vt:lpstr>Accesibilidad de sitios web  y de aplicaciones móviles</vt:lpstr>
      <vt:lpstr>Contenidos</vt:lpstr>
      <vt:lpstr>1. Definición de accesibilidad universal</vt:lpstr>
      <vt:lpstr>2. Definición de sitio web/app móvil accesible</vt:lpstr>
      <vt:lpstr>3. Usuarios con discapacidad</vt:lpstr>
      <vt:lpstr>3. Usuarios con discapacidad Tipos de discapacidad</vt:lpstr>
      <vt:lpstr>3. Usuarios con discapacidad Ejemplos</vt:lpstr>
      <vt:lpstr>4. Accesibilidad de sitios web y de aplicaciones móviles de las Administraciones Públicas</vt:lpstr>
      <vt:lpstr>5. Reflexiones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Accesibilidad de sitios web y aplicaciones móviles</dc:title>
  <dc:creator>Hilera González José Ramón</dc:creator>
  <cp:lastModifiedBy>jose hilera</cp:lastModifiedBy>
  <cp:revision>507</cp:revision>
  <cp:lastPrinted>2020-04-11T11:36:40Z</cp:lastPrinted>
  <dcterms:created xsi:type="dcterms:W3CDTF">2016-04-13T08:22:41Z</dcterms:created>
  <dcterms:modified xsi:type="dcterms:W3CDTF">2025-11-12T19:21:42Z</dcterms:modified>
</cp:coreProperties>
</file>