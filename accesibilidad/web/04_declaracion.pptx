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13"/>
  </p:notesMasterIdLst>
  <p:sldIdLst>
    <p:sldId id="500" r:id="rId3"/>
    <p:sldId id="501" r:id="rId4"/>
    <p:sldId id="583" r:id="rId5"/>
    <p:sldId id="545" r:id="rId6"/>
    <p:sldId id="590" r:id="rId7"/>
    <p:sldId id="591" r:id="rId8"/>
    <p:sldId id="592" r:id="rId9"/>
    <p:sldId id="549" r:id="rId10"/>
    <p:sldId id="544" r:id="rId11"/>
    <p:sldId id="584" r:id="rId1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79" autoAdjust="0"/>
    <p:restoredTop sz="95226" autoAdjust="0"/>
  </p:normalViewPr>
  <p:slideViewPr>
    <p:cSldViewPr snapToGrid="0">
      <p:cViewPr varScale="1">
        <p:scale>
          <a:sx n="69" d="100"/>
          <a:sy n="69" d="100"/>
        </p:scale>
        <p:origin x="173" y="58"/>
      </p:cViewPr>
      <p:guideLst/>
    </p:cSldViewPr>
  </p:slideViewPr>
  <p:outlineViewPr>
    <p:cViewPr>
      <p:scale>
        <a:sx n="33" d="100"/>
        <a:sy n="33" d="100"/>
      </p:scale>
      <p:origin x="0" y="-2064"/>
    </p:cViewPr>
  </p:outlin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FEF4D-0142-46B4-AC7F-5B868160AD8E}" type="datetimeFigureOut">
              <a:rPr lang="es-ES" smtClean="0"/>
              <a:t>12/11/2025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8CBC7-3B2B-4C22-92A9-AEE2213136AA}" type="slidenum">
              <a:rPr lang="es-ES" smtClean="0"/>
              <a:t>‹Nº›</a:t>
            </a:fld>
            <a:endParaRPr lang="es-ES" dirty="0"/>
          </a:p>
        </p:txBody>
      </p:sp>
    </p:spTree>
    <p:extLst>
      <p:ext uri="{BB962C8B-B14F-4D97-AF65-F5344CB8AC3E}">
        <p14:creationId xmlns:p14="http://schemas.microsoft.com/office/powerpoint/2010/main" val="316109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a:t>
            </a:fld>
            <a:endParaRPr lang="es-ES"/>
          </a:p>
        </p:txBody>
      </p:sp>
    </p:spTree>
    <p:extLst>
      <p:ext uri="{BB962C8B-B14F-4D97-AF65-F5344CB8AC3E}">
        <p14:creationId xmlns:p14="http://schemas.microsoft.com/office/powerpoint/2010/main" val="1763979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0" y="0"/>
            <a:ext cx="12192000" cy="2387600"/>
          </a:xfrm>
          <a:solidFill>
            <a:schemeClr val="accent1">
              <a:lumMod val="40000"/>
              <a:lumOff val="60000"/>
            </a:schemeClr>
          </a:solidFill>
        </p:spPr>
        <p:txBody>
          <a:bodyPr anchor="ctr"/>
          <a:lstStyle>
            <a:lvl1pPr algn="r">
              <a:defRPr sz="6000"/>
            </a:lvl1pPr>
          </a:lstStyle>
          <a:p>
            <a:r>
              <a:rPr lang="es-ES" dirty="0"/>
              <a:t>Haga clic para modificar el estilo de título del patrón</a:t>
            </a:r>
          </a:p>
        </p:txBody>
      </p:sp>
      <p:sp>
        <p:nvSpPr>
          <p:cNvPr id="3" name="Subtítulo 2"/>
          <p:cNvSpPr>
            <a:spLocks noGrp="1"/>
          </p:cNvSpPr>
          <p:nvPr>
            <p:ph type="subTitle" idx="1"/>
          </p:nvPr>
        </p:nvSpPr>
        <p:spPr>
          <a:xfrm>
            <a:off x="240323" y="2854692"/>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Tree>
    <p:extLst>
      <p:ext uri="{BB962C8B-B14F-4D97-AF65-F5344CB8AC3E}">
        <p14:creationId xmlns:p14="http://schemas.microsoft.com/office/powerpoint/2010/main" val="1311319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dice">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algn="ctr">
              <a:defRPr/>
            </a:lvl1pPr>
          </a:lstStyle>
          <a:p>
            <a:r>
              <a:rPr lang="es-ES" dirty="0"/>
              <a:t>Haga clic para modificar el estilo de título del patrón</a:t>
            </a:r>
          </a:p>
        </p:txBody>
      </p:sp>
      <p:sp>
        <p:nvSpPr>
          <p:cNvPr id="3" name="Marcador de contenido 2"/>
          <p:cNvSpPr>
            <a:spLocks noGrp="1"/>
          </p:cNvSpPr>
          <p:nvPr>
            <p:ph idx="1"/>
          </p:nvPr>
        </p:nvSpPr>
        <p:spPr>
          <a:xfrm>
            <a:off x="1345223" y="1491517"/>
            <a:ext cx="9161585"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12/11/2025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8431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marL="354013" indent="0">
              <a:defRPr/>
            </a:lvl1pPr>
          </a:lstStyle>
          <a:p>
            <a:r>
              <a:rPr lang="es-ES" dirty="0"/>
              <a:t>Haga clic para modificar el estilo de título del patrón</a:t>
            </a:r>
          </a:p>
        </p:txBody>
      </p:sp>
      <p:sp>
        <p:nvSpPr>
          <p:cNvPr id="3" name="Marcador de contenido 2"/>
          <p:cNvSpPr>
            <a:spLocks noGrp="1"/>
          </p:cNvSpPr>
          <p:nvPr>
            <p:ph idx="1"/>
          </p:nvPr>
        </p:nvSpPr>
        <p:spPr>
          <a:xfrm>
            <a:off x="527538" y="1491517"/>
            <a:ext cx="11025553"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12/11/2025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17151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A36C9D08-3C16-416B-B8F9-4D4A629F38C9}" type="datetime1">
              <a:rPr lang="es-ES" smtClean="0"/>
              <a:t>12/11/2025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02194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69E1E605-5CBB-40FE-87B4-05B62A5CAB7C}" type="datetime1">
              <a:rPr lang="es-ES" smtClean="0"/>
              <a:t>12/11/2025</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48814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5EC06281-1CDF-413F-B502-D8EF9109D251}" type="datetime1">
              <a:rPr lang="es-ES" smtClean="0"/>
              <a:t>12/11/2025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66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82C46C39-2265-4ECA-84D0-AFE501AC4C1C}" type="datetime1">
              <a:rPr lang="es-ES" smtClean="0"/>
              <a:t>12/11/2025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340353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50D3683-7933-4D92-B730-4B8490CCDF4B}" type="datetime1">
              <a:rPr lang="es-ES" smtClean="0"/>
              <a:t>12/11/2025</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54513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5C35D45B-6432-4BD4-BB2B-6E8E1493A879}" type="datetime1">
              <a:rPr lang="es-ES" smtClean="0"/>
              <a:t>12/11/2025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378924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290BFDE-1D6E-4E03-A53A-F1B29D2D0A86}" type="datetime1">
              <a:rPr lang="es-ES" smtClean="0"/>
              <a:t>12/11/2025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28734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A02143F0-BAC6-4443-92A3-9EA2CC19B9B7}" type="datetime1">
              <a:rPr lang="es-ES" smtClean="0"/>
              <a:t>12/11/2025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359388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A67633C-AB28-4AC7-B7B0-41DFBCF1B247}" type="datetime1">
              <a:rPr lang="es-ES" smtClean="0"/>
              <a:t>12/11/2025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411380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12/11/2025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263348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12/11/2025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09229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12/11/2025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918355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960B338E-2CA8-4990-93F8-04B6F142715C}" type="datetimeFigureOut">
              <a:rPr lang="es-ES" smtClean="0"/>
              <a:t>12/11/2025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288586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960B338E-2CA8-4990-93F8-04B6F142715C}" type="datetimeFigureOut">
              <a:rPr lang="es-ES" smtClean="0"/>
              <a:t>12/11/2025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229766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960B338E-2CA8-4990-93F8-04B6F142715C}" type="datetimeFigureOut">
              <a:rPr lang="es-ES" smtClean="0"/>
              <a:t>12/11/2025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698998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60B338E-2CA8-4990-93F8-04B6F142715C}" type="datetimeFigureOut">
              <a:rPr lang="es-ES" smtClean="0"/>
              <a:t>12/11/2025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329703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12/11/2025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5398797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12/11/2025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4308488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12/11/2025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438488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12/11/2025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51310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C46C39-2265-4ECA-84D0-AFE501AC4C1C}" type="datetime1">
              <a:rPr lang="es-ES" smtClean="0"/>
              <a:t>12/11/2025</a:t>
            </a:fld>
            <a:endParaRPr lang="es-E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075578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2" r:id="rId4"/>
    <p:sldLayoutId id="2147483653" r:id="rId5"/>
    <p:sldLayoutId id="2147483654" r:id="rId6"/>
    <p:sldLayoutId id="2147483661"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0B338E-2CA8-4990-93F8-04B6F142715C}" type="datetimeFigureOut">
              <a:rPr lang="es-ES" smtClean="0"/>
              <a:t>12/11/2025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9350B-99D0-4E5C-997D-9130554D6298}" type="slidenum">
              <a:rPr lang="es-ES" smtClean="0"/>
              <a:t>‹Nº›</a:t>
            </a:fld>
            <a:endParaRPr lang="es-ES"/>
          </a:p>
        </p:txBody>
      </p:sp>
    </p:spTree>
    <p:extLst>
      <p:ext uri="{BB962C8B-B14F-4D97-AF65-F5344CB8AC3E}">
        <p14:creationId xmlns:p14="http://schemas.microsoft.com/office/powerpoint/2010/main" val="9221119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uah.es/es/estudios/profesor/Jose-Ramon-Hilera-Gonzalez/"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creativecommons.org/licenses/by-sa/4.0/" TargetMode="External"/><Relationship Id="rId4" Type="http://schemas.openxmlformats.org/officeDocument/2006/relationships/hyperlink" Target="https://twitter.com/software_a11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boe.es/diario_boe/txt.php?id=BOE-A-2018-12699" TargetMode="External"/><Relationship Id="rId2" Type="http://schemas.openxmlformats.org/officeDocument/2006/relationships/hyperlink" Target="https://eur-lex.europa.eu/legal-content/ES/TXT/?uri=uriserv:OJ.L_.2018.256.01.0103.01.SPA"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administracionelectronica.gob.es/comunidades/accesibilidad/" TargetMode="External"/><Relationship Id="rId2" Type="http://schemas.openxmlformats.org/officeDocument/2006/relationships/hyperlink" Target="https://eur-lex.europa.eu/legal-content/ES/TXT/?uri=uriserv:OJ.L_.2018.256.01.0103.01.SPA"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www.boe.es/diario_boe/txt.php?id=BOE-A-2018-12699"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administracionelectronica.gob.es/pae_Home/pae_Informacion/pae_Accesibilidad.html" TargetMode="External"/><Relationship Id="rId2" Type="http://schemas.openxmlformats.org/officeDocument/2006/relationships/hyperlink" Target="https://www.juntadeandalucia.es/servicioandaluzdeempleo/web/gescontrata/faces/Accesibilidad.jsp;jsessionid=5863391BFF81CA8F7E45F4A0EE2DCF25.tcnodo52-7" TargetMode="External"/><Relationship Id="rId1" Type="http://schemas.openxmlformats.org/officeDocument/2006/relationships/slideLayout" Target="../slideLayouts/slideLayout3.xml"/><Relationship Id="rId4" Type="http://schemas.openxmlformats.org/officeDocument/2006/relationships/hyperlink" Target="https://ovmediorural.xunta.gal/es/accesibilida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ctrTitle"/>
          </p:nvPr>
        </p:nvSpPr>
        <p:spPr/>
        <p:txBody>
          <a:bodyPr>
            <a:normAutofit/>
          </a:bodyPr>
          <a:lstStyle/>
          <a:p>
            <a:r>
              <a:rPr lang="es-ES" dirty="0"/>
              <a:t>Declaración de accesibilidad</a:t>
            </a:r>
            <a:br>
              <a:rPr lang="es-ES" dirty="0"/>
            </a:br>
            <a:r>
              <a:rPr lang="es-ES" dirty="0"/>
              <a:t>de un sitio web</a:t>
            </a:r>
          </a:p>
        </p:txBody>
      </p:sp>
      <p:sp>
        <p:nvSpPr>
          <p:cNvPr id="6" name="Subtítulo 5"/>
          <p:cNvSpPr>
            <a:spLocks noGrp="1"/>
          </p:cNvSpPr>
          <p:nvPr>
            <p:ph type="subTitle" idx="1"/>
          </p:nvPr>
        </p:nvSpPr>
        <p:spPr>
          <a:xfrm>
            <a:off x="703385" y="4210492"/>
            <a:ext cx="11087100" cy="1908953"/>
          </a:xfrm>
        </p:spPr>
        <p:txBody>
          <a:bodyPr>
            <a:normAutofit/>
          </a:bodyPr>
          <a:lstStyle/>
          <a:p>
            <a:pPr algn="r"/>
            <a:r>
              <a:rPr lang="en-US" b="1" dirty="0"/>
              <a:t>								</a:t>
            </a:r>
            <a:r>
              <a:rPr lang="en-US" b="1" dirty="0">
                <a:hlinkClick r:id="rId3"/>
              </a:rPr>
              <a:t>José Ramón Hilera González</a:t>
            </a:r>
            <a:br>
              <a:rPr lang="en-US" b="1" dirty="0"/>
            </a:br>
            <a:r>
              <a:rPr lang="en-US" sz="2000" dirty="0"/>
              <a:t>jose.hilera@uah.es</a:t>
            </a:r>
            <a:br>
              <a:rPr lang="en-US" sz="2000" b="1" dirty="0"/>
            </a:br>
            <a:r>
              <a:rPr lang="en-US" sz="2000" dirty="0">
                <a:hlinkClick r:id="rId4"/>
              </a:rPr>
              <a:t>@software_a11y</a:t>
            </a:r>
            <a:endParaRPr lang="en-US" sz="2000" dirty="0"/>
          </a:p>
          <a:p>
            <a:pPr algn="r"/>
            <a:endParaRPr lang="en-US" b="1" i="1" dirty="0"/>
          </a:p>
          <a:p>
            <a:pPr algn="r"/>
            <a:endParaRPr lang="es-ES" i="1" dirty="0"/>
          </a:p>
          <a:p>
            <a:endParaRPr lang="es-ES" dirty="0"/>
          </a:p>
        </p:txBody>
      </p:sp>
      <p:pic>
        <p:nvPicPr>
          <p:cNvPr id="7" name="Imagen 6" title="Licencia CC BY-SA">
            <a:hlinkClick r:id="rId5"/>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917" y="5972364"/>
            <a:ext cx="1658180" cy="584132"/>
          </a:xfrm>
          <a:prstGeom prst="rect">
            <a:avLst/>
          </a:prstGeom>
        </p:spPr>
      </p:pic>
      <p:sp>
        <p:nvSpPr>
          <p:cNvPr id="4" name="Marcador de número de diapositiva 3"/>
          <p:cNvSpPr>
            <a:spLocks noGrp="1"/>
          </p:cNvSpPr>
          <p:nvPr>
            <p:ph type="sldNum" sz="quarter" idx="4294967295"/>
          </p:nvPr>
        </p:nvSpPr>
        <p:spPr>
          <a:xfrm>
            <a:off x="9173309" y="6373934"/>
            <a:ext cx="2743200" cy="365125"/>
          </a:xfrm>
        </p:spPr>
        <p:txBody>
          <a:bodyPr/>
          <a:lstStyle/>
          <a:p>
            <a:fld id="{C9400CC4-AA0F-4E2E-A7D9-25BF1D2A8A65}" type="slidenum">
              <a:rPr lang="es-ES" smtClean="0"/>
              <a:t>1</a:t>
            </a:fld>
            <a:endParaRPr lang="es-ES"/>
          </a:p>
        </p:txBody>
      </p:sp>
    </p:spTree>
    <p:extLst>
      <p:ext uri="{BB962C8B-B14F-4D97-AF65-F5344CB8AC3E}">
        <p14:creationId xmlns:p14="http://schemas.microsoft.com/office/powerpoint/2010/main" val="1160172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Contenidos</a:t>
            </a:r>
          </a:p>
        </p:txBody>
      </p:sp>
      <p:sp>
        <p:nvSpPr>
          <p:cNvPr id="3" name="Marcador de contenido 2"/>
          <p:cNvSpPr>
            <a:spLocks noGrp="1"/>
          </p:cNvSpPr>
          <p:nvPr>
            <p:ph idx="1"/>
          </p:nvPr>
        </p:nvSpPr>
        <p:spPr/>
        <p:txBody>
          <a:bodyPr>
            <a:normAutofit/>
          </a:bodyPr>
          <a:lstStyle/>
          <a:p>
            <a:pPr marL="514350" indent="-514350">
              <a:buFont typeface="+mj-lt"/>
              <a:buAutoNum type="arabicPeriod"/>
            </a:pPr>
            <a:r>
              <a:rPr lang="es-ES" dirty="0"/>
              <a:t>Introducción</a:t>
            </a:r>
          </a:p>
          <a:p>
            <a:pPr marL="514350" indent="-514350">
              <a:buFont typeface="+mj-lt"/>
              <a:buAutoNum type="arabicPeriod"/>
            </a:pPr>
            <a:r>
              <a:rPr lang="es-ES" dirty="0"/>
              <a:t>Contenido</a:t>
            </a:r>
          </a:p>
          <a:p>
            <a:pPr marL="514350" indent="-514350">
              <a:buFont typeface="+mj-lt"/>
              <a:buAutoNum type="arabicPeriod"/>
            </a:pPr>
            <a:r>
              <a:rPr lang="es-ES" dirty="0"/>
              <a:t>Publicación</a:t>
            </a:r>
          </a:p>
          <a:p>
            <a:pPr marL="514350" indent="-514350">
              <a:buFont typeface="+mj-lt"/>
              <a:buAutoNum type="arabicPeriod"/>
            </a:pPr>
            <a:r>
              <a:rPr lang="es-ES" dirty="0"/>
              <a:t>Ejemplos</a:t>
            </a:r>
          </a:p>
          <a:p>
            <a:pPr marL="514350" indent="-514350">
              <a:buFont typeface="+mj-lt"/>
              <a:buAutoNum type="arabicPeriod"/>
            </a:pPr>
            <a:r>
              <a:rPr lang="es-ES" dirty="0"/>
              <a:t>Conclusiones</a:t>
            </a:r>
          </a:p>
          <a:p>
            <a:pPr marL="514350" indent="-514350">
              <a:buFont typeface="+mj-lt"/>
              <a:buAutoNum type="arabicPeriod"/>
            </a:pPr>
            <a:endParaRPr lang="es-ES" dirty="0"/>
          </a:p>
          <a:p>
            <a:pPr marL="514350" indent="-514350">
              <a:buFont typeface="+mj-lt"/>
              <a:buAutoNum type="arabicPeriod"/>
            </a:pP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a:t>
            </a:fld>
            <a:endParaRPr lang="es-ES" dirty="0"/>
          </a:p>
        </p:txBody>
      </p:sp>
    </p:spTree>
    <p:extLst>
      <p:ext uri="{BB962C8B-B14F-4D97-AF65-F5344CB8AC3E}">
        <p14:creationId xmlns:p14="http://schemas.microsoft.com/office/powerpoint/2010/main" val="305529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 Introducción</a:t>
            </a:r>
          </a:p>
        </p:txBody>
      </p:sp>
      <p:sp>
        <p:nvSpPr>
          <p:cNvPr id="3" name="Marcador de contenido 2"/>
          <p:cNvSpPr>
            <a:spLocks noGrp="1"/>
          </p:cNvSpPr>
          <p:nvPr>
            <p:ph idx="1"/>
          </p:nvPr>
        </p:nvSpPr>
        <p:spPr/>
        <p:txBody>
          <a:bodyPr>
            <a:normAutofit/>
          </a:bodyPr>
          <a:lstStyle/>
          <a:p>
            <a:r>
              <a:rPr lang="es-ES" dirty="0"/>
              <a:t>Una vez comprobada la accesibilidad de un sitio web, hay que informar a los posibles usuarios sobre los posibles problemas de accesibilidad que se pueden encontrar y los mecanismos de comunicación para solicitar que se solucionen los problemas.</a:t>
            </a:r>
          </a:p>
          <a:p>
            <a:r>
              <a:rPr lang="es-ES" dirty="0"/>
              <a:t>Para ello hay que redactar una declaración de accesibilidad, que en el caso de los sitios web del sector público debe cumplir lo establecido en la </a:t>
            </a:r>
            <a:r>
              <a:rPr lang="es-ES" dirty="0">
                <a:hlinkClick r:id="rId2"/>
              </a:rPr>
              <a:t>Decisión (UE) 2018/1523</a:t>
            </a:r>
            <a:r>
              <a:rPr lang="es-ES" dirty="0"/>
              <a:t>.</a:t>
            </a:r>
          </a:p>
          <a:p>
            <a:r>
              <a:rPr lang="es-ES" dirty="0"/>
              <a:t>La declaración debe actualizarse al menos una vez al año (</a:t>
            </a:r>
            <a:r>
              <a:rPr lang="es-ES" dirty="0">
                <a:hlinkClick r:id="rId3"/>
              </a:rPr>
              <a:t>RD 1112/2018</a:t>
            </a:r>
            <a:r>
              <a:rPr lang="es-ES" dirty="0"/>
              <a:t>)</a:t>
            </a:r>
          </a:p>
          <a:p>
            <a:endParaRPr lang="es-ES" dirty="0"/>
          </a:p>
          <a:p>
            <a:pPr lvl="1"/>
            <a:endParaRPr lang="es-ES" dirty="0"/>
          </a:p>
          <a:p>
            <a:pPr lvl="1"/>
            <a:endParaRPr lang="es-ES" dirty="0"/>
          </a:p>
          <a:p>
            <a:pPr lvl="1"/>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a:t>
            </a:fld>
            <a:endParaRPr lang="es-ES" dirty="0"/>
          </a:p>
        </p:txBody>
      </p:sp>
    </p:spTree>
    <p:extLst>
      <p:ext uri="{BB962C8B-B14F-4D97-AF65-F5344CB8AC3E}">
        <p14:creationId xmlns:p14="http://schemas.microsoft.com/office/powerpoint/2010/main" val="268919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75EDC-6A1F-4276-B07F-2AC82D5449C5}"/>
              </a:ext>
            </a:extLst>
          </p:cNvPr>
          <p:cNvSpPr>
            <a:spLocks noGrp="1"/>
          </p:cNvSpPr>
          <p:nvPr>
            <p:ph type="title"/>
          </p:nvPr>
        </p:nvSpPr>
        <p:spPr/>
        <p:txBody>
          <a:bodyPr/>
          <a:lstStyle/>
          <a:p>
            <a:r>
              <a:rPr lang="es-ES" dirty="0"/>
              <a:t>2. Contenido</a:t>
            </a:r>
          </a:p>
        </p:txBody>
      </p:sp>
      <p:sp>
        <p:nvSpPr>
          <p:cNvPr id="3" name="Marcador de contenido 2">
            <a:extLst>
              <a:ext uri="{FF2B5EF4-FFF2-40B4-BE49-F238E27FC236}">
                <a16:creationId xmlns:a16="http://schemas.microsoft.com/office/drawing/2014/main" id="{D6000302-E37E-49B8-AF80-A3DE950A0088}"/>
              </a:ext>
            </a:extLst>
          </p:cNvPr>
          <p:cNvSpPr>
            <a:spLocks noGrp="1"/>
          </p:cNvSpPr>
          <p:nvPr>
            <p:ph idx="1"/>
          </p:nvPr>
        </p:nvSpPr>
        <p:spPr>
          <a:xfrm>
            <a:off x="527538" y="1491517"/>
            <a:ext cx="11025553" cy="5006102"/>
          </a:xfrm>
        </p:spPr>
        <p:txBody>
          <a:bodyPr>
            <a:normAutofit fontScale="85000" lnSpcReduction="20000"/>
          </a:bodyPr>
          <a:lstStyle/>
          <a:p>
            <a:r>
              <a:rPr lang="es-ES" dirty="0"/>
              <a:t>Según la </a:t>
            </a:r>
            <a:r>
              <a:rPr lang="es-ES" dirty="0">
                <a:hlinkClick r:id="rId2"/>
              </a:rPr>
              <a:t>Decisión (UE) 2018/1523</a:t>
            </a:r>
            <a:r>
              <a:rPr lang="es-ES" dirty="0"/>
              <a:t> debe comenzar por el texto:</a:t>
            </a:r>
          </a:p>
          <a:p>
            <a:pPr lvl="1"/>
            <a:r>
              <a:rPr lang="es-ES" i="1" dirty="0"/>
              <a:t>“[Nombre del organismo del sector público] se ha comprometido a hacer [accesible/accesibles] [su sitio web/sus sitios web], de conformidad con [la legislación nacional por la que se traspone la Directiva (UE) 2016/2102 del Parlamento Europeo y del Consejo]”.</a:t>
            </a:r>
          </a:p>
          <a:p>
            <a:r>
              <a:rPr lang="es-ES" dirty="0"/>
              <a:t>Y debe contener los siguientes apartados</a:t>
            </a:r>
          </a:p>
          <a:p>
            <a:pPr lvl="1"/>
            <a:r>
              <a:rPr lang="es-ES" dirty="0"/>
              <a:t>Situación de cumplimiento: </a:t>
            </a:r>
            <a:r>
              <a:rPr lang="es-ES" i="1" dirty="0"/>
              <a:t>Plenamente conforme, Parcialmente conforme, Aún no es conforme</a:t>
            </a:r>
          </a:p>
          <a:p>
            <a:pPr lvl="1"/>
            <a:r>
              <a:rPr lang="es-ES" dirty="0"/>
              <a:t>Contenido no accesible: Explicando los problemas existentes</a:t>
            </a:r>
          </a:p>
          <a:p>
            <a:pPr lvl="1"/>
            <a:r>
              <a:rPr lang="es-ES" dirty="0"/>
              <a:t>Preparación de la presente declaración de accesibilidad: Incluye la fecha de la última revisión</a:t>
            </a:r>
          </a:p>
          <a:p>
            <a:pPr lvl="1"/>
            <a:r>
              <a:rPr lang="es-ES" dirty="0"/>
              <a:t>Observaciones y datos de contacto: Para informar de incumplimientos</a:t>
            </a:r>
          </a:p>
          <a:p>
            <a:pPr lvl="1"/>
            <a:r>
              <a:rPr lang="es-ES" dirty="0"/>
              <a:t>Procedimiento de aplicación: Para reclamaciones</a:t>
            </a:r>
          </a:p>
          <a:p>
            <a:pPr lvl="1"/>
            <a:r>
              <a:rPr lang="es-ES" dirty="0"/>
              <a:t>Contenido opcional: Por ejemplo, detalles técnicos.</a:t>
            </a:r>
          </a:p>
          <a:p>
            <a:r>
              <a:rPr lang="es-ES" dirty="0"/>
              <a:t>En la </a:t>
            </a:r>
            <a:r>
              <a:rPr lang="es-ES" dirty="0">
                <a:hlinkClick r:id="rId3"/>
              </a:rPr>
              <a:t>Comunidad Accesibilidad del Observatorio de Accesibilidad </a:t>
            </a:r>
            <a:r>
              <a:rPr lang="es-ES" dirty="0"/>
              <a:t>existe un Generador de la Declaración de Accesibilidad en formato HTML (sólo para usuarios registrados). </a:t>
            </a:r>
          </a:p>
          <a:p>
            <a:pPr lvl="1"/>
            <a:endParaRPr lang="es-ES" dirty="0"/>
          </a:p>
        </p:txBody>
      </p:sp>
      <p:sp>
        <p:nvSpPr>
          <p:cNvPr id="4" name="Marcador de número de diapositiva 3">
            <a:extLst>
              <a:ext uri="{FF2B5EF4-FFF2-40B4-BE49-F238E27FC236}">
                <a16:creationId xmlns:a16="http://schemas.microsoft.com/office/drawing/2014/main" id="{075424DC-FBE7-4981-A672-08D7E40AB52D}"/>
              </a:ext>
            </a:extLst>
          </p:cNvPr>
          <p:cNvSpPr>
            <a:spLocks noGrp="1"/>
          </p:cNvSpPr>
          <p:nvPr>
            <p:ph type="sldNum" sz="quarter" idx="12"/>
          </p:nvPr>
        </p:nvSpPr>
        <p:spPr/>
        <p:txBody>
          <a:bodyPr/>
          <a:lstStyle/>
          <a:p>
            <a:fld id="{C9400CC4-AA0F-4E2E-A7D9-25BF1D2A8A65}" type="slidenum">
              <a:rPr lang="es-ES" smtClean="0"/>
              <a:t>4</a:t>
            </a:fld>
            <a:endParaRPr lang="es-ES" dirty="0"/>
          </a:p>
        </p:txBody>
      </p:sp>
    </p:spTree>
    <p:extLst>
      <p:ext uri="{BB962C8B-B14F-4D97-AF65-F5344CB8AC3E}">
        <p14:creationId xmlns:p14="http://schemas.microsoft.com/office/powerpoint/2010/main" val="135583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75EDC-6A1F-4276-B07F-2AC82D5449C5}"/>
              </a:ext>
            </a:extLst>
          </p:cNvPr>
          <p:cNvSpPr>
            <a:spLocks noGrp="1"/>
          </p:cNvSpPr>
          <p:nvPr>
            <p:ph type="title"/>
          </p:nvPr>
        </p:nvSpPr>
        <p:spPr/>
        <p:txBody>
          <a:bodyPr/>
          <a:lstStyle/>
          <a:p>
            <a:r>
              <a:rPr lang="es-ES" dirty="0"/>
              <a:t>2. Contenido</a:t>
            </a:r>
            <a:br>
              <a:rPr lang="es-ES" dirty="0"/>
            </a:br>
            <a:r>
              <a:rPr lang="es-ES" dirty="0"/>
              <a:t>Apartado “Contenido no accesible”</a:t>
            </a:r>
          </a:p>
        </p:txBody>
      </p:sp>
      <p:sp>
        <p:nvSpPr>
          <p:cNvPr id="3" name="Marcador de contenido 2">
            <a:extLst>
              <a:ext uri="{FF2B5EF4-FFF2-40B4-BE49-F238E27FC236}">
                <a16:creationId xmlns:a16="http://schemas.microsoft.com/office/drawing/2014/main" id="{D6000302-E37E-49B8-AF80-A3DE950A0088}"/>
              </a:ext>
            </a:extLst>
          </p:cNvPr>
          <p:cNvSpPr>
            <a:spLocks noGrp="1"/>
          </p:cNvSpPr>
          <p:nvPr>
            <p:ph idx="1"/>
          </p:nvPr>
        </p:nvSpPr>
        <p:spPr>
          <a:xfrm>
            <a:off x="527538" y="1491517"/>
            <a:ext cx="11025553" cy="5006102"/>
          </a:xfrm>
        </p:spPr>
        <p:txBody>
          <a:bodyPr>
            <a:normAutofit fontScale="92500" lnSpcReduction="10000"/>
          </a:bodyPr>
          <a:lstStyle/>
          <a:p>
            <a:pPr marL="0" indent="0">
              <a:buNone/>
            </a:pPr>
            <a:r>
              <a:rPr lang="es-ES" dirty="0"/>
              <a:t>El contenido que se recoge a continuación no es accesible por lo siguiente:</a:t>
            </a:r>
          </a:p>
          <a:p>
            <a:r>
              <a:rPr lang="es-ES" dirty="0"/>
              <a:t>a) falta de conformidad con el RD 1112/2018</a:t>
            </a:r>
          </a:p>
          <a:p>
            <a:pPr lvl="1"/>
            <a:r>
              <a:rPr lang="es-ES" dirty="0"/>
              <a:t>Señalar todo aspecto no conforme del sitio web y/o describir todo contenido, sección o funcionalidad que aún no es conforme.</a:t>
            </a:r>
          </a:p>
          <a:p>
            <a:r>
              <a:rPr lang="es-ES" dirty="0"/>
              <a:t>b) carga desproporcionada</a:t>
            </a:r>
          </a:p>
          <a:p>
            <a:pPr lvl="1"/>
            <a:r>
              <a:rPr lang="es-ES" dirty="0"/>
              <a:t>Señalar todo contenido del que se invoca temporalmente la aplicación de la excepción por carga desproporcionada según el artículo 7 del RD 1112/2018.</a:t>
            </a:r>
          </a:p>
          <a:p>
            <a:r>
              <a:rPr lang="es-ES" dirty="0"/>
              <a:t>c) el contenido no entra dentro del ámbito de la legislación aplicable</a:t>
            </a:r>
          </a:p>
          <a:p>
            <a:pPr lvl="1"/>
            <a:r>
              <a:rPr lang="es-ES" dirty="0"/>
              <a:t>Señalar todo contenido no accesible que esté fuera del ámbito de la legislación aplicable según el artículo 3 del RD 1112/2018.</a:t>
            </a:r>
          </a:p>
          <a:p>
            <a:r>
              <a:rPr lang="es-ES" dirty="0"/>
              <a:t>Señalar, si las hay, alternativas que sí sean accesibles.</a:t>
            </a:r>
          </a:p>
        </p:txBody>
      </p:sp>
      <p:sp>
        <p:nvSpPr>
          <p:cNvPr id="4" name="Marcador de número de diapositiva 3">
            <a:extLst>
              <a:ext uri="{FF2B5EF4-FFF2-40B4-BE49-F238E27FC236}">
                <a16:creationId xmlns:a16="http://schemas.microsoft.com/office/drawing/2014/main" id="{075424DC-FBE7-4981-A672-08D7E40AB52D}"/>
              </a:ext>
            </a:extLst>
          </p:cNvPr>
          <p:cNvSpPr>
            <a:spLocks noGrp="1"/>
          </p:cNvSpPr>
          <p:nvPr>
            <p:ph type="sldNum" sz="quarter" idx="12"/>
          </p:nvPr>
        </p:nvSpPr>
        <p:spPr/>
        <p:txBody>
          <a:bodyPr/>
          <a:lstStyle/>
          <a:p>
            <a:fld id="{C9400CC4-AA0F-4E2E-A7D9-25BF1D2A8A65}" type="slidenum">
              <a:rPr lang="es-ES" smtClean="0"/>
              <a:t>5</a:t>
            </a:fld>
            <a:endParaRPr lang="es-ES" dirty="0"/>
          </a:p>
        </p:txBody>
      </p:sp>
    </p:spTree>
    <p:extLst>
      <p:ext uri="{BB962C8B-B14F-4D97-AF65-F5344CB8AC3E}">
        <p14:creationId xmlns:p14="http://schemas.microsoft.com/office/powerpoint/2010/main" val="3598409359"/>
      </p:ext>
    </p:extLst>
  </p:cSld>
  <p:clrMapOvr>
    <a:masterClrMapping/>
  </p:clrMapOvr>
  <mc:AlternateContent xmlns:mc="http://schemas.openxmlformats.org/markup-compatibility/2006" xmlns:p14="http://schemas.microsoft.com/office/powerpoint/2010/main">
    <mc:Choice Requires="p14">
      <p:transition spd="slow" p14:dur="2000" advTm="234484"/>
    </mc:Choice>
    <mc:Fallback xmlns="">
      <p:transition spd="slow" advTm="23448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75EDC-6A1F-4276-B07F-2AC82D5449C5}"/>
              </a:ext>
            </a:extLst>
          </p:cNvPr>
          <p:cNvSpPr>
            <a:spLocks noGrp="1"/>
          </p:cNvSpPr>
          <p:nvPr>
            <p:ph type="title"/>
          </p:nvPr>
        </p:nvSpPr>
        <p:spPr/>
        <p:txBody>
          <a:bodyPr>
            <a:normAutofit/>
          </a:bodyPr>
          <a:lstStyle/>
          <a:p>
            <a:r>
              <a:rPr lang="es-ES" dirty="0"/>
              <a:t>2. Contenido</a:t>
            </a:r>
            <a:br>
              <a:rPr lang="es-ES" dirty="0"/>
            </a:br>
            <a:r>
              <a:rPr lang="es-ES" dirty="0"/>
              <a:t>Carga desproporcionada</a:t>
            </a:r>
          </a:p>
        </p:txBody>
      </p:sp>
      <p:sp>
        <p:nvSpPr>
          <p:cNvPr id="3" name="Marcador de contenido 2">
            <a:extLst>
              <a:ext uri="{FF2B5EF4-FFF2-40B4-BE49-F238E27FC236}">
                <a16:creationId xmlns:a16="http://schemas.microsoft.com/office/drawing/2014/main" id="{D6000302-E37E-49B8-AF80-A3DE950A0088}"/>
              </a:ext>
            </a:extLst>
          </p:cNvPr>
          <p:cNvSpPr>
            <a:spLocks noGrp="1"/>
          </p:cNvSpPr>
          <p:nvPr>
            <p:ph idx="1"/>
          </p:nvPr>
        </p:nvSpPr>
        <p:spPr>
          <a:xfrm>
            <a:off x="527538" y="1491517"/>
            <a:ext cx="11025553" cy="5006102"/>
          </a:xfrm>
        </p:spPr>
        <p:txBody>
          <a:bodyPr>
            <a:normAutofit fontScale="85000" lnSpcReduction="10000"/>
          </a:bodyPr>
          <a:lstStyle/>
          <a:p>
            <a:pPr marL="0" indent="0">
              <a:buNone/>
            </a:pPr>
            <a:r>
              <a:rPr lang="es-ES" dirty="0"/>
              <a:t>Artículo 7 del RD 1112/2018</a:t>
            </a:r>
          </a:p>
          <a:p>
            <a:r>
              <a:rPr lang="es-ES" dirty="0"/>
              <a:t>Con carácter excepcional, en atención a la carga desproporcionada que el cumplimiento de los requisitos de accesibilidad pueda suponer para la entidad obligada, se podrá exceptuar el cumplimiento de algunos requisitos de accesibilidad.</a:t>
            </a:r>
          </a:p>
          <a:p>
            <a:r>
              <a:rPr lang="es-ES" dirty="0"/>
              <a:t>La entidad obligada que desee acogerse a la excepción deberá llevar a cabo una evaluación inicial de la medida en que el cumplimiento de los requisitos de accesibilidad impone una carga desproporcionada y emitir un informe. </a:t>
            </a:r>
          </a:p>
          <a:p>
            <a:r>
              <a:rPr lang="es-ES" dirty="0"/>
              <a:t>En la declaración de accesibilidad para el sitio web, después de realizar la correspondiente evaluación, se hará constar las partes de los requisitos de accesibilidad que no puede cumplir y, en su caso, se ofrecerá alternativas accesibles.</a:t>
            </a:r>
          </a:p>
          <a:p>
            <a:endParaRPr lang="es-ES" dirty="0"/>
          </a:p>
        </p:txBody>
      </p:sp>
      <p:sp>
        <p:nvSpPr>
          <p:cNvPr id="4" name="Marcador de número de diapositiva 3">
            <a:extLst>
              <a:ext uri="{FF2B5EF4-FFF2-40B4-BE49-F238E27FC236}">
                <a16:creationId xmlns:a16="http://schemas.microsoft.com/office/drawing/2014/main" id="{075424DC-FBE7-4981-A672-08D7E40AB52D}"/>
              </a:ext>
            </a:extLst>
          </p:cNvPr>
          <p:cNvSpPr>
            <a:spLocks noGrp="1"/>
          </p:cNvSpPr>
          <p:nvPr>
            <p:ph type="sldNum" sz="quarter" idx="12"/>
          </p:nvPr>
        </p:nvSpPr>
        <p:spPr/>
        <p:txBody>
          <a:bodyPr/>
          <a:lstStyle/>
          <a:p>
            <a:fld id="{C9400CC4-AA0F-4E2E-A7D9-25BF1D2A8A65}" type="slidenum">
              <a:rPr lang="es-ES" smtClean="0"/>
              <a:t>6</a:t>
            </a:fld>
            <a:endParaRPr lang="es-ES" dirty="0"/>
          </a:p>
        </p:txBody>
      </p:sp>
    </p:spTree>
    <p:extLst>
      <p:ext uri="{BB962C8B-B14F-4D97-AF65-F5344CB8AC3E}">
        <p14:creationId xmlns:p14="http://schemas.microsoft.com/office/powerpoint/2010/main" val="2968539427"/>
      </p:ext>
    </p:extLst>
  </p:cSld>
  <p:clrMapOvr>
    <a:masterClrMapping/>
  </p:clrMapOvr>
  <mc:AlternateContent xmlns:mc="http://schemas.openxmlformats.org/markup-compatibility/2006" xmlns:p14="http://schemas.microsoft.com/office/powerpoint/2010/main">
    <mc:Choice Requires="p14">
      <p:transition spd="slow" p14:dur="2000" advTm="234484"/>
    </mc:Choice>
    <mc:Fallback xmlns="">
      <p:transition spd="slow" advTm="23448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75EDC-6A1F-4276-B07F-2AC82D5449C5}"/>
              </a:ext>
            </a:extLst>
          </p:cNvPr>
          <p:cNvSpPr>
            <a:spLocks noGrp="1"/>
          </p:cNvSpPr>
          <p:nvPr>
            <p:ph type="title"/>
          </p:nvPr>
        </p:nvSpPr>
        <p:spPr/>
        <p:txBody>
          <a:bodyPr>
            <a:normAutofit/>
          </a:bodyPr>
          <a:lstStyle/>
          <a:p>
            <a:r>
              <a:rPr lang="es-ES" dirty="0"/>
              <a:t>2. Contenido</a:t>
            </a:r>
            <a:br>
              <a:rPr lang="es-ES" dirty="0"/>
            </a:br>
            <a:r>
              <a:rPr lang="es-ES" dirty="0" err="1"/>
              <a:t>Contenido</a:t>
            </a:r>
            <a:r>
              <a:rPr lang="es-ES" dirty="0"/>
              <a:t> fuera del ámbito de la legislación</a:t>
            </a:r>
          </a:p>
        </p:txBody>
      </p:sp>
      <p:sp>
        <p:nvSpPr>
          <p:cNvPr id="3" name="Marcador de contenido 2">
            <a:extLst>
              <a:ext uri="{FF2B5EF4-FFF2-40B4-BE49-F238E27FC236}">
                <a16:creationId xmlns:a16="http://schemas.microsoft.com/office/drawing/2014/main" id="{D6000302-E37E-49B8-AF80-A3DE950A0088}"/>
              </a:ext>
            </a:extLst>
          </p:cNvPr>
          <p:cNvSpPr>
            <a:spLocks noGrp="1"/>
          </p:cNvSpPr>
          <p:nvPr>
            <p:ph idx="1"/>
          </p:nvPr>
        </p:nvSpPr>
        <p:spPr>
          <a:xfrm>
            <a:off x="527538" y="1491517"/>
            <a:ext cx="11025553" cy="5006102"/>
          </a:xfrm>
        </p:spPr>
        <p:txBody>
          <a:bodyPr>
            <a:normAutofit fontScale="77500" lnSpcReduction="20000"/>
          </a:bodyPr>
          <a:lstStyle/>
          <a:p>
            <a:pPr marL="0" indent="0">
              <a:buNone/>
            </a:pPr>
            <a:r>
              <a:rPr lang="es-ES" dirty="0"/>
              <a:t>Artículo 3 del RD 1112/2018: Están excluidos</a:t>
            </a:r>
          </a:p>
          <a:p>
            <a:r>
              <a:rPr lang="es-ES" dirty="0"/>
              <a:t>Contenido multimedia en directo y pregrabado de los sitios web de prestadores del servicio público de radiodifusión.</a:t>
            </a:r>
          </a:p>
          <a:p>
            <a:r>
              <a:rPr lang="es-ES" dirty="0"/>
              <a:t>Archivos de ofimática publicados antes del 20 de septiembre de 2018.</a:t>
            </a:r>
          </a:p>
          <a:p>
            <a:r>
              <a:rPr lang="es-ES" dirty="0"/>
              <a:t>Contenido multimedia pregrabado publicado antes del 20 de septiembre de 2018.</a:t>
            </a:r>
          </a:p>
          <a:p>
            <a:r>
              <a:rPr lang="es-ES" dirty="0"/>
              <a:t>Contenido multimedia en directo.</a:t>
            </a:r>
          </a:p>
          <a:p>
            <a:r>
              <a:rPr lang="es-ES" dirty="0"/>
              <a:t>Servicios de mapas y cartografía en línea</a:t>
            </a:r>
          </a:p>
          <a:p>
            <a:r>
              <a:rPr lang="es-ES" dirty="0"/>
              <a:t>Contenidos de terceros no obligados a cumplir el RD.</a:t>
            </a:r>
          </a:p>
          <a:p>
            <a:r>
              <a:rPr lang="es-ES" dirty="0"/>
              <a:t>Reproducciones de bienes del patrimonio que no puedan hacerse plenamente accesibles.</a:t>
            </a:r>
          </a:p>
          <a:p>
            <a:r>
              <a:rPr lang="es-ES" dirty="0"/>
              <a:t>Contenidos de extranet e intranet publicados antes del 23 de septiembre de 2019.</a:t>
            </a:r>
          </a:p>
          <a:p>
            <a:endParaRPr lang="es-ES" dirty="0"/>
          </a:p>
          <a:p>
            <a:endParaRPr lang="es-ES" dirty="0"/>
          </a:p>
        </p:txBody>
      </p:sp>
      <p:sp>
        <p:nvSpPr>
          <p:cNvPr id="4" name="Marcador de número de diapositiva 3">
            <a:extLst>
              <a:ext uri="{FF2B5EF4-FFF2-40B4-BE49-F238E27FC236}">
                <a16:creationId xmlns:a16="http://schemas.microsoft.com/office/drawing/2014/main" id="{075424DC-FBE7-4981-A672-08D7E40AB52D}"/>
              </a:ext>
            </a:extLst>
          </p:cNvPr>
          <p:cNvSpPr>
            <a:spLocks noGrp="1"/>
          </p:cNvSpPr>
          <p:nvPr>
            <p:ph type="sldNum" sz="quarter" idx="12"/>
          </p:nvPr>
        </p:nvSpPr>
        <p:spPr/>
        <p:txBody>
          <a:bodyPr/>
          <a:lstStyle/>
          <a:p>
            <a:fld id="{C9400CC4-AA0F-4E2E-A7D9-25BF1D2A8A65}" type="slidenum">
              <a:rPr lang="es-ES" smtClean="0"/>
              <a:t>7</a:t>
            </a:fld>
            <a:endParaRPr lang="es-ES" dirty="0"/>
          </a:p>
        </p:txBody>
      </p:sp>
    </p:spTree>
    <p:extLst>
      <p:ext uri="{BB962C8B-B14F-4D97-AF65-F5344CB8AC3E}">
        <p14:creationId xmlns:p14="http://schemas.microsoft.com/office/powerpoint/2010/main" val="2375809169"/>
      </p:ext>
    </p:extLst>
  </p:cSld>
  <p:clrMapOvr>
    <a:masterClrMapping/>
  </p:clrMapOvr>
  <mc:AlternateContent xmlns:mc="http://schemas.openxmlformats.org/markup-compatibility/2006" xmlns:p14="http://schemas.microsoft.com/office/powerpoint/2010/main">
    <mc:Choice Requires="p14">
      <p:transition spd="slow" p14:dur="2000" advTm="234484"/>
    </mc:Choice>
    <mc:Fallback xmlns="">
      <p:transition spd="slow" advTm="23448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 Publicación</a:t>
            </a:r>
          </a:p>
        </p:txBody>
      </p:sp>
      <p:sp>
        <p:nvSpPr>
          <p:cNvPr id="3" name="Marcador de contenido 2"/>
          <p:cNvSpPr>
            <a:spLocks noGrp="1"/>
          </p:cNvSpPr>
          <p:nvPr>
            <p:ph idx="1"/>
          </p:nvPr>
        </p:nvSpPr>
        <p:spPr/>
        <p:txBody>
          <a:bodyPr>
            <a:normAutofit/>
          </a:bodyPr>
          <a:lstStyle/>
          <a:p>
            <a:r>
              <a:rPr lang="es-ES" dirty="0"/>
              <a:t>Según el </a:t>
            </a:r>
            <a:r>
              <a:rPr lang="es-ES" dirty="0">
                <a:hlinkClick r:id="rId2"/>
              </a:rPr>
              <a:t>RD 1112/2018 Art. 15</a:t>
            </a:r>
            <a:r>
              <a:rPr lang="es-ES" dirty="0"/>
              <a:t>, la declaración de accesibilidad debe publicarse en el sitio web, estando disponible su acceso desde todas las páginas del sitio web con un enlace denominado “Accesibilidad” o su equivalente en el idioma en el que se encuentre disponible la página.</a:t>
            </a:r>
          </a:p>
          <a:p>
            <a:endParaRPr lang="es-ES" dirty="0"/>
          </a:p>
          <a:p>
            <a:pPr lvl="1"/>
            <a:endParaRPr lang="es-ES" dirty="0"/>
          </a:p>
          <a:p>
            <a:pPr lvl="1"/>
            <a:endParaRPr lang="es-ES" dirty="0"/>
          </a:p>
          <a:p>
            <a:pPr lvl="1"/>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8</a:t>
            </a:fld>
            <a:endParaRPr lang="es-ES" dirty="0"/>
          </a:p>
        </p:txBody>
      </p:sp>
    </p:spTree>
    <p:extLst>
      <p:ext uri="{BB962C8B-B14F-4D97-AF65-F5344CB8AC3E}">
        <p14:creationId xmlns:p14="http://schemas.microsoft.com/office/powerpoint/2010/main" val="3783570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ES" dirty="0"/>
              <a:t>4. Ejemplos </a:t>
            </a:r>
          </a:p>
        </p:txBody>
      </p:sp>
      <p:sp>
        <p:nvSpPr>
          <p:cNvPr id="6" name="Marcador de contenido 5"/>
          <p:cNvSpPr>
            <a:spLocks noGrp="1"/>
          </p:cNvSpPr>
          <p:nvPr>
            <p:ph idx="1"/>
          </p:nvPr>
        </p:nvSpPr>
        <p:spPr>
          <a:xfrm>
            <a:off x="527538" y="1491517"/>
            <a:ext cx="11025553" cy="5016860"/>
          </a:xfrm>
        </p:spPr>
        <p:txBody>
          <a:bodyPr>
            <a:normAutofit/>
          </a:bodyPr>
          <a:lstStyle/>
          <a:p>
            <a:r>
              <a:rPr lang="es-ES" dirty="0">
                <a:hlinkClick r:id="rId2"/>
              </a:rPr>
              <a:t>Servicio Andaluz de Empleo</a:t>
            </a:r>
            <a:r>
              <a:rPr lang="es-ES" dirty="0"/>
              <a:t>: Aún no es conforme</a:t>
            </a:r>
          </a:p>
          <a:p>
            <a:r>
              <a:rPr lang="es-ES" dirty="0">
                <a:hlinkClick r:id="rId3"/>
              </a:rPr>
              <a:t>Portal de la Administración electrónica</a:t>
            </a:r>
            <a:r>
              <a:rPr lang="es-ES" dirty="0"/>
              <a:t>: Parcialmente conforme</a:t>
            </a:r>
          </a:p>
          <a:p>
            <a:r>
              <a:rPr lang="pt-BR" dirty="0">
                <a:hlinkClick r:id="rId4"/>
              </a:rPr>
              <a:t>Oficina Virtual do </a:t>
            </a:r>
            <a:r>
              <a:rPr lang="pt-BR" dirty="0" err="1">
                <a:hlinkClick r:id="rId4"/>
              </a:rPr>
              <a:t>Medio</a:t>
            </a:r>
            <a:r>
              <a:rPr lang="pt-BR" dirty="0">
                <a:hlinkClick r:id="rId4"/>
              </a:rPr>
              <a:t> Rural</a:t>
            </a:r>
            <a:r>
              <a:rPr lang="es-ES" dirty="0"/>
              <a:t>: Es conforme</a:t>
            </a:r>
          </a:p>
          <a:p>
            <a:endParaRPr lang="es-ES" dirty="0"/>
          </a:p>
          <a:p>
            <a:pPr marL="0" indent="0">
              <a:buNone/>
            </a:pPr>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9</a:t>
            </a:fld>
            <a:endParaRPr lang="es-ES" dirty="0"/>
          </a:p>
        </p:txBody>
      </p:sp>
    </p:spTree>
    <p:extLst>
      <p:ext uri="{BB962C8B-B14F-4D97-AF65-F5344CB8AC3E}">
        <p14:creationId xmlns:p14="http://schemas.microsoft.com/office/powerpoint/2010/main" val="868177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85ADA1-907A-9C72-20FF-077FAAF8AD74}"/>
              </a:ext>
            </a:extLst>
          </p:cNvPr>
          <p:cNvSpPr>
            <a:spLocks noGrp="1"/>
          </p:cNvSpPr>
          <p:nvPr>
            <p:ph type="title"/>
          </p:nvPr>
        </p:nvSpPr>
        <p:spPr/>
        <p:txBody>
          <a:bodyPr/>
          <a:lstStyle/>
          <a:p>
            <a:r>
              <a:rPr lang="es-ES" dirty="0"/>
              <a:t>5. Conclusiones</a:t>
            </a:r>
          </a:p>
        </p:txBody>
      </p:sp>
      <p:sp>
        <p:nvSpPr>
          <p:cNvPr id="3" name="Marcador de contenido 2">
            <a:extLst>
              <a:ext uri="{FF2B5EF4-FFF2-40B4-BE49-F238E27FC236}">
                <a16:creationId xmlns:a16="http://schemas.microsoft.com/office/drawing/2014/main" id="{3A4E9072-BB94-DE82-2126-30FFDEAB1F53}"/>
              </a:ext>
            </a:extLst>
          </p:cNvPr>
          <p:cNvSpPr>
            <a:spLocks noGrp="1"/>
          </p:cNvSpPr>
          <p:nvPr>
            <p:ph idx="1"/>
          </p:nvPr>
        </p:nvSpPr>
        <p:spPr/>
        <p:txBody>
          <a:bodyPr/>
          <a:lstStyle/>
          <a:p>
            <a:r>
              <a:rPr lang="es-ES" dirty="0"/>
              <a:t>Debe publicarse una declaración de accesibilidad sobre cada sitio web del sector público</a:t>
            </a:r>
          </a:p>
          <a:p>
            <a:r>
              <a:rPr lang="es-ES" dirty="0"/>
              <a:t>El objetivo es que los usuarios conozcan las posibles barreras que se pueden encontrar y sepan que se está trabajando para eliminarlas</a:t>
            </a:r>
          </a:p>
          <a:p>
            <a:r>
              <a:rPr lang="es-ES" dirty="0"/>
              <a:t>La declaración compromete al organismo responsable a hacer accesible su sitio web</a:t>
            </a:r>
          </a:p>
          <a:p>
            <a:r>
              <a:rPr lang="es-ES" dirty="0"/>
              <a:t>La declaración debe revisarse al menos una vez al año y, en cada revisión, debería mejorar la accesibilidad del sitio web</a:t>
            </a:r>
          </a:p>
          <a:p>
            <a:endParaRPr lang="es-ES" dirty="0"/>
          </a:p>
        </p:txBody>
      </p:sp>
      <p:sp>
        <p:nvSpPr>
          <p:cNvPr id="4" name="Marcador de número de diapositiva 3">
            <a:extLst>
              <a:ext uri="{FF2B5EF4-FFF2-40B4-BE49-F238E27FC236}">
                <a16:creationId xmlns:a16="http://schemas.microsoft.com/office/drawing/2014/main" id="{D7859479-2489-E1BB-EE50-E542DE60D045}"/>
              </a:ext>
            </a:extLst>
          </p:cNvPr>
          <p:cNvSpPr>
            <a:spLocks noGrp="1"/>
          </p:cNvSpPr>
          <p:nvPr>
            <p:ph type="sldNum" sz="quarter" idx="12"/>
          </p:nvPr>
        </p:nvSpPr>
        <p:spPr/>
        <p:txBody>
          <a:bodyPr/>
          <a:lstStyle/>
          <a:p>
            <a:fld id="{C9400CC4-AA0F-4E2E-A7D9-25BF1D2A8A65}" type="slidenum">
              <a:rPr lang="es-ES" smtClean="0"/>
              <a:t>10</a:t>
            </a:fld>
            <a:endParaRPr lang="es-ES" dirty="0"/>
          </a:p>
        </p:txBody>
      </p:sp>
    </p:spTree>
    <p:extLst>
      <p:ext uri="{BB962C8B-B14F-4D97-AF65-F5344CB8AC3E}">
        <p14:creationId xmlns:p14="http://schemas.microsoft.com/office/powerpoint/2010/main" val="4183507765"/>
      </p:ext>
    </p:extLst>
  </p:cSld>
  <p:clrMapOvr>
    <a:masterClrMapping/>
  </p:clrMapOvr>
</p:sld>
</file>

<file path=ppt/theme/theme1.xml><?xml version="1.0" encoding="utf-8"?>
<a:theme xmlns:a="http://schemas.openxmlformats.org/drawingml/2006/main" name="Tema de Office">
  <a:themeElements>
    <a:clrScheme name="Personalizado 2">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000000"/>
      </a:hlink>
      <a:folHlink>
        <a:srgbClr val="0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9236</TotalTime>
  <Words>824</Words>
  <Application>Microsoft Office PowerPoint</Application>
  <PresentationFormat>Panorámica</PresentationFormat>
  <Paragraphs>77</Paragraphs>
  <Slides>10</Slides>
  <Notes>1</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10</vt:i4>
      </vt:variant>
    </vt:vector>
  </HeadingPairs>
  <TitlesOfParts>
    <vt:vector size="17" baseType="lpstr">
      <vt:lpstr>Arial</vt:lpstr>
      <vt:lpstr>Calibri</vt:lpstr>
      <vt:lpstr>Calibri Light</vt:lpstr>
      <vt:lpstr>Courier New</vt:lpstr>
      <vt:lpstr>Wingdings</vt:lpstr>
      <vt:lpstr>Tema de Office</vt:lpstr>
      <vt:lpstr>Diseño personalizado</vt:lpstr>
      <vt:lpstr>Declaración de accesibilidad de un sitio web</vt:lpstr>
      <vt:lpstr>Contenidos</vt:lpstr>
      <vt:lpstr>1. Introducción</vt:lpstr>
      <vt:lpstr>2. Contenido</vt:lpstr>
      <vt:lpstr>2. Contenido Apartado “Contenido no accesible”</vt:lpstr>
      <vt:lpstr>2. Contenido Carga desproporcionada</vt:lpstr>
      <vt:lpstr>2. Contenido Contenido fuera del ámbito de la legislación</vt:lpstr>
      <vt:lpstr>3. Publicación</vt:lpstr>
      <vt:lpstr>4. Ejemplos </vt:lpstr>
      <vt:lpstr>5.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Declaración de accesibilildad</dc:title>
  <dc:creator>Hilera González José Ramón</dc:creator>
  <cp:lastModifiedBy>jose hilera</cp:lastModifiedBy>
  <cp:revision>566</cp:revision>
  <dcterms:created xsi:type="dcterms:W3CDTF">2016-04-13T08:22:41Z</dcterms:created>
  <dcterms:modified xsi:type="dcterms:W3CDTF">2025-11-12T18:32:52Z</dcterms:modified>
</cp:coreProperties>
</file>