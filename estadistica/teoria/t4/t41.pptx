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6"/>
  </p:notesMasterIdLst>
  <p:sldIdLst>
    <p:sldId id="256" r:id="rId2"/>
    <p:sldId id="258" r:id="rId3"/>
    <p:sldId id="515" r:id="rId4"/>
    <p:sldId id="516" r:id="rId5"/>
    <p:sldId id="260" r:id="rId6"/>
    <p:sldId id="261" r:id="rId7"/>
    <p:sldId id="262" r:id="rId8"/>
    <p:sldId id="263" r:id="rId9"/>
    <p:sldId id="264" r:id="rId10"/>
    <p:sldId id="265" r:id="rId11"/>
    <p:sldId id="266" r:id="rId12"/>
    <p:sldId id="269" r:id="rId13"/>
    <p:sldId id="280" r:id="rId14"/>
    <p:sldId id="267" r:id="rId15"/>
    <p:sldId id="268" r:id="rId16"/>
    <p:sldId id="270" r:id="rId17"/>
    <p:sldId id="271" r:id="rId18"/>
    <p:sldId id="281" r:id="rId19"/>
    <p:sldId id="282" r:id="rId20"/>
    <p:sldId id="284" r:id="rId21"/>
    <p:sldId id="285" r:id="rId22"/>
    <p:sldId id="522" r:id="rId23"/>
    <p:sldId id="288" r:id="rId24"/>
    <p:sldId id="289" r:id="rId25"/>
    <p:sldId id="297" r:id="rId26"/>
    <p:sldId id="292" r:id="rId27"/>
    <p:sldId id="291" r:id="rId28"/>
    <p:sldId id="294" r:id="rId29"/>
    <p:sldId id="295" r:id="rId30"/>
    <p:sldId id="519" r:id="rId31"/>
    <p:sldId id="485" r:id="rId32"/>
    <p:sldId id="293" r:id="rId33"/>
    <p:sldId id="300" r:id="rId34"/>
    <p:sldId id="520" r:id="rId35"/>
    <p:sldId id="298" r:id="rId36"/>
    <p:sldId id="521" r:id="rId37"/>
    <p:sldId id="472" r:id="rId38"/>
    <p:sldId id="477" r:id="rId39"/>
    <p:sldId id="304" r:id="rId40"/>
    <p:sldId id="305" r:id="rId41"/>
    <p:sldId id="479" r:id="rId42"/>
    <p:sldId id="473" r:id="rId43"/>
    <p:sldId id="481" r:id="rId44"/>
    <p:sldId id="482" r:id="rId45"/>
    <p:sldId id="488" r:id="rId46"/>
    <p:sldId id="487" r:id="rId47"/>
    <p:sldId id="489" r:id="rId48"/>
    <p:sldId id="490" r:id="rId49"/>
    <p:sldId id="476" r:id="rId50"/>
    <p:sldId id="474" r:id="rId51"/>
    <p:sldId id="492" r:id="rId52"/>
    <p:sldId id="504" r:id="rId53"/>
    <p:sldId id="523" r:id="rId54"/>
    <p:sldId id="524" r:id="rId55"/>
    <p:sldId id="525" r:id="rId56"/>
    <p:sldId id="498" r:id="rId57"/>
    <p:sldId id="499" r:id="rId58"/>
    <p:sldId id="500" r:id="rId59"/>
    <p:sldId id="501" r:id="rId60"/>
    <p:sldId id="502" r:id="rId61"/>
    <p:sldId id="514" r:id="rId62"/>
    <p:sldId id="505" r:id="rId63"/>
    <p:sldId id="506" r:id="rId64"/>
    <p:sldId id="496" r:id="rId65"/>
    <p:sldId id="497" r:id="rId66"/>
    <p:sldId id="507" r:id="rId67"/>
    <p:sldId id="508" r:id="rId68"/>
    <p:sldId id="491" r:id="rId69"/>
    <p:sldId id="509" r:id="rId70"/>
    <p:sldId id="510" r:id="rId71"/>
    <p:sldId id="511" r:id="rId72"/>
    <p:sldId id="512" r:id="rId73"/>
    <p:sldId id="475" r:id="rId74"/>
    <p:sldId id="513" r:id="rId7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00" autoAdjust="0"/>
    <p:restoredTop sz="94809" autoAdjust="0"/>
  </p:normalViewPr>
  <p:slideViewPr>
    <p:cSldViewPr snapToGrid="0">
      <p:cViewPr varScale="1">
        <p:scale>
          <a:sx n="69" d="100"/>
          <a:sy n="69" d="100"/>
        </p:scale>
        <p:origin x="124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6993FA-F4EB-4F5C-AC0E-D19D76C7FE18}" type="datetimeFigureOut">
              <a:rPr lang="es-ES" smtClean="0"/>
              <a:t>08/09/2025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7C101-15E4-4D70-A114-C89E83A709C8}" type="slidenum">
              <a:rPr lang="es-ES" smtClean="0"/>
              <a:t>‹Nº›</a:t>
            </a:fld>
            <a:endParaRPr lang="es-ES"/>
          </a:p>
        </p:txBody>
      </p:sp>
    </p:spTree>
    <p:extLst>
      <p:ext uri="{BB962C8B-B14F-4D97-AF65-F5344CB8AC3E}">
        <p14:creationId xmlns:p14="http://schemas.microsoft.com/office/powerpoint/2010/main" val="54143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3B7C101-15E4-4D70-A114-C89E83A709C8}" type="slidenum">
              <a:rPr lang="es-ES" smtClean="0"/>
              <a:t>18</a:t>
            </a:fld>
            <a:endParaRPr lang="es-ES"/>
          </a:p>
        </p:txBody>
      </p:sp>
    </p:spTree>
    <p:extLst>
      <p:ext uri="{BB962C8B-B14F-4D97-AF65-F5344CB8AC3E}">
        <p14:creationId xmlns:p14="http://schemas.microsoft.com/office/powerpoint/2010/main" val="2721070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70737A-30E0-41A2-B461-25A548C913B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EBE166C-5633-4873-B852-3A4F5546FE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9639014F-1DFE-4927-921F-4E53CB687F37}"/>
              </a:ext>
            </a:extLst>
          </p:cNvPr>
          <p:cNvSpPr>
            <a:spLocks noGrp="1"/>
          </p:cNvSpPr>
          <p:nvPr>
            <p:ph type="dt" sz="half" idx="10"/>
          </p:nvPr>
        </p:nvSpPr>
        <p:spPr/>
        <p:txBody>
          <a:bodyPr/>
          <a:lstStyle/>
          <a:p>
            <a:fld id="{CFE85FDD-93E9-4DED-94FB-E13CBFB13D77}" type="datetime1">
              <a:rPr lang="es-ES" smtClean="0"/>
              <a:t>08/09/2025</a:t>
            </a:fld>
            <a:endParaRPr lang="es-ES"/>
          </a:p>
        </p:txBody>
      </p:sp>
      <p:sp>
        <p:nvSpPr>
          <p:cNvPr id="5" name="Marcador de pie de página 4">
            <a:extLst>
              <a:ext uri="{FF2B5EF4-FFF2-40B4-BE49-F238E27FC236}">
                <a16:creationId xmlns:a16="http://schemas.microsoft.com/office/drawing/2014/main" id="{703D05DA-9B6F-44F8-A333-ABA84FFE477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B41CCAC-F1C7-439D-A1C6-148B192BEE2C}"/>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8829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E16EB7-D1A7-4CEF-B7B0-D69F5E52A25D}"/>
              </a:ext>
            </a:extLst>
          </p:cNvPr>
          <p:cNvSpPr>
            <a:spLocks noGrp="1"/>
          </p:cNvSpPr>
          <p:nvPr>
            <p:ph type="title"/>
          </p:nvPr>
        </p:nvSpPr>
        <p:spPr>
          <a:ln>
            <a:solidFill>
              <a:schemeClr val="tx1"/>
            </a:solidFill>
          </a:ln>
        </p:spPr>
        <p:txBody>
          <a:bodyPr/>
          <a:lstStyle/>
          <a:p>
            <a:r>
              <a:rPr lang="es-ES" dirty="0"/>
              <a:t>Haga clic para modificar el estilo de título del patrón</a:t>
            </a:r>
          </a:p>
        </p:txBody>
      </p:sp>
      <p:sp>
        <p:nvSpPr>
          <p:cNvPr id="3" name="Marcador de contenido 2">
            <a:extLst>
              <a:ext uri="{FF2B5EF4-FFF2-40B4-BE49-F238E27FC236}">
                <a16:creationId xmlns:a16="http://schemas.microsoft.com/office/drawing/2014/main" id="{2B2099EC-4D79-4FBE-A0F3-85058A8B991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19089A4-937F-4BD1-809E-44AE307B15D7}"/>
              </a:ext>
            </a:extLst>
          </p:cNvPr>
          <p:cNvSpPr>
            <a:spLocks noGrp="1"/>
          </p:cNvSpPr>
          <p:nvPr>
            <p:ph type="dt" sz="half" idx="10"/>
          </p:nvPr>
        </p:nvSpPr>
        <p:spPr/>
        <p:txBody>
          <a:bodyPr/>
          <a:lstStyle/>
          <a:p>
            <a:fld id="{3530566B-D29A-48B5-AE66-02FE67909A5D}" type="datetime1">
              <a:rPr lang="es-ES" smtClean="0"/>
              <a:t>08/09/2025</a:t>
            </a:fld>
            <a:endParaRPr lang="es-ES"/>
          </a:p>
        </p:txBody>
      </p:sp>
      <p:sp>
        <p:nvSpPr>
          <p:cNvPr id="5" name="Marcador de pie de página 4">
            <a:extLst>
              <a:ext uri="{FF2B5EF4-FFF2-40B4-BE49-F238E27FC236}">
                <a16:creationId xmlns:a16="http://schemas.microsoft.com/office/drawing/2014/main" id="{3A626FFB-669E-4FEF-AAF4-FCBE8D20498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B3302B3-AB25-45B7-A138-5DD3F6FD07BE}"/>
              </a:ext>
            </a:extLst>
          </p:cNvPr>
          <p:cNvSpPr>
            <a:spLocks noGrp="1"/>
          </p:cNvSpPr>
          <p:nvPr>
            <p:ph type="sldNum" sz="quarter" idx="12"/>
          </p:nvPr>
        </p:nvSpPr>
        <p:spPr/>
        <p:txBody>
          <a:bodyPr/>
          <a:lstStyle>
            <a:lvl1pPr>
              <a:defRPr sz="1600"/>
            </a:lvl1pPr>
          </a:lstStyle>
          <a:p>
            <a:fld id="{336CAFD0-1F6E-4E11-9822-836563A02839}" type="slidenum">
              <a:rPr lang="es-ES" smtClean="0"/>
              <a:pPr/>
              <a:t>‹Nº›</a:t>
            </a:fld>
            <a:endParaRPr lang="es-ES" dirty="0"/>
          </a:p>
        </p:txBody>
      </p:sp>
    </p:spTree>
    <p:extLst>
      <p:ext uri="{BB962C8B-B14F-4D97-AF65-F5344CB8AC3E}">
        <p14:creationId xmlns:p14="http://schemas.microsoft.com/office/powerpoint/2010/main" val="1232818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DBB67B-96F2-4E3B-AD4B-986D490B90D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CA24320-D7DC-4240-B4DF-339532FE9C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42E11C2-AD04-4ED6-82A4-3FD71B6FB041}"/>
              </a:ext>
            </a:extLst>
          </p:cNvPr>
          <p:cNvSpPr>
            <a:spLocks noGrp="1"/>
          </p:cNvSpPr>
          <p:nvPr>
            <p:ph type="dt" sz="half" idx="10"/>
          </p:nvPr>
        </p:nvSpPr>
        <p:spPr/>
        <p:txBody>
          <a:bodyPr/>
          <a:lstStyle/>
          <a:p>
            <a:fld id="{690E50F2-204D-422E-A62C-8A2A95FE0EA0}" type="datetime1">
              <a:rPr lang="es-ES" smtClean="0"/>
              <a:t>08/09/2025</a:t>
            </a:fld>
            <a:endParaRPr lang="es-ES"/>
          </a:p>
        </p:txBody>
      </p:sp>
      <p:sp>
        <p:nvSpPr>
          <p:cNvPr id="5" name="Marcador de pie de página 4">
            <a:extLst>
              <a:ext uri="{FF2B5EF4-FFF2-40B4-BE49-F238E27FC236}">
                <a16:creationId xmlns:a16="http://schemas.microsoft.com/office/drawing/2014/main" id="{0E0448CB-E41F-4F50-8E08-202E8756D23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04FAE15-CF45-4AED-8356-CE6C9EE83A17}"/>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80938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0246AD-7BE6-483F-96A3-541DAD4B8C9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A3C3E4F-C907-4C22-B083-DDF5EDF27FF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65065CB-41D1-4202-A34D-7BB99EB785E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6FAE56AF-AE89-4D7B-A003-4931E6EA89F0}"/>
              </a:ext>
            </a:extLst>
          </p:cNvPr>
          <p:cNvSpPr>
            <a:spLocks noGrp="1"/>
          </p:cNvSpPr>
          <p:nvPr>
            <p:ph type="dt" sz="half" idx="10"/>
          </p:nvPr>
        </p:nvSpPr>
        <p:spPr/>
        <p:txBody>
          <a:bodyPr/>
          <a:lstStyle/>
          <a:p>
            <a:fld id="{39F0192F-D937-48F6-B938-D4FF2285D339}" type="datetime1">
              <a:rPr lang="es-ES" smtClean="0"/>
              <a:t>08/09/2025</a:t>
            </a:fld>
            <a:endParaRPr lang="es-ES"/>
          </a:p>
        </p:txBody>
      </p:sp>
      <p:sp>
        <p:nvSpPr>
          <p:cNvPr id="6" name="Marcador de pie de página 5">
            <a:extLst>
              <a:ext uri="{FF2B5EF4-FFF2-40B4-BE49-F238E27FC236}">
                <a16:creationId xmlns:a16="http://schemas.microsoft.com/office/drawing/2014/main" id="{EAF7D8F9-491C-4103-A8F2-5F9F0FA5D70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7F04D832-55CC-4538-B057-CA9881D9ABC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053882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8EF558-0175-4BD0-979F-D483F1A0D868}"/>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974E40B-3DF7-44C5-860B-A36DE85FED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106F954-C6D4-4723-8E03-55A1E79F00B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0C871A73-8828-4197-ADC1-0C21128F61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33081A4-0280-4B19-9B06-BA7D8076931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9340A08-2899-40F7-B8EE-A496CBD88CC2}"/>
              </a:ext>
            </a:extLst>
          </p:cNvPr>
          <p:cNvSpPr>
            <a:spLocks noGrp="1"/>
          </p:cNvSpPr>
          <p:nvPr>
            <p:ph type="dt" sz="half" idx="10"/>
          </p:nvPr>
        </p:nvSpPr>
        <p:spPr/>
        <p:txBody>
          <a:bodyPr/>
          <a:lstStyle/>
          <a:p>
            <a:fld id="{C2B58F57-2DA1-4DBA-AA33-8D93DD9494F9}" type="datetime1">
              <a:rPr lang="es-ES" smtClean="0"/>
              <a:t>08/09/2025</a:t>
            </a:fld>
            <a:endParaRPr lang="es-ES"/>
          </a:p>
        </p:txBody>
      </p:sp>
      <p:sp>
        <p:nvSpPr>
          <p:cNvPr id="8" name="Marcador de pie de página 7">
            <a:extLst>
              <a:ext uri="{FF2B5EF4-FFF2-40B4-BE49-F238E27FC236}">
                <a16:creationId xmlns:a16="http://schemas.microsoft.com/office/drawing/2014/main" id="{275E94AC-0958-41A7-A416-28A3791B2DA4}"/>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7A743E3-167E-4DC6-AF9F-963C2A2C867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811594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0C0657-7B1A-442F-A5A8-F68C547D6CCC}"/>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220B9629-5B37-4C68-BCAF-4F204AD59B8A}"/>
              </a:ext>
            </a:extLst>
          </p:cNvPr>
          <p:cNvSpPr>
            <a:spLocks noGrp="1"/>
          </p:cNvSpPr>
          <p:nvPr>
            <p:ph type="dt" sz="half" idx="10"/>
          </p:nvPr>
        </p:nvSpPr>
        <p:spPr/>
        <p:txBody>
          <a:bodyPr/>
          <a:lstStyle/>
          <a:p>
            <a:fld id="{A88FAA46-ADD9-4633-900E-54294B546C39}" type="datetime1">
              <a:rPr lang="es-ES" smtClean="0"/>
              <a:t>08/09/2025</a:t>
            </a:fld>
            <a:endParaRPr lang="es-ES"/>
          </a:p>
        </p:txBody>
      </p:sp>
      <p:sp>
        <p:nvSpPr>
          <p:cNvPr id="4" name="Marcador de pie de página 3">
            <a:extLst>
              <a:ext uri="{FF2B5EF4-FFF2-40B4-BE49-F238E27FC236}">
                <a16:creationId xmlns:a16="http://schemas.microsoft.com/office/drawing/2014/main" id="{AF496A21-694B-4235-9BDF-7FA776CD648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FC769F2-5C78-4519-AE94-E67F0F38EE16}"/>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98525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3476251-88E2-4CBD-95F9-95E8112B58A1}"/>
              </a:ext>
            </a:extLst>
          </p:cNvPr>
          <p:cNvSpPr>
            <a:spLocks noGrp="1"/>
          </p:cNvSpPr>
          <p:nvPr>
            <p:ph type="dt" sz="half" idx="10"/>
          </p:nvPr>
        </p:nvSpPr>
        <p:spPr/>
        <p:txBody>
          <a:bodyPr/>
          <a:lstStyle/>
          <a:p>
            <a:fld id="{DCCAD164-930E-44E1-8AD6-DA81FFB2E87B}" type="datetime1">
              <a:rPr lang="es-ES" smtClean="0"/>
              <a:t>08/09/2025</a:t>
            </a:fld>
            <a:endParaRPr lang="es-ES"/>
          </a:p>
        </p:txBody>
      </p:sp>
      <p:sp>
        <p:nvSpPr>
          <p:cNvPr id="3" name="Marcador de pie de página 2">
            <a:extLst>
              <a:ext uri="{FF2B5EF4-FFF2-40B4-BE49-F238E27FC236}">
                <a16:creationId xmlns:a16="http://schemas.microsoft.com/office/drawing/2014/main" id="{A49AE1B3-12A0-41E5-8708-38E7CDE67E4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D8E5739-F16D-4ED7-934D-15DD6F3FD68A}"/>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04149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05BC6A-6581-45ED-97B2-665F6CC3E5F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F6E2A75-C11D-4D21-973A-6BD6B12AB5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C2970D4-7A79-4101-849B-C528055754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224EC5D-1BA5-4E28-9CF2-850714ED1F67}"/>
              </a:ext>
            </a:extLst>
          </p:cNvPr>
          <p:cNvSpPr>
            <a:spLocks noGrp="1"/>
          </p:cNvSpPr>
          <p:nvPr>
            <p:ph type="dt" sz="half" idx="10"/>
          </p:nvPr>
        </p:nvSpPr>
        <p:spPr/>
        <p:txBody>
          <a:bodyPr/>
          <a:lstStyle/>
          <a:p>
            <a:fld id="{E7A19943-A7E6-4D67-A3E5-3CC6ADA523F1}" type="datetime1">
              <a:rPr lang="es-ES" smtClean="0"/>
              <a:t>08/09/2025</a:t>
            </a:fld>
            <a:endParaRPr lang="es-ES"/>
          </a:p>
        </p:txBody>
      </p:sp>
      <p:sp>
        <p:nvSpPr>
          <p:cNvPr id="6" name="Marcador de pie de página 5">
            <a:extLst>
              <a:ext uri="{FF2B5EF4-FFF2-40B4-BE49-F238E27FC236}">
                <a16:creationId xmlns:a16="http://schemas.microsoft.com/office/drawing/2014/main" id="{9B84FBFE-5582-479B-A6E8-8BD08A0B9E3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F81D782-F740-4365-8C21-A299A8B5FFB5}"/>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12050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935E2E-4483-4902-9BE4-8F6FA962B21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E9D67D1-94DE-4CC9-85D5-7FFF8811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544DCF8-D22F-4389-B4E4-9670563345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762798B-5681-4C69-BB09-2388DA3C2064}"/>
              </a:ext>
            </a:extLst>
          </p:cNvPr>
          <p:cNvSpPr>
            <a:spLocks noGrp="1"/>
          </p:cNvSpPr>
          <p:nvPr>
            <p:ph type="dt" sz="half" idx="10"/>
          </p:nvPr>
        </p:nvSpPr>
        <p:spPr/>
        <p:txBody>
          <a:bodyPr/>
          <a:lstStyle/>
          <a:p>
            <a:fld id="{02312756-8293-4ED7-8C53-E15A36E0B819}" type="datetime1">
              <a:rPr lang="es-ES" smtClean="0"/>
              <a:t>08/09/2025</a:t>
            </a:fld>
            <a:endParaRPr lang="es-ES"/>
          </a:p>
        </p:txBody>
      </p:sp>
      <p:sp>
        <p:nvSpPr>
          <p:cNvPr id="6" name="Marcador de pie de página 5">
            <a:extLst>
              <a:ext uri="{FF2B5EF4-FFF2-40B4-BE49-F238E27FC236}">
                <a16:creationId xmlns:a16="http://schemas.microsoft.com/office/drawing/2014/main" id="{D4B9532C-97BB-441B-B506-C25F8CF28440}"/>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8D157D7-9A5A-414D-A0CA-96FAE873A543}"/>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3248935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7A50E-F7F5-4C4D-8B77-79BAEF2E5C0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5AFBB6D-17BE-4C49-BCCF-B5C5CFE9F99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A09176D5-891E-44BA-B401-E3A04EAFABAC}"/>
              </a:ext>
            </a:extLst>
          </p:cNvPr>
          <p:cNvSpPr>
            <a:spLocks noGrp="1"/>
          </p:cNvSpPr>
          <p:nvPr>
            <p:ph type="dt" sz="half" idx="10"/>
          </p:nvPr>
        </p:nvSpPr>
        <p:spPr/>
        <p:txBody>
          <a:bodyPr/>
          <a:lstStyle/>
          <a:p>
            <a:fld id="{2D5988EC-7283-4406-9DFD-E99FA692D75C}" type="datetime1">
              <a:rPr lang="es-ES" smtClean="0"/>
              <a:t>08/09/2025</a:t>
            </a:fld>
            <a:endParaRPr lang="es-ES"/>
          </a:p>
        </p:txBody>
      </p:sp>
      <p:sp>
        <p:nvSpPr>
          <p:cNvPr id="5" name="Marcador de pie de página 4">
            <a:extLst>
              <a:ext uri="{FF2B5EF4-FFF2-40B4-BE49-F238E27FC236}">
                <a16:creationId xmlns:a16="http://schemas.microsoft.com/office/drawing/2014/main" id="{9F934A99-FA15-4D15-97E2-3E17E0383DF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6A8D24B-343C-4B37-A9F6-33CE51FE33A9}"/>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2391468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F92B8F-BB2D-45E5-A81C-009359D306A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49973B1-2492-45DB-BA9B-BD3B59B4B8B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07A9D75-FCEC-47C9-AA6E-4D2F6CFF65C0}"/>
              </a:ext>
            </a:extLst>
          </p:cNvPr>
          <p:cNvSpPr>
            <a:spLocks noGrp="1"/>
          </p:cNvSpPr>
          <p:nvPr>
            <p:ph type="dt" sz="half" idx="10"/>
          </p:nvPr>
        </p:nvSpPr>
        <p:spPr/>
        <p:txBody>
          <a:bodyPr/>
          <a:lstStyle/>
          <a:p>
            <a:fld id="{979A9286-D927-4095-B743-3451D71D767F}" type="datetime1">
              <a:rPr lang="es-ES" smtClean="0"/>
              <a:t>08/09/2025</a:t>
            </a:fld>
            <a:endParaRPr lang="es-ES"/>
          </a:p>
        </p:txBody>
      </p:sp>
      <p:sp>
        <p:nvSpPr>
          <p:cNvPr id="5" name="Marcador de pie de página 4">
            <a:extLst>
              <a:ext uri="{FF2B5EF4-FFF2-40B4-BE49-F238E27FC236}">
                <a16:creationId xmlns:a16="http://schemas.microsoft.com/office/drawing/2014/main" id="{8320CC3E-8F0C-4A5B-B192-6F292AE46AA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5C7BE2D-24E9-4481-AEB9-697A2447AA61}"/>
              </a:ext>
            </a:extLst>
          </p:cNvPr>
          <p:cNvSpPr>
            <a:spLocks noGrp="1"/>
          </p:cNvSpPr>
          <p:nvPr>
            <p:ph type="sldNum" sz="quarter" idx="12"/>
          </p:nvPr>
        </p:nvSpPr>
        <p:spPr/>
        <p:txBody>
          <a:bodyPr/>
          <a:lstStyle/>
          <a:p>
            <a:fld id="{336CAFD0-1F6E-4E11-9822-836563A02839}" type="slidenum">
              <a:rPr lang="es-ES" smtClean="0"/>
              <a:t>‹Nº›</a:t>
            </a:fld>
            <a:endParaRPr lang="es-ES"/>
          </a:p>
        </p:txBody>
      </p:sp>
    </p:spTree>
    <p:extLst>
      <p:ext uri="{BB962C8B-B14F-4D97-AF65-F5344CB8AC3E}">
        <p14:creationId xmlns:p14="http://schemas.microsoft.com/office/powerpoint/2010/main" val="4213171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3CBADE-FD33-4AF1-9F6F-A44E4356A6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674D713-AFC9-4141-B355-05ABF78935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1666BF8-72F7-4108-81B8-D74BF52FE0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6AEDC6-F719-4D5C-BB7F-D599F6A812F4}" type="datetime1">
              <a:rPr lang="es-ES" smtClean="0"/>
              <a:t>08/09/2025</a:t>
            </a:fld>
            <a:endParaRPr lang="es-ES"/>
          </a:p>
        </p:txBody>
      </p:sp>
      <p:sp>
        <p:nvSpPr>
          <p:cNvPr id="5" name="Marcador de pie de página 4">
            <a:extLst>
              <a:ext uri="{FF2B5EF4-FFF2-40B4-BE49-F238E27FC236}">
                <a16:creationId xmlns:a16="http://schemas.microsoft.com/office/drawing/2014/main" id="{30F725B7-4457-4323-8704-24025C4934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B81E65A2-2681-4AF8-8875-39AE9558A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6CAFD0-1F6E-4E11-9822-836563A02839}" type="slidenum">
              <a:rPr lang="es-ES" smtClean="0"/>
              <a:t>‹Nº›</a:t>
            </a:fld>
            <a:endParaRPr lang="es-ES"/>
          </a:p>
        </p:txBody>
      </p:sp>
    </p:spTree>
    <p:extLst>
      <p:ext uri="{BB962C8B-B14F-4D97-AF65-F5344CB8AC3E}">
        <p14:creationId xmlns:p14="http://schemas.microsoft.com/office/powerpoint/2010/main" val="2916707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oreilly.com/library-access/?next=/library/view/Probability-and-statistics/9781439875919/"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proyectodescartes.org/iCartesiLibri/materiales_didacticos/EstadisticaProbabilidadInferencia/Muestreo/2MuestreoProbabilisticoTiposdeMuestreo.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hyperlink" Target="https://en.wikipedia.org/wiki/Quantile_function"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datatab.es/tutorial/test-of-normality"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5024B-BC8C-4A3E-B772-46F3159760AA}"/>
              </a:ext>
            </a:extLst>
          </p:cNvPr>
          <p:cNvSpPr>
            <a:spLocks noGrp="1"/>
          </p:cNvSpPr>
          <p:nvPr>
            <p:ph type="ctrTitle"/>
          </p:nvPr>
        </p:nvSpPr>
        <p:spPr/>
        <p:txBody>
          <a:bodyPr>
            <a:normAutofit/>
          </a:bodyPr>
          <a:lstStyle/>
          <a:p>
            <a:r>
              <a:rPr lang="es-ES" dirty="0"/>
              <a:t>Intervalos de confianza</a:t>
            </a:r>
          </a:p>
        </p:txBody>
      </p:sp>
      <p:sp>
        <p:nvSpPr>
          <p:cNvPr id="3" name="Subtítulo 2">
            <a:extLst>
              <a:ext uri="{FF2B5EF4-FFF2-40B4-BE49-F238E27FC236}">
                <a16:creationId xmlns:a16="http://schemas.microsoft.com/office/drawing/2014/main" id="{C26AD6E3-038F-4B94-A53F-314F158509E6}"/>
              </a:ext>
            </a:extLst>
          </p:cNvPr>
          <p:cNvSpPr>
            <a:spLocks noGrp="1"/>
          </p:cNvSpPr>
          <p:nvPr>
            <p:ph type="subTitle" idx="1"/>
          </p:nvPr>
        </p:nvSpPr>
        <p:spPr/>
        <p:txBody>
          <a:bodyPr/>
          <a:lstStyle/>
          <a:p>
            <a:r>
              <a:rPr lang="es-ES" dirty="0"/>
              <a:t>Contenidos adaptados del libro “</a:t>
            </a:r>
            <a:r>
              <a:rPr lang="en-US" dirty="0">
                <a:hlinkClick r:id="rId2"/>
              </a:rPr>
              <a:t>Probability and statistics for computer scientists, Second edition, M. Baron</a:t>
            </a:r>
            <a:r>
              <a:rPr lang="en-US" dirty="0"/>
              <a:t>” (</a:t>
            </a:r>
            <a:r>
              <a:rPr lang="en-US" dirty="0" err="1"/>
              <a:t>Capítulo</a:t>
            </a:r>
            <a:r>
              <a:rPr lang="en-US" dirty="0"/>
              <a:t> 9)</a:t>
            </a:r>
            <a:endParaRPr lang="es-ES" dirty="0"/>
          </a:p>
        </p:txBody>
      </p:sp>
    </p:spTree>
    <p:extLst>
      <p:ext uri="{BB962C8B-B14F-4D97-AF65-F5344CB8AC3E}">
        <p14:creationId xmlns:p14="http://schemas.microsoft.com/office/powerpoint/2010/main" val="2737515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4652C-29A9-89EF-39F2-1A8D69D4B089}"/>
              </a:ext>
            </a:extLst>
          </p:cNvPr>
          <p:cNvSpPr>
            <a:spLocks noGrp="1"/>
          </p:cNvSpPr>
          <p:nvPr>
            <p:ph type="title"/>
          </p:nvPr>
        </p:nvSpPr>
        <p:spPr/>
        <p:txBody>
          <a:bodyPr/>
          <a:lstStyle/>
          <a:p>
            <a:r>
              <a:rPr lang="es-ES" dirty="0"/>
              <a:t>Contenidos</a:t>
            </a:r>
          </a:p>
        </p:txBody>
      </p:sp>
      <p:sp>
        <p:nvSpPr>
          <p:cNvPr id="3" name="Marcador de contenido 2">
            <a:extLst>
              <a:ext uri="{FF2B5EF4-FFF2-40B4-BE49-F238E27FC236}">
                <a16:creationId xmlns:a16="http://schemas.microsoft.com/office/drawing/2014/main" id="{0876B585-B497-85A0-6FF6-C94DD5F1FC2B}"/>
              </a:ext>
            </a:extLst>
          </p:cNvPr>
          <p:cNvSpPr>
            <a:spLocks noGrp="1"/>
          </p:cNvSpPr>
          <p:nvPr>
            <p:ph idx="1"/>
          </p:nvPr>
        </p:nvSpPr>
        <p:spPr/>
        <p:txBody>
          <a:bodyPr>
            <a:normAutofit fontScale="77500" lnSpcReduction="20000"/>
          </a:bodyPr>
          <a:lstStyle/>
          <a:p>
            <a:pPr marL="514350" indent="-514350">
              <a:buFont typeface="+mj-lt"/>
              <a:buAutoNum type="arabicPeriod"/>
            </a:pPr>
            <a:r>
              <a:rPr lang="es-ES" dirty="0"/>
              <a:t>Objetivos</a:t>
            </a:r>
          </a:p>
          <a:p>
            <a:pPr marL="514350" indent="-514350">
              <a:buFont typeface="+mj-lt"/>
              <a:buAutoNum type="arabicPeriod"/>
            </a:pPr>
            <a:r>
              <a:rPr lang="es-ES" dirty="0"/>
              <a:t>Introducción a la inferencia estadística</a:t>
            </a:r>
          </a:p>
          <a:p>
            <a:pPr marL="514350" indent="-514350">
              <a:buFont typeface="+mj-lt"/>
              <a:buAutoNum type="arabicPeriod"/>
            </a:pPr>
            <a:r>
              <a:rPr lang="es-ES" dirty="0"/>
              <a:t>Muestreo</a:t>
            </a:r>
          </a:p>
          <a:p>
            <a:pPr marL="514350" indent="-514350">
              <a:buFont typeface="+mj-lt"/>
              <a:buAutoNum type="arabicPeriod"/>
            </a:pPr>
            <a:r>
              <a:rPr lang="es-ES" dirty="0"/>
              <a:t>Estimación de parámetros</a:t>
            </a:r>
          </a:p>
          <a:p>
            <a:pPr marL="514350" indent="-514350">
              <a:buFont typeface="+mj-lt"/>
              <a:buAutoNum type="arabicPeriod"/>
            </a:pPr>
            <a:r>
              <a:rPr lang="es-ES" dirty="0"/>
              <a:t>Definición de intervalo de confianza</a:t>
            </a:r>
          </a:p>
          <a:p>
            <a:pPr marL="514350" indent="-514350">
              <a:buFont typeface="+mj-lt"/>
              <a:buAutoNum type="arabicPeriod"/>
            </a:pPr>
            <a:r>
              <a:rPr lang="es-ES" dirty="0"/>
              <a:t>Método general de construcción de un intervalo de confianza</a:t>
            </a:r>
          </a:p>
          <a:p>
            <a:pPr marL="514350" indent="-514350">
              <a:buFont typeface="+mj-lt"/>
              <a:buAutoNum type="arabicPeriod"/>
            </a:pPr>
            <a:r>
              <a:rPr lang="es-ES" dirty="0"/>
              <a:t>Intervalo de confianza para la media poblacional</a:t>
            </a:r>
          </a:p>
          <a:p>
            <a:pPr marL="514350" indent="-514350">
              <a:buFont typeface="+mj-lt"/>
              <a:buAutoNum type="arabicPeriod"/>
            </a:pPr>
            <a:r>
              <a:rPr lang="es-ES" dirty="0"/>
              <a:t>Intervalo de confianza para una proporción poblacional</a:t>
            </a:r>
          </a:p>
          <a:p>
            <a:pPr marL="514350" indent="-514350">
              <a:buFont typeface="+mj-lt"/>
              <a:buAutoNum type="arabicPeriod"/>
            </a:pPr>
            <a:r>
              <a:rPr lang="es-ES" dirty="0"/>
              <a:t>Intervalo de confianza para la varianza poblacional</a:t>
            </a:r>
          </a:p>
          <a:p>
            <a:pPr marL="514350" indent="-514350">
              <a:buFont typeface="+mj-lt"/>
              <a:buAutoNum type="arabicPeriod"/>
            </a:pPr>
            <a:r>
              <a:rPr lang="es-ES" dirty="0"/>
              <a:t>Intervalo de confianza para la diferencia de dos medias </a:t>
            </a:r>
          </a:p>
          <a:p>
            <a:pPr marL="514350" indent="-514350">
              <a:buFont typeface="+mj-lt"/>
              <a:buAutoNum type="arabicPeriod"/>
            </a:pPr>
            <a:r>
              <a:rPr lang="es-ES" dirty="0"/>
              <a:t>Intervalo de confianza para la diferencia de dos proporciones</a:t>
            </a:r>
          </a:p>
          <a:p>
            <a:pPr marL="514350" indent="-514350">
              <a:buFont typeface="+mj-lt"/>
              <a:buAutoNum type="arabicPeriod"/>
            </a:pPr>
            <a:r>
              <a:rPr lang="es-ES" dirty="0"/>
              <a:t>Resumen</a:t>
            </a:r>
          </a:p>
          <a:p>
            <a:pPr marL="514350" indent="-514350">
              <a:buFont typeface="+mj-lt"/>
              <a:buAutoNum type="arabicPeriod"/>
            </a:pPr>
            <a:endParaRPr lang="es-ES" dirty="0"/>
          </a:p>
        </p:txBody>
      </p:sp>
      <p:sp>
        <p:nvSpPr>
          <p:cNvPr id="4" name="Marcador de número de diapositiva 3">
            <a:extLst>
              <a:ext uri="{FF2B5EF4-FFF2-40B4-BE49-F238E27FC236}">
                <a16:creationId xmlns:a16="http://schemas.microsoft.com/office/drawing/2014/main" id="{741137E5-86B4-304F-08CB-613284F83B74}"/>
              </a:ext>
            </a:extLst>
          </p:cNvPr>
          <p:cNvSpPr>
            <a:spLocks noGrp="1"/>
          </p:cNvSpPr>
          <p:nvPr>
            <p:ph type="sldNum" sz="quarter" idx="12"/>
          </p:nvPr>
        </p:nvSpPr>
        <p:spPr/>
        <p:txBody>
          <a:bodyPr/>
          <a:lstStyle/>
          <a:p>
            <a:fld id="{336CAFD0-1F6E-4E11-9822-836563A02839}" type="slidenum">
              <a:rPr lang="es-ES" smtClean="0"/>
              <a:pPr/>
              <a:t>2</a:t>
            </a:fld>
            <a:endParaRPr lang="es-ES" dirty="0"/>
          </a:p>
        </p:txBody>
      </p:sp>
    </p:spTree>
    <p:extLst>
      <p:ext uri="{BB962C8B-B14F-4D97-AF65-F5344CB8AC3E}">
        <p14:creationId xmlns:p14="http://schemas.microsoft.com/office/powerpoint/2010/main" val="2967162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18D74D-BDDF-1C25-911B-86A5190A6892}"/>
              </a:ext>
            </a:extLst>
          </p:cNvPr>
          <p:cNvSpPr>
            <a:spLocks noGrp="1"/>
          </p:cNvSpPr>
          <p:nvPr>
            <p:ph type="title"/>
          </p:nvPr>
        </p:nvSpPr>
        <p:spPr/>
        <p:txBody>
          <a:bodyPr/>
          <a:lstStyle/>
          <a:p>
            <a:r>
              <a:rPr lang="es-ES" dirty="0"/>
              <a:t>1. Objetivos</a:t>
            </a:r>
          </a:p>
        </p:txBody>
      </p:sp>
      <p:sp>
        <p:nvSpPr>
          <p:cNvPr id="3" name="Marcador de contenido 2">
            <a:extLst>
              <a:ext uri="{FF2B5EF4-FFF2-40B4-BE49-F238E27FC236}">
                <a16:creationId xmlns:a16="http://schemas.microsoft.com/office/drawing/2014/main" id="{062C495E-D52C-8834-4B07-A00D5887FAB1}"/>
              </a:ext>
            </a:extLst>
          </p:cNvPr>
          <p:cNvSpPr>
            <a:spLocks noGrp="1"/>
          </p:cNvSpPr>
          <p:nvPr>
            <p:ph idx="1"/>
          </p:nvPr>
        </p:nvSpPr>
        <p:spPr/>
        <p:txBody>
          <a:bodyPr>
            <a:normAutofit fontScale="92500" lnSpcReduction="10000"/>
          </a:bodyPr>
          <a:lstStyle/>
          <a:p>
            <a:r>
              <a:rPr lang="es-ES" dirty="0"/>
              <a:t>Comprender la importancia de la estimación</a:t>
            </a:r>
          </a:p>
          <a:p>
            <a:r>
              <a:rPr lang="es-ES" dirty="0"/>
              <a:t>Reconocer situaciones en que los diferentes métodos de muestreo son relevantes</a:t>
            </a:r>
          </a:p>
          <a:p>
            <a:r>
              <a:rPr lang="es-ES" dirty="0"/>
              <a:t>Diferenciar entre parámetro de una población y estadístico de una muestra</a:t>
            </a:r>
          </a:p>
          <a:p>
            <a:r>
              <a:rPr lang="es-ES" dirty="0"/>
              <a:t>Diferenciar entre estimadores sesgados e insesgados</a:t>
            </a:r>
          </a:p>
          <a:p>
            <a:r>
              <a:rPr lang="es-ES" dirty="0"/>
              <a:t>Diferenciar entre la estimación puntual y la estimación por intervalo</a:t>
            </a:r>
          </a:p>
          <a:p>
            <a:r>
              <a:rPr lang="es-ES" dirty="0"/>
              <a:t>Construir intervalos de confianza para la media, varianza proporción de una población</a:t>
            </a:r>
          </a:p>
          <a:p>
            <a:r>
              <a:rPr lang="es-ES" dirty="0"/>
              <a:t>Construir intervalos de confianza para la diferencia de medias y proporciones de dos poblaciones </a:t>
            </a:r>
          </a:p>
          <a:p>
            <a:pPr marL="457200" lvl="1" indent="0">
              <a:buNone/>
            </a:pPr>
            <a:endParaRPr lang="es-ES" dirty="0"/>
          </a:p>
          <a:p>
            <a:endParaRPr lang="es-ES" dirty="0"/>
          </a:p>
        </p:txBody>
      </p:sp>
      <p:sp>
        <p:nvSpPr>
          <p:cNvPr id="4" name="Marcador de número de diapositiva 3">
            <a:extLst>
              <a:ext uri="{FF2B5EF4-FFF2-40B4-BE49-F238E27FC236}">
                <a16:creationId xmlns:a16="http://schemas.microsoft.com/office/drawing/2014/main" id="{C3451FA0-398C-1AA8-C03C-622472FA61C2}"/>
              </a:ext>
            </a:extLst>
          </p:cNvPr>
          <p:cNvSpPr>
            <a:spLocks noGrp="1"/>
          </p:cNvSpPr>
          <p:nvPr>
            <p:ph type="sldNum" sz="quarter" idx="12"/>
          </p:nvPr>
        </p:nvSpPr>
        <p:spPr/>
        <p:txBody>
          <a:bodyPr/>
          <a:lstStyle/>
          <a:p>
            <a:fld id="{336CAFD0-1F6E-4E11-9822-836563A02839}" type="slidenum">
              <a:rPr lang="es-ES" smtClean="0"/>
              <a:t>3</a:t>
            </a:fld>
            <a:endParaRPr lang="es-ES"/>
          </a:p>
        </p:txBody>
      </p:sp>
    </p:spTree>
    <p:extLst>
      <p:ext uri="{BB962C8B-B14F-4D97-AF65-F5344CB8AC3E}">
        <p14:creationId xmlns:p14="http://schemas.microsoft.com/office/powerpoint/2010/main" val="4065945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680CEB-5CDA-51E5-519F-81316B43E50B}"/>
              </a:ext>
            </a:extLst>
          </p:cNvPr>
          <p:cNvSpPr>
            <a:spLocks noGrp="1"/>
          </p:cNvSpPr>
          <p:nvPr>
            <p:ph type="title"/>
          </p:nvPr>
        </p:nvSpPr>
        <p:spPr/>
        <p:txBody>
          <a:bodyPr/>
          <a:lstStyle/>
          <a:p>
            <a:r>
              <a:rPr lang="es-ES" dirty="0"/>
              <a:t>2. Introducción a la inferencia estadística</a:t>
            </a:r>
          </a:p>
        </p:txBody>
      </p:sp>
      <p:sp>
        <p:nvSpPr>
          <p:cNvPr id="3" name="Marcador de contenido 2">
            <a:extLst>
              <a:ext uri="{FF2B5EF4-FFF2-40B4-BE49-F238E27FC236}">
                <a16:creationId xmlns:a16="http://schemas.microsoft.com/office/drawing/2014/main" id="{051AAADC-6D5A-3B33-A02F-A8CECC3D7A6B}"/>
              </a:ext>
            </a:extLst>
          </p:cNvPr>
          <p:cNvSpPr>
            <a:spLocks noGrp="1"/>
          </p:cNvSpPr>
          <p:nvPr>
            <p:ph idx="1"/>
          </p:nvPr>
        </p:nvSpPr>
        <p:spPr/>
        <p:txBody>
          <a:bodyPr>
            <a:normAutofit fontScale="92500" lnSpcReduction="20000"/>
          </a:bodyPr>
          <a:lstStyle/>
          <a:p>
            <a:r>
              <a:rPr lang="es-ES" dirty="0"/>
              <a:t>La inferencia estadística consiste en estimar (inferir) los parámetros (media, desviación estándar, ..) de una población (personas, cosas, ..) a partir de una parte de la misma.</a:t>
            </a:r>
          </a:p>
          <a:p>
            <a:r>
              <a:rPr lang="es-ES" dirty="0"/>
              <a:t>En inferencia estadística se trabaja con incertidumbre (variables aleatorias) al no disponer de todos los datos de la población, por lo que se manejan distribuciones de probabilidad para minimizar el error que se produce al realizar una estimación</a:t>
            </a:r>
          </a:p>
          <a:p>
            <a:r>
              <a:rPr lang="es-ES" dirty="0"/>
              <a:t>El resultado de la inferencia estadística puede ser</a:t>
            </a:r>
          </a:p>
          <a:p>
            <a:pPr lvl="1"/>
            <a:r>
              <a:rPr lang="es-ES" dirty="0"/>
              <a:t>Un intervalo de confianza o conjunto de posibles valores para los parámetros estimados, junto con una probabilidad de error cometido</a:t>
            </a:r>
          </a:p>
          <a:p>
            <a:pPr lvl="1"/>
            <a:r>
              <a:rPr lang="es-ES" dirty="0"/>
              <a:t>La comprobación de una hipótesis sobre los valores para los parámetros estimados, junto con una probabilidad de error cometido</a:t>
            </a:r>
          </a:p>
          <a:p>
            <a:pPr lvl="1"/>
            <a:r>
              <a:rPr lang="es-ES" dirty="0"/>
              <a:t>Un modelo de predicción (regresión) del valor de una propiedad de un elemento de la población a partir del valor de otra propiedad.  	 </a:t>
            </a:r>
          </a:p>
        </p:txBody>
      </p:sp>
      <p:sp>
        <p:nvSpPr>
          <p:cNvPr id="4" name="Marcador de número de diapositiva 3">
            <a:extLst>
              <a:ext uri="{FF2B5EF4-FFF2-40B4-BE49-F238E27FC236}">
                <a16:creationId xmlns:a16="http://schemas.microsoft.com/office/drawing/2014/main" id="{A66D72D4-D241-BE9E-70E6-03E92F6C22DE}"/>
              </a:ext>
            </a:extLst>
          </p:cNvPr>
          <p:cNvSpPr>
            <a:spLocks noGrp="1"/>
          </p:cNvSpPr>
          <p:nvPr>
            <p:ph type="sldNum" sz="quarter" idx="12"/>
          </p:nvPr>
        </p:nvSpPr>
        <p:spPr/>
        <p:txBody>
          <a:bodyPr/>
          <a:lstStyle/>
          <a:p>
            <a:fld id="{336CAFD0-1F6E-4E11-9822-836563A02839}" type="slidenum">
              <a:rPr lang="es-ES" smtClean="0"/>
              <a:pPr/>
              <a:t>4</a:t>
            </a:fld>
            <a:endParaRPr lang="es-ES" dirty="0"/>
          </a:p>
        </p:txBody>
      </p:sp>
    </p:spTree>
    <p:extLst>
      <p:ext uri="{BB962C8B-B14F-4D97-AF65-F5344CB8AC3E}">
        <p14:creationId xmlns:p14="http://schemas.microsoft.com/office/powerpoint/2010/main" val="920658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F41297-1AEF-F386-69A2-F48BF9DA65B9}"/>
              </a:ext>
            </a:extLst>
          </p:cNvPr>
          <p:cNvSpPr>
            <a:spLocks noGrp="1"/>
          </p:cNvSpPr>
          <p:nvPr>
            <p:ph type="title"/>
          </p:nvPr>
        </p:nvSpPr>
        <p:spPr/>
        <p:txBody>
          <a:bodyPr/>
          <a:lstStyle/>
          <a:p>
            <a:r>
              <a:rPr lang="es-ES" dirty="0"/>
              <a:t>3. Muestreo</a:t>
            </a:r>
            <a:br>
              <a:rPr lang="es-ES" dirty="0"/>
            </a:br>
            <a:r>
              <a:rPr lang="es-ES" dirty="0"/>
              <a:t>Definiciones (I)</a:t>
            </a:r>
          </a:p>
        </p:txBody>
      </p:sp>
      <p:sp>
        <p:nvSpPr>
          <p:cNvPr id="3" name="Marcador de contenido 2">
            <a:extLst>
              <a:ext uri="{FF2B5EF4-FFF2-40B4-BE49-F238E27FC236}">
                <a16:creationId xmlns:a16="http://schemas.microsoft.com/office/drawing/2014/main" id="{A7CBE9C6-65FE-ADCC-D84A-CDA17E95170F}"/>
              </a:ext>
            </a:extLst>
          </p:cNvPr>
          <p:cNvSpPr>
            <a:spLocks noGrp="1"/>
          </p:cNvSpPr>
          <p:nvPr>
            <p:ph idx="1"/>
          </p:nvPr>
        </p:nvSpPr>
        <p:spPr>
          <a:xfrm>
            <a:off x="838200" y="1825625"/>
            <a:ext cx="10515600" cy="4667250"/>
          </a:xfrm>
        </p:spPr>
        <p:txBody>
          <a:bodyPr>
            <a:normAutofit fontScale="70000" lnSpcReduction="20000"/>
          </a:bodyPr>
          <a:lstStyle/>
          <a:p>
            <a:r>
              <a:rPr lang="es-ES" dirty="0"/>
              <a:t>Población</a:t>
            </a:r>
          </a:p>
          <a:p>
            <a:pPr lvl="1"/>
            <a:r>
              <a:rPr lang="es-ES" dirty="0"/>
              <a:t>Todas las unidades o elementos de interés sobre cuyas propiedades (peso, tamaño, etc.) se quiere realizar un estudio estadístico (descriptivo o inferencial). Pueden ser personas, animales, planetas, cosas, ..</a:t>
            </a:r>
          </a:p>
          <a:p>
            <a:r>
              <a:rPr lang="es-ES" dirty="0"/>
              <a:t>Muestra (</a:t>
            </a:r>
            <a:r>
              <a:rPr lang="es-ES" i="1" dirty="0" err="1"/>
              <a:t>Sample</a:t>
            </a:r>
            <a:r>
              <a:rPr lang="es-ES" dirty="0"/>
              <a:t>)</a:t>
            </a:r>
          </a:p>
          <a:p>
            <a:pPr lvl="1"/>
            <a:r>
              <a:rPr lang="es-ES" dirty="0"/>
              <a:t>Subconjunto de una población compuesto por una parte de los elementos de la población (denominadas observaciones). </a:t>
            </a:r>
          </a:p>
          <a:p>
            <a:r>
              <a:rPr lang="es-ES" dirty="0"/>
              <a:t>Propiedad (de cada elemento de una población)</a:t>
            </a:r>
          </a:p>
          <a:p>
            <a:pPr lvl="1"/>
            <a:r>
              <a:rPr lang="es-ES" dirty="0"/>
              <a:t>Dato que representa alguna medida sobre un elemento de una población. Por ejemplo, la edad de cada persona en una población de personas. Es lo que en estadística descriptiva se denomina “variable estadística”. </a:t>
            </a:r>
          </a:p>
          <a:p>
            <a:r>
              <a:rPr lang="es-ES" dirty="0"/>
              <a:t>Muestreo (</a:t>
            </a:r>
            <a:r>
              <a:rPr lang="es-ES" i="1" dirty="0" err="1"/>
              <a:t>Sampling</a:t>
            </a:r>
            <a:r>
              <a:rPr lang="es-ES" dirty="0"/>
              <a:t>)</a:t>
            </a:r>
          </a:p>
          <a:p>
            <a:pPr lvl="1"/>
            <a:r>
              <a:rPr lang="es-ES" dirty="0"/>
              <a:t>Acción de creación de una muestra y recolección de los valores de las propiedades de los elementos incluidos en la muestra.    </a:t>
            </a:r>
          </a:p>
          <a:p>
            <a:r>
              <a:rPr lang="es-ES" dirty="0"/>
              <a:t>Parámetro (de una población)</a:t>
            </a:r>
          </a:p>
          <a:p>
            <a:pPr lvl="1"/>
            <a:r>
              <a:rPr lang="es-ES" dirty="0"/>
              <a:t>Cualquier característica numérica de una población. Se utiliza para hacer afirmaciones sobre la población. Por ejemplo, media, mediana, moda, varianza, coeficiente de correlación entre dos propiedades.</a:t>
            </a:r>
          </a:p>
          <a:p>
            <a:r>
              <a:rPr lang="es-ES" dirty="0"/>
              <a:t>Estadístico (de una muestra)</a:t>
            </a:r>
          </a:p>
          <a:p>
            <a:pPr lvl="1"/>
            <a:r>
              <a:rPr lang="es-ES" dirty="0"/>
              <a:t>Cualquier característica numérica de una muestra. Un estadístico se utiliza como estimador del posible valor de un parámetro. Por ejemplo, la media.</a:t>
            </a:r>
          </a:p>
          <a:p>
            <a:pPr lvl="1"/>
            <a:endParaRPr lang="es-ES" dirty="0"/>
          </a:p>
          <a:p>
            <a:endParaRPr lang="es-ES" dirty="0"/>
          </a:p>
        </p:txBody>
      </p:sp>
      <p:sp>
        <p:nvSpPr>
          <p:cNvPr id="4" name="Marcador de número de diapositiva 3">
            <a:extLst>
              <a:ext uri="{FF2B5EF4-FFF2-40B4-BE49-F238E27FC236}">
                <a16:creationId xmlns:a16="http://schemas.microsoft.com/office/drawing/2014/main" id="{5A1194E6-CC18-5F91-7917-DFF01E08549F}"/>
              </a:ext>
            </a:extLst>
          </p:cNvPr>
          <p:cNvSpPr>
            <a:spLocks noGrp="1"/>
          </p:cNvSpPr>
          <p:nvPr>
            <p:ph type="sldNum" sz="quarter" idx="12"/>
          </p:nvPr>
        </p:nvSpPr>
        <p:spPr/>
        <p:txBody>
          <a:bodyPr/>
          <a:lstStyle/>
          <a:p>
            <a:fld id="{336CAFD0-1F6E-4E11-9822-836563A02839}" type="slidenum">
              <a:rPr lang="es-ES" smtClean="0"/>
              <a:pPr/>
              <a:t>5</a:t>
            </a:fld>
            <a:endParaRPr lang="es-ES" dirty="0"/>
          </a:p>
        </p:txBody>
      </p:sp>
    </p:spTree>
    <p:extLst>
      <p:ext uri="{BB962C8B-B14F-4D97-AF65-F5344CB8AC3E}">
        <p14:creationId xmlns:p14="http://schemas.microsoft.com/office/powerpoint/2010/main" val="3233241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A7C3FC-CAE7-4C63-B756-ED868D93315F}"/>
              </a:ext>
            </a:extLst>
          </p:cNvPr>
          <p:cNvSpPr>
            <a:spLocks noGrp="1"/>
          </p:cNvSpPr>
          <p:nvPr>
            <p:ph type="title"/>
          </p:nvPr>
        </p:nvSpPr>
        <p:spPr/>
        <p:txBody>
          <a:bodyPr/>
          <a:lstStyle/>
          <a:p>
            <a:r>
              <a:rPr lang="es-ES" dirty="0"/>
              <a:t>3. Muestreo</a:t>
            </a:r>
            <a:br>
              <a:rPr lang="es-ES" dirty="0"/>
            </a:br>
            <a:r>
              <a:rPr lang="es-ES" dirty="0"/>
              <a:t>Definiciones (II)</a:t>
            </a:r>
          </a:p>
        </p:txBody>
      </p:sp>
      <p:pic>
        <p:nvPicPr>
          <p:cNvPr id="6" name="Marcador de contenido 5">
            <a:extLst>
              <a:ext uri="{FF2B5EF4-FFF2-40B4-BE49-F238E27FC236}">
                <a16:creationId xmlns:a16="http://schemas.microsoft.com/office/drawing/2014/main" id="{29427D0E-3005-112A-2EDD-664415AD766C}"/>
              </a:ext>
              <a:ext uri="{C183D7F6-B498-43B3-948B-1728B52AA6E4}">
                <adec:decorative xmlns:adec="http://schemas.microsoft.com/office/drawing/2017/decorative" val="1"/>
              </a:ext>
            </a:extLst>
          </p:cNvPr>
          <p:cNvPicPr>
            <a:picLocks noGrp="1" noChangeAspect="1"/>
          </p:cNvPicPr>
          <p:nvPr>
            <p:ph idx="1"/>
          </p:nvPr>
        </p:nvPicPr>
        <p:blipFill>
          <a:blip r:embed="rId2"/>
          <a:stretch>
            <a:fillRect/>
          </a:stretch>
        </p:blipFill>
        <p:spPr>
          <a:xfrm>
            <a:off x="2624137" y="2166779"/>
            <a:ext cx="6943725" cy="4095750"/>
          </a:xfrm>
        </p:spPr>
      </p:pic>
      <p:sp>
        <p:nvSpPr>
          <p:cNvPr id="4" name="Marcador de número de diapositiva 3">
            <a:extLst>
              <a:ext uri="{FF2B5EF4-FFF2-40B4-BE49-F238E27FC236}">
                <a16:creationId xmlns:a16="http://schemas.microsoft.com/office/drawing/2014/main" id="{C50A5DFA-7B05-EAFC-9238-2DE37DE61256}"/>
              </a:ext>
            </a:extLst>
          </p:cNvPr>
          <p:cNvSpPr>
            <a:spLocks noGrp="1"/>
          </p:cNvSpPr>
          <p:nvPr>
            <p:ph type="sldNum" sz="quarter" idx="12"/>
          </p:nvPr>
        </p:nvSpPr>
        <p:spPr/>
        <p:txBody>
          <a:bodyPr/>
          <a:lstStyle/>
          <a:p>
            <a:fld id="{336CAFD0-1F6E-4E11-9822-836563A02839}" type="slidenum">
              <a:rPr lang="es-ES" smtClean="0"/>
              <a:pPr/>
              <a:t>6</a:t>
            </a:fld>
            <a:endParaRPr lang="es-ES" dirty="0"/>
          </a:p>
        </p:txBody>
      </p:sp>
    </p:spTree>
    <p:extLst>
      <p:ext uri="{BB962C8B-B14F-4D97-AF65-F5344CB8AC3E}">
        <p14:creationId xmlns:p14="http://schemas.microsoft.com/office/powerpoint/2010/main" val="3550503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4CD084-EE8C-B84C-8CB2-47AB638B4E90}"/>
              </a:ext>
            </a:extLst>
          </p:cNvPr>
          <p:cNvSpPr>
            <a:spLocks noGrp="1"/>
          </p:cNvSpPr>
          <p:nvPr>
            <p:ph type="title"/>
          </p:nvPr>
        </p:nvSpPr>
        <p:spPr/>
        <p:txBody>
          <a:bodyPr/>
          <a:lstStyle/>
          <a:p>
            <a:r>
              <a:rPr lang="es-ES" dirty="0"/>
              <a:t>3. Muestreo</a:t>
            </a:r>
            <a:br>
              <a:rPr lang="es-ES" dirty="0"/>
            </a:br>
            <a:r>
              <a:rPr lang="es-ES" dirty="0"/>
              <a:t>Métodos de muestreo</a:t>
            </a:r>
          </a:p>
        </p:txBody>
      </p:sp>
      <p:sp>
        <p:nvSpPr>
          <p:cNvPr id="3" name="Marcador de contenido 2">
            <a:extLst>
              <a:ext uri="{FF2B5EF4-FFF2-40B4-BE49-F238E27FC236}">
                <a16:creationId xmlns:a16="http://schemas.microsoft.com/office/drawing/2014/main" id="{3C3E33CF-3D20-CD3F-19BB-9739C42B2CD6}"/>
              </a:ext>
            </a:extLst>
          </p:cNvPr>
          <p:cNvSpPr>
            <a:spLocks noGrp="1"/>
          </p:cNvSpPr>
          <p:nvPr>
            <p:ph idx="1"/>
          </p:nvPr>
        </p:nvSpPr>
        <p:spPr>
          <a:xfrm>
            <a:off x="838200" y="1825624"/>
            <a:ext cx="10515600" cy="5032375"/>
          </a:xfrm>
        </p:spPr>
        <p:txBody>
          <a:bodyPr>
            <a:normAutofit fontScale="62500" lnSpcReduction="20000"/>
          </a:bodyPr>
          <a:lstStyle/>
          <a:p>
            <a:r>
              <a:rPr lang="es-ES" dirty="0"/>
              <a:t>Para garantizar que una muestra sea representativa de una población y no esté sesgada, se pueden aplicar diferentes </a:t>
            </a:r>
            <a:r>
              <a:rPr lang="es-ES" dirty="0">
                <a:hlinkClick r:id="rId2"/>
              </a:rPr>
              <a:t>métodos de muestreo</a:t>
            </a:r>
            <a:endParaRPr lang="es-ES" dirty="0"/>
          </a:p>
          <a:p>
            <a:r>
              <a:rPr lang="es-ES" dirty="0"/>
              <a:t>Muestreo aleatorio simple</a:t>
            </a:r>
          </a:p>
          <a:p>
            <a:pPr lvl="1"/>
            <a:r>
              <a:rPr lang="es-ES" dirty="0"/>
              <a:t>Cuando los elementos se recogen de toda la población independientemente uno de otro, teniendo cada elemento la misma  probabilidad de ser elegido.</a:t>
            </a:r>
          </a:p>
          <a:p>
            <a:r>
              <a:rPr lang="es-ES" dirty="0"/>
              <a:t>Muestreo aleatorio sistemático</a:t>
            </a:r>
          </a:p>
          <a:p>
            <a:pPr lvl="1"/>
            <a:r>
              <a:rPr lang="es-ES" dirty="0"/>
              <a:t>Se elige un elemento y a partir de él se selecciona el resto aplicando un procedimiento sistemático. Ejemplo: enumerando todos los elementos y, a partir del elegido se seleccionan los que se encuentren a cada 10 posiciones de él. </a:t>
            </a:r>
          </a:p>
          <a:p>
            <a:r>
              <a:rPr lang="es-ES" dirty="0"/>
              <a:t>Muestreo aleatorio estratificado</a:t>
            </a:r>
          </a:p>
          <a:p>
            <a:pPr lvl="1"/>
            <a:r>
              <a:rPr lang="es-ES" dirty="0"/>
              <a:t>Se divide la población en estratos o categorías con el fin de garantizar que todos los estratos de interés están representados en la muestra. Ejemplo: sondeo de opinión. </a:t>
            </a:r>
          </a:p>
          <a:p>
            <a:pPr lvl="1"/>
            <a:r>
              <a:rPr lang="es-ES" dirty="0"/>
              <a:t>La distribución de la muestra en función de los diferentes estratos se denomina afijación, y puede ser de diferentes tipos:</a:t>
            </a:r>
          </a:p>
          <a:p>
            <a:pPr lvl="2"/>
            <a:r>
              <a:rPr lang="es-ES" dirty="0"/>
              <a:t>Afijación Simple: A cada estrato le corresponde igual número de elementos</a:t>
            </a:r>
          </a:p>
          <a:p>
            <a:pPr lvl="2"/>
            <a:r>
              <a:rPr lang="es-ES" dirty="0"/>
              <a:t>Afijación Proporcional: Se toman elementos proporcionalmente al tamaño de cada estrato </a:t>
            </a:r>
          </a:p>
          <a:p>
            <a:r>
              <a:rPr lang="es-ES" dirty="0"/>
              <a:t>Muestreo aleatorio por conglomerados</a:t>
            </a:r>
          </a:p>
          <a:p>
            <a:pPr lvl="1"/>
            <a:r>
              <a:rPr lang="es-ES" dirty="0"/>
              <a:t>Se divide la población en conglomerados o grupos compactos (por ejemplo, áreas geográficas), se eligen aleatoriamente varios conglomerados, y se hace un muestreo aleatorio en cada uno de ellos. </a:t>
            </a:r>
          </a:p>
          <a:p>
            <a:r>
              <a:rPr lang="es-ES" dirty="0"/>
              <a:t>Muestreo no aleatorio </a:t>
            </a:r>
          </a:p>
          <a:p>
            <a:pPr lvl="1"/>
            <a:r>
              <a:rPr lang="es-ES" dirty="0"/>
              <a:t>Cuando el muestreo está condicionado por alguna causa como, por ejemplo, limitarlo a personas que cumplen una condición sobre su edad y estado civil. </a:t>
            </a:r>
          </a:p>
        </p:txBody>
      </p:sp>
      <p:sp>
        <p:nvSpPr>
          <p:cNvPr id="4" name="Marcador de número de diapositiva 3">
            <a:extLst>
              <a:ext uri="{FF2B5EF4-FFF2-40B4-BE49-F238E27FC236}">
                <a16:creationId xmlns:a16="http://schemas.microsoft.com/office/drawing/2014/main" id="{94FDE940-1B99-FF16-0CD7-0E4B9E617723}"/>
              </a:ext>
            </a:extLst>
          </p:cNvPr>
          <p:cNvSpPr>
            <a:spLocks noGrp="1"/>
          </p:cNvSpPr>
          <p:nvPr>
            <p:ph type="sldNum" sz="quarter" idx="12"/>
          </p:nvPr>
        </p:nvSpPr>
        <p:spPr/>
        <p:txBody>
          <a:bodyPr/>
          <a:lstStyle/>
          <a:p>
            <a:fld id="{336CAFD0-1F6E-4E11-9822-836563A02839}" type="slidenum">
              <a:rPr lang="es-ES" smtClean="0"/>
              <a:pPr/>
              <a:t>7</a:t>
            </a:fld>
            <a:endParaRPr lang="es-ES" dirty="0"/>
          </a:p>
        </p:txBody>
      </p:sp>
    </p:spTree>
    <p:extLst>
      <p:ext uri="{BB962C8B-B14F-4D97-AF65-F5344CB8AC3E}">
        <p14:creationId xmlns:p14="http://schemas.microsoft.com/office/powerpoint/2010/main" val="461705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4CD084-EE8C-B84C-8CB2-47AB638B4E90}"/>
              </a:ext>
            </a:extLst>
          </p:cNvPr>
          <p:cNvSpPr>
            <a:spLocks noGrp="1"/>
          </p:cNvSpPr>
          <p:nvPr>
            <p:ph type="title"/>
          </p:nvPr>
        </p:nvSpPr>
        <p:spPr/>
        <p:txBody>
          <a:bodyPr/>
          <a:lstStyle/>
          <a:p>
            <a:r>
              <a:rPr lang="es-ES" dirty="0"/>
              <a:t>3. Muestreo</a:t>
            </a:r>
            <a:br>
              <a:rPr lang="es-ES" dirty="0"/>
            </a:br>
            <a:r>
              <a:rPr lang="es-ES" dirty="0"/>
              <a:t>Reemplazamiento</a:t>
            </a:r>
          </a:p>
        </p:txBody>
      </p:sp>
      <p:sp>
        <p:nvSpPr>
          <p:cNvPr id="3" name="Marcador de contenido 2">
            <a:extLst>
              <a:ext uri="{FF2B5EF4-FFF2-40B4-BE49-F238E27FC236}">
                <a16:creationId xmlns:a16="http://schemas.microsoft.com/office/drawing/2014/main" id="{3C3E33CF-3D20-CD3F-19BB-9739C42B2CD6}"/>
              </a:ext>
            </a:extLst>
          </p:cNvPr>
          <p:cNvSpPr>
            <a:spLocks noGrp="1"/>
          </p:cNvSpPr>
          <p:nvPr>
            <p:ph idx="1"/>
          </p:nvPr>
        </p:nvSpPr>
        <p:spPr>
          <a:xfrm>
            <a:off x="838200" y="1825624"/>
            <a:ext cx="10515600" cy="5032375"/>
          </a:xfrm>
        </p:spPr>
        <p:txBody>
          <a:bodyPr>
            <a:normAutofit/>
          </a:bodyPr>
          <a:lstStyle/>
          <a:p>
            <a:r>
              <a:rPr lang="es-ES" dirty="0"/>
              <a:t>Muestreo con reemplazamiento es aquel en el que cada elemento de una población puede ser seleccionado más de una vez</a:t>
            </a:r>
          </a:p>
          <a:p>
            <a:pPr lvl="1"/>
            <a:r>
              <a:rPr lang="es-ES" dirty="0"/>
              <a:t>Todos los elementos de la población tienen la misma probabilidad siempre</a:t>
            </a:r>
          </a:p>
          <a:p>
            <a:r>
              <a:rPr lang="es-ES" dirty="0"/>
              <a:t>Muestreo sin remplazamiento es aquel en el que cada elemento sólo puede ser seleccionado una sola vez</a:t>
            </a:r>
          </a:p>
          <a:p>
            <a:pPr lvl="1"/>
            <a:r>
              <a:rPr lang="es-ES" dirty="0"/>
              <a:t>Una vez elegido un elemento de la población para incluirlo en la muestra, se excluye de la población para que no pueda volver a ser elegido.</a:t>
            </a:r>
          </a:p>
          <a:p>
            <a:r>
              <a:rPr lang="es-ES" dirty="0"/>
              <a:t>En poblaciones grandes no suele haber importantes diferencias al realizar inferencia estadística, pero sí en poblaciones pequeñas</a:t>
            </a:r>
          </a:p>
          <a:p>
            <a:endParaRPr lang="es-ES" dirty="0"/>
          </a:p>
        </p:txBody>
      </p:sp>
      <p:sp>
        <p:nvSpPr>
          <p:cNvPr id="4" name="Marcador de número de diapositiva 3">
            <a:extLst>
              <a:ext uri="{FF2B5EF4-FFF2-40B4-BE49-F238E27FC236}">
                <a16:creationId xmlns:a16="http://schemas.microsoft.com/office/drawing/2014/main" id="{94FDE940-1B99-FF16-0CD7-0E4B9E617723}"/>
              </a:ext>
            </a:extLst>
          </p:cNvPr>
          <p:cNvSpPr>
            <a:spLocks noGrp="1"/>
          </p:cNvSpPr>
          <p:nvPr>
            <p:ph type="sldNum" sz="quarter" idx="12"/>
          </p:nvPr>
        </p:nvSpPr>
        <p:spPr/>
        <p:txBody>
          <a:bodyPr/>
          <a:lstStyle/>
          <a:p>
            <a:fld id="{336CAFD0-1F6E-4E11-9822-836563A02839}" type="slidenum">
              <a:rPr lang="es-ES" smtClean="0"/>
              <a:pPr/>
              <a:t>8</a:t>
            </a:fld>
            <a:endParaRPr lang="es-ES" dirty="0"/>
          </a:p>
        </p:txBody>
      </p:sp>
    </p:spTree>
    <p:extLst>
      <p:ext uri="{BB962C8B-B14F-4D97-AF65-F5344CB8AC3E}">
        <p14:creationId xmlns:p14="http://schemas.microsoft.com/office/powerpoint/2010/main" val="2671581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9FF30-CA2C-AFC0-CAC9-B02AB7957EC2}"/>
              </a:ext>
            </a:extLst>
          </p:cNvPr>
          <p:cNvSpPr>
            <a:spLocks noGrp="1"/>
          </p:cNvSpPr>
          <p:nvPr>
            <p:ph type="title"/>
          </p:nvPr>
        </p:nvSpPr>
        <p:spPr/>
        <p:txBody>
          <a:bodyPr/>
          <a:lstStyle/>
          <a:p>
            <a:r>
              <a:rPr lang="es-ES" dirty="0"/>
              <a:t>4. Estimación de parámetros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E827936-B670-2709-3386-3C75527EF90E}"/>
                  </a:ext>
                </a:extLst>
              </p:cNvPr>
              <p:cNvSpPr>
                <a:spLocks noGrp="1"/>
              </p:cNvSpPr>
              <p:nvPr>
                <p:ph idx="1"/>
              </p:nvPr>
            </p:nvSpPr>
            <p:spPr/>
            <p:txBody>
              <a:bodyPr>
                <a:normAutofit fontScale="92500" lnSpcReduction="20000"/>
              </a:bodyPr>
              <a:lstStyle/>
              <a:p>
                <a:r>
                  <a:rPr lang="es-ES" dirty="0"/>
                  <a:t>Un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es una función aplicada a una muestra de una población para obtener un posible valor para un 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de la población. </a:t>
                </a:r>
              </a:p>
              <a:p>
                <a:pPr lvl="1"/>
                <a:r>
                  <a:rPr lang="es-ES" b="1" dirty="0"/>
                  <a:t>Un estimador </a:t>
                </a:r>
                <a14:m>
                  <m:oMath xmlns:m="http://schemas.openxmlformats.org/officeDocument/2006/math">
                    <m:acc>
                      <m:accPr>
                        <m:chr m:val="̂"/>
                        <m:ctrlPr>
                          <a:rPr lang="es-ES" b="1" i="1">
                            <a:latin typeface="Cambria Math" panose="02040503050406030204" pitchFamily="18" charset="0"/>
                          </a:rPr>
                        </m:ctrlPr>
                      </m:accPr>
                      <m:e>
                        <m:r>
                          <a:rPr lang="es-ES" b="1" i="1">
                            <a:latin typeface="Cambria Math" panose="02040503050406030204" pitchFamily="18" charset="0"/>
                            <a:ea typeface="Cambria Math" panose="02040503050406030204" pitchFamily="18" charset="0"/>
                          </a:rPr>
                          <m:t>𝜽</m:t>
                        </m:r>
                      </m:e>
                    </m:acc>
                  </m:oMath>
                </a14:m>
                <a:r>
                  <a:rPr lang="es-ES" b="1" dirty="0"/>
                  <a:t> de un parámetro es una variable aleatoria</a:t>
                </a:r>
                <a:r>
                  <a:rPr lang="es-ES" dirty="0"/>
                  <a:t>, su valor puede variar de una muestra a otra de la misma población</a:t>
                </a:r>
              </a:p>
              <a:p>
                <a:pPr lvl="1"/>
                <a:r>
                  <a:rPr lang="es-ES" b="1" dirty="0"/>
                  <a:t>Un parámetro </a:t>
                </a:r>
                <a14:m>
                  <m:oMath xmlns:m="http://schemas.openxmlformats.org/officeDocument/2006/math">
                    <m:r>
                      <a:rPr lang="es-ES" b="1" i="1" smtClean="0">
                        <a:latin typeface="Cambria Math" panose="02040503050406030204" pitchFamily="18" charset="0"/>
                        <a:ea typeface="Cambria Math" panose="02040503050406030204" pitchFamily="18" charset="0"/>
                      </a:rPr>
                      <m:t>𝜽</m:t>
                    </m:r>
                  </m:oMath>
                </a14:m>
                <a:r>
                  <a:rPr lang="es-ES" b="1" dirty="0"/>
                  <a:t> no es una variable aleatoria</a:t>
                </a:r>
                <a:r>
                  <a:rPr lang="es-ES" dirty="0"/>
                  <a:t>, es una constante con un solo valor para una población</a:t>
                </a:r>
              </a:p>
              <a:p>
                <a:r>
                  <a:rPr lang="es-ES" dirty="0"/>
                  <a:t>Como estimadores de parámetros se suelen utilizar estadísticos con el mismo nombre, pero diferente “apellido”</a:t>
                </a:r>
              </a:p>
              <a:p>
                <a:pPr lvl="1"/>
                <a:r>
                  <a:rPr lang="es-ES" dirty="0"/>
                  <a:t>Parámetros: Media poblacional, Desviación estándar poblacional, Varianza poblacional, Proporción poblacional, Cuantil poblacional, Mediana poblacional, …</a:t>
                </a:r>
              </a:p>
              <a:p>
                <a:pPr lvl="1"/>
                <a:r>
                  <a:rPr lang="es-ES" dirty="0"/>
                  <a:t>Estadísticos: Media muestral, Desviación estándar muestral, Varianza muestral, Proporción muestral, Cuantil muestral, Mediana muestral, …</a:t>
                </a:r>
              </a:p>
              <a:p>
                <a:r>
                  <a:rPr lang="es-ES" dirty="0"/>
                  <a:t>Propiedades de un estimador</a:t>
                </a:r>
              </a:p>
              <a:p>
                <a:pPr lvl="1"/>
                <a:r>
                  <a:rPr lang="es-ES" dirty="0"/>
                  <a:t>Sesgo, consistencia y normalidad asintótica</a:t>
                </a:r>
              </a:p>
              <a:p>
                <a:pPr lvl="1"/>
                <a:endParaRPr lang="es-ES" dirty="0"/>
              </a:p>
            </p:txBody>
          </p:sp>
        </mc:Choice>
        <mc:Fallback xmlns="">
          <p:sp>
            <p:nvSpPr>
              <p:cNvPr id="3" name="Marcador de contenido 2">
                <a:extLst>
                  <a:ext uri="{FF2B5EF4-FFF2-40B4-BE49-F238E27FC236}">
                    <a16:creationId xmlns:a16="http://schemas.microsoft.com/office/drawing/2014/main" id="{8E827936-B670-2709-3386-3C75527EF90E}"/>
                  </a:ext>
                </a:extLst>
              </p:cNvPr>
              <p:cNvSpPr>
                <a:spLocks noGrp="1" noRot="1" noChangeAspect="1" noMove="1" noResize="1" noEditPoints="1" noAdjustHandles="1" noChangeArrowheads="1" noChangeShapeType="1" noTextEdit="1"/>
              </p:cNvSpPr>
              <p:nvPr>
                <p:ph idx="1"/>
              </p:nvPr>
            </p:nvSpPr>
            <p:spPr>
              <a:blipFill>
                <a:blip r:embed="rId2"/>
                <a:stretch>
                  <a:fillRect l="-928" t="-3221" r="-75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EEEEB99-2186-5864-82E4-6EAA1141B0F2}"/>
              </a:ext>
            </a:extLst>
          </p:cNvPr>
          <p:cNvSpPr>
            <a:spLocks noGrp="1"/>
          </p:cNvSpPr>
          <p:nvPr>
            <p:ph type="sldNum" sz="quarter" idx="12"/>
          </p:nvPr>
        </p:nvSpPr>
        <p:spPr/>
        <p:txBody>
          <a:bodyPr/>
          <a:lstStyle/>
          <a:p>
            <a:fld id="{336CAFD0-1F6E-4E11-9822-836563A02839}" type="slidenum">
              <a:rPr lang="es-ES" smtClean="0"/>
              <a:pPr/>
              <a:t>9</a:t>
            </a:fld>
            <a:endParaRPr lang="es-ES" dirty="0"/>
          </a:p>
        </p:txBody>
      </p:sp>
    </p:spTree>
    <p:extLst>
      <p:ext uri="{BB962C8B-B14F-4D97-AF65-F5344CB8AC3E}">
        <p14:creationId xmlns:p14="http://schemas.microsoft.com/office/powerpoint/2010/main" val="2369313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9FF30-CA2C-AFC0-CAC9-B02AB7957EC2}"/>
              </a:ext>
            </a:extLst>
          </p:cNvPr>
          <p:cNvSpPr>
            <a:spLocks noGrp="1"/>
          </p:cNvSpPr>
          <p:nvPr>
            <p:ph type="title"/>
          </p:nvPr>
        </p:nvSpPr>
        <p:spPr/>
        <p:txBody>
          <a:bodyPr/>
          <a:lstStyle/>
          <a:p>
            <a:r>
              <a:rPr lang="es-ES" dirty="0"/>
              <a:t>4. Estimación de parámetros</a:t>
            </a:r>
            <a:br>
              <a:rPr lang="es-ES" dirty="0"/>
            </a:br>
            <a:r>
              <a:rPr lang="es-ES" dirty="0"/>
              <a:t>Estimador insesgado (</a:t>
            </a:r>
            <a:r>
              <a:rPr lang="es-ES" i="1" dirty="0" err="1"/>
              <a:t>unbiased</a:t>
            </a:r>
            <a:r>
              <a:rPr lang="es-ES"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E827936-B670-2709-3386-3C75527EF90E}"/>
                  </a:ext>
                </a:extLst>
              </p:cNvPr>
              <p:cNvSpPr>
                <a:spLocks noGrp="1"/>
              </p:cNvSpPr>
              <p:nvPr>
                <p:ph idx="1"/>
              </p:nvPr>
            </p:nvSpPr>
            <p:spPr/>
            <p:txBody>
              <a:bodyPr>
                <a:normAutofit/>
              </a:bodyPr>
              <a:lstStyle/>
              <a:p>
                <a:r>
                  <a:rPr lang="es-ES" dirty="0"/>
                  <a:t>Un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es insesgado para un 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si la esperanza del estimador es igual al valor del parámetro para todos los posibles valores del parámetro.</a:t>
                </a:r>
              </a:p>
              <a:p>
                <a:pPr lvl="1"/>
                <a14:m>
                  <m:oMath xmlns:m="http://schemas.openxmlformats.org/officeDocument/2006/math">
                    <m:r>
                      <a:rPr lang="es-ES" b="1" i="1" smtClean="0">
                        <a:latin typeface="Cambria Math" panose="02040503050406030204" pitchFamily="18" charset="0"/>
                      </a:rPr>
                      <m:t>𝑬</m:t>
                    </m:r>
                    <m:d>
                      <m:dPr>
                        <m:ctrlPr>
                          <a:rPr lang="es-ES" b="1" i="1" smtClean="0">
                            <a:latin typeface="Cambria Math" panose="02040503050406030204" pitchFamily="18" charset="0"/>
                          </a:rPr>
                        </m:ctrlPr>
                      </m:dPr>
                      <m:e>
                        <m:acc>
                          <m:accPr>
                            <m:chr m:val="̂"/>
                            <m:ctrlPr>
                              <a:rPr lang="es-ES" b="1" i="1">
                                <a:latin typeface="Cambria Math" panose="02040503050406030204" pitchFamily="18" charset="0"/>
                              </a:rPr>
                            </m:ctrlPr>
                          </m:accPr>
                          <m:e>
                            <m:r>
                              <a:rPr lang="es-ES" b="1" i="1">
                                <a:latin typeface="Cambria Math" panose="02040503050406030204" pitchFamily="18" charset="0"/>
                                <a:ea typeface="Cambria Math" panose="02040503050406030204" pitchFamily="18" charset="0"/>
                              </a:rPr>
                              <m:t>𝜽</m:t>
                            </m:r>
                          </m:e>
                        </m:acc>
                      </m:e>
                    </m:d>
                    <m:r>
                      <a:rPr lang="es-ES" b="1" i="1" smtClean="0">
                        <a:latin typeface="Cambria Math" panose="02040503050406030204" pitchFamily="18" charset="0"/>
                      </a:rPr>
                      <m:t>=</m:t>
                    </m:r>
                    <m:r>
                      <a:rPr lang="es-ES" b="1" i="1" smtClean="0">
                        <a:latin typeface="Cambria Math" panose="02040503050406030204" pitchFamily="18" charset="0"/>
                        <a:ea typeface="Cambria Math" panose="02040503050406030204" pitchFamily="18" charset="0"/>
                      </a:rPr>
                      <m:t>𝜽</m:t>
                    </m:r>
                  </m:oMath>
                </a14:m>
                <a:endParaRPr lang="es-ES" b="1" dirty="0"/>
              </a:p>
              <a:p>
                <a:pPr lvl="1"/>
                <a:r>
                  <a:rPr lang="es-ES" dirty="0"/>
                  <a:t>Ejemplo: Media muestral como estimador de la media poblacional</a:t>
                </a:r>
              </a:p>
              <a:p>
                <a:r>
                  <a:rPr lang="es-ES" dirty="0"/>
                  <a:t>El sesgo (</a:t>
                </a:r>
                <a:r>
                  <a:rPr lang="es-ES" i="1" dirty="0" err="1"/>
                  <a:t>bias</a:t>
                </a:r>
                <a:r>
                  <a:rPr lang="es-ES" dirty="0"/>
                  <a:t>) de un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es la esperanza de la diferencia (error) entre su valor y el valor real del parámetro que estima</a:t>
                </a:r>
              </a:p>
              <a:p>
                <a:pPr lvl="1"/>
                <a14:m>
                  <m:oMath xmlns:m="http://schemas.openxmlformats.org/officeDocument/2006/math">
                    <m:r>
                      <a:rPr lang="es-ES" b="0" i="1" smtClean="0">
                        <a:latin typeface="Cambria Math" panose="02040503050406030204" pitchFamily="18" charset="0"/>
                      </a:rPr>
                      <m:t>𝐵𝑖𝑎𝑠</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e>
                    </m:d>
                  </m:oMath>
                </a14:m>
                <a:endParaRPr lang="es-ES" dirty="0"/>
              </a:p>
              <a:p>
                <a:pPr lvl="1"/>
                <a:r>
                  <a:rPr lang="es-ES" dirty="0"/>
                  <a:t>Ejemplo: El sesgo de la media muestral es cero como estimador de la media poblacional</a:t>
                </a:r>
              </a:p>
              <a:p>
                <a:endParaRPr lang="es-ES" dirty="0"/>
              </a:p>
            </p:txBody>
          </p:sp>
        </mc:Choice>
        <mc:Fallback xmlns="">
          <p:sp>
            <p:nvSpPr>
              <p:cNvPr id="3" name="Marcador de contenido 2">
                <a:extLst>
                  <a:ext uri="{FF2B5EF4-FFF2-40B4-BE49-F238E27FC236}">
                    <a16:creationId xmlns:a16="http://schemas.microsoft.com/office/drawing/2014/main" id="{8E827936-B670-2709-3386-3C75527EF90E}"/>
                  </a:ext>
                </a:extLst>
              </p:cNvPr>
              <p:cNvSpPr>
                <a:spLocks noGrp="1" noRot="1" noChangeAspect="1" noMove="1" noResize="1" noEditPoints="1" noAdjustHandles="1" noChangeArrowheads="1" noChangeShapeType="1" noTextEdit="1"/>
              </p:cNvSpPr>
              <p:nvPr>
                <p:ph idx="1"/>
              </p:nvPr>
            </p:nvSpPr>
            <p:spPr>
              <a:blipFill>
                <a:blip r:embed="rId2"/>
                <a:stretch>
                  <a:fillRect l="-1043" t="-1821" r="-127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EEEEB99-2186-5864-82E4-6EAA1141B0F2}"/>
              </a:ext>
            </a:extLst>
          </p:cNvPr>
          <p:cNvSpPr>
            <a:spLocks noGrp="1"/>
          </p:cNvSpPr>
          <p:nvPr>
            <p:ph type="sldNum" sz="quarter" idx="12"/>
          </p:nvPr>
        </p:nvSpPr>
        <p:spPr/>
        <p:txBody>
          <a:bodyPr/>
          <a:lstStyle/>
          <a:p>
            <a:fld id="{336CAFD0-1F6E-4E11-9822-836563A02839}" type="slidenum">
              <a:rPr lang="es-ES" smtClean="0"/>
              <a:pPr/>
              <a:t>10</a:t>
            </a:fld>
            <a:endParaRPr lang="es-ES" dirty="0"/>
          </a:p>
        </p:txBody>
      </p:sp>
    </p:spTree>
    <p:extLst>
      <p:ext uri="{BB962C8B-B14F-4D97-AF65-F5344CB8AC3E}">
        <p14:creationId xmlns:p14="http://schemas.microsoft.com/office/powerpoint/2010/main" val="4021080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59FF30-CA2C-AFC0-CAC9-B02AB7957EC2}"/>
              </a:ext>
            </a:extLst>
          </p:cNvPr>
          <p:cNvSpPr>
            <a:spLocks noGrp="1"/>
          </p:cNvSpPr>
          <p:nvPr>
            <p:ph type="title"/>
          </p:nvPr>
        </p:nvSpPr>
        <p:spPr/>
        <p:txBody>
          <a:bodyPr>
            <a:normAutofit/>
          </a:bodyPr>
          <a:lstStyle/>
          <a:p>
            <a:r>
              <a:rPr lang="es-ES" dirty="0"/>
              <a:t>4. Estimación de parámetros</a:t>
            </a:r>
            <a:br>
              <a:rPr lang="es-ES" dirty="0"/>
            </a:br>
            <a:r>
              <a:rPr lang="es-ES" dirty="0"/>
              <a:t>Estimador consistente</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E827936-B670-2709-3386-3C75527EF90E}"/>
                  </a:ext>
                </a:extLst>
              </p:cNvPr>
              <p:cNvSpPr>
                <a:spLocks noGrp="1"/>
              </p:cNvSpPr>
              <p:nvPr>
                <p:ph idx="1"/>
              </p:nvPr>
            </p:nvSpPr>
            <p:spPr/>
            <p:txBody>
              <a:bodyPr>
                <a:normAutofit/>
              </a:bodyPr>
              <a:lstStyle/>
              <a:p>
                <a:r>
                  <a:rPr lang="es-ES" dirty="0"/>
                  <a:t>Un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es consistente para un 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si la probabilidad de su error muestral (diferencia entre su valor y el valor real del parámetro) </a:t>
                </a:r>
                <a:r>
                  <a:rPr lang="es-ES" b="1" dirty="0"/>
                  <a:t>tiende a cero cuando el tamaño de la muestra tiende a infinito</a:t>
                </a:r>
                <a:r>
                  <a:rPr lang="es-ES" dirty="0"/>
                  <a:t>.</a:t>
                </a:r>
              </a:p>
              <a:p>
                <a:pPr lvl="1"/>
                <a:r>
                  <a:rPr lang="es-ES" b="0" dirty="0"/>
                  <a:t>P</a:t>
                </a:r>
                <a14:m>
                  <m:oMath xmlns:m="http://schemas.openxmlformats.org/officeDocument/2006/math">
                    <m:d>
                      <m:dPr>
                        <m:ctrlPr>
                          <a:rPr lang="es-ES" b="0" i="1" smtClean="0">
                            <a:latin typeface="Cambria Math" panose="02040503050406030204" pitchFamily="18" charset="0"/>
                          </a:rPr>
                        </m:ctrlPr>
                      </m:dPr>
                      <m:e>
                        <m:d>
                          <m:dPr>
                            <m:begChr m:val="|"/>
                            <m:endChr m:val="|"/>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e>
                        </m:d>
                        <m:r>
                          <a:rPr lang="es-ES" b="0" i="1" smtClean="0">
                            <a:latin typeface="Cambria Math" panose="02040503050406030204" pitchFamily="18" charset="0"/>
                          </a:rPr>
                          <m:t>&gt;</m:t>
                        </m:r>
                        <m:r>
                          <a:rPr lang="es-ES" b="0" i="1" smtClean="0">
                            <a:latin typeface="Cambria Math" panose="02040503050406030204" pitchFamily="18" charset="0"/>
                            <a:ea typeface="Cambria Math" panose="02040503050406030204" pitchFamily="18" charset="0"/>
                          </a:rPr>
                          <m:t>𝜀</m:t>
                        </m:r>
                      </m:e>
                    </m:d>
                    <m:r>
                      <a:rPr lang="es-ES" b="0" i="1" smtClean="0">
                        <a:latin typeface="Cambria Math" panose="02040503050406030204" pitchFamily="18" charset="0"/>
                      </a:rPr>
                      <m:t>→0 </m:t>
                    </m:r>
                    <m:r>
                      <m:rPr>
                        <m:nor/>
                      </m:rPr>
                      <a:rPr lang="es-ES" b="0" i="0" smtClean="0">
                        <a:latin typeface="Cambria Math" panose="02040503050406030204" pitchFamily="18" charset="0"/>
                      </a:rPr>
                      <m:t>cuando</m:t>
                    </m:r>
                    <m:r>
                      <m:rPr>
                        <m:nor/>
                      </m:rPr>
                      <a:rPr lang="es-ES" b="0" i="0" smtClean="0">
                        <a:latin typeface="Cambria Math" panose="02040503050406030204" pitchFamily="18" charset="0"/>
                      </a:rPr>
                      <m:t> </m:t>
                    </m:r>
                    <m:r>
                      <a:rPr lang="es-ES" b="0" i="1" smtClean="0">
                        <a:latin typeface="Cambria Math" panose="02040503050406030204" pitchFamily="18" charset="0"/>
                      </a:rPr>
                      <m:t>𝑛</m:t>
                    </m:r>
                    <m:r>
                      <a:rPr lang="es-ES" b="0" i="1" smtClean="0">
                        <a:latin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donde</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𝜀</m:t>
                    </m:r>
                    <m:r>
                      <a:rPr lang="es-ES" b="0" i="1" smtClean="0">
                        <a:latin typeface="Cambria Math" panose="02040503050406030204" pitchFamily="18" charset="0"/>
                        <a:ea typeface="Cambria Math" panose="02040503050406030204" pitchFamily="18" charset="0"/>
                      </a:rPr>
                      <m:t>&gt;0</m:t>
                    </m:r>
                  </m:oMath>
                </a14:m>
                <a:endParaRPr lang="es-ES" dirty="0"/>
              </a:p>
              <a:p>
                <a:r>
                  <a:rPr lang="es-ES" dirty="0"/>
                  <a:t>Es decir, cuando estimamos </a:t>
                </a:r>
                <a14:m>
                  <m:oMath xmlns:m="http://schemas.openxmlformats.org/officeDocument/2006/math">
                    <m:r>
                      <a:rPr lang="es-ES" i="1" smtClean="0">
                        <a:latin typeface="Cambria Math" panose="02040503050406030204" pitchFamily="18" charset="0"/>
                        <a:ea typeface="Cambria Math" panose="02040503050406030204" pitchFamily="18" charset="0"/>
                      </a:rPr>
                      <m:t>𝜃</m:t>
                    </m:r>
                    <m:r>
                      <a:rPr lang="es-ES" i="1" smtClean="0">
                        <a:latin typeface="Cambria Math" panose="02040503050406030204" pitchFamily="18" charset="0"/>
                        <a:ea typeface="Cambria Math" panose="02040503050406030204" pitchFamily="18" charset="0"/>
                      </a:rPr>
                      <m:t> </m:t>
                    </m:r>
                  </m:oMath>
                </a14:m>
                <a:r>
                  <a:rPr lang="es-ES" dirty="0"/>
                  <a:t>a partir de una muestra grande, es poco probable que el error de la estimación </a:t>
                </a:r>
                <a14:m>
                  <m:oMath xmlns:m="http://schemas.openxmlformats.org/officeDocument/2006/math">
                    <m:d>
                      <m:dPr>
                        <m:begChr m:val="|"/>
                        <m:endChr m:val="|"/>
                        <m:ctrlPr>
                          <a:rPr lang="es-ES" i="1">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𝜃</m:t>
                        </m:r>
                      </m:e>
                    </m:d>
                    <m:r>
                      <a:rPr lang="es-ES" i="1">
                        <a:latin typeface="Cambria Math" panose="02040503050406030204" pitchFamily="18" charset="0"/>
                        <a:ea typeface="Cambria Math" panose="02040503050406030204" pitchFamily="18" charset="0"/>
                      </a:rPr>
                      <m:t> </m:t>
                    </m:r>
                  </m:oMath>
                </a14:m>
                <a:r>
                  <a:rPr lang="es-ES" dirty="0"/>
                  <a:t>sea mayor que cualquier valor </a:t>
                </a:r>
                <a14:m>
                  <m:oMath xmlns:m="http://schemas.openxmlformats.org/officeDocument/2006/math">
                    <m:r>
                      <a:rPr lang="es-ES" i="1">
                        <a:latin typeface="Cambria Math" panose="02040503050406030204" pitchFamily="18" charset="0"/>
                        <a:ea typeface="Cambria Math" panose="02040503050406030204" pitchFamily="18" charset="0"/>
                      </a:rPr>
                      <m:t>𝜀</m:t>
                    </m:r>
                  </m:oMath>
                </a14:m>
                <a:r>
                  <a:rPr lang="es-ES" dirty="0"/>
                  <a:t>, y lo hace con probabilidades cada vez más pequeñas a medida que aumentamos el tamaño de la muestra.</a:t>
                </a:r>
              </a:p>
              <a:p>
                <a:pPr marL="0" indent="0">
                  <a:buNone/>
                </a:pPr>
                <a:endParaRPr lang="es-ES" dirty="0"/>
              </a:p>
            </p:txBody>
          </p:sp>
        </mc:Choice>
        <mc:Fallback xmlns="">
          <p:sp>
            <p:nvSpPr>
              <p:cNvPr id="3" name="Marcador de contenido 2">
                <a:extLst>
                  <a:ext uri="{FF2B5EF4-FFF2-40B4-BE49-F238E27FC236}">
                    <a16:creationId xmlns:a16="http://schemas.microsoft.com/office/drawing/2014/main" id="{8E827936-B670-2709-3386-3C75527EF90E}"/>
                  </a:ext>
                </a:extLst>
              </p:cNvPr>
              <p:cNvSpPr>
                <a:spLocks noGrp="1" noRot="1" noChangeAspect="1" noMove="1" noResize="1" noEditPoints="1" noAdjustHandles="1" noChangeArrowheads="1" noChangeShapeType="1" noTextEdit="1"/>
              </p:cNvSpPr>
              <p:nvPr>
                <p:ph idx="1"/>
              </p:nvPr>
            </p:nvSpPr>
            <p:spPr>
              <a:blipFill>
                <a:blip r:embed="rId2"/>
                <a:stretch>
                  <a:fillRect l="-1043" t="-1821" r="-179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EEEEB99-2186-5864-82E4-6EAA1141B0F2}"/>
              </a:ext>
            </a:extLst>
          </p:cNvPr>
          <p:cNvSpPr>
            <a:spLocks noGrp="1"/>
          </p:cNvSpPr>
          <p:nvPr>
            <p:ph type="sldNum" sz="quarter" idx="12"/>
          </p:nvPr>
        </p:nvSpPr>
        <p:spPr/>
        <p:txBody>
          <a:bodyPr/>
          <a:lstStyle/>
          <a:p>
            <a:fld id="{336CAFD0-1F6E-4E11-9822-836563A02839}" type="slidenum">
              <a:rPr lang="es-ES" smtClean="0"/>
              <a:pPr/>
              <a:t>11</a:t>
            </a:fld>
            <a:endParaRPr lang="es-ES" dirty="0"/>
          </a:p>
        </p:txBody>
      </p:sp>
    </p:spTree>
    <p:extLst>
      <p:ext uri="{BB962C8B-B14F-4D97-AF65-F5344CB8AC3E}">
        <p14:creationId xmlns:p14="http://schemas.microsoft.com/office/powerpoint/2010/main" val="1083484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4A4B13-CED6-7CEA-6ABD-BEE1E23306ED}"/>
              </a:ext>
            </a:extLst>
          </p:cNvPr>
          <p:cNvSpPr>
            <a:spLocks noGrp="1"/>
          </p:cNvSpPr>
          <p:nvPr>
            <p:ph type="title"/>
          </p:nvPr>
        </p:nvSpPr>
        <p:spPr/>
        <p:txBody>
          <a:bodyPr/>
          <a:lstStyle/>
          <a:p>
            <a:r>
              <a:rPr lang="es-ES" dirty="0"/>
              <a:t>4. Estimación de parámetros</a:t>
            </a:r>
            <a:br>
              <a:rPr lang="es-ES" dirty="0"/>
            </a:br>
            <a:r>
              <a:rPr lang="es-ES" dirty="0"/>
              <a:t>Estimador asintóticamente normal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5F38A24-05DD-5C8E-337D-F8B6CE1982AE}"/>
                  </a:ext>
                </a:extLst>
              </p:cNvPr>
              <p:cNvSpPr>
                <a:spLocks noGrp="1"/>
              </p:cNvSpPr>
              <p:nvPr>
                <p:ph idx="1"/>
              </p:nvPr>
            </p:nvSpPr>
            <p:spPr/>
            <p:txBody>
              <a:bodyPr/>
              <a:lstStyle/>
              <a:p>
                <a:r>
                  <a:rPr lang="es-ES" dirty="0"/>
                  <a:t>Un estimador es una variable aleatoria</a:t>
                </a:r>
              </a:p>
              <a:p>
                <a:r>
                  <a:rPr lang="es-ES" b="1" dirty="0"/>
                  <a:t>La distribución de probabilidad de un estimador converge hacia una distribución Normal cuando el tamaño de la muestra aumenta</a:t>
                </a:r>
                <a:r>
                  <a:rPr lang="es-ES" dirty="0"/>
                  <a:t>.</a:t>
                </a:r>
              </a:p>
              <a:p>
                <a:r>
                  <a:rPr lang="es-ES" dirty="0"/>
                  <a:t>Se dice que el estimador es asintóticamente normal</a:t>
                </a:r>
              </a:p>
              <a:p>
                <a:pPr lvl="1"/>
                <a:r>
                  <a:rPr lang="es-ES" dirty="0"/>
                  <a:t>Es la aplicación del Teorema Central del Límite</a:t>
                </a:r>
              </a:p>
              <a:p>
                <a:r>
                  <a:rPr lang="es-ES" dirty="0"/>
                  <a:t>Si el estimador se estandariza y se convierte en una variable Z, ésta converge a una distribución Normal estándar N(0,1)</a:t>
                </a:r>
              </a:p>
              <a:p>
                <a:pPr lvl="1"/>
                <a14:m>
                  <m:oMath xmlns:m="http://schemas.openxmlformats.org/officeDocument/2006/math">
                    <m:r>
                      <a:rPr lang="es-ES" b="0" i="1" smtClean="0">
                        <a:latin typeface="Cambria Math" panose="02040503050406030204" pitchFamily="18" charset="0"/>
                      </a:rPr>
                      <m:t>𝑍</m:t>
                    </m:r>
                    <m:r>
                      <a:rPr lang="es-ES" b="0" i="1" smtClean="0">
                        <a:latin typeface="Cambria Math" panose="02040503050406030204" pitchFamily="18" charset="0"/>
                      </a:rPr>
                      <m:t>=</m:t>
                    </m:r>
                    <m:f>
                      <m:fPr>
                        <m:ctrlPr>
                          <a:rPr lang="es-ES" b="0" i="1" smtClean="0">
                            <a:latin typeface="Cambria Math" panose="02040503050406030204" pitchFamily="18" charset="0"/>
                          </a:rPr>
                        </m:ctrlPr>
                      </m:fPr>
                      <m:num>
                        <m:acc>
                          <m:accPr>
                            <m:chr m:val="̂"/>
                            <m:ctrlPr>
                              <a:rPr lang="es-ES" b="0" i="1" smtClean="0">
                                <a:latin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b="0" i="1" smtClean="0">
                                    <a:latin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𝜃</m:t>
                                </m:r>
                              </m:e>
                            </m:acc>
                          </m:e>
                        </m:d>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𝑉𝑎𝑟</m:t>
                            </m:r>
                            <m:d>
                              <m:dPr>
                                <m:ctrlPr>
                                  <a:rPr lang="es-ES" i="1">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e>
                        </m:rad>
                      </m:den>
                    </m:f>
                  </m:oMath>
                </a14:m>
                <a:endParaRPr lang="es-ES" dirty="0"/>
              </a:p>
            </p:txBody>
          </p:sp>
        </mc:Choice>
        <mc:Fallback xmlns="">
          <p:sp>
            <p:nvSpPr>
              <p:cNvPr id="3" name="Marcador de contenido 2">
                <a:extLst>
                  <a:ext uri="{FF2B5EF4-FFF2-40B4-BE49-F238E27FC236}">
                    <a16:creationId xmlns:a16="http://schemas.microsoft.com/office/drawing/2014/main" id="{15F38A24-05DD-5C8E-337D-F8B6CE1982AE}"/>
                  </a:ext>
                </a:extLst>
              </p:cNvPr>
              <p:cNvSpPr>
                <a:spLocks noGrp="1" noRot="1" noChangeAspect="1" noMove="1" noResize="1" noEditPoints="1" noAdjustHandles="1" noChangeArrowheads="1" noChangeShapeType="1" noTextEdit="1"/>
              </p:cNvSpPr>
              <p:nvPr>
                <p:ph idx="1"/>
              </p:nvPr>
            </p:nvSpPr>
            <p:spPr>
              <a:blipFill>
                <a:blip r:embed="rId2"/>
                <a:stretch>
                  <a:fillRect l="-1043" t="-2241" r="-75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BC482B06-D34D-0994-0E7C-45AA4B0E955F}"/>
              </a:ext>
            </a:extLst>
          </p:cNvPr>
          <p:cNvSpPr>
            <a:spLocks noGrp="1"/>
          </p:cNvSpPr>
          <p:nvPr>
            <p:ph type="sldNum" sz="quarter" idx="12"/>
          </p:nvPr>
        </p:nvSpPr>
        <p:spPr/>
        <p:txBody>
          <a:bodyPr/>
          <a:lstStyle/>
          <a:p>
            <a:fld id="{336CAFD0-1F6E-4E11-9822-836563A02839}" type="slidenum">
              <a:rPr lang="es-ES" smtClean="0"/>
              <a:pPr/>
              <a:t>12</a:t>
            </a:fld>
            <a:endParaRPr lang="es-ES" dirty="0"/>
          </a:p>
        </p:txBody>
      </p:sp>
    </p:spTree>
    <p:extLst>
      <p:ext uri="{BB962C8B-B14F-4D97-AF65-F5344CB8AC3E}">
        <p14:creationId xmlns:p14="http://schemas.microsoft.com/office/powerpoint/2010/main" val="2206511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BAB7CE-1A3C-1777-EA0A-63939686CCBF}"/>
              </a:ext>
            </a:extLst>
          </p:cNvPr>
          <p:cNvSpPr>
            <a:spLocks noGrp="1"/>
          </p:cNvSpPr>
          <p:nvPr>
            <p:ph type="title"/>
          </p:nvPr>
        </p:nvSpPr>
        <p:spPr/>
        <p:txBody>
          <a:bodyPr>
            <a:normAutofit/>
          </a:bodyPr>
          <a:lstStyle/>
          <a:p>
            <a:r>
              <a:rPr lang="es-ES" dirty="0"/>
              <a:t>4. Estimación de parámetros</a:t>
            </a:r>
            <a:br>
              <a:rPr lang="es-ES" dirty="0"/>
            </a:br>
            <a:r>
              <a:rPr lang="es-ES" dirty="0"/>
              <a:t>Estimación puntual o por intervalo</a:t>
            </a:r>
          </a:p>
        </p:txBody>
      </p:sp>
      <p:sp>
        <p:nvSpPr>
          <p:cNvPr id="3" name="Marcador de contenido 2">
            <a:extLst>
              <a:ext uri="{FF2B5EF4-FFF2-40B4-BE49-F238E27FC236}">
                <a16:creationId xmlns:a16="http://schemas.microsoft.com/office/drawing/2014/main" id="{AF42F386-884E-8A0B-DF41-A64C22B76EFA}"/>
              </a:ext>
            </a:extLst>
          </p:cNvPr>
          <p:cNvSpPr>
            <a:spLocks noGrp="1"/>
          </p:cNvSpPr>
          <p:nvPr>
            <p:ph idx="1"/>
          </p:nvPr>
        </p:nvSpPr>
        <p:spPr/>
        <p:txBody>
          <a:bodyPr>
            <a:normAutofit/>
          </a:bodyPr>
          <a:lstStyle/>
          <a:p>
            <a:r>
              <a:rPr lang="es-ES" dirty="0"/>
              <a:t>Si se calcula un único valor de un estimador, se está realizando una </a:t>
            </a:r>
            <a:r>
              <a:rPr lang="es-ES" b="1" dirty="0"/>
              <a:t>estimación puntual </a:t>
            </a:r>
            <a:r>
              <a:rPr lang="es-ES" dirty="0"/>
              <a:t>(o por punto).</a:t>
            </a:r>
          </a:p>
          <a:p>
            <a:pPr lvl="1"/>
            <a:r>
              <a:rPr lang="es-ES" dirty="0"/>
              <a:t>Habría que estimar también el posible error cometido</a:t>
            </a:r>
          </a:p>
          <a:p>
            <a:r>
              <a:rPr lang="es-ES" dirty="0"/>
              <a:t>Si se calcula un rango de valores posibles para un parámetro se está realizando una </a:t>
            </a:r>
            <a:r>
              <a:rPr lang="es-ES" b="1" dirty="0"/>
              <a:t>estimación por intervalo</a:t>
            </a:r>
          </a:p>
          <a:p>
            <a:pPr lvl="1"/>
            <a:r>
              <a:rPr lang="es-ES" dirty="0"/>
              <a:t>Es habitual en inferencia estadística</a:t>
            </a:r>
          </a:p>
          <a:p>
            <a:pPr lvl="1"/>
            <a:r>
              <a:rPr lang="es-ES" dirty="0"/>
              <a:t>Realmente se utilizan dos estimadores: uno para el límite inferior del intervalo y otro para el límite superior</a:t>
            </a:r>
          </a:p>
          <a:p>
            <a:pPr lvl="1"/>
            <a:r>
              <a:rPr lang="es-ES" dirty="0"/>
              <a:t>Se suele denominar “intervalo de confianza”, porque además de los extremos del intervalo, se calcula el nivel de confianza o probabilidad de que el valor del parámetro se encuentre en dicho intervalo.</a:t>
            </a:r>
          </a:p>
          <a:p>
            <a:endParaRPr lang="es-ES" dirty="0"/>
          </a:p>
          <a:p>
            <a:endParaRPr lang="es-ES" dirty="0"/>
          </a:p>
        </p:txBody>
      </p:sp>
      <p:sp>
        <p:nvSpPr>
          <p:cNvPr id="4" name="Marcador de número de diapositiva 3">
            <a:extLst>
              <a:ext uri="{FF2B5EF4-FFF2-40B4-BE49-F238E27FC236}">
                <a16:creationId xmlns:a16="http://schemas.microsoft.com/office/drawing/2014/main" id="{37D0854B-7AC6-02A9-A196-FC492048EA89}"/>
              </a:ext>
            </a:extLst>
          </p:cNvPr>
          <p:cNvSpPr>
            <a:spLocks noGrp="1"/>
          </p:cNvSpPr>
          <p:nvPr>
            <p:ph type="sldNum" sz="quarter" idx="12"/>
          </p:nvPr>
        </p:nvSpPr>
        <p:spPr/>
        <p:txBody>
          <a:bodyPr/>
          <a:lstStyle/>
          <a:p>
            <a:fld id="{336CAFD0-1F6E-4E11-9822-836563A02839}" type="slidenum">
              <a:rPr lang="es-ES" smtClean="0"/>
              <a:pPr/>
              <a:t>13</a:t>
            </a:fld>
            <a:endParaRPr lang="es-ES" dirty="0"/>
          </a:p>
        </p:txBody>
      </p:sp>
    </p:spTree>
    <p:extLst>
      <p:ext uri="{BB962C8B-B14F-4D97-AF65-F5344CB8AC3E}">
        <p14:creationId xmlns:p14="http://schemas.microsoft.com/office/powerpoint/2010/main" val="4000331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89F7C2-B4A6-17A8-CCF8-37E74C9C4AD3}"/>
              </a:ext>
            </a:extLst>
          </p:cNvPr>
          <p:cNvSpPr>
            <a:spLocks noGrp="1"/>
          </p:cNvSpPr>
          <p:nvPr>
            <p:ph type="title"/>
          </p:nvPr>
        </p:nvSpPr>
        <p:spPr/>
        <p:txBody>
          <a:bodyPr/>
          <a:lstStyle/>
          <a:p>
            <a:r>
              <a:rPr lang="es-ES" dirty="0"/>
              <a:t>4. Estimación de parámetros</a:t>
            </a:r>
            <a:br>
              <a:rPr lang="es-ES" dirty="0"/>
            </a:br>
            <a:r>
              <a:rPr lang="es-ES" dirty="0"/>
              <a:t>Cálculo de los estimadores</a:t>
            </a:r>
          </a:p>
        </p:txBody>
      </p:sp>
      <p:sp>
        <p:nvSpPr>
          <p:cNvPr id="3" name="Marcador de contenido 2">
            <a:extLst>
              <a:ext uri="{FF2B5EF4-FFF2-40B4-BE49-F238E27FC236}">
                <a16:creationId xmlns:a16="http://schemas.microsoft.com/office/drawing/2014/main" id="{B6E29653-BDC0-220A-A858-6207B896A4A6}"/>
              </a:ext>
            </a:extLst>
          </p:cNvPr>
          <p:cNvSpPr>
            <a:spLocks noGrp="1"/>
          </p:cNvSpPr>
          <p:nvPr>
            <p:ph idx="1"/>
          </p:nvPr>
        </p:nvSpPr>
        <p:spPr/>
        <p:txBody>
          <a:bodyPr/>
          <a:lstStyle/>
          <a:p>
            <a:r>
              <a:rPr lang="es-ES" dirty="0"/>
              <a:t>Como estimadores de los parámetros de una población se suelen utilizar los estadísticos de una muestra de esa población </a:t>
            </a:r>
          </a:p>
          <a:p>
            <a:r>
              <a:rPr lang="es-ES" dirty="0"/>
              <a:t>Por lo que es importante saber calcular los estadísticos</a:t>
            </a:r>
          </a:p>
          <a:p>
            <a:r>
              <a:rPr lang="es-ES" dirty="0"/>
              <a:t>En inferencia se suelen usar tres estadísticos: Media, Varianza y Proporción.</a:t>
            </a:r>
          </a:p>
          <a:p>
            <a:pPr lvl="1"/>
            <a:endParaRPr lang="es-ES" dirty="0"/>
          </a:p>
          <a:p>
            <a:pPr lvl="1"/>
            <a:endParaRPr lang="es-ES"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46D41870-D61C-A6EA-BEF8-4E2300EC7647}"/>
                  </a:ext>
                </a:extLst>
              </p:cNvPr>
              <p:cNvGraphicFramePr>
                <a:graphicFrameLocks noGrp="1"/>
              </p:cNvGraphicFramePr>
              <p:nvPr>
                <p:extLst>
                  <p:ext uri="{D42A27DB-BD31-4B8C-83A1-F6EECF244321}">
                    <p14:modId xmlns:p14="http://schemas.microsoft.com/office/powerpoint/2010/main" val="3919485403"/>
                  </p:ext>
                </p:extLst>
              </p:nvPr>
            </p:nvGraphicFramePr>
            <p:xfrm>
              <a:off x="1635760" y="4235026"/>
              <a:ext cx="8128000" cy="1485646"/>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883677733"/>
                        </a:ext>
                      </a:extLst>
                    </a:gridCol>
                    <a:gridCol w="4064000">
                      <a:extLst>
                        <a:ext uri="{9D8B030D-6E8A-4147-A177-3AD203B41FA5}">
                          <a16:colId xmlns:a16="http://schemas.microsoft.com/office/drawing/2014/main" val="2261216985"/>
                        </a:ext>
                      </a:extLst>
                    </a:gridCol>
                  </a:tblGrid>
                  <a:tr h="370840">
                    <a:tc>
                      <a:txBody>
                        <a:bodyPr/>
                        <a:lstStyle/>
                        <a:p>
                          <a:r>
                            <a:rPr lang="es-ES" b="1" dirty="0"/>
                            <a:t>Estimador (Estadístico)</a:t>
                          </a:r>
                        </a:p>
                      </a:txBody>
                      <a:tcPr>
                        <a:solidFill>
                          <a:schemeClr val="bg1">
                            <a:lumMod val="85000"/>
                          </a:schemeClr>
                        </a:solidFill>
                      </a:tcPr>
                    </a:tc>
                    <a:tc>
                      <a:txBody>
                        <a:bodyPr/>
                        <a:lstStyle/>
                        <a:p>
                          <a:r>
                            <a:rPr lang="es-ES" b="1" dirty="0"/>
                            <a:t>Parámetro que estima</a:t>
                          </a:r>
                        </a:p>
                      </a:txBody>
                      <a:tcPr>
                        <a:solidFill>
                          <a:schemeClr val="bg1">
                            <a:lumMod val="85000"/>
                          </a:schemeClr>
                        </a:solidFill>
                      </a:tcPr>
                    </a:tc>
                    <a:extLst>
                      <a:ext uri="{0D108BD9-81ED-4DB2-BD59-A6C34878D82A}">
                        <a16:rowId xmlns:a16="http://schemas.microsoft.com/office/drawing/2014/main" val="1876346771"/>
                      </a:ext>
                    </a:extLst>
                  </a:tr>
                  <a:tr h="370840">
                    <a:tc>
                      <a:txBody>
                        <a:bodyPr/>
                        <a:lstStyle/>
                        <a:p>
                          <a:r>
                            <a:rPr lang="es-ES" dirty="0"/>
                            <a:t>Media muestral (</a:t>
                          </a:r>
                          <a14:m>
                            <m:oMath xmlns:m="http://schemas.openxmlformats.org/officeDocument/2006/math">
                              <m:acc>
                                <m:accPr>
                                  <m:chr m:val="̅"/>
                                  <m:ctrlPr>
                                    <a:rPr lang="es-ES" i="1" smtClean="0">
                                      <a:latin typeface="Cambria Math" panose="02040503050406030204" pitchFamily="18" charset="0"/>
                                    </a:rPr>
                                  </m:ctrlPr>
                                </m:accPr>
                                <m:e>
                                  <m:r>
                                    <a:rPr lang="es-ES" b="0" smtClean="0">
                                      <a:latin typeface="Cambria Math" panose="02040503050406030204" pitchFamily="18" charset="0"/>
                                    </a:rPr>
                                    <m:t>𝑋</m:t>
                                  </m:r>
                                </m:e>
                              </m:acc>
                            </m:oMath>
                          </a14:m>
                          <a:r>
                            <a:rPr lang="es-ES" dirty="0"/>
                            <a:t>)</a:t>
                          </a:r>
                        </a:p>
                      </a:txBody>
                      <a:tcPr/>
                    </a:tc>
                    <a:tc>
                      <a:txBody>
                        <a:bodyPr/>
                        <a:lstStyle/>
                        <a:p>
                          <a:r>
                            <a:rPr lang="es-ES" dirty="0"/>
                            <a:t>Media poblacional (</a:t>
                          </a:r>
                          <a14:m>
                            <m:oMath xmlns:m="http://schemas.openxmlformats.org/officeDocument/2006/math">
                              <m:r>
                                <a:rPr lang="es-ES" smtClean="0">
                                  <a:latin typeface="Cambria Math" panose="02040503050406030204" pitchFamily="18" charset="0"/>
                                </a:rPr>
                                <m:t>𝜇</m:t>
                              </m:r>
                            </m:oMath>
                          </a14:m>
                          <a:r>
                            <a:rPr lang="es-ES" dirty="0"/>
                            <a:t>)</a:t>
                          </a:r>
                        </a:p>
                      </a:txBody>
                      <a:tcPr/>
                    </a:tc>
                    <a:extLst>
                      <a:ext uri="{0D108BD9-81ED-4DB2-BD59-A6C34878D82A}">
                        <a16:rowId xmlns:a16="http://schemas.microsoft.com/office/drawing/2014/main" val="3368006004"/>
                      </a:ext>
                    </a:extLst>
                  </a:tr>
                  <a:tr h="370840">
                    <a:tc>
                      <a:txBody>
                        <a:bodyPr/>
                        <a:lstStyle/>
                        <a:p>
                          <a:r>
                            <a:rPr lang="es-ES" dirty="0"/>
                            <a:t>Varianza muestral (</a:t>
                          </a:r>
                          <a14:m>
                            <m:oMath xmlns:m="http://schemas.openxmlformats.org/officeDocument/2006/math">
                              <m:sSup>
                                <m:sSupPr>
                                  <m:ctrlPr>
                                    <a:rPr lang="es-ES" i="1" smtClean="0">
                                      <a:latin typeface="Cambria Math" panose="02040503050406030204" pitchFamily="18" charset="0"/>
                                    </a:rPr>
                                  </m:ctrlPr>
                                </m:sSupPr>
                                <m:e>
                                  <m:r>
                                    <a:rPr lang="es-ES" b="0" i="1" smtClean="0">
                                      <a:latin typeface="Cambria Math" panose="02040503050406030204" pitchFamily="18" charset="0"/>
                                    </a:rPr>
                                    <m:t>𝑆</m:t>
                                  </m:r>
                                </m:e>
                                <m:sup>
                                  <m:r>
                                    <a:rPr lang="es-ES" b="0" smtClean="0">
                                      <a:latin typeface="Cambria Math" panose="02040503050406030204" pitchFamily="18" charset="0"/>
                                    </a:rPr>
                                    <m:t>2</m:t>
                                  </m:r>
                                </m:sup>
                              </m:sSup>
                            </m:oMath>
                          </a14:m>
                          <a:r>
                            <a:rPr lang="es-ES" dirty="0"/>
                            <a:t>)</a:t>
                          </a:r>
                        </a:p>
                      </a:txBody>
                      <a:tcPr/>
                    </a:tc>
                    <a:tc>
                      <a:txBody>
                        <a:bodyPr/>
                        <a:lstStyle/>
                        <a:p>
                          <a:r>
                            <a:rPr lang="es-ES" dirty="0"/>
                            <a:t>Varianza poblacional (</a:t>
                          </a:r>
                          <a14:m>
                            <m:oMath xmlns:m="http://schemas.openxmlformats.org/officeDocument/2006/math">
                              <m:sSup>
                                <m:sSupPr>
                                  <m:ctrlPr>
                                    <a:rPr lang="es-ES" i="1" smtClean="0">
                                      <a:latin typeface="Cambria Math" panose="02040503050406030204" pitchFamily="18" charset="0"/>
                                    </a:rPr>
                                  </m:ctrlPr>
                                </m:sSupPr>
                                <m:e>
                                  <m:r>
                                    <a:rPr lang="es-ES" smtClean="0">
                                      <a:latin typeface="Cambria Math" panose="02040503050406030204" pitchFamily="18" charset="0"/>
                                    </a:rPr>
                                    <m:t>𝜎</m:t>
                                  </m:r>
                                </m:e>
                                <m:sup>
                                  <m:r>
                                    <a:rPr lang="es-ES" b="0" smtClean="0">
                                      <a:latin typeface="Cambria Math" panose="02040503050406030204" pitchFamily="18" charset="0"/>
                                    </a:rPr>
                                    <m:t>2</m:t>
                                  </m:r>
                                </m:sup>
                              </m:sSup>
                            </m:oMath>
                          </a14:m>
                          <a:r>
                            <a:rPr lang="es-ES" dirty="0"/>
                            <a:t>)</a:t>
                          </a:r>
                        </a:p>
                      </a:txBody>
                      <a:tcPr/>
                    </a:tc>
                    <a:extLst>
                      <a:ext uri="{0D108BD9-81ED-4DB2-BD59-A6C34878D82A}">
                        <a16:rowId xmlns:a16="http://schemas.microsoft.com/office/drawing/2014/main" val="1032647725"/>
                      </a:ext>
                    </a:extLst>
                  </a:tr>
                  <a:tr h="370840">
                    <a:tc>
                      <a:txBody>
                        <a:bodyPr/>
                        <a:lstStyle/>
                        <a:p>
                          <a:r>
                            <a:rPr lang="es-ES" dirty="0"/>
                            <a:t>Proporción muestral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𝑃</m:t>
                                  </m:r>
                                </m:e>
                              </m:acc>
                            </m:oMath>
                          </a14:m>
                          <a:r>
                            <a:rPr lang="es-ES" dirty="0"/>
                            <a:t>)</a:t>
                          </a:r>
                        </a:p>
                      </a:txBody>
                      <a:tcPr/>
                    </a:tc>
                    <a:tc>
                      <a:txBody>
                        <a:bodyPr/>
                        <a:lstStyle/>
                        <a:p>
                          <a:r>
                            <a:rPr lang="es-ES" dirty="0"/>
                            <a:t>Proporción poblacional (</a:t>
                          </a:r>
                          <a14:m>
                            <m:oMath xmlns:m="http://schemas.openxmlformats.org/officeDocument/2006/math">
                              <m:r>
                                <a:rPr lang="es-ES" b="0" smtClean="0">
                                  <a:latin typeface="Cambria Math" panose="02040503050406030204" pitchFamily="18" charset="0"/>
                                </a:rPr>
                                <m:t>𝑝</m:t>
                              </m:r>
                            </m:oMath>
                          </a14:m>
                          <a:r>
                            <a:rPr lang="es-ES" dirty="0"/>
                            <a:t>)</a:t>
                          </a:r>
                        </a:p>
                      </a:txBody>
                      <a:tcPr/>
                    </a:tc>
                    <a:extLst>
                      <a:ext uri="{0D108BD9-81ED-4DB2-BD59-A6C34878D82A}">
                        <a16:rowId xmlns:a16="http://schemas.microsoft.com/office/drawing/2014/main" val="2674400688"/>
                      </a:ext>
                    </a:extLst>
                  </a:tr>
                </a:tbl>
              </a:graphicData>
            </a:graphic>
          </p:graphicFrame>
        </mc:Choice>
        <mc:Fallback xmlns="">
          <p:graphicFrame>
            <p:nvGraphicFramePr>
              <p:cNvPr id="5" name="Tabla 5">
                <a:extLst>
                  <a:ext uri="{FF2B5EF4-FFF2-40B4-BE49-F238E27FC236}">
                    <a16:creationId xmlns:a16="http://schemas.microsoft.com/office/drawing/2014/main" id="{46D41870-D61C-A6EA-BEF8-4E2300EC7647}"/>
                  </a:ext>
                </a:extLst>
              </p:cNvPr>
              <p:cNvGraphicFramePr>
                <a:graphicFrameLocks noGrp="1"/>
              </p:cNvGraphicFramePr>
              <p:nvPr>
                <p:extLst>
                  <p:ext uri="{D42A27DB-BD31-4B8C-83A1-F6EECF244321}">
                    <p14:modId xmlns:p14="http://schemas.microsoft.com/office/powerpoint/2010/main" val="3919485403"/>
                  </p:ext>
                </p:extLst>
              </p:nvPr>
            </p:nvGraphicFramePr>
            <p:xfrm>
              <a:off x="1635760" y="4235026"/>
              <a:ext cx="8128000" cy="1485646"/>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883677733"/>
                        </a:ext>
                      </a:extLst>
                    </a:gridCol>
                    <a:gridCol w="4064000">
                      <a:extLst>
                        <a:ext uri="{9D8B030D-6E8A-4147-A177-3AD203B41FA5}">
                          <a16:colId xmlns:a16="http://schemas.microsoft.com/office/drawing/2014/main" val="2261216985"/>
                        </a:ext>
                      </a:extLst>
                    </a:gridCol>
                  </a:tblGrid>
                  <a:tr h="370840">
                    <a:tc>
                      <a:txBody>
                        <a:bodyPr/>
                        <a:lstStyle/>
                        <a:p>
                          <a:r>
                            <a:rPr lang="es-ES" b="1" dirty="0"/>
                            <a:t>Estimador (Estadístico)</a:t>
                          </a:r>
                        </a:p>
                      </a:txBody>
                      <a:tcPr>
                        <a:solidFill>
                          <a:schemeClr val="bg1">
                            <a:lumMod val="85000"/>
                          </a:schemeClr>
                        </a:solidFill>
                      </a:tcPr>
                    </a:tc>
                    <a:tc>
                      <a:txBody>
                        <a:bodyPr/>
                        <a:lstStyle/>
                        <a:p>
                          <a:r>
                            <a:rPr lang="es-ES" b="1" dirty="0"/>
                            <a:t>Parámetro que estima</a:t>
                          </a:r>
                        </a:p>
                      </a:txBody>
                      <a:tcPr>
                        <a:solidFill>
                          <a:schemeClr val="bg1">
                            <a:lumMod val="85000"/>
                          </a:schemeClr>
                        </a:solidFill>
                      </a:tcPr>
                    </a:tc>
                    <a:extLst>
                      <a:ext uri="{0D108BD9-81ED-4DB2-BD59-A6C34878D82A}">
                        <a16:rowId xmlns:a16="http://schemas.microsoft.com/office/drawing/2014/main" val="1876346771"/>
                      </a:ext>
                    </a:extLst>
                  </a:tr>
                  <a:tr h="370840">
                    <a:tc>
                      <a:txBody>
                        <a:bodyPr/>
                        <a:lstStyle/>
                        <a:p>
                          <a:endParaRPr lang="es-ES"/>
                        </a:p>
                      </a:txBody>
                      <a:tcPr>
                        <a:blipFill>
                          <a:blip r:embed="rId2"/>
                          <a:stretch>
                            <a:fillRect l="-150" t="-108197" r="-100300" b="-227869"/>
                          </a:stretch>
                        </a:blipFill>
                      </a:tcPr>
                    </a:tc>
                    <a:tc>
                      <a:txBody>
                        <a:bodyPr/>
                        <a:lstStyle/>
                        <a:p>
                          <a:endParaRPr lang="es-ES"/>
                        </a:p>
                      </a:txBody>
                      <a:tcPr>
                        <a:blipFill>
                          <a:blip r:embed="rId2"/>
                          <a:stretch>
                            <a:fillRect l="-100150" t="-108197" r="-300" b="-227869"/>
                          </a:stretch>
                        </a:blipFill>
                      </a:tcPr>
                    </a:tc>
                    <a:extLst>
                      <a:ext uri="{0D108BD9-81ED-4DB2-BD59-A6C34878D82A}">
                        <a16:rowId xmlns:a16="http://schemas.microsoft.com/office/drawing/2014/main" val="3368006004"/>
                      </a:ext>
                    </a:extLst>
                  </a:tr>
                  <a:tr h="370840">
                    <a:tc>
                      <a:txBody>
                        <a:bodyPr/>
                        <a:lstStyle/>
                        <a:p>
                          <a:endParaRPr lang="es-ES"/>
                        </a:p>
                      </a:txBody>
                      <a:tcPr>
                        <a:blipFill>
                          <a:blip r:embed="rId2"/>
                          <a:stretch>
                            <a:fillRect l="-150" t="-208197" r="-100300" b="-127869"/>
                          </a:stretch>
                        </a:blipFill>
                      </a:tcPr>
                    </a:tc>
                    <a:tc>
                      <a:txBody>
                        <a:bodyPr/>
                        <a:lstStyle/>
                        <a:p>
                          <a:endParaRPr lang="es-ES"/>
                        </a:p>
                      </a:txBody>
                      <a:tcPr>
                        <a:blipFill>
                          <a:blip r:embed="rId2"/>
                          <a:stretch>
                            <a:fillRect l="-100150" t="-208197" r="-300" b="-127869"/>
                          </a:stretch>
                        </a:blipFill>
                      </a:tcPr>
                    </a:tc>
                    <a:extLst>
                      <a:ext uri="{0D108BD9-81ED-4DB2-BD59-A6C34878D82A}">
                        <a16:rowId xmlns:a16="http://schemas.microsoft.com/office/drawing/2014/main" val="1032647725"/>
                      </a:ext>
                    </a:extLst>
                  </a:tr>
                  <a:tr h="373126">
                    <a:tc>
                      <a:txBody>
                        <a:bodyPr/>
                        <a:lstStyle/>
                        <a:p>
                          <a:endParaRPr lang="es-ES"/>
                        </a:p>
                      </a:txBody>
                      <a:tcPr>
                        <a:blipFill>
                          <a:blip r:embed="rId2"/>
                          <a:stretch>
                            <a:fillRect l="-150" t="-303226" r="-100300" b="-25806"/>
                          </a:stretch>
                        </a:blipFill>
                      </a:tcPr>
                    </a:tc>
                    <a:tc>
                      <a:txBody>
                        <a:bodyPr/>
                        <a:lstStyle/>
                        <a:p>
                          <a:endParaRPr lang="es-ES"/>
                        </a:p>
                      </a:txBody>
                      <a:tcPr>
                        <a:blipFill>
                          <a:blip r:embed="rId2"/>
                          <a:stretch>
                            <a:fillRect l="-100150" t="-303226" r="-300" b="-25806"/>
                          </a:stretch>
                        </a:blipFill>
                      </a:tcPr>
                    </a:tc>
                    <a:extLst>
                      <a:ext uri="{0D108BD9-81ED-4DB2-BD59-A6C34878D82A}">
                        <a16:rowId xmlns:a16="http://schemas.microsoft.com/office/drawing/2014/main" val="2674400688"/>
                      </a:ext>
                    </a:extLst>
                  </a:tr>
                </a:tbl>
              </a:graphicData>
            </a:graphic>
          </p:graphicFrame>
        </mc:Fallback>
      </mc:AlternateContent>
      <p:sp>
        <p:nvSpPr>
          <p:cNvPr id="4" name="Marcador de número de diapositiva 3">
            <a:extLst>
              <a:ext uri="{FF2B5EF4-FFF2-40B4-BE49-F238E27FC236}">
                <a16:creationId xmlns:a16="http://schemas.microsoft.com/office/drawing/2014/main" id="{10D54F14-FA46-ADE6-808E-183019911968}"/>
              </a:ext>
            </a:extLst>
          </p:cNvPr>
          <p:cNvSpPr>
            <a:spLocks noGrp="1"/>
          </p:cNvSpPr>
          <p:nvPr>
            <p:ph type="sldNum" sz="quarter" idx="12"/>
          </p:nvPr>
        </p:nvSpPr>
        <p:spPr/>
        <p:txBody>
          <a:bodyPr/>
          <a:lstStyle/>
          <a:p>
            <a:fld id="{336CAFD0-1F6E-4E11-9822-836563A02839}" type="slidenum">
              <a:rPr lang="es-ES" smtClean="0"/>
              <a:pPr/>
              <a:t>14</a:t>
            </a:fld>
            <a:endParaRPr lang="es-ES" dirty="0"/>
          </a:p>
        </p:txBody>
      </p:sp>
    </p:spTree>
    <p:extLst>
      <p:ext uri="{BB962C8B-B14F-4D97-AF65-F5344CB8AC3E}">
        <p14:creationId xmlns:p14="http://schemas.microsoft.com/office/powerpoint/2010/main" val="2624858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89F7C2-B4A6-17A8-CCF8-37E74C9C4AD3}"/>
              </a:ext>
            </a:extLst>
          </p:cNvPr>
          <p:cNvSpPr>
            <a:spLocks noGrp="1"/>
          </p:cNvSpPr>
          <p:nvPr>
            <p:ph type="title"/>
          </p:nvPr>
        </p:nvSpPr>
        <p:spPr/>
        <p:txBody>
          <a:bodyPr>
            <a:normAutofit/>
          </a:bodyPr>
          <a:lstStyle/>
          <a:p>
            <a:r>
              <a:rPr lang="es-ES" dirty="0"/>
              <a:t>4. Estimación de parámetros</a:t>
            </a:r>
            <a:br>
              <a:rPr lang="es-ES" dirty="0"/>
            </a:br>
            <a:r>
              <a:rPr lang="es-ES" dirty="0"/>
              <a:t>Cálculo del estimador: media muestral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6E29653-BDC0-220A-A858-6207B896A4A6}"/>
                  </a:ext>
                </a:extLst>
              </p:cNvPr>
              <p:cNvSpPr>
                <a:spLocks noGrp="1"/>
              </p:cNvSpPr>
              <p:nvPr>
                <p:ph idx="1"/>
              </p:nvPr>
            </p:nvSpPr>
            <p:spPr>
              <a:xfrm>
                <a:off x="838200" y="1825624"/>
                <a:ext cx="10515600" cy="5032375"/>
              </a:xfrm>
            </p:spPr>
            <p:txBody>
              <a:bodyPr>
                <a:normAutofit fontScale="70000" lnSpcReduction="20000"/>
              </a:bodyPr>
              <a:lstStyle/>
              <a:p>
                <a:r>
                  <a:rPr lang="es-ES" dirty="0"/>
                  <a:t>Muestra de valores de una propiedad para n elementos de la población</a:t>
                </a:r>
              </a:p>
              <a:p>
                <a:pPr lvl="1"/>
                <a:r>
                  <a:rPr lang="es-ES" dirty="0"/>
                  <a:t>Ejemplo: Los pesos de n personas</a:t>
                </a:r>
              </a:p>
              <a:p>
                <a:pPr lvl="1"/>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𝑛</m:t>
                            </m:r>
                          </m:sub>
                        </m:sSub>
                      </m:e>
                    </m:d>
                  </m:oMath>
                </a14:m>
                <a:endParaRPr lang="es-ES" dirty="0"/>
              </a:p>
              <a:p>
                <a:r>
                  <a:rPr lang="es-ES" dirty="0"/>
                  <a:t>Parámetro a estimar: media de la propiedad para toda la población (ej. peso medio)</a:t>
                </a:r>
              </a:p>
              <a:p>
                <a:pPr lvl="1"/>
                <a14:m>
                  <m:oMath xmlns:m="http://schemas.openxmlformats.org/officeDocument/2006/math">
                    <m:r>
                      <a:rPr lang="es-ES"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i="1">
                                <a:latin typeface="Cambria Math" panose="02040503050406030204" pitchFamily="18" charset="0"/>
                              </a:rPr>
                              <m:t>1</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i="1">
                                <a:latin typeface="Cambria Math" panose="02040503050406030204" pitchFamily="18" charset="0"/>
                              </a:rPr>
                              <m:t>2</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𝑡𝑎𝑚𝑎</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 </m:t>
                            </m:r>
                            <m:r>
                              <a:rPr lang="es-ES" b="0" i="1" smtClean="0">
                                <a:latin typeface="Cambria Math" panose="02040503050406030204" pitchFamily="18" charset="0"/>
                              </a:rPr>
                              <m:t>𝑡𝑜𝑡𝑎𝑙</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𝑝𝑜𝑏𝑙𝑎𝑐𝑖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sub>
                        </m:sSub>
                      </m:num>
                      <m:den>
                        <m:r>
                          <a:rPr lang="es-ES" b="0" i="1" smtClean="0">
                            <a:latin typeface="Cambria Math" panose="02040503050406030204" pitchFamily="18" charset="0"/>
                          </a:rPr>
                          <m:t>𝑡𝑎𝑚𝑎</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 </m:t>
                        </m:r>
                        <m:r>
                          <a:rPr lang="es-ES" b="0" i="1" smtClean="0">
                            <a:latin typeface="Cambria Math" panose="02040503050406030204" pitchFamily="18" charset="0"/>
                          </a:rPr>
                          <m:t>𝑡𝑜𝑡𝑎𝑙</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𝑝𝑜𝑏𝑙𝑎𝑐𝑖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den>
                    </m:f>
                  </m:oMath>
                </a14:m>
                <a:endParaRPr lang="es-ES" dirty="0"/>
              </a:p>
              <a:p>
                <a:r>
                  <a:rPr lang="es-ES" dirty="0"/>
                  <a:t>Estimador</a:t>
                </a:r>
              </a:p>
              <a:p>
                <a:pPr lvl="1"/>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acc>
                      <m:accPr>
                        <m:chr m:val="̅"/>
                        <m:ctrlPr>
                          <a:rPr lang="es-ES" b="0" i="1" smtClean="0">
                            <a:latin typeface="Cambria Math" panose="02040503050406030204" pitchFamily="18" charset="0"/>
                            <a:ea typeface="Cambria Math" panose="02040503050406030204" pitchFamily="18" charset="0"/>
                          </a:rPr>
                        </m:ctrlPr>
                      </m:accPr>
                      <m:e>
                        <m:r>
                          <a:rPr lang="es-ES" b="0" i="1" smtClean="0">
                            <a:latin typeface="Cambria Math" panose="02040503050406030204" pitchFamily="18" charset="0"/>
                            <a:ea typeface="Cambria Math" panose="02040503050406030204" pitchFamily="18" charset="0"/>
                          </a:rPr>
                          <m:t>𝑋</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𝑛</m:t>
                            </m:r>
                          </m:sub>
                        </m:sSub>
                      </m:num>
                      <m:den>
                        <m:r>
                          <a:rPr lang="es-ES" b="0" i="1" smtClean="0">
                            <a:latin typeface="Cambria Math" panose="02040503050406030204" pitchFamily="18" charset="0"/>
                          </a:rPr>
                          <m:t>𝑛</m:t>
                        </m:r>
                      </m:den>
                    </m:f>
                  </m:oMath>
                </a14:m>
                <a:endParaRPr lang="es-ES" dirty="0"/>
              </a:p>
              <a:p>
                <a:r>
                  <a:rPr lang="es-ES" dirty="0"/>
                  <a:t>Es un estimador insesgado</a:t>
                </a:r>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𝑋</m:t>
                            </m:r>
                          </m:e>
                        </m:acc>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oMath>
                </a14:m>
                <a:endParaRPr lang="es-ES" dirty="0"/>
              </a:p>
              <a:p>
                <a:r>
                  <a:rPr lang="es-ES" dirty="0"/>
                  <a:t>Varianza del estimador</a:t>
                </a:r>
              </a:p>
              <a:p>
                <a:pPr lvl="1"/>
                <a14:m>
                  <m:oMath xmlns:m="http://schemas.openxmlformats.org/officeDocument/2006/math">
                    <m:r>
                      <a:rPr lang="es-ES" b="0" i="1" smtClean="0">
                        <a:latin typeface="Cambria Math" panose="02040503050406030204" pitchFamily="18" charset="0"/>
                      </a:rPr>
                      <m:t>𝑉𝑎𝑟</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𝑉𝑎𝑟</m:t>
                    </m:r>
                    <m:d>
                      <m:dPr>
                        <m:ctrlPr>
                          <a:rPr lang="es-ES" b="0" i="1" smtClean="0">
                            <a:latin typeface="Cambria Math" panose="02040503050406030204" pitchFamily="18" charset="0"/>
                            <a:ea typeface="Cambria Math" panose="02040503050406030204" pitchFamily="18" charset="0"/>
                          </a:rPr>
                        </m:ctrlPr>
                      </m:dPr>
                      <m:e>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1</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2</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𝑛</m:t>
                                </m:r>
                              </m:sub>
                            </m:sSub>
                          </m:num>
                          <m:den>
                            <m:r>
                              <a:rPr lang="es-ES" i="1">
                                <a:latin typeface="Cambria Math" panose="02040503050406030204" pitchFamily="18" charset="0"/>
                              </a:rPr>
                              <m:t>𝑛</m:t>
                            </m:r>
                          </m:den>
                        </m:f>
                      </m:e>
                    </m:d>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b="0" i="1" smtClean="0">
                                <a:latin typeface="Cambria Math" panose="02040503050406030204" pitchFamily="18" charset="0"/>
                              </a:rPr>
                              <m:t>𝑉𝑎𝑟</m:t>
                            </m:r>
                            <m:r>
                              <a:rPr lang="es-ES" b="0" i="1" smtClean="0">
                                <a:latin typeface="Cambria Math" panose="02040503050406030204" pitchFamily="18" charset="0"/>
                              </a:rPr>
                              <m:t>(</m:t>
                            </m:r>
                            <m:r>
                              <a:rPr lang="es-ES" i="1">
                                <a:latin typeface="Cambria Math" panose="02040503050406030204" pitchFamily="18" charset="0"/>
                              </a:rPr>
                              <m:t>𝑋</m:t>
                            </m:r>
                          </m:e>
                          <m:sub>
                            <m:r>
                              <a:rPr lang="es-ES" i="1">
                                <a:latin typeface="Cambria Math" panose="02040503050406030204" pitchFamily="18" charset="0"/>
                              </a:rPr>
                              <m:t>1</m:t>
                            </m:r>
                          </m:sub>
                        </m:sSub>
                        <m:r>
                          <a:rPr lang="es-ES" b="0" i="1" smtClean="0">
                            <a:latin typeface="Cambria Math" panose="02040503050406030204" pitchFamily="18" charset="0"/>
                          </a:rPr>
                          <m:t>)</m:t>
                        </m:r>
                        <m:r>
                          <a:rPr lang="es-ES" i="1">
                            <a:latin typeface="Cambria Math" panose="02040503050406030204" pitchFamily="18" charset="0"/>
                          </a:rPr>
                          <m:t>+</m:t>
                        </m:r>
                        <m:r>
                          <a:rPr lang="es-ES" b="0" i="1" smtClean="0">
                            <a:latin typeface="Cambria Math" panose="02040503050406030204" pitchFamily="18" charset="0"/>
                          </a:rPr>
                          <m:t>𝑉𝑎𝑟</m:t>
                        </m:r>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2</m:t>
                            </m:r>
                          </m:sub>
                        </m:sSub>
                        <m:r>
                          <a:rPr lang="es-ES" b="0" i="1" smtClean="0">
                            <a:latin typeface="Cambria Math" panose="02040503050406030204" pitchFamily="18" charset="0"/>
                          </a:rPr>
                          <m:t>)</m:t>
                        </m:r>
                        <m:r>
                          <a:rPr lang="es-ES" i="1">
                            <a:latin typeface="Cambria Math" panose="02040503050406030204" pitchFamily="18" charset="0"/>
                          </a:rPr>
                          <m:t>+…+</m:t>
                        </m:r>
                        <m:r>
                          <a:rPr lang="es-ES" b="0" i="1" smtClean="0">
                            <a:latin typeface="Cambria Math" panose="02040503050406030204" pitchFamily="18" charset="0"/>
                          </a:rPr>
                          <m:t>𝑉𝑎𝑟</m:t>
                        </m:r>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𝑛</m:t>
                            </m:r>
                          </m:sub>
                        </m:sSub>
                        <m:r>
                          <a:rPr lang="es-ES" b="0" i="1" smtClean="0">
                            <a:latin typeface="Cambria Math" panose="02040503050406030204" pitchFamily="18" charset="0"/>
                          </a:rPr>
                          <m:t>)</m:t>
                        </m:r>
                      </m:num>
                      <m:den>
                        <m:sSup>
                          <m:sSupPr>
                            <m:ctrlPr>
                              <a:rPr lang="es-ES" i="1" smtClean="0">
                                <a:latin typeface="Cambria Math" panose="02040503050406030204" pitchFamily="18" charset="0"/>
                              </a:rPr>
                            </m:ctrlPr>
                          </m:sSupPr>
                          <m:e>
                            <m:r>
                              <a:rPr lang="es-ES" b="0" i="1" smtClean="0">
                                <a:latin typeface="Cambria Math" panose="02040503050406030204" pitchFamily="18" charset="0"/>
                              </a:rPr>
                              <m:t>𝑛</m:t>
                            </m:r>
                          </m:e>
                          <m:sup>
                            <m:r>
                              <a:rPr lang="es-ES" b="0" i="1" smtClean="0">
                                <a:latin typeface="Cambria Math" panose="02040503050406030204" pitchFamily="18" charset="0"/>
                              </a:rPr>
                              <m:t>2</m:t>
                            </m:r>
                          </m:sup>
                        </m:sSup>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𝑛</m:t>
                        </m:r>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𝜎</m:t>
                            </m:r>
                          </m:e>
                          <m:sup>
                            <m:r>
                              <a:rPr lang="es-ES" b="0" i="1" smtClean="0">
                                <a:latin typeface="Cambria Math" panose="02040503050406030204" pitchFamily="18" charset="0"/>
                              </a:rPr>
                              <m:t>2</m:t>
                            </m:r>
                          </m:sup>
                        </m:sSup>
                      </m:num>
                      <m:den>
                        <m:sSup>
                          <m:sSupPr>
                            <m:ctrlPr>
                              <a:rPr lang="es-ES" b="0" i="1" smtClean="0">
                                <a:latin typeface="Cambria Math" panose="02040503050406030204" pitchFamily="18" charset="0"/>
                              </a:rPr>
                            </m:ctrlPr>
                          </m:sSupPr>
                          <m:e>
                            <m:r>
                              <a:rPr lang="es-ES" b="0" i="1" smtClean="0">
                                <a:latin typeface="Cambria Math" panose="02040503050406030204" pitchFamily="18" charset="0"/>
                              </a:rPr>
                              <m:t>𝑛</m:t>
                            </m:r>
                          </m:e>
                          <m:sup>
                            <m:r>
                              <a:rPr lang="es-ES" b="0" i="1" smtClean="0">
                                <a:latin typeface="Cambria Math" panose="02040503050406030204" pitchFamily="18" charset="0"/>
                              </a:rPr>
                              <m:t>2</m:t>
                            </m:r>
                          </m:sup>
                        </m:sSup>
                      </m:den>
                    </m:f>
                    <m:r>
                      <a:rPr lang="es-ES" b="0" i="1" smtClean="0">
                        <a:latin typeface="Cambria Math" panose="02040503050406030204" pitchFamily="18" charset="0"/>
                      </a:rPr>
                      <m:t>=</m:t>
                    </m:r>
                    <m:f>
                      <m:fPr>
                        <m:ctrlPr>
                          <a:rPr lang="es-ES" b="0" i="1" smtClean="0">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𝜎</m:t>
                            </m:r>
                          </m:e>
                          <m:sup>
                            <m:r>
                              <a:rPr lang="es-ES" i="1">
                                <a:latin typeface="Cambria Math" panose="02040503050406030204" pitchFamily="18" charset="0"/>
                              </a:rPr>
                              <m:t>2</m:t>
                            </m:r>
                          </m:sup>
                        </m:sSup>
                      </m:num>
                      <m:den>
                        <m:r>
                          <a:rPr lang="es-ES" b="0" i="1" smtClean="0">
                            <a:latin typeface="Cambria Math" panose="02040503050406030204" pitchFamily="18" charset="0"/>
                          </a:rPr>
                          <m:t>𝑛</m:t>
                        </m:r>
                      </m:den>
                    </m:f>
                  </m:oMath>
                </a14:m>
                <a:endParaRPr lang="es-ES" dirty="0"/>
              </a:p>
              <a:p>
                <a:r>
                  <a:rPr lang="es-ES" dirty="0"/>
                  <a:t>Es un estimador consistente</a:t>
                </a:r>
              </a:p>
              <a:p>
                <a:pPr lvl="1"/>
                <a:r>
                  <a:rPr lang="es-ES" dirty="0"/>
                  <a:t>Su error (varianza) tiende a cero cuanto mayor es el tamaño de la muestra</a:t>
                </a:r>
              </a:p>
              <a:p>
                <a:r>
                  <a:rPr lang="es-ES" dirty="0"/>
                  <a:t>Es un estimador asintóticamente normal</a:t>
                </a:r>
              </a:p>
              <a:p>
                <a:pPr lvl="1"/>
                <a:r>
                  <a:rPr lang="es-ES" dirty="0"/>
                  <a:t>Tiene una distribución aproximadamente Normal cuando n es grande</a:t>
                </a:r>
              </a:p>
            </p:txBody>
          </p:sp>
        </mc:Choice>
        <mc:Fallback xmlns="">
          <p:sp>
            <p:nvSpPr>
              <p:cNvPr id="3" name="Marcador de contenido 2">
                <a:extLst>
                  <a:ext uri="{FF2B5EF4-FFF2-40B4-BE49-F238E27FC236}">
                    <a16:creationId xmlns:a16="http://schemas.microsoft.com/office/drawing/2014/main" id="{B6E29653-BDC0-220A-A858-6207B896A4A6}"/>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522" t="-2179" b="-36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10D54F14-FA46-ADE6-808E-183019911968}"/>
              </a:ext>
            </a:extLst>
          </p:cNvPr>
          <p:cNvSpPr>
            <a:spLocks noGrp="1"/>
          </p:cNvSpPr>
          <p:nvPr>
            <p:ph type="sldNum" sz="quarter" idx="12"/>
          </p:nvPr>
        </p:nvSpPr>
        <p:spPr/>
        <p:txBody>
          <a:bodyPr/>
          <a:lstStyle/>
          <a:p>
            <a:fld id="{336CAFD0-1F6E-4E11-9822-836563A02839}" type="slidenum">
              <a:rPr lang="es-ES" smtClean="0"/>
              <a:pPr/>
              <a:t>15</a:t>
            </a:fld>
            <a:endParaRPr lang="es-ES" dirty="0"/>
          </a:p>
        </p:txBody>
      </p:sp>
    </p:spTree>
    <p:extLst>
      <p:ext uri="{BB962C8B-B14F-4D97-AF65-F5344CB8AC3E}">
        <p14:creationId xmlns:p14="http://schemas.microsoft.com/office/powerpoint/2010/main" val="216876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89F7C2-B4A6-17A8-CCF8-37E74C9C4AD3}"/>
              </a:ext>
            </a:extLst>
          </p:cNvPr>
          <p:cNvSpPr>
            <a:spLocks noGrp="1"/>
          </p:cNvSpPr>
          <p:nvPr>
            <p:ph type="title"/>
          </p:nvPr>
        </p:nvSpPr>
        <p:spPr/>
        <p:txBody>
          <a:bodyPr/>
          <a:lstStyle/>
          <a:p>
            <a:r>
              <a:rPr lang="es-ES" dirty="0"/>
              <a:t>4. Estimación de parámetros</a:t>
            </a:r>
            <a:br>
              <a:rPr lang="es-ES" dirty="0"/>
            </a:br>
            <a:r>
              <a:rPr lang="es-ES" dirty="0"/>
              <a:t>Cálculo del estimador: varianza muestral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6E29653-BDC0-220A-A858-6207B896A4A6}"/>
                  </a:ext>
                </a:extLst>
              </p:cNvPr>
              <p:cNvSpPr>
                <a:spLocks noGrp="1"/>
              </p:cNvSpPr>
              <p:nvPr>
                <p:ph idx="1"/>
              </p:nvPr>
            </p:nvSpPr>
            <p:spPr>
              <a:xfrm>
                <a:off x="838200" y="1825625"/>
                <a:ext cx="10515600" cy="4667250"/>
              </a:xfrm>
            </p:spPr>
            <p:txBody>
              <a:bodyPr>
                <a:normAutofit fontScale="77500" lnSpcReduction="20000"/>
              </a:bodyPr>
              <a:lstStyle/>
              <a:p>
                <a:r>
                  <a:rPr lang="es-ES" dirty="0"/>
                  <a:t>Muestra de valores de una propiedad para n elementos de la población</a:t>
                </a:r>
              </a:p>
              <a:p>
                <a:pPr lvl="1"/>
                <a:r>
                  <a:rPr lang="es-ES" dirty="0"/>
                  <a:t>Ejemplo: Los pesos de n personas</a:t>
                </a:r>
              </a:p>
              <a:p>
                <a:pPr lvl="1"/>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𝑛</m:t>
                            </m:r>
                          </m:sub>
                        </m:sSub>
                      </m:e>
                    </m:d>
                  </m:oMath>
                </a14:m>
                <a:endParaRPr lang="es-ES" dirty="0"/>
              </a:p>
              <a:p>
                <a:r>
                  <a:rPr lang="es-ES" dirty="0"/>
                  <a:t>Parámetro poblacional a estimar</a:t>
                </a:r>
              </a:p>
              <a:p>
                <a:pPr lvl="1"/>
                <a14:m>
                  <m:oMath xmlns:m="http://schemas.openxmlformats.org/officeDocument/2006/math">
                    <m:r>
                      <a:rPr lang="es-ES"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𝜎</m:t>
                        </m:r>
                      </m:e>
                      <m:sup>
                        <m:r>
                          <a:rPr lang="es-ES" b="0" i="1" smtClean="0">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b="0" i="1" smtClean="0">
                            <a:latin typeface="Cambria Math" panose="02040503050406030204" pitchFamily="18" charset="0"/>
                          </a:rPr>
                          <m:t>𝑡𝑎𝑚𝑎</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 </m:t>
                        </m:r>
                        <m:r>
                          <a:rPr lang="es-ES" b="0" i="1" smtClean="0">
                            <a:latin typeface="Cambria Math" panose="02040503050406030204" pitchFamily="18" charset="0"/>
                          </a:rPr>
                          <m:t>𝑡𝑜𝑡𝑎𝑙</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𝑝𝑜𝑏𝑙𝑎𝑐𝑖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den>
                    </m:f>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=1</m:t>
                        </m:r>
                      </m:sub>
                      <m:sup>
                        <m:r>
                          <a:rPr lang="es-ES" b="0" i="1" smtClean="0">
                            <a:latin typeface="Cambria Math" panose="02040503050406030204" pitchFamily="18" charset="0"/>
                          </a:rPr>
                          <m:t>𝑡𝑎𝑚𝑎</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 </m:t>
                        </m:r>
                        <m:r>
                          <a:rPr lang="es-ES" b="0" i="1" smtClean="0">
                            <a:latin typeface="Cambria Math" panose="02040503050406030204" pitchFamily="18" charset="0"/>
                          </a:rPr>
                          <m:t>𝑡𝑜𝑡𝑎𝑙</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𝑝𝑜𝑏𝑙𝑎𝑐𝑖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sup>
                      <m:e>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m:t>
                                </m:r>
                                <m:r>
                                  <a:rPr lang="es-ES" i="1" smtClean="0">
                                    <a:latin typeface="Cambria Math" panose="02040503050406030204" pitchFamily="18" charset="0"/>
                                    <a:ea typeface="Cambria Math" panose="02040503050406030204" pitchFamily="18" charset="0"/>
                                  </a:rPr>
                                  <m:t>𝜇</m:t>
                                </m:r>
                              </m:e>
                            </m:d>
                          </m:e>
                          <m:sup>
                            <m:r>
                              <a:rPr lang="es-ES" i="1">
                                <a:latin typeface="Cambria Math" panose="02040503050406030204" pitchFamily="18" charset="0"/>
                              </a:rPr>
                              <m:t>2</m:t>
                            </m:r>
                          </m:sup>
                        </m:sSup>
                      </m:e>
                    </m:nary>
                  </m:oMath>
                </a14:m>
                <a:endParaRPr lang="es-ES" dirty="0"/>
              </a:p>
              <a:p>
                <a:r>
                  <a:rPr lang="es-ES" dirty="0"/>
                  <a:t>Estimador</a:t>
                </a:r>
              </a:p>
              <a:p>
                <a:pPr lvl="1"/>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𝑠</m:t>
                        </m:r>
                      </m:e>
                      <m:sup>
                        <m:r>
                          <a:rPr lang="es-ES" b="0" i="1" smtClean="0">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𝑛</m:t>
                        </m:r>
                        <m:r>
                          <a:rPr lang="es-ES" b="0" i="1" smtClean="0">
                            <a:latin typeface="Cambria Math" panose="02040503050406030204" pitchFamily="18" charset="0"/>
                          </a:rPr>
                          <m:t>−1</m:t>
                        </m:r>
                      </m:den>
                    </m:f>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=1</m:t>
                        </m:r>
                      </m:sub>
                      <m:sup>
                        <m:r>
                          <a:rPr lang="es-ES" b="0" i="1" smtClean="0">
                            <a:latin typeface="Cambria Math" panose="02040503050406030204" pitchFamily="18" charset="0"/>
                          </a:rPr>
                          <m:t>𝑛</m:t>
                        </m:r>
                      </m:sup>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𝑋</m:t>
                                    </m:r>
                                  </m:e>
                                </m:acc>
                              </m:e>
                            </m:d>
                          </m:e>
                          <m:sup>
                            <m:r>
                              <a:rPr lang="es-ES" b="0" i="1" smtClean="0">
                                <a:latin typeface="Cambria Math" panose="02040503050406030204" pitchFamily="18" charset="0"/>
                              </a:rPr>
                              <m:t>2</m:t>
                            </m:r>
                          </m:sup>
                        </m:sSup>
                      </m:e>
                    </m:nary>
                  </m:oMath>
                </a14:m>
                <a:endParaRPr lang="es-ES" dirty="0"/>
              </a:p>
              <a:p>
                <a:r>
                  <a:rPr lang="es-ES" dirty="0"/>
                  <a:t>Es un estimador insesgado</a:t>
                </a:r>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𝑠</m:t>
                            </m:r>
                          </m:e>
                          <m:sup>
                            <m:r>
                              <a:rPr lang="es-ES" i="1">
                                <a:latin typeface="Cambria Math" panose="02040503050406030204" pitchFamily="18" charset="0"/>
                                <a:ea typeface="Cambria Math" panose="02040503050406030204" pitchFamily="18" charset="0"/>
                              </a:rPr>
                              <m:t>2</m:t>
                            </m:r>
                          </m:sup>
                        </m:sSup>
                      </m:e>
                    </m:d>
                    <m:r>
                      <a:rPr lang="es-ES" b="0" i="1" smtClean="0">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𝜎</m:t>
                        </m:r>
                      </m:e>
                      <m:sup>
                        <m:r>
                          <a:rPr lang="es-ES" i="1">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Lo</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asegura</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el</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coeficiente</m:t>
                    </m:r>
                    <m:r>
                      <m:rPr>
                        <m:nor/>
                      </m:rPr>
                      <a:rPr lang="es-ES" b="0" i="0" smtClean="0">
                        <a:latin typeface="Cambria Math" panose="02040503050406030204" pitchFamily="18" charset="0"/>
                        <a:ea typeface="Cambria Math" panose="02040503050406030204" pitchFamily="18" charset="0"/>
                      </a:rPr>
                      <m:t> </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1</m:t>
                        </m:r>
                      </m:num>
                      <m:den>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den>
                    </m:f>
                  </m:oMath>
                </a14:m>
                <a:endParaRPr lang="es-ES" dirty="0"/>
              </a:p>
              <a:p>
                <a:r>
                  <a:rPr lang="es-ES" dirty="0"/>
                  <a:t>Es un estimador consistente</a:t>
                </a:r>
              </a:p>
              <a:p>
                <a:pPr lvl="1"/>
                <a:r>
                  <a:rPr lang="es-ES" dirty="0"/>
                  <a:t>Su error tiende a cero cuanto mayor es el tamaño de la muestra</a:t>
                </a:r>
              </a:p>
              <a:p>
                <a:r>
                  <a:rPr lang="es-ES" dirty="0"/>
                  <a:t>Es un estimador asintóticamente normal</a:t>
                </a:r>
              </a:p>
              <a:p>
                <a:pPr lvl="1"/>
                <a:r>
                  <a:rPr lang="es-ES" dirty="0"/>
                  <a:t>Tiene una distribución aproximadamente Normal cuando n es grande</a:t>
                </a:r>
              </a:p>
            </p:txBody>
          </p:sp>
        </mc:Choice>
        <mc:Fallback xmlns="">
          <p:sp>
            <p:nvSpPr>
              <p:cNvPr id="3" name="Marcador de contenido 2">
                <a:extLst>
                  <a:ext uri="{FF2B5EF4-FFF2-40B4-BE49-F238E27FC236}">
                    <a16:creationId xmlns:a16="http://schemas.microsoft.com/office/drawing/2014/main" id="{B6E29653-BDC0-220A-A858-6207B896A4A6}"/>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696" t="-2611" b="-783"/>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10D54F14-FA46-ADE6-808E-183019911968}"/>
              </a:ext>
            </a:extLst>
          </p:cNvPr>
          <p:cNvSpPr>
            <a:spLocks noGrp="1"/>
          </p:cNvSpPr>
          <p:nvPr>
            <p:ph type="sldNum" sz="quarter" idx="12"/>
          </p:nvPr>
        </p:nvSpPr>
        <p:spPr/>
        <p:txBody>
          <a:bodyPr/>
          <a:lstStyle/>
          <a:p>
            <a:fld id="{336CAFD0-1F6E-4E11-9822-836563A02839}" type="slidenum">
              <a:rPr lang="es-ES" smtClean="0"/>
              <a:pPr/>
              <a:t>16</a:t>
            </a:fld>
            <a:endParaRPr lang="es-ES" dirty="0"/>
          </a:p>
        </p:txBody>
      </p:sp>
    </p:spTree>
    <p:extLst>
      <p:ext uri="{BB962C8B-B14F-4D97-AF65-F5344CB8AC3E}">
        <p14:creationId xmlns:p14="http://schemas.microsoft.com/office/powerpoint/2010/main" val="3959500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89F7C2-B4A6-17A8-CCF8-37E74C9C4AD3}"/>
              </a:ext>
            </a:extLst>
          </p:cNvPr>
          <p:cNvSpPr>
            <a:spLocks noGrp="1"/>
          </p:cNvSpPr>
          <p:nvPr>
            <p:ph type="title"/>
          </p:nvPr>
        </p:nvSpPr>
        <p:spPr/>
        <p:txBody>
          <a:bodyPr/>
          <a:lstStyle/>
          <a:p>
            <a:r>
              <a:rPr lang="es-ES" dirty="0"/>
              <a:t>4. Estimación de parámetros</a:t>
            </a:r>
            <a:br>
              <a:rPr lang="es-ES" dirty="0"/>
            </a:br>
            <a:r>
              <a:rPr lang="es-ES" dirty="0"/>
              <a:t>Cálculo del estimador: proporción muestral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6E29653-BDC0-220A-A858-6207B896A4A6}"/>
                  </a:ext>
                </a:extLst>
              </p:cNvPr>
              <p:cNvSpPr>
                <a:spLocks noGrp="1"/>
              </p:cNvSpPr>
              <p:nvPr>
                <p:ph idx="1"/>
              </p:nvPr>
            </p:nvSpPr>
            <p:spPr>
              <a:xfrm>
                <a:off x="838200" y="1825625"/>
                <a:ext cx="10515600" cy="4667250"/>
              </a:xfrm>
            </p:spPr>
            <p:txBody>
              <a:bodyPr>
                <a:normAutofit fontScale="70000" lnSpcReduction="20000"/>
              </a:bodyPr>
              <a:lstStyle/>
              <a:p>
                <a:r>
                  <a:rPr lang="es-ES" dirty="0"/>
                  <a:t>Muestra de valores de una propiedad para n elementos de la población</a:t>
                </a:r>
              </a:p>
              <a:p>
                <a:pPr lvl="1"/>
                <a:r>
                  <a:rPr lang="es-ES" dirty="0"/>
                  <a:t>Ejemplo: Los pesos de n personas</a:t>
                </a:r>
              </a:p>
              <a:p>
                <a:pPr lvl="1"/>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𝑛</m:t>
                            </m:r>
                          </m:sub>
                        </m:sSub>
                      </m:e>
                    </m:d>
                  </m:oMath>
                </a14:m>
                <a:endParaRPr lang="es-ES" dirty="0"/>
              </a:p>
              <a:p>
                <a:r>
                  <a:rPr lang="es-ES" dirty="0"/>
                  <a:t>Parámetro poblacional a estimar</a:t>
                </a:r>
              </a:p>
              <a:p>
                <a:pPr lvl="1"/>
                <a14:m>
                  <m:oMath xmlns:m="http://schemas.openxmlformats.org/officeDocument/2006/math">
                    <m:r>
                      <a:rPr lang="es-ES"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𝑝</m:t>
                    </m:r>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r>
                          <m:rPr>
                            <m:nor/>
                          </m:rPr>
                          <a:rPr lang="es-ES" i="1">
                            <a:latin typeface="Cambria Math" panose="02040503050406030204" pitchFamily="18" charset="0"/>
                          </a:rPr>
                          <m:t>n</m:t>
                        </m:r>
                        <m:r>
                          <m:rPr>
                            <m:nor/>
                          </m:rPr>
                          <a:rPr lang="es-ES" i="1">
                            <a:latin typeface="Cambria Math" panose="02040503050406030204" pitchFamily="18" charset="0"/>
                          </a:rPr>
                          <m:t>ú</m:t>
                        </m:r>
                        <m:r>
                          <m:rPr>
                            <m:nor/>
                          </m:rPr>
                          <a:rPr lang="es-ES" i="1">
                            <a:latin typeface="Cambria Math" panose="02040503050406030204" pitchFamily="18" charset="0"/>
                          </a:rPr>
                          <m:t>mero</m:t>
                        </m:r>
                        <m:r>
                          <m:rPr>
                            <m:nor/>
                          </m:rPr>
                          <a:rPr lang="es-ES" i="1">
                            <a:latin typeface="Cambria Math" panose="02040503050406030204" pitchFamily="18" charset="0"/>
                          </a:rPr>
                          <m:t> </m:t>
                        </m:r>
                        <m:r>
                          <m:rPr>
                            <m:nor/>
                          </m:rPr>
                          <a:rPr lang="es-ES" i="1">
                            <a:latin typeface="Cambria Math" panose="02040503050406030204" pitchFamily="18" charset="0"/>
                          </a:rPr>
                          <m:t>de</m:t>
                        </m:r>
                        <m:r>
                          <m:rPr>
                            <m:nor/>
                          </m:rPr>
                          <a:rPr lang="es-ES" i="1">
                            <a:latin typeface="Cambria Math" panose="02040503050406030204" pitchFamily="18" charset="0"/>
                          </a:rPr>
                          <m:t> </m:t>
                        </m:r>
                        <m:r>
                          <m:rPr>
                            <m:nor/>
                          </m:rPr>
                          <a:rPr lang="es-ES" i="1">
                            <a:latin typeface="Cambria Math" panose="02040503050406030204" pitchFamily="18" charset="0"/>
                          </a:rPr>
                          <m:t>elementos</m:t>
                        </m:r>
                        <m:r>
                          <m:rPr>
                            <m:nor/>
                          </m:rPr>
                          <a:rPr lang="es-ES" i="1">
                            <a:latin typeface="Cambria Math" panose="02040503050406030204" pitchFamily="18" charset="0"/>
                          </a:rPr>
                          <m:t> </m:t>
                        </m:r>
                        <m:r>
                          <m:rPr>
                            <m:nor/>
                          </m:rPr>
                          <a:rPr lang="es-ES" i="1">
                            <a:latin typeface="Cambria Math" panose="02040503050406030204" pitchFamily="18" charset="0"/>
                          </a:rPr>
                          <m:t>de</m:t>
                        </m:r>
                        <m:r>
                          <m:rPr>
                            <m:nor/>
                          </m:rPr>
                          <a:rPr lang="es-ES" i="1">
                            <a:latin typeface="Cambria Math" panose="02040503050406030204" pitchFamily="18" charset="0"/>
                          </a:rPr>
                          <m:t> </m:t>
                        </m:r>
                        <m:r>
                          <m:rPr>
                            <m:nor/>
                          </m:rPr>
                          <a:rPr lang="es-ES" i="1">
                            <a:latin typeface="Cambria Math" panose="02040503050406030204" pitchFamily="18" charset="0"/>
                          </a:rPr>
                          <m:t>la</m:t>
                        </m:r>
                        <m:r>
                          <m:rPr>
                            <m:nor/>
                          </m:rPr>
                          <a:rPr lang="es-ES" i="1">
                            <a:latin typeface="Cambria Math" panose="02040503050406030204" pitchFamily="18" charset="0"/>
                          </a:rPr>
                          <m:t> </m:t>
                        </m:r>
                        <m:r>
                          <m:rPr>
                            <m:nor/>
                          </m:rPr>
                          <a:rPr lang="es-ES" b="0" i="1" smtClean="0">
                            <a:latin typeface="Cambria Math" panose="02040503050406030204" pitchFamily="18" charset="0"/>
                          </a:rPr>
                          <m:t>poblaci</m:t>
                        </m:r>
                        <m:r>
                          <m:rPr>
                            <m:nor/>
                          </m:rPr>
                          <a:rPr lang="es-ES" b="0" i="1" smtClean="0">
                            <a:latin typeface="Cambria Math" panose="02040503050406030204" pitchFamily="18" charset="0"/>
                          </a:rPr>
                          <m:t>ó</m:t>
                        </m:r>
                        <m:r>
                          <m:rPr>
                            <m:nor/>
                          </m:rPr>
                          <a:rPr lang="es-ES" b="0" i="1" smtClean="0">
                            <a:latin typeface="Cambria Math" panose="02040503050406030204" pitchFamily="18" charset="0"/>
                          </a:rPr>
                          <m:t>n</m:t>
                        </m:r>
                        <m:r>
                          <m:rPr>
                            <m:nor/>
                          </m:rPr>
                          <a:rPr lang="es-ES" b="0" i="1" smtClean="0">
                            <a:latin typeface="Cambria Math" panose="02040503050406030204" pitchFamily="18" charset="0"/>
                          </a:rPr>
                          <m:t> </m:t>
                        </m:r>
                        <m:r>
                          <m:rPr>
                            <m:nor/>
                          </m:rPr>
                          <a:rPr lang="es-ES" b="0" i="1" smtClean="0">
                            <a:latin typeface="Cambria Math" panose="02040503050406030204" pitchFamily="18" charset="0"/>
                          </a:rPr>
                          <m:t>que</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cumplen</m:t>
                        </m:r>
                        <m:r>
                          <m:rPr>
                            <m:nor/>
                          </m:rPr>
                          <a:rPr lang="es-ES" b="0" i="1" smtClean="0">
                            <a:latin typeface="Cambria Math" panose="02040503050406030204" pitchFamily="18" charset="0"/>
                          </a:rPr>
                          <m:t> </m:t>
                        </m:r>
                        <m:r>
                          <m:rPr>
                            <m:nor/>
                          </m:rPr>
                          <a:rPr lang="es-ES" b="0" i="1" smtClean="0">
                            <a:latin typeface="Cambria Math" panose="02040503050406030204" pitchFamily="18" charset="0"/>
                          </a:rPr>
                          <m:t>una</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condici</m:t>
                        </m:r>
                        <m:r>
                          <m:rPr>
                            <m:nor/>
                          </m:rPr>
                          <a:rPr lang="es-ES" b="0" i="1" smtClean="0">
                            <a:latin typeface="Cambria Math" panose="02040503050406030204" pitchFamily="18" charset="0"/>
                          </a:rPr>
                          <m:t>ó</m:t>
                        </m:r>
                        <m:r>
                          <m:rPr>
                            <m:nor/>
                          </m:rPr>
                          <a:rPr lang="es-ES" b="0" i="1" smtClean="0">
                            <a:latin typeface="Cambria Math" panose="02040503050406030204" pitchFamily="18" charset="0"/>
                          </a:rPr>
                          <m:t>n</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m:t>
                        </m:r>
                        <m:r>
                          <m:rPr>
                            <m:nor/>
                          </m:rPr>
                          <a:rPr lang="es-ES" i="1">
                            <a:latin typeface="Cambria Math" panose="02040503050406030204" pitchFamily="18" charset="0"/>
                          </a:rPr>
                          <m:t> </m:t>
                        </m:r>
                      </m:num>
                      <m:den>
                        <m:r>
                          <a:rPr lang="es-ES" b="0" i="1" smtClean="0">
                            <a:latin typeface="Cambria Math" panose="02040503050406030204" pitchFamily="18" charset="0"/>
                          </a:rPr>
                          <m:t>𝑡𝑎𝑚𝑎</m:t>
                        </m:r>
                        <m:r>
                          <a:rPr lang="es-ES" b="0" i="1" smtClean="0">
                            <a:latin typeface="Cambria Math" panose="02040503050406030204" pitchFamily="18" charset="0"/>
                          </a:rPr>
                          <m:t>ñ</m:t>
                        </m:r>
                        <m:r>
                          <a:rPr lang="es-ES" b="0" i="1" smtClean="0">
                            <a:latin typeface="Cambria Math" panose="02040503050406030204" pitchFamily="18" charset="0"/>
                          </a:rPr>
                          <m:t>𝑜</m:t>
                        </m:r>
                        <m:r>
                          <a:rPr lang="es-ES" b="0" i="1" smtClean="0">
                            <a:latin typeface="Cambria Math" panose="02040503050406030204" pitchFamily="18" charset="0"/>
                          </a:rPr>
                          <m:t> </m:t>
                        </m:r>
                        <m:r>
                          <a:rPr lang="es-ES" b="0" i="1" smtClean="0">
                            <a:latin typeface="Cambria Math" panose="02040503050406030204" pitchFamily="18" charset="0"/>
                          </a:rPr>
                          <m:t>𝑡𝑜𝑡𝑎𝑙</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𝑝𝑜𝑏𝑙𝑎𝑐𝑖</m:t>
                        </m:r>
                        <m:r>
                          <a:rPr lang="es-ES" b="0" i="1" smtClean="0">
                            <a:latin typeface="Cambria Math" panose="02040503050406030204" pitchFamily="18" charset="0"/>
                          </a:rPr>
                          <m:t>ó</m:t>
                        </m:r>
                        <m:r>
                          <a:rPr lang="es-ES" b="0" i="1" smtClean="0">
                            <a:latin typeface="Cambria Math" panose="02040503050406030204" pitchFamily="18" charset="0"/>
                          </a:rPr>
                          <m:t>𝑛</m:t>
                        </m:r>
                      </m:den>
                    </m:f>
                  </m:oMath>
                </a14:m>
                <a:endParaRPr lang="es-ES" i="1" dirty="0"/>
              </a:p>
              <a:p>
                <a:r>
                  <a:rPr lang="es-ES" dirty="0"/>
                  <a:t>Estimador</a:t>
                </a:r>
              </a:p>
              <a:p>
                <a:pPr lvl="1"/>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r>
                          <m:rPr>
                            <m:nor/>
                          </m:rPr>
                          <a:rPr lang="es-ES" b="0" i="1" smtClean="0">
                            <a:latin typeface="Cambria Math" panose="02040503050406030204" pitchFamily="18" charset="0"/>
                          </a:rPr>
                          <m:t>n</m:t>
                        </m:r>
                        <m:r>
                          <m:rPr>
                            <m:nor/>
                          </m:rPr>
                          <a:rPr lang="es-ES" b="0" i="1" smtClean="0">
                            <a:latin typeface="Cambria Math" panose="02040503050406030204" pitchFamily="18" charset="0"/>
                          </a:rPr>
                          <m:t>ú</m:t>
                        </m:r>
                        <m:r>
                          <m:rPr>
                            <m:nor/>
                          </m:rPr>
                          <a:rPr lang="es-ES" b="0" i="1" smtClean="0">
                            <a:latin typeface="Cambria Math" panose="02040503050406030204" pitchFamily="18" charset="0"/>
                          </a:rPr>
                          <m:t>mero</m:t>
                        </m:r>
                        <m:r>
                          <m:rPr>
                            <m:nor/>
                          </m:rPr>
                          <a:rPr lang="es-ES" b="0" i="1" smtClean="0">
                            <a:latin typeface="Cambria Math" panose="02040503050406030204" pitchFamily="18" charset="0"/>
                          </a:rPr>
                          <m:t> </m:t>
                        </m:r>
                        <m:r>
                          <m:rPr>
                            <m:nor/>
                          </m:rPr>
                          <a:rPr lang="es-ES" b="0" i="1" smtClean="0">
                            <a:latin typeface="Cambria Math" panose="02040503050406030204" pitchFamily="18" charset="0"/>
                          </a:rPr>
                          <m:t>de</m:t>
                        </m:r>
                        <m:r>
                          <m:rPr>
                            <m:nor/>
                          </m:rPr>
                          <a:rPr lang="es-ES" b="0" i="1" smtClean="0">
                            <a:latin typeface="Cambria Math" panose="02040503050406030204" pitchFamily="18" charset="0"/>
                          </a:rPr>
                          <m:t> </m:t>
                        </m:r>
                        <m:r>
                          <m:rPr>
                            <m:nor/>
                          </m:rPr>
                          <a:rPr lang="es-ES" b="0" i="1" smtClean="0">
                            <a:latin typeface="Cambria Math" panose="02040503050406030204" pitchFamily="18" charset="0"/>
                          </a:rPr>
                          <m:t>elementos</m:t>
                        </m:r>
                        <m:r>
                          <m:rPr>
                            <m:nor/>
                          </m:rPr>
                          <a:rPr lang="es-ES" b="0" i="1" smtClean="0">
                            <a:latin typeface="Cambria Math" panose="02040503050406030204" pitchFamily="18" charset="0"/>
                          </a:rPr>
                          <m:t> </m:t>
                        </m:r>
                        <m:r>
                          <m:rPr>
                            <m:nor/>
                          </m:rPr>
                          <a:rPr lang="es-ES" b="0" i="1" smtClean="0">
                            <a:latin typeface="Cambria Math" panose="02040503050406030204" pitchFamily="18" charset="0"/>
                          </a:rPr>
                          <m:t>de</m:t>
                        </m:r>
                        <m:r>
                          <m:rPr>
                            <m:nor/>
                          </m:rPr>
                          <a:rPr lang="es-ES" b="0" i="1" smtClean="0">
                            <a:latin typeface="Cambria Math" panose="02040503050406030204" pitchFamily="18" charset="0"/>
                          </a:rPr>
                          <m:t> </m:t>
                        </m:r>
                        <m:r>
                          <m:rPr>
                            <m:nor/>
                          </m:rPr>
                          <a:rPr lang="es-ES" b="0" i="1" smtClean="0">
                            <a:latin typeface="Cambria Math" panose="02040503050406030204" pitchFamily="18" charset="0"/>
                          </a:rPr>
                          <m:t>la</m:t>
                        </m:r>
                        <m:r>
                          <m:rPr>
                            <m:nor/>
                          </m:rPr>
                          <a:rPr lang="es-ES" b="0" i="1" smtClean="0">
                            <a:latin typeface="Cambria Math" panose="02040503050406030204" pitchFamily="18" charset="0"/>
                          </a:rPr>
                          <m:t> </m:t>
                        </m:r>
                        <m:r>
                          <m:rPr>
                            <m:nor/>
                          </m:rPr>
                          <a:rPr lang="es-ES" b="0" i="1" smtClean="0">
                            <a:latin typeface="Cambria Math" panose="02040503050406030204" pitchFamily="18" charset="0"/>
                          </a:rPr>
                          <m:t>muestra</m:t>
                        </m:r>
                        <m:r>
                          <m:rPr>
                            <m:nor/>
                          </m:rPr>
                          <a:rPr lang="es-ES" b="0" i="1" smtClean="0">
                            <a:latin typeface="Cambria Math" panose="02040503050406030204" pitchFamily="18" charset="0"/>
                          </a:rPr>
                          <m:t> </m:t>
                        </m:r>
                        <m:r>
                          <m:rPr>
                            <m:nor/>
                          </m:rPr>
                          <a:rPr lang="es-ES" b="0" i="1" smtClean="0">
                            <a:latin typeface="Cambria Math" panose="02040503050406030204" pitchFamily="18" charset="0"/>
                          </a:rPr>
                          <m:t>que</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cumplen</m:t>
                        </m:r>
                        <m:r>
                          <m:rPr>
                            <m:nor/>
                          </m:rPr>
                          <a:rPr lang="es-ES" b="0" i="1" smtClean="0">
                            <a:latin typeface="Cambria Math" panose="02040503050406030204" pitchFamily="18" charset="0"/>
                          </a:rPr>
                          <m:t> </m:t>
                        </m:r>
                        <m:r>
                          <m:rPr>
                            <m:nor/>
                          </m:rPr>
                          <a:rPr lang="es-ES" b="0" i="1" smtClean="0">
                            <a:latin typeface="Cambria Math" panose="02040503050406030204" pitchFamily="18" charset="0"/>
                          </a:rPr>
                          <m:t>la</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condici</m:t>
                        </m:r>
                        <m:r>
                          <m:rPr>
                            <m:nor/>
                          </m:rPr>
                          <a:rPr lang="es-ES" b="0" i="1" smtClean="0">
                            <a:latin typeface="Cambria Math" panose="02040503050406030204" pitchFamily="18" charset="0"/>
                          </a:rPr>
                          <m:t>ó</m:t>
                        </m:r>
                        <m:r>
                          <m:rPr>
                            <m:nor/>
                          </m:rPr>
                          <a:rPr lang="es-ES" b="0" i="1" smtClean="0">
                            <a:latin typeface="Cambria Math" panose="02040503050406030204" pitchFamily="18" charset="0"/>
                          </a:rPr>
                          <m:t>n</m:t>
                        </m:r>
                        <m:r>
                          <m:rPr>
                            <m:nor/>
                          </m:rPr>
                          <a:rPr lang="es-ES" b="0" i="1" smtClean="0">
                            <a:latin typeface="Cambria Math" panose="02040503050406030204" pitchFamily="18" charset="0"/>
                          </a:rPr>
                          <m:t> </m:t>
                        </m:r>
                        <m:r>
                          <m:rPr>
                            <m:nor/>
                          </m:rPr>
                          <a:rPr lang="es-ES" b="0" i="1" smtClean="0">
                            <a:latin typeface="Cambria Math" panose="02040503050406030204" pitchFamily="18" charset="0"/>
                          </a:rPr>
                          <m:t>C</m:t>
                        </m:r>
                        <m:r>
                          <m:rPr>
                            <m:nor/>
                          </m:rPr>
                          <a:rPr lang="es-ES" b="0" i="1" smtClean="0">
                            <a:latin typeface="Cambria Math" panose="02040503050406030204" pitchFamily="18" charset="0"/>
                          </a:rPr>
                          <m:t> </m:t>
                        </m:r>
                      </m:num>
                      <m:den>
                        <m:r>
                          <a:rPr lang="es-ES" b="0" i="1" smtClean="0">
                            <a:latin typeface="Cambria Math" panose="02040503050406030204" pitchFamily="18" charset="0"/>
                          </a:rPr>
                          <m:t>𝑛</m:t>
                        </m:r>
                      </m:den>
                    </m:f>
                  </m:oMath>
                </a14:m>
                <a:endParaRPr lang="es-ES" dirty="0"/>
              </a:p>
              <a:p>
                <a:r>
                  <a:rPr lang="es-ES" dirty="0"/>
                  <a:t>Es un estimador insesgado</a:t>
                </a:r>
              </a:p>
              <a:p>
                <a:pPr lvl="1"/>
                <a14:m>
                  <m:oMath xmlns:m="http://schemas.openxmlformats.org/officeDocument/2006/math">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rPr>
                      <m:t>=</m:t>
                    </m:r>
                    <m:r>
                      <a:rPr lang="es-ES" b="0" i="1" smtClean="0">
                        <a:latin typeface="Cambria Math" panose="02040503050406030204" pitchFamily="18" charset="0"/>
                      </a:rPr>
                      <m:t>𝐸</m:t>
                    </m:r>
                    <m:d>
                      <m:dPr>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𝑝</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oMath>
                </a14:m>
                <a:endParaRPr lang="es-ES" dirty="0"/>
              </a:p>
              <a:p>
                <a:r>
                  <a:rPr lang="es-ES" dirty="0"/>
                  <a:t>Es un estimador consistente</a:t>
                </a:r>
              </a:p>
              <a:p>
                <a:pPr lvl="1"/>
                <a:r>
                  <a:rPr lang="es-ES" dirty="0"/>
                  <a:t>Su error tiende a cero cuanto mayor es el tamaño de la muestra</a:t>
                </a:r>
              </a:p>
              <a:p>
                <a:r>
                  <a:rPr lang="es-ES" dirty="0"/>
                  <a:t>Es un estimador asintóticamente normal</a:t>
                </a:r>
              </a:p>
              <a:p>
                <a:pPr lvl="1"/>
                <a:r>
                  <a:rPr lang="es-ES" dirty="0"/>
                  <a:t>Tiene una distribución aproximadamente Normal cuando n es grande, porque es similar a una media muestral</a:t>
                </a:r>
              </a:p>
            </p:txBody>
          </p:sp>
        </mc:Choice>
        <mc:Fallback xmlns="">
          <p:sp>
            <p:nvSpPr>
              <p:cNvPr id="3" name="Marcador de contenido 2">
                <a:extLst>
                  <a:ext uri="{FF2B5EF4-FFF2-40B4-BE49-F238E27FC236}">
                    <a16:creationId xmlns:a16="http://schemas.microsoft.com/office/drawing/2014/main" id="{B6E29653-BDC0-220A-A858-6207B896A4A6}"/>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522" t="-235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10D54F14-FA46-ADE6-808E-183019911968}"/>
              </a:ext>
            </a:extLst>
          </p:cNvPr>
          <p:cNvSpPr>
            <a:spLocks noGrp="1"/>
          </p:cNvSpPr>
          <p:nvPr>
            <p:ph type="sldNum" sz="quarter" idx="12"/>
          </p:nvPr>
        </p:nvSpPr>
        <p:spPr/>
        <p:txBody>
          <a:bodyPr/>
          <a:lstStyle/>
          <a:p>
            <a:fld id="{336CAFD0-1F6E-4E11-9822-836563A02839}" type="slidenum">
              <a:rPr lang="es-ES" smtClean="0"/>
              <a:pPr/>
              <a:t>17</a:t>
            </a:fld>
            <a:endParaRPr lang="es-ES" dirty="0"/>
          </a:p>
        </p:txBody>
      </p:sp>
    </p:spTree>
    <p:extLst>
      <p:ext uri="{BB962C8B-B14F-4D97-AF65-F5344CB8AC3E}">
        <p14:creationId xmlns:p14="http://schemas.microsoft.com/office/powerpoint/2010/main" val="10101596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4DBD54-30D7-E1F8-5835-75638A4E1784}"/>
              </a:ext>
            </a:extLst>
          </p:cNvPr>
          <p:cNvSpPr>
            <a:spLocks noGrp="1"/>
          </p:cNvSpPr>
          <p:nvPr>
            <p:ph type="title"/>
          </p:nvPr>
        </p:nvSpPr>
        <p:spPr/>
        <p:txBody>
          <a:bodyPr/>
          <a:lstStyle/>
          <a:p>
            <a:r>
              <a:rPr lang="es-ES" dirty="0"/>
              <a:t>5. Definición de Intervalo de Confianza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B3E850D-714D-2AD8-ACCE-4AF00D571A00}"/>
                  </a:ext>
                </a:extLst>
              </p:cNvPr>
              <p:cNvSpPr>
                <a:spLocks noGrp="1"/>
              </p:cNvSpPr>
              <p:nvPr>
                <p:ph idx="1"/>
              </p:nvPr>
            </p:nvSpPr>
            <p:spPr/>
            <p:txBody>
              <a:bodyPr>
                <a:normAutofit fontScale="92500"/>
              </a:bodyPr>
              <a:lstStyle/>
              <a:p>
                <a:r>
                  <a:rPr lang="es-ES" dirty="0"/>
                  <a:t>Un intervalo </a:t>
                </a:r>
                <a14:m>
                  <m:oMath xmlns:m="http://schemas.openxmlformats.org/officeDocument/2006/math">
                    <m:d>
                      <m:dPr>
                        <m:begChr m:val="["/>
                        <m:endChr m:val="]"/>
                        <m:ctrlPr>
                          <a:rPr lang="es-ES" i="1" smtClean="0">
                            <a:latin typeface="Cambria Math" panose="02040503050406030204" pitchFamily="18" charset="0"/>
                          </a:rPr>
                        </m:ctrlPr>
                      </m:dPr>
                      <m:e>
                        <m:r>
                          <a:rPr lang="es-ES" b="0" i="1" smtClean="0">
                            <a:latin typeface="Cambria Math" panose="02040503050406030204" pitchFamily="18" charset="0"/>
                          </a:rPr>
                          <m:t>𝑎</m:t>
                        </m:r>
                        <m:r>
                          <a:rPr lang="es-ES" b="0" i="1" smtClean="0">
                            <a:latin typeface="Cambria Math" panose="02040503050406030204" pitchFamily="18" charset="0"/>
                          </a:rPr>
                          <m:t>,</m:t>
                        </m:r>
                        <m:r>
                          <a:rPr lang="es-ES" b="0" i="1" smtClean="0">
                            <a:latin typeface="Cambria Math" panose="02040503050406030204" pitchFamily="18" charset="0"/>
                          </a:rPr>
                          <m:t>𝑏</m:t>
                        </m:r>
                      </m:e>
                    </m:d>
                  </m:oMath>
                </a14:m>
                <a:r>
                  <a:rPr lang="es-ES" dirty="0"/>
                  <a:t> es un intervalo de confianza para un 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de una población, con un nivel de confianza de </a:t>
                </a:r>
                <a14:m>
                  <m:oMath xmlns:m="http://schemas.openxmlformats.org/officeDocument/2006/math">
                    <m:d>
                      <m:dPr>
                        <m:ctrlPr>
                          <a:rPr lang="es-ES"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e>
                    </m:d>
                  </m:oMath>
                </a14:m>
                <a:r>
                  <a:rPr lang="es-ES" dirty="0"/>
                  <a:t>, si el intervalo contiene el valor del parámetro con una probabilidad de </a:t>
                </a:r>
                <a14:m>
                  <m:oMath xmlns:m="http://schemas.openxmlformats.org/officeDocument/2006/math">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e>
                    </m:d>
                  </m:oMath>
                </a14:m>
                <a:r>
                  <a:rPr lang="es-ES" dirty="0"/>
                  <a:t>.</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𝑏</m:t>
                        </m:r>
                      </m:e>
                    </m:d>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oMath>
                </a14:m>
                <a:endParaRPr lang="es-ES" dirty="0"/>
              </a:p>
              <a:p>
                <a:r>
                  <a:rPr lang="es-ES" b="1" dirty="0"/>
                  <a:t>El nivel de confianza </a:t>
                </a:r>
                <a14:m>
                  <m:oMath xmlns:m="http://schemas.openxmlformats.org/officeDocument/2006/math">
                    <m:d>
                      <m:dPr>
                        <m:ctrlPr>
                          <a:rPr lang="es-ES" b="1" i="1" smtClean="0">
                            <a:latin typeface="Cambria Math" panose="02040503050406030204" pitchFamily="18" charset="0"/>
                            <a:ea typeface="Cambria Math" panose="02040503050406030204" pitchFamily="18" charset="0"/>
                          </a:rPr>
                        </m:ctrlPr>
                      </m:dPr>
                      <m:e>
                        <m:r>
                          <a:rPr lang="es-ES" b="1" i="1" smtClean="0">
                            <a:latin typeface="Cambria Math" panose="02040503050406030204" pitchFamily="18" charset="0"/>
                            <a:ea typeface="Cambria Math" panose="02040503050406030204" pitchFamily="18" charset="0"/>
                          </a:rPr>
                          <m:t>𝟏</m:t>
                        </m:r>
                        <m:r>
                          <a:rPr lang="es-ES" b="1" i="1" smtClean="0">
                            <a:latin typeface="Cambria Math" panose="02040503050406030204" pitchFamily="18" charset="0"/>
                            <a:ea typeface="Cambria Math" panose="02040503050406030204" pitchFamily="18" charset="0"/>
                          </a:rPr>
                          <m:t>−</m:t>
                        </m:r>
                        <m:r>
                          <a:rPr lang="es-ES" b="1" i="1" smtClean="0">
                            <a:latin typeface="Cambria Math" panose="02040503050406030204" pitchFamily="18" charset="0"/>
                            <a:ea typeface="Cambria Math" panose="02040503050406030204" pitchFamily="18" charset="0"/>
                          </a:rPr>
                          <m:t>𝜶</m:t>
                        </m:r>
                      </m:e>
                    </m:d>
                  </m:oMath>
                </a14:m>
                <a:r>
                  <a:rPr lang="es-ES" b="1" dirty="0"/>
                  <a:t> o probabilidad de cobertura, es un valor entre 0 y 1, y representa la probabilidad de acertar en la predicción</a:t>
                </a:r>
                <a:r>
                  <a:rPr lang="es-ES" dirty="0"/>
                  <a:t>, es decir la probabilidad de que el valor real del parámetro se encuentre entre los límites del intervalo.</a:t>
                </a:r>
              </a:p>
              <a:p>
                <a:r>
                  <a:rPr lang="es-ES" dirty="0"/>
                  <a:t>El </a:t>
                </a:r>
                <a:r>
                  <a:rPr lang="es-ES" b="1" dirty="0"/>
                  <a:t>nivel de error o nivel de significación </a:t>
                </a:r>
                <a14:m>
                  <m:oMath xmlns:m="http://schemas.openxmlformats.org/officeDocument/2006/math">
                    <m:r>
                      <a:rPr lang="es-ES" b="1" i="1" smtClean="0">
                        <a:latin typeface="Cambria Math" panose="02040503050406030204" pitchFamily="18" charset="0"/>
                        <a:ea typeface="Cambria Math" panose="02040503050406030204" pitchFamily="18" charset="0"/>
                      </a:rPr>
                      <m:t>𝜶</m:t>
                    </m:r>
                  </m:oMath>
                </a14:m>
                <a:r>
                  <a:rPr lang="es-ES" dirty="0"/>
                  <a:t>, representa lo contrario que la confianza, es decir, es la probabilidad de no acertar en la predicción.</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&lt;</m:t>
                        </m:r>
                        <m:r>
                          <a:rPr lang="es-ES" b="0" i="1" smtClean="0">
                            <a:latin typeface="Cambria Math" panose="02040503050406030204" pitchFamily="18" charset="0"/>
                            <a:ea typeface="Cambria Math" panose="02040503050406030204" pitchFamily="18" charset="0"/>
                          </a:rPr>
                          <m:t>𝑎</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r>
                          <a:rPr lang="es-ES" b="0" i="1" smtClean="0">
                            <a:latin typeface="Cambria Math" panose="02040503050406030204" pitchFamily="18" charset="0"/>
                            <a:ea typeface="Cambria Math" panose="02040503050406030204" pitchFamily="18" charset="0"/>
                          </a:rPr>
                          <m:t>&gt;</m:t>
                        </m:r>
                        <m:r>
                          <a:rPr lang="es-ES" b="0" i="1" smtClean="0">
                            <a:latin typeface="Cambria Math" panose="02040503050406030204" pitchFamily="18" charset="0"/>
                            <a:ea typeface="Cambria Math" panose="02040503050406030204" pitchFamily="18" charset="0"/>
                          </a:rPr>
                          <m:t>𝑏</m:t>
                        </m:r>
                      </m:e>
                    </m:d>
                    <m:r>
                      <a:rPr lang="es-ES" b="0" i="1" smtClean="0">
                        <a:latin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𝛼</m:t>
                    </m:r>
                  </m:oMath>
                </a14:m>
                <a:endParaRPr lang="es-ES" dirty="0"/>
              </a:p>
              <a:p>
                <a:pPr lvl="1"/>
                <a:endParaRPr lang="es-ES" dirty="0"/>
              </a:p>
              <a:p>
                <a:pPr lvl="1"/>
                <a:endParaRPr lang="es-ES" dirty="0"/>
              </a:p>
            </p:txBody>
          </p:sp>
        </mc:Choice>
        <mc:Fallback xmlns="">
          <p:sp>
            <p:nvSpPr>
              <p:cNvPr id="3" name="Marcador de contenido 2">
                <a:extLst>
                  <a:ext uri="{FF2B5EF4-FFF2-40B4-BE49-F238E27FC236}">
                    <a16:creationId xmlns:a16="http://schemas.microsoft.com/office/drawing/2014/main" id="{2B3E850D-714D-2AD8-ACCE-4AF00D571A00}"/>
                  </a:ext>
                </a:extLst>
              </p:cNvPr>
              <p:cNvSpPr>
                <a:spLocks noGrp="1" noRot="1" noChangeAspect="1" noMove="1" noResize="1" noEditPoints="1" noAdjustHandles="1" noChangeArrowheads="1" noChangeShapeType="1" noTextEdit="1"/>
              </p:cNvSpPr>
              <p:nvPr>
                <p:ph idx="1"/>
              </p:nvPr>
            </p:nvSpPr>
            <p:spPr>
              <a:blipFill>
                <a:blip r:embed="rId3"/>
                <a:stretch>
                  <a:fillRect l="-928" t="-2101" r="-522" b="-84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D1D3EDC-94D3-B19B-0A8F-3A1A14879C52}"/>
              </a:ext>
            </a:extLst>
          </p:cNvPr>
          <p:cNvSpPr>
            <a:spLocks noGrp="1"/>
          </p:cNvSpPr>
          <p:nvPr>
            <p:ph type="sldNum" sz="quarter" idx="12"/>
          </p:nvPr>
        </p:nvSpPr>
        <p:spPr/>
        <p:txBody>
          <a:bodyPr/>
          <a:lstStyle/>
          <a:p>
            <a:fld id="{336CAFD0-1F6E-4E11-9822-836563A02839}" type="slidenum">
              <a:rPr lang="es-ES" smtClean="0"/>
              <a:pPr/>
              <a:t>18</a:t>
            </a:fld>
            <a:endParaRPr lang="es-ES" dirty="0"/>
          </a:p>
        </p:txBody>
      </p:sp>
    </p:spTree>
    <p:extLst>
      <p:ext uri="{BB962C8B-B14F-4D97-AF65-F5344CB8AC3E}">
        <p14:creationId xmlns:p14="http://schemas.microsoft.com/office/powerpoint/2010/main" val="37373801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4DBD54-30D7-E1F8-5835-75638A4E1784}"/>
              </a:ext>
            </a:extLst>
          </p:cNvPr>
          <p:cNvSpPr>
            <a:spLocks noGrp="1"/>
          </p:cNvSpPr>
          <p:nvPr>
            <p:ph type="title"/>
          </p:nvPr>
        </p:nvSpPr>
        <p:spPr/>
        <p:txBody>
          <a:bodyPr>
            <a:normAutofit/>
          </a:bodyPr>
          <a:lstStyle/>
          <a:p>
            <a:r>
              <a:rPr lang="es-ES" dirty="0"/>
              <a:t>5. Definición de Intervalo de Confianza</a:t>
            </a:r>
            <a:br>
              <a:rPr lang="es-ES" dirty="0"/>
            </a:br>
            <a:r>
              <a:rPr lang="es-ES" dirty="0"/>
              <a:t>Intervalos y muestras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B3E850D-714D-2AD8-ACCE-4AF00D571A00}"/>
                  </a:ext>
                </a:extLst>
              </p:cNvPr>
              <p:cNvSpPr>
                <a:spLocks noGrp="1"/>
              </p:cNvSpPr>
              <p:nvPr>
                <p:ph idx="1"/>
              </p:nvPr>
            </p:nvSpPr>
            <p:spPr>
              <a:xfrm>
                <a:off x="838200" y="1825624"/>
                <a:ext cx="5054600" cy="4808855"/>
              </a:xfrm>
            </p:spPr>
            <p:txBody>
              <a:bodyPr>
                <a:normAutofit fontScale="92500" lnSpcReduction="10000"/>
              </a:bodyPr>
              <a:lstStyle/>
              <a:p>
                <a:r>
                  <a:rPr lang="es-ES" dirty="0"/>
                  <a:t>Un intervalo de confianza se construye a partir de una muestra de la población </a:t>
                </a:r>
              </a:p>
              <a:p>
                <a:pPr lvl="1"/>
                <a:r>
                  <a:rPr lang="es-ES" dirty="0"/>
                  <a:t>Para una misma población puede haber intervalos de confianza diferentes según la muestra elegida </a:t>
                </a:r>
              </a:p>
              <a:p>
                <a:r>
                  <a:rPr lang="es-ES" dirty="0"/>
                  <a:t>Recordar que</a:t>
                </a:r>
              </a:p>
              <a:p>
                <a:pPr lvl="1"/>
                <a:r>
                  <a:rPr lang="es-ES" dirty="0"/>
                  <a:t>Un 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de una población (por ejemplo, la media poblacional) no es una variable aleatoria, es un valor constante</a:t>
                </a:r>
              </a:p>
              <a:p>
                <a:pPr lvl="1"/>
                <a:r>
                  <a:rPr lang="es-ES" dirty="0"/>
                  <a:t>Un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de un parámetro (por ejemplo, la media muestral) sí es una variable aleatoria</a:t>
                </a:r>
              </a:p>
            </p:txBody>
          </p:sp>
        </mc:Choice>
        <mc:Fallback xmlns="">
          <p:sp>
            <p:nvSpPr>
              <p:cNvPr id="3" name="Marcador de contenido 2">
                <a:extLst>
                  <a:ext uri="{FF2B5EF4-FFF2-40B4-BE49-F238E27FC236}">
                    <a16:creationId xmlns:a16="http://schemas.microsoft.com/office/drawing/2014/main" id="{2B3E850D-714D-2AD8-ACCE-4AF00D571A00}"/>
                  </a:ext>
                </a:extLst>
              </p:cNvPr>
              <p:cNvSpPr>
                <a:spLocks noGrp="1" noRot="1" noChangeAspect="1" noMove="1" noResize="1" noEditPoints="1" noAdjustHandles="1" noChangeArrowheads="1" noChangeShapeType="1" noTextEdit="1"/>
              </p:cNvSpPr>
              <p:nvPr>
                <p:ph idx="1"/>
              </p:nvPr>
            </p:nvSpPr>
            <p:spPr>
              <a:xfrm>
                <a:off x="838200" y="1825624"/>
                <a:ext cx="5054600" cy="4808855"/>
              </a:xfrm>
              <a:blipFill>
                <a:blip r:embed="rId2"/>
                <a:stretch>
                  <a:fillRect l="-1930" t="-2535" r="-1689"/>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D1D3EDC-94D3-B19B-0A8F-3A1A14879C52}"/>
              </a:ext>
            </a:extLst>
          </p:cNvPr>
          <p:cNvSpPr>
            <a:spLocks noGrp="1"/>
          </p:cNvSpPr>
          <p:nvPr>
            <p:ph type="sldNum" sz="quarter" idx="12"/>
          </p:nvPr>
        </p:nvSpPr>
        <p:spPr/>
        <p:txBody>
          <a:bodyPr/>
          <a:lstStyle/>
          <a:p>
            <a:fld id="{336CAFD0-1F6E-4E11-9822-836563A02839}" type="slidenum">
              <a:rPr lang="es-ES" smtClean="0"/>
              <a:pPr/>
              <a:t>19</a:t>
            </a:fld>
            <a:endParaRPr lang="es-ES" dirty="0"/>
          </a:p>
        </p:txBody>
      </p:sp>
      <p:pic>
        <p:nvPicPr>
          <p:cNvPr id="6" name="Imagen 5">
            <a:extLst>
              <a:ext uri="{FF2B5EF4-FFF2-40B4-BE49-F238E27FC236}">
                <a16:creationId xmlns:a16="http://schemas.microsoft.com/office/drawing/2014/main" id="{34B264AD-0587-8EFB-42D8-87DAC0CFDDB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92800" y="2166264"/>
            <a:ext cx="6096000" cy="4041338"/>
          </a:xfrm>
          <a:prstGeom prst="rect">
            <a:avLst/>
          </a:prstGeom>
        </p:spPr>
      </p:pic>
    </p:spTree>
    <p:extLst>
      <p:ext uri="{BB962C8B-B14F-4D97-AF65-F5344CB8AC3E}">
        <p14:creationId xmlns:p14="http://schemas.microsoft.com/office/powerpoint/2010/main" val="4071871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AA86C8-A8D2-F230-A88E-7C23AF6F2348}"/>
              </a:ext>
            </a:extLst>
          </p:cNvPr>
          <p:cNvSpPr>
            <a:spLocks noGrp="1"/>
          </p:cNvSpPr>
          <p:nvPr>
            <p:ph type="title"/>
          </p:nvPr>
        </p:nvSpPr>
        <p:spPr/>
        <p:txBody>
          <a:bodyPr/>
          <a:lstStyle/>
          <a:p>
            <a:r>
              <a:rPr lang="es-ES" dirty="0"/>
              <a:t>5. Definición de Intervalo de Confianza</a:t>
            </a:r>
            <a:br>
              <a:rPr lang="es-ES" dirty="0"/>
            </a:br>
            <a:r>
              <a:rPr lang="es-ES" dirty="0"/>
              <a:t>Ejemplo</a:t>
            </a:r>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0124DB2B-F802-44F5-F500-55A344549659}"/>
                  </a:ext>
                </a:extLst>
              </p:cNvPr>
              <p:cNvSpPr>
                <a:spLocks noGrp="1"/>
              </p:cNvSpPr>
              <p:nvPr>
                <p:ph idx="1"/>
              </p:nvPr>
            </p:nvSpPr>
            <p:spPr/>
            <p:txBody>
              <a:bodyPr>
                <a:normAutofit fontScale="92500" lnSpcReduction="10000"/>
              </a:bodyPr>
              <a:lstStyle/>
              <a:p>
                <a:r>
                  <a:rPr lang="es-ES" dirty="0"/>
                  <a:t>En una población de personas, una propiedad de cada persona es su peso</a:t>
                </a:r>
              </a:p>
              <a:p>
                <a:r>
                  <a:rPr lang="es-ES" dirty="0"/>
                  <a:t>Un parámetro es la media del peso de la población</a:t>
                </a:r>
              </a:p>
              <a:p>
                <a:r>
                  <a:rPr lang="es-ES" dirty="0"/>
                  <a:t>Si el intervalo de confianza para la media poblacional del peso es </a:t>
                </a:r>
                <a14:m>
                  <m:oMath xmlns:m="http://schemas.openxmlformats.org/officeDocument/2006/math">
                    <m:d>
                      <m:dPr>
                        <m:begChr m:val="["/>
                        <m:endChr m:val="]"/>
                        <m:ctrlPr>
                          <a:rPr lang="es-ES" i="1">
                            <a:latin typeface="Cambria Math" panose="02040503050406030204" pitchFamily="18" charset="0"/>
                          </a:rPr>
                        </m:ctrlPr>
                      </m:dPr>
                      <m:e>
                        <m:r>
                          <a:rPr lang="es-ES" b="0" i="1" smtClean="0">
                            <a:latin typeface="Cambria Math" panose="02040503050406030204" pitchFamily="18" charset="0"/>
                          </a:rPr>
                          <m:t>33.55</m:t>
                        </m:r>
                        <m:r>
                          <a:rPr lang="es-ES" i="1">
                            <a:latin typeface="Cambria Math" panose="02040503050406030204" pitchFamily="18" charset="0"/>
                          </a:rPr>
                          <m:t>,</m:t>
                        </m:r>
                        <m:r>
                          <a:rPr lang="es-ES" b="0" i="1" smtClean="0">
                            <a:latin typeface="Cambria Math" panose="02040503050406030204" pitchFamily="18" charset="0"/>
                          </a:rPr>
                          <m:t> 66.45</m:t>
                        </m:r>
                      </m:e>
                    </m:d>
                  </m:oMath>
                </a14:m>
                <a:r>
                  <a:rPr lang="es-ES" dirty="0"/>
                  <a:t> y </a:t>
                </a:r>
                <a14:m>
                  <m:oMath xmlns:m="http://schemas.openxmlformats.org/officeDocument/2006/math">
                    <m:r>
                      <a:rPr lang="es-ES" b="0" i="0" smtClean="0">
                        <a:latin typeface="Cambria Math" panose="02040503050406030204" pitchFamily="18" charset="0"/>
                      </a:rPr>
                      <m:t>(</m:t>
                    </m:r>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m:t>
                    </m:r>
                  </m:oMath>
                </a14:m>
                <a:r>
                  <a:rPr lang="es-ES" dirty="0"/>
                  <a:t>=0.90</a:t>
                </a:r>
              </a:p>
              <a:p>
                <a:r>
                  <a:rPr lang="es-ES" dirty="0"/>
                  <a:t>Significa que </a:t>
                </a:r>
              </a:p>
              <a:p>
                <a:pPr lvl="1"/>
                <a:r>
                  <a:rPr lang="es-ES" dirty="0"/>
                  <a:t>La probabilidad de acertar, es decir, que el peso medio de la población </a:t>
                </a:r>
                <a:r>
                  <a:rPr lang="es-ES"/>
                  <a:t>esté realmente en </a:t>
                </a:r>
                <a:r>
                  <a:rPr lang="es-ES" dirty="0"/>
                  <a:t>el intervalo calculado, entre 33.55kg y 66.45kg, es del 90%</a:t>
                </a:r>
              </a:p>
              <a:p>
                <a:pPr lvl="1"/>
                <a:r>
                  <a:rPr lang="es-ES" dirty="0"/>
                  <a:t>El 90% se refiere a la proporción de intervalos de confianza que contienen el peso medio de la población</a:t>
                </a:r>
              </a:p>
              <a:p>
                <a:pPr lvl="1"/>
                <a:r>
                  <a:rPr lang="es-ES" dirty="0"/>
                  <a:t>Es decir, si calculásemos 100 intervalos de confianza para el peso medio de la población, haciendo 100 muestreos diferentes, 90 de ellos serán válidos y contendrán el valor de la media poblacional, y 10 de ellos no serán válidos.  </a:t>
                </a:r>
              </a:p>
            </p:txBody>
          </p:sp>
        </mc:Choice>
        <mc:Fallback>
          <p:sp>
            <p:nvSpPr>
              <p:cNvPr id="3" name="Marcador de contenido 2">
                <a:extLst>
                  <a:ext uri="{FF2B5EF4-FFF2-40B4-BE49-F238E27FC236}">
                    <a16:creationId xmlns:a16="http://schemas.microsoft.com/office/drawing/2014/main" id="{0124DB2B-F802-44F5-F500-55A344549659}"/>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369CB682-DCDC-5052-7708-31996E54F1A0}"/>
              </a:ext>
            </a:extLst>
          </p:cNvPr>
          <p:cNvSpPr>
            <a:spLocks noGrp="1"/>
          </p:cNvSpPr>
          <p:nvPr>
            <p:ph type="sldNum" sz="quarter" idx="12"/>
          </p:nvPr>
        </p:nvSpPr>
        <p:spPr/>
        <p:txBody>
          <a:bodyPr/>
          <a:lstStyle/>
          <a:p>
            <a:fld id="{336CAFD0-1F6E-4E11-9822-836563A02839}" type="slidenum">
              <a:rPr lang="es-ES" smtClean="0"/>
              <a:pPr/>
              <a:t>20</a:t>
            </a:fld>
            <a:endParaRPr lang="es-ES" dirty="0"/>
          </a:p>
        </p:txBody>
      </p:sp>
    </p:spTree>
    <p:extLst>
      <p:ext uri="{BB962C8B-B14F-4D97-AF65-F5344CB8AC3E}">
        <p14:creationId xmlns:p14="http://schemas.microsoft.com/office/powerpoint/2010/main" val="1957344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lstStyle/>
          <a:p>
            <a:r>
              <a:rPr lang="es-ES" dirty="0"/>
              <a:t>6. Método general de construcción de un intervalo de confianza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p:txBody>
              <a:bodyPr>
                <a:normAutofit fontScale="92500" lnSpcReduction="10000"/>
              </a:bodyPr>
              <a:lstStyle/>
              <a:p>
                <a:r>
                  <a:rPr lang="es-ES" dirty="0"/>
                  <a:t>1º) Se obtiene una muestra de la población</a:t>
                </a:r>
              </a:p>
              <a:p>
                <a:r>
                  <a:rPr lang="es-ES" dirty="0"/>
                  <a:t>2º) Se calcula el valor del 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para el parámetro </a:t>
                </a:r>
                <a14:m>
                  <m:oMath xmlns:m="http://schemas.openxmlformats.org/officeDocument/2006/math">
                    <m:r>
                      <a:rPr lang="es-ES" i="1">
                        <a:latin typeface="Cambria Math" panose="02040503050406030204" pitchFamily="18" charset="0"/>
                        <a:ea typeface="Cambria Math" panose="02040503050406030204" pitchFamily="18" charset="0"/>
                      </a:rPr>
                      <m:t>𝜃</m:t>
                    </m:r>
                  </m:oMath>
                </a14:m>
                <a:endParaRPr lang="es-ES" dirty="0"/>
              </a:p>
              <a:p>
                <a:pPr lvl="1"/>
                <a:r>
                  <a:rPr lang="es-ES" dirty="0"/>
                  <a:t>Se utiliza un estimador insesgado</a:t>
                </a:r>
              </a:p>
              <a:p>
                <a:r>
                  <a:rPr lang="es-ES" dirty="0"/>
                  <a:t>3º) Se calcula el margen </a:t>
                </a:r>
                <a14:m>
                  <m:oMath xmlns:m="http://schemas.openxmlformats.org/officeDocument/2006/math">
                    <m:r>
                      <a:rPr lang="es-ES" i="1" smtClean="0">
                        <a:latin typeface="Cambria Math" panose="02040503050406030204" pitchFamily="18" charset="0"/>
                        <a:ea typeface="Cambria Math" panose="02040503050406030204" pitchFamily="18" charset="0"/>
                      </a:rPr>
                      <m:t>𝜀</m:t>
                    </m:r>
                    <m:r>
                      <a:rPr lang="es-ES" i="1" smtClean="0">
                        <a:latin typeface="Cambria Math" panose="02040503050406030204" pitchFamily="18" charset="0"/>
                        <a:ea typeface="Cambria Math" panose="02040503050406030204" pitchFamily="18" charset="0"/>
                      </a:rPr>
                      <m:t> </m:t>
                    </m:r>
                  </m:oMath>
                </a14:m>
                <a:r>
                  <a:rPr lang="es-ES" dirty="0"/>
                  <a:t>que hay que sumar y restar al estimador para obtener los límites del intervalo</a:t>
                </a:r>
              </a:p>
              <a:p>
                <a:pPr lvl="1"/>
                <a:r>
                  <a:rPr lang="es-ES" dirty="0"/>
                  <a:t>Para calcular el margen, se estandariza el estimador asumiendo que tiene distribución de probabilidad Normal</a:t>
                </a:r>
              </a:p>
              <a:p>
                <a:r>
                  <a:rPr lang="es-ES" dirty="0"/>
                  <a:t>4º) Se calculan los límites inferior y superior del intervalo</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𝜀</m:t>
                    </m:r>
                  </m:oMath>
                </a14:m>
                <a:endParaRPr lang="es-E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𝜀</m:t>
                    </m:r>
                  </m:oMath>
                </a14:m>
                <a:endParaRPr lang="es-ES" dirty="0"/>
              </a:p>
              <a:p>
                <a:pPr lvl="1"/>
                <a:r>
                  <a:rPr lang="es-ES" dirty="0"/>
                  <a:t>El intervalo se suele denotar como </a:t>
                </a:r>
                <a14:m>
                  <m:oMath xmlns:m="http://schemas.openxmlformats.org/officeDocument/2006/math">
                    <m:acc>
                      <m:accPr>
                        <m:chr m:val="̂"/>
                        <m:ctrlPr>
                          <a:rPr lang="es-ES" i="1" smtClean="0">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smtClean="0">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𝜀</m:t>
                    </m:r>
                  </m:oMath>
                </a14:m>
                <a:r>
                  <a:rPr lang="es-ES" dirty="0"/>
                  <a:t> o como </a:t>
                </a:r>
                <a14:m>
                  <m:oMath xmlns:m="http://schemas.openxmlformats.org/officeDocument/2006/math">
                    <m:d>
                      <m:dPr>
                        <m:begChr m:val="["/>
                        <m:endChr m:val="]"/>
                        <m:ctrlPr>
                          <a:rPr lang="es-ES" i="1">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𝜀</m:t>
                        </m:r>
                        <m:r>
                          <a:rPr lang="es-ES" i="1">
                            <a:latin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𝜀</m:t>
                        </m:r>
                      </m:e>
                    </m:d>
                  </m:oMath>
                </a14:m>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77F31CED-754F-7768-0AAC-C07EDE8B0CD6}"/>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21</a:t>
            </a:fld>
            <a:endParaRPr lang="es-ES" dirty="0"/>
          </a:p>
        </p:txBody>
      </p:sp>
    </p:spTree>
    <p:extLst>
      <p:ext uri="{BB962C8B-B14F-4D97-AF65-F5344CB8AC3E}">
        <p14:creationId xmlns:p14="http://schemas.microsoft.com/office/powerpoint/2010/main" val="2615469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a:bodyPr>
          <a:lstStyle/>
          <a:p>
            <a:r>
              <a:rPr lang="es-ES" dirty="0"/>
              <a:t>6. Método general</a:t>
            </a:r>
            <a:br>
              <a:rPr lang="es-ES" dirty="0"/>
            </a:br>
            <a:r>
              <a:rPr lang="es-ES" dirty="0"/>
              <a:t>Interpretación gráfica sin estandarizar</a:t>
            </a:r>
          </a:p>
        </p:txBody>
      </p:sp>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22</a:t>
            </a:fld>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D3256058-CD99-B46A-3918-B94238B0D063}"/>
                  </a:ext>
                  <a:ext uri="{C183D7F6-B498-43B3-948B-1728B52AA6E4}">
                    <adec:decorative xmlns:adec="http://schemas.microsoft.com/office/drawing/2017/decorative" val="1"/>
                  </a:ext>
                </a:extLst>
              </p:cNvPr>
              <p:cNvSpPr txBox="1"/>
              <p:nvPr/>
            </p:nvSpPr>
            <p:spPr>
              <a:xfrm>
                <a:off x="-172125" y="5434193"/>
                <a:ext cx="5701554" cy="5532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i="1">
                              <a:latin typeface="Cambria Math" panose="02040503050406030204" pitchFamily="18" charset="0"/>
                            </a:rPr>
                            <m:t>𝐿</m:t>
                          </m:r>
                        </m:e>
                        <m:sub>
                          <m:r>
                            <a:rPr lang="es-ES" sz="1600" i="1">
                              <a:latin typeface="Cambria Math" panose="02040503050406030204" pitchFamily="18" charset="0"/>
                            </a:rPr>
                            <m:t>𝑖</m:t>
                          </m:r>
                        </m:sub>
                      </m:sSub>
                      <m:r>
                        <a:rPr lang="es-ES" sz="1600" i="1">
                          <a:latin typeface="Cambria Math" panose="02040503050406030204" pitchFamily="18" charset="0"/>
                        </a:rPr>
                        <m:t>=</m:t>
                      </m:r>
                      <m:r>
                        <m:rPr>
                          <m:nor/>
                        </m:rPr>
                        <a:rPr lang="es-ES" sz="1600" b="0" i="0" smtClean="0">
                          <a:latin typeface="Cambria Math" panose="02040503050406030204" pitchFamily="18" charset="0"/>
                        </a:rPr>
                        <m:t>cuantil</m:t>
                      </m:r>
                      <m:r>
                        <m:rPr>
                          <m:nor/>
                        </m:rPr>
                        <a:rPr lang="es-ES" sz="1600" b="0" i="0" smtClean="0">
                          <a:latin typeface="Cambria Math" panose="02040503050406030204" pitchFamily="18" charset="0"/>
                        </a:rPr>
                        <m:t> ∝/2 </m:t>
                      </m:r>
                      <m:r>
                        <m:rPr>
                          <m:nor/>
                        </m:rPr>
                        <a:rPr lang="es-ES" sz="1600" b="0" i="0" smtClean="0">
                          <a:latin typeface="Cambria Math" panose="02040503050406030204" pitchFamily="18" charset="0"/>
                        </a:rPr>
                        <m:t>de</m:t>
                      </m:r>
                      <m:r>
                        <m:rPr>
                          <m:nor/>
                        </m:rPr>
                        <a:rPr lang="es-ES" sz="1600" b="0" i="0" smtClean="0">
                          <a:latin typeface="Cambria Math" panose="02040503050406030204" pitchFamily="18" charset="0"/>
                        </a:rPr>
                        <m:t> </m:t>
                      </m:r>
                      <m:r>
                        <m:rPr>
                          <m:nor/>
                        </m:rPr>
                        <a:rPr lang="es-ES" sz="1600" b="0" i="0" smtClean="0">
                          <a:latin typeface="Cambria Math" panose="02040503050406030204" pitchFamily="18" charset="0"/>
                        </a:rPr>
                        <m:t>la</m:t>
                      </m:r>
                      <m:r>
                        <m:rPr>
                          <m:nor/>
                        </m:rPr>
                        <a:rPr lang="es-ES" sz="1600" b="0" i="0" smtClean="0">
                          <a:latin typeface="Cambria Math" panose="02040503050406030204" pitchFamily="18" charset="0"/>
                        </a:rPr>
                        <m:t> </m:t>
                      </m:r>
                      <m:r>
                        <m:rPr>
                          <m:nor/>
                        </m:rPr>
                        <a:rPr lang="es-ES" sz="1600" b="0" i="0" smtClean="0">
                          <a:latin typeface="Cambria Math" panose="02040503050406030204" pitchFamily="18" charset="0"/>
                        </a:rPr>
                        <m:t>variable</m:t>
                      </m:r>
                      <m:r>
                        <m:rPr>
                          <m:nor/>
                        </m:rPr>
                        <a:rPr lang="es-ES" sz="1600" b="0" i="0" smtClean="0">
                          <a:latin typeface="Cambria Math" panose="02040503050406030204" pitchFamily="18" charset="0"/>
                        </a:rPr>
                        <m:t> </m:t>
                      </m:r>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r>
                        <a:rPr lang="es-ES" sz="1600" b="0" i="1" smtClean="0">
                          <a:latin typeface="Cambria Math" panose="02040503050406030204" pitchFamily="18" charset="0"/>
                          <a:ea typeface="Cambria Math" panose="02040503050406030204" pitchFamily="18" charset="0"/>
                        </a:rPr>
                        <m:t>:</m:t>
                      </m:r>
                      <m:r>
                        <a:rPr lang="es-ES" sz="1600" b="0" i="1" smtClean="0">
                          <a:latin typeface="Cambria Math" panose="02040503050406030204" pitchFamily="18" charset="0"/>
                        </a:rPr>
                        <m:t>𝑁</m:t>
                      </m:r>
                      <m:d>
                        <m:dPr>
                          <m:ctrlPr>
                            <a:rPr lang="es-ES" sz="1600" b="0" i="1" smtClean="0">
                              <a:latin typeface="Cambria Math" panose="02040503050406030204" pitchFamily="18" charset="0"/>
                            </a:rPr>
                          </m:ctrlPr>
                        </m:dPr>
                        <m:e>
                          <m:r>
                            <a:rPr lang="es-ES" sz="1600" b="0" i="1" smtClean="0">
                              <a:latin typeface="Cambria Math" panose="02040503050406030204" pitchFamily="18" charset="0"/>
                            </a:rPr>
                            <m:t>𝐸</m:t>
                          </m:r>
                          <m:d>
                            <m:dPr>
                              <m:ctrlPr>
                                <a:rPr lang="es-ES" sz="1600" b="0" i="1" smtClean="0">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e>
                          </m:d>
                          <m:r>
                            <a:rPr lang="es-ES" sz="1600" b="0" i="1" smtClean="0">
                              <a:latin typeface="Cambria Math" panose="02040503050406030204" pitchFamily="18" charset="0"/>
                              <a:ea typeface="Cambria Math" panose="02040503050406030204" pitchFamily="18" charset="0"/>
                            </a:rPr>
                            <m:t>,</m:t>
                          </m:r>
                          <m:rad>
                            <m:radPr>
                              <m:degHide m:val="on"/>
                              <m:ctrlPr>
                                <a:rPr lang="es-ES" sz="1600" b="0" i="1" smtClean="0">
                                  <a:latin typeface="Cambria Math" panose="02040503050406030204" pitchFamily="18" charset="0"/>
                                  <a:ea typeface="Cambria Math" panose="02040503050406030204" pitchFamily="18" charset="0"/>
                                </a:rPr>
                              </m:ctrlPr>
                            </m:radPr>
                            <m:deg/>
                            <m:e>
                              <m:r>
                                <a:rPr lang="es-ES" sz="1600" i="1">
                                  <a:latin typeface="Cambria Math" panose="02040503050406030204" pitchFamily="18" charset="0"/>
                                </a:rPr>
                                <m:t>𝑉𝑎𝑟</m:t>
                              </m:r>
                              <m:d>
                                <m:dPr>
                                  <m:ctrlPr>
                                    <a:rPr lang="es-ES" sz="1600" i="1">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e>
                              </m:d>
                            </m:e>
                          </m:rad>
                        </m:e>
                      </m:d>
                    </m:oMath>
                  </m:oMathPara>
                </a14:m>
                <a:endParaRPr lang="es-ES" sz="1600" dirty="0">
                  <a:latin typeface="Cambria Math" panose="02040503050406030204" pitchFamily="18" charset="0"/>
                  <a:ea typeface="Cambria Math" panose="02040503050406030204" pitchFamily="18" charset="0"/>
                </a:endParaRPr>
              </a:p>
            </p:txBody>
          </p:sp>
        </mc:Choice>
        <mc:Fallback xmlns="">
          <p:sp>
            <p:nvSpPr>
              <p:cNvPr id="9" name="CuadroTexto 8">
                <a:extLst>
                  <a:ext uri="{FF2B5EF4-FFF2-40B4-BE49-F238E27FC236}">
                    <a16:creationId xmlns:a16="http://schemas.microsoft.com/office/drawing/2014/main" id="{D3256058-CD99-B46A-3918-B94238B0D063}"/>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172125" y="5434193"/>
                <a:ext cx="5701554" cy="553228"/>
              </a:xfrm>
              <a:prstGeom prst="rect">
                <a:avLst/>
              </a:prstGeom>
              <a:blipFill>
                <a:blip r:embed="rId2"/>
                <a:stretch>
                  <a:fillRect b="-109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0CAE3A63-E07A-8A13-92E3-3718F0611A12}"/>
                  </a:ext>
                  <a:ext uri="{C183D7F6-B498-43B3-948B-1728B52AA6E4}">
                    <adec:decorative xmlns:adec="http://schemas.microsoft.com/office/drawing/2017/decorative" val="1"/>
                  </a:ext>
                </a:extLst>
              </p:cNvPr>
              <p:cNvSpPr txBox="1"/>
              <p:nvPr/>
            </p:nvSpPr>
            <p:spPr>
              <a:xfrm>
                <a:off x="290452" y="5923917"/>
                <a:ext cx="2151531" cy="2779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ES" sz="1600" b="0" i="0" smtClean="0">
                          <a:latin typeface="Cambria Math" panose="02040503050406030204" pitchFamily="18" charset="0"/>
                        </a:rPr>
                        <m:t>Porque</m:t>
                      </m:r>
                      <m:r>
                        <a:rPr lang="es-ES" sz="1600" b="0" i="1" smtClean="0">
                          <a:latin typeface="Cambria Math" panose="02040503050406030204" pitchFamily="18" charset="0"/>
                        </a:rPr>
                        <m:t> </m:t>
                      </m:r>
                      <m:r>
                        <a:rPr lang="es-ES" sz="1600" b="0" i="1" smtClean="0">
                          <a:latin typeface="Cambria Math" panose="02040503050406030204" pitchFamily="18" charset="0"/>
                        </a:rPr>
                        <m:t>𝑃</m:t>
                      </m:r>
                      <m:d>
                        <m:dPr>
                          <m:ctrlPr>
                            <a:rPr lang="es-ES" sz="1600" b="0" i="1" smtClean="0">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r>
                            <m:rPr>
                              <m:nor/>
                            </m:rPr>
                            <a:rPr lang="es-ES" sz="1600" b="0" i="0" smtClean="0">
                              <a:latin typeface="Cambria Math" panose="02040503050406030204" pitchFamily="18" charset="0"/>
                              <a:ea typeface="Cambria Math" panose="02040503050406030204" pitchFamily="18" charset="0"/>
                            </a:rPr>
                            <m:t>&lt;</m:t>
                          </m:r>
                          <m:sSub>
                            <m:sSubPr>
                              <m:ctrlPr>
                                <a:rPr lang="es-ES" sz="1600" i="1">
                                  <a:latin typeface="Cambria Math" panose="02040503050406030204" pitchFamily="18" charset="0"/>
                                  <a:ea typeface="Cambria Math" panose="02040503050406030204" pitchFamily="18" charset="0"/>
                                </a:rPr>
                              </m:ctrlPr>
                            </m:sSubPr>
                            <m:e>
                              <m:r>
                                <a:rPr lang="es-ES" sz="1600" i="1">
                                  <a:latin typeface="Cambria Math" panose="02040503050406030204" pitchFamily="18" charset="0"/>
                                  <a:ea typeface="Cambria Math" panose="02040503050406030204" pitchFamily="18" charset="0"/>
                                </a:rPr>
                                <m:t>𝐿</m:t>
                              </m:r>
                            </m:e>
                            <m:sub>
                              <m:r>
                                <a:rPr lang="es-ES" sz="1600" i="1">
                                  <a:latin typeface="Cambria Math" panose="02040503050406030204" pitchFamily="18" charset="0"/>
                                  <a:ea typeface="Cambria Math" panose="02040503050406030204" pitchFamily="18" charset="0"/>
                                </a:rPr>
                                <m:t>𝑖</m:t>
                              </m:r>
                            </m:sub>
                          </m:sSub>
                        </m:e>
                      </m:d>
                      <m:r>
                        <a:rPr lang="es-ES" sz="1600" b="0" i="1" smtClean="0">
                          <a:latin typeface="Cambria Math" panose="02040503050406030204" pitchFamily="18" charset="0"/>
                          <a:ea typeface="Cambria Math" panose="02040503050406030204" pitchFamily="18" charset="0"/>
                        </a:rPr>
                        <m:t>=</m:t>
                      </m:r>
                      <m:r>
                        <m:rPr>
                          <m:nor/>
                        </m:rPr>
                        <a:rPr lang="es-ES" sz="1600">
                          <a:latin typeface="Cambria Math" panose="02040503050406030204" pitchFamily="18" charset="0"/>
                          <a:ea typeface="Cambria Math" panose="02040503050406030204" pitchFamily="18" charset="0"/>
                        </a:rPr>
                        <m:t>∝</m:t>
                      </m:r>
                      <m:r>
                        <a:rPr lang="es-ES" sz="1600" i="1">
                          <a:latin typeface="Cambria Math" panose="02040503050406030204" pitchFamily="18" charset="0"/>
                          <a:ea typeface="Cambria Math" panose="02040503050406030204" pitchFamily="18" charset="0"/>
                        </a:rPr>
                        <m:t>/2</m:t>
                      </m:r>
                    </m:oMath>
                  </m:oMathPara>
                </a14:m>
                <a:endParaRPr lang="es-ES" sz="1600" dirty="0">
                  <a:latin typeface="Cambria Math" panose="02040503050406030204" pitchFamily="18" charset="0"/>
                  <a:ea typeface="Cambria Math" panose="02040503050406030204" pitchFamily="18" charset="0"/>
                </a:endParaRPr>
              </a:p>
            </p:txBody>
          </p:sp>
        </mc:Choice>
        <mc:Fallback xmlns="">
          <p:sp>
            <p:nvSpPr>
              <p:cNvPr id="3" name="CuadroTexto 2">
                <a:extLst>
                  <a:ext uri="{FF2B5EF4-FFF2-40B4-BE49-F238E27FC236}">
                    <a16:creationId xmlns:a16="http://schemas.microsoft.com/office/drawing/2014/main" id="{0CAE3A63-E07A-8A13-92E3-3718F0611A12}"/>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290452" y="5923917"/>
                <a:ext cx="2151531" cy="277961"/>
              </a:xfrm>
              <a:prstGeom prst="rect">
                <a:avLst/>
              </a:prstGeom>
              <a:blipFill>
                <a:blip r:embed="rId3"/>
                <a:stretch>
                  <a:fillRect l="-1983" t="-15556" r="-850" b="-26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C492120-2DED-6F1F-3E50-07E25E0F3A26}"/>
                  </a:ext>
                  <a:ext uri="{C183D7F6-B498-43B3-948B-1728B52AA6E4}">
                    <adec:decorative xmlns:adec="http://schemas.microsoft.com/office/drawing/2017/decorative" val="1"/>
                  </a:ext>
                </a:extLst>
              </p:cNvPr>
              <p:cNvSpPr txBox="1"/>
              <p:nvPr/>
            </p:nvSpPr>
            <p:spPr>
              <a:xfrm>
                <a:off x="5946839" y="5044757"/>
                <a:ext cx="567466" cy="4049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rPr>
                        <m:t>𝐸</m:t>
                      </m:r>
                      <m:d>
                        <m:dPr>
                          <m:ctrlPr>
                            <a:rPr lang="es-ES" sz="1800" b="0" i="1" smtClean="0">
                              <a:latin typeface="Cambria Math" panose="02040503050406030204" pitchFamily="18" charset="0"/>
                            </a:rPr>
                          </m:ctrlPr>
                        </m:dPr>
                        <m:e>
                          <m:acc>
                            <m:accPr>
                              <m:chr m:val="̂"/>
                              <m:ctrlPr>
                                <a:rPr lang="es-ES" sz="1800" i="1">
                                  <a:latin typeface="Cambria Math" panose="02040503050406030204" pitchFamily="18" charset="0"/>
                                </a:rPr>
                              </m:ctrlPr>
                            </m:accPr>
                            <m:e>
                              <m:r>
                                <a:rPr lang="es-ES" sz="1800" i="1">
                                  <a:latin typeface="Cambria Math" panose="02040503050406030204" pitchFamily="18" charset="0"/>
                                  <a:ea typeface="Cambria Math" panose="02040503050406030204" pitchFamily="18" charset="0"/>
                                </a:rPr>
                                <m:t>𝜃</m:t>
                              </m:r>
                            </m:e>
                          </m:acc>
                        </m:e>
                      </m:d>
                    </m:oMath>
                  </m:oMathPara>
                </a14:m>
                <a:endParaRPr lang="es-ES" dirty="0"/>
              </a:p>
            </p:txBody>
          </p:sp>
        </mc:Choice>
        <mc:Fallback xmlns="">
          <p:sp>
            <p:nvSpPr>
              <p:cNvPr id="13" name="CuadroTexto 12">
                <a:extLst>
                  <a:ext uri="{FF2B5EF4-FFF2-40B4-BE49-F238E27FC236}">
                    <a16:creationId xmlns:a16="http://schemas.microsoft.com/office/drawing/2014/main" id="{DC492120-2DED-6F1F-3E50-07E25E0F3A26}"/>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5946839" y="5044757"/>
                <a:ext cx="567466" cy="404983"/>
              </a:xfrm>
              <a:prstGeom prst="rect">
                <a:avLst/>
              </a:prstGeom>
              <a:blipFill>
                <a:blip r:embed="rId4"/>
                <a:stretch>
                  <a:fillRect t="-4545" r="-35484"/>
                </a:stretch>
              </a:blipFill>
            </p:spPr>
            <p:txBody>
              <a:bodyPr/>
              <a:lstStyle/>
              <a:p>
                <a:r>
                  <a:rPr lang="es-ES">
                    <a:noFill/>
                  </a:rPr>
                  <a:t> </a:t>
                </a:r>
              </a:p>
            </p:txBody>
          </p:sp>
        </mc:Fallback>
      </mc:AlternateContent>
      <p:pic>
        <p:nvPicPr>
          <p:cNvPr id="15" name="Imagen 14">
            <a:extLst>
              <a:ext uri="{FF2B5EF4-FFF2-40B4-BE49-F238E27FC236}">
                <a16:creationId xmlns:a16="http://schemas.microsoft.com/office/drawing/2014/main" id="{62B639DE-2FC5-C121-27D4-D804FA60721E}"/>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2350132" y="1991278"/>
            <a:ext cx="7760880" cy="3069025"/>
          </a:xfrm>
          <a:prstGeom prst="rect">
            <a:avLst/>
          </a:prstGeom>
        </p:spPr>
      </p:pic>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538AC44E-CDBF-3BC5-6916-2CDF8CAD0EF0}"/>
                  </a:ext>
                  <a:ext uri="{C183D7F6-B498-43B3-948B-1728B52AA6E4}">
                    <adec:decorative xmlns:adec="http://schemas.microsoft.com/office/drawing/2017/decorative" val="1"/>
                  </a:ext>
                </a:extLst>
              </p:cNvPr>
              <p:cNvSpPr txBox="1"/>
              <p:nvPr/>
            </p:nvSpPr>
            <p:spPr>
              <a:xfrm>
                <a:off x="4854389" y="4989384"/>
                <a:ext cx="39534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1800" i="1" smtClean="0">
                              <a:latin typeface="Cambria Math" panose="02040503050406030204" pitchFamily="18" charset="0"/>
                            </a:rPr>
                          </m:ctrlPr>
                        </m:sSubPr>
                        <m:e>
                          <m:r>
                            <a:rPr lang="es-ES" sz="1800" i="1">
                              <a:latin typeface="Cambria Math" panose="02040503050406030204" pitchFamily="18" charset="0"/>
                            </a:rPr>
                            <m:t>𝐿</m:t>
                          </m:r>
                        </m:e>
                        <m:sub>
                          <m:r>
                            <a:rPr lang="es-ES" sz="1800" i="1">
                              <a:latin typeface="Cambria Math" panose="02040503050406030204" pitchFamily="18" charset="0"/>
                            </a:rPr>
                            <m:t>𝑖</m:t>
                          </m:r>
                        </m:sub>
                      </m:sSub>
                    </m:oMath>
                  </m:oMathPara>
                </a14:m>
                <a:endParaRPr lang="es-ES" dirty="0"/>
              </a:p>
            </p:txBody>
          </p:sp>
        </mc:Choice>
        <mc:Fallback xmlns="">
          <p:sp>
            <p:nvSpPr>
              <p:cNvPr id="17" name="CuadroTexto 16">
                <a:extLst>
                  <a:ext uri="{FF2B5EF4-FFF2-40B4-BE49-F238E27FC236}">
                    <a16:creationId xmlns:a16="http://schemas.microsoft.com/office/drawing/2014/main" id="{538AC44E-CDBF-3BC5-6916-2CDF8CAD0EF0}"/>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4854389" y="4989384"/>
                <a:ext cx="395343" cy="369332"/>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B5D5A9B0-2E46-7889-18F2-AE82B9C3547A}"/>
                  </a:ext>
                  <a:ext uri="{C183D7F6-B498-43B3-948B-1728B52AA6E4}">
                    <adec:decorative xmlns:adec="http://schemas.microsoft.com/office/drawing/2017/decorative" val="1"/>
                  </a:ext>
                </a:extLst>
              </p:cNvPr>
              <p:cNvSpPr txBox="1"/>
              <p:nvPr/>
            </p:nvSpPr>
            <p:spPr>
              <a:xfrm>
                <a:off x="7211412" y="4989384"/>
                <a:ext cx="34155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sz="1800" i="1" smtClean="0">
                              <a:latin typeface="Cambria Math" panose="02040503050406030204" pitchFamily="18" charset="0"/>
                            </a:rPr>
                          </m:ctrlPr>
                        </m:sSubPr>
                        <m:e>
                          <m:r>
                            <a:rPr lang="es-ES" sz="1800" i="1">
                              <a:latin typeface="Cambria Math" panose="02040503050406030204" pitchFamily="18" charset="0"/>
                            </a:rPr>
                            <m:t>𝐿</m:t>
                          </m:r>
                        </m:e>
                        <m:sub>
                          <m:r>
                            <a:rPr lang="es-ES" sz="1800" b="0" i="1" smtClean="0">
                              <a:latin typeface="Cambria Math" panose="02040503050406030204" pitchFamily="18" charset="0"/>
                            </a:rPr>
                            <m:t>𝑠</m:t>
                          </m:r>
                        </m:sub>
                      </m:sSub>
                    </m:oMath>
                  </m:oMathPara>
                </a14:m>
                <a:endParaRPr lang="es-ES" dirty="0"/>
              </a:p>
            </p:txBody>
          </p:sp>
        </mc:Choice>
        <mc:Fallback xmlns="">
          <p:sp>
            <p:nvSpPr>
              <p:cNvPr id="19" name="CuadroTexto 18">
                <a:extLst>
                  <a:ext uri="{FF2B5EF4-FFF2-40B4-BE49-F238E27FC236}">
                    <a16:creationId xmlns:a16="http://schemas.microsoft.com/office/drawing/2014/main" id="{B5D5A9B0-2E46-7889-18F2-AE82B9C3547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211412" y="4989384"/>
                <a:ext cx="341555" cy="369332"/>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B781484B-FE36-4A58-67CD-F1D17DC97B8F}"/>
                  </a:ext>
                  <a:ext uri="{C183D7F6-B498-43B3-948B-1728B52AA6E4}">
                    <adec:decorative xmlns:adec="http://schemas.microsoft.com/office/drawing/2017/decorative" val="1"/>
                  </a:ext>
                </a:extLst>
              </p:cNvPr>
              <p:cNvSpPr txBox="1"/>
              <p:nvPr/>
            </p:nvSpPr>
            <p:spPr>
              <a:xfrm>
                <a:off x="3832413" y="4012603"/>
                <a:ext cx="5136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s-ES" sz="1800" b="0" smtClean="0">
                          <a:latin typeface="Cambria Math" panose="02040503050406030204" pitchFamily="18" charset="0"/>
                          <a:ea typeface="Cambria Math" panose="02040503050406030204" pitchFamily="18" charset="0"/>
                        </a:rPr>
                        <m:t>∝</m:t>
                      </m:r>
                      <m:r>
                        <m:rPr>
                          <m:nor/>
                        </m:rPr>
                        <a:rPr lang="es-ES" sz="1800" b="0" i="0" smtClean="0">
                          <a:latin typeface="Cambria Math" panose="02040503050406030204" pitchFamily="18" charset="0"/>
                          <a:ea typeface="Cambria Math" panose="02040503050406030204" pitchFamily="18" charset="0"/>
                        </a:rPr>
                        <m:t>/2</m:t>
                      </m:r>
                    </m:oMath>
                  </m:oMathPara>
                </a14:m>
                <a:endParaRPr lang="es-ES" dirty="0"/>
              </a:p>
            </p:txBody>
          </p:sp>
        </mc:Choice>
        <mc:Fallback xmlns="">
          <p:sp>
            <p:nvSpPr>
              <p:cNvPr id="21" name="CuadroTexto 20">
                <a:extLst>
                  <a:ext uri="{FF2B5EF4-FFF2-40B4-BE49-F238E27FC236}">
                    <a16:creationId xmlns:a16="http://schemas.microsoft.com/office/drawing/2014/main" id="{B781484B-FE36-4A58-67CD-F1D17DC97B8F}"/>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832413" y="4012603"/>
                <a:ext cx="513677" cy="369332"/>
              </a:xfrm>
              <a:prstGeom prst="rect">
                <a:avLst/>
              </a:prstGeom>
              <a:blipFill>
                <a:blip r:embed="rId8"/>
                <a:stretch>
                  <a:fillRect r="-19048"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372B347C-1206-FAE0-B688-CCF2CC1A82D0}"/>
                  </a:ext>
                  <a:ext uri="{C183D7F6-B498-43B3-948B-1728B52AA6E4}">
                    <adec:decorative xmlns:adec="http://schemas.microsoft.com/office/drawing/2017/decorative" val="1"/>
                  </a:ext>
                </a:extLst>
              </p:cNvPr>
              <p:cNvSpPr txBox="1"/>
              <p:nvPr/>
            </p:nvSpPr>
            <p:spPr>
              <a:xfrm>
                <a:off x="7985762" y="4000059"/>
                <a:ext cx="5136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es-ES" sz="1800" b="0" smtClean="0">
                          <a:latin typeface="Cambria Math" panose="02040503050406030204" pitchFamily="18" charset="0"/>
                          <a:ea typeface="Cambria Math" panose="02040503050406030204" pitchFamily="18" charset="0"/>
                        </a:rPr>
                        <m:t>∝</m:t>
                      </m:r>
                      <m:r>
                        <m:rPr>
                          <m:nor/>
                        </m:rPr>
                        <a:rPr lang="es-ES" sz="1800" b="0" i="0" smtClean="0">
                          <a:latin typeface="Cambria Math" panose="02040503050406030204" pitchFamily="18" charset="0"/>
                          <a:ea typeface="Cambria Math" panose="02040503050406030204" pitchFamily="18" charset="0"/>
                        </a:rPr>
                        <m:t>/2</m:t>
                      </m:r>
                    </m:oMath>
                  </m:oMathPara>
                </a14:m>
                <a:endParaRPr lang="es-ES" dirty="0"/>
              </a:p>
            </p:txBody>
          </p:sp>
        </mc:Choice>
        <mc:Fallback xmlns="">
          <p:sp>
            <p:nvSpPr>
              <p:cNvPr id="22" name="CuadroTexto 21">
                <a:extLst>
                  <a:ext uri="{FF2B5EF4-FFF2-40B4-BE49-F238E27FC236}">
                    <a16:creationId xmlns:a16="http://schemas.microsoft.com/office/drawing/2014/main" id="{372B347C-1206-FAE0-B688-CCF2CC1A82D0}"/>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985762" y="4000059"/>
                <a:ext cx="513677" cy="369332"/>
              </a:xfrm>
              <a:prstGeom prst="rect">
                <a:avLst/>
              </a:prstGeom>
              <a:blipFill>
                <a:blip r:embed="rId9"/>
                <a:stretch>
                  <a:fillRect r="-19048" b="-13115"/>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D1FD82A4-BF42-8A12-CB70-DE2AADEB1FF6}"/>
                  </a:ext>
                  <a:ext uri="{C183D7F6-B498-43B3-948B-1728B52AA6E4}">
                    <adec:decorative xmlns:adec="http://schemas.microsoft.com/office/drawing/2017/decorative" val="1"/>
                  </a:ext>
                </a:extLst>
              </p:cNvPr>
              <p:cNvSpPr txBox="1"/>
              <p:nvPr/>
            </p:nvSpPr>
            <p:spPr>
              <a:xfrm>
                <a:off x="7169480" y="3008442"/>
                <a:ext cx="639182" cy="369332"/>
              </a:xfrm>
              <a:prstGeom prst="rect">
                <a:avLst/>
              </a:prstGeom>
              <a:noFill/>
            </p:spPr>
            <p:txBody>
              <a:bodyPr wrap="square">
                <a:spAutoFit/>
              </a:bodyPr>
              <a:lstStyle/>
              <a:p>
                <a:r>
                  <a:rPr lang="es-ES" sz="1800" b="0" dirty="0">
                    <a:ea typeface="Cambria Math" panose="02040503050406030204" pitchFamily="18" charset="0"/>
                  </a:rPr>
                  <a:t>1-</a:t>
                </a:r>
                <a14:m>
                  <m:oMath xmlns:m="http://schemas.openxmlformats.org/officeDocument/2006/math">
                    <m:r>
                      <m:rPr>
                        <m:nor/>
                      </m:rPr>
                      <a:rPr lang="es-ES" sz="1800" b="0" smtClean="0">
                        <a:latin typeface="Cambria Math" panose="02040503050406030204" pitchFamily="18" charset="0"/>
                        <a:ea typeface="Cambria Math" panose="02040503050406030204" pitchFamily="18" charset="0"/>
                      </a:rPr>
                      <m:t>∝</m:t>
                    </m:r>
                  </m:oMath>
                </a14:m>
                <a:endParaRPr lang="es-ES" dirty="0"/>
              </a:p>
            </p:txBody>
          </p:sp>
        </mc:Choice>
        <mc:Fallback xmlns="">
          <p:sp>
            <p:nvSpPr>
              <p:cNvPr id="23" name="CuadroTexto 22">
                <a:extLst>
                  <a:ext uri="{FF2B5EF4-FFF2-40B4-BE49-F238E27FC236}">
                    <a16:creationId xmlns:a16="http://schemas.microsoft.com/office/drawing/2014/main" id="{D1FD82A4-BF42-8A12-CB70-DE2AADEB1FF6}"/>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169480" y="3008442"/>
                <a:ext cx="639182" cy="369332"/>
              </a:xfrm>
              <a:prstGeom prst="rect">
                <a:avLst/>
              </a:prstGeom>
              <a:blipFill>
                <a:blip r:embed="rId10"/>
                <a:stretch>
                  <a:fillRect l="-7619" t="-10000" b="-26667"/>
                </a:stretch>
              </a:blipFill>
            </p:spPr>
            <p:txBody>
              <a:bodyPr/>
              <a:lstStyle/>
              <a:p>
                <a:r>
                  <a:rPr lang="es-ES">
                    <a:noFill/>
                  </a:rPr>
                  <a:t> </a:t>
                </a:r>
              </a:p>
            </p:txBody>
          </p:sp>
        </mc:Fallback>
      </mc:AlternateContent>
      <p:cxnSp>
        <p:nvCxnSpPr>
          <p:cNvPr id="25" name="Conector recto de flecha 24">
            <a:extLst>
              <a:ext uri="{FF2B5EF4-FFF2-40B4-BE49-F238E27FC236}">
                <a16:creationId xmlns:a16="http://schemas.microsoft.com/office/drawing/2014/main" id="{C2428EC1-E17B-2692-D280-455CE17F5527}"/>
              </a:ext>
              <a:ext uri="{C183D7F6-B498-43B3-948B-1728B52AA6E4}">
                <adec:decorative xmlns:adec="http://schemas.microsoft.com/office/drawing/2017/decorative" val="1"/>
              </a:ext>
            </a:extLst>
          </p:cNvPr>
          <p:cNvCxnSpPr>
            <a:stCxn id="22" idx="2"/>
          </p:cNvCxnSpPr>
          <p:nvPr/>
        </p:nvCxnSpPr>
        <p:spPr>
          <a:xfrm flipH="1">
            <a:off x="7552967" y="4369391"/>
            <a:ext cx="689634" cy="4177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4808C4C4-D201-4200-22A0-3BF0F47E7B82}"/>
              </a:ext>
              <a:ext uri="{C183D7F6-B498-43B3-948B-1728B52AA6E4}">
                <adec:decorative xmlns:adec="http://schemas.microsoft.com/office/drawing/2017/decorative" val="1"/>
              </a:ext>
            </a:extLst>
          </p:cNvPr>
          <p:cNvCxnSpPr>
            <a:cxnSpLocks/>
          </p:cNvCxnSpPr>
          <p:nvPr/>
        </p:nvCxnSpPr>
        <p:spPr>
          <a:xfrm>
            <a:off x="4177230" y="4359999"/>
            <a:ext cx="601655" cy="4610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E2FDEEBF-B8AB-C09E-3D5B-F717E724AE8E}"/>
              </a:ext>
              <a:ext uri="{C183D7F6-B498-43B3-948B-1728B52AA6E4}">
                <adec:decorative xmlns:adec="http://schemas.microsoft.com/office/drawing/2017/decorative" val="1"/>
              </a:ext>
            </a:extLst>
          </p:cNvPr>
          <p:cNvCxnSpPr>
            <a:cxnSpLocks/>
          </p:cNvCxnSpPr>
          <p:nvPr/>
        </p:nvCxnSpPr>
        <p:spPr>
          <a:xfrm flipH="1">
            <a:off x="6680499" y="3318100"/>
            <a:ext cx="701690" cy="4965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F20C2F2D-C221-C6AE-33D7-0072935EC6F7}"/>
                  </a:ext>
                  <a:ext uri="{C183D7F6-B498-43B3-948B-1728B52AA6E4}">
                    <adec:decorative xmlns:adec="http://schemas.microsoft.com/office/drawing/2017/decorative" val="1"/>
                  </a:ext>
                </a:extLst>
              </p:cNvPr>
              <p:cNvSpPr txBox="1"/>
              <p:nvPr/>
            </p:nvSpPr>
            <p:spPr>
              <a:xfrm>
                <a:off x="3129174" y="2435496"/>
                <a:ext cx="1936377" cy="7146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sz="1800" b="0" i="1" smtClean="0">
                          <a:latin typeface="Cambria Math" panose="02040503050406030204" pitchFamily="18" charset="0"/>
                        </a:rPr>
                        <m:t>𝑁</m:t>
                      </m:r>
                      <m:d>
                        <m:dPr>
                          <m:ctrlPr>
                            <a:rPr lang="es-ES" sz="1800" b="0" i="1" smtClean="0">
                              <a:latin typeface="Cambria Math" panose="02040503050406030204" pitchFamily="18" charset="0"/>
                            </a:rPr>
                          </m:ctrlPr>
                        </m:dPr>
                        <m:e>
                          <m:r>
                            <a:rPr lang="es-ES" sz="1800" b="0" i="1" smtClean="0">
                              <a:latin typeface="Cambria Math" panose="02040503050406030204" pitchFamily="18" charset="0"/>
                            </a:rPr>
                            <m:t>𝐸</m:t>
                          </m:r>
                          <m:d>
                            <m:dPr>
                              <m:ctrlPr>
                                <a:rPr lang="es-ES" sz="1800" b="0" i="1" smtClean="0">
                                  <a:latin typeface="Cambria Math" panose="02040503050406030204" pitchFamily="18" charset="0"/>
                                </a:rPr>
                              </m:ctrlPr>
                            </m:dPr>
                            <m:e>
                              <m:acc>
                                <m:accPr>
                                  <m:chr m:val="̂"/>
                                  <m:ctrlPr>
                                    <a:rPr lang="es-ES" sz="1800" i="1">
                                      <a:latin typeface="Cambria Math" panose="02040503050406030204" pitchFamily="18" charset="0"/>
                                    </a:rPr>
                                  </m:ctrlPr>
                                </m:accPr>
                                <m:e>
                                  <m:r>
                                    <a:rPr lang="es-ES" sz="1800" i="1">
                                      <a:latin typeface="Cambria Math" panose="02040503050406030204" pitchFamily="18" charset="0"/>
                                      <a:ea typeface="Cambria Math" panose="02040503050406030204" pitchFamily="18" charset="0"/>
                                    </a:rPr>
                                    <m:t>𝜃</m:t>
                                  </m:r>
                                </m:e>
                              </m:acc>
                            </m:e>
                          </m:d>
                          <m:r>
                            <a:rPr lang="es-ES" sz="1800" b="0" i="1" smtClean="0">
                              <a:latin typeface="Cambria Math" panose="02040503050406030204" pitchFamily="18" charset="0"/>
                              <a:ea typeface="Cambria Math" panose="02040503050406030204" pitchFamily="18" charset="0"/>
                            </a:rPr>
                            <m:t>,</m:t>
                          </m:r>
                          <m:rad>
                            <m:radPr>
                              <m:degHide m:val="on"/>
                              <m:ctrlPr>
                                <a:rPr lang="es-ES" sz="1800" b="0" i="1" smtClean="0">
                                  <a:latin typeface="Cambria Math" panose="02040503050406030204" pitchFamily="18" charset="0"/>
                                  <a:ea typeface="Cambria Math" panose="02040503050406030204" pitchFamily="18" charset="0"/>
                                </a:rPr>
                              </m:ctrlPr>
                            </m:radPr>
                            <m:deg/>
                            <m:e>
                              <m:r>
                                <a:rPr lang="es-ES" sz="1800" i="1">
                                  <a:latin typeface="Cambria Math" panose="02040503050406030204" pitchFamily="18" charset="0"/>
                                </a:rPr>
                                <m:t>𝑉𝑎𝑟</m:t>
                              </m:r>
                              <m:d>
                                <m:dPr>
                                  <m:ctrlPr>
                                    <a:rPr lang="es-ES" sz="1800" i="1">
                                      <a:latin typeface="Cambria Math" panose="02040503050406030204" pitchFamily="18" charset="0"/>
                                    </a:rPr>
                                  </m:ctrlPr>
                                </m:dPr>
                                <m:e>
                                  <m:acc>
                                    <m:accPr>
                                      <m:chr m:val="̂"/>
                                      <m:ctrlPr>
                                        <a:rPr lang="es-ES" sz="1800" i="1">
                                          <a:latin typeface="Cambria Math" panose="02040503050406030204" pitchFamily="18" charset="0"/>
                                        </a:rPr>
                                      </m:ctrlPr>
                                    </m:accPr>
                                    <m:e>
                                      <m:r>
                                        <a:rPr lang="es-ES" sz="1800" i="1">
                                          <a:latin typeface="Cambria Math" panose="02040503050406030204" pitchFamily="18" charset="0"/>
                                          <a:ea typeface="Cambria Math" panose="02040503050406030204" pitchFamily="18" charset="0"/>
                                        </a:rPr>
                                        <m:t>𝜃</m:t>
                                      </m:r>
                                    </m:e>
                                  </m:acc>
                                </m:e>
                              </m:d>
                            </m:e>
                          </m:rad>
                        </m:e>
                      </m:d>
                    </m:oMath>
                  </m:oMathPara>
                </a14:m>
                <a:endParaRPr lang="es-ES" dirty="0"/>
              </a:p>
            </p:txBody>
          </p:sp>
        </mc:Choice>
        <mc:Fallback xmlns="">
          <p:sp>
            <p:nvSpPr>
              <p:cNvPr id="31" name="CuadroTexto 30">
                <a:extLst>
                  <a:ext uri="{FF2B5EF4-FFF2-40B4-BE49-F238E27FC236}">
                    <a16:creationId xmlns:a16="http://schemas.microsoft.com/office/drawing/2014/main" id="{F20C2F2D-C221-C6AE-33D7-0072935EC6F7}"/>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3129174" y="2435496"/>
                <a:ext cx="1936377" cy="714683"/>
              </a:xfrm>
              <a:prstGeom prst="rect">
                <a:avLst/>
              </a:prstGeom>
              <a:blipFill>
                <a:blip r:embed="rId11"/>
                <a:stretch>
                  <a:fillRect r="-1635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D84FCA84-7FEB-BC1E-62E1-DEF545266554}"/>
                  </a:ext>
                  <a:ext uri="{C183D7F6-B498-43B3-948B-1728B52AA6E4}">
                    <adec:decorative xmlns:adec="http://schemas.microsoft.com/office/drawing/2017/decorative" val="1"/>
                  </a:ext>
                </a:extLst>
              </p:cNvPr>
              <p:cNvSpPr txBox="1"/>
              <p:nvPr/>
            </p:nvSpPr>
            <p:spPr>
              <a:xfrm>
                <a:off x="6514305" y="5406521"/>
                <a:ext cx="5701554" cy="55322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i="1">
                              <a:latin typeface="Cambria Math" panose="02040503050406030204" pitchFamily="18" charset="0"/>
                            </a:rPr>
                            <m:t>𝐿</m:t>
                          </m:r>
                        </m:e>
                        <m:sub>
                          <m:r>
                            <a:rPr lang="es-ES" sz="1600" b="0" i="1" smtClean="0">
                              <a:latin typeface="Cambria Math" panose="02040503050406030204" pitchFamily="18" charset="0"/>
                            </a:rPr>
                            <m:t>𝑠</m:t>
                          </m:r>
                        </m:sub>
                      </m:sSub>
                      <m:r>
                        <a:rPr lang="es-ES" sz="1600" i="1">
                          <a:latin typeface="Cambria Math" panose="02040503050406030204" pitchFamily="18" charset="0"/>
                        </a:rPr>
                        <m:t>=</m:t>
                      </m:r>
                      <m:r>
                        <m:rPr>
                          <m:nor/>
                        </m:rPr>
                        <a:rPr lang="es-ES" sz="1600" b="0" i="0" smtClean="0">
                          <a:latin typeface="Cambria Math" panose="02040503050406030204" pitchFamily="18" charset="0"/>
                        </a:rPr>
                        <m:t>cuantil</m:t>
                      </m:r>
                      <m:r>
                        <m:rPr>
                          <m:nor/>
                        </m:rPr>
                        <a:rPr lang="es-ES" sz="1600" b="0" i="0" smtClean="0">
                          <a:latin typeface="Cambria Math" panose="02040503050406030204" pitchFamily="18" charset="0"/>
                        </a:rPr>
                        <m:t> 1−∝/2 </m:t>
                      </m:r>
                      <m:r>
                        <m:rPr>
                          <m:nor/>
                        </m:rPr>
                        <a:rPr lang="es-ES" sz="1600" b="0" i="0" smtClean="0">
                          <a:latin typeface="Cambria Math" panose="02040503050406030204" pitchFamily="18" charset="0"/>
                        </a:rPr>
                        <m:t>de</m:t>
                      </m:r>
                      <m:r>
                        <m:rPr>
                          <m:nor/>
                        </m:rPr>
                        <a:rPr lang="es-ES" sz="1600" b="0" i="0" smtClean="0">
                          <a:latin typeface="Cambria Math" panose="02040503050406030204" pitchFamily="18" charset="0"/>
                        </a:rPr>
                        <m:t> </m:t>
                      </m:r>
                      <m:r>
                        <m:rPr>
                          <m:nor/>
                        </m:rPr>
                        <a:rPr lang="es-ES" sz="1600" b="0" i="0" smtClean="0">
                          <a:latin typeface="Cambria Math" panose="02040503050406030204" pitchFamily="18" charset="0"/>
                        </a:rPr>
                        <m:t>la</m:t>
                      </m:r>
                      <m:r>
                        <m:rPr>
                          <m:nor/>
                        </m:rPr>
                        <a:rPr lang="es-ES" sz="1600" b="0" i="0" smtClean="0">
                          <a:latin typeface="Cambria Math" panose="02040503050406030204" pitchFamily="18" charset="0"/>
                        </a:rPr>
                        <m:t> </m:t>
                      </m:r>
                      <m:r>
                        <m:rPr>
                          <m:nor/>
                        </m:rPr>
                        <a:rPr lang="es-ES" sz="1600" b="0" i="0" smtClean="0">
                          <a:latin typeface="Cambria Math" panose="02040503050406030204" pitchFamily="18" charset="0"/>
                        </a:rPr>
                        <m:t>variable</m:t>
                      </m:r>
                      <m:r>
                        <m:rPr>
                          <m:nor/>
                        </m:rPr>
                        <a:rPr lang="es-ES" sz="1600" b="0" i="0" smtClean="0">
                          <a:latin typeface="Cambria Math" panose="02040503050406030204" pitchFamily="18" charset="0"/>
                        </a:rPr>
                        <m:t> </m:t>
                      </m:r>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r>
                        <a:rPr lang="es-ES" sz="1600" b="0" i="1" smtClean="0">
                          <a:latin typeface="Cambria Math" panose="02040503050406030204" pitchFamily="18" charset="0"/>
                          <a:ea typeface="Cambria Math" panose="02040503050406030204" pitchFamily="18" charset="0"/>
                        </a:rPr>
                        <m:t>:</m:t>
                      </m:r>
                      <m:r>
                        <a:rPr lang="es-ES" sz="1600" b="0" i="1" smtClean="0">
                          <a:latin typeface="Cambria Math" panose="02040503050406030204" pitchFamily="18" charset="0"/>
                        </a:rPr>
                        <m:t>𝑁</m:t>
                      </m:r>
                      <m:d>
                        <m:dPr>
                          <m:ctrlPr>
                            <a:rPr lang="es-ES" sz="1600" b="0" i="1" smtClean="0">
                              <a:latin typeface="Cambria Math" panose="02040503050406030204" pitchFamily="18" charset="0"/>
                            </a:rPr>
                          </m:ctrlPr>
                        </m:dPr>
                        <m:e>
                          <m:r>
                            <a:rPr lang="es-ES" sz="1600" b="0" i="1" smtClean="0">
                              <a:latin typeface="Cambria Math" panose="02040503050406030204" pitchFamily="18" charset="0"/>
                            </a:rPr>
                            <m:t>𝐸</m:t>
                          </m:r>
                          <m:d>
                            <m:dPr>
                              <m:ctrlPr>
                                <a:rPr lang="es-ES" sz="1600" b="0" i="1" smtClean="0">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e>
                          </m:d>
                          <m:r>
                            <a:rPr lang="es-ES" sz="1600" b="0" i="1" smtClean="0">
                              <a:latin typeface="Cambria Math" panose="02040503050406030204" pitchFamily="18" charset="0"/>
                              <a:ea typeface="Cambria Math" panose="02040503050406030204" pitchFamily="18" charset="0"/>
                            </a:rPr>
                            <m:t>,</m:t>
                          </m:r>
                          <m:rad>
                            <m:radPr>
                              <m:degHide m:val="on"/>
                              <m:ctrlPr>
                                <a:rPr lang="es-ES" sz="1600" b="0" i="1" smtClean="0">
                                  <a:latin typeface="Cambria Math" panose="02040503050406030204" pitchFamily="18" charset="0"/>
                                  <a:ea typeface="Cambria Math" panose="02040503050406030204" pitchFamily="18" charset="0"/>
                                </a:rPr>
                              </m:ctrlPr>
                            </m:radPr>
                            <m:deg/>
                            <m:e>
                              <m:r>
                                <a:rPr lang="es-ES" sz="1600" i="1">
                                  <a:latin typeface="Cambria Math" panose="02040503050406030204" pitchFamily="18" charset="0"/>
                                </a:rPr>
                                <m:t>𝑉𝑎𝑟</m:t>
                              </m:r>
                              <m:d>
                                <m:dPr>
                                  <m:ctrlPr>
                                    <a:rPr lang="es-ES" sz="1600" i="1">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e>
                              </m:d>
                            </m:e>
                          </m:rad>
                        </m:e>
                      </m:d>
                    </m:oMath>
                  </m:oMathPara>
                </a14:m>
                <a:endParaRPr lang="es-ES" sz="1600" dirty="0">
                  <a:latin typeface="Cambria Math" panose="02040503050406030204" pitchFamily="18" charset="0"/>
                  <a:ea typeface="Cambria Math" panose="02040503050406030204" pitchFamily="18" charset="0"/>
                </a:endParaRPr>
              </a:p>
            </p:txBody>
          </p:sp>
        </mc:Choice>
        <mc:Fallback xmlns="">
          <p:sp>
            <p:nvSpPr>
              <p:cNvPr id="32" name="CuadroTexto 31">
                <a:extLst>
                  <a:ext uri="{FF2B5EF4-FFF2-40B4-BE49-F238E27FC236}">
                    <a16:creationId xmlns:a16="http://schemas.microsoft.com/office/drawing/2014/main" id="{D84FCA84-7FEB-BC1E-62E1-DEF545266554}"/>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514305" y="5406521"/>
                <a:ext cx="5701554" cy="553228"/>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AC1AB409-17FA-A05A-8FC5-06B036A6EFEA}"/>
                  </a:ext>
                  <a:ext uri="{C183D7F6-B498-43B3-948B-1728B52AA6E4}">
                    <adec:decorative xmlns:adec="http://schemas.microsoft.com/office/drawing/2017/decorative" val="1"/>
                  </a:ext>
                </a:extLst>
              </p:cNvPr>
              <p:cNvSpPr txBox="1"/>
              <p:nvPr/>
            </p:nvSpPr>
            <p:spPr>
              <a:xfrm>
                <a:off x="6829862" y="5923916"/>
                <a:ext cx="2492188" cy="2779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ES" sz="1600" b="0" i="0" smtClean="0">
                          <a:latin typeface="Cambria Math" panose="02040503050406030204" pitchFamily="18" charset="0"/>
                        </a:rPr>
                        <m:t>Porque</m:t>
                      </m:r>
                      <m:r>
                        <a:rPr lang="es-ES" sz="1600" b="0" i="1" smtClean="0">
                          <a:latin typeface="Cambria Math" panose="02040503050406030204" pitchFamily="18" charset="0"/>
                        </a:rPr>
                        <m:t> </m:t>
                      </m:r>
                      <m:r>
                        <a:rPr lang="es-ES" sz="1600" b="0" i="1" smtClean="0">
                          <a:latin typeface="Cambria Math" panose="02040503050406030204" pitchFamily="18" charset="0"/>
                        </a:rPr>
                        <m:t>𝑃</m:t>
                      </m:r>
                      <m:d>
                        <m:dPr>
                          <m:ctrlPr>
                            <a:rPr lang="es-ES" sz="1600" b="0" i="1" smtClean="0">
                              <a:latin typeface="Cambria Math" panose="02040503050406030204" pitchFamily="18" charset="0"/>
                            </a:rPr>
                          </m:ctrlPr>
                        </m:dPr>
                        <m:e>
                          <m:acc>
                            <m:accPr>
                              <m:chr m:val="̂"/>
                              <m:ctrlPr>
                                <a:rPr lang="es-ES" sz="1600" i="1">
                                  <a:latin typeface="Cambria Math" panose="02040503050406030204" pitchFamily="18" charset="0"/>
                                </a:rPr>
                              </m:ctrlPr>
                            </m:accPr>
                            <m:e>
                              <m:r>
                                <a:rPr lang="es-ES" sz="1600" i="1">
                                  <a:latin typeface="Cambria Math" panose="02040503050406030204" pitchFamily="18" charset="0"/>
                                  <a:ea typeface="Cambria Math" panose="02040503050406030204" pitchFamily="18" charset="0"/>
                                </a:rPr>
                                <m:t>𝜃</m:t>
                              </m:r>
                            </m:e>
                          </m:acc>
                          <m:r>
                            <m:rPr>
                              <m:nor/>
                            </m:rPr>
                            <a:rPr lang="es-ES" sz="1600" b="0" i="0" smtClean="0">
                              <a:latin typeface="Cambria Math" panose="02040503050406030204" pitchFamily="18" charset="0"/>
                              <a:ea typeface="Cambria Math" panose="02040503050406030204" pitchFamily="18" charset="0"/>
                            </a:rPr>
                            <m:t>&lt;</m:t>
                          </m:r>
                          <m:sSub>
                            <m:sSubPr>
                              <m:ctrlPr>
                                <a:rPr lang="es-ES" sz="1600" i="1">
                                  <a:latin typeface="Cambria Math" panose="02040503050406030204" pitchFamily="18" charset="0"/>
                                  <a:ea typeface="Cambria Math" panose="02040503050406030204" pitchFamily="18" charset="0"/>
                                </a:rPr>
                              </m:ctrlPr>
                            </m:sSubPr>
                            <m:e>
                              <m:r>
                                <a:rPr lang="es-ES" sz="1600" i="1">
                                  <a:latin typeface="Cambria Math" panose="02040503050406030204" pitchFamily="18" charset="0"/>
                                  <a:ea typeface="Cambria Math" panose="02040503050406030204" pitchFamily="18" charset="0"/>
                                </a:rPr>
                                <m:t>𝐿</m:t>
                              </m:r>
                            </m:e>
                            <m:sub>
                              <m:r>
                                <a:rPr lang="es-ES" sz="1600" b="0" i="1" smtClean="0">
                                  <a:latin typeface="Cambria Math" panose="02040503050406030204" pitchFamily="18" charset="0"/>
                                  <a:ea typeface="Cambria Math" panose="02040503050406030204" pitchFamily="18" charset="0"/>
                                </a:rPr>
                                <m:t>𝑠</m:t>
                              </m:r>
                            </m:sub>
                          </m:sSub>
                        </m:e>
                      </m:d>
                      <m:r>
                        <a:rPr lang="es-ES" sz="1600" b="0" i="1" smtClean="0">
                          <a:latin typeface="Cambria Math" panose="02040503050406030204" pitchFamily="18" charset="0"/>
                          <a:ea typeface="Cambria Math" panose="02040503050406030204" pitchFamily="18" charset="0"/>
                        </a:rPr>
                        <m:t>=</m:t>
                      </m:r>
                      <m:r>
                        <m:rPr>
                          <m:nor/>
                        </m:rPr>
                        <a:rPr lang="es-ES" sz="1600" b="0" i="0" smtClean="0">
                          <a:latin typeface="Cambria Math" panose="02040503050406030204" pitchFamily="18" charset="0"/>
                          <a:ea typeface="Cambria Math" panose="02040503050406030204" pitchFamily="18" charset="0"/>
                        </a:rPr>
                        <m:t>1−</m:t>
                      </m:r>
                      <m:r>
                        <m:rPr>
                          <m:nor/>
                        </m:rPr>
                        <a:rPr lang="es-ES" sz="1600">
                          <a:latin typeface="Cambria Math" panose="02040503050406030204" pitchFamily="18" charset="0"/>
                          <a:ea typeface="Cambria Math" panose="02040503050406030204" pitchFamily="18" charset="0"/>
                        </a:rPr>
                        <m:t>∝</m:t>
                      </m:r>
                      <m:r>
                        <a:rPr lang="es-ES" sz="1600" i="1">
                          <a:latin typeface="Cambria Math" panose="02040503050406030204" pitchFamily="18" charset="0"/>
                          <a:ea typeface="Cambria Math" panose="02040503050406030204" pitchFamily="18" charset="0"/>
                        </a:rPr>
                        <m:t>/2</m:t>
                      </m:r>
                    </m:oMath>
                  </m:oMathPara>
                </a14:m>
                <a:endParaRPr lang="es-ES" sz="1600" dirty="0">
                  <a:latin typeface="Cambria Math" panose="02040503050406030204" pitchFamily="18" charset="0"/>
                  <a:ea typeface="Cambria Math" panose="02040503050406030204" pitchFamily="18" charset="0"/>
                </a:endParaRPr>
              </a:p>
            </p:txBody>
          </p:sp>
        </mc:Choice>
        <mc:Fallback xmlns="">
          <p:sp>
            <p:nvSpPr>
              <p:cNvPr id="33" name="CuadroTexto 32">
                <a:extLst>
                  <a:ext uri="{FF2B5EF4-FFF2-40B4-BE49-F238E27FC236}">
                    <a16:creationId xmlns:a16="http://schemas.microsoft.com/office/drawing/2014/main" id="{AC1AB409-17FA-A05A-8FC5-06B036A6EFEA}"/>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6829862" y="5923916"/>
                <a:ext cx="2492188" cy="277961"/>
              </a:xfrm>
              <a:prstGeom prst="rect">
                <a:avLst/>
              </a:prstGeom>
              <a:blipFill>
                <a:blip r:embed="rId13"/>
                <a:stretch>
                  <a:fillRect t="-15556" b="-26667"/>
                </a:stretch>
              </a:blipFill>
            </p:spPr>
            <p:txBody>
              <a:bodyPr/>
              <a:lstStyle/>
              <a:p>
                <a:r>
                  <a:rPr lang="es-ES">
                    <a:noFill/>
                  </a:rPr>
                  <a:t> </a:t>
                </a:r>
              </a:p>
            </p:txBody>
          </p:sp>
        </mc:Fallback>
      </mc:AlternateContent>
    </p:spTree>
    <p:extLst>
      <p:ext uri="{BB962C8B-B14F-4D97-AF65-F5344CB8AC3E}">
        <p14:creationId xmlns:p14="http://schemas.microsoft.com/office/powerpoint/2010/main" val="578487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a:bodyPr>
          <a:lstStyle/>
          <a:p>
            <a:r>
              <a:rPr lang="es-ES" dirty="0"/>
              <a:t>6. Método general</a:t>
            </a:r>
            <a:br>
              <a:rPr lang="es-ES" dirty="0"/>
            </a:br>
            <a:r>
              <a:rPr lang="es-ES" dirty="0"/>
              <a:t>Estandarización del estimador</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a:xfrm>
                <a:off x="838200" y="1825625"/>
                <a:ext cx="10515600" cy="4895850"/>
              </a:xfrm>
            </p:spPr>
            <p:txBody>
              <a:bodyPr>
                <a:normAutofit fontScale="62500" lnSpcReduction="20000"/>
              </a:bodyPr>
              <a:lstStyle/>
              <a:p>
                <a:r>
                  <a:rPr lang="es-ES" dirty="0"/>
                  <a:t>El estimador </a:t>
                </a:r>
                <a14:m>
                  <m:oMath xmlns:m="http://schemas.openxmlformats.org/officeDocument/2006/math">
                    <m:acc>
                      <m:accPr>
                        <m:chr m:val="̂"/>
                        <m:ctrlPr>
                          <a:rPr lang="es-ES" i="1" smtClean="0">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oMath>
                </a14:m>
                <a:r>
                  <a:rPr lang="es-ES" dirty="0"/>
                  <a:t> se convierte en una variable </a:t>
                </a:r>
                <a14:m>
                  <m:oMath xmlns:m="http://schemas.openxmlformats.org/officeDocument/2006/math">
                    <m:r>
                      <a:rPr lang="es-ES" b="0" i="1" smtClean="0">
                        <a:latin typeface="Cambria Math" panose="02040503050406030204" pitchFamily="18" charset="0"/>
                      </a:rPr>
                      <m:t>𝑍</m:t>
                    </m:r>
                    <m:r>
                      <a:rPr lang="es-ES" b="0" i="1" smtClean="0">
                        <a:latin typeface="Cambria Math" panose="02040503050406030204" pitchFamily="18" charset="0"/>
                      </a:rPr>
                      <m:t>:</m:t>
                    </m:r>
                    <m:r>
                      <a:rPr lang="es-ES" b="0" i="1" smtClean="0">
                        <a:latin typeface="Cambria Math" panose="02040503050406030204" pitchFamily="18" charset="0"/>
                      </a:rPr>
                      <m:t>𝑁</m:t>
                    </m:r>
                    <m:r>
                      <a:rPr lang="es-ES" b="0" i="1" smtClean="0">
                        <a:latin typeface="Cambria Math" panose="02040503050406030204" pitchFamily="18" charset="0"/>
                      </a:rPr>
                      <m:t>(0,1)</m:t>
                    </m:r>
                  </m:oMath>
                </a14:m>
                <a:endParaRPr lang="es-ES" dirty="0"/>
              </a:p>
              <a:p>
                <a:pPr lvl="1"/>
                <a14:m>
                  <m:oMath xmlns:m="http://schemas.openxmlformats.org/officeDocument/2006/math">
                    <m:r>
                      <a:rPr lang="es-ES" b="0" i="1" smtClean="0">
                        <a:latin typeface="Cambria Math" panose="02040503050406030204" pitchFamily="18" charset="0"/>
                      </a:rPr>
                      <m:t>𝑍</m:t>
                    </m:r>
                    <m:r>
                      <a:rPr lang="es-ES" b="0" i="1" smtClean="0">
                        <a:latin typeface="Cambria Math" panose="02040503050406030204" pitchFamily="18" charset="0"/>
                      </a:rPr>
                      <m:t>=</m:t>
                    </m:r>
                    <m:f>
                      <m:fPr>
                        <m:ctrlPr>
                          <a:rPr lang="es-ES" b="0" i="1" smtClean="0">
                            <a:latin typeface="Cambria Math" panose="02040503050406030204" pitchFamily="18" charset="0"/>
                          </a:rPr>
                        </m:ctrlPr>
                      </m:fPr>
                      <m:num>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num>
                      <m:den>
                        <m:r>
                          <a:rPr lang="es-ES" b="0" i="1" smtClean="0">
                            <a:latin typeface="Cambria Math" panose="02040503050406030204" pitchFamily="18" charset="0"/>
                            <a:ea typeface="Cambria Math" panose="02040503050406030204" pitchFamily="18" charset="0"/>
                          </a:rPr>
                          <m:t>𝜎</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den>
                    </m:f>
                    <m:r>
                      <a:rPr lang="es-ES" b="0" i="1" smtClean="0">
                        <a:latin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𝜃</m:t>
                        </m:r>
                      </m:num>
                      <m:den>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den>
                    </m:f>
                    <m:r>
                      <a:rPr lang="es-ES" b="0" i="1"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al</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ser</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un</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estimador</m:t>
                    </m:r>
                    <m:r>
                      <m:rPr>
                        <m:nor/>
                      </m:rPr>
                      <a:rPr lang="es-ES" b="0" i="0" smtClean="0">
                        <a:latin typeface="Cambria Math" panose="02040503050406030204" pitchFamily="18" charset="0"/>
                        <a:ea typeface="Cambria Math" panose="02040503050406030204" pitchFamily="18" charset="0"/>
                      </a:rPr>
                      <m:t> </m:t>
                    </m:r>
                    <m:r>
                      <m:rPr>
                        <m:nor/>
                      </m:rPr>
                      <a:rPr lang="es-ES" b="0" i="0" smtClean="0">
                        <a:latin typeface="Cambria Math" panose="02040503050406030204" pitchFamily="18" charset="0"/>
                        <a:ea typeface="Cambria Math" panose="02040503050406030204" pitchFamily="18" charset="0"/>
                      </a:rPr>
                      <m:t>insesgado</m:t>
                    </m:r>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𝜃</m:t>
                    </m:r>
                    <m:r>
                      <m:rPr>
                        <m:nor/>
                      </m:rPr>
                      <a:rPr lang="es-ES" b="0" i="0" smtClean="0">
                        <a:latin typeface="Cambria Math" panose="02040503050406030204" pitchFamily="18" charset="0"/>
                        <a:ea typeface="Cambria Math" panose="02040503050406030204" pitchFamily="18" charset="0"/>
                      </a:rPr>
                      <m:t> </m:t>
                    </m:r>
                  </m:oMath>
                </a14:m>
                <a:r>
                  <a:rPr lang="es-ES" dirty="0"/>
                  <a:t>   </a:t>
                </a:r>
              </a:p>
              <a:p>
                <a:r>
                  <a:rPr lang="es-ES" dirty="0"/>
                  <a:t>Los valores de la variable estandarizada </a:t>
                </a:r>
                <a14:m>
                  <m:oMath xmlns:m="http://schemas.openxmlformats.org/officeDocument/2006/math">
                    <m:r>
                      <a:rPr lang="es-ES" i="1">
                        <a:latin typeface="Cambria Math" panose="02040503050406030204" pitchFamily="18" charset="0"/>
                      </a:rPr>
                      <m:t>𝑍</m:t>
                    </m:r>
                    <m:r>
                      <a:rPr lang="es-ES" i="1">
                        <a:latin typeface="Cambria Math" panose="02040503050406030204" pitchFamily="18" charset="0"/>
                      </a:rPr>
                      <m:t> </m:t>
                    </m:r>
                  </m:oMath>
                </a14:m>
                <a:r>
                  <a:rPr lang="es-ES" dirty="0"/>
                  <a:t>correspondientes a los cuantiles (q): </a:t>
                </a:r>
                <a14:m>
                  <m:oMath xmlns:m="http://schemas.openxmlformats.org/officeDocument/2006/math">
                    <m:r>
                      <m:rPr>
                        <m:nor/>
                      </m:rPr>
                      <a:rPr lang="el-GR" smtClean="0">
                        <a:latin typeface="Cambria Math" panose="02040503050406030204" pitchFamily="18" charset="0"/>
                        <a:ea typeface="Cambria Math" panose="02040503050406030204" pitchFamily="18" charset="0"/>
                      </a:rPr>
                      <m:t>α</m:t>
                    </m:r>
                    <m:r>
                      <a:rPr lang="es-ES" b="0" i="1" smtClean="0">
                        <a:latin typeface="Cambria Math" panose="02040503050406030204" pitchFamily="18" charset="0"/>
                        <a:ea typeface="Cambria Math" panose="02040503050406030204" pitchFamily="18" charset="0"/>
                      </a:rPr>
                      <m:t>/2</m:t>
                    </m:r>
                  </m:oMath>
                </a14:m>
                <a:r>
                  <a:rPr lang="es-ES" dirty="0"/>
                  <a:t> y </a:t>
                </a:r>
                <a14:m>
                  <m:oMath xmlns:m="http://schemas.openxmlformats.org/officeDocument/2006/math">
                    <m:r>
                      <a:rPr lang="es-ES" b="0" i="0" smtClean="0">
                        <a:latin typeface="Cambria Math" panose="02040503050406030204" pitchFamily="18" charset="0"/>
                      </a:rPr>
                      <m:t>(</m:t>
                    </m:r>
                    <m:r>
                      <a:rPr lang="es-ES" b="0" i="1" smtClean="0">
                        <a:latin typeface="Cambria Math" panose="02040503050406030204" pitchFamily="18" charset="0"/>
                      </a:rPr>
                      <m:t>1−</m:t>
                    </m:r>
                    <m:r>
                      <m:rPr>
                        <m:nor/>
                      </m:rPr>
                      <a:rPr lang="el-GR" b="0" smtClean="0">
                        <a:latin typeface="Cambria Math" panose="02040503050406030204" pitchFamily="18" charset="0"/>
                        <a:ea typeface="Cambria Math" panose="02040503050406030204" pitchFamily="18" charset="0"/>
                      </a:rPr>
                      <m:t>α</m:t>
                    </m:r>
                    <m:r>
                      <m:rPr>
                        <m:nor/>
                      </m:rPr>
                      <a:rPr lang="es-ES" b="0" i="0" smtClean="0">
                        <a:latin typeface="Cambria Math" panose="02040503050406030204" pitchFamily="18" charset="0"/>
                        <a:ea typeface="Cambria Math" panose="02040503050406030204" pitchFamily="18" charset="0"/>
                      </a:rPr>
                      <m:t>/2)</m:t>
                    </m:r>
                  </m:oMath>
                </a14:m>
                <a:r>
                  <a:rPr lang="es-ES" dirty="0"/>
                  <a:t> se denominan valores críticos, y se denotan como</a:t>
                </a:r>
              </a:p>
              <a:p>
                <a:pPr lvl="1"/>
                <a14:m>
                  <m:oMath xmlns:m="http://schemas.openxmlformats.org/officeDocument/2006/math">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b="0" i="1" smtClean="0">
                        <a:latin typeface="Cambria Math" panose="02040503050406030204" pitchFamily="18" charset="0"/>
                      </a:rPr>
                      <m:t>=</m:t>
                    </m:r>
                    <m:r>
                      <a:rPr lang="es-ES" b="0" i="1" smtClean="0">
                        <a:latin typeface="Cambria Math" panose="02040503050406030204" pitchFamily="18" charset="0"/>
                      </a:rPr>
                      <m:t>𝑞</m:t>
                    </m:r>
                    <m:d>
                      <m:dPr>
                        <m:ctrlPr>
                          <a:rPr lang="es-ES" b="0" i="1" smtClean="0">
                            <a:latin typeface="Cambria Math" panose="02040503050406030204" pitchFamily="18" charset="0"/>
                          </a:rPr>
                        </m:ctrlPr>
                      </m:dPr>
                      <m:e>
                        <m:r>
                          <m:rPr>
                            <m:sty m:val="p"/>
                          </m:rPr>
                          <a:rPr lang="el-GR" i="1" smtClean="0">
                            <a:latin typeface="Cambria Math" panose="02040503050406030204" pitchFamily="18" charset="0"/>
                            <a:ea typeface="Cambria Math" panose="02040503050406030204" pitchFamily="18" charset="0"/>
                          </a:rPr>
                          <m:t>α</m:t>
                        </m:r>
                        <m:r>
                          <a:rPr lang="es-ES" b="0" i="1" smtClean="0">
                            <a:latin typeface="Cambria Math" panose="02040503050406030204" pitchFamily="18" charset="0"/>
                            <a:ea typeface="Cambria Math" panose="02040503050406030204" pitchFamily="18" charset="0"/>
                          </a:rPr>
                          <m:t>/2</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e>
                    </m:d>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rPr>
                          <m:t>2</m:t>
                        </m:r>
                      </m:den>
                    </m:f>
                  </m:oMath>
                </a14:m>
                <a:endParaRPr lang="es-ES" dirty="0"/>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b="0" i="1" smtClean="0">
                        <a:latin typeface="Cambria Math" panose="02040503050406030204" pitchFamily="18" charset="0"/>
                      </a:rPr>
                      <m:t>=</m:t>
                    </m:r>
                    <m:r>
                      <a:rPr lang="es-ES" b="0" i="1" smtClean="0">
                        <a:latin typeface="Cambria Math" panose="02040503050406030204" pitchFamily="18" charset="0"/>
                      </a:rPr>
                      <m:t>𝑞</m:t>
                    </m:r>
                    <m:d>
                      <m:dPr>
                        <m:ctrlPr>
                          <a:rPr lang="es-ES" b="0" i="1" smtClean="0">
                            <a:latin typeface="Cambria Math" panose="02040503050406030204" pitchFamily="18" charset="0"/>
                          </a:rPr>
                        </m:ctrlPr>
                      </m:dPr>
                      <m:e>
                        <m:r>
                          <a:rPr lang="es-ES" i="1">
                            <a:latin typeface="Cambria Math" panose="02040503050406030204" pitchFamily="18" charset="0"/>
                          </a:rPr>
                          <m:t>1−</m:t>
                        </m:r>
                        <m:r>
                          <m:rPr>
                            <m:sty m:val="p"/>
                          </m:rPr>
                          <a:rPr lang="el-GR" i="1" smtClean="0">
                            <a:latin typeface="Cambria Math" panose="02040503050406030204" pitchFamily="18" charset="0"/>
                            <a:ea typeface="Cambria Math" panose="02040503050406030204" pitchFamily="18" charset="0"/>
                          </a:rPr>
                          <m:t>α</m:t>
                        </m:r>
                        <m:r>
                          <a:rPr lang="es-ES" b="0" i="1" smtClean="0">
                            <a:latin typeface="Cambria Math" panose="02040503050406030204" pitchFamily="18" charset="0"/>
                            <a:ea typeface="Cambria Math" panose="02040503050406030204" pitchFamily="18" charset="0"/>
                          </a:rPr>
                          <m:t>/2</m:t>
                        </m:r>
                      </m:e>
                    </m:d>
                    <m:r>
                      <m:rPr>
                        <m:nor/>
                      </m:rPr>
                      <a:rPr lang="es-ES" b="0" i="0" smtClean="0">
                        <a:latin typeface="Cambria Math" panose="02040503050406030204" pitchFamily="18" charset="0"/>
                      </a:rPr>
                      <m:t> </m:t>
                    </m:r>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e>
                    </m:d>
                    <m:r>
                      <a:rPr lang="es-ES" i="1">
                        <a:latin typeface="Cambria Math" panose="02040503050406030204" pitchFamily="18" charset="0"/>
                      </a:rPr>
                      <m:t>=</m:t>
                    </m:r>
                    <m:r>
                      <a:rPr lang="es-ES" b="0" i="1" smtClean="0">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rPr>
                          <m:t>2</m:t>
                        </m:r>
                      </m:den>
                    </m:f>
                  </m:oMath>
                </a14:m>
                <a:endParaRPr lang="es-ES" dirty="0"/>
              </a:p>
              <a:p>
                <a:r>
                  <a:rPr lang="es-ES" dirty="0"/>
                  <a:t>Por lo que </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𝐸</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num>
                          <m:den>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den>
                        </m:f>
                        <m:r>
                          <a:rPr lang="es-ES"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i="1">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𝜃</m:t>
                        </m:r>
                        <m:r>
                          <a:rPr lang="es-ES" i="1">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e>
                    </m:d>
                    <m:r>
                      <a:rPr lang="es-ES" b="0" i="1" smtClean="0">
                        <a:latin typeface="Cambria Math" panose="02040503050406030204" pitchFamily="18" charset="0"/>
                        <a:ea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e>
                    </m:d>
                  </m:oMath>
                </a14:m>
                <a:endParaRPr lang="es-ES" dirty="0"/>
              </a:p>
              <a:p>
                <a:r>
                  <a:rPr lang="es-ES" dirty="0"/>
                  <a:t>Y el intervalo de confianza es</a:t>
                </a:r>
              </a:p>
              <a:p>
                <a:pPr lvl="1"/>
                <a14:m>
                  <m:oMath xmlns:m="http://schemas.openxmlformats.org/officeDocument/2006/math">
                    <m:d>
                      <m:dPr>
                        <m:begChr m:val="["/>
                        <m:endChr m:val="]"/>
                        <m:ctrlPr>
                          <a:rPr lang="es-ES" i="1" smtClean="0">
                            <a:latin typeface="Cambria Math" panose="02040503050406030204" pitchFamily="18" charset="0"/>
                            <a:ea typeface="Cambria Math" panose="02040503050406030204" pitchFamily="18" charset="0"/>
                          </a:rPr>
                        </m:ctrlPr>
                      </m:dPr>
                      <m:e>
                        <m:sSub>
                          <m:sSubPr>
                            <m:ctrlPr>
                              <a:rPr lang="es-ES" i="1">
                                <a:latin typeface="Cambria Math" panose="02040503050406030204" pitchFamily="18" charset="0"/>
                              </a:rPr>
                            </m:ctrlPr>
                          </m:sSub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r>
                          <a:rPr lang="es-ES" b="0" i="1" smtClean="0">
                            <a:latin typeface="Cambria Math" panose="02040503050406030204" pitchFamily="18" charset="0"/>
                            <a:ea typeface="Cambria Math" panose="02040503050406030204" pitchFamily="18" charset="0"/>
                          </a:rPr>
                          <m:t>,   </m:t>
                        </m:r>
                        <m:sSub>
                          <m:sSubPr>
                            <m:ctrlPr>
                              <a:rPr lang="es-ES" i="1">
                                <a:latin typeface="Cambria Math" panose="02040503050406030204" pitchFamily="18" charset="0"/>
                              </a:rPr>
                            </m:ctrlPr>
                          </m:sSub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/2</m:t>
                            </m:r>
                          </m:sub>
                        </m:sSub>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e>
                        </m:d>
                      </m:e>
                    </m:d>
                  </m:oMath>
                </a14:m>
                <a:endParaRPr lang="es-ES" dirty="0"/>
              </a:p>
              <a:p>
                <a:endParaRPr lang="es-ES" dirty="0"/>
              </a:p>
              <a:p>
                <a:r>
                  <a:rPr lang="es-ES" dirty="0"/>
                  <a:t>Nota: Recordar el concepto de </a:t>
                </a:r>
                <a:r>
                  <a:rPr lang="es-ES" dirty="0">
                    <a:hlinkClick r:id="rId2"/>
                  </a:rPr>
                  <a:t>cuantil</a:t>
                </a:r>
                <a:endParaRPr lang="es-ES" dirty="0"/>
              </a:p>
              <a:p>
                <a:pPr lvl="1"/>
                <a:r>
                  <a:rPr lang="es-ES" i="1" dirty="0"/>
                  <a:t>Dada una variable aleatoria X, el cuantil q, es el valor x de la variable, tal que </a:t>
                </a:r>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𝑥</m:t>
                        </m:r>
                      </m:e>
                    </m:d>
                    <m:r>
                      <a:rPr lang="es-ES" b="0" i="1" smtClean="0">
                        <a:latin typeface="Cambria Math" panose="02040503050406030204" pitchFamily="18" charset="0"/>
                      </a:rPr>
                      <m:t>=</m:t>
                    </m:r>
                    <m:r>
                      <a:rPr lang="es-ES" b="0" i="1" smtClean="0">
                        <a:latin typeface="Cambria Math" panose="02040503050406030204" pitchFamily="18" charset="0"/>
                      </a:rPr>
                      <m:t>𝑞</m:t>
                    </m:r>
                  </m:oMath>
                </a14:m>
                <a:endParaRPr lang="es-ES" dirty="0"/>
              </a:p>
              <a:p>
                <a:pPr lvl="1"/>
                <a:r>
                  <a:rPr lang="es-ES" dirty="0"/>
                  <a:t>En una variable aleatoria continua </a:t>
                </a:r>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b="0" i="1" smtClean="0">
                            <a:latin typeface="Cambria Math" panose="02040503050406030204" pitchFamily="18" charset="0"/>
                          </a:rPr>
                          <m:t>𝑋</m:t>
                        </m:r>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𝑥</m:t>
                        </m:r>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𝑋</m:t>
                        </m:r>
                        <m:r>
                          <a:rPr lang="es-ES" b="0" i="1" smtClean="0">
                            <a:latin typeface="Cambria Math" panose="02040503050406030204" pitchFamily="18" charset="0"/>
                          </a:rPr>
                          <m:t>&lt;</m:t>
                        </m:r>
                        <m:r>
                          <a:rPr lang="es-ES" i="1">
                            <a:latin typeface="Cambria Math" panose="02040503050406030204" pitchFamily="18" charset="0"/>
                          </a:rPr>
                          <m:t>𝑥</m:t>
                        </m:r>
                      </m:e>
                    </m:d>
                    <m:r>
                      <a:rPr lang="es-ES" i="1">
                        <a:latin typeface="Cambria Math" panose="02040503050406030204" pitchFamily="18" charset="0"/>
                      </a:rPr>
                      <m:t>=</m:t>
                    </m:r>
                    <m:r>
                      <a:rPr lang="es-ES" i="1">
                        <a:latin typeface="Cambria Math" panose="02040503050406030204" pitchFamily="18" charset="0"/>
                      </a:rPr>
                      <m:t>𝑞</m:t>
                    </m:r>
                  </m:oMath>
                </a14:m>
                <a:endParaRPr lang="es-ES" dirty="0"/>
              </a:p>
              <a:p>
                <a:pPr lvl="1"/>
                <a:r>
                  <a:rPr lang="es-ES" dirty="0"/>
                  <a:t>Un cuantil q equivale a un percentil qx100</a:t>
                </a:r>
              </a:p>
              <a:p>
                <a:pPr lvl="1"/>
                <a:endParaRPr lang="es-ES" dirty="0"/>
              </a:p>
              <a:p>
                <a:pPr lvl="1"/>
                <a:endParaRPr lang="es-ES" dirty="0"/>
              </a:p>
              <a:p>
                <a:pPr lvl="1"/>
                <a:endParaRPr lang="es-ES" dirty="0"/>
              </a:p>
              <a:p>
                <a:pPr lvl="2"/>
                <a:endParaRPr lang="es-ES" dirty="0"/>
              </a:p>
              <a:p>
                <a:pPr lvl="2"/>
                <a:endParaRPr lang="es-ES" dirty="0"/>
              </a:p>
              <a:p>
                <a:pPr marL="914400" lvl="2" indent="0">
                  <a:buNone/>
                </a:pPr>
                <a:endParaRPr lang="es-ES" dirty="0"/>
              </a:p>
              <a:p>
                <a:pPr lvl="1"/>
                <a:endParaRPr lang="es-ES" dirty="0"/>
              </a:p>
              <a:p>
                <a:pPr lvl="1"/>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77F31CED-754F-7768-0AAC-C07EDE8B0CD6}"/>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3"/>
                <a:stretch>
                  <a:fillRect l="-406" t="-211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23</a:t>
            </a:fld>
            <a:endParaRPr lang="es-ES" dirty="0"/>
          </a:p>
        </p:txBody>
      </p:sp>
    </p:spTree>
    <p:extLst>
      <p:ext uri="{BB962C8B-B14F-4D97-AF65-F5344CB8AC3E}">
        <p14:creationId xmlns:p14="http://schemas.microsoft.com/office/powerpoint/2010/main" val="2221047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a:bodyPr>
          <a:lstStyle/>
          <a:p>
            <a:r>
              <a:rPr lang="es-ES" dirty="0"/>
              <a:t>6. Método general</a:t>
            </a:r>
            <a:br>
              <a:rPr lang="es-ES" dirty="0"/>
            </a:br>
            <a:r>
              <a:rPr lang="es-ES" dirty="0"/>
              <a:t>Interpretación gráfica con estandarización</a:t>
            </a:r>
          </a:p>
        </p:txBody>
      </p:sp>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24</a:t>
            </a:fld>
            <a:endParaRPr lang="es-ES" dirty="0"/>
          </a:p>
        </p:txBody>
      </p:sp>
      <p:pic>
        <p:nvPicPr>
          <p:cNvPr id="8" name="Imagen 7">
            <a:extLst>
              <a:ext uri="{FF2B5EF4-FFF2-40B4-BE49-F238E27FC236}">
                <a16:creationId xmlns:a16="http://schemas.microsoft.com/office/drawing/2014/main" id="{BAFFB360-030A-4250-D982-8F43AD71D8F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850072" y="2296160"/>
            <a:ext cx="8725579" cy="4060190"/>
          </a:xfrm>
          <a:prstGeom prst="rect">
            <a:avLst/>
          </a:prstGeom>
        </p:spPr>
      </p:pic>
      <p:sp>
        <p:nvSpPr>
          <p:cNvPr id="6" name="CuadroTexto 5">
            <a:extLst>
              <a:ext uri="{FF2B5EF4-FFF2-40B4-BE49-F238E27FC236}">
                <a16:creationId xmlns:a16="http://schemas.microsoft.com/office/drawing/2014/main" id="{CAEC661C-5C40-87C7-2126-B12906E6C4ED}"/>
              </a:ext>
              <a:ext uri="{C183D7F6-B498-43B3-948B-1728B52AA6E4}">
                <adec:decorative xmlns:adec="http://schemas.microsoft.com/office/drawing/2017/decorative" val="1"/>
              </a:ext>
            </a:extLst>
          </p:cNvPr>
          <p:cNvSpPr txBox="1"/>
          <p:nvPr/>
        </p:nvSpPr>
        <p:spPr>
          <a:xfrm>
            <a:off x="7726680" y="5379720"/>
            <a:ext cx="1236028" cy="492443"/>
          </a:xfrm>
          <a:prstGeom prst="rect">
            <a:avLst/>
          </a:prstGeom>
          <a:noFill/>
        </p:spPr>
        <p:txBody>
          <a:bodyPr wrap="square" lIns="0" tIns="0" rIns="0" bIns="0" rtlCol="0">
            <a:spAutoFit/>
          </a:bodyPr>
          <a:lstStyle/>
          <a:p>
            <a:r>
              <a:rPr lang="es-ES" sz="1600" dirty="0">
                <a:latin typeface="Cambria Math" panose="02040503050406030204" pitchFamily="18" charset="0"/>
                <a:ea typeface="Cambria Math" panose="02040503050406030204" pitchFamily="18" charset="0"/>
              </a:rPr>
              <a:t>=q(1−𝛼/2)</a:t>
            </a:r>
          </a:p>
          <a:p>
            <a:endParaRPr lang="es-ES" sz="1600" dirty="0">
              <a:latin typeface="Cambria Math" panose="02040503050406030204" pitchFamily="18" charset="0"/>
              <a:ea typeface="Cambria Math" panose="02040503050406030204" pitchFamily="18" charset="0"/>
            </a:endParaRPr>
          </a:p>
        </p:txBody>
      </p:sp>
      <p:sp>
        <p:nvSpPr>
          <p:cNvPr id="9" name="CuadroTexto 8">
            <a:extLst>
              <a:ext uri="{FF2B5EF4-FFF2-40B4-BE49-F238E27FC236}">
                <a16:creationId xmlns:a16="http://schemas.microsoft.com/office/drawing/2014/main" id="{D3256058-CD99-B46A-3918-B94238B0D063}"/>
              </a:ext>
              <a:ext uri="{C183D7F6-B498-43B3-948B-1728B52AA6E4}">
                <adec:decorative xmlns:adec="http://schemas.microsoft.com/office/drawing/2017/decorative" val="1"/>
              </a:ext>
            </a:extLst>
          </p:cNvPr>
          <p:cNvSpPr txBox="1"/>
          <p:nvPr/>
        </p:nvSpPr>
        <p:spPr>
          <a:xfrm>
            <a:off x="4945380" y="5394960"/>
            <a:ext cx="922020" cy="492443"/>
          </a:xfrm>
          <a:prstGeom prst="rect">
            <a:avLst/>
          </a:prstGeom>
          <a:noFill/>
        </p:spPr>
        <p:txBody>
          <a:bodyPr wrap="square" lIns="0" tIns="0" rIns="0" bIns="0" rtlCol="0">
            <a:spAutoFit/>
          </a:bodyPr>
          <a:lstStyle/>
          <a:p>
            <a:r>
              <a:rPr lang="es-ES" sz="1600" dirty="0">
                <a:latin typeface="Cambria Math" panose="02040503050406030204" pitchFamily="18" charset="0"/>
                <a:ea typeface="Cambria Math" panose="02040503050406030204" pitchFamily="18" charset="0"/>
              </a:rPr>
              <a:t>=q(𝛼/2)</a:t>
            </a:r>
          </a:p>
          <a:p>
            <a:endParaRPr lang="es-ES"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207133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a:bodyPr>
          <a:lstStyle/>
          <a:p>
            <a:r>
              <a:rPr lang="es-ES" dirty="0"/>
              <a:t>6. Método general</a:t>
            </a:r>
            <a:br>
              <a:rPr lang="es-ES" dirty="0"/>
            </a:br>
            <a:r>
              <a:rPr lang="es-ES" dirty="0"/>
              <a:t>Estandarización del estimador. Valores típicos</a:t>
            </a:r>
          </a:p>
        </p:txBody>
      </p:sp>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a:xfrm>
            <a:off x="838200" y="1825625"/>
            <a:ext cx="10515600" cy="4351338"/>
          </a:xfrm>
        </p:spPr>
        <p:txBody>
          <a:bodyPr>
            <a:normAutofit/>
          </a:bodyPr>
          <a:lstStyle/>
          <a:p>
            <a:r>
              <a:rPr lang="es-ES" dirty="0"/>
              <a:t>En los trabajos de inferencia estadística se utilizan habitualmente unos pocos valores de </a:t>
            </a:r>
            <a:r>
              <a:rPr lang="el-GR" dirty="0"/>
              <a:t>α</a:t>
            </a:r>
            <a:r>
              <a:rPr lang="es-ES" dirty="0"/>
              <a:t>, el más habitual es 0.05, correspondiente a un nivel de confianza de 0.95 o 95%</a:t>
            </a:r>
          </a:p>
          <a:p>
            <a:pPr lvl="1"/>
            <a:endParaRPr lang="es-ES" dirty="0"/>
          </a:p>
          <a:p>
            <a:pPr lvl="2"/>
            <a:endParaRPr lang="es-ES" dirty="0"/>
          </a:p>
          <a:p>
            <a:pPr lvl="2"/>
            <a:endParaRPr lang="es-ES" dirty="0"/>
          </a:p>
          <a:p>
            <a:pPr marL="914400" lvl="2" indent="0">
              <a:buNone/>
            </a:pPr>
            <a:endParaRPr lang="es-ES" dirty="0"/>
          </a:p>
          <a:p>
            <a:pPr lvl="1"/>
            <a:endParaRPr lang="es-ES" dirty="0"/>
          </a:p>
          <a:p>
            <a:pPr lvl="1"/>
            <a:endParaRPr lang="es-ES" dirty="0"/>
          </a:p>
          <a:p>
            <a:pPr lvl="1"/>
            <a:endParaRPr lang="es-ES" dirty="0"/>
          </a:p>
          <a:p>
            <a:pPr lvl="1"/>
            <a:endParaRPr lang="es-ES" dirty="0"/>
          </a:p>
          <a:p>
            <a:pPr lvl="1"/>
            <a:endParaRPr lang="es-ES" dirty="0"/>
          </a:p>
          <a:p>
            <a:endParaRPr lang="es-ES"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F5546D24-E327-2156-C08A-B41FF768CE68}"/>
                  </a:ext>
                </a:extLst>
              </p:cNvPr>
              <p:cNvGraphicFramePr>
                <a:graphicFrameLocks noGrp="1"/>
              </p:cNvGraphicFramePr>
              <p:nvPr>
                <p:extLst>
                  <p:ext uri="{D42A27DB-BD31-4B8C-83A1-F6EECF244321}">
                    <p14:modId xmlns:p14="http://schemas.microsoft.com/office/powerpoint/2010/main" val="4176774427"/>
                  </p:ext>
                </p:extLst>
              </p:nvPr>
            </p:nvGraphicFramePr>
            <p:xfrm>
              <a:off x="3048000" y="3429000"/>
              <a:ext cx="6096000" cy="186163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271561433"/>
                        </a:ext>
                      </a:extLst>
                    </a:gridCol>
                    <a:gridCol w="2032000">
                      <a:extLst>
                        <a:ext uri="{9D8B030D-6E8A-4147-A177-3AD203B41FA5}">
                          <a16:colId xmlns:a16="http://schemas.microsoft.com/office/drawing/2014/main" val="2434707493"/>
                        </a:ext>
                      </a:extLst>
                    </a:gridCol>
                    <a:gridCol w="2032000">
                      <a:extLst>
                        <a:ext uri="{9D8B030D-6E8A-4147-A177-3AD203B41FA5}">
                          <a16:colId xmlns:a16="http://schemas.microsoft.com/office/drawing/2014/main" val="429868456"/>
                        </a:ext>
                      </a:extLst>
                    </a:gridCol>
                  </a:tblGrid>
                  <a:tr h="370840">
                    <a:tc>
                      <a:txBody>
                        <a:bodyPr/>
                        <a:lstStyle/>
                        <a:p>
                          <a:pPr/>
                          <a14:m>
                            <m:oMathPara xmlns:m="http://schemas.openxmlformats.org/officeDocument/2006/math">
                              <m:oMathParaPr>
                                <m:jc m:val="centerGroup"/>
                              </m:oMathParaPr>
                              <m:oMath xmlns:m="http://schemas.openxmlformats.org/officeDocument/2006/math">
                                <m:r>
                                  <a:rPr lang="es-ES" sz="2400" b="1" i="1" smtClean="0">
                                    <a:latin typeface="Cambria Math" panose="02040503050406030204" pitchFamily="18" charset="0"/>
                                    <a:ea typeface="Cambria Math" panose="02040503050406030204" pitchFamily="18" charset="0"/>
                                  </a:rPr>
                                  <m:t>𝟏</m:t>
                                </m:r>
                                <m:r>
                                  <a:rPr lang="es-ES" sz="2400" b="1" i="1" smtClean="0">
                                    <a:latin typeface="Cambria Math" panose="02040503050406030204" pitchFamily="18" charset="0"/>
                                    <a:ea typeface="Cambria Math" panose="02040503050406030204" pitchFamily="18" charset="0"/>
                                  </a:rPr>
                                  <m:t>−</m:t>
                                </m:r>
                                <m:r>
                                  <a:rPr lang="es-ES" sz="2400" b="1" i="1" smtClean="0">
                                    <a:latin typeface="Cambria Math" panose="02040503050406030204" pitchFamily="18" charset="0"/>
                                    <a:ea typeface="Cambria Math" panose="02040503050406030204" pitchFamily="18" charset="0"/>
                                  </a:rPr>
                                  <m:t>𝜶</m:t>
                                </m:r>
                              </m:oMath>
                            </m:oMathPara>
                          </a14:m>
                          <a:endParaRPr lang="es-ES" sz="2400" b="1"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ES" sz="2400" b="1" i="1" smtClean="0">
                                    <a:latin typeface="Cambria Math" panose="02040503050406030204" pitchFamily="18" charset="0"/>
                                    <a:ea typeface="Cambria Math" panose="02040503050406030204" pitchFamily="18" charset="0"/>
                                  </a:rPr>
                                  <m:t>𝜶</m:t>
                                </m:r>
                              </m:oMath>
                            </m:oMathPara>
                          </a14:m>
                          <a:endParaRPr lang="es-ES" sz="2400" b="1" dirty="0"/>
                        </a:p>
                      </a:txBody>
                      <a:tcPr>
                        <a:solidFill>
                          <a:schemeClr val="bg1">
                            <a:lumMod val="85000"/>
                          </a:schemeClr>
                        </a:solidFill>
                      </a:tcPr>
                    </a:tc>
                    <a:tc>
                      <a:txBody>
                        <a:bodyPr/>
                        <a:lstStyle/>
                        <a:p>
                          <a:pPr/>
                          <a14:m>
                            <m:oMathPara xmlns:m="http://schemas.openxmlformats.org/officeDocument/2006/math">
                              <m:oMathParaPr>
                                <m:jc m:val="centerGroup"/>
                              </m:oMathParaPr>
                              <m:oMath xmlns:m="http://schemas.openxmlformats.org/officeDocument/2006/math">
                                <m:sSub>
                                  <m:sSubPr>
                                    <m:ctrlPr>
                                      <a:rPr lang="es-ES" sz="2400" b="1" i="1" smtClean="0">
                                        <a:latin typeface="Cambria Math" panose="02040503050406030204" pitchFamily="18" charset="0"/>
                                      </a:rPr>
                                    </m:ctrlPr>
                                  </m:sSubPr>
                                  <m:e>
                                    <m:r>
                                      <a:rPr lang="es-ES" sz="2400" b="1" i="1">
                                        <a:latin typeface="Cambria Math" panose="02040503050406030204" pitchFamily="18" charset="0"/>
                                      </a:rPr>
                                      <m:t>𝒛</m:t>
                                    </m:r>
                                  </m:e>
                                  <m:sub>
                                    <m:r>
                                      <a:rPr lang="es-ES" sz="2400" b="1" i="1">
                                        <a:latin typeface="Cambria Math" panose="02040503050406030204" pitchFamily="18" charset="0"/>
                                        <a:ea typeface="Cambria Math" panose="02040503050406030204" pitchFamily="18" charset="0"/>
                                      </a:rPr>
                                      <m:t>𝜶</m:t>
                                    </m:r>
                                    <m:r>
                                      <a:rPr lang="es-ES" sz="2400" b="1" i="1">
                                        <a:latin typeface="Cambria Math" panose="02040503050406030204" pitchFamily="18" charset="0"/>
                                        <a:ea typeface="Cambria Math" panose="02040503050406030204" pitchFamily="18" charset="0"/>
                                      </a:rPr>
                                      <m:t>/</m:t>
                                    </m:r>
                                    <m:r>
                                      <a:rPr lang="es-ES" sz="2400" b="1" i="1">
                                        <a:latin typeface="Cambria Math" panose="02040503050406030204" pitchFamily="18" charset="0"/>
                                        <a:ea typeface="Cambria Math" panose="02040503050406030204" pitchFamily="18" charset="0"/>
                                      </a:rPr>
                                      <m:t>𝟐</m:t>
                                    </m:r>
                                  </m:sub>
                                </m:sSub>
                              </m:oMath>
                            </m:oMathPara>
                          </a14:m>
                          <a:endParaRPr lang="es-ES" sz="2400" b="1" dirty="0"/>
                        </a:p>
                      </a:txBody>
                      <a:tcPr>
                        <a:solidFill>
                          <a:schemeClr val="bg1">
                            <a:lumMod val="85000"/>
                          </a:schemeClr>
                        </a:solidFill>
                      </a:tcPr>
                    </a:tc>
                    <a:extLst>
                      <a:ext uri="{0D108BD9-81ED-4DB2-BD59-A6C34878D82A}">
                        <a16:rowId xmlns:a16="http://schemas.microsoft.com/office/drawing/2014/main" val="3881323401"/>
                      </a:ext>
                    </a:extLst>
                  </a:tr>
                  <a:tr h="370840">
                    <a:tc>
                      <a:txBody>
                        <a:bodyPr/>
                        <a:lstStyle/>
                        <a:p>
                          <a:pPr algn="ctr"/>
                          <a:r>
                            <a:rPr lang="es-ES" sz="2400" dirty="0"/>
                            <a:t>0.90</a:t>
                          </a:r>
                        </a:p>
                      </a:txBody>
                      <a:tcPr/>
                    </a:tc>
                    <a:tc>
                      <a:txBody>
                        <a:bodyPr/>
                        <a:lstStyle/>
                        <a:p>
                          <a:pPr algn="ctr"/>
                          <a:r>
                            <a:rPr lang="es-ES" sz="2400" dirty="0"/>
                            <a:t>0.10</a:t>
                          </a:r>
                        </a:p>
                      </a:txBody>
                      <a:tcPr/>
                    </a:tc>
                    <a:tc>
                      <a:txBody>
                        <a:bodyPr/>
                        <a:lstStyle/>
                        <a:p>
                          <a:pPr algn="ctr"/>
                          <a:r>
                            <a:rPr lang="es-ES" sz="2400" dirty="0"/>
                            <a:t>1.64</a:t>
                          </a:r>
                        </a:p>
                      </a:txBody>
                      <a:tcPr/>
                    </a:tc>
                    <a:extLst>
                      <a:ext uri="{0D108BD9-81ED-4DB2-BD59-A6C34878D82A}">
                        <a16:rowId xmlns:a16="http://schemas.microsoft.com/office/drawing/2014/main" val="2286689689"/>
                      </a:ext>
                    </a:extLst>
                  </a:tr>
                  <a:tr h="370840">
                    <a:tc>
                      <a:txBody>
                        <a:bodyPr/>
                        <a:lstStyle/>
                        <a:p>
                          <a:pPr algn="ctr"/>
                          <a:r>
                            <a:rPr lang="es-ES" sz="2400" dirty="0"/>
                            <a:t>0.95</a:t>
                          </a:r>
                        </a:p>
                      </a:txBody>
                      <a:tcPr/>
                    </a:tc>
                    <a:tc>
                      <a:txBody>
                        <a:bodyPr/>
                        <a:lstStyle/>
                        <a:p>
                          <a:pPr algn="ctr"/>
                          <a:r>
                            <a:rPr lang="es-ES" sz="2400" dirty="0"/>
                            <a:t>0.05</a:t>
                          </a:r>
                        </a:p>
                      </a:txBody>
                      <a:tcPr/>
                    </a:tc>
                    <a:tc>
                      <a:txBody>
                        <a:bodyPr/>
                        <a:lstStyle/>
                        <a:p>
                          <a:pPr algn="ctr"/>
                          <a:r>
                            <a:rPr lang="es-ES" sz="2400" dirty="0"/>
                            <a:t>1.96</a:t>
                          </a:r>
                        </a:p>
                      </a:txBody>
                      <a:tcPr/>
                    </a:tc>
                    <a:extLst>
                      <a:ext uri="{0D108BD9-81ED-4DB2-BD59-A6C34878D82A}">
                        <a16:rowId xmlns:a16="http://schemas.microsoft.com/office/drawing/2014/main" val="3237964600"/>
                      </a:ext>
                    </a:extLst>
                  </a:tr>
                  <a:tr h="370840">
                    <a:tc>
                      <a:txBody>
                        <a:bodyPr/>
                        <a:lstStyle/>
                        <a:p>
                          <a:pPr algn="ctr"/>
                          <a:r>
                            <a:rPr lang="es-ES" sz="2400" dirty="0"/>
                            <a:t>0.99</a:t>
                          </a:r>
                        </a:p>
                      </a:txBody>
                      <a:tcPr/>
                    </a:tc>
                    <a:tc>
                      <a:txBody>
                        <a:bodyPr/>
                        <a:lstStyle/>
                        <a:p>
                          <a:pPr algn="ctr"/>
                          <a:r>
                            <a:rPr lang="es-ES" sz="2400" dirty="0"/>
                            <a:t>0.01</a:t>
                          </a:r>
                        </a:p>
                      </a:txBody>
                      <a:tcPr/>
                    </a:tc>
                    <a:tc>
                      <a:txBody>
                        <a:bodyPr/>
                        <a:lstStyle/>
                        <a:p>
                          <a:pPr algn="ctr"/>
                          <a:r>
                            <a:rPr lang="es-ES" sz="2400" dirty="0"/>
                            <a:t>2.58</a:t>
                          </a:r>
                        </a:p>
                      </a:txBody>
                      <a:tcPr/>
                    </a:tc>
                    <a:extLst>
                      <a:ext uri="{0D108BD9-81ED-4DB2-BD59-A6C34878D82A}">
                        <a16:rowId xmlns:a16="http://schemas.microsoft.com/office/drawing/2014/main" val="1171671939"/>
                      </a:ext>
                    </a:extLst>
                  </a:tr>
                </a:tbl>
              </a:graphicData>
            </a:graphic>
          </p:graphicFrame>
        </mc:Choice>
        <mc:Fallback xmlns="">
          <p:graphicFrame>
            <p:nvGraphicFramePr>
              <p:cNvPr id="5" name="Tabla 5">
                <a:extLst>
                  <a:ext uri="{FF2B5EF4-FFF2-40B4-BE49-F238E27FC236}">
                    <a16:creationId xmlns:a16="http://schemas.microsoft.com/office/drawing/2014/main" id="{F5546D24-E327-2156-C08A-B41FF768CE68}"/>
                  </a:ext>
                </a:extLst>
              </p:cNvPr>
              <p:cNvGraphicFramePr>
                <a:graphicFrameLocks noGrp="1"/>
              </p:cNvGraphicFramePr>
              <p:nvPr>
                <p:extLst>
                  <p:ext uri="{D42A27DB-BD31-4B8C-83A1-F6EECF244321}">
                    <p14:modId xmlns:p14="http://schemas.microsoft.com/office/powerpoint/2010/main" val="4176774427"/>
                  </p:ext>
                </p:extLst>
              </p:nvPr>
            </p:nvGraphicFramePr>
            <p:xfrm>
              <a:off x="3048000" y="3429000"/>
              <a:ext cx="6096000" cy="186163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2271561433"/>
                        </a:ext>
                      </a:extLst>
                    </a:gridCol>
                    <a:gridCol w="2032000">
                      <a:extLst>
                        <a:ext uri="{9D8B030D-6E8A-4147-A177-3AD203B41FA5}">
                          <a16:colId xmlns:a16="http://schemas.microsoft.com/office/drawing/2014/main" val="2434707493"/>
                        </a:ext>
                      </a:extLst>
                    </a:gridCol>
                    <a:gridCol w="2032000">
                      <a:extLst>
                        <a:ext uri="{9D8B030D-6E8A-4147-A177-3AD203B41FA5}">
                          <a16:colId xmlns:a16="http://schemas.microsoft.com/office/drawing/2014/main" val="429868456"/>
                        </a:ext>
                      </a:extLst>
                    </a:gridCol>
                  </a:tblGrid>
                  <a:tr h="490030">
                    <a:tc>
                      <a:txBody>
                        <a:bodyPr/>
                        <a:lstStyle/>
                        <a:p>
                          <a:endParaRPr lang="es-ES"/>
                        </a:p>
                      </a:txBody>
                      <a:tcPr>
                        <a:blipFill>
                          <a:blip r:embed="rId2"/>
                          <a:stretch>
                            <a:fillRect l="-601" t="-1235" r="-201201" b="-306173"/>
                          </a:stretch>
                        </a:blipFill>
                      </a:tcPr>
                    </a:tc>
                    <a:tc>
                      <a:txBody>
                        <a:bodyPr/>
                        <a:lstStyle/>
                        <a:p>
                          <a:endParaRPr lang="es-ES"/>
                        </a:p>
                      </a:txBody>
                      <a:tcPr>
                        <a:blipFill>
                          <a:blip r:embed="rId2"/>
                          <a:stretch>
                            <a:fillRect l="-100299" t="-1235" r="-100599" b="-306173"/>
                          </a:stretch>
                        </a:blipFill>
                      </a:tcPr>
                    </a:tc>
                    <a:tc>
                      <a:txBody>
                        <a:bodyPr/>
                        <a:lstStyle/>
                        <a:p>
                          <a:endParaRPr lang="es-ES"/>
                        </a:p>
                      </a:txBody>
                      <a:tcPr>
                        <a:blipFill>
                          <a:blip r:embed="rId2"/>
                          <a:stretch>
                            <a:fillRect l="-200901" t="-1235" r="-901" b="-306173"/>
                          </a:stretch>
                        </a:blipFill>
                      </a:tcPr>
                    </a:tc>
                    <a:extLst>
                      <a:ext uri="{0D108BD9-81ED-4DB2-BD59-A6C34878D82A}">
                        <a16:rowId xmlns:a16="http://schemas.microsoft.com/office/drawing/2014/main" val="3881323401"/>
                      </a:ext>
                    </a:extLst>
                  </a:tr>
                  <a:tr h="457200">
                    <a:tc>
                      <a:txBody>
                        <a:bodyPr/>
                        <a:lstStyle/>
                        <a:p>
                          <a:pPr algn="ctr"/>
                          <a:r>
                            <a:rPr lang="es-ES" sz="2400" dirty="0"/>
                            <a:t>0.90</a:t>
                          </a:r>
                        </a:p>
                      </a:txBody>
                      <a:tcPr/>
                    </a:tc>
                    <a:tc>
                      <a:txBody>
                        <a:bodyPr/>
                        <a:lstStyle/>
                        <a:p>
                          <a:pPr algn="ctr"/>
                          <a:r>
                            <a:rPr lang="es-ES" sz="2400" dirty="0"/>
                            <a:t>0.10</a:t>
                          </a:r>
                        </a:p>
                      </a:txBody>
                      <a:tcPr/>
                    </a:tc>
                    <a:tc>
                      <a:txBody>
                        <a:bodyPr/>
                        <a:lstStyle/>
                        <a:p>
                          <a:pPr algn="ctr"/>
                          <a:r>
                            <a:rPr lang="es-ES" sz="2400" dirty="0"/>
                            <a:t>1.64</a:t>
                          </a:r>
                        </a:p>
                      </a:txBody>
                      <a:tcPr/>
                    </a:tc>
                    <a:extLst>
                      <a:ext uri="{0D108BD9-81ED-4DB2-BD59-A6C34878D82A}">
                        <a16:rowId xmlns:a16="http://schemas.microsoft.com/office/drawing/2014/main" val="2286689689"/>
                      </a:ext>
                    </a:extLst>
                  </a:tr>
                  <a:tr h="457200">
                    <a:tc>
                      <a:txBody>
                        <a:bodyPr/>
                        <a:lstStyle/>
                        <a:p>
                          <a:pPr algn="ctr"/>
                          <a:r>
                            <a:rPr lang="es-ES" sz="2400" dirty="0"/>
                            <a:t>0.95</a:t>
                          </a:r>
                        </a:p>
                      </a:txBody>
                      <a:tcPr/>
                    </a:tc>
                    <a:tc>
                      <a:txBody>
                        <a:bodyPr/>
                        <a:lstStyle/>
                        <a:p>
                          <a:pPr algn="ctr"/>
                          <a:r>
                            <a:rPr lang="es-ES" sz="2400" dirty="0"/>
                            <a:t>0.05</a:t>
                          </a:r>
                        </a:p>
                      </a:txBody>
                      <a:tcPr/>
                    </a:tc>
                    <a:tc>
                      <a:txBody>
                        <a:bodyPr/>
                        <a:lstStyle/>
                        <a:p>
                          <a:pPr algn="ctr"/>
                          <a:r>
                            <a:rPr lang="es-ES" sz="2400" dirty="0"/>
                            <a:t>1.96</a:t>
                          </a:r>
                        </a:p>
                      </a:txBody>
                      <a:tcPr/>
                    </a:tc>
                    <a:extLst>
                      <a:ext uri="{0D108BD9-81ED-4DB2-BD59-A6C34878D82A}">
                        <a16:rowId xmlns:a16="http://schemas.microsoft.com/office/drawing/2014/main" val="3237964600"/>
                      </a:ext>
                    </a:extLst>
                  </a:tr>
                  <a:tr h="457200">
                    <a:tc>
                      <a:txBody>
                        <a:bodyPr/>
                        <a:lstStyle/>
                        <a:p>
                          <a:pPr algn="ctr"/>
                          <a:r>
                            <a:rPr lang="es-ES" sz="2400" dirty="0"/>
                            <a:t>0.99</a:t>
                          </a:r>
                        </a:p>
                      </a:txBody>
                      <a:tcPr/>
                    </a:tc>
                    <a:tc>
                      <a:txBody>
                        <a:bodyPr/>
                        <a:lstStyle/>
                        <a:p>
                          <a:pPr algn="ctr"/>
                          <a:r>
                            <a:rPr lang="es-ES" sz="2400" dirty="0"/>
                            <a:t>0.01</a:t>
                          </a:r>
                        </a:p>
                      </a:txBody>
                      <a:tcPr/>
                    </a:tc>
                    <a:tc>
                      <a:txBody>
                        <a:bodyPr/>
                        <a:lstStyle/>
                        <a:p>
                          <a:pPr algn="ctr"/>
                          <a:r>
                            <a:rPr lang="es-ES" sz="2400" dirty="0"/>
                            <a:t>2.58</a:t>
                          </a:r>
                        </a:p>
                      </a:txBody>
                      <a:tcPr/>
                    </a:tc>
                    <a:extLst>
                      <a:ext uri="{0D108BD9-81ED-4DB2-BD59-A6C34878D82A}">
                        <a16:rowId xmlns:a16="http://schemas.microsoft.com/office/drawing/2014/main" val="1171671939"/>
                      </a:ext>
                    </a:extLst>
                  </a:tr>
                </a:tbl>
              </a:graphicData>
            </a:graphic>
          </p:graphicFrame>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25</a:t>
            </a:fld>
            <a:endParaRPr lang="es-ES" dirty="0"/>
          </a:p>
        </p:txBody>
      </p:sp>
    </p:spTree>
    <p:extLst>
      <p:ext uri="{BB962C8B-B14F-4D97-AF65-F5344CB8AC3E}">
        <p14:creationId xmlns:p14="http://schemas.microsoft.com/office/powerpoint/2010/main" val="2087693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lstStyle/>
          <a:p>
            <a:r>
              <a:rPr lang="es-ES" dirty="0"/>
              <a:t>7. Intervalo de confianza para la media poblacional </a:t>
            </a:r>
          </a:p>
        </p:txBody>
      </p:sp>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p:txBody>
          <a:bodyPr>
            <a:normAutofit fontScale="92500" lnSpcReduction="10000"/>
          </a:bodyPr>
          <a:lstStyle/>
          <a:p>
            <a:r>
              <a:rPr lang="es-ES" dirty="0"/>
              <a:t>Casos posibles</a:t>
            </a:r>
          </a:p>
          <a:p>
            <a:pPr lvl="1"/>
            <a:r>
              <a:rPr lang="es-ES" dirty="0"/>
              <a:t>Varianza poblacional conocida </a:t>
            </a:r>
            <a:r>
              <a:rPr lang="es-ES" dirty="0">
                <a:sym typeface="Wingdings" panose="05000000000000000000" pitchFamily="2" charset="2"/>
              </a:rPr>
              <a:t> Se utiliza un estimador con distribución Normal</a:t>
            </a:r>
            <a:endParaRPr lang="es-ES" dirty="0"/>
          </a:p>
          <a:p>
            <a:pPr lvl="1"/>
            <a:r>
              <a:rPr lang="es-ES" dirty="0"/>
              <a:t>Varianza poblacional desconocida</a:t>
            </a:r>
          </a:p>
          <a:p>
            <a:pPr lvl="2"/>
            <a:r>
              <a:rPr lang="es-ES" dirty="0"/>
              <a:t>Muestra grande </a:t>
            </a:r>
            <a:r>
              <a:rPr lang="es-ES" dirty="0">
                <a:sym typeface="Wingdings" panose="05000000000000000000" pitchFamily="2" charset="2"/>
              </a:rPr>
              <a:t> Se utiliza un estimador con distribución Normal</a:t>
            </a:r>
            <a:endParaRPr lang="es-ES" dirty="0"/>
          </a:p>
          <a:p>
            <a:pPr lvl="2"/>
            <a:r>
              <a:rPr lang="es-ES" dirty="0"/>
              <a:t>Muestra pequeña, con distribución Normal de los datos de la población </a:t>
            </a:r>
            <a:r>
              <a:rPr lang="es-ES" dirty="0">
                <a:sym typeface="Wingdings" panose="05000000000000000000" pitchFamily="2" charset="2"/>
              </a:rPr>
              <a:t> Se utiliza un estimador con distribución T de </a:t>
            </a:r>
            <a:r>
              <a:rPr lang="es-ES" dirty="0" err="1">
                <a:sym typeface="Wingdings" panose="05000000000000000000" pitchFamily="2" charset="2"/>
              </a:rPr>
              <a:t>Student</a:t>
            </a:r>
            <a:endParaRPr lang="es-ES" dirty="0"/>
          </a:p>
          <a:p>
            <a:pPr lvl="2"/>
            <a:r>
              <a:rPr lang="es-ES" dirty="0"/>
              <a:t>Muestra pequeña, sin distribución Normal de la población o desconocida </a:t>
            </a:r>
            <a:r>
              <a:rPr lang="es-ES" dirty="0">
                <a:sym typeface="Wingdings" panose="05000000000000000000" pitchFamily="2" charset="2"/>
              </a:rPr>
              <a:t> Se aplican técnicas de inferencia no paramétrica (ver capítulo 10.2 del libro) </a:t>
            </a:r>
            <a:endParaRPr lang="es-ES" dirty="0"/>
          </a:p>
          <a:p>
            <a:r>
              <a:rPr lang="es-ES" dirty="0"/>
              <a:t>Notas</a:t>
            </a:r>
          </a:p>
          <a:p>
            <a:pPr lvl="1"/>
            <a:r>
              <a:rPr lang="es-ES" dirty="0"/>
              <a:t>Una muestra se suele considerar grande cuando el tamaño es n≥30 o n&gt;30 (no hay unanimidad)</a:t>
            </a:r>
          </a:p>
          <a:p>
            <a:pPr lvl="1"/>
            <a:r>
              <a:rPr lang="es-ES" dirty="0"/>
              <a:t>La condición de normalidad se aplica a la población, si no se dispone de esa información, puede </a:t>
            </a:r>
            <a:r>
              <a:rPr lang="es-ES"/>
              <a:t>comprobarse </a:t>
            </a:r>
            <a:r>
              <a:rPr lang="es-ES">
                <a:hlinkClick r:id="rId2"/>
              </a:rPr>
              <a:t>la </a:t>
            </a:r>
            <a:r>
              <a:rPr lang="es-ES" dirty="0">
                <a:hlinkClick r:id="rId2"/>
              </a:rPr>
              <a:t>normalidad de la muestra</a:t>
            </a:r>
            <a:r>
              <a:rPr lang="es-ES" dirty="0"/>
              <a:t>, aunque no sea del todo fiable, combinando métodos analíticos y </a:t>
            </a:r>
            <a:r>
              <a:rPr lang="es-ES"/>
              <a:t>métodos gráficos</a:t>
            </a:r>
            <a:endParaRPr lang="es-ES" dirty="0"/>
          </a:p>
          <a:p>
            <a:pPr lvl="1"/>
            <a:endParaRPr lang="es-ES" dirty="0"/>
          </a:p>
          <a:p>
            <a:endParaRPr lang="es-ES" dirty="0"/>
          </a:p>
        </p:txBody>
      </p:sp>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26</a:t>
            </a:fld>
            <a:endParaRPr lang="es-ES" dirty="0"/>
          </a:p>
        </p:txBody>
      </p:sp>
    </p:spTree>
    <p:extLst>
      <p:ext uri="{BB962C8B-B14F-4D97-AF65-F5344CB8AC3E}">
        <p14:creationId xmlns:p14="http://schemas.microsoft.com/office/powerpoint/2010/main" val="2477087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7CE99-314E-E488-6849-91EB1AE31190}"/>
              </a:ext>
            </a:extLst>
          </p:cNvPr>
          <p:cNvSpPr>
            <a:spLocks noGrp="1"/>
          </p:cNvSpPr>
          <p:nvPr>
            <p:ph type="title"/>
          </p:nvPr>
        </p:nvSpPr>
        <p:spPr/>
        <p:txBody>
          <a:bodyPr>
            <a:normAutofit/>
          </a:bodyPr>
          <a:lstStyle/>
          <a:p>
            <a:r>
              <a:rPr lang="es-ES" dirty="0"/>
              <a:t>7. Intervalo de confianza para la media poblacional. Fórmulas</a:t>
            </a: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605633847"/>
                  </p:ext>
                </p:extLst>
              </p:nvPr>
            </p:nvGraphicFramePr>
            <p:xfrm>
              <a:off x="838200" y="1825625"/>
              <a:ext cx="10515597" cy="4866323"/>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370840">
                    <a:tc>
                      <a:txBody>
                        <a:bodyPr/>
                        <a:lstStyle/>
                        <a:p>
                          <a:pPr algn="ctr"/>
                          <a:r>
                            <a:rPr lang="es-ES" b="1" dirty="0"/>
                            <a:t>Se conoce la varianza poblacional (</a:t>
                          </a:r>
                          <a14:m>
                            <m:oMath xmlns:m="http://schemas.openxmlformats.org/officeDocument/2006/math">
                              <m:sSup>
                                <m:sSupPr>
                                  <m:ctrlPr>
                                    <a:rPr lang="es-ES" b="1" i="1" smtClean="0">
                                      <a:latin typeface="Cambria Math" panose="02040503050406030204" pitchFamily="18" charset="0"/>
                                    </a:rPr>
                                  </m:ctrlPr>
                                </m:sSupPr>
                                <m:e>
                                  <m:r>
                                    <a:rPr lang="es-ES" b="1" i="1" smtClean="0">
                                      <a:latin typeface="Cambria Math" panose="02040503050406030204" pitchFamily="18" charset="0"/>
                                      <a:ea typeface="Cambria Math" panose="02040503050406030204" pitchFamily="18" charset="0"/>
                                    </a:rPr>
                                    <m:t>𝝈</m:t>
                                  </m:r>
                                </m:e>
                                <m:sup>
                                  <m:r>
                                    <a:rPr lang="es-ES" b="1" i="1" smtClean="0">
                                      <a:latin typeface="Cambria Math" panose="02040503050406030204" pitchFamily="18" charset="0"/>
                                    </a:rPr>
                                    <m:t>𝟐</m:t>
                                  </m:r>
                                </m:sup>
                              </m:sSup>
                            </m:oMath>
                          </a14:m>
                          <a:r>
                            <a:rPr lang="es-ES" b="1" dirty="0"/>
                            <a:t>)</a:t>
                          </a:r>
                        </a:p>
                      </a:txBody>
                      <a:tcPr>
                        <a:solidFill>
                          <a:schemeClr val="bg1">
                            <a:lumMod val="85000"/>
                          </a:schemeClr>
                        </a:solid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dirty="0"/>
                            <a:t>Si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dirty="0"/>
                            <a:t>Cualquiera</a:t>
                          </a:r>
                        </a:p>
                        <a:p>
                          <a:pPr algn="ctr"/>
                          <a:endParaRPr lang="es-ES" dirty="0"/>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𝜎</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𝜎</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txBody>
                      <a:tcPr anchor="ctr"/>
                    </a:tc>
                    <a:extLst>
                      <a:ext uri="{0D108BD9-81ED-4DB2-BD59-A6C34878D82A}">
                        <a16:rowId xmlns:a16="http://schemas.microsoft.com/office/drawing/2014/main" val="947291719"/>
                      </a:ext>
                    </a:extLst>
                  </a:tr>
                  <a:tr h="370840">
                    <a:tc>
                      <a:txBody>
                        <a:bodyPr/>
                        <a:lstStyle/>
                        <a:p>
                          <a:pPr algn="ctr"/>
                          <a:r>
                            <a:rPr lang="es-ES" dirty="0"/>
                            <a:t>No</a:t>
                          </a:r>
                        </a:p>
                      </a:txBody>
                      <a:tcPr anchor="ctr"/>
                    </a:tc>
                    <a:tc>
                      <a:txBody>
                        <a:bodyPr/>
                        <a:lstStyle/>
                        <a:p>
                          <a:pPr algn="ctr"/>
                          <a:r>
                            <a:rPr lang="es-ES" dirty="0"/>
                            <a:t>Grande</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txBody>
                      <a:tcPr anchor="ctr"/>
                    </a:tc>
                    <a:extLst>
                      <a:ext uri="{0D108BD9-81ED-4DB2-BD59-A6C34878D82A}">
                        <a16:rowId xmlns:a16="http://schemas.microsoft.com/office/drawing/2014/main" val="176150309"/>
                      </a:ext>
                    </a:extLst>
                  </a:tr>
                  <a:tr h="370840">
                    <a:tc>
                      <a:txBody>
                        <a:bodyPr/>
                        <a:lstStyle/>
                        <a:p>
                          <a:pPr algn="ctr"/>
                          <a:r>
                            <a:rPr lang="es-ES" dirty="0"/>
                            <a:t>No</a:t>
                          </a:r>
                        </a:p>
                      </a:txBody>
                      <a:tcPr anchor="ctr"/>
                    </a:tc>
                    <a:tc>
                      <a:txBody>
                        <a:bodyPr/>
                        <a:lstStyle/>
                        <a:p>
                          <a:pPr algn="ctr"/>
                          <a:r>
                            <a:rPr lang="es-ES" dirty="0"/>
                            <a:t>Pequeña con distribución Normal</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txBody>
                      <a:tcPr anchor="ctr"/>
                    </a:tc>
                    <a:extLst>
                      <a:ext uri="{0D108BD9-81ED-4DB2-BD59-A6C34878D82A}">
                        <a16:rowId xmlns:a16="http://schemas.microsoft.com/office/drawing/2014/main" val="2866538668"/>
                      </a:ext>
                    </a:extLst>
                  </a:tr>
                </a:tbl>
              </a:graphicData>
            </a:graphic>
          </p:graphicFrame>
        </mc:Choice>
        <mc:Fallback xmlns="">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605633847"/>
                  </p:ext>
                </p:extLst>
              </p:nvPr>
            </p:nvGraphicFramePr>
            <p:xfrm>
              <a:off x="838200" y="1825625"/>
              <a:ext cx="10515597" cy="4866323"/>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646240">
                    <a:tc>
                      <a:txBody>
                        <a:bodyPr/>
                        <a:lstStyle/>
                        <a:p>
                          <a:endParaRPr lang="es-ES"/>
                        </a:p>
                      </a:txBody>
                      <a:tcPr>
                        <a:blipFill>
                          <a:blip r:embed="rId2"/>
                          <a:stretch>
                            <a:fillRect l="-253" t="-4717" r="-336364" b="-655660"/>
                          </a:stretch>
                        </a:blip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1404239">
                    <a:tc>
                      <a:txBody>
                        <a:bodyPr/>
                        <a:lstStyle/>
                        <a:p>
                          <a:pPr algn="ctr"/>
                          <a:r>
                            <a:rPr lang="es-ES" dirty="0"/>
                            <a:t>Si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dirty="0"/>
                            <a:t>Cualquiera</a:t>
                          </a:r>
                        </a:p>
                        <a:p>
                          <a:pPr algn="ctr"/>
                          <a:endParaRPr lang="es-ES" dirty="0"/>
                        </a:p>
                      </a:txBody>
                      <a:tcPr anchor="ctr"/>
                    </a:tc>
                    <a:tc>
                      <a:txBody>
                        <a:bodyPr/>
                        <a:lstStyle/>
                        <a:p>
                          <a:endParaRPr lang="es-ES"/>
                        </a:p>
                      </a:txBody>
                      <a:tcPr anchor="ctr">
                        <a:blipFill>
                          <a:blip r:embed="rId2"/>
                          <a:stretch>
                            <a:fillRect l="-64476" t="-48052" r="-190" b="-200866"/>
                          </a:stretch>
                        </a:blipFill>
                      </a:tcPr>
                    </a:tc>
                    <a:extLst>
                      <a:ext uri="{0D108BD9-81ED-4DB2-BD59-A6C34878D82A}">
                        <a16:rowId xmlns:a16="http://schemas.microsoft.com/office/drawing/2014/main" val="947291719"/>
                      </a:ext>
                    </a:extLst>
                  </a:tr>
                  <a:tr h="1407922">
                    <a:tc>
                      <a:txBody>
                        <a:bodyPr/>
                        <a:lstStyle/>
                        <a:p>
                          <a:pPr algn="ctr"/>
                          <a:r>
                            <a:rPr lang="es-ES" dirty="0"/>
                            <a:t>No</a:t>
                          </a:r>
                        </a:p>
                      </a:txBody>
                      <a:tcPr anchor="ctr"/>
                    </a:tc>
                    <a:tc>
                      <a:txBody>
                        <a:bodyPr/>
                        <a:lstStyle/>
                        <a:p>
                          <a:pPr algn="ctr"/>
                          <a:r>
                            <a:rPr lang="es-ES" dirty="0"/>
                            <a:t>Grande</a:t>
                          </a:r>
                        </a:p>
                      </a:txBody>
                      <a:tcPr anchor="ctr"/>
                    </a:tc>
                    <a:tc>
                      <a:txBody>
                        <a:bodyPr/>
                        <a:lstStyle/>
                        <a:p>
                          <a:endParaRPr lang="es-ES"/>
                        </a:p>
                      </a:txBody>
                      <a:tcPr anchor="ctr">
                        <a:blipFill>
                          <a:blip r:embed="rId2"/>
                          <a:stretch>
                            <a:fillRect l="-64476" t="-148052" r="-190" b="-100866"/>
                          </a:stretch>
                        </a:blipFill>
                      </a:tcPr>
                    </a:tc>
                    <a:extLst>
                      <a:ext uri="{0D108BD9-81ED-4DB2-BD59-A6C34878D82A}">
                        <a16:rowId xmlns:a16="http://schemas.microsoft.com/office/drawing/2014/main" val="176150309"/>
                      </a:ext>
                    </a:extLst>
                  </a:tr>
                  <a:tr h="1407922">
                    <a:tc>
                      <a:txBody>
                        <a:bodyPr/>
                        <a:lstStyle/>
                        <a:p>
                          <a:pPr algn="ctr"/>
                          <a:r>
                            <a:rPr lang="es-ES" dirty="0"/>
                            <a:t>No</a:t>
                          </a:r>
                        </a:p>
                      </a:txBody>
                      <a:tcPr anchor="ctr"/>
                    </a:tc>
                    <a:tc>
                      <a:txBody>
                        <a:bodyPr/>
                        <a:lstStyle/>
                        <a:p>
                          <a:pPr algn="ctr"/>
                          <a:r>
                            <a:rPr lang="es-ES" dirty="0"/>
                            <a:t>Pequeña con distribución Normal</a:t>
                          </a:r>
                        </a:p>
                      </a:txBody>
                      <a:tcPr anchor="ctr"/>
                    </a:tc>
                    <a:tc>
                      <a:txBody>
                        <a:bodyPr/>
                        <a:lstStyle/>
                        <a:p>
                          <a:endParaRPr lang="es-ES"/>
                        </a:p>
                      </a:txBody>
                      <a:tcPr anchor="ctr">
                        <a:blipFill>
                          <a:blip r:embed="rId2"/>
                          <a:stretch>
                            <a:fillRect l="-64476" t="-248052" r="-190" b="-866"/>
                          </a:stretch>
                        </a:blipFill>
                      </a:tcPr>
                    </a:tc>
                    <a:extLst>
                      <a:ext uri="{0D108BD9-81ED-4DB2-BD59-A6C34878D82A}">
                        <a16:rowId xmlns:a16="http://schemas.microsoft.com/office/drawing/2014/main" val="2866538668"/>
                      </a:ext>
                    </a:extLst>
                  </a:tr>
                </a:tbl>
              </a:graphicData>
            </a:graphic>
          </p:graphicFrame>
        </mc:Fallback>
      </mc:AlternateContent>
      <p:sp>
        <p:nvSpPr>
          <p:cNvPr id="4" name="Marcador de número de diapositiva 3">
            <a:extLst>
              <a:ext uri="{FF2B5EF4-FFF2-40B4-BE49-F238E27FC236}">
                <a16:creationId xmlns:a16="http://schemas.microsoft.com/office/drawing/2014/main" id="{631FCE57-DC4F-5256-4E73-1E8DB5867327}"/>
              </a:ext>
            </a:extLst>
          </p:cNvPr>
          <p:cNvSpPr>
            <a:spLocks noGrp="1"/>
          </p:cNvSpPr>
          <p:nvPr>
            <p:ph type="sldNum" sz="quarter" idx="12"/>
          </p:nvPr>
        </p:nvSpPr>
        <p:spPr/>
        <p:txBody>
          <a:bodyPr/>
          <a:lstStyle/>
          <a:p>
            <a:fld id="{336CAFD0-1F6E-4E11-9822-836563A02839}" type="slidenum">
              <a:rPr lang="es-ES" smtClean="0"/>
              <a:pPr/>
              <a:t>27</a:t>
            </a:fld>
            <a:endParaRPr lang="es-ES" dirty="0"/>
          </a:p>
        </p:txBody>
      </p:sp>
    </p:spTree>
    <p:extLst>
      <p:ext uri="{BB962C8B-B14F-4D97-AF65-F5344CB8AC3E}">
        <p14:creationId xmlns:p14="http://schemas.microsoft.com/office/powerpoint/2010/main" val="17161243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lstStyle/>
          <a:p>
            <a:r>
              <a:rPr lang="es-ES" dirty="0"/>
              <a:t>7. Intervalo de confianza para la media poblacional. Valores para el cálculo </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a:xfrm>
                <a:off x="838200" y="1825624"/>
                <a:ext cx="10515600" cy="4895851"/>
              </a:xfrm>
            </p:spPr>
            <p:txBody>
              <a:bodyPr>
                <a:normAutofit fontScale="92500" lnSpcReduction="20000"/>
              </a:bodyPr>
              <a:lstStyle/>
              <a:p>
                <a:r>
                  <a:rPr lang="es-ES" dirty="0"/>
                  <a:t>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 Media poblacional = </a:t>
                </a:r>
                <a14:m>
                  <m:oMath xmlns:m="http://schemas.openxmlformats.org/officeDocument/2006/math">
                    <m:r>
                      <a:rPr lang="es-ES" i="1" smtClean="0">
                        <a:latin typeface="Cambria Math" panose="02040503050406030204" pitchFamily="18" charset="0"/>
                        <a:ea typeface="Cambria Math" panose="02040503050406030204" pitchFamily="18" charset="0"/>
                      </a:rPr>
                      <m:t>𝜇</m:t>
                    </m:r>
                  </m:oMath>
                </a14:m>
                <a:endParaRPr lang="es-ES" dirty="0"/>
              </a:p>
              <a:p>
                <a:r>
                  <a:rPr lang="es-ES" dirty="0"/>
                  <a:t>Valores necesarios para el cálculo</a:t>
                </a:r>
              </a:p>
              <a:p>
                <a:pPr lvl="1"/>
                <a:r>
                  <a:rPr lang="es-ES" dirty="0"/>
                  <a:t>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 Media muestral =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𝑋</m:t>
                        </m:r>
                      </m:e>
                    </m:acc>
                    <m:r>
                      <a:rPr lang="es-ES" b="0" i="1" smtClean="0">
                        <a:latin typeface="Cambria Math" panose="02040503050406030204" pitchFamily="18" charset="0"/>
                      </a:rPr>
                      <m:t>=</m:t>
                    </m:r>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1</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2</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𝑛</m:t>
                            </m:r>
                          </m:sub>
                        </m:sSub>
                      </m:num>
                      <m:den>
                        <m:r>
                          <a:rPr lang="es-ES" i="1">
                            <a:latin typeface="Cambria Math" panose="02040503050406030204" pitchFamily="18" charset="0"/>
                          </a:rPr>
                          <m:t>𝑛</m:t>
                        </m:r>
                      </m:den>
                    </m:f>
                  </m:oMath>
                </a14:m>
                <a:endParaRPr lang="es-ES" dirty="0"/>
              </a:p>
              <a:p>
                <a:pPr lvl="1"/>
                <a:r>
                  <a:rPr lang="es-ES" dirty="0"/>
                  <a:t>Tamaño de la muestra = </a:t>
                </a:r>
                <a14:m>
                  <m:oMath xmlns:m="http://schemas.openxmlformats.org/officeDocument/2006/math">
                    <m:r>
                      <a:rPr lang="es-ES" b="0" i="1" smtClean="0">
                        <a:latin typeface="Cambria Math" panose="02040503050406030204" pitchFamily="18" charset="0"/>
                      </a:rPr>
                      <m:t>𝑛</m:t>
                    </m:r>
                  </m:oMath>
                </a14:m>
                <a:endParaRPr lang="es-ES" dirty="0"/>
              </a:p>
              <a:p>
                <a:pPr lvl="1"/>
                <a:r>
                  <a:rPr lang="es-ES" dirty="0"/>
                  <a:t>Varianza poblacional = </a:t>
                </a:r>
                <a14:m>
                  <m:oMath xmlns:m="http://schemas.openxmlformats.org/officeDocument/2006/math">
                    <m:sSup>
                      <m:sSupPr>
                        <m:ctrlPr>
                          <a:rPr lang="es-ES" i="1" smtClean="0">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𝜎</m:t>
                        </m:r>
                      </m:e>
                      <m:sup>
                        <m:r>
                          <a:rPr lang="es-ES" b="0" i="1" smtClean="0">
                            <a:latin typeface="Cambria Math" panose="02040503050406030204" pitchFamily="18" charset="0"/>
                            <a:ea typeface="Cambria Math" panose="02040503050406030204" pitchFamily="18" charset="0"/>
                          </a:rPr>
                          <m:t>2</m:t>
                        </m:r>
                      </m:sup>
                    </m:sSup>
                  </m:oMath>
                </a14:m>
                <a:r>
                  <a:rPr lang="es-ES" dirty="0"/>
                  <a:t> </a:t>
                </a:r>
              </a:p>
              <a:p>
                <a:pPr lvl="2"/>
                <a:r>
                  <a:rPr lang="es-ES" dirty="0"/>
                  <a:t>Desviación estándar poblacional = </a:t>
                </a:r>
                <a14:m>
                  <m:oMath xmlns:m="http://schemas.openxmlformats.org/officeDocument/2006/math">
                    <m:r>
                      <a:rPr lang="es-ES" i="1">
                        <a:latin typeface="Cambria Math" panose="02040503050406030204" pitchFamily="18" charset="0"/>
                        <a:ea typeface="Cambria Math" panose="02040503050406030204" pitchFamily="18" charset="0"/>
                      </a:rPr>
                      <m:t>𝜎</m:t>
                    </m:r>
                  </m:oMath>
                </a14:m>
                <a:endParaRPr lang="es-ES" dirty="0"/>
              </a:p>
              <a:p>
                <a:pPr lvl="1"/>
                <a:r>
                  <a:rPr lang="es-ES" dirty="0"/>
                  <a:t>Varianza muestral = </a:t>
                </a:r>
                <a14:m>
                  <m:oMath xmlns:m="http://schemas.openxmlformats.org/officeDocument/2006/math">
                    <m:sSup>
                      <m:sSupPr>
                        <m:ctrlPr>
                          <a:rPr lang="es-ES" b="0" i="1" smtClean="0">
                            <a:latin typeface="Cambria Math" panose="02040503050406030204" pitchFamily="18" charset="0"/>
                          </a:rPr>
                        </m:ctrlPr>
                      </m:sSupPr>
                      <m:e>
                        <m:r>
                          <a:rPr lang="es-ES" b="0" i="1" smtClean="0">
                            <a:latin typeface="Cambria Math" panose="02040503050406030204" pitchFamily="18" charset="0"/>
                          </a:rPr>
                          <m:t>𝑠</m:t>
                        </m:r>
                      </m:e>
                      <m:sup>
                        <m:r>
                          <a:rPr lang="es-ES" b="0" i="1" smtClean="0">
                            <a:latin typeface="Cambria Math" panose="02040503050406030204" pitchFamily="18" charset="0"/>
                          </a:rPr>
                          <m:t>2</m:t>
                        </m:r>
                      </m:sup>
                    </m:sSup>
                    <m:r>
                      <a:rPr lang="es-ES" b="0" i="1" smtClean="0">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r>
                          <a:rPr lang="es-ES" i="1">
                            <a:latin typeface="Cambria Math" panose="02040503050406030204" pitchFamily="18" charset="0"/>
                          </a:rPr>
                          <m:t>−1</m:t>
                        </m:r>
                      </m:den>
                    </m:f>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rPr>
                                      <m:t>𝑋</m:t>
                                    </m:r>
                                  </m:e>
                                </m:acc>
                              </m:e>
                            </m:d>
                          </m:e>
                          <m:sup>
                            <m:r>
                              <a:rPr lang="es-ES" i="1">
                                <a:latin typeface="Cambria Math" panose="02040503050406030204" pitchFamily="18" charset="0"/>
                              </a:rPr>
                              <m:t>2</m:t>
                            </m:r>
                          </m:sup>
                        </m:sSup>
                      </m:e>
                    </m:nary>
                  </m:oMath>
                </a14:m>
                <a:endParaRPr lang="es-ES" dirty="0"/>
              </a:p>
              <a:p>
                <a:pPr lvl="2"/>
                <a:r>
                  <a:rPr lang="es-ES" dirty="0"/>
                  <a:t>Desviación estándar muestral = </a:t>
                </a:r>
                <a14:m>
                  <m:oMath xmlns:m="http://schemas.openxmlformats.org/officeDocument/2006/math">
                    <m:r>
                      <m:rPr>
                        <m:sty m:val="p"/>
                      </m:rPr>
                      <a:rPr lang="es-ES" b="0" i="0" smtClean="0">
                        <a:latin typeface="Cambria Math" panose="02040503050406030204" pitchFamily="18" charset="0"/>
                        <a:ea typeface="Cambria Math" panose="02040503050406030204" pitchFamily="18" charset="0"/>
                      </a:rPr>
                      <m:t>s</m:t>
                    </m:r>
                  </m:oMath>
                </a14:m>
                <a:endParaRPr lang="es-ES" dirty="0"/>
              </a:p>
              <a:p>
                <a:pPr lvl="1"/>
                <a:r>
                  <a:rPr lang="es-ES" dirty="0"/>
                  <a:t>Nivel de error o significación = </a:t>
                </a:r>
                <a14:m>
                  <m:oMath xmlns:m="http://schemas.openxmlformats.org/officeDocument/2006/math">
                    <m:r>
                      <a:rPr lang="es-ES" i="1" smtClean="0">
                        <a:latin typeface="Cambria Math" panose="02040503050406030204" pitchFamily="18" charset="0"/>
                        <a:ea typeface="Cambria Math" panose="02040503050406030204" pitchFamily="18" charset="0"/>
                      </a:rPr>
                      <m:t>𝛼</m:t>
                    </m:r>
                  </m:oMath>
                </a14:m>
                <a:endParaRPr lang="es-ES" dirty="0"/>
              </a:p>
              <a:p>
                <a:pPr lvl="2"/>
                <a:r>
                  <a:rPr lang="es-ES" dirty="0"/>
                  <a:t>Nivel de confianza = </a:t>
                </a:r>
                <a14:m>
                  <m:oMath xmlns:m="http://schemas.openxmlformats.org/officeDocument/2006/math">
                    <m:r>
                      <a:rPr lang="es-ES" b="0" i="0" smtClean="0">
                        <a:latin typeface="Cambria Math" panose="02040503050406030204" pitchFamily="18" charset="0"/>
                        <a:ea typeface="Cambria Math" panose="02040503050406030204" pitchFamily="18" charset="0"/>
                      </a:rPr>
                      <m:t>1−</m:t>
                    </m:r>
                    <m:r>
                      <a:rPr lang="es-ES" i="1" smtClean="0">
                        <a:latin typeface="Cambria Math" panose="02040503050406030204" pitchFamily="18" charset="0"/>
                        <a:ea typeface="Cambria Math" panose="02040503050406030204" pitchFamily="18" charset="0"/>
                      </a:rPr>
                      <m:t>𝛼</m:t>
                    </m:r>
                  </m:oMath>
                </a14:m>
                <a:endParaRPr lang="es-ES" dirty="0"/>
              </a:p>
              <a:p>
                <a:pPr lvl="1"/>
                <a:r>
                  <a:rPr lang="es-ES" dirty="0"/>
                  <a:t>Valor crítico para muestra grande (el estimador se considera Normal estándar N(0,1)</a:t>
                </a:r>
              </a:p>
              <a:p>
                <a:pPr lvl="2"/>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oMath>
                </a14:m>
                <a:r>
                  <a:rPr lang="es-ES" dirty="0"/>
                  <a:t> </a:t>
                </a:r>
                <a:r>
                  <a:rPr lang="es-ES" dirty="0">
                    <a:sym typeface="Wingdings" panose="05000000000000000000" pitchFamily="2" charset="2"/>
                  </a:rPr>
                  <a:t></a:t>
                </a:r>
                <a:r>
                  <a:rPr lang="es-ES" dirty="0"/>
                  <a:t> Se obtiene con la tabla A4 o con software</a:t>
                </a:r>
              </a:p>
              <a:p>
                <a:pPr lvl="1"/>
                <a:r>
                  <a:rPr lang="es-ES" dirty="0"/>
                  <a:t>Valor crítico para muestra pequeña (el estimador se considera T de </a:t>
                </a:r>
                <a:r>
                  <a:rPr lang="es-ES" dirty="0" err="1"/>
                  <a:t>Student</a:t>
                </a:r>
                <a:r>
                  <a:rPr lang="es-ES" dirty="0"/>
                  <a:t> con n-1 grados de libertad</a:t>
                </a:r>
              </a:p>
              <a:p>
                <a:pPr lvl="2"/>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𝑞</m:t>
                    </m:r>
                    <m:d>
                      <m:dPr>
                        <m:ctrlPr>
                          <a:rPr lang="es-ES" i="1">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oMath>
                </a14:m>
                <a:r>
                  <a:rPr lang="es-ES" dirty="0"/>
                  <a:t> </a:t>
                </a:r>
                <a:r>
                  <a:rPr lang="es-ES" dirty="0">
                    <a:sym typeface="Wingdings" panose="05000000000000000000" pitchFamily="2" charset="2"/>
                  </a:rPr>
                  <a:t> </a:t>
                </a:r>
                <a:r>
                  <a:rPr lang="es-ES" dirty="0"/>
                  <a:t>Se obtiene con la tabla A5 o con software</a:t>
                </a:r>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502BEC66-7892-3662-9658-D3816CBE52A1}"/>
                  </a:ext>
                </a:extLst>
              </p:cNvPr>
              <p:cNvSpPr>
                <a:spLocks noGrp="1" noRot="1" noChangeAspect="1" noMove="1" noResize="1" noEditPoints="1" noAdjustHandles="1" noChangeArrowheads="1" noChangeShapeType="1" noTextEdit="1"/>
              </p:cNvSpPr>
              <p:nvPr>
                <p:ph idx="1"/>
              </p:nvPr>
            </p:nvSpPr>
            <p:spPr>
              <a:xfrm>
                <a:off x="838200" y="1825624"/>
                <a:ext cx="10515600" cy="4895851"/>
              </a:xfrm>
              <a:blipFill>
                <a:blip r:embed="rId2"/>
                <a:stretch>
                  <a:fillRect l="-928" t="-3109" b="-498"/>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28</a:t>
            </a:fld>
            <a:endParaRPr lang="es-ES" dirty="0"/>
          </a:p>
        </p:txBody>
      </p:sp>
    </p:spTree>
    <p:extLst>
      <p:ext uri="{BB962C8B-B14F-4D97-AF65-F5344CB8AC3E}">
        <p14:creationId xmlns:p14="http://schemas.microsoft.com/office/powerpoint/2010/main" val="806768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AD418D-16D0-E1B8-438D-3D9053951B97}"/>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Ejemplo 9.13a (Mediciones)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674FF89-0C9E-874C-7679-9FBEB819764D}"/>
                  </a:ext>
                </a:extLst>
              </p:cNvPr>
              <p:cNvSpPr>
                <a:spLocks noGrp="1"/>
              </p:cNvSpPr>
              <p:nvPr>
                <p:ph idx="1"/>
              </p:nvPr>
            </p:nvSpPr>
            <p:spPr/>
            <p:txBody>
              <a:bodyPr/>
              <a:lstStyle/>
              <a:p>
                <a:r>
                  <a:rPr lang="es-ES" dirty="0"/>
                  <a:t>Construir un intervalo de confianza del 95 % para la media poblacional basado en una muestra de mediciones con distribución Normal</a:t>
                </a:r>
              </a:p>
              <a:p>
                <a:pPr lvl="1"/>
                <a:r>
                  <a:rPr lang="es-ES" dirty="0"/>
                  <a:t>2.5, 7.4, 8.0, 4.5, 7.4, 9.2</a:t>
                </a:r>
              </a:p>
              <a:p>
                <a:r>
                  <a:rPr lang="es-ES" dirty="0"/>
                  <a:t>En los casos:</a:t>
                </a:r>
              </a:p>
              <a:p>
                <a:pPr marL="914400" lvl="1" indent="-457200">
                  <a:buFont typeface="+mj-lt"/>
                  <a:buAutoNum type="alphaLcParenR"/>
                </a:pPr>
                <a:r>
                  <a:rPr lang="es-ES" b="1" dirty="0"/>
                  <a:t>Se sabe que el dispositivo de medición garantiza una desviación estándar de </a:t>
                </a:r>
                <a14:m>
                  <m:oMath xmlns:m="http://schemas.openxmlformats.org/officeDocument/2006/math">
                    <m:r>
                      <a:rPr lang="es-ES" b="1" i="1" smtClean="0">
                        <a:latin typeface="Cambria Math" panose="02040503050406030204" pitchFamily="18" charset="0"/>
                        <a:ea typeface="Cambria Math" panose="02040503050406030204" pitchFamily="18" charset="0"/>
                      </a:rPr>
                      <m:t>𝝈</m:t>
                    </m:r>
                  </m:oMath>
                </a14:m>
                <a:r>
                  <a:rPr lang="es-ES" b="1" dirty="0"/>
                  <a:t> = 2.2</a:t>
                </a:r>
              </a:p>
              <a:p>
                <a:pPr marL="914400" lvl="1" indent="-457200">
                  <a:buFont typeface="+mj-lt"/>
                  <a:buAutoNum type="alphaLcParenR"/>
                </a:pPr>
                <a:r>
                  <a:rPr lang="es-ES" dirty="0"/>
                  <a:t>Se desconoce el valor de la desviación estándar</a:t>
                </a:r>
              </a:p>
              <a:p>
                <a:endParaRPr lang="es-ES" dirty="0"/>
              </a:p>
              <a:p>
                <a:endParaRPr lang="es-ES" dirty="0"/>
              </a:p>
            </p:txBody>
          </p:sp>
        </mc:Choice>
        <mc:Fallback xmlns="">
          <p:sp>
            <p:nvSpPr>
              <p:cNvPr id="3" name="Marcador de contenido 2">
                <a:extLst>
                  <a:ext uri="{FF2B5EF4-FFF2-40B4-BE49-F238E27FC236}">
                    <a16:creationId xmlns:a16="http://schemas.microsoft.com/office/drawing/2014/main" id="{6674FF89-0C9E-874C-7679-9FBEB819764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8EF99E7-FCB5-ABBC-C304-D80772BA5A13}"/>
              </a:ext>
            </a:extLst>
          </p:cNvPr>
          <p:cNvSpPr>
            <a:spLocks noGrp="1"/>
          </p:cNvSpPr>
          <p:nvPr>
            <p:ph type="sldNum" sz="quarter" idx="12"/>
          </p:nvPr>
        </p:nvSpPr>
        <p:spPr/>
        <p:txBody>
          <a:bodyPr/>
          <a:lstStyle/>
          <a:p>
            <a:fld id="{336CAFD0-1F6E-4E11-9822-836563A02839}" type="slidenum">
              <a:rPr lang="es-ES" smtClean="0"/>
              <a:pPr/>
              <a:t>29</a:t>
            </a:fld>
            <a:endParaRPr lang="es-ES" dirty="0"/>
          </a:p>
        </p:txBody>
      </p:sp>
    </p:spTree>
    <p:extLst>
      <p:ext uri="{BB962C8B-B14F-4D97-AF65-F5344CB8AC3E}">
        <p14:creationId xmlns:p14="http://schemas.microsoft.com/office/powerpoint/2010/main" val="1919064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DF9DF06-BC3E-25DA-F1C2-E00B100AFC8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707693" y="2306637"/>
            <a:ext cx="4036212" cy="4171315"/>
          </a:xfrm>
          <a:prstGeom prst="rect">
            <a:avLst/>
          </a:prstGeom>
        </p:spPr>
      </p:pic>
      <p:sp>
        <p:nvSpPr>
          <p:cNvPr id="2" name="Título 1">
            <a:extLst>
              <a:ext uri="{FF2B5EF4-FFF2-40B4-BE49-F238E27FC236}">
                <a16:creationId xmlns:a16="http://schemas.microsoft.com/office/drawing/2014/main" id="{41AD418D-16D0-E1B8-438D-3D9053951B97}"/>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Ejemplo 9.13 (Solución 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674FF89-0C9E-874C-7679-9FBEB819764D}"/>
                  </a:ext>
                </a:extLst>
              </p:cNvPr>
              <p:cNvSpPr>
                <a:spLocks noGrp="1"/>
              </p:cNvSpPr>
              <p:nvPr>
                <p:ph idx="1"/>
              </p:nvPr>
            </p:nvSpPr>
            <p:spPr/>
            <p:txBody>
              <a:bodyPr>
                <a:normAutofit fontScale="70000" lnSpcReduction="20000"/>
              </a:bodyPr>
              <a:lstStyle/>
              <a:p>
                <a:r>
                  <a:rPr lang="es-ES" dirty="0"/>
                  <a:t>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 Media muestral =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𝑋</m:t>
                        </m:r>
                      </m:e>
                    </m:acc>
                  </m:oMath>
                </a14:m>
                <a:endParaRPr lang="es-ES" dirty="0"/>
              </a:p>
              <a:p>
                <a:r>
                  <a:rPr lang="es-ES" dirty="0"/>
                  <a:t>Valor del estimador para la muestra = </a:t>
                </a:r>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2.5+7.4+8.0+4.5+7.4+9.2</m:t>
                        </m:r>
                      </m:num>
                      <m:den>
                        <m:r>
                          <a:rPr lang="es-ES" i="1">
                            <a:latin typeface="Cambria Math" panose="02040503050406030204" pitchFamily="18" charset="0"/>
                          </a:rPr>
                          <m:t>6</m:t>
                        </m:r>
                      </m:den>
                    </m:f>
                    <m:r>
                      <a:rPr lang="es-ES" i="1">
                        <a:latin typeface="Cambria Math" panose="02040503050406030204" pitchFamily="18" charset="0"/>
                      </a:rPr>
                      <m:t>=6.50</m:t>
                    </m:r>
                  </m:oMath>
                </a14:m>
                <a:endParaRPr lang="es-ES" dirty="0"/>
              </a:p>
              <a:p>
                <a:r>
                  <a:rPr lang="es-ES" dirty="0"/>
                  <a:t>Tamaño de la muestra = </a:t>
                </a:r>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=6</m:t>
                    </m:r>
                  </m:oMath>
                </a14:m>
                <a:endParaRPr lang="es-ES" dirty="0"/>
              </a:p>
              <a:p>
                <a:r>
                  <a:rPr lang="es-ES" dirty="0"/>
                  <a:t>Desviación estándar poblacional = </a:t>
                </a:r>
                <a14:m>
                  <m:oMath xmlns:m="http://schemas.openxmlformats.org/officeDocument/2006/math">
                    <m:r>
                      <a:rPr lang="es-ES" b="0" i="1" smtClean="0">
                        <a:latin typeface="Cambria Math" panose="02040503050406030204" pitchFamily="18" charset="0"/>
                        <a:ea typeface="Cambria Math" panose="02040503050406030204" pitchFamily="18" charset="0"/>
                      </a:rPr>
                      <m:t>𝜎</m:t>
                    </m:r>
                    <m:r>
                      <a:rPr lang="es-ES" b="0" i="1" smtClean="0">
                        <a:latin typeface="Cambria Math" panose="02040503050406030204" pitchFamily="18" charset="0"/>
                        <a:ea typeface="Cambria Math" panose="02040503050406030204" pitchFamily="18" charset="0"/>
                      </a:rPr>
                      <m:t>=2.2</m:t>
                    </m:r>
                  </m:oMath>
                </a14:m>
                <a:endParaRPr lang="es-ES" dirty="0"/>
              </a:p>
              <a:p>
                <a:r>
                  <a:rPr lang="es-ES" dirty="0"/>
                  <a:t>Nivel de significación = </a:t>
                </a:r>
                <a14:m>
                  <m:oMath xmlns:m="http://schemas.openxmlformats.org/officeDocument/2006/math">
                    <m:r>
                      <a:rPr lang="es-ES"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=1−0.95=0.05</m:t>
                    </m:r>
                  </m:oMath>
                </a14:m>
                <a:endParaRPr lang="es-ES" dirty="0"/>
              </a:p>
              <a:p>
                <a:r>
                  <a:rPr lang="es-ES" dirty="0"/>
                  <a:t>Es una muestra pequeña n&lt;30, pero con distribución Normal</a:t>
                </a:r>
              </a:p>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m:t>
                        </m:r>
                        <m:r>
                          <m:rPr>
                            <m:nor/>
                          </m:rPr>
                          <a:rPr lang="es-ES" b="0" i="0" smtClean="0">
                            <a:latin typeface="Cambria Math" panose="02040503050406030204" pitchFamily="18" charset="0"/>
                            <a:ea typeface="Cambria Math" panose="02040503050406030204" pitchFamily="18" charset="0"/>
                          </a:rPr>
                          <m:t>α</m:t>
                        </m:r>
                        <m:r>
                          <m:rPr>
                            <m:nor/>
                          </m:rPr>
                          <a:rPr lang="es-ES" b="0" i="0" smtClean="0">
                            <a:latin typeface="Cambria Math" panose="02040503050406030204" pitchFamily="18" charset="0"/>
                            <a:ea typeface="Cambria Math" panose="02040503050406030204" pitchFamily="18" charset="0"/>
                          </a:rPr>
                          <m:t>/2</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1−0.025</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0.975</m:t>
                        </m:r>
                      </m:e>
                    </m:d>
                    <m:r>
                      <a:rPr lang="es-ES" b="0" i="1" smtClean="0">
                        <a:latin typeface="Cambria Math" panose="02040503050406030204" pitchFamily="18" charset="0"/>
                        <a:ea typeface="Cambria Math" panose="02040503050406030204" pitchFamily="18" charset="0"/>
                      </a:rPr>
                      <m:t>=1.96</m:t>
                    </m:r>
                  </m:oMath>
                </a14:m>
                <a:endParaRPr lang="es-ES" dirty="0"/>
              </a:p>
              <a:p>
                <a:pPr lvl="1"/>
                <a:r>
                  <a:rPr lang="es-ES" dirty="0"/>
                  <a:t>Se obtiene con la tabla A4 o con software como R </a:t>
                </a:r>
              </a:p>
              <a:p>
                <a:pPr lvl="1"/>
                <a:endParaRPr lang="es-ES" dirty="0"/>
              </a:p>
              <a:p>
                <a:pPr marL="514350" indent="-514350">
                  <a:buFont typeface="+mj-lt"/>
                  <a:buAutoNum type="alphaLcParenR"/>
                </a:pPr>
                <a:r>
                  <a:rPr lang="es-ES" dirty="0"/>
                  <a:t>Intervalo de confianza con varianza conocida</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𝜎</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r>
                      <a:rPr lang="es-ES" b="0" i="1" smtClean="0">
                        <a:latin typeface="Cambria Math" panose="02040503050406030204" pitchFamily="18" charset="0"/>
                      </a:rPr>
                      <m:t>=6.50−</m:t>
                    </m:r>
                    <m:d>
                      <m:dPr>
                        <m:ctrlPr>
                          <a:rPr lang="es-ES" b="0" i="1" smtClean="0">
                            <a:latin typeface="Cambria Math" panose="02040503050406030204" pitchFamily="18" charset="0"/>
                          </a:rPr>
                        </m:ctrlPr>
                      </m:dPr>
                      <m:e>
                        <m:r>
                          <a:rPr lang="es-ES" b="0" i="1" smtClean="0">
                            <a:latin typeface="Cambria Math" panose="02040503050406030204" pitchFamily="18" charset="0"/>
                          </a:rPr>
                          <m:t>1.96</m:t>
                        </m:r>
                      </m:e>
                    </m:d>
                    <m:f>
                      <m:fPr>
                        <m:ctrlPr>
                          <a:rPr lang="es-ES" b="0" i="1" smtClean="0">
                            <a:latin typeface="Cambria Math" panose="02040503050406030204" pitchFamily="18" charset="0"/>
                          </a:rPr>
                        </m:ctrlPr>
                      </m:fPr>
                      <m:num>
                        <m:r>
                          <a:rPr lang="es-ES" b="0" i="1" smtClean="0">
                            <a:latin typeface="Cambria Math" panose="02040503050406030204" pitchFamily="18" charset="0"/>
                          </a:rPr>
                          <m:t>2.2</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6</m:t>
                            </m:r>
                          </m:e>
                        </m:rad>
                      </m:den>
                    </m:f>
                    <m:r>
                      <a:rPr lang="es-ES" b="0" i="1" smtClean="0">
                        <a:latin typeface="Cambria Math" panose="02040503050406030204" pitchFamily="18" charset="0"/>
                      </a:rPr>
                      <m:t>=4.74</m:t>
                    </m:r>
                  </m:oMath>
                </a14:m>
                <a:endParaRPr lang="es-ES" b="0"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i="1">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𝜎</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r>
                      <a:rPr lang="es-ES" b="0" i="1" smtClean="0">
                        <a:latin typeface="Cambria Math" panose="02040503050406030204" pitchFamily="18" charset="0"/>
                      </a:rPr>
                      <m:t>=6.50+</m:t>
                    </m:r>
                    <m:d>
                      <m:dPr>
                        <m:ctrlPr>
                          <a:rPr lang="es-ES" b="0" i="1" smtClean="0">
                            <a:latin typeface="Cambria Math" panose="02040503050406030204" pitchFamily="18" charset="0"/>
                          </a:rPr>
                        </m:ctrlPr>
                      </m:dPr>
                      <m:e>
                        <m:r>
                          <a:rPr lang="es-ES" b="0" i="1" smtClean="0">
                            <a:latin typeface="Cambria Math" panose="02040503050406030204" pitchFamily="18" charset="0"/>
                          </a:rPr>
                          <m:t>1.96</m:t>
                        </m:r>
                      </m:e>
                    </m:d>
                    <m:f>
                      <m:fPr>
                        <m:ctrlPr>
                          <a:rPr lang="es-ES" b="0" i="1" smtClean="0">
                            <a:latin typeface="Cambria Math" panose="02040503050406030204" pitchFamily="18" charset="0"/>
                          </a:rPr>
                        </m:ctrlPr>
                      </m:fPr>
                      <m:num>
                        <m:r>
                          <a:rPr lang="es-ES" b="0" i="1" smtClean="0">
                            <a:latin typeface="Cambria Math" panose="02040503050406030204" pitchFamily="18" charset="0"/>
                          </a:rPr>
                          <m:t>2.2</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6</m:t>
                            </m:r>
                          </m:e>
                        </m:rad>
                      </m:den>
                    </m:f>
                    <m:r>
                      <a:rPr lang="es-ES" b="0" i="1" smtClean="0">
                        <a:latin typeface="Cambria Math" panose="02040503050406030204" pitchFamily="18" charset="0"/>
                      </a:rPr>
                      <m:t>=8.26</m:t>
                    </m:r>
                  </m:oMath>
                </a14:m>
                <a:endParaRPr lang="es-ES" dirty="0"/>
              </a:p>
              <a:p>
                <a:pPr lvl="1"/>
                <a:endParaRPr lang="es-ES" dirty="0"/>
              </a:p>
              <a:p>
                <a:pPr lvl="1"/>
                <a:endParaRPr lang="es-ES" dirty="0"/>
              </a:p>
            </p:txBody>
          </p:sp>
        </mc:Choice>
        <mc:Fallback xmlns="">
          <p:sp>
            <p:nvSpPr>
              <p:cNvPr id="3" name="Marcador de contenido 2">
                <a:extLst>
                  <a:ext uri="{FF2B5EF4-FFF2-40B4-BE49-F238E27FC236}">
                    <a16:creationId xmlns:a16="http://schemas.microsoft.com/office/drawing/2014/main" id="{6674FF89-0C9E-874C-7679-9FBEB819764D}"/>
                  </a:ext>
                </a:extLst>
              </p:cNvPr>
              <p:cNvSpPr>
                <a:spLocks noGrp="1" noRot="1" noChangeAspect="1" noMove="1" noResize="1" noEditPoints="1" noAdjustHandles="1" noChangeArrowheads="1" noChangeShapeType="1" noTextEdit="1"/>
              </p:cNvSpPr>
              <p:nvPr>
                <p:ph idx="1"/>
              </p:nvPr>
            </p:nvSpPr>
            <p:spPr>
              <a:blipFill>
                <a:blip r:embed="rId3"/>
                <a:stretch>
                  <a:fillRect l="-638" t="-25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8EF99E7-FCB5-ABBC-C304-D80772BA5A13}"/>
              </a:ext>
            </a:extLst>
          </p:cNvPr>
          <p:cNvSpPr>
            <a:spLocks noGrp="1"/>
          </p:cNvSpPr>
          <p:nvPr>
            <p:ph type="sldNum" sz="quarter" idx="12"/>
          </p:nvPr>
        </p:nvSpPr>
        <p:spPr/>
        <p:txBody>
          <a:bodyPr/>
          <a:lstStyle/>
          <a:p>
            <a:fld id="{336CAFD0-1F6E-4E11-9822-836563A02839}" type="slidenum">
              <a:rPr lang="es-ES" smtClean="0"/>
              <a:pPr/>
              <a:t>30</a:t>
            </a:fld>
            <a:endParaRPr lang="es-ES" dirty="0"/>
          </a:p>
        </p:txBody>
      </p:sp>
    </p:spTree>
    <p:extLst>
      <p:ext uri="{BB962C8B-B14F-4D97-AF65-F5344CB8AC3E}">
        <p14:creationId xmlns:p14="http://schemas.microsoft.com/office/powerpoint/2010/main" val="537239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fontScale="90000"/>
          </a:bodyPr>
          <a:lstStyle/>
          <a:p>
            <a:r>
              <a:rPr lang="es-ES" dirty="0"/>
              <a:t>7. Intervalo de confianza para la media poblacional </a:t>
            </a:r>
            <a:br>
              <a:rPr lang="es-ES" dirty="0"/>
            </a:br>
            <a:r>
              <a:rPr lang="es-ES" dirty="0"/>
              <a:t>Muestra grande y varianza desconocida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a:xfrm>
                <a:off x="838200" y="1825624"/>
                <a:ext cx="10515600" cy="5032375"/>
              </a:xfrm>
            </p:spPr>
            <p:txBody>
              <a:bodyPr>
                <a:normAutofit fontScale="70000" lnSpcReduction="20000"/>
              </a:bodyPr>
              <a:lstStyle/>
              <a:p>
                <a:r>
                  <a:rPr lang="es-ES" dirty="0"/>
                  <a:t>Se asume una distribución Normal para el estimador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𝑋</m:t>
                        </m:r>
                      </m:e>
                    </m:acc>
                    <m:r>
                      <a:rPr lang="es-ES" b="0" i="1" smtClean="0">
                        <a:latin typeface="Cambria Math" panose="02040503050406030204" pitchFamily="18" charset="0"/>
                      </a:rPr>
                      <m:t>:</m:t>
                    </m:r>
                    <m:r>
                      <a:rPr lang="es-ES" b="0" i="1" smtClean="0">
                        <a:latin typeface="Cambria Math" panose="02040503050406030204" pitchFamily="18" charset="0"/>
                      </a:rPr>
                      <m:t>𝑁</m:t>
                    </m:r>
                    <m:d>
                      <m:dPr>
                        <m:ctrlPr>
                          <a:rPr lang="es-ES" b="0" i="1" smtClean="0">
                            <a:latin typeface="Cambria Math" panose="02040503050406030204" pitchFamily="18" charset="0"/>
                          </a:rPr>
                        </m:ctrlPr>
                      </m:dPr>
                      <m:e>
                        <m:r>
                          <a:rPr lang="es-ES" i="1">
                            <a:latin typeface="Cambria Math" panose="02040503050406030204" pitchFamily="18" charset="0"/>
                            <a:ea typeface="Cambria Math" panose="02040503050406030204" pitchFamily="18" charset="0"/>
                          </a:rPr>
                          <m:t>𝐸</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𝜎</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e>
                    </m:d>
                    <m:r>
                      <a:rPr lang="es-ES" b="0" i="1" smtClean="0">
                        <a:latin typeface="Cambria Math" panose="02040503050406030204" pitchFamily="18" charset="0"/>
                      </a:rPr>
                      <m:t>=</m:t>
                    </m:r>
                    <m:r>
                      <a:rPr lang="es-ES" b="0" i="1" smtClean="0">
                        <a:latin typeface="Cambria Math" panose="02040503050406030204" pitchFamily="18" charset="0"/>
                      </a:rPr>
                      <m:t>𝑁</m:t>
                    </m:r>
                    <m:r>
                      <a:rPr lang="es-ES" b="0" i="1" smtClean="0">
                        <a:latin typeface="Cambria Math" panose="02040503050406030204" pitchFamily="18" charset="0"/>
                      </a:rPr>
                      <m:t>(</m:t>
                    </m:r>
                    <m:r>
                      <a:rPr lang="es-ES" i="1">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𝑛</m:t>
                        </m:r>
                      </m:e>
                    </m:rad>
                  </m:oMath>
                </a14:m>
                <a:r>
                  <a:rPr lang="es-ES" dirty="0"/>
                  <a:t>)</a:t>
                </a:r>
              </a:p>
              <a:p>
                <a:r>
                  <a:rPr lang="es-ES" dirty="0"/>
                  <a:t>El estimador </a:t>
                </a:r>
                <a14:m>
                  <m:oMath xmlns:m="http://schemas.openxmlformats.org/officeDocument/2006/math">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rPr>
                      <m:t> </m:t>
                    </m:r>
                  </m:oMath>
                </a14:m>
                <a:r>
                  <a:rPr lang="es-ES" dirty="0"/>
                  <a:t>se estandariza, convirtiéndolo en una variable </a:t>
                </a:r>
                <a14:m>
                  <m:oMath xmlns:m="http://schemas.openxmlformats.org/officeDocument/2006/math">
                    <m:r>
                      <a:rPr lang="es-ES" b="0" i="1" smtClean="0">
                        <a:latin typeface="Cambria Math" panose="02040503050406030204" pitchFamily="18" charset="0"/>
                      </a:rPr>
                      <m:t>𝑍</m:t>
                    </m:r>
                    <m:r>
                      <a:rPr lang="es-ES" b="0" i="1" smtClean="0">
                        <a:latin typeface="Cambria Math" panose="02040503050406030204" pitchFamily="18" charset="0"/>
                      </a:rPr>
                      <m:t>:</m:t>
                    </m:r>
                    <m:r>
                      <a:rPr lang="es-ES" b="0" i="1" smtClean="0">
                        <a:latin typeface="Cambria Math" panose="02040503050406030204" pitchFamily="18" charset="0"/>
                      </a:rPr>
                      <m:t>𝑁</m:t>
                    </m:r>
                    <m:r>
                      <a:rPr lang="es-ES" b="0" i="1" smtClean="0">
                        <a:latin typeface="Cambria Math" panose="02040503050406030204" pitchFamily="18" charset="0"/>
                      </a:rPr>
                      <m:t>(0,1)</m:t>
                    </m:r>
                  </m:oMath>
                </a14:m>
                <a:endParaRPr lang="es-ES" dirty="0"/>
              </a:p>
              <a:p>
                <a:pPr lvl="1"/>
                <a14:m>
                  <m:oMath xmlns:m="http://schemas.openxmlformats.org/officeDocument/2006/math">
                    <m:r>
                      <a:rPr lang="es-ES" b="0" i="1" smtClean="0">
                        <a:latin typeface="Cambria Math" panose="02040503050406030204" pitchFamily="18" charset="0"/>
                      </a:rPr>
                      <m:t>𝑍</m:t>
                    </m:r>
                    <m:r>
                      <a:rPr lang="es-ES" b="0" i="1" smtClean="0">
                        <a:latin typeface="Cambria Math" panose="02040503050406030204" pitchFamily="18" charset="0"/>
                      </a:rPr>
                      <m:t>=</m:t>
                    </m:r>
                    <m:f>
                      <m:fPr>
                        <m:ctrlPr>
                          <a:rPr lang="es-ES" b="0" i="1" smtClean="0">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num>
                      <m:den>
                        <m:r>
                          <a:rPr lang="es-ES" b="0" i="1" smtClean="0">
                            <a:latin typeface="Cambria Math" panose="02040503050406030204" pitchFamily="18" charset="0"/>
                            <a:ea typeface="Cambria Math" panose="02040503050406030204" pitchFamily="18" charset="0"/>
                          </a:rPr>
                          <m:t>𝜎</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den>
                    </m:f>
                    <m:r>
                      <a:rPr lang="es-ES" b="0" i="1" smtClean="0">
                        <a:latin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𝜇</m:t>
                        </m:r>
                      </m:num>
                      <m:den>
                        <m:r>
                          <a:rPr lang="es-ES" b="0" i="1" smtClean="0">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𝑛</m:t>
                            </m:r>
                          </m:e>
                        </m:rad>
                      </m:den>
                    </m:f>
                  </m:oMath>
                </a14:m>
                <a:endParaRPr lang="es-ES" dirty="0"/>
              </a:p>
              <a:p>
                <a:pPr lvl="2"/>
                <a14:m>
                  <m:oMath xmlns:m="http://schemas.openxmlformats.org/officeDocument/2006/math">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𝜇</m:t>
                    </m:r>
                  </m:oMath>
                </a14:m>
                <a:r>
                  <a:rPr lang="es-ES" dirty="0"/>
                  <a:t>    al ser un estimador insesgado</a:t>
                </a:r>
              </a:p>
              <a:p>
                <a:pPr lvl="2"/>
                <a14:m>
                  <m:oMath xmlns:m="http://schemas.openxmlformats.org/officeDocument/2006/math">
                    <m:r>
                      <a:rPr lang="es-ES" b="0" i="1" smtClean="0">
                        <a:latin typeface="Cambria Math" panose="02040503050406030204" pitchFamily="18" charset="0"/>
                        <a:ea typeface="Cambria Math" panose="02040503050406030204" pitchFamily="18" charset="0"/>
                      </a:rPr>
                      <m:t>𝜎</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r>
                      <a:rPr lang="es-ES" b="0" i="1" smtClean="0">
                        <a:latin typeface="Cambria Math" panose="02040503050406030204" pitchFamily="18" charset="0"/>
                      </a:rPr>
                      <m:t>=</m:t>
                    </m:r>
                    <m:r>
                      <a:rPr lang="es-ES" b="0" i="1" smtClean="0">
                        <a:latin typeface="Cambria Math" panose="02040503050406030204" pitchFamily="18" charset="0"/>
                      </a:rPr>
                      <m:t>𝑠</m:t>
                    </m:r>
                    <m:d>
                      <m:dPr>
                        <m:ctrlPr>
                          <a:rPr lang="es-ES" i="1">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a14:m>
                <a:r>
                  <a:rPr lang="es-ES" dirty="0"/>
                  <a:t>   al desconocerse la varianza poblacional, se utiliza en su lugar la varianza muestral </a:t>
                </a:r>
                <a14:m>
                  <m:oMath xmlns:m="http://schemas.openxmlformats.org/officeDocument/2006/math">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𝑠</m:t>
                        </m:r>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r>
                          <a:rPr lang="es-ES" i="1">
                            <a:latin typeface="Cambria Math" panose="02040503050406030204" pitchFamily="18" charset="0"/>
                          </a:rPr>
                          <m:t>−1</m:t>
                        </m:r>
                      </m:den>
                    </m:f>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rPr>
                                      <m:t>𝑋</m:t>
                                    </m:r>
                                  </m:e>
                                </m:acc>
                              </m:e>
                            </m:d>
                          </m:e>
                          <m:sup>
                            <m:r>
                              <a:rPr lang="es-ES" i="1">
                                <a:latin typeface="Cambria Math" panose="02040503050406030204" pitchFamily="18" charset="0"/>
                              </a:rPr>
                              <m:t>2</m:t>
                            </m:r>
                          </m:sup>
                        </m:sSup>
                      </m:e>
                    </m:nary>
                  </m:oMath>
                </a14:m>
                <a:endParaRPr lang="es-ES" dirty="0"/>
              </a:p>
              <a:p>
                <a:r>
                  <a:rPr lang="es-ES" dirty="0"/>
                  <a:t>Los valores de la variable estandarizada </a:t>
                </a:r>
                <a14:m>
                  <m:oMath xmlns:m="http://schemas.openxmlformats.org/officeDocument/2006/math">
                    <m:r>
                      <a:rPr lang="es-ES" i="1">
                        <a:latin typeface="Cambria Math" panose="02040503050406030204" pitchFamily="18" charset="0"/>
                      </a:rPr>
                      <m:t>𝑍</m:t>
                    </m:r>
                    <m:r>
                      <a:rPr lang="es-ES" i="1">
                        <a:latin typeface="Cambria Math" panose="02040503050406030204" pitchFamily="18" charset="0"/>
                      </a:rPr>
                      <m:t> </m:t>
                    </m:r>
                  </m:oMath>
                </a14:m>
                <a:r>
                  <a:rPr lang="es-ES" dirty="0"/>
                  <a:t>correspondientes a los cuantiles (q): </a:t>
                </a:r>
                <a14:m>
                  <m:oMath xmlns:m="http://schemas.openxmlformats.org/officeDocument/2006/math">
                    <m:f>
                      <m:fPr>
                        <m:ctrlPr>
                          <a:rPr lang="es-ES" b="0" i="1" smtClean="0">
                            <a:latin typeface="Cambria Math" panose="02040503050406030204" pitchFamily="18" charset="0"/>
                            <a:ea typeface="Cambria Math" panose="02040503050406030204" pitchFamily="18" charset="0"/>
                          </a:rPr>
                        </m:ctrlPr>
                      </m:fPr>
                      <m:num>
                        <m:r>
                          <m:rPr>
                            <m:nor/>
                          </m:rPr>
                          <a:rPr lang="el-GR" smtClean="0">
                            <a:latin typeface="Cambria Math" panose="02040503050406030204" pitchFamily="18" charset="0"/>
                            <a:ea typeface="Cambria Math" panose="02040503050406030204" pitchFamily="18" charset="0"/>
                          </a:rPr>
                          <m:t>α</m:t>
                        </m:r>
                      </m:num>
                      <m:den>
                        <m:r>
                          <a:rPr lang="es-ES" b="0" i="1" smtClean="0">
                            <a:latin typeface="Cambria Math" panose="02040503050406030204" pitchFamily="18" charset="0"/>
                            <a:ea typeface="Cambria Math" panose="02040503050406030204" pitchFamily="18" charset="0"/>
                          </a:rPr>
                          <m:t>2</m:t>
                        </m:r>
                      </m:den>
                    </m:f>
                  </m:oMath>
                </a14:m>
                <a:r>
                  <a:rPr lang="es-ES" dirty="0"/>
                  <a:t> y </a:t>
                </a:r>
                <a14:m>
                  <m:oMath xmlns:m="http://schemas.openxmlformats.org/officeDocument/2006/math">
                    <m:d>
                      <m:dPr>
                        <m:ctrlPr>
                          <a:rPr lang="es-ES" i="1">
                            <a:latin typeface="Cambria Math" panose="02040503050406030204" pitchFamily="18" charset="0"/>
                          </a:rPr>
                        </m:ctrlPr>
                      </m:dPr>
                      <m:e>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α</m:t>
                            </m:r>
                          </m:num>
                          <m:den>
                            <m:r>
                              <a:rPr lang="es-ES" i="1">
                                <a:latin typeface="Cambria Math" panose="02040503050406030204" pitchFamily="18" charset="0"/>
                                <a:ea typeface="Cambria Math" panose="02040503050406030204" pitchFamily="18" charset="0"/>
                              </a:rPr>
                              <m:t>2</m:t>
                            </m:r>
                          </m:den>
                        </m:f>
                      </m:e>
                    </m:d>
                  </m:oMath>
                </a14:m>
                <a:r>
                  <a:rPr lang="es-ES" dirty="0"/>
                  <a:t> se denominan valores críticos, y se denotan como</a:t>
                </a:r>
              </a:p>
              <a:p>
                <a:pPr lvl="1"/>
                <a14:m>
                  <m:oMath xmlns:m="http://schemas.openxmlformats.org/officeDocument/2006/math">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r>
                      <a:rPr lang="es-ES" b="0" i="1" smtClean="0">
                        <a:latin typeface="Cambria Math" panose="02040503050406030204" pitchFamily="18" charset="0"/>
                      </a:rPr>
                      <m:t>=</m:t>
                    </m:r>
                    <m:r>
                      <a:rPr lang="es-ES" i="1">
                        <a:latin typeface="Cambria Math" panose="02040503050406030204" pitchFamily="18" charset="0"/>
                      </a:rPr>
                      <m:t>𝑞</m:t>
                    </m:r>
                    <m:d>
                      <m:dPr>
                        <m:ctrlPr>
                          <a:rPr lang="es-ES" i="1">
                            <a:latin typeface="Cambria Math" panose="02040503050406030204" pitchFamily="18" charset="0"/>
                          </a:rPr>
                        </m:ctrlPr>
                      </m:dPr>
                      <m:e>
                        <m:f>
                          <m:fPr>
                            <m:ctrlPr>
                              <a:rPr lang="es-ES" i="1">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e>
                    </m:d>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rPr>
                          <m:t>2</m:t>
                        </m:r>
                      </m:den>
                    </m:f>
                  </m:oMath>
                </a14:m>
                <a:endParaRPr lang="es-ES" dirty="0"/>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r>
                      <a:rPr lang="es-ES" b="0" i="1" smtClean="0">
                        <a:latin typeface="Cambria Math" panose="02040503050406030204" pitchFamily="18" charset="0"/>
                      </a:rPr>
                      <m:t>=</m:t>
                    </m:r>
                    <m:r>
                      <a:rPr lang="es-ES" i="1">
                        <a:latin typeface="Cambria Math" panose="02040503050406030204" pitchFamily="18" charset="0"/>
                      </a:rPr>
                      <m:t>𝑞</m:t>
                    </m:r>
                    <m:d>
                      <m:dPr>
                        <m:ctrlPr>
                          <a:rPr lang="es-ES" i="1">
                            <a:latin typeface="Cambria Math" panose="02040503050406030204" pitchFamily="18" charset="0"/>
                          </a:rPr>
                        </m:ctrlPr>
                      </m:dPr>
                      <m:e>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α</m:t>
                            </m:r>
                          </m:num>
                          <m:den>
                            <m:r>
                              <a:rPr lang="es-ES" i="1">
                                <a:latin typeface="Cambria Math" panose="02040503050406030204" pitchFamily="18" charset="0"/>
                                <a:ea typeface="Cambria Math" panose="02040503050406030204" pitchFamily="18" charset="0"/>
                              </a:rPr>
                              <m:t>2</m:t>
                            </m:r>
                          </m:den>
                        </m:f>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e>
                    </m:d>
                    <m:r>
                      <a:rPr lang="es-ES" i="1">
                        <a:latin typeface="Cambria Math" panose="02040503050406030204" pitchFamily="18" charset="0"/>
                      </a:rPr>
                      <m:t>=</m:t>
                    </m:r>
                    <m:r>
                      <a:rPr lang="es-ES" b="0" i="1" smtClean="0">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rPr>
                          <m:t>2</m:t>
                        </m:r>
                      </m:den>
                    </m:f>
                  </m:oMath>
                </a14:m>
                <a:endParaRPr lang="es-ES" dirty="0"/>
              </a:p>
              <a:p>
                <a:r>
                  <a:rPr lang="es-ES" dirty="0"/>
                  <a:t>Por lo que </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r>
                          <a:rPr lang="es-ES"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𝜇</m:t>
                            </m:r>
                          </m:num>
                          <m:den>
                            <m:r>
                              <a:rPr lang="es-ES" b="0" i="1" smtClean="0">
                                <a:latin typeface="Cambria Math" panose="02040503050406030204" pitchFamily="18" charset="0"/>
                                <a:ea typeface="Cambria Math" panose="02040503050406030204" pitchFamily="18" charset="0"/>
                              </a:rPr>
                              <m:t>𝑠</m:t>
                            </m:r>
                            <m:r>
                              <a:rPr lang="es-ES" b="0" i="1" smtClean="0">
                                <a:latin typeface="Cambria Math" panose="02040503050406030204" pitchFamily="18" charset="0"/>
                                <a:ea typeface="Cambria Math" panose="02040503050406030204" pitchFamily="18" charset="0"/>
                              </a:rPr>
                              <m:t>/</m:t>
                            </m:r>
                            <m:rad>
                              <m:radPr>
                                <m:degHide m:val="on"/>
                                <m:ctrlPr>
                                  <a:rPr lang="es-ES" b="0" i="1" smtClean="0">
                                    <a:latin typeface="Cambria Math" panose="02040503050406030204" pitchFamily="18" charset="0"/>
                                    <a:ea typeface="Cambria Math" panose="02040503050406030204" pitchFamily="18" charset="0"/>
                                  </a:rPr>
                                </m:ctrlPr>
                              </m:radPr>
                              <m:deg/>
                              <m:e>
                                <m:r>
                                  <a:rPr lang="es-ES" b="0" i="1" smtClean="0">
                                    <a:latin typeface="Cambria Math" panose="02040503050406030204" pitchFamily="18" charset="0"/>
                                    <a:ea typeface="Cambria Math" panose="02040503050406030204" pitchFamily="18" charset="0"/>
                                  </a:rPr>
                                  <m:t>𝑛</m:t>
                                </m:r>
                              </m:e>
                            </m:rad>
                          </m:den>
                        </m:f>
                        <m:r>
                          <a:rPr lang="es-ES"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𝑠</m:t>
                        </m:r>
                        <m:r>
                          <a:rPr lang="es-ES" b="0" i="1" smtClean="0">
                            <a:latin typeface="Cambria Math" panose="02040503050406030204" pitchFamily="18" charset="0"/>
                            <a:ea typeface="Cambria Math" panose="02040503050406030204" pitchFamily="18" charset="0"/>
                          </a:rPr>
                          <m:t>/</m:t>
                        </m:r>
                        <m:rad>
                          <m:radPr>
                            <m:degHide m:val="on"/>
                            <m:ctrlPr>
                              <a:rPr lang="es-ES" b="0" i="1" smtClean="0">
                                <a:latin typeface="Cambria Math" panose="02040503050406030204" pitchFamily="18" charset="0"/>
                                <a:ea typeface="Cambria Math" panose="02040503050406030204" pitchFamily="18" charset="0"/>
                              </a:rPr>
                            </m:ctrlPr>
                          </m:radPr>
                          <m:deg/>
                          <m:e>
                            <m:r>
                              <a:rPr lang="es-ES" b="0" i="1" smtClean="0">
                                <a:latin typeface="Cambria Math" panose="02040503050406030204" pitchFamily="18" charset="0"/>
                                <a:ea typeface="Cambria Math" panose="02040503050406030204" pitchFamily="18" charset="0"/>
                              </a:rPr>
                              <m:t>𝑛</m:t>
                            </m:r>
                          </m:e>
                        </m:rad>
                        <m:r>
                          <a:rPr lang="es-ES" i="1">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𝜇</m:t>
                        </m:r>
                        <m:r>
                          <a:rPr lang="es-ES" i="1">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b="0" i="1" smtClean="0">
                                <a:latin typeface="Cambria Math" panose="02040503050406030204" pitchFamily="18" charset="0"/>
                                <a:ea typeface="Cambria Math" panose="02040503050406030204" pitchFamily="18" charset="0"/>
                              </a:rPr>
                              <m:t>+</m:t>
                            </m:r>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𝑛</m:t>
                            </m:r>
                          </m:e>
                        </m:rad>
                      </m:e>
                    </m:d>
                    <m:r>
                      <a:rPr lang="es-ES" b="0" i="1" smtClean="0">
                        <a:latin typeface="Cambria Math" panose="02040503050406030204" pitchFamily="18" charset="0"/>
                        <a:ea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e>
                    </m:d>
                  </m:oMath>
                </a14:m>
                <a:endParaRPr lang="es-ES" dirty="0"/>
              </a:p>
              <a:p>
                <a:r>
                  <a:rPr lang="es-ES" dirty="0"/>
                  <a:t>Y el intervalo de confianza utilizando una muestra concreta con media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𝑥</m:t>
                        </m:r>
                      </m:e>
                    </m:acc>
                  </m:oMath>
                </a14:m>
                <a:r>
                  <a:rPr lang="es-ES" dirty="0"/>
                  <a:t> y desviación </a:t>
                </a:r>
                <a14:m>
                  <m:oMath xmlns:m="http://schemas.openxmlformats.org/officeDocument/2006/math">
                    <m:r>
                      <a:rPr lang="es-ES" i="1">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 </m:t>
                    </m:r>
                  </m:oMath>
                </a14:m>
                <a:r>
                  <a:rPr lang="es-ES" dirty="0"/>
                  <a:t>es</a:t>
                </a:r>
              </a:p>
              <a:p>
                <a:pPr lvl="1"/>
                <a14:m>
                  <m:oMath xmlns:m="http://schemas.openxmlformats.org/officeDocument/2006/math">
                    <m:d>
                      <m:dPr>
                        <m:begChr m:val="["/>
                        <m:endChr m:val="]"/>
                        <m:ctrlPr>
                          <a:rPr lang="es-ES"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f>
                          <m:fPr>
                            <m:ctrlPr>
                              <a:rPr lang="es-ES" i="1">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m:rPr>
                            <m:nor/>
                          </m:rPr>
                          <a:rPr lang="es-ES" dirty="0"/>
                          <m:t> </m:t>
                        </m:r>
                        <m:r>
                          <a:rPr lang="es-ES" b="0" i="1" smtClean="0">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sub>
                        </m:sSub>
                        <m:f>
                          <m:fPr>
                            <m:ctrlPr>
                              <a:rPr lang="es-ES" i="1">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m:rPr>
                            <m:nor/>
                          </m:rPr>
                          <a:rPr lang="es-ES" dirty="0"/>
                          <m:t> </m:t>
                        </m:r>
                      </m:e>
                    </m:d>
                  </m:oMath>
                </a14:m>
                <a:endParaRPr lang="es-ES" dirty="0"/>
              </a:p>
              <a:p>
                <a:pPr lvl="1"/>
                <a:endParaRPr lang="es-ES" dirty="0"/>
              </a:p>
              <a:p>
                <a:pPr lvl="2"/>
                <a:endParaRPr lang="es-ES" dirty="0"/>
              </a:p>
              <a:p>
                <a:pPr lvl="2"/>
                <a:endParaRPr lang="es-ES" dirty="0"/>
              </a:p>
              <a:p>
                <a:pPr marL="914400" lvl="2" indent="0">
                  <a:buNone/>
                </a:pPr>
                <a:endParaRPr lang="es-ES" dirty="0"/>
              </a:p>
              <a:p>
                <a:pPr lvl="1"/>
                <a:endParaRPr lang="es-ES" dirty="0"/>
              </a:p>
              <a:p>
                <a:pPr lvl="1"/>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77F31CED-754F-7768-0AAC-C07EDE8B0CD6}"/>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522" t="-169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31</a:t>
            </a:fld>
            <a:endParaRPr lang="es-ES" dirty="0"/>
          </a:p>
        </p:txBody>
      </p:sp>
    </p:spTree>
    <p:extLst>
      <p:ext uri="{BB962C8B-B14F-4D97-AF65-F5344CB8AC3E}">
        <p14:creationId xmlns:p14="http://schemas.microsoft.com/office/powerpoint/2010/main" val="28141471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fontScale="90000"/>
          </a:bodyPr>
          <a:lstStyle/>
          <a:p>
            <a:r>
              <a:rPr lang="es-ES" dirty="0"/>
              <a:t>7. Intervalo de confianza para la media poblacional </a:t>
            </a:r>
            <a:br>
              <a:rPr lang="es-ES" dirty="0"/>
            </a:br>
            <a:r>
              <a:rPr lang="es-ES" dirty="0"/>
              <a:t>Muestra pequeña y varianza desconocida</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a:xfrm>
                <a:off x="838200" y="1825625"/>
                <a:ext cx="10515600" cy="4351338"/>
              </a:xfrm>
            </p:spPr>
            <p:txBody>
              <a:bodyPr>
                <a:normAutofit fontScale="62500" lnSpcReduction="20000"/>
              </a:bodyPr>
              <a:lstStyle/>
              <a:p>
                <a:r>
                  <a:rPr lang="es-ES" dirty="0"/>
                  <a:t>Cuando la muestra es pequeña, en lugar se asumir que el estimador tiene una distribución Normal, se considera que tiene una distribución T de </a:t>
                </a:r>
                <a:r>
                  <a:rPr lang="es-ES" dirty="0" err="1"/>
                  <a:t>Student</a:t>
                </a:r>
                <a:r>
                  <a:rPr lang="es-ES" dirty="0"/>
                  <a:t> con n-1 grados de libertad</a:t>
                </a:r>
              </a:p>
              <a:p>
                <a:pPr lvl="1"/>
                <a:r>
                  <a:rPr lang="es-ES" dirty="0"/>
                  <a:t>Se obtiene un intervalo más ancho</a:t>
                </a:r>
              </a:p>
              <a:p>
                <a:r>
                  <a:rPr lang="es-ES" dirty="0"/>
                  <a:t>El estimador </a:t>
                </a:r>
                <a14:m>
                  <m:oMath xmlns:m="http://schemas.openxmlformats.org/officeDocument/2006/math">
                    <m:acc>
                      <m:accPr>
                        <m:chr m:val="̂"/>
                        <m:ctrlPr>
                          <a:rPr lang="es-ES" i="1" smtClean="0">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oMath>
                </a14:m>
                <a:r>
                  <a:rPr lang="es-ES" dirty="0"/>
                  <a:t> se convierte en una variable </a:t>
                </a:r>
                <a14:m>
                  <m:oMath xmlns:m="http://schemas.openxmlformats.org/officeDocument/2006/math">
                    <m:r>
                      <a:rPr lang="es-ES" b="0" i="1" smtClean="0">
                        <a:latin typeface="Cambria Math" panose="02040503050406030204" pitchFamily="18" charset="0"/>
                      </a:rPr>
                      <m:t>𝑇</m:t>
                    </m:r>
                    <m:r>
                      <a:rPr lang="es-ES" b="0" i="1" smtClean="0">
                        <a:latin typeface="Cambria Math" panose="02040503050406030204" pitchFamily="18" charset="0"/>
                      </a:rPr>
                      <m:t>(</m:t>
                    </m:r>
                    <m:r>
                      <a:rPr lang="es-ES" b="0" i="1" smtClean="0">
                        <a:latin typeface="Cambria Math" panose="02040503050406030204" pitchFamily="18" charset="0"/>
                      </a:rPr>
                      <m:t>𝑛</m:t>
                    </m:r>
                    <m:r>
                      <a:rPr lang="es-ES" b="0" i="1" smtClean="0">
                        <a:latin typeface="Cambria Math" panose="02040503050406030204" pitchFamily="18" charset="0"/>
                      </a:rPr>
                      <m:t>−1)</m:t>
                    </m:r>
                  </m:oMath>
                </a14:m>
                <a:endParaRPr lang="es-ES" dirty="0"/>
              </a:p>
              <a:p>
                <a:pPr lvl="1"/>
                <a14:m>
                  <m:oMath xmlns:m="http://schemas.openxmlformats.org/officeDocument/2006/math">
                    <m:r>
                      <a:rPr lang="es-ES" b="0" i="1" smtClean="0">
                        <a:latin typeface="Cambria Math" panose="02040503050406030204" pitchFamily="18" charset="0"/>
                      </a:rPr>
                      <m:t>𝑇</m:t>
                    </m:r>
                    <m:r>
                      <a:rPr lang="es-ES" b="0" i="1" smtClean="0">
                        <a:latin typeface="Cambria Math" panose="02040503050406030204" pitchFamily="18" charset="0"/>
                      </a:rPr>
                      <m:t>(</m:t>
                    </m:r>
                    <m:r>
                      <a:rPr lang="es-ES" b="0" i="1" smtClean="0">
                        <a:latin typeface="Cambria Math" panose="02040503050406030204" pitchFamily="18" charset="0"/>
                      </a:rPr>
                      <m:t>𝑛</m:t>
                    </m:r>
                    <m:r>
                      <a:rPr lang="es-ES" b="0" i="1" smtClean="0">
                        <a:latin typeface="Cambria Math" panose="02040503050406030204" pitchFamily="18" charset="0"/>
                      </a:rPr>
                      <m:t>−1)=</m:t>
                    </m:r>
                    <m:f>
                      <m:fPr>
                        <m:ctrlPr>
                          <a:rPr lang="es-ES" b="0" i="1" smtClean="0">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𝐸</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num>
                      <m:den>
                        <m:r>
                          <a:rPr lang="es-ES" b="0" i="1" smtClean="0">
                            <a:latin typeface="Cambria Math" panose="02040503050406030204" pitchFamily="18" charset="0"/>
                            <a:ea typeface="Cambria Math" panose="02040503050406030204" pitchFamily="18" charset="0"/>
                          </a:rPr>
                          <m:t>𝑠</m:t>
                        </m:r>
                        <m:d>
                          <m:dPr>
                            <m:ctrlPr>
                              <a:rPr lang="es-ES" b="0"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e>
                        </m:d>
                      </m:den>
                    </m:f>
                    <m:r>
                      <a:rPr lang="es-ES" b="0" i="1" smtClean="0">
                        <a:latin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ea typeface="Cambria Math" panose="02040503050406030204" pitchFamily="18" charset="0"/>
                          </a:rPr>
                          <m:t>−</m:t>
                        </m:r>
                        <m:r>
                          <a:rPr lang="es-ES" i="1" smtClean="0">
                            <a:latin typeface="Cambria Math" panose="02040503050406030204" pitchFamily="18" charset="0"/>
                            <a:ea typeface="Cambria Math" panose="02040503050406030204" pitchFamily="18" charset="0"/>
                          </a:rPr>
                          <m:t>𝜇</m:t>
                        </m:r>
                      </m:num>
                      <m:den>
                        <m:r>
                          <a:rPr lang="es-ES" i="1">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𝑛</m:t>
                            </m:r>
                          </m:e>
                        </m:rad>
                      </m:den>
                    </m:f>
                  </m:oMath>
                </a14:m>
                <a:endParaRPr lang="es-ES" dirty="0"/>
              </a:p>
              <a:p>
                <a:r>
                  <a:rPr lang="es-ES" dirty="0"/>
                  <a:t>Los valores de la variable T</a:t>
                </a:r>
                <a14:m>
                  <m:oMath xmlns:m="http://schemas.openxmlformats.org/officeDocument/2006/math">
                    <m:r>
                      <a:rPr lang="es-ES" i="1">
                        <a:latin typeface="Cambria Math" panose="02040503050406030204" pitchFamily="18" charset="0"/>
                      </a:rPr>
                      <m:t> </m:t>
                    </m:r>
                  </m:oMath>
                </a14:m>
                <a:r>
                  <a:rPr lang="es-ES" dirty="0"/>
                  <a:t>correspondientes a los cuantiles </a:t>
                </a:r>
                <a14:m>
                  <m:oMath xmlns:m="http://schemas.openxmlformats.org/officeDocument/2006/math">
                    <m:f>
                      <m:fPr>
                        <m:ctrlPr>
                          <a:rPr lang="es-ES" i="1" smtClean="0">
                            <a:latin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rPr>
                          <m:t>2</m:t>
                        </m:r>
                      </m:den>
                    </m:f>
                  </m:oMath>
                </a14:m>
                <a:r>
                  <a:rPr lang="es-ES" dirty="0"/>
                  <a:t> y </a:t>
                </a:r>
                <a14:m>
                  <m:oMath xmlns:m="http://schemas.openxmlformats.org/officeDocument/2006/math">
                    <m:r>
                      <a:rPr lang="es-ES" b="0" i="1" smtClean="0">
                        <a:latin typeface="Cambria Math" panose="02040503050406030204" pitchFamily="18" charset="0"/>
                      </a:rPr>
                      <m:t>1−</m:t>
                    </m:r>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rPr>
                          <m:t>2</m:t>
                        </m:r>
                      </m:den>
                    </m:f>
                  </m:oMath>
                </a14:m>
                <a:r>
                  <a:rPr lang="es-ES" dirty="0"/>
                  <a:t> se denominan valores críticos, y se denotan como</a:t>
                </a:r>
              </a:p>
              <a:p>
                <a:pPr lvl="1"/>
                <a14:m>
                  <m:oMath xmlns:m="http://schemas.openxmlformats.org/officeDocument/2006/math">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rPr>
                      <m:t>=</m:t>
                    </m:r>
                    <m:r>
                      <a:rPr lang="es-ES" b="0" i="1" smtClean="0">
                        <a:latin typeface="Cambria Math" panose="02040503050406030204" pitchFamily="18" charset="0"/>
                      </a:rPr>
                      <m:t>𝑞</m:t>
                    </m:r>
                    <m:d>
                      <m:dPr>
                        <m:ctrlPr>
                          <a:rPr lang="es-ES" b="0" i="1" smtClean="0">
                            <a:latin typeface="Cambria Math" panose="02040503050406030204" pitchFamily="18" charset="0"/>
                          </a:rPr>
                        </m:ctrlPr>
                      </m:dPr>
                      <m:e>
                        <m:f>
                          <m:fPr>
                            <m:ctrlPr>
                              <a:rPr lang="es-ES" b="0" i="1" smtClean="0">
                                <a:latin typeface="Cambria Math" panose="02040503050406030204" pitchFamily="18" charset="0"/>
                                <a:ea typeface="Cambria Math" panose="02040503050406030204" pitchFamily="18" charset="0"/>
                              </a:rPr>
                            </m:ctrlPr>
                          </m:fPr>
                          <m:num>
                            <m:r>
                              <a:rPr lang="el-GR"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b="0" i="1" smtClean="0">
                            <a:latin typeface="Cambria Math" panose="02040503050406030204" pitchFamily="18" charset="0"/>
                          </a:rPr>
                          <m:t>𝑇</m:t>
                        </m:r>
                        <m:r>
                          <a:rPr lang="es-ES" i="1">
                            <a:latin typeface="Cambria Math" panose="02040503050406030204" pitchFamily="18" charset="0"/>
                          </a:rPr>
                          <m:t>&lt;−</m:t>
                        </m:r>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e>
                    </m:d>
                    <m:r>
                      <a:rPr lang="es-ES" i="1">
                        <a:latin typeface="Cambria Math" panose="02040503050406030204" pitchFamily="18" charset="0"/>
                      </a:rPr>
                      <m:t>=</m:t>
                    </m:r>
                    <m:f>
                      <m:fPr>
                        <m:ctrlPr>
                          <a:rPr lang="es-ES" b="0" i="1" smtClean="0">
                            <a:latin typeface="Cambria Math" panose="02040503050406030204" pitchFamily="18" charset="0"/>
                            <a:ea typeface="Cambria Math" panose="02040503050406030204" pitchFamily="18" charset="0"/>
                          </a:rPr>
                        </m:ctrlPr>
                      </m:fPr>
                      <m:num>
                        <m:r>
                          <m:rPr>
                            <m:sty m:val="p"/>
                          </m:rPr>
                          <a:rPr lang="el-GR" i="1" smtClean="0">
                            <a:latin typeface="Cambria Math" panose="02040503050406030204" pitchFamily="18" charset="0"/>
                            <a:ea typeface="Cambria Math" panose="02040503050406030204" pitchFamily="18" charset="0"/>
                          </a:rPr>
                          <m:t>α</m:t>
                        </m:r>
                      </m:num>
                      <m:den>
                        <m:r>
                          <a:rPr lang="es-ES" b="0" i="1" smtClean="0">
                            <a:latin typeface="Cambria Math" panose="02040503050406030204" pitchFamily="18" charset="0"/>
                            <a:ea typeface="Cambria Math" panose="02040503050406030204" pitchFamily="18" charset="0"/>
                          </a:rPr>
                          <m:t>2</m:t>
                        </m:r>
                      </m:den>
                    </m:f>
                  </m:oMath>
                </a14:m>
                <a:endParaRPr lang="es-ES" dirty="0"/>
              </a:p>
              <a:p>
                <a:pPr lvl="1"/>
                <a14:m>
                  <m:oMath xmlns:m="http://schemas.openxmlformats.org/officeDocument/2006/math">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rPr>
                      <m:t>=</m:t>
                    </m:r>
                    <m:r>
                      <a:rPr lang="es-ES" b="0" i="1" smtClean="0">
                        <a:latin typeface="Cambria Math" panose="02040503050406030204" pitchFamily="18" charset="0"/>
                      </a:rPr>
                      <m:t>𝑞</m:t>
                    </m:r>
                    <m:d>
                      <m:dPr>
                        <m:ctrlPr>
                          <a:rPr lang="es-ES" b="0" i="1" smtClean="0">
                            <a:latin typeface="Cambria Math" panose="02040503050406030204" pitchFamily="18" charset="0"/>
                          </a:rPr>
                        </m:ctrlPr>
                      </m:dPr>
                      <m:e>
                        <m:r>
                          <a:rPr lang="es-ES" i="1">
                            <a:latin typeface="Cambria Math" panose="02040503050406030204" pitchFamily="18" charset="0"/>
                          </a:rPr>
                          <m:t>1−</m:t>
                        </m:r>
                        <m:f>
                          <m:fPr>
                            <m:ctrlPr>
                              <a:rPr lang="es-ES" b="0" i="1" smtClean="0">
                                <a:latin typeface="Cambria Math" panose="02040503050406030204" pitchFamily="18" charset="0"/>
                                <a:ea typeface="Cambria Math" panose="02040503050406030204" pitchFamily="18" charset="0"/>
                              </a:rPr>
                            </m:ctrlPr>
                          </m:fPr>
                          <m:num>
                            <m:r>
                              <m:rPr>
                                <m:sty m:val="p"/>
                              </m:rPr>
                              <a:rPr lang="el-GR" i="1" smtClean="0">
                                <a:latin typeface="Cambria Math" panose="02040503050406030204" pitchFamily="18" charset="0"/>
                                <a:ea typeface="Cambria Math" panose="02040503050406030204" pitchFamily="18" charset="0"/>
                              </a:rPr>
                              <m:t>α</m:t>
                            </m:r>
                          </m:num>
                          <m:den>
                            <m:r>
                              <a:rPr lang="es-ES" b="0" i="1" smtClean="0">
                                <a:latin typeface="Cambria Math" panose="02040503050406030204" pitchFamily="18" charset="0"/>
                                <a:ea typeface="Cambria Math" panose="02040503050406030204" pitchFamily="18" charset="0"/>
                              </a:rPr>
                              <m:t>2</m:t>
                            </m:r>
                          </m:den>
                        </m:f>
                      </m:e>
                    </m:d>
                    <m:r>
                      <m:rPr>
                        <m:nor/>
                      </m:rPr>
                      <a:rPr lang="es-ES" b="0" i="0" smtClean="0">
                        <a:latin typeface="Cambria Math" panose="02040503050406030204" pitchFamily="18" charset="0"/>
                      </a:rPr>
                      <m:t> </m:t>
                    </m:r>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b="0" i="1" smtClean="0">
                            <a:latin typeface="Cambria Math" panose="02040503050406030204" pitchFamily="18" charset="0"/>
                          </a:rPr>
                          <m:t>𝑇</m:t>
                        </m:r>
                        <m:r>
                          <a:rPr lang="es-ES" i="1">
                            <a:latin typeface="Cambria Math" panose="02040503050406030204" pitchFamily="18" charset="0"/>
                          </a:rPr>
                          <m:t>&lt;</m:t>
                        </m:r>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e>
                    </m:d>
                    <m:r>
                      <a:rPr lang="es-ES" i="1">
                        <a:latin typeface="Cambria Math" panose="02040503050406030204" pitchFamily="18" charset="0"/>
                      </a:rPr>
                      <m:t>=</m:t>
                    </m:r>
                    <m:r>
                      <a:rPr lang="es-ES" b="0" i="1" smtClean="0">
                        <a:latin typeface="Cambria Math" panose="02040503050406030204" pitchFamily="18" charset="0"/>
                      </a:rPr>
                      <m:t>1−</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oMath>
                </a14:m>
                <a:endParaRPr lang="es-ES" dirty="0"/>
              </a:p>
              <a:p>
                <a:r>
                  <a:rPr lang="es-ES" dirty="0"/>
                  <a:t>Por lo que </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r>
                          <a:rPr lang="es-ES" i="1">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𝜇</m:t>
                            </m:r>
                          </m:num>
                          <m:den>
                            <m:r>
                              <a:rPr lang="es-ES" i="1">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m:t>
                            </m:r>
                            <m:rad>
                              <m:radPr>
                                <m:degHide m:val="on"/>
                                <m:ctrlPr>
                                  <a:rPr lang="es-ES" i="1">
                                    <a:latin typeface="Cambria Math" panose="02040503050406030204" pitchFamily="18" charset="0"/>
                                    <a:ea typeface="Cambria Math" panose="02040503050406030204" pitchFamily="18" charset="0"/>
                                  </a:rPr>
                                </m:ctrlPr>
                              </m:radPr>
                              <m:deg/>
                              <m:e>
                                <m:r>
                                  <a:rPr lang="es-ES" i="1">
                                    <a:latin typeface="Cambria Math" panose="02040503050406030204" pitchFamily="18" charset="0"/>
                                    <a:ea typeface="Cambria Math" panose="02040503050406030204" pitchFamily="18" charset="0"/>
                                  </a:rPr>
                                  <m:t>𝑛</m:t>
                                </m:r>
                              </m:e>
                            </m:rad>
                          </m:den>
                        </m:f>
                        <m:r>
                          <a:rPr lang="es-ES"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r>
                              <a:rPr lang="es-ES" i="1">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a:rPr lang="es-ES" i="1">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rPr>
                              <m:t>𝑋</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r>
                              <a:rPr lang="es-ES" i="1">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e>
                    </m:d>
                    <m:r>
                      <a:rPr lang="es-ES" b="0" i="1" smtClean="0">
                        <a:latin typeface="Cambria Math" panose="02040503050406030204" pitchFamily="18" charset="0"/>
                        <a:ea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e>
                    </m:d>
                  </m:oMath>
                </a14:m>
                <a:endParaRPr lang="es-ES" dirty="0"/>
              </a:p>
              <a:p>
                <a:r>
                  <a:rPr lang="es-ES" dirty="0"/>
                  <a:t>Y el intervalo de confianza utilizando una muestra concreta con media </a:t>
                </a:r>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𝑥</m:t>
                        </m:r>
                      </m:e>
                    </m:acc>
                  </m:oMath>
                </a14:m>
                <a:r>
                  <a:rPr lang="es-ES" dirty="0"/>
                  <a:t> y desviación </a:t>
                </a:r>
                <a14:m>
                  <m:oMath xmlns:m="http://schemas.openxmlformats.org/officeDocument/2006/math">
                    <m:r>
                      <a:rPr lang="es-ES" i="1">
                        <a:latin typeface="Cambria Math" panose="02040503050406030204" pitchFamily="18" charset="0"/>
                        <a:ea typeface="Cambria Math" panose="02040503050406030204" pitchFamily="18" charset="0"/>
                      </a:rPr>
                      <m:t>𝑠</m:t>
                    </m:r>
                    <m:r>
                      <a:rPr lang="es-ES" i="1">
                        <a:latin typeface="Cambria Math" panose="02040503050406030204" pitchFamily="18" charset="0"/>
                        <a:ea typeface="Cambria Math" panose="02040503050406030204" pitchFamily="18" charset="0"/>
                      </a:rPr>
                      <m:t> </m:t>
                    </m:r>
                  </m:oMath>
                </a14:m>
                <a:r>
                  <a:rPr lang="es-ES" dirty="0"/>
                  <a:t>es es</a:t>
                </a:r>
              </a:p>
              <a:p>
                <a:pPr lvl="1"/>
                <a14:m>
                  <m:oMath xmlns:m="http://schemas.openxmlformats.org/officeDocument/2006/math">
                    <m:d>
                      <m:dPr>
                        <m:begChr m:val="["/>
                        <m:endChr m:val="]"/>
                        <m:ctrlPr>
                          <a:rPr lang="es-ES" i="1" smtClean="0">
                            <a:latin typeface="Cambria Math" panose="02040503050406030204" pitchFamily="18" charset="0"/>
                            <a:ea typeface="Cambria Math" panose="02040503050406030204" pitchFamily="18" charset="0"/>
                          </a:rPr>
                        </m:ctrlPr>
                      </m:dPr>
                      <m:e>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r>
                              <a:rPr lang="es-ES" i="1">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m:rPr>
                            <m:nor/>
                          </m:rPr>
                          <a:rPr lang="es-ES" dirty="0"/>
                          <m:t> </m:t>
                        </m:r>
                        <m:r>
                          <a:rPr lang="es-ES" b="0" i="1" smtClean="0">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r>
                              <a:rPr lang="es-ES" i="1">
                                <a:latin typeface="Cambria Math" panose="02040503050406030204" pitchFamily="18" charset="0"/>
                              </a:rPr>
                              <m:t>𝑠</m:t>
                            </m:r>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m:rPr>
                            <m:nor/>
                          </m:rPr>
                          <a:rPr lang="es-ES" dirty="0"/>
                          <m:t> </m:t>
                        </m:r>
                      </m:e>
                    </m:d>
                  </m:oMath>
                </a14:m>
                <a:endParaRPr lang="es-ES" dirty="0"/>
              </a:p>
              <a:p>
                <a:pPr lvl="2"/>
                <a:endParaRPr lang="es-ES" dirty="0"/>
              </a:p>
              <a:p>
                <a:pPr marL="914400" lvl="2" indent="0">
                  <a:buNone/>
                </a:pPr>
                <a:endParaRPr lang="es-ES" dirty="0"/>
              </a:p>
              <a:p>
                <a:pPr lvl="1"/>
                <a:endParaRPr lang="es-ES" dirty="0"/>
              </a:p>
              <a:p>
                <a:pPr lvl="1"/>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77F31CED-754F-7768-0AAC-C07EDE8B0CD6}"/>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406"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32</a:t>
            </a:fld>
            <a:endParaRPr lang="es-ES" dirty="0"/>
          </a:p>
        </p:txBody>
      </p:sp>
    </p:spTree>
    <p:extLst>
      <p:ext uri="{BB962C8B-B14F-4D97-AF65-F5344CB8AC3E}">
        <p14:creationId xmlns:p14="http://schemas.microsoft.com/office/powerpoint/2010/main" val="40351728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673567-7BB6-A760-E768-7419703F4973}"/>
              </a:ext>
            </a:extLst>
          </p:cNvPr>
          <p:cNvSpPr>
            <a:spLocks noGrp="1"/>
          </p:cNvSpPr>
          <p:nvPr>
            <p:ph type="title"/>
          </p:nvPr>
        </p:nvSpPr>
        <p:spPr/>
        <p:txBody>
          <a:bodyPr>
            <a:normAutofit fontScale="90000"/>
          </a:bodyPr>
          <a:lstStyle/>
          <a:p>
            <a:r>
              <a:rPr lang="es-ES" dirty="0"/>
              <a:t>7. Intervalo de confianza para la media poblacional </a:t>
            </a:r>
            <a:br>
              <a:rPr lang="es-ES" dirty="0"/>
            </a:br>
            <a:r>
              <a:rPr lang="es-ES" sz="3600" dirty="0"/>
              <a:t>Muestra pequeña y varianza desconocida (Tabla T de </a:t>
            </a:r>
            <a:r>
              <a:rPr lang="es-ES" sz="3600" dirty="0" err="1"/>
              <a:t>Student</a:t>
            </a:r>
            <a:r>
              <a:rPr lang="es-ES" dirty="0"/>
              <a:t>)</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91EDC6A-5249-7FC0-0DD0-24FFF9062A21}"/>
                  </a:ext>
                </a:extLst>
              </p:cNvPr>
              <p:cNvSpPr>
                <a:spLocks noGrp="1"/>
              </p:cNvSpPr>
              <p:nvPr>
                <p:ph idx="1"/>
              </p:nvPr>
            </p:nvSpPr>
            <p:spPr>
              <a:xfrm>
                <a:off x="838200" y="1825625"/>
                <a:ext cx="5076463" cy="4667250"/>
              </a:xfrm>
            </p:spPr>
            <p:txBody>
              <a:bodyPr>
                <a:normAutofit lnSpcReduction="10000"/>
              </a:bodyPr>
              <a:lstStyle/>
              <a:p>
                <a:r>
                  <a:rPr lang="es-ES" dirty="0"/>
                  <a:t>Para obtener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oMath>
                </a14:m>
                <a:r>
                  <a:rPr lang="es-ES" dirty="0"/>
                  <a:t> se puede usar la tabla A5</a:t>
                </a:r>
              </a:p>
              <a:p>
                <a:r>
                  <a:rPr lang="es-ES" dirty="0"/>
                  <a:t>Ejemplo</a:t>
                </a:r>
              </a:p>
              <a:p>
                <a:pPr lvl="1"/>
                <a14:m>
                  <m:oMath xmlns:m="http://schemas.openxmlformats.org/officeDocument/2006/math">
                    <m:r>
                      <m:rPr>
                        <m:nor/>
                      </m:rPr>
                      <a:rPr lang="el-GR" smtClean="0">
                        <a:latin typeface="Cambria Math" panose="02040503050406030204" pitchFamily="18" charset="0"/>
                        <a:ea typeface="Cambria Math" panose="02040503050406030204" pitchFamily="18" charset="0"/>
                      </a:rPr>
                      <m:t>α</m:t>
                    </m:r>
                    <m:r>
                      <m:rPr>
                        <m:nor/>
                      </m:rPr>
                      <a:rPr lang="es-ES" b="0" i="0" smtClean="0">
                        <a:latin typeface="Cambria Math" panose="02040503050406030204" pitchFamily="18" charset="0"/>
                        <a:ea typeface="Cambria Math" panose="02040503050406030204" pitchFamily="18" charset="0"/>
                      </a:rPr>
                      <m:t>/2</m:t>
                    </m:r>
                    <m:r>
                      <a:rPr lang="es-ES" b="0" i="1" smtClean="0">
                        <a:latin typeface="Cambria Math" panose="02040503050406030204" pitchFamily="18" charset="0"/>
                        <a:ea typeface="Cambria Math" panose="02040503050406030204" pitchFamily="18" charset="0"/>
                      </a:rPr>
                      <m:t>=0.005</m:t>
                    </m:r>
                  </m:oMath>
                </a14:m>
                <a:endParaRPr lang="es-ES" dirty="0"/>
              </a:p>
              <a:p>
                <a:pPr lvl="1"/>
                <a:r>
                  <a:rPr lang="es-ES" b="0" dirty="0"/>
                  <a:t>Grados de libertad: </a:t>
                </a:r>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−1=3</m:t>
                    </m:r>
                  </m:oMath>
                </a14:m>
                <a:endParaRPr lang="es-ES" dirty="0"/>
              </a:p>
              <a:p>
                <a:r>
                  <a:rPr lang="es-ES" dirty="0"/>
                  <a:t>Hay que localizar la fila 3</a:t>
                </a:r>
              </a:p>
              <a:p>
                <a:r>
                  <a:rPr lang="es-ES" dirty="0"/>
                  <a:t>Hay que localizar la columna 0.005</a:t>
                </a:r>
              </a:p>
              <a:p>
                <a:r>
                  <a:rPr lang="es-ES" dirty="0"/>
                  <a:t>En la celda correspondiente se encuentra el valor de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𝑡</m:t>
                        </m:r>
                      </m:e>
                      <m:sub>
                        <m:r>
                          <a:rPr lang="es-ES" b="0" i="1" smtClean="0">
                            <a:latin typeface="Cambria Math" panose="02040503050406030204" pitchFamily="18" charset="0"/>
                          </a:rPr>
                          <m:t>0.005</m:t>
                        </m:r>
                      </m:sub>
                    </m:sSub>
                  </m:oMath>
                </a14:m>
                <a:r>
                  <a:rPr lang="es-ES" dirty="0"/>
                  <a:t> buscado = 5.84</a:t>
                </a:r>
              </a:p>
            </p:txBody>
          </p:sp>
        </mc:Choice>
        <mc:Fallback xmlns="">
          <p:sp>
            <p:nvSpPr>
              <p:cNvPr id="3" name="Marcador de contenido 2">
                <a:extLst>
                  <a:ext uri="{FF2B5EF4-FFF2-40B4-BE49-F238E27FC236}">
                    <a16:creationId xmlns:a16="http://schemas.microsoft.com/office/drawing/2014/main" id="{A91EDC6A-5249-7FC0-0DD0-24FFF9062A21}"/>
                  </a:ext>
                </a:extLst>
              </p:cNvPr>
              <p:cNvSpPr>
                <a:spLocks noGrp="1" noRot="1" noChangeAspect="1" noMove="1" noResize="1" noEditPoints="1" noAdjustHandles="1" noChangeArrowheads="1" noChangeShapeType="1" noTextEdit="1"/>
              </p:cNvSpPr>
              <p:nvPr>
                <p:ph idx="1"/>
              </p:nvPr>
            </p:nvSpPr>
            <p:spPr>
              <a:xfrm>
                <a:off x="838200" y="1825625"/>
                <a:ext cx="5076463" cy="4667250"/>
              </a:xfrm>
              <a:blipFill>
                <a:blip r:embed="rId2"/>
                <a:stretch>
                  <a:fillRect l="-2163" t="-3003" b="-156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7E60BCD3-D157-0085-651B-238C0B8FEA48}"/>
              </a:ext>
            </a:extLst>
          </p:cNvPr>
          <p:cNvSpPr>
            <a:spLocks noGrp="1"/>
          </p:cNvSpPr>
          <p:nvPr>
            <p:ph type="sldNum" sz="quarter" idx="12"/>
          </p:nvPr>
        </p:nvSpPr>
        <p:spPr/>
        <p:txBody>
          <a:bodyPr/>
          <a:lstStyle/>
          <a:p>
            <a:fld id="{336CAFD0-1F6E-4E11-9822-836563A02839}" type="slidenum">
              <a:rPr lang="es-ES" smtClean="0"/>
              <a:pPr/>
              <a:t>33</a:t>
            </a:fld>
            <a:endParaRPr lang="es-ES" dirty="0"/>
          </a:p>
        </p:txBody>
      </p:sp>
      <p:pic>
        <p:nvPicPr>
          <p:cNvPr id="6" name="Imagen 5">
            <a:extLst>
              <a:ext uri="{FF2B5EF4-FFF2-40B4-BE49-F238E27FC236}">
                <a16:creationId xmlns:a16="http://schemas.microsoft.com/office/drawing/2014/main" id="{86674350-756A-E7B3-C99B-34276A27533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798736" y="2528887"/>
            <a:ext cx="6219825" cy="2886075"/>
          </a:xfrm>
          <a:prstGeom prst="rect">
            <a:avLst/>
          </a:prstGeom>
        </p:spPr>
      </p:pic>
      <p:sp>
        <p:nvSpPr>
          <p:cNvPr id="7" name="Elipse 6">
            <a:extLst>
              <a:ext uri="{FF2B5EF4-FFF2-40B4-BE49-F238E27FC236}">
                <a16:creationId xmlns:a16="http://schemas.microsoft.com/office/drawing/2014/main" id="{6D3DD8B2-E392-CCBE-19D5-D0C8A77D7E42}"/>
              </a:ext>
              <a:ext uri="{C183D7F6-B498-43B3-948B-1728B52AA6E4}">
                <adec:decorative xmlns:adec="http://schemas.microsoft.com/office/drawing/2017/decorative" val="1"/>
              </a:ext>
            </a:extLst>
          </p:cNvPr>
          <p:cNvSpPr/>
          <p:nvPr/>
        </p:nvSpPr>
        <p:spPr>
          <a:xfrm>
            <a:off x="9334982" y="5055151"/>
            <a:ext cx="590309" cy="25464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370992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AD418D-16D0-E1B8-438D-3D9053951B97}"/>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Ejemplo 9.13b (Mediciones)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674FF89-0C9E-874C-7679-9FBEB819764D}"/>
                  </a:ext>
                </a:extLst>
              </p:cNvPr>
              <p:cNvSpPr>
                <a:spLocks noGrp="1"/>
              </p:cNvSpPr>
              <p:nvPr>
                <p:ph idx="1"/>
              </p:nvPr>
            </p:nvSpPr>
            <p:spPr/>
            <p:txBody>
              <a:bodyPr/>
              <a:lstStyle/>
              <a:p>
                <a:r>
                  <a:rPr lang="es-ES" dirty="0"/>
                  <a:t>Construir un intervalo de confianza del 95 % para la media poblacional basado en una muestra de mediciones con distribución Normal</a:t>
                </a:r>
              </a:p>
              <a:p>
                <a:pPr lvl="1"/>
                <a:r>
                  <a:rPr lang="es-ES" dirty="0"/>
                  <a:t>2.5, 7.4, 8.0, 4.5, 7.4, 9.2</a:t>
                </a:r>
              </a:p>
              <a:p>
                <a:r>
                  <a:rPr lang="es-ES" dirty="0"/>
                  <a:t>En los casos:</a:t>
                </a:r>
              </a:p>
              <a:p>
                <a:pPr marL="914400" lvl="1" indent="-457200">
                  <a:buFont typeface="+mj-lt"/>
                  <a:buAutoNum type="alphaLcParenR"/>
                </a:pPr>
                <a:r>
                  <a:rPr lang="es-ES" dirty="0"/>
                  <a:t>Se sabe que el dispositivo de medición garantiza una desviación estándar de </a:t>
                </a:r>
                <a14:m>
                  <m:oMath xmlns:m="http://schemas.openxmlformats.org/officeDocument/2006/math">
                    <m:r>
                      <a:rPr lang="es-ES" i="1" smtClean="0">
                        <a:latin typeface="Cambria Math" panose="02040503050406030204" pitchFamily="18" charset="0"/>
                        <a:ea typeface="Cambria Math" panose="02040503050406030204" pitchFamily="18" charset="0"/>
                      </a:rPr>
                      <m:t>𝜎</m:t>
                    </m:r>
                  </m:oMath>
                </a14:m>
                <a:r>
                  <a:rPr lang="es-ES" dirty="0"/>
                  <a:t> = 2.2</a:t>
                </a:r>
              </a:p>
              <a:p>
                <a:pPr marL="914400" lvl="1" indent="-457200">
                  <a:buFont typeface="+mj-lt"/>
                  <a:buAutoNum type="alphaLcParenR"/>
                </a:pPr>
                <a:r>
                  <a:rPr lang="es-ES" b="1" dirty="0"/>
                  <a:t>Se desconoce el valor de la desviación estándar</a:t>
                </a:r>
              </a:p>
              <a:p>
                <a:endParaRPr lang="es-ES" dirty="0"/>
              </a:p>
              <a:p>
                <a:endParaRPr lang="es-ES" dirty="0"/>
              </a:p>
            </p:txBody>
          </p:sp>
        </mc:Choice>
        <mc:Fallback xmlns="">
          <p:sp>
            <p:nvSpPr>
              <p:cNvPr id="3" name="Marcador de contenido 2">
                <a:extLst>
                  <a:ext uri="{FF2B5EF4-FFF2-40B4-BE49-F238E27FC236}">
                    <a16:creationId xmlns:a16="http://schemas.microsoft.com/office/drawing/2014/main" id="{6674FF89-0C9E-874C-7679-9FBEB819764D}"/>
                  </a:ext>
                </a:extLst>
              </p:cNvPr>
              <p:cNvSpPr>
                <a:spLocks noGrp="1" noRot="1" noChangeAspect="1" noMove="1" noResize="1" noEditPoints="1" noAdjustHandles="1" noChangeArrowheads="1" noChangeShapeType="1" noTextEdit="1"/>
              </p:cNvSpPr>
              <p:nvPr>
                <p:ph idx="1"/>
              </p:nvPr>
            </p:nvSpPr>
            <p:spPr>
              <a:blipFill>
                <a:blip r:embed="rId2"/>
                <a:stretch>
                  <a:fillRect l="-1043" t="-2241" r="-1217"/>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8EF99E7-FCB5-ABBC-C304-D80772BA5A13}"/>
              </a:ext>
            </a:extLst>
          </p:cNvPr>
          <p:cNvSpPr>
            <a:spLocks noGrp="1"/>
          </p:cNvSpPr>
          <p:nvPr>
            <p:ph type="sldNum" sz="quarter" idx="12"/>
          </p:nvPr>
        </p:nvSpPr>
        <p:spPr/>
        <p:txBody>
          <a:bodyPr/>
          <a:lstStyle/>
          <a:p>
            <a:fld id="{336CAFD0-1F6E-4E11-9822-836563A02839}" type="slidenum">
              <a:rPr lang="es-ES" smtClean="0"/>
              <a:pPr/>
              <a:t>34</a:t>
            </a:fld>
            <a:endParaRPr lang="es-ES" dirty="0"/>
          </a:p>
        </p:txBody>
      </p:sp>
    </p:spTree>
    <p:extLst>
      <p:ext uri="{BB962C8B-B14F-4D97-AF65-F5344CB8AC3E}">
        <p14:creationId xmlns:p14="http://schemas.microsoft.com/office/powerpoint/2010/main" val="4057501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AD418D-16D0-E1B8-438D-3D9053951B97}"/>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Ejemplo 9.13 (Solución b)</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674FF89-0C9E-874C-7679-9FBEB819764D}"/>
                  </a:ext>
                </a:extLst>
              </p:cNvPr>
              <p:cNvSpPr>
                <a:spLocks noGrp="1"/>
              </p:cNvSpPr>
              <p:nvPr>
                <p:ph idx="1"/>
              </p:nvPr>
            </p:nvSpPr>
            <p:spPr/>
            <p:txBody>
              <a:bodyPr>
                <a:normAutofit fontScale="92500" lnSpcReduction="10000"/>
              </a:bodyPr>
              <a:lstStyle/>
              <a:p>
                <a:pPr marL="0" indent="0">
                  <a:buNone/>
                </a:pPr>
                <a:r>
                  <a:rPr lang="es-ES" dirty="0"/>
                  <a:t>b) Intervalo de confianza con varianza desconocida y muestra pequeña</a:t>
                </a:r>
              </a:p>
              <a:p>
                <a:r>
                  <a:rPr lang="es-ES" dirty="0"/>
                  <a:t>Desviación estándar muestral = s</a:t>
                </a:r>
              </a:p>
              <a:p>
                <a:pPr lvl="1"/>
                <a14:m>
                  <m:oMath xmlns:m="http://schemas.openxmlformats.org/officeDocument/2006/math">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𝑠</m:t>
                        </m:r>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rPr>
                      <m:t>=</m:t>
                    </m:r>
                    <m:f>
                      <m:fPr>
                        <m:ctrlPr>
                          <a:rPr lang="es-ES" i="1" smtClean="0">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r>
                          <a:rPr lang="es-ES" i="1">
                            <a:latin typeface="Cambria Math" panose="02040503050406030204" pitchFamily="18" charset="0"/>
                          </a:rPr>
                          <m:t>−1</m:t>
                        </m:r>
                      </m:den>
                    </m:f>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e>
                            </m:d>
                          </m:e>
                          <m:sup>
                            <m:r>
                              <a:rPr lang="es-ES" i="1">
                                <a:latin typeface="Cambria Math" panose="02040503050406030204" pitchFamily="18" charset="0"/>
                              </a:rPr>
                              <m:t>2</m:t>
                            </m:r>
                          </m:sup>
                        </m:sSup>
                      </m:e>
                    </m:nary>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6−1</m:t>
                        </m:r>
                      </m:den>
                    </m:f>
                    <m:d>
                      <m:dPr>
                        <m:ctrlPr>
                          <a:rPr lang="es-ES" b="0" i="1" smtClean="0">
                            <a:latin typeface="Cambria Math" panose="02040503050406030204" pitchFamily="18" charset="0"/>
                          </a:rPr>
                        </m:ctrlPr>
                      </m:dPr>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2.5−6.5</m:t>
                                </m:r>
                              </m:e>
                            </m:d>
                          </m:e>
                          <m:sup>
                            <m:r>
                              <a:rPr lang="es-ES" b="0" i="1" smtClean="0">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7.4</m:t>
                                </m:r>
                                <m:r>
                                  <a:rPr lang="es-ES" i="1">
                                    <a:latin typeface="Cambria Math" panose="02040503050406030204" pitchFamily="18" charset="0"/>
                                  </a:rPr>
                                  <m:t>−6.5</m:t>
                                </m:r>
                              </m:e>
                            </m:d>
                          </m:e>
                          <m:sup>
                            <m:r>
                              <a:rPr lang="es-ES" i="1">
                                <a:latin typeface="Cambria Math" panose="02040503050406030204" pitchFamily="18" charset="0"/>
                              </a:rPr>
                              <m:t>2</m:t>
                            </m:r>
                          </m:sup>
                        </m:sSup>
                        <m:r>
                          <a:rPr lang="es-ES" i="1">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8.0</m:t>
                                </m:r>
                                <m:r>
                                  <a:rPr lang="es-ES" i="1">
                                    <a:latin typeface="Cambria Math" panose="02040503050406030204" pitchFamily="18" charset="0"/>
                                  </a:rPr>
                                  <m:t>−6.5</m:t>
                                </m:r>
                              </m:e>
                            </m:d>
                          </m:e>
                          <m:sup>
                            <m:r>
                              <a:rPr lang="es-ES" i="1">
                                <a:latin typeface="Cambria Math" panose="02040503050406030204" pitchFamily="18" charset="0"/>
                              </a:rPr>
                              <m:t>2</m:t>
                            </m:r>
                          </m:sup>
                        </m:sSup>
                        <m:r>
                          <a:rPr lang="es-ES" i="1">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4.5</m:t>
                                </m:r>
                                <m:r>
                                  <a:rPr lang="es-ES" i="1">
                                    <a:latin typeface="Cambria Math" panose="02040503050406030204" pitchFamily="18" charset="0"/>
                                  </a:rPr>
                                  <m:t>−6.5</m:t>
                                </m:r>
                              </m:e>
                            </m:d>
                          </m:e>
                          <m:sup>
                            <m:r>
                              <a:rPr lang="es-ES" i="1">
                                <a:latin typeface="Cambria Math" panose="02040503050406030204" pitchFamily="18" charset="0"/>
                              </a:rPr>
                              <m:t>2</m:t>
                            </m:r>
                          </m:sup>
                        </m:sSup>
                        <m:r>
                          <a:rPr lang="es-ES" i="1">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7.4</m:t>
                                </m:r>
                                <m:r>
                                  <a:rPr lang="es-ES" i="1">
                                    <a:latin typeface="Cambria Math" panose="02040503050406030204" pitchFamily="18" charset="0"/>
                                  </a:rPr>
                                  <m:t>−6.5</m:t>
                                </m:r>
                              </m:e>
                            </m:d>
                          </m:e>
                          <m:sup>
                            <m:r>
                              <a:rPr lang="es-ES" i="1">
                                <a:latin typeface="Cambria Math" panose="02040503050406030204" pitchFamily="18" charset="0"/>
                              </a:rPr>
                              <m:t>2</m:t>
                            </m:r>
                          </m:sup>
                        </m:sSup>
                        <m:r>
                          <a:rPr lang="es-ES" i="1">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9</m:t>
                                </m:r>
                                <m:r>
                                  <a:rPr lang="es-ES" i="1">
                                    <a:latin typeface="Cambria Math" panose="02040503050406030204" pitchFamily="18" charset="0"/>
                                  </a:rPr>
                                  <m:t>.</m:t>
                                </m:r>
                                <m:r>
                                  <a:rPr lang="es-ES" b="0" i="1" smtClean="0">
                                    <a:latin typeface="Cambria Math" panose="02040503050406030204" pitchFamily="18" charset="0"/>
                                  </a:rPr>
                                  <m:t>2</m:t>
                                </m:r>
                                <m:r>
                                  <a:rPr lang="es-ES" i="1">
                                    <a:latin typeface="Cambria Math" panose="02040503050406030204" pitchFamily="18" charset="0"/>
                                  </a:rPr>
                                  <m:t>−6.5</m:t>
                                </m:r>
                              </m:e>
                            </m:d>
                          </m:e>
                          <m:sup>
                            <m:r>
                              <a:rPr lang="es-ES" i="1">
                                <a:latin typeface="Cambria Math" panose="02040503050406030204" pitchFamily="18" charset="0"/>
                              </a:rPr>
                              <m:t>2</m:t>
                            </m:r>
                          </m:sup>
                        </m:sSup>
                      </m:e>
                    </m:d>
                    <m:r>
                      <a:rPr lang="es-ES" b="0" i="1" smtClean="0">
                        <a:latin typeface="Cambria Math" panose="02040503050406030204" pitchFamily="18" charset="0"/>
                      </a:rPr>
                      <m:t>=6.23</m:t>
                    </m:r>
                  </m:oMath>
                </a14:m>
                <a:endParaRPr lang="es-ES" dirty="0"/>
              </a:p>
              <a:p>
                <a:pPr lvl="1"/>
                <a14:m>
                  <m:oMath xmlns:m="http://schemas.openxmlformats.org/officeDocument/2006/math">
                    <m:r>
                      <a:rPr lang="es-ES" b="0" i="1" smtClean="0">
                        <a:latin typeface="Cambria Math" panose="02040503050406030204" pitchFamily="18" charset="0"/>
                      </a:rPr>
                      <m:t>𝑠</m:t>
                    </m:r>
                    <m:r>
                      <a:rPr lang="es-ES" b="0" i="1" smtClean="0">
                        <a:latin typeface="Cambria Math" panose="02040503050406030204" pitchFamily="18" charset="0"/>
                      </a:rPr>
                      <m:t>=</m:t>
                    </m:r>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6.23</m:t>
                        </m:r>
                      </m:e>
                    </m:rad>
                    <m:r>
                      <a:rPr lang="es-ES" b="0" i="1" smtClean="0">
                        <a:latin typeface="Cambria Math" panose="02040503050406030204" pitchFamily="18" charset="0"/>
                      </a:rPr>
                      <m:t>=2.5</m:t>
                    </m:r>
                  </m:oMath>
                </a14:m>
                <a:endParaRPr lang="es-E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𝑡</m:t>
                        </m:r>
                      </m:e>
                      <m:sub>
                        <m:r>
                          <m:rPr>
                            <m:sty m:val="p"/>
                          </m:rPr>
                          <a:rPr lang="el-GR" i="1" smtClean="0">
                            <a:latin typeface="Cambria Math" panose="02040503050406030204" pitchFamily="18" charset="0"/>
                            <a:ea typeface="Cambria Math" panose="02040503050406030204" pitchFamily="18" charset="0"/>
                          </a:rPr>
                          <m:t>α</m:t>
                        </m:r>
                        <m:r>
                          <a:rPr lang="es-ES" b="0" i="1" smtClean="0">
                            <a:latin typeface="Cambria Math" panose="02040503050406030204" pitchFamily="18" charset="0"/>
                            <a:ea typeface="Cambria Math" panose="02040503050406030204" pitchFamily="18" charset="0"/>
                          </a:rPr>
                          <m:t>/2,</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𝑡</m:t>
                        </m:r>
                      </m:e>
                      <m:sub>
                        <m:r>
                          <a:rPr lang="es-ES" b="0" i="1" smtClean="0">
                            <a:latin typeface="Cambria Math" panose="02040503050406030204" pitchFamily="18" charset="0"/>
                            <a:ea typeface="Cambria Math" panose="02040503050406030204" pitchFamily="18" charset="0"/>
                          </a:rPr>
                          <m:t>0.025, 5</m:t>
                        </m:r>
                      </m:sub>
                    </m:sSub>
                    <m:r>
                      <a:rPr lang="es-ES" b="0" i="1" smtClean="0">
                        <a:latin typeface="Cambria Math" panose="02040503050406030204" pitchFamily="18" charset="0"/>
                        <a:ea typeface="Cambria Math" panose="02040503050406030204" pitchFamily="18" charset="0"/>
                      </a:rPr>
                      <m:t>=2.57</m:t>
                    </m:r>
                  </m:oMath>
                </a14:m>
                <a:endParaRPr lang="es-ES" dirty="0"/>
              </a:p>
              <a:p>
                <a:pPr lvl="2"/>
                <a:r>
                  <a:rPr lang="es-ES" dirty="0"/>
                  <a:t>Usando un software como R o buscando en la tabla A5, fila 5 y columna 0.025</a:t>
                </a:r>
              </a:p>
              <a:p>
                <a:r>
                  <a:rPr lang="es-ES" dirty="0"/>
                  <a:t>Intervalo de confianza</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r>
                      <a:rPr lang="es-ES" b="0" i="1" smtClean="0">
                        <a:latin typeface="Cambria Math" panose="02040503050406030204" pitchFamily="18" charset="0"/>
                      </a:rPr>
                      <m:t>=6.50−</m:t>
                    </m:r>
                    <m:d>
                      <m:dPr>
                        <m:ctrlPr>
                          <a:rPr lang="es-ES" b="0" i="1" smtClean="0">
                            <a:latin typeface="Cambria Math" panose="02040503050406030204" pitchFamily="18" charset="0"/>
                          </a:rPr>
                        </m:ctrlPr>
                      </m:dPr>
                      <m:e>
                        <m:r>
                          <a:rPr lang="es-ES" b="0" i="1" smtClean="0">
                            <a:latin typeface="Cambria Math" panose="02040503050406030204" pitchFamily="18" charset="0"/>
                          </a:rPr>
                          <m:t>2.57</m:t>
                        </m:r>
                      </m:e>
                    </m:d>
                    <m:f>
                      <m:fPr>
                        <m:ctrlPr>
                          <a:rPr lang="es-ES" b="0" i="1" smtClean="0">
                            <a:latin typeface="Cambria Math" panose="02040503050406030204" pitchFamily="18" charset="0"/>
                          </a:rPr>
                        </m:ctrlPr>
                      </m:fPr>
                      <m:num>
                        <m:r>
                          <a:rPr lang="es-ES" b="0" i="1" smtClean="0">
                            <a:latin typeface="Cambria Math" panose="02040503050406030204" pitchFamily="18" charset="0"/>
                          </a:rPr>
                          <m:t>2.5</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6</m:t>
                            </m:r>
                          </m:e>
                        </m:rad>
                      </m:den>
                    </m:f>
                    <m:r>
                      <a:rPr lang="es-ES" b="0" i="1" smtClean="0">
                        <a:latin typeface="Cambria Math" panose="02040503050406030204" pitchFamily="18" charset="0"/>
                      </a:rPr>
                      <m:t>=3.88</m:t>
                    </m:r>
                  </m:oMath>
                </a14:m>
                <a:endParaRPr lang="es-ES" b="0"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𝑥</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r>
                          <a:rPr lang="es-ES" b="0" i="1" smtClean="0">
                            <a:latin typeface="Cambria Math" panose="02040503050406030204" pitchFamily="18" charset="0"/>
                          </a:rPr>
                          <m:t>𝑠</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r>
                      <a:rPr lang="es-ES" b="0" i="1" smtClean="0">
                        <a:latin typeface="Cambria Math" panose="02040503050406030204" pitchFamily="18" charset="0"/>
                      </a:rPr>
                      <m:t>=6.50+</m:t>
                    </m:r>
                    <m:d>
                      <m:dPr>
                        <m:ctrlPr>
                          <a:rPr lang="es-ES" b="0" i="1" smtClean="0">
                            <a:latin typeface="Cambria Math" panose="02040503050406030204" pitchFamily="18" charset="0"/>
                          </a:rPr>
                        </m:ctrlPr>
                      </m:dPr>
                      <m:e>
                        <m:r>
                          <a:rPr lang="es-ES" b="0" i="1" smtClean="0">
                            <a:latin typeface="Cambria Math" panose="02040503050406030204" pitchFamily="18" charset="0"/>
                          </a:rPr>
                          <m:t>2.57</m:t>
                        </m:r>
                      </m:e>
                    </m:d>
                    <m:f>
                      <m:fPr>
                        <m:ctrlPr>
                          <a:rPr lang="es-ES" b="0" i="1" smtClean="0">
                            <a:latin typeface="Cambria Math" panose="02040503050406030204" pitchFamily="18" charset="0"/>
                          </a:rPr>
                        </m:ctrlPr>
                      </m:fPr>
                      <m:num>
                        <m:r>
                          <a:rPr lang="es-ES" b="0" i="1" smtClean="0">
                            <a:latin typeface="Cambria Math" panose="02040503050406030204" pitchFamily="18" charset="0"/>
                          </a:rPr>
                          <m:t>2.5</m:t>
                        </m:r>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6</m:t>
                            </m:r>
                          </m:e>
                        </m:rad>
                      </m:den>
                    </m:f>
                    <m:r>
                      <a:rPr lang="es-ES" b="0" i="1" smtClean="0">
                        <a:latin typeface="Cambria Math" panose="02040503050406030204" pitchFamily="18" charset="0"/>
                      </a:rPr>
                      <m:t>=9.12</m:t>
                    </m:r>
                  </m:oMath>
                </a14:m>
                <a:endParaRPr lang="es-ES" dirty="0"/>
              </a:p>
              <a:p>
                <a:pPr lvl="1"/>
                <a:endParaRPr lang="es-ES" dirty="0"/>
              </a:p>
              <a:p>
                <a:pPr lvl="1"/>
                <a:endParaRPr lang="es-ES" dirty="0"/>
              </a:p>
            </p:txBody>
          </p:sp>
        </mc:Choice>
        <mc:Fallback xmlns="">
          <p:sp>
            <p:nvSpPr>
              <p:cNvPr id="3" name="Marcador de contenido 2">
                <a:extLst>
                  <a:ext uri="{FF2B5EF4-FFF2-40B4-BE49-F238E27FC236}">
                    <a16:creationId xmlns:a16="http://schemas.microsoft.com/office/drawing/2014/main" id="{6674FF89-0C9E-874C-7679-9FBEB819764D}"/>
                  </a:ext>
                </a:extLst>
              </p:cNvPr>
              <p:cNvSpPr>
                <a:spLocks noGrp="1" noRot="1" noChangeAspect="1" noMove="1" noResize="1" noEditPoints="1" noAdjustHandles="1" noChangeArrowheads="1" noChangeShapeType="1" noTextEdit="1"/>
              </p:cNvSpPr>
              <p:nvPr>
                <p:ph idx="1"/>
              </p:nvPr>
            </p:nvSpPr>
            <p:spPr>
              <a:blipFill>
                <a:blip r:embed="rId2"/>
                <a:stretch>
                  <a:fillRect l="-1043" t="-280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98EF99E7-FCB5-ABBC-C304-D80772BA5A13}"/>
              </a:ext>
            </a:extLst>
          </p:cNvPr>
          <p:cNvSpPr>
            <a:spLocks noGrp="1"/>
          </p:cNvSpPr>
          <p:nvPr>
            <p:ph type="sldNum" sz="quarter" idx="12"/>
          </p:nvPr>
        </p:nvSpPr>
        <p:spPr/>
        <p:txBody>
          <a:bodyPr/>
          <a:lstStyle/>
          <a:p>
            <a:fld id="{336CAFD0-1F6E-4E11-9822-836563A02839}" type="slidenum">
              <a:rPr lang="es-ES" smtClean="0"/>
              <a:pPr/>
              <a:t>35</a:t>
            </a:fld>
            <a:endParaRPr lang="es-ES" dirty="0"/>
          </a:p>
        </p:txBody>
      </p:sp>
    </p:spTree>
    <p:extLst>
      <p:ext uri="{BB962C8B-B14F-4D97-AF65-F5344CB8AC3E}">
        <p14:creationId xmlns:p14="http://schemas.microsoft.com/office/powerpoint/2010/main" val="626548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2A4900A-EDF5-2F9B-4897-79152304CA67}"/>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90495" y="1585657"/>
            <a:ext cx="10112785" cy="5272343"/>
          </a:xfrm>
          <a:prstGeom prst="rect">
            <a:avLst/>
          </a:prstGeom>
        </p:spPr>
      </p:pic>
      <p:sp>
        <p:nvSpPr>
          <p:cNvPr id="2" name="Título 1">
            <a:extLst>
              <a:ext uri="{FF2B5EF4-FFF2-40B4-BE49-F238E27FC236}">
                <a16:creationId xmlns:a16="http://schemas.microsoft.com/office/drawing/2014/main" id="{158BE72A-30B6-9373-D37B-E9C969B973CF}"/>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Ejemplo 9.13 (Interpretación gráfica)</a:t>
            </a:r>
          </a:p>
        </p:txBody>
      </p:sp>
      <p:sp>
        <p:nvSpPr>
          <p:cNvPr id="4" name="Marcador de número de diapositiva 3">
            <a:extLst>
              <a:ext uri="{FF2B5EF4-FFF2-40B4-BE49-F238E27FC236}">
                <a16:creationId xmlns:a16="http://schemas.microsoft.com/office/drawing/2014/main" id="{3D83FDC1-0DD5-1EE6-074F-6A61EF285F67}"/>
              </a:ext>
            </a:extLst>
          </p:cNvPr>
          <p:cNvSpPr>
            <a:spLocks noGrp="1"/>
          </p:cNvSpPr>
          <p:nvPr>
            <p:ph type="sldNum" sz="quarter" idx="12"/>
          </p:nvPr>
        </p:nvSpPr>
        <p:spPr/>
        <p:txBody>
          <a:bodyPr/>
          <a:lstStyle/>
          <a:p>
            <a:fld id="{336CAFD0-1F6E-4E11-9822-836563A02839}" type="slidenum">
              <a:rPr lang="es-ES" smtClean="0"/>
              <a:pPr/>
              <a:t>36</a:t>
            </a:fld>
            <a:endParaRPr lang="es-ES" dirty="0"/>
          </a:p>
        </p:txBody>
      </p:sp>
    </p:spTree>
    <p:extLst>
      <p:ext uri="{BB962C8B-B14F-4D97-AF65-F5344CB8AC3E}">
        <p14:creationId xmlns:p14="http://schemas.microsoft.com/office/powerpoint/2010/main" val="30956281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fontScale="90000"/>
          </a:bodyPr>
          <a:lstStyle/>
          <a:p>
            <a:r>
              <a:rPr lang="es-ES" dirty="0"/>
              <a:t>7. Intervalo de confianza para la media poblacional</a:t>
            </a:r>
            <a:br>
              <a:rPr lang="es-ES" dirty="0"/>
            </a:br>
            <a:r>
              <a:rPr lang="es-ES" dirty="0"/>
              <a:t>Ejercicios propuestos</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pPr eaLnBrk="1" hangingPunct="1">
              <a:lnSpc>
                <a:spcPct val="90000"/>
              </a:lnSpc>
              <a:spcBef>
                <a:spcPts val="1000"/>
              </a:spcBef>
              <a:buFont typeface="Arial" panose="020B0604020202020204" pitchFamily="34" charset="0"/>
              <a:buChar char="•"/>
            </a:pPr>
            <a:r>
              <a:rPr lang="en-US" altLang="es-ES" sz="2800" dirty="0" err="1"/>
              <a:t>Ejercicios</a:t>
            </a:r>
            <a:r>
              <a:rPr lang="en-US" altLang="es-ES" sz="2800" dirty="0"/>
              <a:t> 9.7(a), 9.8, 9.9(a) y 9.12 del </a:t>
            </a:r>
            <a:r>
              <a:rPr lang="en-US" altLang="es-ES" sz="2800" dirty="0" err="1"/>
              <a:t>libro</a:t>
            </a:r>
            <a:endParaRPr lang="en-US" altLang="es-ES" sz="2800" dirty="0"/>
          </a:p>
          <a:p>
            <a:pPr lvl="1" eaLnBrk="1" hangingPunct="1">
              <a:lnSpc>
                <a:spcPct val="90000"/>
              </a:lnSpc>
              <a:spcBef>
                <a:spcPts val="500"/>
              </a:spcBef>
              <a:buFont typeface="Arial" panose="020B0604020202020204" pitchFamily="34" charset="0"/>
              <a:buChar char="•"/>
            </a:pPr>
            <a:r>
              <a:rPr lang="en-US" altLang="es-ES" sz="2400" dirty="0"/>
              <a:t>Las </a:t>
            </a:r>
            <a:r>
              <a:rPr lang="en-US" altLang="es-ES" sz="2400" dirty="0" err="1"/>
              <a:t>respuestas</a:t>
            </a:r>
            <a:r>
              <a:rPr lang="en-US" altLang="es-ES" sz="2400" dirty="0"/>
              <a:t> de 9.7 y 9.9 </a:t>
            </a:r>
            <a:r>
              <a:rPr lang="en-US" altLang="es-ES" sz="2400" dirty="0" err="1"/>
              <a:t>están</a:t>
            </a:r>
            <a:r>
              <a:rPr lang="en-US" altLang="es-ES" sz="2400" dirty="0"/>
              <a:t> </a:t>
            </a:r>
            <a:r>
              <a:rPr lang="en-US" altLang="es-ES" sz="2400" dirty="0" err="1"/>
              <a:t>disponibles</a:t>
            </a:r>
            <a:r>
              <a:rPr lang="en-US" altLang="es-ES" sz="2400" dirty="0"/>
              <a:t> en </a:t>
            </a:r>
            <a:r>
              <a:rPr lang="en-US" altLang="es-ES" sz="2400" dirty="0" err="1"/>
              <a:t>el</a:t>
            </a:r>
            <a:r>
              <a:rPr lang="en-US" altLang="es-ES" sz="2400" dirty="0"/>
              <a:t> </a:t>
            </a:r>
            <a:r>
              <a:rPr lang="en-US" altLang="es-ES" sz="2400" dirty="0" err="1"/>
              <a:t>libro</a:t>
            </a:r>
            <a:endParaRPr lang="en-US" altLang="es-ES" sz="24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37</a:t>
            </a:fld>
            <a:endParaRPr lang="es-ES"/>
          </a:p>
        </p:txBody>
      </p:sp>
    </p:spTree>
    <p:extLst>
      <p:ext uri="{BB962C8B-B14F-4D97-AF65-F5344CB8AC3E}">
        <p14:creationId xmlns:p14="http://schemas.microsoft.com/office/powerpoint/2010/main" val="389534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lstStyle/>
          <a:p>
            <a:r>
              <a:rPr lang="es-ES" dirty="0"/>
              <a:t>8. Intervalo de confianza para una proporción poblacional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a:xfrm>
                <a:off x="838200" y="1825624"/>
                <a:ext cx="10515600" cy="4748795"/>
              </a:xfrm>
            </p:spPr>
            <p:txBody>
              <a:bodyPr>
                <a:normAutofit/>
              </a:bodyPr>
              <a:lstStyle/>
              <a:p>
                <a:r>
                  <a:rPr lang="es-ES" dirty="0"/>
                  <a:t>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 Proporción poblacional = </a:t>
                </a:r>
                <a14:m>
                  <m:oMath xmlns:m="http://schemas.openxmlformats.org/officeDocument/2006/math">
                    <m:r>
                      <a:rPr lang="es-ES" b="0" i="1" smtClean="0">
                        <a:latin typeface="Cambria Math" panose="02040503050406030204" pitchFamily="18" charset="0"/>
                        <a:ea typeface="Cambria Math" panose="02040503050406030204" pitchFamily="18" charset="0"/>
                      </a:rPr>
                      <m:t>𝑝</m:t>
                    </m:r>
                  </m:oMath>
                </a14:m>
                <a:endParaRPr lang="es-ES" dirty="0"/>
              </a:p>
              <a:p>
                <a:pPr lvl="1"/>
                <a14:m>
                  <m:oMath xmlns:m="http://schemas.openxmlformats.org/officeDocument/2006/math">
                    <m:r>
                      <a:rPr lang="es-ES" sz="2000" b="0" i="1" smtClean="0">
                        <a:latin typeface="Cambria Math" panose="02040503050406030204" pitchFamily="18" charset="0"/>
                        <a:ea typeface="Cambria Math" panose="02040503050406030204" pitchFamily="18" charset="0"/>
                      </a:rPr>
                      <m:t>𝑝</m:t>
                    </m:r>
                    <m:r>
                      <a:rPr lang="es-ES" sz="2000" b="0" i="1" smtClean="0">
                        <a:latin typeface="Cambria Math" panose="02040503050406030204" pitchFamily="18" charset="0"/>
                        <a:ea typeface="Cambria Math" panose="02040503050406030204" pitchFamily="18" charset="0"/>
                      </a:rPr>
                      <m:t>=</m:t>
                    </m:r>
                    <m:f>
                      <m:fPr>
                        <m:ctrlPr>
                          <a:rPr lang="es-ES" sz="2000" i="1">
                            <a:latin typeface="Cambria Math" panose="02040503050406030204" pitchFamily="18" charset="0"/>
                          </a:rPr>
                        </m:ctrlPr>
                      </m:fPr>
                      <m:num>
                        <m:r>
                          <m:rPr>
                            <m:nor/>
                          </m:rPr>
                          <a:rPr lang="es-ES" sz="2000" i="1">
                            <a:latin typeface="Cambria Math" panose="02040503050406030204" pitchFamily="18" charset="0"/>
                          </a:rPr>
                          <m:t>n</m:t>
                        </m:r>
                        <m:r>
                          <m:rPr>
                            <m:nor/>
                          </m:rPr>
                          <a:rPr lang="es-ES" sz="2000" i="1">
                            <a:latin typeface="Cambria Math" panose="02040503050406030204" pitchFamily="18" charset="0"/>
                          </a:rPr>
                          <m:t>ú</m:t>
                        </m:r>
                        <m:r>
                          <m:rPr>
                            <m:nor/>
                          </m:rPr>
                          <a:rPr lang="es-ES" sz="2000" i="1">
                            <a:latin typeface="Cambria Math" panose="02040503050406030204" pitchFamily="18" charset="0"/>
                          </a:rPr>
                          <m:t>mero</m:t>
                        </m:r>
                        <m:r>
                          <m:rPr>
                            <m:nor/>
                          </m:rPr>
                          <a:rPr lang="es-ES" sz="2000" i="1">
                            <a:latin typeface="Cambria Math" panose="02040503050406030204" pitchFamily="18" charset="0"/>
                          </a:rPr>
                          <m:t> </m:t>
                        </m:r>
                        <m:r>
                          <m:rPr>
                            <m:nor/>
                          </m:rPr>
                          <a:rPr lang="es-ES" sz="2000" i="1">
                            <a:latin typeface="Cambria Math" panose="02040503050406030204" pitchFamily="18" charset="0"/>
                          </a:rPr>
                          <m:t>de</m:t>
                        </m:r>
                        <m:r>
                          <m:rPr>
                            <m:nor/>
                          </m:rPr>
                          <a:rPr lang="es-ES" sz="2000" i="1">
                            <a:latin typeface="Cambria Math" panose="02040503050406030204" pitchFamily="18" charset="0"/>
                          </a:rPr>
                          <m:t> </m:t>
                        </m:r>
                        <m:r>
                          <m:rPr>
                            <m:nor/>
                          </m:rPr>
                          <a:rPr lang="es-ES" sz="2000" i="1">
                            <a:latin typeface="Cambria Math" panose="02040503050406030204" pitchFamily="18" charset="0"/>
                          </a:rPr>
                          <m:t>elementos</m:t>
                        </m:r>
                        <m:r>
                          <m:rPr>
                            <m:nor/>
                          </m:rPr>
                          <a:rPr lang="es-ES" sz="2000" i="1">
                            <a:latin typeface="Cambria Math" panose="02040503050406030204" pitchFamily="18" charset="0"/>
                          </a:rPr>
                          <m:t> </m:t>
                        </m:r>
                        <m:r>
                          <m:rPr>
                            <m:nor/>
                          </m:rPr>
                          <a:rPr lang="es-ES" sz="2000" i="1">
                            <a:latin typeface="Cambria Math" panose="02040503050406030204" pitchFamily="18" charset="0"/>
                          </a:rPr>
                          <m:t>de</m:t>
                        </m:r>
                        <m:r>
                          <m:rPr>
                            <m:nor/>
                          </m:rPr>
                          <a:rPr lang="es-ES" sz="2000" i="1">
                            <a:latin typeface="Cambria Math" panose="02040503050406030204" pitchFamily="18" charset="0"/>
                          </a:rPr>
                          <m:t> </m:t>
                        </m:r>
                        <m:r>
                          <m:rPr>
                            <m:nor/>
                          </m:rPr>
                          <a:rPr lang="es-ES" sz="2000" i="1">
                            <a:latin typeface="Cambria Math" panose="02040503050406030204" pitchFamily="18" charset="0"/>
                          </a:rPr>
                          <m:t>la</m:t>
                        </m:r>
                        <m:r>
                          <m:rPr>
                            <m:nor/>
                          </m:rPr>
                          <a:rPr lang="es-ES" sz="2000" i="1">
                            <a:latin typeface="Cambria Math" panose="02040503050406030204" pitchFamily="18" charset="0"/>
                          </a:rPr>
                          <m:t> </m:t>
                        </m:r>
                        <m:r>
                          <m:rPr>
                            <m:nor/>
                          </m:rPr>
                          <a:rPr lang="es-ES" sz="2000" b="0" i="1" smtClean="0">
                            <a:latin typeface="Cambria Math" panose="02040503050406030204" pitchFamily="18" charset="0"/>
                          </a:rPr>
                          <m:t>poblaci</m:t>
                        </m:r>
                        <m:r>
                          <m:rPr>
                            <m:nor/>
                          </m:rPr>
                          <a:rPr lang="es-ES" sz="2000" b="0" i="1" smtClean="0">
                            <a:latin typeface="Cambria Math" panose="02040503050406030204" pitchFamily="18" charset="0"/>
                          </a:rPr>
                          <m:t>ó</m:t>
                        </m:r>
                        <m:r>
                          <m:rPr>
                            <m:nor/>
                          </m:rPr>
                          <a:rPr lang="es-ES" sz="2000" b="0" i="1" smtClean="0">
                            <a:latin typeface="Cambria Math" panose="02040503050406030204" pitchFamily="18" charset="0"/>
                          </a:rPr>
                          <m:t>n</m:t>
                        </m:r>
                        <m:r>
                          <m:rPr>
                            <m:nor/>
                          </m:rPr>
                          <a:rPr lang="es-ES" sz="2000" b="0" i="1" smtClean="0">
                            <a:latin typeface="Cambria Math" panose="02040503050406030204" pitchFamily="18" charset="0"/>
                          </a:rPr>
                          <m:t> </m:t>
                        </m:r>
                        <m:r>
                          <m:rPr>
                            <m:nor/>
                          </m:rPr>
                          <a:rPr lang="es-ES" sz="2000" b="0" i="1" smtClean="0">
                            <a:latin typeface="Cambria Math" panose="02040503050406030204" pitchFamily="18" charset="0"/>
                          </a:rPr>
                          <m:t>que</m:t>
                        </m:r>
                        <m:r>
                          <m:rPr>
                            <m:nor/>
                          </m:rPr>
                          <a:rPr lang="es-ES" sz="2000" b="0" i="1" smtClean="0">
                            <a:latin typeface="Cambria Math" panose="02040503050406030204" pitchFamily="18" charset="0"/>
                          </a:rPr>
                          <m:t> </m:t>
                        </m:r>
                        <m:r>
                          <m:rPr>
                            <m:nor/>
                          </m:rPr>
                          <a:rPr lang="es-ES" sz="2000" b="0" i="1" smtClean="0">
                            <a:latin typeface="Cambria Math" panose="02040503050406030204" pitchFamily="18" charset="0"/>
                          </a:rPr>
                          <m:t>cumplen</m:t>
                        </m:r>
                        <m:r>
                          <m:rPr>
                            <m:nor/>
                          </m:rPr>
                          <a:rPr lang="es-ES" sz="2000" b="0" i="1" smtClean="0">
                            <a:latin typeface="Cambria Math" panose="02040503050406030204" pitchFamily="18" charset="0"/>
                          </a:rPr>
                          <m:t> </m:t>
                        </m:r>
                        <m:r>
                          <m:rPr>
                            <m:nor/>
                          </m:rPr>
                          <a:rPr lang="es-ES" sz="2000" b="0" i="1" smtClean="0">
                            <a:latin typeface="Cambria Math" panose="02040503050406030204" pitchFamily="18" charset="0"/>
                          </a:rPr>
                          <m:t>una</m:t>
                        </m:r>
                        <m:r>
                          <m:rPr>
                            <m:nor/>
                          </m:rPr>
                          <a:rPr lang="es-ES" sz="2000" b="0" i="1" smtClean="0">
                            <a:latin typeface="Cambria Math" panose="02040503050406030204" pitchFamily="18" charset="0"/>
                          </a:rPr>
                          <m:t> </m:t>
                        </m:r>
                        <m:r>
                          <m:rPr>
                            <m:nor/>
                          </m:rPr>
                          <a:rPr lang="es-ES" sz="2000" b="0" i="1" smtClean="0">
                            <a:latin typeface="Cambria Math" panose="02040503050406030204" pitchFamily="18" charset="0"/>
                          </a:rPr>
                          <m:t>condici</m:t>
                        </m:r>
                        <m:r>
                          <m:rPr>
                            <m:nor/>
                          </m:rPr>
                          <a:rPr lang="es-ES" sz="2000" b="0" i="1" smtClean="0">
                            <a:latin typeface="Cambria Math" panose="02040503050406030204" pitchFamily="18" charset="0"/>
                          </a:rPr>
                          <m:t>ó</m:t>
                        </m:r>
                        <m:r>
                          <m:rPr>
                            <m:nor/>
                          </m:rPr>
                          <a:rPr lang="es-ES" sz="2000" b="0" i="1" smtClean="0">
                            <a:latin typeface="Cambria Math" panose="02040503050406030204" pitchFamily="18" charset="0"/>
                          </a:rPr>
                          <m:t>n</m:t>
                        </m:r>
                        <m:r>
                          <m:rPr>
                            <m:nor/>
                          </m:rPr>
                          <a:rPr lang="es-ES" sz="2000" b="0" i="1" smtClean="0">
                            <a:latin typeface="Cambria Math" panose="02040503050406030204" pitchFamily="18" charset="0"/>
                          </a:rPr>
                          <m:t> </m:t>
                        </m:r>
                        <m:r>
                          <m:rPr>
                            <m:nor/>
                          </m:rPr>
                          <a:rPr lang="es-ES" sz="2000" b="0" i="1" smtClean="0">
                            <a:latin typeface="Cambria Math" panose="02040503050406030204" pitchFamily="18" charset="0"/>
                          </a:rPr>
                          <m:t>C</m:t>
                        </m:r>
                        <m:r>
                          <m:rPr>
                            <m:nor/>
                          </m:rPr>
                          <a:rPr lang="es-ES" sz="2000" i="1">
                            <a:latin typeface="Cambria Math" panose="02040503050406030204" pitchFamily="18" charset="0"/>
                          </a:rPr>
                          <m:t> </m:t>
                        </m:r>
                      </m:num>
                      <m:den>
                        <m:r>
                          <a:rPr lang="es-ES" sz="2000" b="0" i="1" smtClean="0">
                            <a:latin typeface="Cambria Math" panose="02040503050406030204" pitchFamily="18" charset="0"/>
                          </a:rPr>
                          <m:t>𝑡𝑎𝑚𝑎</m:t>
                        </m:r>
                        <m:r>
                          <a:rPr lang="es-ES" sz="2000" b="0" i="1" smtClean="0">
                            <a:latin typeface="Cambria Math" panose="02040503050406030204" pitchFamily="18" charset="0"/>
                          </a:rPr>
                          <m:t>ñ</m:t>
                        </m:r>
                        <m:r>
                          <a:rPr lang="es-ES" sz="2000" b="0" i="1" smtClean="0">
                            <a:latin typeface="Cambria Math" panose="02040503050406030204" pitchFamily="18" charset="0"/>
                          </a:rPr>
                          <m:t>𝑜</m:t>
                        </m:r>
                        <m:r>
                          <a:rPr lang="es-ES" sz="2000" b="0" i="1" smtClean="0">
                            <a:latin typeface="Cambria Math" panose="02040503050406030204" pitchFamily="18" charset="0"/>
                          </a:rPr>
                          <m:t> </m:t>
                        </m:r>
                        <m:r>
                          <a:rPr lang="es-ES" sz="2000" b="0" i="1" smtClean="0">
                            <a:latin typeface="Cambria Math" panose="02040503050406030204" pitchFamily="18" charset="0"/>
                          </a:rPr>
                          <m:t>𝑡𝑜𝑡𝑎𝑙</m:t>
                        </m:r>
                        <m:r>
                          <a:rPr lang="es-ES" sz="2000" b="0" i="1" smtClean="0">
                            <a:latin typeface="Cambria Math" panose="02040503050406030204" pitchFamily="18" charset="0"/>
                          </a:rPr>
                          <m:t> </m:t>
                        </m:r>
                        <m:r>
                          <a:rPr lang="es-ES" sz="2000" b="0" i="1" smtClean="0">
                            <a:latin typeface="Cambria Math" panose="02040503050406030204" pitchFamily="18" charset="0"/>
                          </a:rPr>
                          <m:t>𝑑𝑒</m:t>
                        </m:r>
                        <m:r>
                          <a:rPr lang="es-ES" sz="2000" b="0" i="1" smtClean="0">
                            <a:latin typeface="Cambria Math" panose="02040503050406030204" pitchFamily="18" charset="0"/>
                          </a:rPr>
                          <m:t> </m:t>
                        </m:r>
                        <m:r>
                          <a:rPr lang="es-ES" sz="2000" b="0" i="1" smtClean="0">
                            <a:latin typeface="Cambria Math" panose="02040503050406030204" pitchFamily="18" charset="0"/>
                          </a:rPr>
                          <m:t>𝑙𝑎</m:t>
                        </m:r>
                        <m:r>
                          <a:rPr lang="es-ES" sz="2000" b="0" i="1" smtClean="0">
                            <a:latin typeface="Cambria Math" panose="02040503050406030204" pitchFamily="18" charset="0"/>
                          </a:rPr>
                          <m:t> </m:t>
                        </m:r>
                        <m:r>
                          <a:rPr lang="es-ES" sz="2000" b="0" i="1" smtClean="0">
                            <a:latin typeface="Cambria Math" panose="02040503050406030204" pitchFamily="18" charset="0"/>
                          </a:rPr>
                          <m:t>𝑝𝑜𝑏𝑙𝑎𝑐𝑖</m:t>
                        </m:r>
                        <m:r>
                          <a:rPr lang="es-ES" sz="2000" b="0" i="1" smtClean="0">
                            <a:latin typeface="Cambria Math" panose="02040503050406030204" pitchFamily="18" charset="0"/>
                          </a:rPr>
                          <m:t>ó</m:t>
                        </m:r>
                        <m:r>
                          <a:rPr lang="es-ES" sz="2000" b="0" i="1" smtClean="0">
                            <a:latin typeface="Cambria Math" panose="02040503050406030204" pitchFamily="18" charset="0"/>
                          </a:rPr>
                          <m:t>𝑛</m:t>
                        </m:r>
                      </m:den>
                    </m:f>
                  </m:oMath>
                </a14:m>
                <a:endParaRPr lang="es-ES" sz="2000" i="1" dirty="0"/>
              </a:p>
              <a:p>
                <a:pPr lvl="1"/>
                <a:r>
                  <a:rPr lang="es-ES" dirty="0"/>
                  <a:t>Ejemplo: </a:t>
                </a:r>
              </a:p>
              <a:p>
                <a:pPr lvl="2"/>
                <a:r>
                  <a:rPr lang="es-ES" dirty="0"/>
                  <a:t>En una población de personas, la proporción de personas que saben conducir es del 60%</a:t>
                </a:r>
              </a:p>
              <a:p>
                <a:pPr lvl="2"/>
                <a:r>
                  <a:rPr lang="es-ES" dirty="0">
                    <a:sym typeface="Wingdings" panose="05000000000000000000" pitchFamily="2" charset="2"/>
                  </a:rPr>
                  <a:t>En este caso, </a:t>
                </a:r>
                <a14:m>
                  <m:oMath xmlns:m="http://schemas.openxmlformats.org/officeDocument/2006/math">
                    <m:r>
                      <a:rPr lang="es-ES" b="0" i="1" smtClean="0">
                        <a:latin typeface="Cambria Math" panose="02040503050406030204" pitchFamily="18" charset="0"/>
                        <a:ea typeface="Cambria Math" panose="02040503050406030204" pitchFamily="18" charset="0"/>
                      </a:rPr>
                      <m:t>𝑝</m:t>
                    </m:r>
                    <m:r>
                      <a:rPr lang="es-ES" b="0" i="1" smtClean="0">
                        <a:latin typeface="Cambria Math" panose="02040503050406030204" pitchFamily="18" charset="0"/>
                        <a:ea typeface="Cambria Math" panose="02040503050406030204" pitchFamily="18" charset="0"/>
                      </a:rPr>
                      <m:t>=0.6</m:t>
                    </m:r>
                  </m:oMath>
                </a14:m>
                <a:endParaRPr lang="es-ES" dirty="0"/>
              </a:p>
              <a:p>
                <a:r>
                  <a:rPr lang="es-ES" dirty="0"/>
                  <a:t>Se aplica sólo a muestras grandes</a:t>
                </a:r>
              </a:p>
              <a:p>
                <a:pPr lvl="1"/>
                <a:r>
                  <a:rPr lang="es-ES" dirty="0"/>
                  <a:t>Una muestra se suele considerar grande cuando el tamaño es n≥30 o n&gt;30 (no hay unanimidad).</a:t>
                </a:r>
              </a:p>
              <a:p>
                <a:pPr lvl="1"/>
                <a:endParaRPr lang="es-ES" dirty="0"/>
              </a:p>
              <a:p>
                <a:endParaRPr lang="es-ES" dirty="0"/>
              </a:p>
              <a:p>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502BEC66-7892-3662-9658-D3816CBE52A1}"/>
                  </a:ext>
                </a:extLst>
              </p:cNvPr>
              <p:cNvSpPr>
                <a:spLocks noGrp="1" noRot="1" noChangeAspect="1" noMove="1" noResize="1" noEditPoints="1" noAdjustHandles="1" noChangeArrowheads="1" noChangeShapeType="1" noTextEdit="1"/>
              </p:cNvSpPr>
              <p:nvPr>
                <p:ph idx="1"/>
              </p:nvPr>
            </p:nvSpPr>
            <p:spPr>
              <a:xfrm>
                <a:off x="838200" y="1825624"/>
                <a:ext cx="10515600" cy="4748795"/>
              </a:xfrm>
              <a:blipFill>
                <a:blip r:embed="rId2"/>
                <a:stretch>
                  <a:fillRect l="-1043" t="-205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38</a:t>
            </a:fld>
            <a:endParaRPr lang="es-ES" dirty="0"/>
          </a:p>
        </p:txBody>
      </p:sp>
    </p:spTree>
    <p:extLst>
      <p:ext uri="{BB962C8B-B14F-4D97-AF65-F5344CB8AC3E}">
        <p14:creationId xmlns:p14="http://schemas.microsoft.com/office/powerpoint/2010/main" val="20351426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normAutofit/>
          </a:bodyPr>
          <a:lstStyle/>
          <a:p>
            <a:r>
              <a:rPr lang="es-ES" dirty="0"/>
              <a:t>8. Intervalo de confianza para una proporción poblacional. Estimador</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a:xfrm>
                <a:off x="838200" y="1825624"/>
                <a:ext cx="10515600" cy="4748795"/>
              </a:xfrm>
            </p:spPr>
            <p:txBody>
              <a:bodyPr>
                <a:normAutofit/>
              </a:bodyPr>
              <a:lstStyle/>
              <a:p>
                <a:r>
                  <a:rPr lang="es-ES" dirty="0"/>
                  <a:t>Valores necesarios para el cálculo</a:t>
                </a:r>
              </a:p>
              <a:p>
                <a:pPr lvl="1"/>
                <a:r>
                  <a:rPr lang="es-ES" dirty="0"/>
                  <a:t>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 Proporción muestral = </a:t>
                </a:r>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oMath>
                </a14:m>
                <a:endParaRPr lang="es-ES" b="0" i="1" dirty="0">
                  <a:latin typeface="Cambria Math" panose="02040503050406030204" pitchFamily="18" charset="0"/>
                </a:endParaRPr>
              </a:p>
              <a:p>
                <a:pPr lvl="2"/>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𝑁</m:t>
                        </m:r>
                        <m:r>
                          <a:rPr lang="es-ES" b="0" i="1" smtClean="0">
                            <a:latin typeface="Cambria Math" panose="02040503050406030204" pitchFamily="18" charset="0"/>
                          </a:rPr>
                          <m:t>ú</m:t>
                        </m:r>
                        <m:r>
                          <a:rPr lang="es-ES" b="0" i="1" smtClean="0">
                            <a:latin typeface="Cambria Math" panose="02040503050406030204" pitchFamily="18" charset="0"/>
                          </a:rPr>
                          <m:t>𝑚𝑒𝑟𝑜</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𝑒𝑙𝑒𝑚𝑒𝑛𝑡𝑜𝑠</m:t>
                        </m:r>
                        <m:r>
                          <a:rPr lang="es-ES" b="0" i="1" smtClean="0">
                            <a:latin typeface="Cambria Math" panose="02040503050406030204" pitchFamily="18" charset="0"/>
                          </a:rPr>
                          <m:t> </m:t>
                        </m:r>
                        <m:r>
                          <a:rPr lang="es-ES" b="0" i="1" smtClean="0">
                            <a:latin typeface="Cambria Math" panose="02040503050406030204" pitchFamily="18" charset="0"/>
                          </a:rPr>
                          <m:t>𝑑𝑒</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𝑚𝑢𝑒𝑠𝑡𝑟𝑎</m:t>
                        </m:r>
                        <m:r>
                          <a:rPr lang="es-ES" b="0" i="1" smtClean="0">
                            <a:latin typeface="Cambria Math" panose="02040503050406030204" pitchFamily="18" charset="0"/>
                          </a:rPr>
                          <m:t> </m:t>
                        </m:r>
                        <m:r>
                          <a:rPr lang="es-ES" b="0" i="1" smtClean="0">
                            <a:latin typeface="Cambria Math" panose="02040503050406030204" pitchFamily="18" charset="0"/>
                          </a:rPr>
                          <m:t>𝑞𝑢𝑒</m:t>
                        </m:r>
                        <m:r>
                          <a:rPr lang="es-ES" b="0" i="1" smtClean="0">
                            <a:latin typeface="Cambria Math" panose="02040503050406030204" pitchFamily="18" charset="0"/>
                          </a:rPr>
                          <m:t> </m:t>
                        </m:r>
                        <m:r>
                          <a:rPr lang="es-ES" b="0" i="1" smtClean="0">
                            <a:latin typeface="Cambria Math" panose="02040503050406030204" pitchFamily="18" charset="0"/>
                          </a:rPr>
                          <m:t>𝑐𝑢𝑚𝑝𝑙𝑒𝑛</m:t>
                        </m:r>
                        <m:r>
                          <a:rPr lang="es-ES" b="0" i="1" smtClean="0">
                            <a:latin typeface="Cambria Math" panose="02040503050406030204" pitchFamily="18" charset="0"/>
                          </a:rPr>
                          <m:t> </m:t>
                        </m:r>
                        <m:r>
                          <a:rPr lang="es-ES" b="0" i="1" smtClean="0">
                            <a:latin typeface="Cambria Math" panose="02040503050406030204" pitchFamily="18" charset="0"/>
                          </a:rPr>
                          <m:t>𝑙𝑎</m:t>
                        </m:r>
                        <m:r>
                          <a:rPr lang="es-ES" b="0" i="1" smtClean="0">
                            <a:latin typeface="Cambria Math" panose="02040503050406030204" pitchFamily="18" charset="0"/>
                          </a:rPr>
                          <m:t> </m:t>
                        </m:r>
                        <m:r>
                          <a:rPr lang="es-ES" b="0" i="1" smtClean="0">
                            <a:latin typeface="Cambria Math" panose="02040503050406030204" pitchFamily="18" charset="0"/>
                          </a:rPr>
                          <m:t>𝑐𝑜𝑛𝑑𝑖𝑐𝑖</m:t>
                        </m:r>
                        <m:r>
                          <a:rPr lang="es-ES" b="0" i="1" smtClean="0">
                            <a:latin typeface="Cambria Math" panose="02040503050406030204" pitchFamily="18" charset="0"/>
                          </a:rPr>
                          <m:t>ó</m:t>
                        </m:r>
                        <m:r>
                          <a:rPr lang="es-ES" b="0" i="1" smtClean="0">
                            <a:latin typeface="Cambria Math" panose="02040503050406030204" pitchFamily="18" charset="0"/>
                          </a:rPr>
                          <m:t>𝑛</m:t>
                        </m:r>
                        <m:r>
                          <a:rPr lang="es-ES" b="0" i="1" smtClean="0">
                            <a:latin typeface="Cambria Math" panose="02040503050406030204" pitchFamily="18" charset="0"/>
                          </a:rPr>
                          <m:t> </m:t>
                        </m:r>
                        <m:r>
                          <a:rPr lang="es-ES" b="0" i="1" smtClean="0">
                            <a:latin typeface="Cambria Math" panose="02040503050406030204" pitchFamily="18" charset="0"/>
                          </a:rPr>
                          <m:t>𝐶</m:t>
                        </m:r>
                      </m:num>
                      <m:den>
                        <m:r>
                          <a:rPr lang="es-ES" b="0" i="1" smtClean="0">
                            <a:latin typeface="Cambria Math" panose="02040503050406030204" pitchFamily="18" charset="0"/>
                          </a:rPr>
                          <m:t>𝑛</m:t>
                        </m:r>
                      </m:den>
                    </m:f>
                  </m:oMath>
                </a14:m>
                <a:r>
                  <a:rPr lang="es-ES" dirty="0"/>
                  <a:t> </a:t>
                </a:r>
              </a:p>
              <a:p>
                <a:pPr lvl="2"/>
                <a:r>
                  <a:rPr lang="es-ES" dirty="0"/>
                  <a:t>Se considera que el estimador estandarizado tiene distribución Normal estándar</a:t>
                </a:r>
              </a:p>
              <a:p>
                <a:pPr lvl="1"/>
                <a:r>
                  <a:rPr lang="es-ES" dirty="0"/>
                  <a:t>Tamaño de la muestra = </a:t>
                </a:r>
                <a14:m>
                  <m:oMath xmlns:m="http://schemas.openxmlformats.org/officeDocument/2006/math">
                    <m:r>
                      <a:rPr lang="es-ES" b="0" i="1" smtClean="0">
                        <a:latin typeface="Cambria Math" panose="02040503050406030204" pitchFamily="18" charset="0"/>
                      </a:rPr>
                      <m:t>𝑛</m:t>
                    </m:r>
                  </m:oMath>
                </a14:m>
                <a:endParaRPr lang="es-ES" dirty="0"/>
              </a:p>
              <a:p>
                <a:pPr lvl="1"/>
                <a:r>
                  <a:rPr lang="es-ES" dirty="0"/>
                  <a:t>Nivel de error o significación = </a:t>
                </a:r>
                <a14:m>
                  <m:oMath xmlns:m="http://schemas.openxmlformats.org/officeDocument/2006/math">
                    <m:r>
                      <a:rPr lang="es-ES" i="1" smtClean="0">
                        <a:latin typeface="Cambria Math" panose="02040503050406030204" pitchFamily="18" charset="0"/>
                        <a:ea typeface="Cambria Math" panose="02040503050406030204" pitchFamily="18" charset="0"/>
                      </a:rPr>
                      <m:t>𝛼</m:t>
                    </m:r>
                  </m:oMath>
                </a14:m>
                <a:endParaRPr lang="es-ES" dirty="0"/>
              </a:p>
              <a:p>
                <a:pPr lvl="1"/>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oMath>
                </a14:m>
                <a:r>
                  <a:rPr lang="es-ES" dirty="0"/>
                  <a:t> </a:t>
                </a:r>
                <a:r>
                  <a:rPr lang="es-ES" dirty="0">
                    <a:sym typeface="Wingdings" panose="05000000000000000000" pitchFamily="2" charset="2"/>
                  </a:rPr>
                  <a:t></a:t>
                </a:r>
                <a:r>
                  <a:rPr lang="es-ES" dirty="0"/>
                  <a:t> Se obtiene con la tabla A4 o con software</a:t>
                </a:r>
              </a:p>
              <a:p>
                <a:pPr lvl="2"/>
                <a:r>
                  <a:rPr lang="es-ES" dirty="0"/>
                  <a:t>Aplicado a una variable Normal estándar N(0,1)</a:t>
                </a:r>
              </a:p>
              <a:p>
                <a:pPr lvl="2"/>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502BEC66-7892-3662-9658-D3816CBE52A1}"/>
                  </a:ext>
                </a:extLst>
              </p:cNvPr>
              <p:cNvSpPr>
                <a:spLocks noGrp="1" noRot="1" noChangeAspect="1" noMove="1" noResize="1" noEditPoints="1" noAdjustHandles="1" noChangeArrowheads="1" noChangeShapeType="1" noTextEdit="1"/>
              </p:cNvSpPr>
              <p:nvPr>
                <p:ph idx="1"/>
              </p:nvPr>
            </p:nvSpPr>
            <p:spPr>
              <a:xfrm>
                <a:off x="838200" y="1825624"/>
                <a:ext cx="10515600" cy="4748795"/>
              </a:xfrm>
              <a:blipFill>
                <a:blip r:embed="rId2"/>
                <a:stretch>
                  <a:fillRect l="-1043" t="-205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39</a:t>
            </a:fld>
            <a:endParaRPr lang="es-ES" dirty="0"/>
          </a:p>
        </p:txBody>
      </p:sp>
    </p:spTree>
    <p:extLst>
      <p:ext uri="{BB962C8B-B14F-4D97-AF65-F5344CB8AC3E}">
        <p14:creationId xmlns:p14="http://schemas.microsoft.com/office/powerpoint/2010/main" val="3204689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7CE99-314E-E488-6849-91EB1AE31190}"/>
              </a:ext>
            </a:extLst>
          </p:cNvPr>
          <p:cNvSpPr>
            <a:spLocks noGrp="1"/>
          </p:cNvSpPr>
          <p:nvPr>
            <p:ph type="title"/>
          </p:nvPr>
        </p:nvSpPr>
        <p:spPr/>
        <p:txBody>
          <a:bodyPr>
            <a:normAutofit/>
          </a:bodyPr>
          <a:lstStyle/>
          <a:p>
            <a:r>
              <a:rPr lang="es-ES" dirty="0"/>
              <a:t>8. Intervalo de confianza para una proporción poblacional. Fórmulas</a:t>
            </a: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3420273992"/>
                  </p:ext>
                </p:extLst>
              </p:nvPr>
            </p:nvGraphicFramePr>
            <p:xfrm>
              <a:off x="838200" y="1825625"/>
              <a:ext cx="10515597" cy="2632901"/>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370840">
                    <a:tc>
                      <a:txBody>
                        <a:bodyPr/>
                        <a:lstStyle/>
                        <a:p>
                          <a:pPr algn="ctr"/>
                          <a:r>
                            <a:rPr lang="es-ES" b="1" dirty="0"/>
                            <a:t>Se conoce la varianza poblacional (</a:t>
                          </a:r>
                          <a14:m>
                            <m:oMath xmlns:m="http://schemas.openxmlformats.org/officeDocument/2006/math">
                              <m:sSup>
                                <m:sSupPr>
                                  <m:ctrlPr>
                                    <a:rPr lang="es-ES" b="1" i="1" smtClean="0">
                                      <a:latin typeface="Cambria Math" panose="02040503050406030204" pitchFamily="18" charset="0"/>
                                    </a:rPr>
                                  </m:ctrlPr>
                                </m:sSupPr>
                                <m:e>
                                  <m:r>
                                    <a:rPr lang="es-ES" b="1" i="1" smtClean="0">
                                      <a:latin typeface="Cambria Math" panose="02040503050406030204" pitchFamily="18" charset="0"/>
                                      <a:ea typeface="Cambria Math" panose="02040503050406030204" pitchFamily="18" charset="0"/>
                                    </a:rPr>
                                    <m:t>𝝈</m:t>
                                  </m:r>
                                </m:e>
                                <m:sup>
                                  <m:r>
                                    <a:rPr lang="es-ES" b="1" i="1" smtClean="0">
                                      <a:latin typeface="Cambria Math" panose="02040503050406030204" pitchFamily="18" charset="0"/>
                                    </a:rPr>
                                    <m:t>𝟐</m:t>
                                  </m:r>
                                </m:sup>
                              </m:sSup>
                            </m:oMath>
                          </a14:m>
                          <a:r>
                            <a:rPr lang="es-ES" b="1" dirty="0"/>
                            <a:t>)</a:t>
                          </a:r>
                        </a:p>
                      </a:txBody>
                      <a:tcPr>
                        <a:solidFill>
                          <a:schemeClr val="bg1">
                            <a:lumMod val="85000"/>
                          </a:schemeClr>
                        </a:solid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dirty="0"/>
                            <a:t>---</a:t>
                          </a:r>
                        </a:p>
                      </a:txBody>
                      <a:tcPr anchor="ctr"/>
                    </a:tc>
                    <a:tc>
                      <a:txBody>
                        <a:bodyPr/>
                        <a:lstStyle/>
                        <a:p>
                          <a:pPr algn="ctr"/>
                          <a:r>
                            <a:rPr lang="es-ES" dirty="0"/>
                            <a:t>Grande</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(1−</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num>
                                      <m:den>
                                        <m:r>
                                          <a:rPr lang="es-ES" b="0" i="1" smtClean="0">
                                            <a:latin typeface="Cambria Math" panose="02040503050406030204" pitchFamily="18" charset="0"/>
                                            <a:ea typeface="Cambria Math" panose="02040503050406030204" pitchFamily="18" charset="0"/>
                                          </a:rPr>
                                          <m:t>𝑛</m:t>
                                        </m:r>
                                      </m:den>
                                    </m:f>
                                  </m:e>
                                </m:rad>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(1−</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num>
                                      <m:den>
                                        <m:r>
                                          <a:rPr lang="es-ES" b="0" i="1" smtClean="0">
                                            <a:latin typeface="Cambria Math" panose="02040503050406030204" pitchFamily="18" charset="0"/>
                                            <a:ea typeface="Cambria Math" panose="02040503050406030204" pitchFamily="18" charset="0"/>
                                          </a:rPr>
                                          <m:t>𝑛</m:t>
                                        </m:r>
                                      </m:den>
                                    </m:f>
                                  </m:e>
                                </m:rad>
                              </m:oMath>
                            </m:oMathPara>
                          </a14:m>
                          <a:endParaRPr lang="es-ES" dirty="0"/>
                        </a:p>
                      </a:txBody>
                      <a:tcPr anchor="ctr"/>
                    </a:tc>
                    <a:extLst>
                      <a:ext uri="{0D108BD9-81ED-4DB2-BD59-A6C34878D82A}">
                        <a16:rowId xmlns:a16="http://schemas.microsoft.com/office/drawing/2014/main" val="176150309"/>
                      </a:ext>
                    </a:extLst>
                  </a:tr>
                </a:tbl>
              </a:graphicData>
            </a:graphic>
          </p:graphicFrame>
        </mc:Choice>
        <mc:Fallback xmlns="">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3420273992"/>
                  </p:ext>
                </p:extLst>
              </p:nvPr>
            </p:nvGraphicFramePr>
            <p:xfrm>
              <a:off x="838200" y="1825625"/>
              <a:ext cx="10515597" cy="2632901"/>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646240">
                    <a:tc>
                      <a:txBody>
                        <a:bodyPr/>
                        <a:lstStyle/>
                        <a:p>
                          <a:endParaRPr lang="es-ES"/>
                        </a:p>
                      </a:txBody>
                      <a:tcPr>
                        <a:blipFill>
                          <a:blip r:embed="rId2"/>
                          <a:stretch>
                            <a:fillRect l="-253" t="-4717" r="-336364" b="-310377"/>
                          </a:stretch>
                        </a:blip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1986661">
                    <a:tc>
                      <a:txBody>
                        <a:bodyPr/>
                        <a:lstStyle/>
                        <a:p>
                          <a:pPr algn="ctr"/>
                          <a:r>
                            <a:rPr lang="es-ES" dirty="0"/>
                            <a:t>---</a:t>
                          </a:r>
                        </a:p>
                      </a:txBody>
                      <a:tcPr anchor="ctr"/>
                    </a:tc>
                    <a:tc>
                      <a:txBody>
                        <a:bodyPr/>
                        <a:lstStyle/>
                        <a:p>
                          <a:pPr algn="ctr"/>
                          <a:r>
                            <a:rPr lang="es-ES" dirty="0"/>
                            <a:t>Grande</a:t>
                          </a:r>
                        </a:p>
                      </a:txBody>
                      <a:tcPr anchor="ctr"/>
                    </a:tc>
                    <a:tc>
                      <a:txBody>
                        <a:bodyPr/>
                        <a:lstStyle/>
                        <a:p>
                          <a:endParaRPr lang="es-ES"/>
                        </a:p>
                      </a:txBody>
                      <a:tcPr anchor="ctr">
                        <a:blipFill>
                          <a:blip r:embed="rId2"/>
                          <a:stretch>
                            <a:fillRect l="-64476" t="-33945" r="-190" b="-612"/>
                          </a:stretch>
                        </a:blipFill>
                      </a:tcPr>
                    </a:tc>
                    <a:extLst>
                      <a:ext uri="{0D108BD9-81ED-4DB2-BD59-A6C34878D82A}">
                        <a16:rowId xmlns:a16="http://schemas.microsoft.com/office/drawing/2014/main" val="176150309"/>
                      </a:ext>
                    </a:extLst>
                  </a:tr>
                </a:tbl>
              </a:graphicData>
            </a:graphic>
          </p:graphicFrame>
        </mc:Fallback>
      </mc:AlternateContent>
      <p:sp>
        <p:nvSpPr>
          <p:cNvPr id="4" name="Marcador de número de diapositiva 3">
            <a:extLst>
              <a:ext uri="{FF2B5EF4-FFF2-40B4-BE49-F238E27FC236}">
                <a16:creationId xmlns:a16="http://schemas.microsoft.com/office/drawing/2014/main" id="{631FCE57-DC4F-5256-4E73-1E8DB5867327}"/>
              </a:ext>
            </a:extLst>
          </p:cNvPr>
          <p:cNvSpPr>
            <a:spLocks noGrp="1"/>
          </p:cNvSpPr>
          <p:nvPr>
            <p:ph type="sldNum" sz="quarter" idx="12"/>
          </p:nvPr>
        </p:nvSpPr>
        <p:spPr/>
        <p:txBody>
          <a:bodyPr/>
          <a:lstStyle/>
          <a:p>
            <a:fld id="{336CAFD0-1F6E-4E11-9822-836563A02839}" type="slidenum">
              <a:rPr lang="es-ES" smtClean="0"/>
              <a:pPr/>
              <a:t>40</a:t>
            </a:fld>
            <a:endParaRPr lang="es-ES" dirty="0"/>
          </a:p>
        </p:txBody>
      </p:sp>
    </p:spTree>
    <p:extLst>
      <p:ext uri="{BB962C8B-B14F-4D97-AF65-F5344CB8AC3E}">
        <p14:creationId xmlns:p14="http://schemas.microsoft.com/office/powerpoint/2010/main" val="2703293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normAutofit/>
          </a:bodyPr>
          <a:lstStyle/>
          <a:p>
            <a:r>
              <a:rPr lang="es-ES" dirty="0"/>
              <a:t>8. Intervalo de confianza para una proporción poblacional. Ejemplo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a:xfrm>
                <a:off x="838200" y="1825624"/>
                <a:ext cx="10515600" cy="4748795"/>
              </a:xfrm>
            </p:spPr>
            <p:txBody>
              <a:bodyPr>
                <a:normAutofit fontScale="85000" lnSpcReduction="10000"/>
              </a:bodyPr>
              <a:lstStyle/>
              <a:p>
                <a14:m>
                  <m:oMath xmlns:m="http://schemas.openxmlformats.org/officeDocument/2006/math">
                    <m:r>
                      <a:rPr lang="es-ES" b="0" i="1" smtClean="0">
                        <a:latin typeface="Cambria Math" panose="02040503050406030204" pitchFamily="18" charset="0"/>
                      </a:rPr>
                      <m:t>𝑝</m:t>
                    </m:r>
                    <m:r>
                      <a:rPr lang="es-ES" b="0" i="1" smtClean="0">
                        <a:latin typeface="Cambria Math" panose="02040503050406030204" pitchFamily="18" charset="0"/>
                      </a:rPr>
                      <m:t>=</m:t>
                    </m:r>
                    <m:r>
                      <m:rPr>
                        <m:nor/>
                      </m:rPr>
                      <a:rPr lang="es-ES" b="0" i="0" smtClean="0">
                        <a:latin typeface="Cambria Math" panose="02040503050406030204" pitchFamily="18" charset="0"/>
                      </a:rPr>
                      <m:t>proporci</m:t>
                    </m:r>
                    <m:r>
                      <m:rPr>
                        <m:nor/>
                      </m:rPr>
                      <a:rPr lang="es-ES" b="0" i="0" smtClean="0">
                        <a:latin typeface="Cambria Math" panose="02040503050406030204" pitchFamily="18" charset="0"/>
                      </a:rPr>
                      <m:t>ó</m:t>
                    </m:r>
                    <m:r>
                      <m:rPr>
                        <m:nor/>
                      </m:rPr>
                      <a:rPr lang="es-ES" b="0" i="0" smtClean="0">
                        <a:latin typeface="Cambria Math" panose="02040503050406030204" pitchFamily="18" charset="0"/>
                      </a:rPr>
                      <m:t>n</m:t>
                    </m:r>
                    <m:r>
                      <m:rPr>
                        <m:nor/>
                      </m:rPr>
                      <a:rPr lang="es-ES" b="0" i="0" smtClean="0">
                        <a:latin typeface="Cambria Math" panose="02040503050406030204" pitchFamily="18" charset="0"/>
                      </a:rPr>
                      <m:t> </m:t>
                    </m:r>
                    <m:r>
                      <m:rPr>
                        <m:nor/>
                      </m:rPr>
                      <a:rPr lang="es-ES" b="0" i="0" smtClean="0">
                        <a:latin typeface="Cambria Math" panose="02040503050406030204" pitchFamily="18" charset="0"/>
                      </a:rPr>
                      <m:t>de</m:t>
                    </m:r>
                    <m:r>
                      <m:rPr>
                        <m:nor/>
                      </m:rPr>
                      <a:rPr lang="es-ES" b="0" i="0" smtClean="0">
                        <a:latin typeface="Cambria Math" panose="02040503050406030204" pitchFamily="18" charset="0"/>
                      </a:rPr>
                      <m:t> </m:t>
                    </m:r>
                    <m:r>
                      <m:rPr>
                        <m:nor/>
                      </m:rPr>
                      <a:rPr lang="es-ES" b="0" i="0" smtClean="0">
                        <a:latin typeface="Cambria Math" panose="02040503050406030204" pitchFamily="18" charset="0"/>
                      </a:rPr>
                      <m:t>personas</m:t>
                    </m:r>
                    <m:r>
                      <m:rPr>
                        <m:nor/>
                      </m:rPr>
                      <a:rPr lang="es-ES" b="0" i="0" smtClean="0">
                        <a:latin typeface="Cambria Math" panose="02040503050406030204" pitchFamily="18" charset="0"/>
                      </a:rPr>
                      <m:t> </m:t>
                    </m:r>
                    <m:r>
                      <m:rPr>
                        <m:nor/>
                      </m:rPr>
                      <a:rPr lang="es-ES" b="0" i="0" smtClean="0">
                        <a:latin typeface="Cambria Math" panose="02040503050406030204" pitchFamily="18" charset="0"/>
                      </a:rPr>
                      <m:t>de</m:t>
                    </m:r>
                    <m:r>
                      <m:rPr>
                        <m:nor/>
                      </m:rPr>
                      <a:rPr lang="es-ES" b="0" i="0" smtClean="0">
                        <a:latin typeface="Cambria Math" panose="02040503050406030204" pitchFamily="18" charset="0"/>
                      </a:rPr>
                      <m:t> </m:t>
                    </m:r>
                    <m:r>
                      <m:rPr>
                        <m:nor/>
                      </m:rPr>
                      <a:rPr lang="es-ES" b="0" i="0" smtClean="0">
                        <a:latin typeface="Cambria Math" panose="02040503050406030204" pitchFamily="18" charset="0"/>
                      </a:rPr>
                      <m:t>una</m:t>
                    </m:r>
                    <m:r>
                      <m:rPr>
                        <m:nor/>
                      </m:rPr>
                      <a:rPr lang="es-ES" b="0" i="0" smtClean="0">
                        <a:latin typeface="Cambria Math" panose="02040503050406030204" pitchFamily="18" charset="0"/>
                      </a:rPr>
                      <m:t> </m:t>
                    </m:r>
                    <m:r>
                      <m:rPr>
                        <m:nor/>
                      </m:rPr>
                      <a:rPr lang="es-ES" b="0" i="0" smtClean="0">
                        <a:latin typeface="Cambria Math" panose="02040503050406030204" pitchFamily="18" charset="0"/>
                      </a:rPr>
                      <m:t>poblaci</m:t>
                    </m:r>
                    <m:r>
                      <m:rPr>
                        <m:nor/>
                      </m:rPr>
                      <a:rPr lang="es-ES" b="0" i="0" smtClean="0">
                        <a:latin typeface="Cambria Math" panose="02040503050406030204" pitchFamily="18" charset="0"/>
                      </a:rPr>
                      <m:t>ó</m:t>
                    </m:r>
                    <m:r>
                      <m:rPr>
                        <m:nor/>
                      </m:rPr>
                      <a:rPr lang="es-ES" b="0" i="0" smtClean="0">
                        <a:latin typeface="Cambria Math" panose="02040503050406030204" pitchFamily="18" charset="0"/>
                      </a:rPr>
                      <m:t>n</m:t>
                    </m:r>
                    <m:r>
                      <m:rPr>
                        <m:nor/>
                      </m:rPr>
                      <a:rPr lang="es-ES" b="0" i="0" smtClean="0">
                        <a:latin typeface="Cambria Math" panose="02040503050406030204" pitchFamily="18" charset="0"/>
                      </a:rPr>
                      <m:t> </m:t>
                    </m:r>
                    <m:r>
                      <m:rPr>
                        <m:nor/>
                      </m:rPr>
                      <a:rPr lang="es-ES" b="0" i="0" smtClean="0">
                        <a:latin typeface="Cambria Math" panose="02040503050406030204" pitchFamily="18" charset="0"/>
                      </a:rPr>
                      <m:t>que</m:t>
                    </m:r>
                    <m:r>
                      <m:rPr>
                        <m:nor/>
                      </m:rPr>
                      <a:rPr lang="es-ES" b="0" i="0" smtClean="0">
                        <a:latin typeface="Cambria Math" panose="02040503050406030204" pitchFamily="18" charset="0"/>
                      </a:rPr>
                      <m:t> </m:t>
                    </m:r>
                    <m:r>
                      <m:rPr>
                        <m:nor/>
                      </m:rPr>
                      <a:rPr lang="es-ES" b="0" i="0" smtClean="0">
                        <a:latin typeface="Cambria Math" panose="02040503050406030204" pitchFamily="18" charset="0"/>
                      </a:rPr>
                      <m:t>saben</m:t>
                    </m:r>
                    <m:r>
                      <m:rPr>
                        <m:nor/>
                      </m:rPr>
                      <a:rPr lang="es-ES" b="0" i="0" smtClean="0">
                        <a:latin typeface="Cambria Math" panose="02040503050406030204" pitchFamily="18" charset="0"/>
                      </a:rPr>
                      <m:t> </m:t>
                    </m:r>
                    <m:r>
                      <m:rPr>
                        <m:nor/>
                      </m:rPr>
                      <a:rPr lang="es-ES" b="0" i="0" smtClean="0">
                        <a:latin typeface="Cambria Math" panose="02040503050406030204" pitchFamily="18" charset="0"/>
                      </a:rPr>
                      <m:t>conducir</m:t>
                    </m:r>
                  </m:oMath>
                </a14:m>
                <a:endParaRPr lang="es-ES" dirty="0"/>
              </a:p>
              <a:p>
                <a:r>
                  <a:rPr lang="es-ES" b="0" dirty="0"/>
                  <a:t>Muestra: </a:t>
                </a:r>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=100</m:t>
                    </m:r>
                  </m:oMath>
                </a14:m>
                <a:endParaRPr lang="es-ES" b="0" dirty="0"/>
              </a:p>
              <a:p>
                <a14:m>
                  <m:oMath xmlns:m="http://schemas.openxmlformats.org/officeDocument/2006/math">
                    <m:r>
                      <a:rPr lang="es-ES" i="1">
                        <a:latin typeface="Cambria Math" panose="02040503050406030204" pitchFamily="18" charset="0"/>
                        <a:ea typeface="Cambria Math" panose="02040503050406030204" pitchFamily="18" charset="0"/>
                      </a:rPr>
                      <m:t>𝛼</m:t>
                    </m:r>
                    <m:r>
                      <a:rPr lang="es-ES" i="1">
                        <a:latin typeface="Cambria Math" panose="02040503050406030204" pitchFamily="18" charset="0"/>
                        <a:ea typeface="Cambria Math" panose="02040503050406030204" pitchFamily="18" charset="0"/>
                      </a:rPr>
                      <m:t>=0.05 →</m:t>
                    </m:r>
                    <m:r>
                      <m:rPr>
                        <m:nor/>
                      </m:rPr>
                      <a:rPr lang="es-ES">
                        <a:latin typeface="Cambria Math" panose="02040503050406030204" pitchFamily="18" charset="0"/>
                        <a:ea typeface="Cambria Math" panose="02040503050406030204" pitchFamily="18" charset="0"/>
                      </a:rPr>
                      <m:t>Nivel</m:t>
                    </m:r>
                    <m:r>
                      <m:rPr>
                        <m:nor/>
                      </m:rPr>
                      <a:rPr lang="es-ES">
                        <a:latin typeface="Cambria Math" panose="02040503050406030204" pitchFamily="18" charset="0"/>
                        <a:ea typeface="Cambria Math" panose="02040503050406030204" pitchFamily="18" charset="0"/>
                      </a:rPr>
                      <m:t> </m:t>
                    </m:r>
                    <m:r>
                      <m:rPr>
                        <m:nor/>
                      </m:rPr>
                      <a:rPr lang="es-ES">
                        <a:latin typeface="Cambria Math" panose="02040503050406030204" pitchFamily="18" charset="0"/>
                        <a:ea typeface="Cambria Math" panose="02040503050406030204" pitchFamily="18" charset="0"/>
                      </a:rPr>
                      <m:t>de</m:t>
                    </m:r>
                    <m:r>
                      <m:rPr>
                        <m:nor/>
                      </m:rPr>
                      <a:rPr lang="es-ES">
                        <a:latin typeface="Cambria Math" panose="02040503050406030204" pitchFamily="18" charset="0"/>
                        <a:ea typeface="Cambria Math" panose="02040503050406030204" pitchFamily="18" charset="0"/>
                      </a:rPr>
                      <m:t> </m:t>
                    </m:r>
                    <m:r>
                      <m:rPr>
                        <m:nor/>
                      </m:rPr>
                      <a:rPr lang="es-ES">
                        <a:latin typeface="Cambria Math" panose="02040503050406030204" pitchFamily="18" charset="0"/>
                        <a:ea typeface="Cambria Math" panose="02040503050406030204" pitchFamily="18" charset="0"/>
                      </a:rPr>
                      <m:t>confianza</m:t>
                    </m:r>
                    <m:r>
                      <m:rPr>
                        <m:nor/>
                      </m:rPr>
                      <a:rPr lang="es-ES">
                        <a:latin typeface="Cambria Math" panose="02040503050406030204" pitchFamily="18" charset="0"/>
                        <a:ea typeface="Cambria Math" panose="02040503050406030204" pitchFamily="18" charset="0"/>
                      </a:rPr>
                      <m:t> </m:t>
                    </m:r>
                    <m:r>
                      <m:rPr>
                        <m:nor/>
                      </m:rPr>
                      <a:rPr lang="es-ES">
                        <a:latin typeface="Cambria Math" panose="02040503050406030204" pitchFamily="18" charset="0"/>
                        <a:ea typeface="Cambria Math" panose="02040503050406030204" pitchFamily="18" charset="0"/>
                      </a:rPr>
                      <m:t>del</m:t>
                    </m:r>
                    <m:r>
                      <m:rPr>
                        <m:nor/>
                      </m:rPr>
                      <a:rPr lang="es-ES">
                        <a:latin typeface="Cambria Math" panose="02040503050406030204" pitchFamily="18" charset="0"/>
                        <a:ea typeface="Cambria Math" panose="02040503050406030204" pitchFamily="18" charset="0"/>
                      </a:rPr>
                      <m:t> 95%</m:t>
                    </m:r>
                  </m:oMath>
                </a14:m>
                <a:endParaRPr lang="es-ES" dirty="0"/>
              </a:p>
              <a:p>
                <a:r>
                  <a:rPr lang="es-ES" dirty="0"/>
                  <a:t>Personas de la muestra que saben conducir = 60</a:t>
                </a:r>
              </a:p>
              <a:p>
                <a:pPr lvl="1"/>
                <a14:m>
                  <m:oMath xmlns:m="http://schemas.openxmlformats.org/officeDocument/2006/math">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60</m:t>
                        </m:r>
                      </m:num>
                      <m:den>
                        <m:r>
                          <a:rPr lang="es-ES" b="0" i="1" smtClean="0">
                            <a:latin typeface="Cambria Math" panose="02040503050406030204" pitchFamily="18" charset="0"/>
                          </a:rPr>
                          <m:t>100</m:t>
                        </m:r>
                      </m:den>
                    </m:f>
                    <m:r>
                      <a:rPr lang="es-ES" b="0" i="1" smtClean="0">
                        <a:latin typeface="Cambria Math" panose="02040503050406030204" pitchFamily="18" charset="0"/>
                      </a:rPr>
                      <m:t>=0.6</m:t>
                    </m:r>
                  </m:oMath>
                </a14:m>
                <a:endParaRPr lang="es-ES" b="0" dirty="0"/>
              </a:p>
              <a:p>
                <a:pPr lvl="1"/>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/2</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i="1">
                            <a:latin typeface="Cambria Math" panose="02040503050406030204" pitchFamily="18" charset="0"/>
                            <a:ea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0.975</m:t>
                        </m:r>
                      </m:e>
                    </m:d>
                    <m:r>
                      <a:rPr lang="es-ES" b="0" i="1" smtClean="0">
                        <a:latin typeface="Cambria Math" panose="02040503050406030204" pitchFamily="18" charset="0"/>
                        <a:ea typeface="Cambria Math" panose="02040503050406030204" pitchFamily="18" charset="0"/>
                      </a:rPr>
                      <m:t>=1.96</m:t>
                    </m:r>
                  </m:oMath>
                </a14:m>
                <a:endParaRPr lang="es-ES" b="0" dirty="0"/>
              </a:p>
              <a:p>
                <a:pPr lvl="2"/>
                <a:r>
                  <a:rPr lang="es-ES" dirty="0"/>
                  <a:t>Usando un software o la tabla A4</a:t>
                </a:r>
                <a:endParaRPr lang="es-ES" b="0" dirty="0"/>
              </a:p>
              <a:p>
                <a:r>
                  <a:rPr lang="es-ES" dirty="0"/>
                  <a:t>Intervalo de confianza</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d>
                              <m:dPr>
                                <m:ctrlPr>
                                  <a:rPr lang="es-ES" b="0" i="1" smtClean="0">
                                    <a:latin typeface="Cambria Math" panose="02040503050406030204" pitchFamily="18" charset="0"/>
                                  </a:rPr>
                                </m:ctrlPr>
                              </m:dPr>
                              <m:e>
                                <m:r>
                                  <a:rPr lang="es-ES" b="0" i="1" smtClean="0">
                                    <a:latin typeface="Cambria Math" panose="02040503050406030204" pitchFamily="18" charset="0"/>
                                  </a:rPr>
                                  <m:t>1−</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e>
                            </m:d>
                          </m:num>
                          <m:den>
                            <m:r>
                              <a:rPr lang="es-ES" b="0" i="1" smtClean="0">
                                <a:latin typeface="Cambria Math" panose="02040503050406030204" pitchFamily="18" charset="0"/>
                                <a:ea typeface="Cambria Math" panose="02040503050406030204" pitchFamily="18" charset="0"/>
                              </a:rPr>
                              <m:t>𝑛</m:t>
                            </m:r>
                          </m:den>
                        </m:f>
                      </m:e>
                    </m:rad>
                    <m:r>
                      <a:rPr lang="es-ES" b="0" i="1" smtClean="0">
                        <a:latin typeface="Cambria Math" panose="02040503050406030204" pitchFamily="18" charset="0"/>
                        <a:ea typeface="Cambria Math" panose="02040503050406030204" pitchFamily="18" charset="0"/>
                      </a:rPr>
                      <m:t>=0.6−</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1.96</m:t>
                        </m:r>
                      </m:e>
                    </m:d>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0.6</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1−0.6</m:t>
                                </m:r>
                              </m:e>
                            </m:d>
                          </m:num>
                          <m:den>
                            <m:r>
                              <a:rPr lang="es-ES" b="0" i="1" smtClean="0">
                                <a:latin typeface="Cambria Math" panose="02040503050406030204" pitchFamily="18" charset="0"/>
                                <a:ea typeface="Cambria Math" panose="02040503050406030204" pitchFamily="18" charset="0"/>
                              </a:rPr>
                              <m:t>100</m:t>
                            </m:r>
                          </m:den>
                        </m:f>
                      </m:e>
                    </m:rad>
                    <m:r>
                      <a:rPr lang="es-ES" b="0" i="1" smtClean="0">
                        <a:latin typeface="Cambria Math" panose="02040503050406030204" pitchFamily="18" charset="0"/>
                        <a:ea typeface="Cambria Math" panose="02040503050406030204" pitchFamily="18" charset="0"/>
                      </a:rPr>
                      <m:t>=0.5</m:t>
                    </m:r>
                  </m:oMath>
                </a14:m>
                <a:endParaRPr lang="es-ES" b="0"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d>
                              <m:dPr>
                                <m:ctrlPr>
                                  <a:rPr lang="es-ES" b="0" i="1" smtClean="0">
                                    <a:latin typeface="Cambria Math" panose="02040503050406030204" pitchFamily="18" charset="0"/>
                                  </a:rPr>
                                </m:ctrlPr>
                              </m:dPr>
                              <m:e>
                                <m:r>
                                  <a:rPr lang="es-ES" b="0" i="1" smtClean="0">
                                    <a:latin typeface="Cambria Math" panose="02040503050406030204" pitchFamily="18" charset="0"/>
                                  </a:rPr>
                                  <m:t>1−</m:t>
                                </m:r>
                                <m:acc>
                                  <m:accPr>
                                    <m:chr m:val="̂"/>
                                    <m:ctrlPr>
                                      <a:rPr lang="es-ES" i="1" smtClean="0">
                                        <a:latin typeface="Cambria Math" panose="02040503050406030204" pitchFamily="18" charset="0"/>
                                      </a:rPr>
                                    </m:ctrlPr>
                                  </m:accPr>
                                  <m:e>
                                    <m:r>
                                      <a:rPr lang="es-ES" i="1">
                                        <a:latin typeface="Cambria Math" panose="02040503050406030204" pitchFamily="18" charset="0"/>
                                      </a:rPr>
                                      <m:t>𝑝</m:t>
                                    </m:r>
                                  </m:e>
                                </m:acc>
                              </m:e>
                            </m:d>
                          </m:num>
                          <m:den>
                            <m:r>
                              <a:rPr lang="es-ES" b="0" i="1" smtClean="0">
                                <a:latin typeface="Cambria Math" panose="02040503050406030204" pitchFamily="18" charset="0"/>
                                <a:ea typeface="Cambria Math" panose="02040503050406030204" pitchFamily="18" charset="0"/>
                              </a:rPr>
                              <m:t>𝑛</m:t>
                            </m:r>
                          </m:den>
                        </m:f>
                      </m:e>
                    </m:rad>
                    <m:r>
                      <a:rPr lang="es-ES" b="0" i="1" smtClean="0">
                        <a:latin typeface="Cambria Math" panose="02040503050406030204" pitchFamily="18" charset="0"/>
                        <a:ea typeface="Cambria Math" panose="02040503050406030204" pitchFamily="18" charset="0"/>
                      </a:rPr>
                      <m:t>=0.6+</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1.96</m:t>
                        </m:r>
                      </m:e>
                    </m:d>
                    <m:rad>
                      <m:radPr>
                        <m:degHide m:val="on"/>
                        <m:ctrlPr>
                          <a:rPr lang="es-ES" b="0" i="1" smtClean="0">
                            <a:latin typeface="Cambria Math" panose="02040503050406030204" pitchFamily="18" charset="0"/>
                            <a:ea typeface="Cambria Math" panose="02040503050406030204" pitchFamily="18" charset="0"/>
                          </a:rPr>
                        </m:ctrlPr>
                      </m:radPr>
                      <m:deg/>
                      <m:e>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0.6</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1−0.6</m:t>
                                </m:r>
                              </m:e>
                            </m:d>
                          </m:num>
                          <m:den>
                            <m:r>
                              <a:rPr lang="es-ES" b="0" i="1" smtClean="0">
                                <a:latin typeface="Cambria Math" panose="02040503050406030204" pitchFamily="18" charset="0"/>
                                <a:ea typeface="Cambria Math" panose="02040503050406030204" pitchFamily="18" charset="0"/>
                              </a:rPr>
                              <m:t>100</m:t>
                            </m:r>
                          </m:den>
                        </m:f>
                      </m:e>
                    </m:rad>
                    <m:r>
                      <a:rPr lang="es-ES" b="0" i="1" smtClean="0">
                        <a:latin typeface="Cambria Math" panose="02040503050406030204" pitchFamily="18" charset="0"/>
                        <a:ea typeface="Cambria Math" panose="02040503050406030204" pitchFamily="18" charset="0"/>
                      </a:rPr>
                      <m:t>=0.7</m:t>
                    </m:r>
                  </m:oMath>
                </a14:m>
                <a:endParaRPr lang="es-ES" b="0" dirty="0"/>
              </a:p>
              <a:p>
                <a:pPr lvl="1"/>
                <a:endParaRPr lang="es-ES" b="0" dirty="0"/>
              </a:p>
              <a:p>
                <a:endParaRPr lang="es-ES" dirty="0"/>
              </a:p>
              <a:p>
                <a:pPr lvl="2"/>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502BEC66-7892-3662-9658-D3816CBE52A1}"/>
                  </a:ext>
                </a:extLst>
              </p:cNvPr>
              <p:cNvSpPr>
                <a:spLocks noGrp="1" noRot="1" noChangeAspect="1" noMove="1" noResize="1" noEditPoints="1" noAdjustHandles="1" noChangeArrowheads="1" noChangeShapeType="1" noTextEdit="1"/>
              </p:cNvSpPr>
              <p:nvPr>
                <p:ph idx="1"/>
              </p:nvPr>
            </p:nvSpPr>
            <p:spPr>
              <a:xfrm>
                <a:off x="838200" y="1825624"/>
                <a:ext cx="10515600" cy="4748795"/>
              </a:xfrm>
              <a:blipFill>
                <a:blip r:embed="rId2"/>
                <a:stretch>
                  <a:fillRect l="-812" t="-1412"/>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41</a:t>
            </a:fld>
            <a:endParaRPr lang="es-ES" dirty="0"/>
          </a:p>
        </p:txBody>
      </p:sp>
    </p:spTree>
    <p:extLst>
      <p:ext uri="{BB962C8B-B14F-4D97-AF65-F5344CB8AC3E}">
        <p14:creationId xmlns:p14="http://schemas.microsoft.com/office/powerpoint/2010/main" val="29056473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8. Intervalo de confianza para una proporción poblacional. Ejercicios propuestos</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pPr eaLnBrk="1" hangingPunct="1">
              <a:lnSpc>
                <a:spcPct val="90000"/>
              </a:lnSpc>
              <a:spcBef>
                <a:spcPts val="1000"/>
              </a:spcBef>
              <a:buFont typeface="Arial" panose="020B0604020202020204" pitchFamily="34" charset="0"/>
              <a:buChar char="•"/>
            </a:pPr>
            <a:r>
              <a:rPr lang="en-US" altLang="es-ES" sz="2800" dirty="0" err="1"/>
              <a:t>Ejercicio</a:t>
            </a:r>
            <a:r>
              <a:rPr lang="en-US" altLang="es-ES" sz="2800" dirty="0"/>
              <a:t> 9.10(a) del </a:t>
            </a:r>
            <a:r>
              <a:rPr lang="en-US" altLang="es-ES" sz="2800" dirty="0" err="1"/>
              <a:t>libro</a:t>
            </a:r>
            <a:endParaRPr lang="en-US" altLang="es-ES" sz="2800" dirty="0"/>
          </a:p>
          <a:p>
            <a:pPr lvl="1" eaLnBrk="1" hangingPunct="1">
              <a:lnSpc>
                <a:spcPct val="90000"/>
              </a:lnSpc>
              <a:spcBef>
                <a:spcPts val="500"/>
              </a:spcBef>
              <a:buFont typeface="Arial" panose="020B0604020202020204" pitchFamily="34" charset="0"/>
              <a:buChar char="•"/>
            </a:pPr>
            <a:r>
              <a:rPr lang="en-US" altLang="es-ES" sz="2400" dirty="0"/>
              <a:t>La </a:t>
            </a:r>
            <a:r>
              <a:rPr lang="en-US" altLang="es-ES" sz="2400" dirty="0" err="1"/>
              <a:t>respuesta</a:t>
            </a:r>
            <a:r>
              <a:rPr lang="en-US" altLang="es-ES" sz="2400" dirty="0"/>
              <a:t> </a:t>
            </a:r>
            <a:r>
              <a:rPr lang="en-US" altLang="es-ES" sz="2400" dirty="0" err="1"/>
              <a:t>está</a:t>
            </a:r>
            <a:r>
              <a:rPr lang="en-US" altLang="es-ES" sz="2400" dirty="0"/>
              <a:t> disponible en </a:t>
            </a:r>
            <a:r>
              <a:rPr lang="en-US" altLang="es-ES" sz="2400" dirty="0" err="1"/>
              <a:t>el</a:t>
            </a:r>
            <a:r>
              <a:rPr lang="en-US" altLang="es-ES" sz="2400" dirty="0"/>
              <a:t> </a:t>
            </a:r>
            <a:r>
              <a:rPr lang="en-US" altLang="es-ES" sz="2400" dirty="0" err="1"/>
              <a:t>libro</a:t>
            </a:r>
            <a:endParaRPr lang="en-US" altLang="es-ES" sz="24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42</a:t>
            </a:fld>
            <a:endParaRPr lang="es-ES"/>
          </a:p>
        </p:txBody>
      </p:sp>
    </p:spTree>
    <p:extLst>
      <p:ext uri="{BB962C8B-B14F-4D97-AF65-F5344CB8AC3E}">
        <p14:creationId xmlns:p14="http://schemas.microsoft.com/office/powerpoint/2010/main" val="41457416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normAutofit/>
          </a:bodyPr>
          <a:lstStyle/>
          <a:p>
            <a:r>
              <a:rPr lang="es-ES" dirty="0"/>
              <a:t>9. Intervalo de confianza para la varianza poblacional</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a:xfrm>
                <a:off x="838200" y="1825624"/>
                <a:ext cx="5990863" cy="4748795"/>
              </a:xfrm>
            </p:spPr>
            <p:txBody>
              <a:bodyPr>
                <a:normAutofit lnSpcReduction="10000"/>
              </a:bodyPr>
              <a:lstStyle/>
              <a:p>
                <a:r>
                  <a:rPr lang="es-ES" dirty="0"/>
                  <a:t>Parámetro </a:t>
                </a:r>
                <a14:m>
                  <m:oMath xmlns:m="http://schemas.openxmlformats.org/officeDocument/2006/math">
                    <m:r>
                      <a:rPr lang="es-ES" i="1" smtClean="0">
                        <a:latin typeface="Cambria Math" panose="02040503050406030204" pitchFamily="18" charset="0"/>
                        <a:ea typeface="Cambria Math" panose="02040503050406030204" pitchFamily="18" charset="0"/>
                      </a:rPr>
                      <m:t>𝜃</m:t>
                    </m:r>
                  </m:oMath>
                </a14:m>
                <a:r>
                  <a:rPr lang="es-ES" dirty="0"/>
                  <a:t> = Varianza poblacional = </a:t>
                </a:r>
                <a14:m>
                  <m:oMath xmlns:m="http://schemas.openxmlformats.org/officeDocument/2006/math">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𝜎</m:t>
                        </m:r>
                      </m:e>
                      <m:sup>
                        <m:r>
                          <a:rPr lang="es-ES" b="0" i="1" smtClean="0">
                            <a:latin typeface="Cambria Math" panose="02040503050406030204" pitchFamily="18" charset="0"/>
                            <a:ea typeface="Cambria Math" panose="02040503050406030204" pitchFamily="18" charset="0"/>
                          </a:rPr>
                          <m:t>2</m:t>
                        </m:r>
                      </m:sup>
                    </m:sSup>
                  </m:oMath>
                </a14:m>
                <a:endParaRPr lang="es-ES" dirty="0"/>
              </a:p>
              <a:p>
                <a:r>
                  <a:rPr lang="es-ES" dirty="0"/>
                  <a:t>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 Varianza muestral = </a:t>
                </a:r>
                <a14:m>
                  <m:oMath xmlns:m="http://schemas.openxmlformats.org/officeDocument/2006/math">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𝑆</m:t>
                        </m:r>
                      </m:e>
                      <m:sup>
                        <m:r>
                          <a:rPr lang="es-ES" i="1">
                            <a:latin typeface="Cambria Math" panose="02040503050406030204" pitchFamily="18" charset="0"/>
                            <a:ea typeface="Cambria Math" panose="02040503050406030204" pitchFamily="18" charset="0"/>
                          </a:rPr>
                          <m:t>2</m:t>
                        </m:r>
                      </m:sup>
                    </m:sSup>
                  </m:oMath>
                </a14:m>
                <a:endParaRPr lang="es-ES" dirty="0"/>
              </a:p>
              <a:p>
                <a:pPr lvl="1"/>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𝑆</m:t>
                        </m:r>
                      </m:e>
                      <m:sup>
                        <m:r>
                          <a:rPr lang="es-ES" b="0" i="1" smtClean="0">
                            <a:latin typeface="Cambria Math" panose="02040503050406030204" pitchFamily="18" charset="0"/>
                            <a:ea typeface="Cambria Math" panose="02040503050406030204" pitchFamily="18" charset="0"/>
                          </a:rPr>
                          <m:t>2</m:t>
                        </m:r>
                      </m:sup>
                    </m:sSup>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𝑛</m:t>
                        </m:r>
                        <m:r>
                          <a:rPr lang="es-ES" b="0" i="1" smtClean="0">
                            <a:latin typeface="Cambria Math" panose="02040503050406030204" pitchFamily="18" charset="0"/>
                          </a:rPr>
                          <m:t>−1</m:t>
                        </m:r>
                      </m:den>
                    </m:f>
                    <m:nary>
                      <m:naryPr>
                        <m:chr m:val="∑"/>
                        <m:ctrlPr>
                          <a:rPr lang="es-ES" b="0" i="1" smtClean="0">
                            <a:latin typeface="Cambria Math" panose="02040503050406030204" pitchFamily="18" charset="0"/>
                          </a:rPr>
                        </m:ctrlPr>
                      </m:naryPr>
                      <m:sub>
                        <m:r>
                          <m:rPr>
                            <m:brk m:alnAt="23"/>
                          </m:rPr>
                          <a:rPr lang="es-ES" b="0" i="1" smtClean="0">
                            <a:latin typeface="Cambria Math" panose="02040503050406030204" pitchFamily="18" charset="0"/>
                          </a:rPr>
                          <m:t>𝑖</m:t>
                        </m:r>
                        <m:r>
                          <a:rPr lang="es-ES" b="0" i="1" smtClean="0">
                            <a:latin typeface="Cambria Math" panose="02040503050406030204" pitchFamily="18" charset="0"/>
                          </a:rPr>
                          <m:t>=1</m:t>
                        </m:r>
                      </m:sub>
                      <m:sup>
                        <m:r>
                          <a:rPr lang="es-ES" b="0" i="1" smtClean="0">
                            <a:latin typeface="Cambria Math" panose="02040503050406030204" pitchFamily="18" charset="0"/>
                          </a:rPr>
                          <m:t>𝑛</m:t>
                        </m:r>
                      </m:sup>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𝑋</m:t>
                                    </m:r>
                                  </m:e>
                                </m:acc>
                              </m:e>
                            </m:d>
                          </m:e>
                          <m:sup>
                            <m:r>
                              <a:rPr lang="es-ES" b="0" i="1" smtClean="0">
                                <a:latin typeface="Cambria Math" panose="02040503050406030204" pitchFamily="18" charset="0"/>
                              </a:rPr>
                              <m:t>2</m:t>
                            </m:r>
                          </m:sup>
                        </m:sSup>
                      </m:e>
                    </m:nary>
                  </m:oMath>
                </a14:m>
                <a:endParaRPr lang="es-ES" dirty="0"/>
              </a:p>
              <a:p>
                <a:r>
                  <a:rPr lang="es-ES" dirty="0"/>
                  <a:t>La distribución de probabilidad del estimador no es simétrica, por lo que</a:t>
                </a: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m:t>
                        </m:r>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𝑠</m:t>
                        </m:r>
                      </m:sub>
                    </m:sSub>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i="1">
                            <a:latin typeface="Cambria Math" panose="02040503050406030204" pitchFamily="18" charset="0"/>
                            <a:ea typeface="Cambria Math" panose="02040503050406030204" pitchFamily="18" charset="0"/>
                          </a:rPr>
                          <m:t>−</m:t>
                        </m:r>
                        <m:sSub>
                          <m:sSubPr>
                            <m:ctrlPr>
                              <a:rPr lang="es-ES" i="1" smtClean="0">
                                <a:latin typeface="Cambria Math" panose="02040503050406030204" pitchFamily="18" charset="0"/>
                                <a:ea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𝜀</m:t>
                            </m:r>
                          </m:e>
                          <m:sub>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acc>
                          <m:accPr>
                            <m:chr m:val="̂"/>
                            <m:ctrlPr>
                              <a:rPr lang="es-ES" i="1">
                                <a:latin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r>
                          <a:rPr lang="es-ES"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ea typeface="Cambria Math" panose="02040503050406030204" pitchFamily="18" charset="0"/>
                              </a:rPr>
                            </m:ctrlPr>
                          </m:sSubPr>
                          <m:e>
                            <m:r>
                              <a:rPr lang="es-ES" i="1">
                                <a:latin typeface="Cambria Math" panose="02040503050406030204" pitchFamily="18" charset="0"/>
                                <a:ea typeface="Cambria Math" panose="02040503050406030204" pitchFamily="18" charset="0"/>
                              </a:rPr>
                              <m:t>𝜀</m:t>
                            </m:r>
                          </m:e>
                          <m:sub>
                            <m:r>
                              <a:rPr lang="es-ES" b="0" i="1" smtClean="0">
                                <a:latin typeface="Cambria Math" panose="02040503050406030204" pitchFamily="18" charset="0"/>
                                <a:ea typeface="Cambria Math" panose="02040503050406030204" pitchFamily="18" charset="0"/>
                              </a:rPr>
                              <m:t>2</m:t>
                            </m:r>
                          </m:sub>
                        </m:sSub>
                      </m:e>
                    </m:d>
                  </m:oMath>
                </a14:m>
                <a:r>
                  <a:rPr lang="es-ES" dirty="0"/>
                  <a:t> pero </a:t>
                </a:r>
                <a14:m>
                  <m:oMath xmlns:m="http://schemas.openxmlformats.org/officeDocument/2006/math">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𝜀</m:t>
                        </m:r>
                      </m:e>
                      <m:sub>
                        <m:r>
                          <a:rPr lang="es-ES" b="0" i="1" smtClean="0">
                            <a:latin typeface="Cambria Math" panose="02040503050406030204" pitchFamily="18" charset="0"/>
                          </a:rPr>
                          <m:t>1</m:t>
                        </m:r>
                      </m:sub>
                    </m:sSub>
                    <m:r>
                      <a:rPr lang="es-ES"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ea typeface="Cambria Math" panose="02040503050406030204" pitchFamily="18" charset="0"/>
                          </a:rPr>
                          <m:t>𝜀</m:t>
                        </m:r>
                      </m:e>
                      <m:sub>
                        <m:r>
                          <a:rPr lang="es-ES" b="0" i="1" smtClean="0">
                            <a:latin typeface="Cambria Math" panose="02040503050406030204" pitchFamily="18" charset="0"/>
                            <a:ea typeface="Cambria Math" panose="02040503050406030204" pitchFamily="18" charset="0"/>
                          </a:rPr>
                          <m:t>2</m:t>
                        </m:r>
                      </m:sub>
                    </m:sSub>
                  </m:oMath>
                </a14:m>
                <a:endParaRPr lang="es-ES" dirty="0"/>
              </a:p>
              <a:p>
                <a:r>
                  <a:rPr lang="es-ES" dirty="0"/>
                  <a:t>Se considera que se ajusta a una distribución Chi-cuadrado con n-1 grados de libertad y valores críticos</a:t>
                </a:r>
              </a:p>
              <a:p>
                <a:pPr lvl="1"/>
                <a14:m>
                  <m:oMath xmlns:m="http://schemas.openxmlformats.org/officeDocument/2006/math">
                    <m:sSubSup>
                      <m:sSubSupPr>
                        <m:ctrlPr>
                          <a:rPr lang="es-ES" i="1" smtClean="0">
                            <a:latin typeface="Cambria Math" panose="02040503050406030204" pitchFamily="18" charset="0"/>
                          </a:rPr>
                        </m:ctrlPr>
                      </m:sSubSupPr>
                      <m:e>
                        <m:r>
                          <a:rPr lang="es-ES" i="1">
                            <a:latin typeface="Cambria Math" panose="02040503050406030204" pitchFamily="18" charset="0"/>
                          </a:rPr>
                          <m:t>𝜒</m:t>
                        </m:r>
                      </m:e>
                      <m:sub>
                        <m:r>
                          <a:rPr lang="es-ES" i="1">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r>
                      <a:rPr lang="es-ES" i="1">
                        <a:latin typeface="Cambria Math" panose="02040503050406030204" pitchFamily="18" charset="0"/>
                      </a:rPr>
                      <m:t> </m:t>
                    </m:r>
                  </m:oMath>
                </a14:m>
                <a:r>
                  <a:rPr lang="es-ES" dirty="0"/>
                  <a:t>y </a:t>
                </a:r>
                <a14:m>
                  <m:oMath xmlns:m="http://schemas.openxmlformats.org/officeDocument/2006/math">
                    <m:sSubSup>
                      <m:sSubSupPr>
                        <m:ctrlPr>
                          <a:rPr lang="es-ES" i="1">
                            <a:latin typeface="Cambria Math" panose="02040503050406030204" pitchFamily="18" charset="0"/>
                          </a:rPr>
                        </m:ctrlPr>
                      </m:sSubSupPr>
                      <m:e>
                        <m:r>
                          <a:rPr lang="es-ES" i="1">
                            <a:latin typeface="Cambria Math" panose="02040503050406030204" pitchFamily="18" charset="0"/>
                          </a:rPr>
                          <m:t>𝜒</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oMath>
                </a14:m>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502BEC66-7892-3662-9658-D3816CBE52A1}"/>
                  </a:ext>
                </a:extLst>
              </p:cNvPr>
              <p:cNvSpPr>
                <a:spLocks noGrp="1" noRot="1" noChangeAspect="1" noMove="1" noResize="1" noEditPoints="1" noAdjustHandles="1" noChangeArrowheads="1" noChangeShapeType="1" noTextEdit="1"/>
              </p:cNvSpPr>
              <p:nvPr>
                <p:ph idx="1"/>
              </p:nvPr>
            </p:nvSpPr>
            <p:spPr>
              <a:xfrm>
                <a:off x="838200" y="1825624"/>
                <a:ext cx="5990863" cy="4748795"/>
              </a:xfrm>
              <a:blipFill>
                <a:blip r:embed="rId2"/>
                <a:stretch>
                  <a:fillRect l="-1833" t="-2824" r="-102"/>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43</a:t>
            </a:fld>
            <a:endParaRPr lang="es-ES" dirty="0"/>
          </a:p>
        </p:txBody>
      </p:sp>
      <p:pic>
        <p:nvPicPr>
          <p:cNvPr id="6" name="Imagen 5">
            <a:extLst>
              <a:ext uri="{FF2B5EF4-FFF2-40B4-BE49-F238E27FC236}">
                <a16:creationId xmlns:a16="http://schemas.microsoft.com/office/drawing/2014/main" id="{FFF2BA61-F04D-BEA8-EFE3-E338164FABA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091905" y="2882977"/>
            <a:ext cx="4992065" cy="2634087"/>
          </a:xfrm>
          <a:prstGeom prst="rect">
            <a:avLst/>
          </a:prstGeom>
        </p:spPr>
      </p:pic>
    </p:spTree>
    <p:extLst>
      <p:ext uri="{BB962C8B-B14F-4D97-AF65-F5344CB8AC3E}">
        <p14:creationId xmlns:p14="http://schemas.microsoft.com/office/powerpoint/2010/main" val="14119632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7CE99-314E-E488-6849-91EB1AE31190}"/>
              </a:ext>
            </a:extLst>
          </p:cNvPr>
          <p:cNvSpPr>
            <a:spLocks noGrp="1"/>
          </p:cNvSpPr>
          <p:nvPr>
            <p:ph type="title"/>
          </p:nvPr>
        </p:nvSpPr>
        <p:spPr/>
        <p:txBody>
          <a:bodyPr>
            <a:normAutofit/>
          </a:bodyPr>
          <a:lstStyle/>
          <a:p>
            <a:r>
              <a:rPr lang="es-ES" dirty="0"/>
              <a:t>9. Intervalo de confianza para la varianza poblacional. Fórmulas</a:t>
            </a: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602897092"/>
                  </p:ext>
                </p:extLst>
              </p:nvPr>
            </p:nvGraphicFramePr>
            <p:xfrm>
              <a:off x="838200" y="1825625"/>
              <a:ext cx="10515597" cy="3101150"/>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370840">
                    <a:tc>
                      <a:txBody>
                        <a:bodyPr/>
                        <a:lstStyle/>
                        <a:p>
                          <a:pPr algn="ctr"/>
                          <a:r>
                            <a:rPr lang="es-ES" b="1" dirty="0"/>
                            <a:t>Se conoce la varianza poblacional (</a:t>
                          </a:r>
                          <a14:m>
                            <m:oMath xmlns:m="http://schemas.openxmlformats.org/officeDocument/2006/math">
                              <m:sSup>
                                <m:sSupPr>
                                  <m:ctrlPr>
                                    <a:rPr lang="es-ES" b="1" i="1" smtClean="0">
                                      <a:latin typeface="Cambria Math" panose="02040503050406030204" pitchFamily="18" charset="0"/>
                                    </a:rPr>
                                  </m:ctrlPr>
                                </m:sSupPr>
                                <m:e>
                                  <m:r>
                                    <a:rPr lang="es-ES" b="1" i="1" smtClean="0">
                                      <a:latin typeface="Cambria Math" panose="02040503050406030204" pitchFamily="18" charset="0"/>
                                      <a:ea typeface="Cambria Math" panose="02040503050406030204" pitchFamily="18" charset="0"/>
                                    </a:rPr>
                                    <m:t>𝝈</m:t>
                                  </m:r>
                                </m:e>
                                <m:sup>
                                  <m:r>
                                    <a:rPr lang="es-ES" b="1" i="1" smtClean="0">
                                      <a:latin typeface="Cambria Math" panose="02040503050406030204" pitchFamily="18" charset="0"/>
                                    </a:rPr>
                                    <m:t>𝟐</m:t>
                                  </m:r>
                                </m:sup>
                              </m:sSup>
                            </m:oMath>
                          </a14:m>
                          <a:r>
                            <a:rPr lang="es-ES" b="1" dirty="0"/>
                            <a:t>)</a:t>
                          </a:r>
                        </a:p>
                      </a:txBody>
                      <a:tcPr>
                        <a:solidFill>
                          <a:schemeClr val="bg1">
                            <a:lumMod val="85000"/>
                          </a:schemeClr>
                        </a:solid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dirty="0"/>
                            <a:t>No</a:t>
                          </a:r>
                        </a:p>
                      </a:txBody>
                      <a:tcPr anchor="ctr"/>
                    </a:tc>
                    <a:tc>
                      <a:txBody>
                        <a:bodyPr/>
                        <a:lstStyle/>
                        <a:p>
                          <a:pPr algn="ctr"/>
                          <a:r>
                            <a:rPr lang="es-ES" dirty="0"/>
                            <a:t>Cualquiera</a:t>
                          </a:r>
                        </a:p>
                      </a:txBody>
                      <a:tcPr anchor="ctr"/>
                    </a:tc>
                    <a:tc>
                      <a:txBody>
                        <a:bodyPr/>
                        <a:lstStyle/>
                        <a:p>
                          <a:endParaRPr lang="es-ES" sz="18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ES" sz="1800" i="1" kern="1200" smtClean="0">
                                    <a:solidFill>
                                      <a:schemeClr val="tx1"/>
                                    </a:solidFill>
                                    <a:effectLst/>
                                    <a:latin typeface="Cambria Math" panose="02040503050406030204" pitchFamily="18" charset="0"/>
                                    <a:ea typeface="+mn-ea"/>
                                    <a:cs typeface="+mn-cs"/>
                                  </a:rPr>
                                  <m:t>𝐿</m:t>
                                </m:r>
                                <m:r>
                                  <a:rPr lang="es-ES" sz="1800" b="0" i="1" kern="1200" smtClean="0">
                                    <a:solidFill>
                                      <a:schemeClr val="tx1"/>
                                    </a:solidFill>
                                    <a:effectLst/>
                                    <a:latin typeface="Cambria Math" panose="02040503050406030204" pitchFamily="18" charset="0"/>
                                    <a:ea typeface="+mn-ea"/>
                                    <a:cs typeface="+mn-cs"/>
                                  </a:rPr>
                                  <m:t>𝑖</m:t>
                                </m:r>
                                <m:r>
                                  <a:rPr lang="es-ES" sz="1800" i="1" kern="1200" smtClean="0">
                                    <a:solidFill>
                                      <a:schemeClr val="tx1"/>
                                    </a:solidFill>
                                    <a:effectLst/>
                                    <a:latin typeface="Cambria Math" panose="02040503050406030204" pitchFamily="18" charset="0"/>
                                    <a:ea typeface="+mn-ea"/>
                                    <a:cs typeface="+mn-cs"/>
                                  </a:rPr>
                                  <m:t>=</m:t>
                                </m:r>
                                <m:f>
                                  <m:fPr>
                                    <m:ctrlPr>
                                      <a:rPr lang="es-ES" sz="1800" i="1" kern="1200">
                                        <a:solidFill>
                                          <a:schemeClr val="tx1"/>
                                        </a:solidFill>
                                        <a:effectLst/>
                                        <a:latin typeface="Cambria Math" panose="02040503050406030204" pitchFamily="18" charset="0"/>
                                        <a:ea typeface="+mn-ea"/>
                                        <a:cs typeface="+mn-cs"/>
                                      </a:rPr>
                                    </m:ctrlPr>
                                  </m:fPr>
                                  <m:num>
                                    <m:d>
                                      <m:dPr>
                                        <m:ctrlPr>
                                          <a:rPr lang="es-ES" sz="1800" i="1" kern="1200">
                                            <a:solidFill>
                                              <a:schemeClr val="tx1"/>
                                            </a:solidFill>
                                            <a:effectLst/>
                                            <a:latin typeface="Cambria Math" panose="02040503050406030204" pitchFamily="18" charset="0"/>
                                            <a:ea typeface="+mn-ea"/>
                                            <a:cs typeface="+mn-cs"/>
                                          </a:rPr>
                                        </m:ctrlPr>
                                      </m:dPr>
                                      <m:e>
                                        <m:r>
                                          <a:rPr lang="es-ES" sz="1800" i="1" kern="1200">
                                            <a:solidFill>
                                              <a:schemeClr val="tx1"/>
                                            </a:solidFill>
                                            <a:effectLst/>
                                            <a:latin typeface="Cambria Math" panose="02040503050406030204" pitchFamily="18" charset="0"/>
                                            <a:ea typeface="+mn-ea"/>
                                            <a:cs typeface="+mn-cs"/>
                                          </a:rPr>
                                          <m:t>𝑛</m:t>
                                        </m:r>
                                        <m:r>
                                          <a:rPr lang="es-ES" sz="1800" i="1" kern="1200">
                                            <a:solidFill>
                                              <a:schemeClr val="tx1"/>
                                            </a:solidFill>
                                            <a:effectLst/>
                                            <a:latin typeface="Cambria Math" panose="02040503050406030204" pitchFamily="18" charset="0"/>
                                            <a:ea typeface="+mn-ea"/>
                                            <a:cs typeface="+mn-cs"/>
                                          </a:rPr>
                                          <m:t>−1</m:t>
                                        </m:r>
                                      </m:e>
                                    </m:d>
                                    <m:sSup>
                                      <m:sSupPr>
                                        <m:ctrlPr>
                                          <a:rPr lang="es-ES" sz="1800" i="1" kern="1200">
                                            <a:solidFill>
                                              <a:schemeClr val="tx1"/>
                                            </a:solidFill>
                                            <a:effectLst/>
                                            <a:latin typeface="Cambria Math" panose="02040503050406030204" pitchFamily="18" charset="0"/>
                                            <a:ea typeface="+mn-ea"/>
                                            <a:cs typeface="+mn-cs"/>
                                          </a:rPr>
                                        </m:ctrlPr>
                                      </m:sSupPr>
                                      <m:e>
                                        <m:r>
                                          <a:rPr lang="es-ES" sz="1800" i="1" kern="1200">
                                            <a:solidFill>
                                              <a:schemeClr val="tx1"/>
                                            </a:solidFill>
                                            <a:effectLst/>
                                            <a:latin typeface="Cambria Math" panose="02040503050406030204" pitchFamily="18" charset="0"/>
                                            <a:ea typeface="+mn-ea"/>
                                            <a:cs typeface="+mn-cs"/>
                                          </a:rPr>
                                          <m:t>𝑠</m:t>
                                        </m:r>
                                      </m:e>
                                      <m:sup>
                                        <m:r>
                                          <a:rPr lang="es-ES" sz="1800" i="1" kern="1200">
                                            <a:solidFill>
                                              <a:schemeClr val="tx1"/>
                                            </a:solidFill>
                                            <a:effectLst/>
                                            <a:latin typeface="Cambria Math" panose="02040503050406030204" pitchFamily="18" charset="0"/>
                                            <a:ea typeface="+mn-ea"/>
                                            <a:cs typeface="+mn-cs"/>
                                          </a:rPr>
                                          <m:t>2</m:t>
                                        </m:r>
                                      </m:sup>
                                    </m:sSup>
                                  </m:num>
                                  <m:den>
                                    <m:sSubSup>
                                      <m:sSubSupPr>
                                        <m:ctrlPr>
                                          <a:rPr lang="es-ES" sz="1800" i="1" kern="1200">
                                            <a:solidFill>
                                              <a:schemeClr val="tx1"/>
                                            </a:solidFill>
                                            <a:effectLst/>
                                            <a:latin typeface="Cambria Math" panose="02040503050406030204" pitchFamily="18" charset="0"/>
                                            <a:ea typeface="+mn-ea"/>
                                            <a:cs typeface="+mn-cs"/>
                                          </a:rPr>
                                        </m:ctrlPr>
                                      </m:sSubSupPr>
                                      <m:e>
                                        <m:r>
                                          <a:rPr lang="es-ES" sz="1800" i="1" kern="1200">
                                            <a:solidFill>
                                              <a:schemeClr val="tx1"/>
                                            </a:solidFill>
                                            <a:effectLst/>
                                            <a:latin typeface="Cambria Math" panose="02040503050406030204" pitchFamily="18" charset="0"/>
                                            <a:ea typeface="+mn-ea"/>
                                            <a:cs typeface="+mn-cs"/>
                                          </a:rPr>
                                          <m:t>𝜒</m:t>
                                        </m:r>
                                      </m:e>
                                      <m:sub>
                                        <m:f>
                                          <m:fPr>
                                            <m:ctrlPr>
                                              <a:rPr lang="es-ES" sz="1800" i="1" kern="1200">
                                                <a:solidFill>
                                                  <a:schemeClr val="tx1"/>
                                                </a:solidFill>
                                                <a:effectLst/>
                                                <a:latin typeface="Cambria Math" panose="02040503050406030204" pitchFamily="18" charset="0"/>
                                                <a:ea typeface="+mn-ea"/>
                                                <a:cs typeface="+mn-cs"/>
                                              </a:rPr>
                                            </m:ctrlPr>
                                          </m:fPr>
                                          <m:num>
                                            <m:r>
                                              <a:rPr lang="es-ES" sz="1800" i="1" kern="1200">
                                                <a:solidFill>
                                                  <a:schemeClr val="tx1"/>
                                                </a:solidFill>
                                                <a:effectLst/>
                                                <a:latin typeface="Cambria Math" panose="02040503050406030204" pitchFamily="18" charset="0"/>
                                                <a:ea typeface="+mn-ea"/>
                                                <a:cs typeface="+mn-cs"/>
                                              </a:rPr>
                                              <m:t>𝛼</m:t>
                                            </m:r>
                                          </m:num>
                                          <m:den>
                                            <m:r>
                                              <a:rPr lang="es-ES" sz="1800" i="1" kern="1200">
                                                <a:solidFill>
                                                  <a:schemeClr val="tx1"/>
                                                </a:solidFill>
                                                <a:effectLst/>
                                                <a:latin typeface="Cambria Math" panose="02040503050406030204" pitchFamily="18" charset="0"/>
                                                <a:ea typeface="+mn-ea"/>
                                                <a:cs typeface="+mn-cs"/>
                                              </a:rPr>
                                              <m:t>2</m:t>
                                            </m:r>
                                          </m:den>
                                        </m:f>
                                        <m:r>
                                          <a:rPr lang="es-ES" sz="1800" i="1" kern="1200">
                                            <a:solidFill>
                                              <a:schemeClr val="tx1"/>
                                            </a:solidFill>
                                            <a:effectLst/>
                                            <a:latin typeface="Cambria Math" panose="02040503050406030204" pitchFamily="18" charset="0"/>
                                            <a:ea typeface="+mn-ea"/>
                                            <a:cs typeface="+mn-cs"/>
                                          </a:rPr>
                                          <m:t>,</m:t>
                                        </m:r>
                                        <m:r>
                                          <a:rPr lang="es-ES" sz="1800" i="1" kern="1200">
                                            <a:solidFill>
                                              <a:schemeClr val="tx1"/>
                                            </a:solidFill>
                                            <a:effectLst/>
                                            <a:latin typeface="Cambria Math" panose="02040503050406030204" pitchFamily="18" charset="0"/>
                                            <a:ea typeface="+mn-ea"/>
                                            <a:cs typeface="+mn-cs"/>
                                          </a:rPr>
                                          <m:t>𝑛</m:t>
                                        </m:r>
                                        <m:r>
                                          <a:rPr lang="es-ES" sz="1800" i="1" kern="1200">
                                            <a:solidFill>
                                              <a:schemeClr val="tx1"/>
                                            </a:solidFill>
                                            <a:effectLst/>
                                            <a:latin typeface="Cambria Math" panose="02040503050406030204" pitchFamily="18" charset="0"/>
                                            <a:ea typeface="+mn-ea"/>
                                            <a:cs typeface="+mn-cs"/>
                                          </a:rPr>
                                          <m:t>−1</m:t>
                                        </m:r>
                                      </m:sub>
                                      <m:sup>
                                        <m:r>
                                          <a:rPr lang="es-ES" sz="1800" i="1" kern="1200">
                                            <a:solidFill>
                                              <a:schemeClr val="tx1"/>
                                            </a:solidFill>
                                            <a:effectLst/>
                                            <a:latin typeface="Cambria Math" panose="02040503050406030204" pitchFamily="18" charset="0"/>
                                            <a:ea typeface="+mn-ea"/>
                                            <a:cs typeface="+mn-cs"/>
                                          </a:rPr>
                                          <m:t>2</m:t>
                                        </m:r>
                                      </m:sup>
                                    </m:sSubSup>
                                  </m:den>
                                </m:f>
                              </m:oMath>
                            </m:oMathPara>
                          </a14:m>
                          <a:endParaRPr lang="es-ES" dirty="0"/>
                        </a:p>
                        <a:p>
                          <a:endParaRPr lang="es-ES" sz="1800" i="1"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s-ES" sz="1800" i="1" kern="1200" smtClean="0">
                                    <a:solidFill>
                                      <a:schemeClr val="tx1"/>
                                    </a:solidFill>
                                    <a:effectLst/>
                                    <a:latin typeface="Cambria Math" panose="02040503050406030204" pitchFamily="18" charset="0"/>
                                    <a:ea typeface="+mn-ea"/>
                                    <a:cs typeface="+mn-cs"/>
                                  </a:rPr>
                                  <m:t>𝐿</m:t>
                                </m:r>
                                <m:r>
                                  <a:rPr lang="es-ES" sz="1800" b="0" i="1" kern="1200" smtClean="0">
                                    <a:solidFill>
                                      <a:schemeClr val="tx1"/>
                                    </a:solidFill>
                                    <a:effectLst/>
                                    <a:latin typeface="Cambria Math" panose="02040503050406030204" pitchFamily="18" charset="0"/>
                                    <a:ea typeface="+mn-ea"/>
                                    <a:cs typeface="+mn-cs"/>
                                  </a:rPr>
                                  <m:t>𝑠</m:t>
                                </m:r>
                                <m:r>
                                  <a:rPr lang="es-ES" sz="1800" i="1" kern="1200" smtClean="0">
                                    <a:solidFill>
                                      <a:schemeClr val="tx1"/>
                                    </a:solidFill>
                                    <a:effectLst/>
                                    <a:latin typeface="Cambria Math" panose="02040503050406030204" pitchFamily="18" charset="0"/>
                                    <a:ea typeface="+mn-ea"/>
                                    <a:cs typeface="+mn-cs"/>
                                  </a:rPr>
                                  <m:t>=</m:t>
                                </m:r>
                                <m:f>
                                  <m:fPr>
                                    <m:ctrlPr>
                                      <a:rPr lang="es-ES" sz="1800" i="1" kern="1200">
                                        <a:solidFill>
                                          <a:schemeClr val="tx1"/>
                                        </a:solidFill>
                                        <a:effectLst/>
                                        <a:latin typeface="Cambria Math" panose="02040503050406030204" pitchFamily="18" charset="0"/>
                                        <a:ea typeface="+mn-ea"/>
                                        <a:cs typeface="+mn-cs"/>
                                      </a:rPr>
                                    </m:ctrlPr>
                                  </m:fPr>
                                  <m:num>
                                    <m:d>
                                      <m:dPr>
                                        <m:ctrlPr>
                                          <a:rPr lang="es-ES" sz="1800" i="1" kern="1200">
                                            <a:solidFill>
                                              <a:schemeClr val="tx1"/>
                                            </a:solidFill>
                                            <a:effectLst/>
                                            <a:latin typeface="Cambria Math" panose="02040503050406030204" pitchFamily="18" charset="0"/>
                                            <a:ea typeface="+mn-ea"/>
                                            <a:cs typeface="+mn-cs"/>
                                          </a:rPr>
                                        </m:ctrlPr>
                                      </m:dPr>
                                      <m:e>
                                        <m:r>
                                          <a:rPr lang="es-ES" sz="1800" i="1" kern="1200">
                                            <a:solidFill>
                                              <a:schemeClr val="tx1"/>
                                            </a:solidFill>
                                            <a:effectLst/>
                                            <a:latin typeface="Cambria Math" panose="02040503050406030204" pitchFamily="18" charset="0"/>
                                            <a:ea typeface="+mn-ea"/>
                                            <a:cs typeface="+mn-cs"/>
                                          </a:rPr>
                                          <m:t>𝑛</m:t>
                                        </m:r>
                                        <m:r>
                                          <a:rPr lang="es-ES" sz="1800" i="1" kern="1200">
                                            <a:solidFill>
                                              <a:schemeClr val="tx1"/>
                                            </a:solidFill>
                                            <a:effectLst/>
                                            <a:latin typeface="Cambria Math" panose="02040503050406030204" pitchFamily="18" charset="0"/>
                                            <a:ea typeface="+mn-ea"/>
                                            <a:cs typeface="+mn-cs"/>
                                          </a:rPr>
                                          <m:t>−1</m:t>
                                        </m:r>
                                      </m:e>
                                    </m:d>
                                    <m:sSup>
                                      <m:sSupPr>
                                        <m:ctrlPr>
                                          <a:rPr lang="es-ES" sz="1800" i="1" kern="1200">
                                            <a:solidFill>
                                              <a:schemeClr val="tx1"/>
                                            </a:solidFill>
                                            <a:effectLst/>
                                            <a:latin typeface="Cambria Math" panose="02040503050406030204" pitchFamily="18" charset="0"/>
                                            <a:ea typeface="+mn-ea"/>
                                            <a:cs typeface="+mn-cs"/>
                                          </a:rPr>
                                        </m:ctrlPr>
                                      </m:sSupPr>
                                      <m:e>
                                        <m:r>
                                          <a:rPr lang="es-ES" sz="1800" i="1" kern="1200">
                                            <a:solidFill>
                                              <a:schemeClr val="tx1"/>
                                            </a:solidFill>
                                            <a:effectLst/>
                                            <a:latin typeface="Cambria Math" panose="02040503050406030204" pitchFamily="18" charset="0"/>
                                            <a:ea typeface="+mn-ea"/>
                                            <a:cs typeface="+mn-cs"/>
                                          </a:rPr>
                                          <m:t>𝑠</m:t>
                                        </m:r>
                                      </m:e>
                                      <m:sup>
                                        <m:r>
                                          <a:rPr lang="es-ES" sz="1800" i="1" kern="1200">
                                            <a:solidFill>
                                              <a:schemeClr val="tx1"/>
                                            </a:solidFill>
                                            <a:effectLst/>
                                            <a:latin typeface="Cambria Math" panose="02040503050406030204" pitchFamily="18" charset="0"/>
                                            <a:ea typeface="+mn-ea"/>
                                            <a:cs typeface="+mn-cs"/>
                                          </a:rPr>
                                          <m:t>2</m:t>
                                        </m:r>
                                      </m:sup>
                                    </m:sSup>
                                  </m:num>
                                  <m:den>
                                    <m:sSubSup>
                                      <m:sSubSupPr>
                                        <m:ctrlPr>
                                          <a:rPr lang="es-ES" sz="1800" i="1" kern="1200">
                                            <a:solidFill>
                                              <a:schemeClr val="tx1"/>
                                            </a:solidFill>
                                            <a:effectLst/>
                                            <a:latin typeface="Cambria Math" panose="02040503050406030204" pitchFamily="18" charset="0"/>
                                            <a:ea typeface="+mn-ea"/>
                                            <a:cs typeface="+mn-cs"/>
                                          </a:rPr>
                                        </m:ctrlPr>
                                      </m:sSubSupPr>
                                      <m:e>
                                        <m:r>
                                          <a:rPr lang="es-ES" sz="1800" i="1" kern="1200">
                                            <a:solidFill>
                                              <a:schemeClr val="tx1"/>
                                            </a:solidFill>
                                            <a:effectLst/>
                                            <a:latin typeface="Cambria Math" panose="02040503050406030204" pitchFamily="18" charset="0"/>
                                            <a:ea typeface="+mn-ea"/>
                                            <a:cs typeface="+mn-cs"/>
                                          </a:rPr>
                                          <m:t>𝜒</m:t>
                                        </m:r>
                                      </m:e>
                                      <m:sub>
                                        <m:r>
                                          <a:rPr lang="es-ES" sz="1800" i="1" kern="1200">
                                            <a:solidFill>
                                              <a:schemeClr val="tx1"/>
                                            </a:solidFill>
                                            <a:effectLst/>
                                            <a:latin typeface="Cambria Math" panose="02040503050406030204" pitchFamily="18" charset="0"/>
                                            <a:ea typeface="+mn-ea"/>
                                            <a:cs typeface="+mn-cs"/>
                                          </a:rPr>
                                          <m:t>1−</m:t>
                                        </m:r>
                                        <m:f>
                                          <m:fPr>
                                            <m:ctrlPr>
                                              <a:rPr lang="es-ES" sz="1800" i="1" kern="1200">
                                                <a:solidFill>
                                                  <a:schemeClr val="tx1"/>
                                                </a:solidFill>
                                                <a:effectLst/>
                                                <a:latin typeface="Cambria Math" panose="02040503050406030204" pitchFamily="18" charset="0"/>
                                                <a:ea typeface="+mn-ea"/>
                                                <a:cs typeface="+mn-cs"/>
                                              </a:rPr>
                                            </m:ctrlPr>
                                          </m:fPr>
                                          <m:num>
                                            <m:r>
                                              <a:rPr lang="es-ES" sz="1800" i="1" kern="1200">
                                                <a:solidFill>
                                                  <a:schemeClr val="tx1"/>
                                                </a:solidFill>
                                                <a:effectLst/>
                                                <a:latin typeface="Cambria Math" panose="02040503050406030204" pitchFamily="18" charset="0"/>
                                                <a:ea typeface="+mn-ea"/>
                                                <a:cs typeface="+mn-cs"/>
                                              </a:rPr>
                                              <m:t>𝛼</m:t>
                                            </m:r>
                                          </m:num>
                                          <m:den>
                                            <m:r>
                                              <a:rPr lang="es-ES" sz="1800" i="1" kern="1200">
                                                <a:solidFill>
                                                  <a:schemeClr val="tx1"/>
                                                </a:solidFill>
                                                <a:effectLst/>
                                                <a:latin typeface="Cambria Math" panose="02040503050406030204" pitchFamily="18" charset="0"/>
                                                <a:ea typeface="+mn-ea"/>
                                                <a:cs typeface="+mn-cs"/>
                                              </a:rPr>
                                              <m:t>2</m:t>
                                            </m:r>
                                          </m:den>
                                        </m:f>
                                        <m:r>
                                          <a:rPr lang="es-ES" sz="1800" i="1" kern="1200">
                                            <a:solidFill>
                                              <a:schemeClr val="tx1"/>
                                            </a:solidFill>
                                            <a:effectLst/>
                                            <a:latin typeface="Cambria Math" panose="02040503050406030204" pitchFamily="18" charset="0"/>
                                            <a:ea typeface="+mn-ea"/>
                                            <a:cs typeface="+mn-cs"/>
                                          </a:rPr>
                                          <m:t>,</m:t>
                                        </m:r>
                                        <m:r>
                                          <a:rPr lang="es-ES" sz="1800" i="1" kern="1200">
                                            <a:solidFill>
                                              <a:schemeClr val="tx1"/>
                                            </a:solidFill>
                                            <a:effectLst/>
                                            <a:latin typeface="Cambria Math" panose="02040503050406030204" pitchFamily="18" charset="0"/>
                                            <a:ea typeface="+mn-ea"/>
                                            <a:cs typeface="+mn-cs"/>
                                          </a:rPr>
                                          <m:t>𝑛</m:t>
                                        </m:r>
                                        <m:r>
                                          <a:rPr lang="es-ES" sz="1800" i="1" kern="1200">
                                            <a:solidFill>
                                              <a:schemeClr val="tx1"/>
                                            </a:solidFill>
                                            <a:effectLst/>
                                            <a:latin typeface="Cambria Math" panose="02040503050406030204" pitchFamily="18" charset="0"/>
                                            <a:ea typeface="+mn-ea"/>
                                            <a:cs typeface="+mn-cs"/>
                                          </a:rPr>
                                          <m:t>−1</m:t>
                                        </m:r>
                                      </m:sub>
                                      <m:sup>
                                        <m:r>
                                          <a:rPr lang="es-ES" sz="1800" i="1" kern="1200">
                                            <a:solidFill>
                                              <a:schemeClr val="tx1"/>
                                            </a:solidFill>
                                            <a:effectLst/>
                                            <a:latin typeface="Cambria Math" panose="02040503050406030204" pitchFamily="18" charset="0"/>
                                            <a:ea typeface="+mn-ea"/>
                                            <a:cs typeface="+mn-cs"/>
                                          </a:rPr>
                                          <m:t>2</m:t>
                                        </m:r>
                                      </m:sup>
                                    </m:sSubSup>
                                  </m:den>
                                </m:f>
                              </m:oMath>
                            </m:oMathPara>
                          </a14:m>
                          <a:endParaRPr lang="es-ES" sz="1800" kern="1200" dirty="0">
                            <a:solidFill>
                              <a:schemeClr val="tx1"/>
                            </a:solidFill>
                            <a:effectLst/>
                            <a:latin typeface="+mn-lt"/>
                            <a:ea typeface="+mn-ea"/>
                            <a:cs typeface="+mn-cs"/>
                          </a:endParaRPr>
                        </a:p>
                        <a:p>
                          <a:endParaRPr lang="es-ES" sz="18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76150309"/>
                      </a:ext>
                    </a:extLst>
                  </a:tr>
                </a:tbl>
              </a:graphicData>
            </a:graphic>
          </p:graphicFrame>
        </mc:Choice>
        <mc:Fallback xmlns="">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602897092"/>
                  </p:ext>
                </p:extLst>
              </p:nvPr>
            </p:nvGraphicFramePr>
            <p:xfrm>
              <a:off x="838200" y="1825625"/>
              <a:ext cx="10515597" cy="3111120"/>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646240">
                    <a:tc>
                      <a:txBody>
                        <a:bodyPr/>
                        <a:lstStyle/>
                        <a:p>
                          <a:endParaRPr lang="es-ES"/>
                        </a:p>
                      </a:txBody>
                      <a:tcPr>
                        <a:blipFill>
                          <a:blip r:embed="rId2"/>
                          <a:stretch>
                            <a:fillRect l="-253" t="-4717" r="-336364" b="-383962"/>
                          </a:stretch>
                        </a:blipFill>
                      </a:tcPr>
                    </a:tc>
                    <a:tc>
                      <a:txBody>
                        <a:bodyPr/>
                        <a:lstStyle/>
                        <a:p>
                          <a:pPr algn="ctr"/>
                          <a:r>
                            <a:rPr lang="es-ES" b="1" dirty="0"/>
                            <a:t>Tamaño de la muestra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2464880">
                    <a:tc>
                      <a:txBody>
                        <a:bodyPr/>
                        <a:lstStyle/>
                        <a:p>
                          <a:pPr algn="ctr"/>
                          <a:r>
                            <a:rPr lang="es-ES" dirty="0"/>
                            <a:t>No</a:t>
                          </a:r>
                        </a:p>
                      </a:txBody>
                      <a:tcPr anchor="ctr"/>
                    </a:tc>
                    <a:tc>
                      <a:txBody>
                        <a:bodyPr/>
                        <a:lstStyle/>
                        <a:p>
                          <a:pPr algn="ctr"/>
                          <a:r>
                            <a:rPr lang="es-ES" dirty="0"/>
                            <a:t>Cualquiera</a:t>
                          </a:r>
                        </a:p>
                      </a:txBody>
                      <a:tcPr anchor="ctr"/>
                    </a:tc>
                    <a:tc>
                      <a:txBody>
                        <a:bodyPr/>
                        <a:lstStyle/>
                        <a:p>
                          <a:endParaRPr lang="es-ES"/>
                        </a:p>
                      </a:txBody>
                      <a:tcPr anchor="ctr">
                        <a:blipFill>
                          <a:blip r:embed="rId2"/>
                          <a:stretch>
                            <a:fillRect l="-64476" t="-27407" r="-190" b="-494"/>
                          </a:stretch>
                        </a:blipFill>
                      </a:tcPr>
                    </a:tc>
                    <a:extLst>
                      <a:ext uri="{0D108BD9-81ED-4DB2-BD59-A6C34878D82A}">
                        <a16:rowId xmlns:a16="http://schemas.microsoft.com/office/drawing/2014/main" val="176150309"/>
                      </a:ext>
                    </a:extLst>
                  </a:tr>
                </a:tbl>
              </a:graphicData>
            </a:graphic>
          </p:graphicFrame>
        </mc:Fallback>
      </mc:AlternateContent>
      <p:sp>
        <p:nvSpPr>
          <p:cNvPr id="4" name="Marcador de número de diapositiva 3">
            <a:extLst>
              <a:ext uri="{FF2B5EF4-FFF2-40B4-BE49-F238E27FC236}">
                <a16:creationId xmlns:a16="http://schemas.microsoft.com/office/drawing/2014/main" id="{631FCE57-DC4F-5256-4E73-1E8DB5867327}"/>
              </a:ext>
            </a:extLst>
          </p:cNvPr>
          <p:cNvSpPr>
            <a:spLocks noGrp="1"/>
          </p:cNvSpPr>
          <p:nvPr>
            <p:ph type="sldNum" sz="quarter" idx="12"/>
          </p:nvPr>
        </p:nvSpPr>
        <p:spPr/>
        <p:txBody>
          <a:bodyPr/>
          <a:lstStyle/>
          <a:p>
            <a:fld id="{336CAFD0-1F6E-4E11-9822-836563A02839}" type="slidenum">
              <a:rPr lang="es-ES" smtClean="0"/>
              <a:pPr/>
              <a:t>44</a:t>
            </a:fld>
            <a:endParaRPr lang="es-ES" dirty="0"/>
          </a:p>
        </p:txBody>
      </p:sp>
    </p:spTree>
    <p:extLst>
      <p:ext uri="{BB962C8B-B14F-4D97-AF65-F5344CB8AC3E}">
        <p14:creationId xmlns:p14="http://schemas.microsoft.com/office/powerpoint/2010/main" val="33090329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BC7FFC-6538-05D1-F5E9-B53F95C8AB1E}"/>
              </a:ext>
            </a:extLst>
          </p:cNvPr>
          <p:cNvSpPr>
            <a:spLocks noGrp="1"/>
          </p:cNvSpPr>
          <p:nvPr>
            <p:ph type="title"/>
          </p:nvPr>
        </p:nvSpPr>
        <p:spPr/>
        <p:txBody>
          <a:bodyPr>
            <a:normAutofit/>
          </a:bodyPr>
          <a:lstStyle/>
          <a:p>
            <a:r>
              <a:rPr lang="es-ES" dirty="0"/>
              <a:t>9. Intervalo de confianza para la varianza poblacional. Cálculo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7F31CED-754F-7768-0AAC-C07EDE8B0CD6}"/>
                  </a:ext>
                </a:extLst>
              </p:cNvPr>
              <p:cNvSpPr>
                <a:spLocks noGrp="1"/>
              </p:cNvSpPr>
              <p:nvPr>
                <p:ph idx="1"/>
              </p:nvPr>
            </p:nvSpPr>
            <p:spPr>
              <a:xfrm>
                <a:off x="838200" y="1825625"/>
                <a:ext cx="8572018" cy="4285808"/>
              </a:xfrm>
            </p:spPr>
            <p:txBody>
              <a:bodyPr>
                <a:normAutofit fontScale="62500" lnSpcReduction="20000"/>
              </a:bodyPr>
              <a:lstStyle/>
              <a:p>
                <a:r>
                  <a:rPr lang="es-ES" dirty="0"/>
                  <a:t>El estimador </a:t>
                </a:r>
                <a14:m>
                  <m:oMath xmlns:m="http://schemas.openxmlformats.org/officeDocument/2006/math">
                    <m:acc>
                      <m:accPr>
                        <m:chr m:val="̂"/>
                        <m:ctrlPr>
                          <a:rPr lang="es-ES" i="1" smtClean="0">
                            <a:latin typeface="Cambria Math" panose="02040503050406030204" pitchFamily="18" charset="0"/>
                            <a:ea typeface="Cambria Math" panose="02040503050406030204" pitchFamily="18" charset="0"/>
                          </a:rPr>
                        </m:ctrlPr>
                      </m:accPr>
                      <m:e>
                        <m:r>
                          <a:rPr lang="es-ES" i="1">
                            <a:latin typeface="Cambria Math" panose="02040503050406030204" pitchFamily="18" charset="0"/>
                            <a:ea typeface="Cambria Math" panose="02040503050406030204" pitchFamily="18" charset="0"/>
                          </a:rPr>
                          <m:t>𝜃</m:t>
                        </m:r>
                      </m:e>
                    </m:acc>
                  </m:oMath>
                </a14:m>
                <a:r>
                  <a:rPr lang="es-ES" dirty="0"/>
                  <a:t> se convierte en una variable Chi-cuadrado </a:t>
                </a:r>
                <a14:m>
                  <m:oMath xmlns:m="http://schemas.openxmlformats.org/officeDocument/2006/math">
                    <m:sSup>
                      <m:sSupPr>
                        <m:ctrlPr>
                          <a:rPr lang="es-ES" b="0" i="1" smtClean="0">
                            <a:latin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𝜒</m:t>
                        </m:r>
                      </m:e>
                      <m:sup>
                        <m:r>
                          <a:rPr lang="es-ES" b="0" i="1" smtClean="0">
                            <a:latin typeface="Cambria Math" panose="02040503050406030204" pitchFamily="18" charset="0"/>
                          </a:rPr>
                          <m:t>2</m:t>
                        </m:r>
                      </m:sup>
                    </m:sSup>
                    <m:d>
                      <m:dPr>
                        <m:ctrlPr>
                          <a:rPr lang="es-ES" b="0" i="1" smtClean="0">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oMath>
                </a14:m>
                <a:endParaRPr lang="es-ES" dirty="0"/>
              </a:p>
              <a:p>
                <a:pPr lvl="1"/>
                <a14:m>
                  <m:oMath xmlns:m="http://schemas.openxmlformats.org/officeDocument/2006/math">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𝑆</m:t>
                            </m:r>
                          </m:e>
                          <m:sup>
                            <m:r>
                              <a:rPr lang="es-ES" b="0" i="1" smtClean="0">
                                <a:latin typeface="Cambria Math" panose="02040503050406030204" pitchFamily="18" charset="0"/>
                                <a:ea typeface="Cambria Math" panose="02040503050406030204" pitchFamily="18" charset="0"/>
                              </a:rPr>
                              <m:t>2</m:t>
                            </m:r>
                          </m:sup>
                        </m:sSup>
                      </m:num>
                      <m:den>
                        <m:sSup>
                          <m:sSupPr>
                            <m:ctrlPr>
                              <a:rPr lang="es-ES" i="1" smtClean="0">
                                <a:latin typeface="Cambria Math" panose="02040503050406030204" pitchFamily="18" charset="0"/>
                                <a:ea typeface="Cambria Math" panose="02040503050406030204" pitchFamily="18" charset="0"/>
                              </a:rPr>
                            </m:ctrlPr>
                          </m:sSupPr>
                          <m:e>
                            <m:r>
                              <a:rPr lang="es-ES" i="1" smtClean="0">
                                <a:latin typeface="Cambria Math" panose="02040503050406030204" pitchFamily="18" charset="0"/>
                                <a:ea typeface="Cambria Math" panose="02040503050406030204" pitchFamily="18" charset="0"/>
                              </a:rPr>
                              <m:t>𝜎</m:t>
                            </m:r>
                          </m:e>
                          <m:sup>
                            <m:r>
                              <a:rPr lang="es-ES" b="0" i="1" smtClean="0">
                                <a:latin typeface="Cambria Math" panose="02040503050406030204" pitchFamily="18" charset="0"/>
                                <a:ea typeface="Cambria Math" panose="02040503050406030204" pitchFamily="18" charset="0"/>
                              </a:rPr>
                              <m:t>2</m:t>
                            </m:r>
                          </m:sup>
                        </m:sSup>
                      </m:den>
                    </m:f>
                  </m:oMath>
                </a14:m>
                <a:endParaRPr lang="es-ES" dirty="0"/>
              </a:p>
              <a:p>
                <a:r>
                  <a:rPr lang="es-ES" dirty="0"/>
                  <a:t>Los valores de la variable </a:t>
                </a:r>
                <a14:m>
                  <m:oMath xmlns:m="http://schemas.openxmlformats.org/officeDocument/2006/math">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r>
                      <a:rPr lang="es-ES" i="1">
                        <a:latin typeface="Cambria Math" panose="02040503050406030204" pitchFamily="18" charset="0"/>
                      </a:rPr>
                      <m:t> </m:t>
                    </m:r>
                  </m:oMath>
                </a14:m>
                <a:r>
                  <a:rPr lang="es-ES" dirty="0"/>
                  <a:t>correspondientes a los cuantiles </a:t>
                </a:r>
                <a14:m>
                  <m:oMath xmlns:m="http://schemas.openxmlformats.org/officeDocument/2006/math">
                    <m:f>
                      <m:fPr>
                        <m:ctrlPr>
                          <a:rPr lang="es-ES" i="1" smtClean="0">
                            <a:latin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rPr>
                          <m:t>2</m:t>
                        </m:r>
                      </m:den>
                    </m:f>
                  </m:oMath>
                </a14:m>
                <a:r>
                  <a:rPr lang="es-ES" dirty="0"/>
                  <a:t> y </a:t>
                </a:r>
                <a14:m>
                  <m:oMath xmlns:m="http://schemas.openxmlformats.org/officeDocument/2006/math">
                    <m:r>
                      <a:rPr lang="es-ES" b="0" i="1" smtClean="0">
                        <a:latin typeface="Cambria Math" panose="02040503050406030204" pitchFamily="18" charset="0"/>
                      </a:rPr>
                      <m:t>1−</m:t>
                    </m:r>
                    <m:f>
                      <m:fPr>
                        <m:ctrlPr>
                          <a:rPr lang="es-ES" b="0" i="1" smtClean="0">
                            <a:latin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rPr>
                          <m:t>2</m:t>
                        </m:r>
                      </m:den>
                    </m:f>
                  </m:oMath>
                </a14:m>
                <a:r>
                  <a:rPr lang="es-ES" dirty="0"/>
                  <a:t> se denominan valores críticos, y se denotan como</a:t>
                </a:r>
              </a:p>
              <a:p>
                <a:pPr lvl="1"/>
                <a14:m>
                  <m:oMath xmlns:m="http://schemas.openxmlformats.org/officeDocument/2006/math">
                    <m:sSub>
                      <m:sSubPr>
                        <m:ctrlPr>
                          <a:rPr lang="es-ES" i="1" smtClean="0">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rPr>
                      <m:t>=</m:t>
                    </m:r>
                    <m:r>
                      <a:rPr lang="es-ES" i="1">
                        <a:latin typeface="Cambria Math" panose="02040503050406030204" pitchFamily="18" charset="0"/>
                      </a:rPr>
                      <m:t>𝑞</m:t>
                    </m:r>
                    <m:d>
                      <m:dPr>
                        <m:ctrlPr>
                          <a:rPr lang="es-ES" i="1">
                            <a:latin typeface="Cambria Math" panose="02040503050406030204" pitchFamily="18" charset="0"/>
                          </a:rPr>
                        </m:ctrlPr>
                      </m:dPr>
                      <m:e>
                        <m:f>
                          <m:fPr>
                            <m:ctrlPr>
                              <a:rPr lang="es-ES" i="1">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r>
                          <a:rPr lang="es-ES" i="1">
                            <a:latin typeface="Cambria Math" panose="02040503050406030204" pitchFamily="18" charset="0"/>
                          </a:rPr>
                          <m:t>&lt;</m:t>
                        </m:r>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e>
                    </m:d>
                    <m:r>
                      <a:rPr lang="es-ES" i="1">
                        <a:latin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α</m:t>
                        </m:r>
                      </m:num>
                      <m:den>
                        <m:r>
                          <a:rPr lang="es-ES" i="1">
                            <a:latin typeface="Cambria Math" panose="02040503050406030204" pitchFamily="18" charset="0"/>
                            <a:ea typeface="Cambria Math" panose="02040503050406030204" pitchFamily="18" charset="0"/>
                          </a:rPr>
                          <m:t>2</m:t>
                        </m:r>
                      </m:den>
                    </m:f>
                  </m:oMath>
                </a14:m>
                <a:endParaRPr lang="es-ES" i="1" dirty="0">
                  <a:latin typeface="Cambria Math" panose="02040503050406030204" pitchFamily="18" charset="0"/>
                </a:endParaRPr>
              </a:p>
              <a:p>
                <a:pPr lvl="1"/>
                <a14:m>
                  <m:oMath xmlns:m="http://schemas.openxmlformats.org/officeDocument/2006/math">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rPr>
                      <m:t>=</m:t>
                    </m:r>
                    <m:r>
                      <a:rPr lang="es-ES" i="1">
                        <a:latin typeface="Cambria Math" panose="02040503050406030204" pitchFamily="18" charset="0"/>
                      </a:rPr>
                      <m:t>𝑞</m:t>
                    </m:r>
                    <m:d>
                      <m:dPr>
                        <m:ctrlPr>
                          <a:rPr lang="es-ES" i="1">
                            <a:latin typeface="Cambria Math" panose="02040503050406030204" pitchFamily="18" charset="0"/>
                          </a:rPr>
                        </m:ctrlPr>
                      </m:dPr>
                      <m:e>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m:rPr>
                                <m:sty m:val="p"/>
                              </m:rPr>
                              <a:rPr lang="el-GR" i="1">
                                <a:latin typeface="Cambria Math" panose="02040503050406030204" pitchFamily="18" charset="0"/>
                                <a:ea typeface="Cambria Math" panose="02040503050406030204" pitchFamily="18" charset="0"/>
                              </a:rPr>
                              <m:t>α</m:t>
                            </m:r>
                          </m:num>
                          <m:den>
                            <m:r>
                              <a:rPr lang="es-ES" i="1">
                                <a:latin typeface="Cambria Math" panose="02040503050406030204" pitchFamily="18" charset="0"/>
                                <a:ea typeface="Cambria Math" panose="02040503050406030204" pitchFamily="18" charset="0"/>
                              </a:rPr>
                              <m:t>2</m:t>
                            </m:r>
                          </m:den>
                        </m:f>
                      </m:e>
                    </m:d>
                    <m:r>
                      <m:rPr>
                        <m:nor/>
                      </m:rPr>
                      <a:rPr lang="es-ES">
                        <a:latin typeface="Cambria Math" panose="02040503050406030204" pitchFamily="18" charset="0"/>
                      </a:rPr>
                      <m:t> </m:t>
                    </m:r>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r>
                          <a:rPr lang="es-ES" i="1">
                            <a:latin typeface="Cambria Math" panose="02040503050406030204" pitchFamily="18" charset="0"/>
                          </a:rPr>
                          <m:t>&lt;</m:t>
                        </m:r>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e>
                    </m:d>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oMath>
                </a14:m>
                <a:endParaRPr lang="es-ES" dirty="0"/>
              </a:p>
              <a:p>
                <a:r>
                  <a:rPr lang="es-ES" dirty="0"/>
                  <a:t>Por lo que </a:t>
                </a:r>
              </a:p>
              <a:p>
                <a:pPr lvl="1"/>
                <a14:m>
                  <m:oMath xmlns:m="http://schemas.openxmlformats.org/officeDocument/2006/math">
                    <m:r>
                      <a:rPr lang="es-ES" b="0" i="1" smtClean="0">
                        <a:latin typeface="Cambria Math" panose="02040503050406030204" pitchFamily="18" charset="0"/>
                      </a:rPr>
                      <m:t>𝑃</m:t>
                    </m:r>
                    <m:d>
                      <m:dPr>
                        <m:begChr m:val="{"/>
                        <m:endChr m:val="}"/>
                        <m:ctrlPr>
                          <a:rPr lang="es-ES" b="0" i="1" smtClean="0">
                            <a:latin typeface="Cambria Math" panose="02040503050406030204" pitchFamily="18" charset="0"/>
                          </a:rPr>
                        </m:ctrlPr>
                      </m:dPr>
                      <m:e>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r>
                          <a:rPr lang="es-ES"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𝑆</m:t>
                                </m:r>
                              </m:e>
                              <m:sup>
                                <m:r>
                                  <a:rPr lang="es-ES" i="1">
                                    <a:latin typeface="Cambria Math" panose="02040503050406030204" pitchFamily="18" charset="0"/>
                                    <a:ea typeface="Cambria Math" panose="02040503050406030204" pitchFamily="18" charset="0"/>
                                  </a:rPr>
                                  <m:t>2</m:t>
                                </m:r>
                              </m:sup>
                            </m:sSup>
                          </m:num>
                          <m:den>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𝜎</m:t>
                                </m:r>
                              </m:e>
                              <m:sup>
                                <m:r>
                                  <a:rPr lang="es-ES" i="1">
                                    <a:latin typeface="Cambria Math" panose="02040503050406030204" pitchFamily="18" charset="0"/>
                                    <a:ea typeface="Cambria Math" panose="02040503050406030204" pitchFamily="18" charset="0"/>
                                  </a:rPr>
                                  <m:t>2</m:t>
                                </m:r>
                              </m:sup>
                            </m:sSup>
                          </m:den>
                        </m:f>
                        <m:r>
                          <a:rPr lang="es-ES"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e>
                    </m:d>
                    <m:r>
                      <a:rPr lang="es-ES" b="0" i="1" smtClean="0">
                        <a:latin typeface="Cambria Math" panose="02040503050406030204" pitchFamily="18" charset="0"/>
                      </a:rPr>
                      <m:t>=</m:t>
                    </m:r>
                    <m:d>
                      <m:dPr>
                        <m:ctrlPr>
                          <a:rPr lang="es-ES" b="0" i="1" smtClean="0">
                            <a:latin typeface="Cambria Math" panose="02040503050406030204" pitchFamily="18" charset="0"/>
                          </a:rPr>
                        </m:ctrlPr>
                      </m:dPr>
                      <m:e>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e>
                    </m:d>
                    <m:r>
                      <a:rPr lang="es-ES" b="0" i="1" smtClean="0">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b="0" i="1" smtClean="0">
                                    <a:latin typeface="Cambria Math" panose="02040503050406030204" pitchFamily="18" charset="0"/>
                                  </a:rPr>
                                  <m:t>𝑆</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r>
                          <a:rPr lang="es-ES" i="1">
                            <a:latin typeface="Cambria Math" panose="02040503050406030204" pitchFamily="18" charset="0"/>
                            <a:ea typeface="Cambria Math" panose="02040503050406030204" pitchFamily="18" charset="0"/>
                          </a:rPr>
                          <m:t>≤</m:t>
                        </m:r>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𝜎</m:t>
                            </m:r>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b="0" i="1" smtClean="0">
                                    <a:latin typeface="Cambria Math" panose="02040503050406030204" pitchFamily="18" charset="0"/>
                                  </a:rPr>
                                  <m:t>𝑆</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r>
                                  <a:rPr lang="es-ES" i="1">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e>
                    </m:d>
                    <m:r>
                      <a:rPr lang="es-ES" b="0" i="1" smtClean="0">
                        <a:latin typeface="Cambria Math" panose="02040503050406030204" pitchFamily="18" charset="0"/>
                        <a:ea typeface="Cambria Math" panose="02040503050406030204" pitchFamily="18" charset="0"/>
                      </a:rPr>
                      <m:t>=</m:t>
                    </m:r>
                    <m:d>
                      <m:dPr>
                        <m:ctrlPr>
                          <a:rPr lang="es-ES" i="1">
                            <a:latin typeface="Cambria Math" panose="02040503050406030204" pitchFamily="18" charset="0"/>
                          </a:rPr>
                        </m:ctrlPr>
                      </m:dPr>
                      <m:e>
                        <m:r>
                          <a:rPr lang="es-ES" i="1">
                            <a:latin typeface="Cambria Math" panose="02040503050406030204" pitchFamily="18" charset="0"/>
                          </a:rPr>
                          <m:t>1−</m:t>
                        </m:r>
                        <m:r>
                          <a:rPr lang="es-ES" i="1">
                            <a:latin typeface="Cambria Math" panose="02040503050406030204" pitchFamily="18" charset="0"/>
                            <a:ea typeface="Cambria Math" panose="02040503050406030204" pitchFamily="18" charset="0"/>
                          </a:rPr>
                          <m:t>𝛼</m:t>
                        </m:r>
                      </m:e>
                    </m:d>
                  </m:oMath>
                </a14:m>
                <a:endParaRPr lang="es-ES" dirty="0"/>
              </a:p>
              <a:p>
                <a:r>
                  <a:rPr lang="es-ES" dirty="0"/>
                  <a:t>Y el intervalo de confianza usando una muestra concreta con varianza muestral </a:t>
                </a:r>
                <a14:m>
                  <m:oMath xmlns:m="http://schemas.openxmlformats.org/officeDocument/2006/math">
                    <m:sSup>
                      <m:sSupPr>
                        <m:ctrlPr>
                          <a:rPr lang="es-ES" i="1" smtClean="0">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2</m:t>
                        </m:r>
                      </m:sup>
                    </m:sSup>
                    <m:r>
                      <a:rPr lang="es-ES" i="1">
                        <a:latin typeface="Cambria Math" panose="02040503050406030204" pitchFamily="18" charset="0"/>
                      </a:rPr>
                      <m:t> </m:t>
                    </m:r>
                  </m:oMath>
                </a14:m>
                <a:r>
                  <a:rPr lang="es-ES" dirty="0"/>
                  <a:t>es</a:t>
                </a:r>
              </a:p>
              <a:p>
                <a:pPr lvl="1"/>
                <a14:m>
                  <m:oMath xmlns:m="http://schemas.openxmlformats.org/officeDocument/2006/math">
                    <m:d>
                      <m:dPr>
                        <m:begChr m:val="["/>
                        <m:endChr m:val="]"/>
                        <m:ctrlPr>
                          <a:rPr lang="es-ES" i="1" smtClean="0">
                            <a:latin typeface="Cambria Math" panose="02040503050406030204" pitchFamily="18" charset="0"/>
                            <a:ea typeface="Cambria Math" panose="02040503050406030204" pitchFamily="18" charset="0"/>
                          </a:rPr>
                        </m:ctrlPr>
                      </m:dPr>
                      <m:e>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r>
                          <a:rPr lang="es-ES" b="0" i="1" smtClean="0">
                            <a:latin typeface="Cambria Math" panose="02040503050406030204" pitchFamily="18" charset="0"/>
                            <a:ea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r>
                                  <a:rPr lang="es-ES" i="1">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e>
                    </m:d>
                  </m:oMath>
                </a14:m>
                <a:endParaRPr lang="es-ES" dirty="0"/>
              </a:p>
              <a:p>
                <a:pPr lvl="2"/>
                <a:endParaRPr lang="es-ES" dirty="0"/>
              </a:p>
              <a:p>
                <a:pPr marL="914400" lvl="2" indent="0">
                  <a:buNone/>
                </a:pPr>
                <a:endParaRPr lang="es-ES" dirty="0"/>
              </a:p>
              <a:p>
                <a:pPr lvl="1"/>
                <a:endParaRPr lang="es-ES" dirty="0"/>
              </a:p>
              <a:p>
                <a:pPr lvl="1"/>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77F31CED-754F-7768-0AAC-C07EDE8B0CD6}"/>
                  </a:ext>
                </a:extLst>
              </p:cNvPr>
              <p:cNvSpPr>
                <a:spLocks noGrp="1" noRot="1" noChangeAspect="1" noMove="1" noResize="1" noEditPoints="1" noAdjustHandles="1" noChangeArrowheads="1" noChangeShapeType="1" noTextEdit="1"/>
              </p:cNvSpPr>
              <p:nvPr>
                <p:ph idx="1"/>
              </p:nvPr>
            </p:nvSpPr>
            <p:spPr>
              <a:xfrm>
                <a:off x="838200" y="1825625"/>
                <a:ext cx="8572018" cy="4285808"/>
              </a:xfrm>
              <a:blipFill>
                <a:blip r:embed="rId2"/>
                <a:stretch>
                  <a:fillRect l="-498" t="-241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4138B596-B969-7587-53AB-55B1E52D6A6B}"/>
              </a:ext>
            </a:extLst>
          </p:cNvPr>
          <p:cNvSpPr>
            <a:spLocks noGrp="1"/>
          </p:cNvSpPr>
          <p:nvPr>
            <p:ph type="sldNum" sz="quarter" idx="12"/>
          </p:nvPr>
        </p:nvSpPr>
        <p:spPr/>
        <p:txBody>
          <a:bodyPr/>
          <a:lstStyle/>
          <a:p>
            <a:fld id="{336CAFD0-1F6E-4E11-9822-836563A02839}" type="slidenum">
              <a:rPr lang="es-ES" smtClean="0"/>
              <a:pPr/>
              <a:t>45</a:t>
            </a:fld>
            <a:endParaRPr lang="es-ES" dirty="0"/>
          </a:p>
        </p:txBody>
      </p:sp>
      <p:pic>
        <p:nvPicPr>
          <p:cNvPr id="6" name="Imagen 5">
            <a:extLst>
              <a:ext uri="{FF2B5EF4-FFF2-40B4-BE49-F238E27FC236}">
                <a16:creationId xmlns:a16="http://schemas.microsoft.com/office/drawing/2014/main" id="{DE2FB0CB-B4D5-FECA-BB05-E91839B0C1E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93359" y="3040418"/>
            <a:ext cx="3598641" cy="1749570"/>
          </a:xfrm>
          <a:prstGeom prst="rect">
            <a:avLst/>
          </a:prstGeom>
        </p:spPr>
      </p:pic>
    </p:spTree>
    <p:extLst>
      <p:ext uri="{BB962C8B-B14F-4D97-AF65-F5344CB8AC3E}">
        <p14:creationId xmlns:p14="http://schemas.microsoft.com/office/powerpoint/2010/main" val="40408558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E3EDF5B1-0487-7A00-2334-9E424B36D18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002794" y="2116418"/>
            <a:ext cx="5131331" cy="2571329"/>
          </a:xfrm>
          <a:prstGeom prst="rect">
            <a:avLst/>
          </a:prstGeom>
        </p:spPr>
      </p:pic>
      <p:sp>
        <p:nvSpPr>
          <p:cNvPr id="2" name="Título 1">
            <a:extLst>
              <a:ext uri="{FF2B5EF4-FFF2-40B4-BE49-F238E27FC236}">
                <a16:creationId xmlns:a16="http://schemas.microsoft.com/office/drawing/2014/main" id="{DF673567-7BB6-A760-E768-7419703F4973}"/>
              </a:ext>
            </a:extLst>
          </p:cNvPr>
          <p:cNvSpPr>
            <a:spLocks noGrp="1"/>
          </p:cNvSpPr>
          <p:nvPr>
            <p:ph type="title"/>
          </p:nvPr>
        </p:nvSpPr>
        <p:spPr/>
        <p:txBody>
          <a:bodyPr>
            <a:normAutofit/>
          </a:bodyPr>
          <a:lstStyle/>
          <a:p>
            <a:r>
              <a:rPr lang="es-ES" dirty="0"/>
              <a:t>9. Intervalo de confianza para la varianza poblacional. </a:t>
            </a:r>
            <a:r>
              <a:rPr lang="es-ES" sz="3600" dirty="0"/>
              <a:t>Tabla Chi-cuadrado</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91EDC6A-5249-7FC0-0DD0-24FFF9062A21}"/>
                  </a:ext>
                </a:extLst>
              </p:cNvPr>
              <p:cNvSpPr>
                <a:spLocks noGrp="1"/>
              </p:cNvSpPr>
              <p:nvPr>
                <p:ph idx="1"/>
              </p:nvPr>
            </p:nvSpPr>
            <p:spPr>
              <a:xfrm>
                <a:off x="838200" y="1825625"/>
                <a:ext cx="5076463" cy="4667250"/>
              </a:xfrm>
            </p:spPr>
            <p:txBody>
              <a:bodyPr>
                <a:normAutofit fontScale="70000" lnSpcReduction="20000"/>
              </a:bodyPr>
              <a:lstStyle/>
              <a:p>
                <a:r>
                  <a:rPr lang="es-ES" dirty="0"/>
                  <a:t>Para obtener </a:t>
                </a:r>
                <a14:m>
                  <m:oMath xmlns:m="http://schemas.openxmlformats.org/officeDocument/2006/math">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oMath>
                </a14:m>
                <a:r>
                  <a:rPr lang="es-ES" dirty="0"/>
                  <a:t> y </a:t>
                </a:r>
                <a14:m>
                  <m:oMath xmlns:m="http://schemas.openxmlformats.org/officeDocument/2006/math">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r>
                      <a:rPr lang="es-ES" i="1">
                        <a:latin typeface="Cambria Math" panose="02040503050406030204" pitchFamily="18" charset="0"/>
                        <a:ea typeface="Cambria Math" panose="02040503050406030204" pitchFamily="18" charset="0"/>
                      </a:rPr>
                      <m:t> </m:t>
                    </m:r>
                  </m:oMath>
                </a14:m>
                <a:r>
                  <a:rPr lang="es-ES" dirty="0"/>
                  <a:t>se puede usar la tabla A6</a:t>
                </a:r>
              </a:p>
              <a:p>
                <a:r>
                  <a:rPr lang="es-ES" dirty="0"/>
                  <a:t>Ejemplo</a:t>
                </a:r>
              </a:p>
              <a:p>
                <a:pPr lvl="1"/>
                <a14:m>
                  <m:oMath xmlns:m="http://schemas.openxmlformats.org/officeDocument/2006/math">
                    <m:r>
                      <m:rPr>
                        <m:nor/>
                      </m:rPr>
                      <a:rPr lang="el-GR" smtClean="0">
                        <a:latin typeface="Cambria Math" panose="02040503050406030204" pitchFamily="18" charset="0"/>
                        <a:ea typeface="Cambria Math" panose="02040503050406030204" pitchFamily="18" charset="0"/>
                      </a:rPr>
                      <m:t>α</m:t>
                    </m:r>
                    <m:r>
                      <m:rPr>
                        <m:nor/>
                      </m:rPr>
                      <a:rPr lang="es-ES" b="0" i="0" smtClean="0">
                        <a:latin typeface="Cambria Math" panose="02040503050406030204" pitchFamily="18" charset="0"/>
                        <a:ea typeface="Cambria Math" panose="02040503050406030204" pitchFamily="18" charset="0"/>
                      </a:rPr>
                      <m:t>/2</m:t>
                    </m:r>
                    <m:r>
                      <a:rPr lang="es-ES" b="0" i="1" smtClean="0">
                        <a:latin typeface="Cambria Math" panose="02040503050406030204" pitchFamily="18" charset="0"/>
                        <a:ea typeface="Cambria Math" panose="02040503050406030204" pitchFamily="18" charset="0"/>
                      </a:rPr>
                      <m:t>=0.05</m:t>
                    </m:r>
                  </m:oMath>
                </a14:m>
                <a:endParaRPr lang="es-ES" dirty="0"/>
              </a:p>
              <a:p>
                <a:pPr lvl="1"/>
                <a14:m>
                  <m:oMath xmlns:m="http://schemas.openxmlformats.org/officeDocument/2006/math">
                    <m:r>
                      <m:rPr>
                        <m:nor/>
                      </m:rPr>
                      <a:rPr lang="es-ES" b="0" i="0" smtClean="0">
                        <a:latin typeface="Cambria Math" panose="02040503050406030204" pitchFamily="18" charset="0"/>
                        <a:ea typeface="Cambria Math" panose="02040503050406030204" pitchFamily="18" charset="0"/>
                      </a:rPr>
                      <m:t>1−</m:t>
                    </m:r>
                    <m:r>
                      <m:rPr>
                        <m:nor/>
                      </m:rPr>
                      <a:rPr lang="el-GR" smtClean="0">
                        <a:latin typeface="Cambria Math" panose="02040503050406030204" pitchFamily="18" charset="0"/>
                        <a:ea typeface="Cambria Math" panose="02040503050406030204" pitchFamily="18" charset="0"/>
                      </a:rPr>
                      <m:t>α</m:t>
                    </m:r>
                    <m:r>
                      <m:rPr>
                        <m:nor/>
                      </m:rPr>
                      <a:rPr lang="es-ES" b="0" i="0" smtClean="0">
                        <a:latin typeface="Cambria Math" panose="02040503050406030204" pitchFamily="18" charset="0"/>
                        <a:ea typeface="Cambria Math" panose="02040503050406030204" pitchFamily="18" charset="0"/>
                      </a:rPr>
                      <m:t>/2</m:t>
                    </m:r>
                    <m:r>
                      <a:rPr lang="es-ES" b="0" i="1" smtClean="0">
                        <a:latin typeface="Cambria Math" panose="02040503050406030204" pitchFamily="18" charset="0"/>
                        <a:ea typeface="Cambria Math" panose="02040503050406030204" pitchFamily="18" charset="0"/>
                      </a:rPr>
                      <m:t>=0.95</m:t>
                    </m:r>
                  </m:oMath>
                </a14:m>
                <a:endParaRPr lang="es-ES" dirty="0"/>
              </a:p>
              <a:p>
                <a:pPr lvl="1"/>
                <a:r>
                  <a:rPr lang="es-ES" b="0" dirty="0"/>
                  <a:t>Grados de libertad: </a:t>
                </a:r>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−1=5</m:t>
                    </m:r>
                  </m:oMath>
                </a14:m>
                <a:endParaRPr lang="es-ES" dirty="0"/>
              </a:p>
              <a:p>
                <a:r>
                  <a:rPr lang="es-ES" dirty="0"/>
                  <a:t>Cálculo de </a:t>
                </a:r>
                <a14:m>
                  <m:oMath xmlns:m="http://schemas.openxmlformats.org/officeDocument/2006/math">
                    <m:sSub>
                      <m:sSubPr>
                        <m:ctrlPr>
                          <a:rPr lang="es-ES" i="1" smtClean="0">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0.05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5</m:t>
                        </m:r>
                      </m:sub>
                    </m:sSub>
                  </m:oMath>
                </a14:m>
                <a:endParaRPr lang="es-ES" dirty="0"/>
              </a:p>
              <a:p>
                <a:pPr lvl="1"/>
                <a:r>
                  <a:rPr lang="es-ES" dirty="0"/>
                  <a:t>Hay que localizar la fila 5</a:t>
                </a:r>
              </a:p>
              <a:p>
                <a:pPr lvl="1"/>
                <a:r>
                  <a:rPr lang="es-ES" dirty="0"/>
                  <a:t>Hay que localizar la columna 0.05</a:t>
                </a:r>
              </a:p>
              <a:p>
                <a:pPr lvl="1"/>
                <a:r>
                  <a:rPr lang="es-ES" dirty="0"/>
                  <a:t>En la celda está el valor buscado: </a:t>
                </a:r>
                <a14:m>
                  <m:oMath xmlns:m="http://schemas.openxmlformats.org/officeDocument/2006/math">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i="1">
                            <a:latin typeface="Cambria Math" panose="02040503050406030204" pitchFamily="18" charset="0"/>
                          </a:rPr>
                          <m:t>0.05</m:t>
                        </m:r>
                        <m:r>
                          <a:rPr lang="es-ES" i="1">
                            <a:latin typeface="Cambria Math" panose="02040503050406030204" pitchFamily="18" charset="0"/>
                            <a:ea typeface="Cambria Math" panose="02040503050406030204" pitchFamily="18" charset="0"/>
                          </a:rPr>
                          <m:t>,  5</m:t>
                        </m:r>
                      </m:sub>
                    </m:sSub>
                    <m:r>
                      <a:rPr lang="es-ES" b="0" i="1" smtClean="0">
                        <a:latin typeface="Cambria Math" panose="02040503050406030204" pitchFamily="18" charset="0"/>
                        <a:ea typeface="Cambria Math" panose="02040503050406030204" pitchFamily="18" charset="0"/>
                      </a:rPr>
                      <m:t>=11.1</m:t>
                    </m:r>
                  </m:oMath>
                </a14:m>
                <a:endParaRPr lang="es-ES" dirty="0"/>
              </a:p>
              <a:p>
                <a:r>
                  <a:rPr lang="es-ES" dirty="0"/>
                  <a:t>Cálculo de </a:t>
                </a:r>
                <a14:m>
                  <m:oMath xmlns:m="http://schemas.openxmlformats.org/officeDocument/2006/math">
                    <m:sSub>
                      <m:sSubPr>
                        <m:ctrlPr>
                          <a:rPr lang="es-ES" i="1" smtClean="0">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0.95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5</m:t>
                        </m:r>
                      </m:sub>
                    </m:sSub>
                  </m:oMath>
                </a14:m>
                <a:endParaRPr lang="es-ES" dirty="0"/>
              </a:p>
              <a:p>
                <a:pPr lvl="1"/>
                <a:r>
                  <a:rPr lang="es-ES" dirty="0"/>
                  <a:t>Hay que localizar la fila 5</a:t>
                </a:r>
              </a:p>
              <a:p>
                <a:pPr lvl="1"/>
                <a:r>
                  <a:rPr lang="es-ES" dirty="0"/>
                  <a:t>Hay que localizar la columna 0.95</a:t>
                </a:r>
              </a:p>
              <a:p>
                <a:pPr lvl="1"/>
                <a:r>
                  <a:rPr lang="es-ES" dirty="0"/>
                  <a:t>En la celda está el valor buscado: </a:t>
                </a:r>
                <a14:m>
                  <m:oMath xmlns:m="http://schemas.openxmlformats.org/officeDocument/2006/math">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i="1">
                            <a:latin typeface="Cambria Math" panose="02040503050406030204" pitchFamily="18" charset="0"/>
                          </a:rPr>
                          <m:t>0.</m:t>
                        </m:r>
                        <m:r>
                          <a:rPr lang="es-ES" b="0" i="1" smtClean="0">
                            <a:latin typeface="Cambria Math" panose="02040503050406030204" pitchFamily="18" charset="0"/>
                          </a:rPr>
                          <m:t>9</m:t>
                        </m:r>
                        <m:r>
                          <a:rPr lang="es-ES" i="1">
                            <a:latin typeface="Cambria Math" panose="02040503050406030204" pitchFamily="18" charset="0"/>
                          </a:rPr>
                          <m:t>5</m:t>
                        </m:r>
                        <m:r>
                          <a:rPr lang="es-ES" i="1">
                            <a:latin typeface="Cambria Math" panose="02040503050406030204" pitchFamily="18" charset="0"/>
                            <a:ea typeface="Cambria Math" panose="02040503050406030204" pitchFamily="18" charset="0"/>
                          </a:rPr>
                          <m:t>,  5</m:t>
                        </m:r>
                      </m:sub>
                    </m:sSub>
                    <m:r>
                      <a:rPr lang="es-ES" b="0" i="1" smtClean="0">
                        <a:latin typeface="Cambria Math" panose="02040503050406030204" pitchFamily="18" charset="0"/>
                        <a:ea typeface="Cambria Math" panose="02040503050406030204" pitchFamily="18" charset="0"/>
                      </a:rPr>
                      <m:t>=1.15</m:t>
                    </m:r>
                  </m:oMath>
                </a14:m>
                <a:endParaRPr lang="es-ES" dirty="0"/>
              </a:p>
              <a:p>
                <a:endParaRPr lang="es-ES" dirty="0"/>
              </a:p>
            </p:txBody>
          </p:sp>
        </mc:Choice>
        <mc:Fallback xmlns="">
          <p:sp>
            <p:nvSpPr>
              <p:cNvPr id="3" name="Marcador de contenido 2">
                <a:extLst>
                  <a:ext uri="{FF2B5EF4-FFF2-40B4-BE49-F238E27FC236}">
                    <a16:creationId xmlns:a16="http://schemas.microsoft.com/office/drawing/2014/main" id="{A91EDC6A-5249-7FC0-0DD0-24FFF9062A21}"/>
                  </a:ext>
                </a:extLst>
              </p:cNvPr>
              <p:cNvSpPr>
                <a:spLocks noGrp="1" noRot="1" noChangeAspect="1" noMove="1" noResize="1" noEditPoints="1" noAdjustHandles="1" noChangeArrowheads="1" noChangeShapeType="1" noTextEdit="1"/>
              </p:cNvSpPr>
              <p:nvPr>
                <p:ph idx="1"/>
              </p:nvPr>
            </p:nvSpPr>
            <p:spPr>
              <a:xfrm>
                <a:off x="838200" y="1825625"/>
                <a:ext cx="5076463" cy="4667250"/>
              </a:xfrm>
              <a:blipFill>
                <a:blip r:embed="rId3"/>
                <a:stretch>
                  <a:fillRect l="-1082" t="-248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7E60BCD3-D157-0085-651B-238C0B8FEA48}"/>
              </a:ext>
            </a:extLst>
          </p:cNvPr>
          <p:cNvSpPr>
            <a:spLocks noGrp="1"/>
          </p:cNvSpPr>
          <p:nvPr>
            <p:ph type="sldNum" sz="quarter" idx="12"/>
          </p:nvPr>
        </p:nvSpPr>
        <p:spPr/>
        <p:txBody>
          <a:bodyPr/>
          <a:lstStyle/>
          <a:p>
            <a:fld id="{336CAFD0-1F6E-4E11-9822-836563A02839}" type="slidenum">
              <a:rPr lang="es-ES" smtClean="0"/>
              <a:pPr/>
              <a:t>46</a:t>
            </a:fld>
            <a:endParaRPr lang="es-ES" dirty="0"/>
          </a:p>
        </p:txBody>
      </p:sp>
      <p:sp>
        <p:nvSpPr>
          <p:cNvPr id="7" name="Elipse 6">
            <a:extLst>
              <a:ext uri="{FF2B5EF4-FFF2-40B4-BE49-F238E27FC236}">
                <a16:creationId xmlns:a16="http://schemas.microsoft.com/office/drawing/2014/main" id="{6D3DD8B2-E392-CCBE-19D5-D0C8A77D7E42}"/>
              </a:ext>
              <a:ext uri="{C183D7F6-B498-43B3-948B-1728B52AA6E4}">
                <adec:decorative xmlns:adec="http://schemas.microsoft.com/office/drawing/2017/decorative" val="1"/>
              </a:ext>
            </a:extLst>
          </p:cNvPr>
          <p:cNvSpPr/>
          <p:nvPr/>
        </p:nvSpPr>
        <p:spPr>
          <a:xfrm>
            <a:off x="11233230" y="4433104"/>
            <a:ext cx="590309" cy="25464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A2D91B31-419A-449C-6A76-180DEC296F66}"/>
              </a:ext>
              <a:ext uri="{C183D7F6-B498-43B3-948B-1728B52AA6E4}">
                <adec:decorative xmlns:adec="http://schemas.microsoft.com/office/drawing/2017/decorative" val="1"/>
              </a:ext>
            </a:extLst>
          </p:cNvPr>
          <p:cNvSpPr/>
          <p:nvPr/>
        </p:nvSpPr>
        <p:spPr>
          <a:xfrm>
            <a:off x="9093842" y="4433104"/>
            <a:ext cx="590309" cy="254643"/>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3816313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D636F0-DF25-0E7B-AF3B-1C55C24B891B}"/>
              </a:ext>
            </a:extLst>
          </p:cNvPr>
          <p:cNvSpPr>
            <a:spLocks noGrp="1"/>
          </p:cNvSpPr>
          <p:nvPr>
            <p:ph type="title"/>
          </p:nvPr>
        </p:nvSpPr>
        <p:spPr/>
        <p:txBody>
          <a:bodyPr/>
          <a:lstStyle/>
          <a:p>
            <a:r>
              <a:rPr lang="es-ES" dirty="0"/>
              <a:t>9. Intervalo de confianza para la varianza poblacional. </a:t>
            </a:r>
            <a:r>
              <a:rPr lang="es-ES" sz="3600" dirty="0"/>
              <a:t>Ejemplo 9.40</a:t>
            </a:r>
            <a:endParaRPr lang="es-ES" dirty="0"/>
          </a:p>
        </p:txBody>
      </p:sp>
      <p:sp>
        <p:nvSpPr>
          <p:cNvPr id="3" name="Marcador de contenido 2">
            <a:extLst>
              <a:ext uri="{FF2B5EF4-FFF2-40B4-BE49-F238E27FC236}">
                <a16:creationId xmlns:a16="http://schemas.microsoft.com/office/drawing/2014/main" id="{708FE1F3-5FAC-1C30-A986-3F7CB81EE8D5}"/>
              </a:ext>
            </a:extLst>
          </p:cNvPr>
          <p:cNvSpPr>
            <a:spLocks noGrp="1"/>
          </p:cNvSpPr>
          <p:nvPr>
            <p:ph idx="1"/>
          </p:nvPr>
        </p:nvSpPr>
        <p:spPr/>
        <p:txBody>
          <a:bodyPr/>
          <a:lstStyle/>
          <a:p>
            <a:r>
              <a:rPr lang="es-ES" dirty="0"/>
              <a:t>Construir un intervalo de confianza del 90 % para la varianza poblacional basado en una muestra de 6 mediciones</a:t>
            </a:r>
          </a:p>
          <a:p>
            <a:pPr lvl="1"/>
            <a:r>
              <a:rPr lang="es-ES" dirty="0"/>
              <a:t>2.5, 7.4, 8.0, 4.5, 7.4, 9.2</a:t>
            </a:r>
          </a:p>
        </p:txBody>
      </p:sp>
      <p:sp>
        <p:nvSpPr>
          <p:cNvPr id="4" name="Marcador de número de diapositiva 3">
            <a:extLst>
              <a:ext uri="{FF2B5EF4-FFF2-40B4-BE49-F238E27FC236}">
                <a16:creationId xmlns:a16="http://schemas.microsoft.com/office/drawing/2014/main" id="{6437AC99-6757-FDF7-7091-7A0B7CDADDBF}"/>
              </a:ext>
            </a:extLst>
          </p:cNvPr>
          <p:cNvSpPr>
            <a:spLocks noGrp="1"/>
          </p:cNvSpPr>
          <p:nvPr>
            <p:ph type="sldNum" sz="quarter" idx="12"/>
          </p:nvPr>
        </p:nvSpPr>
        <p:spPr/>
        <p:txBody>
          <a:bodyPr/>
          <a:lstStyle/>
          <a:p>
            <a:fld id="{336CAFD0-1F6E-4E11-9822-836563A02839}" type="slidenum">
              <a:rPr lang="es-ES" smtClean="0"/>
              <a:pPr/>
              <a:t>47</a:t>
            </a:fld>
            <a:endParaRPr lang="es-ES" dirty="0"/>
          </a:p>
        </p:txBody>
      </p:sp>
    </p:spTree>
    <p:extLst>
      <p:ext uri="{BB962C8B-B14F-4D97-AF65-F5344CB8AC3E}">
        <p14:creationId xmlns:p14="http://schemas.microsoft.com/office/powerpoint/2010/main" val="22682119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D636F0-DF25-0E7B-AF3B-1C55C24B891B}"/>
              </a:ext>
            </a:extLst>
          </p:cNvPr>
          <p:cNvSpPr>
            <a:spLocks noGrp="1"/>
          </p:cNvSpPr>
          <p:nvPr>
            <p:ph type="title"/>
          </p:nvPr>
        </p:nvSpPr>
        <p:spPr/>
        <p:txBody>
          <a:bodyPr/>
          <a:lstStyle/>
          <a:p>
            <a:r>
              <a:rPr lang="es-ES" dirty="0"/>
              <a:t>9. Intervalo de confianza para la varianza poblacional. </a:t>
            </a:r>
            <a:r>
              <a:rPr lang="es-ES" sz="3600" dirty="0"/>
              <a:t>Ejemplo 9.40 (Solución)</a:t>
            </a:r>
            <a:endParaRPr lang="es-E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08FE1F3-5FAC-1C30-A986-3F7CB81EE8D5}"/>
                  </a:ext>
                </a:extLst>
              </p:cNvPr>
              <p:cNvSpPr>
                <a:spLocks noGrp="1"/>
              </p:cNvSpPr>
              <p:nvPr>
                <p:ph idx="1"/>
              </p:nvPr>
            </p:nvSpPr>
            <p:spPr>
              <a:xfrm>
                <a:off x="838200" y="1825625"/>
                <a:ext cx="10515600" cy="4667250"/>
              </a:xfrm>
            </p:spPr>
            <p:txBody>
              <a:bodyPr>
                <a:normAutofit fontScale="70000" lnSpcReduction="20000"/>
              </a:bodyPr>
              <a:lstStyle/>
              <a:p>
                <a:r>
                  <a:rPr lang="es-ES" dirty="0"/>
                  <a:t>Estimador </a:t>
                </a:r>
                <a14:m>
                  <m:oMath xmlns:m="http://schemas.openxmlformats.org/officeDocument/2006/math">
                    <m:acc>
                      <m:accPr>
                        <m:chr m:val="̂"/>
                        <m:ctrlPr>
                          <a:rPr lang="es-ES" i="1" smtClean="0">
                            <a:latin typeface="Cambria Math" panose="02040503050406030204" pitchFamily="18" charset="0"/>
                          </a:rPr>
                        </m:ctrlPr>
                      </m:accPr>
                      <m:e>
                        <m:r>
                          <a:rPr lang="es-ES" i="1" smtClean="0">
                            <a:latin typeface="Cambria Math" panose="02040503050406030204" pitchFamily="18" charset="0"/>
                            <a:ea typeface="Cambria Math" panose="02040503050406030204" pitchFamily="18" charset="0"/>
                          </a:rPr>
                          <m:t>𝜃</m:t>
                        </m:r>
                      </m:e>
                    </m:acc>
                  </m:oMath>
                </a14:m>
                <a:r>
                  <a:rPr lang="es-ES" dirty="0"/>
                  <a:t> = Varianza muestral =</a:t>
                </a:r>
                <a:r>
                  <a:rPr lang="es-ES" dirty="0">
                    <a:ea typeface="Cambria Math" panose="02040503050406030204" pitchFamily="18" charset="0"/>
                  </a:rPr>
                  <a:t> </a:t>
                </a:r>
                <a14:m>
                  <m:oMath xmlns:m="http://schemas.openxmlformats.org/officeDocument/2006/math">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𝑆</m:t>
                        </m:r>
                      </m:e>
                      <m:sup>
                        <m:r>
                          <a:rPr lang="es-ES" i="1">
                            <a:latin typeface="Cambria Math" panose="02040503050406030204" pitchFamily="18" charset="0"/>
                            <a:ea typeface="Cambria Math" panose="02040503050406030204" pitchFamily="18" charset="0"/>
                          </a:rPr>
                          <m:t>2</m:t>
                        </m:r>
                      </m:sup>
                    </m:sSup>
                  </m:oMath>
                </a14:m>
                <a:endParaRPr lang="es-ES" dirty="0"/>
              </a:p>
              <a:p>
                <a:pPr lvl="1"/>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=6</m:t>
                    </m:r>
                  </m:oMath>
                </a14:m>
                <a:endParaRPr lang="es-ES" i="1" dirty="0">
                  <a:latin typeface="Cambria Math" panose="02040503050406030204" pitchFamily="18" charset="0"/>
                </a:endParaRPr>
              </a:p>
              <a:p>
                <a:pPr lvl="1"/>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𝑥</m:t>
                        </m:r>
                      </m:e>
                    </m:acc>
                    <m:r>
                      <a:rPr lang="es-ES" i="1">
                        <a:latin typeface="Cambria Math" panose="02040503050406030204" pitchFamily="18" charset="0"/>
                      </a:rPr>
                      <m:t>=</m:t>
                    </m:r>
                    <m:f>
                      <m:fPr>
                        <m:ctrlPr>
                          <a:rPr lang="es-ES" i="1">
                            <a:latin typeface="Cambria Math" panose="02040503050406030204" pitchFamily="18" charset="0"/>
                          </a:rPr>
                        </m:ctrlPr>
                      </m:fPr>
                      <m:num>
                        <m:r>
                          <a:rPr lang="es-ES" b="0" i="1" smtClean="0">
                            <a:latin typeface="Cambria Math" panose="02040503050406030204" pitchFamily="18" charset="0"/>
                          </a:rPr>
                          <m:t>2.5+7.4+8.0+4.5+7.4+9.2</m:t>
                        </m:r>
                      </m:num>
                      <m:den>
                        <m:r>
                          <a:rPr lang="es-ES" b="0" i="1" smtClean="0">
                            <a:latin typeface="Cambria Math" panose="02040503050406030204" pitchFamily="18" charset="0"/>
                          </a:rPr>
                          <m:t>6</m:t>
                        </m:r>
                      </m:den>
                    </m:f>
                    <m:r>
                      <a:rPr lang="es-ES" b="0" i="1" smtClean="0">
                        <a:latin typeface="Cambria Math" panose="02040503050406030204" pitchFamily="18" charset="0"/>
                      </a:rPr>
                      <m:t>=6.5</m:t>
                    </m:r>
                  </m:oMath>
                </a14:m>
                <a:endParaRPr lang="es-ES" i="1" dirty="0">
                  <a:latin typeface="Cambria Math" panose="02040503050406030204" pitchFamily="18" charset="0"/>
                </a:endParaRPr>
              </a:p>
              <a:p>
                <a:pPr lvl="1"/>
                <a14:m>
                  <m:oMath xmlns:m="http://schemas.openxmlformats.org/officeDocument/2006/math">
                    <m:sSup>
                      <m:sSupPr>
                        <m:ctrlPr>
                          <a:rPr lang="es-ES" i="1" smtClean="0">
                            <a:latin typeface="Cambria Math" panose="02040503050406030204" pitchFamily="18" charset="0"/>
                          </a:rPr>
                        </m:ctrlPr>
                      </m:sSupPr>
                      <m:e>
                        <m:r>
                          <a:rPr lang="es-ES" b="0" i="1" smtClean="0">
                            <a:latin typeface="Cambria Math" panose="02040503050406030204" pitchFamily="18" charset="0"/>
                          </a:rPr>
                          <m:t>𝑠</m:t>
                        </m:r>
                      </m:e>
                      <m:sup>
                        <m:r>
                          <a:rPr lang="es-ES" b="0" i="1" smtClean="0">
                            <a:latin typeface="Cambria Math" panose="02040503050406030204" pitchFamily="18" charset="0"/>
                          </a:rPr>
                          <m:t>2</m:t>
                        </m:r>
                      </m:sup>
                    </m:sSup>
                    <m:r>
                      <a:rPr lang="es-ES" b="0" i="1" smtClean="0">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r>
                          <a:rPr lang="es-ES" i="1">
                            <a:latin typeface="Cambria Math" panose="02040503050406030204" pitchFamily="18" charset="0"/>
                          </a:rPr>
                          <m:t>−1</m:t>
                        </m:r>
                      </m:den>
                    </m:f>
                    <m:nary>
                      <m:naryPr>
                        <m:chr m:val="∑"/>
                        <m:ctrlPr>
                          <a:rPr lang="es-ES" i="1">
                            <a:latin typeface="Cambria Math" panose="02040503050406030204" pitchFamily="18" charset="0"/>
                          </a:rPr>
                        </m:ctrlPr>
                      </m:naryPr>
                      <m:sub>
                        <m:r>
                          <m:rPr>
                            <m:brk m:alnAt="23"/>
                          </m:rPr>
                          <a:rPr lang="es-ES" i="1">
                            <a:latin typeface="Cambria Math" panose="02040503050406030204" pitchFamily="18" charset="0"/>
                          </a:rPr>
                          <m:t>𝑖</m:t>
                        </m:r>
                        <m:r>
                          <a:rPr lang="es-ES" i="1">
                            <a:latin typeface="Cambria Math" panose="02040503050406030204" pitchFamily="18" charset="0"/>
                          </a:rPr>
                          <m:t>=1</m:t>
                        </m:r>
                      </m:sub>
                      <m:sup>
                        <m:r>
                          <a:rPr lang="es-ES" i="1">
                            <a:latin typeface="Cambria Math" panose="02040503050406030204" pitchFamily="18" charset="0"/>
                          </a:rPr>
                          <m:t>𝑛</m:t>
                        </m:r>
                      </m:sup>
                      <m:e>
                        <m:sSup>
                          <m:sSupPr>
                            <m:ctrlPr>
                              <a:rPr lang="es-ES" i="1">
                                <a:latin typeface="Cambria Math" panose="02040503050406030204" pitchFamily="18" charset="0"/>
                              </a:rPr>
                            </m:ctrlPr>
                          </m:sSupPr>
                          <m:e>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b="0" i="1" smtClean="0">
                                        <a:latin typeface="Cambria Math" panose="02040503050406030204" pitchFamily="18" charset="0"/>
                                      </a:rPr>
                                      <m:t>𝑥</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𝑥</m:t>
                                    </m:r>
                                  </m:e>
                                </m:acc>
                              </m:e>
                            </m:d>
                          </m:e>
                          <m:sup>
                            <m:r>
                              <a:rPr lang="es-ES" i="1">
                                <a:latin typeface="Cambria Math" panose="02040503050406030204" pitchFamily="18" charset="0"/>
                              </a:rPr>
                              <m:t>2</m:t>
                            </m:r>
                          </m:sup>
                        </m:sSup>
                      </m:e>
                    </m:nary>
                    <m:r>
                      <a:rPr lang="es-ES" b="0" i="1" smtClean="0">
                        <a:latin typeface="Cambria Math" panose="02040503050406030204" pitchFamily="18" charset="0"/>
                      </a:rPr>
                      <m:t>=</m:t>
                    </m:r>
                    <m:f>
                      <m:fPr>
                        <m:ctrlPr>
                          <a:rPr lang="es-ES" i="1">
                            <a:latin typeface="Cambria Math" panose="02040503050406030204" pitchFamily="18" charset="0"/>
                          </a:rPr>
                        </m:ctrlPr>
                      </m:fPr>
                      <m:num>
                        <m:r>
                          <a:rPr lang="es-ES" b="0" i="1" smtClean="0">
                            <a:latin typeface="Cambria Math" panose="02040503050406030204" pitchFamily="18" charset="0"/>
                          </a:rPr>
                          <m:t>1</m:t>
                        </m:r>
                      </m:num>
                      <m:den>
                        <m:r>
                          <a:rPr lang="es-ES" b="0" i="1" smtClean="0">
                            <a:latin typeface="Cambria Math" panose="02040503050406030204" pitchFamily="18" charset="0"/>
                          </a:rPr>
                          <m:t>6</m:t>
                        </m:r>
                      </m:den>
                    </m:f>
                    <m:d>
                      <m:dPr>
                        <m:ctrlPr>
                          <a:rPr lang="es-ES" b="0" i="1" smtClean="0">
                            <a:latin typeface="Cambria Math" panose="02040503050406030204" pitchFamily="18" charset="0"/>
                          </a:rPr>
                        </m:ctrlPr>
                      </m:dPr>
                      <m:e>
                        <m:sSup>
                          <m:sSupPr>
                            <m:ctrlPr>
                              <a:rPr lang="es-ES" b="0" i="1" smtClean="0">
                                <a:latin typeface="Cambria Math" panose="02040503050406030204" pitchFamily="18" charset="0"/>
                              </a:rPr>
                            </m:ctrlPr>
                          </m:sSupPr>
                          <m:e>
                            <m:d>
                              <m:dPr>
                                <m:ctrlPr>
                                  <a:rPr lang="es-ES" b="0" i="1" smtClean="0">
                                    <a:latin typeface="Cambria Math" panose="02040503050406030204" pitchFamily="18" charset="0"/>
                                  </a:rPr>
                                </m:ctrlPr>
                              </m:dPr>
                              <m:e>
                                <m:r>
                                  <a:rPr lang="es-ES" b="0" i="1" smtClean="0">
                                    <a:latin typeface="Cambria Math" panose="02040503050406030204" pitchFamily="18" charset="0"/>
                                  </a:rPr>
                                  <m:t>2.5−6.5</m:t>
                                </m:r>
                              </m:e>
                            </m:d>
                          </m:e>
                          <m:sup>
                            <m:r>
                              <a:rPr lang="es-ES" b="0" i="1" smtClean="0">
                                <a:latin typeface="Cambria Math" panose="02040503050406030204" pitchFamily="18" charset="0"/>
                              </a:rPr>
                              <m:t>2</m:t>
                            </m:r>
                          </m:sup>
                        </m:sSup>
                        <m:r>
                          <a:rPr lang="es-ES" b="0" i="1" smtClean="0">
                            <a:latin typeface="Cambria Math" panose="02040503050406030204" pitchFamily="18" charset="0"/>
                          </a:rPr>
                          <m:t>+…+</m:t>
                        </m:r>
                        <m:sSup>
                          <m:sSupPr>
                            <m:ctrlPr>
                              <a:rPr lang="es-ES" i="1">
                                <a:latin typeface="Cambria Math" panose="02040503050406030204" pitchFamily="18" charset="0"/>
                              </a:rPr>
                            </m:ctrlPr>
                          </m:sSupPr>
                          <m:e>
                            <m:d>
                              <m:dPr>
                                <m:ctrlPr>
                                  <a:rPr lang="es-ES" i="1">
                                    <a:latin typeface="Cambria Math" panose="02040503050406030204" pitchFamily="18" charset="0"/>
                                  </a:rPr>
                                </m:ctrlPr>
                              </m:dPr>
                              <m:e>
                                <m:r>
                                  <a:rPr lang="es-ES" b="0" i="1" smtClean="0">
                                    <a:latin typeface="Cambria Math" panose="02040503050406030204" pitchFamily="18" charset="0"/>
                                  </a:rPr>
                                  <m:t>9.2</m:t>
                                </m:r>
                                <m:r>
                                  <a:rPr lang="es-ES" i="1">
                                    <a:latin typeface="Cambria Math" panose="02040503050406030204" pitchFamily="18" charset="0"/>
                                  </a:rPr>
                                  <m:t>−6.5</m:t>
                                </m:r>
                              </m:e>
                            </m:d>
                          </m:e>
                          <m:sup>
                            <m:r>
                              <a:rPr lang="es-ES" i="1">
                                <a:latin typeface="Cambria Math" panose="02040503050406030204" pitchFamily="18" charset="0"/>
                              </a:rPr>
                              <m:t>2</m:t>
                            </m:r>
                          </m:sup>
                        </m:sSup>
                      </m:e>
                    </m:d>
                    <m:r>
                      <a:rPr lang="es-ES" b="0" i="1" smtClean="0">
                        <a:latin typeface="Cambria Math" panose="02040503050406030204" pitchFamily="18" charset="0"/>
                      </a:rPr>
                      <m:t>=6.23</m:t>
                    </m:r>
                  </m:oMath>
                </a14:m>
                <a:endParaRPr lang="es-ES" dirty="0"/>
              </a:p>
              <a:p>
                <a:pPr lvl="1"/>
                <a14:m>
                  <m:oMath xmlns:m="http://schemas.openxmlformats.org/officeDocument/2006/math">
                    <m:r>
                      <a:rPr lang="es-ES"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=1−0.90=0.1</m:t>
                    </m:r>
                  </m:oMath>
                </a14:m>
                <a:endParaRPr lang="es-ES" dirty="0"/>
              </a:p>
              <a:p>
                <a:pPr lvl="1"/>
                <a14:m>
                  <m:oMath xmlns:m="http://schemas.openxmlformats.org/officeDocument/2006/math">
                    <m:sSub>
                      <m:sSubPr>
                        <m:ctrlPr>
                          <a:rPr lang="es-ES" i="1" smtClean="0">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i="1">
                            <a:latin typeface="Cambria Math" panose="02040503050406030204" pitchFamily="18" charset="0"/>
                          </a:rPr>
                          <m:t>1−</m:t>
                        </m:r>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0.95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5</m:t>
                        </m:r>
                      </m:sub>
                    </m:sSub>
                    <m:r>
                      <a:rPr lang="es-ES" b="0" i="1" smtClean="0">
                        <a:latin typeface="Cambria Math" panose="02040503050406030204" pitchFamily="18" charset="0"/>
                        <a:ea typeface="Cambria Math" panose="02040503050406030204" pitchFamily="18" charset="0"/>
                      </a:rPr>
                      <m:t>=1.15</m:t>
                    </m:r>
                  </m:oMath>
                </a14:m>
                <a:r>
                  <a:rPr lang="es-ES" b="0" dirty="0">
                    <a:ea typeface="Cambria Math" panose="02040503050406030204" pitchFamily="18" charset="0"/>
                  </a:rPr>
                  <a:t>    (Se calcular usando un software como R o la tabla A6 de libro)</a:t>
                </a:r>
              </a:p>
              <a:p>
                <a:pPr lvl="1"/>
                <a14:m>
                  <m:oMath xmlns:m="http://schemas.openxmlformats.org/officeDocument/2006/math">
                    <m:sSub>
                      <m:sSubPr>
                        <m:ctrlPr>
                          <a:rPr lang="es-ES" i="1" smtClean="0">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 </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ea typeface="Cambria Math" panose="02040503050406030204" pitchFamily="18" charset="0"/>
                      </a:rPr>
                      <m:t>=</m:t>
                    </m:r>
                    <m:sSub>
                      <m:sSubPr>
                        <m:ctrlPr>
                          <a:rPr lang="es-ES" i="1">
                            <a:latin typeface="Cambria Math" panose="02040503050406030204" pitchFamily="18" charset="0"/>
                          </a:rPr>
                        </m:ctrlPr>
                      </m:sSubPr>
                      <m:e>
                        <m:sSup>
                          <m:sSupPr>
                            <m:ctrlPr>
                              <a:rPr lang="es-ES" i="1">
                                <a:latin typeface="Cambria Math" panose="02040503050406030204" pitchFamily="18" charset="0"/>
                              </a:rPr>
                            </m:ctrlPr>
                          </m:sSupPr>
                          <m:e>
                            <m:r>
                              <a:rPr lang="es-ES" i="1">
                                <a:latin typeface="Cambria Math" panose="02040503050406030204" pitchFamily="18" charset="0"/>
                                <a:ea typeface="Cambria Math" panose="02040503050406030204" pitchFamily="18" charset="0"/>
                              </a:rPr>
                              <m:t>𝜒</m:t>
                            </m:r>
                          </m:e>
                          <m:sup>
                            <m:r>
                              <a:rPr lang="es-ES" i="1">
                                <a:latin typeface="Cambria Math" panose="02040503050406030204" pitchFamily="18" charset="0"/>
                              </a:rPr>
                              <m:t>2</m:t>
                            </m:r>
                          </m:sup>
                        </m:sSup>
                      </m:e>
                      <m:sub>
                        <m:r>
                          <a:rPr lang="es-ES" b="0" i="1" smtClean="0">
                            <a:latin typeface="Cambria Math" panose="02040503050406030204" pitchFamily="18" charset="0"/>
                          </a:rPr>
                          <m:t>0.05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5</m:t>
                        </m:r>
                      </m:sub>
                    </m:sSub>
                    <m:r>
                      <a:rPr lang="es-ES" b="0" i="1" smtClean="0">
                        <a:latin typeface="Cambria Math" panose="02040503050406030204" pitchFamily="18" charset="0"/>
                        <a:ea typeface="Cambria Math" panose="02040503050406030204" pitchFamily="18" charset="0"/>
                      </a:rPr>
                      <m:t>=11.1</m:t>
                    </m:r>
                  </m:oMath>
                </a14:m>
                <a:endParaRPr lang="es-ES" b="0" dirty="0">
                  <a:ea typeface="Cambria Math" panose="02040503050406030204" pitchFamily="18" charset="0"/>
                </a:endParaRPr>
              </a:p>
              <a:p>
                <a:r>
                  <a:rPr lang="es-ES" dirty="0"/>
                  <a:t>Intervalo de confianza para la varianza poblacional</a:t>
                </a:r>
              </a:p>
              <a:p>
                <a:pPr lvl="1"/>
                <a14:m>
                  <m:oMath xmlns:m="http://schemas.openxmlformats.org/officeDocument/2006/math">
                    <m:r>
                      <a:rPr lang="es-ES" i="1">
                        <a:latin typeface="Cambria Math" panose="02040503050406030204" pitchFamily="18" charset="0"/>
                      </a:rPr>
                      <m:t>𝐿𝑖</m:t>
                    </m:r>
                    <m:r>
                      <a:rPr lang="es-ES" i="1">
                        <a:latin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r>
                      <a:rPr lang="es-ES" b="0" i="1" smtClean="0">
                        <a:latin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b="0" i="1" smtClean="0">
                                <a:latin typeface="Cambria Math" panose="02040503050406030204" pitchFamily="18" charset="0"/>
                              </a:rPr>
                              <m:t>6</m:t>
                            </m:r>
                            <m:r>
                              <a:rPr lang="es-ES" i="1">
                                <a:latin typeface="Cambria Math" panose="02040503050406030204" pitchFamily="18" charset="0"/>
                              </a:rPr>
                              <m:t>−1</m:t>
                            </m:r>
                          </m:e>
                        </m:d>
                        <m:r>
                          <a:rPr lang="es-ES" b="0" i="1" smtClean="0">
                            <a:latin typeface="Cambria Math" panose="02040503050406030204" pitchFamily="18" charset="0"/>
                          </a:rPr>
                          <m:t>(6.23)</m:t>
                        </m:r>
                      </m:num>
                      <m:den>
                        <m:r>
                          <a:rPr lang="es-ES" b="0" i="1" smtClean="0">
                            <a:latin typeface="Cambria Math" panose="02040503050406030204" pitchFamily="18" charset="0"/>
                          </a:rPr>
                          <m:t>11.1</m:t>
                        </m:r>
                      </m:den>
                    </m:f>
                    <m:r>
                      <a:rPr lang="es-ES" b="0" i="1" smtClean="0">
                        <a:latin typeface="Cambria Math" panose="02040503050406030204" pitchFamily="18" charset="0"/>
                      </a:rPr>
                      <m:t>=2.8</m:t>
                    </m:r>
                  </m:oMath>
                </a14:m>
                <a:endParaRPr lang="es-ES" dirty="0"/>
              </a:p>
              <a:p>
                <a:pPr lvl="1"/>
                <a14:m>
                  <m:oMath xmlns:m="http://schemas.openxmlformats.org/officeDocument/2006/math">
                    <m:r>
                      <a:rPr lang="es-ES" i="1" smtClean="0">
                        <a:latin typeface="Cambria Math" panose="02040503050406030204" pitchFamily="18" charset="0"/>
                      </a:rPr>
                      <m:t>𝐿</m:t>
                    </m:r>
                    <m:r>
                      <a:rPr lang="es-ES" b="0" i="1" smtClean="0">
                        <a:latin typeface="Cambria Math" panose="02040503050406030204" pitchFamily="18" charset="0"/>
                      </a:rPr>
                      <m:t>𝑠</m:t>
                    </m:r>
                    <m:r>
                      <a:rPr lang="es-ES" i="1" smtClean="0">
                        <a:latin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1">
                                <a:latin typeface="Cambria Math" panose="02040503050406030204" pitchFamily="18" charset="0"/>
                              </a:rPr>
                              <m:t>−1</m:t>
                            </m:r>
                          </m:e>
                        </m:d>
                        <m:sSup>
                          <m:sSupPr>
                            <m:ctrlPr>
                              <a:rPr lang="es-ES" i="1">
                                <a:latin typeface="Cambria Math" panose="02040503050406030204" pitchFamily="18" charset="0"/>
                              </a:rPr>
                            </m:ctrlPr>
                          </m:sSupPr>
                          <m:e>
                            <m:r>
                              <a:rPr lang="es-ES" i="1">
                                <a:latin typeface="Cambria Math" panose="02040503050406030204" pitchFamily="18" charset="0"/>
                              </a:rPr>
                              <m:t>𝑠</m:t>
                            </m:r>
                          </m:e>
                          <m:sup>
                            <m:r>
                              <a:rPr lang="es-ES" i="1">
                                <a:latin typeface="Cambria Math" panose="02040503050406030204" pitchFamily="18" charset="0"/>
                              </a:rPr>
                              <m:t>2</m:t>
                            </m:r>
                          </m:sup>
                        </m:sSup>
                      </m:num>
                      <m:den>
                        <m:sSubSup>
                          <m:sSubSupPr>
                            <m:ctrlPr>
                              <a:rPr lang="es-ES" i="1">
                                <a:latin typeface="Cambria Math" panose="02040503050406030204" pitchFamily="18" charset="0"/>
                              </a:rPr>
                            </m:ctrlPr>
                          </m:sSubSupPr>
                          <m:e>
                            <m:r>
                              <a:rPr lang="es-ES" i="1">
                                <a:latin typeface="Cambria Math" panose="02040503050406030204" pitchFamily="18" charset="0"/>
                              </a:rPr>
                              <m:t>𝜒</m:t>
                            </m:r>
                          </m:e>
                          <m:sub>
                            <m:r>
                              <a:rPr lang="es-ES" b="0" i="1" smtClean="0">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−1</m:t>
                            </m:r>
                          </m:sub>
                          <m:sup>
                            <m:r>
                              <a:rPr lang="es-ES" i="1">
                                <a:latin typeface="Cambria Math" panose="02040503050406030204" pitchFamily="18" charset="0"/>
                              </a:rPr>
                              <m:t>2</m:t>
                            </m:r>
                          </m:sup>
                        </m:sSubSup>
                      </m:den>
                    </m:f>
                    <m:r>
                      <a:rPr lang="es-ES" b="0" i="1" smtClean="0">
                        <a:latin typeface="Cambria Math" panose="02040503050406030204" pitchFamily="18" charset="0"/>
                      </a:rPr>
                      <m:t>=</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b="0" i="1" smtClean="0">
                                <a:latin typeface="Cambria Math" panose="02040503050406030204" pitchFamily="18" charset="0"/>
                              </a:rPr>
                              <m:t>6</m:t>
                            </m:r>
                            <m:r>
                              <a:rPr lang="es-ES" i="1">
                                <a:latin typeface="Cambria Math" panose="02040503050406030204" pitchFamily="18" charset="0"/>
                              </a:rPr>
                              <m:t>−1</m:t>
                            </m:r>
                          </m:e>
                        </m:d>
                        <m:r>
                          <a:rPr lang="es-ES" b="0" i="1" smtClean="0">
                            <a:latin typeface="Cambria Math" panose="02040503050406030204" pitchFamily="18" charset="0"/>
                          </a:rPr>
                          <m:t>(6.23)</m:t>
                        </m:r>
                      </m:num>
                      <m:den>
                        <m:r>
                          <a:rPr lang="es-ES" b="0" i="1" smtClean="0">
                            <a:latin typeface="Cambria Math" panose="02040503050406030204" pitchFamily="18" charset="0"/>
                          </a:rPr>
                          <m:t>1.15</m:t>
                        </m:r>
                      </m:den>
                    </m:f>
                    <m:r>
                      <a:rPr lang="es-ES" b="0" i="1" smtClean="0">
                        <a:latin typeface="Cambria Math" panose="02040503050406030204" pitchFamily="18" charset="0"/>
                      </a:rPr>
                      <m:t>=27.1</m:t>
                    </m:r>
                  </m:oMath>
                </a14:m>
                <a:endParaRPr lang="es-ES" dirty="0"/>
              </a:p>
              <a:p>
                <a:r>
                  <a:rPr lang="es-ES" dirty="0"/>
                  <a:t>Intervalo para la desviación estándar poblacional</a:t>
                </a:r>
              </a:p>
              <a:p>
                <a:pPr lvl="1"/>
                <a14:m>
                  <m:oMath xmlns:m="http://schemas.openxmlformats.org/officeDocument/2006/math">
                    <m:d>
                      <m:dPr>
                        <m:begChr m:val="["/>
                        <m:endChr m:val="]"/>
                        <m:ctrlPr>
                          <a:rPr lang="es-ES" i="1" smtClean="0">
                            <a:latin typeface="Cambria Math" panose="02040503050406030204" pitchFamily="18" charset="0"/>
                          </a:rPr>
                        </m:ctrlPr>
                      </m:dPr>
                      <m:e>
                        <m:rad>
                          <m:radPr>
                            <m:degHide m:val="on"/>
                            <m:ctrlPr>
                              <a:rPr lang="es-ES" i="1" smtClean="0">
                                <a:latin typeface="Cambria Math" panose="02040503050406030204" pitchFamily="18" charset="0"/>
                              </a:rPr>
                            </m:ctrlPr>
                          </m:radPr>
                          <m:deg/>
                          <m:e>
                            <m:r>
                              <a:rPr lang="es-ES" b="0" i="1" smtClean="0">
                                <a:latin typeface="Cambria Math" panose="02040503050406030204" pitchFamily="18" charset="0"/>
                              </a:rPr>
                              <m:t>2.8</m:t>
                            </m:r>
                          </m:e>
                        </m:rad>
                        <m:r>
                          <a:rPr lang="es-ES" b="0" i="1" smtClean="0">
                            <a:latin typeface="Cambria Math" panose="02040503050406030204" pitchFamily="18" charset="0"/>
                          </a:rPr>
                          <m:t>, </m:t>
                        </m:r>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27.1</m:t>
                            </m:r>
                          </m:e>
                        </m:rad>
                      </m:e>
                    </m:d>
                    <m:r>
                      <a:rPr lang="es-ES" b="0" i="1" smtClean="0">
                        <a:latin typeface="Cambria Math" panose="02040503050406030204" pitchFamily="18" charset="0"/>
                      </a:rPr>
                      <m:t>=[1.68, 5.21]</m:t>
                    </m:r>
                  </m:oMath>
                </a14:m>
                <a:endParaRPr lang="es-ES" dirty="0"/>
              </a:p>
            </p:txBody>
          </p:sp>
        </mc:Choice>
        <mc:Fallback xmlns="">
          <p:sp>
            <p:nvSpPr>
              <p:cNvPr id="3" name="Marcador de contenido 2">
                <a:extLst>
                  <a:ext uri="{FF2B5EF4-FFF2-40B4-BE49-F238E27FC236}">
                    <a16:creationId xmlns:a16="http://schemas.microsoft.com/office/drawing/2014/main" id="{708FE1F3-5FAC-1C30-A986-3F7CB81EE8D5}"/>
                  </a:ext>
                </a:extLst>
              </p:cNvPr>
              <p:cNvSpPr>
                <a:spLocks noGrp="1" noRot="1" noChangeAspect="1" noMove="1" noResize="1" noEditPoints="1" noAdjustHandles="1" noChangeArrowheads="1" noChangeShapeType="1" noTextEdit="1"/>
              </p:cNvSpPr>
              <p:nvPr>
                <p:ph idx="1"/>
              </p:nvPr>
            </p:nvSpPr>
            <p:spPr>
              <a:xfrm>
                <a:off x="838200" y="1825625"/>
                <a:ext cx="10515600" cy="4667250"/>
              </a:xfrm>
              <a:blipFill>
                <a:blip r:embed="rId2"/>
                <a:stretch>
                  <a:fillRect l="-522" t="-235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6437AC99-6757-FDF7-7091-7A0B7CDADDBF}"/>
              </a:ext>
            </a:extLst>
          </p:cNvPr>
          <p:cNvSpPr>
            <a:spLocks noGrp="1"/>
          </p:cNvSpPr>
          <p:nvPr>
            <p:ph type="sldNum" sz="quarter" idx="12"/>
          </p:nvPr>
        </p:nvSpPr>
        <p:spPr/>
        <p:txBody>
          <a:bodyPr/>
          <a:lstStyle/>
          <a:p>
            <a:fld id="{336CAFD0-1F6E-4E11-9822-836563A02839}" type="slidenum">
              <a:rPr lang="es-ES" smtClean="0"/>
              <a:pPr/>
              <a:t>48</a:t>
            </a:fld>
            <a:endParaRPr lang="es-ES" dirty="0"/>
          </a:p>
        </p:txBody>
      </p:sp>
    </p:spTree>
    <p:extLst>
      <p:ext uri="{BB962C8B-B14F-4D97-AF65-F5344CB8AC3E}">
        <p14:creationId xmlns:p14="http://schemas.microsoft.com/office/powerpoint/2010/main" val="25079342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9. Intervalo de confianza para la varianza poblacional. Ejercicios propuestos</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pPr eaLnBrk="1" hangingPunct="1">
              <a:lnSpc>
                <a:spcPct val="90000"/>
              </a:lnSpc>
              <a:spcBef>
                <a:spcPts val="1000"/>
              </a:spcBef>
              <a:buFont typeface="Arial" panose="020B0604020202020204" pitchFamily="34" charset="0"/>
              <a:buChar char="•"/>
            </a:pPr>
            <a:r>
              <a:rPr lang="en-US" altLang="es-ES" sz="2800" dirty="0" err="1"/>
              <a:t>Ejercicio</a:t>
            </a:r>
            <a:r>
              <a:rPr lang="en-US" altLang="es-ES" sz="2800" dirty="0"/>
              <a:t> 9.23(c) del </a:t>
            </a:r>
            <a:r>
              <a:rPr lang="en-US" altLang="es-ES" sz="2800" dirty="0" err="1"/>
              <a:t>libro</a:t>
            </a:r>
            <a:endParaRPr lang="en-US" altLang="es-ES" sz="28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49</a:t>
            </a:fld>
            <a:endParaRPr lang="es-ES"/>
          </a:p>
        </p:txBody>
      </p:sp>
    </p:spTree>
    <p:extLst>
      <p:ext uri="{BB962C8B-B14F-4D97-AF65-F5344CB8AC3E}">
        <p14:creationId xmlns:p14="http://schemas.microsoft.com/office/powerpoint/2010/main" val="1029931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10. Intervalo de confianza para la diferencia de las medias de dos poblaciones </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a:xfrm>
            <a:off x="838200" y="1825625"/>
            <a:ext cx="5806440" cy="4351338"/>
          </a:xfrm>
        </p:spPr>
        <p:txBody>
          <a:bodyPr>
            <a:normAutofit/>
          </a:bodyPr>
          <a:lstStyle/>
          <a:p>
            <a:pPr eaLnBrk="1" hangingPunct="1">
              <a:lnSpc>
                <a:spcPct val="90000"/>
              </a:lnSpc>
              <a:spcBef>
                <a:spcPts val="1000"/>
              </a:spcBef>
              <a:buFont typeface="Arial" panose="020B0604020202020204" pitchFamily="34" charset="0"/>
              <a:buChar char="•"/>
            </a:pPr>
            <a:r>
              <a:rPr lang="es-ES" altLang="es-ES" dirty="0"/>
              <a:t>Si existen dos poblaciones, se puede construir un intervalo de confianza para la diferencia entre las medias poblacionales de ambas</a:t>
            </a:r>
          </a:p>
          <a:p>
            <a:pPr lvl="1">
              <a:spcBef>
                <a:spcPts val="1000"/>
              </a:spcBef>
            </a:pPr>
            <a:r>
              <a:rPr lang="es-ES" altLang="es-ES" dirty="0"/>
              <a:t>Cuando se dispone de muestras grandes</a:t>
            </a:r>
          </a:p>
          <a:p>
            <a:pPr lvl="1">
              <a:spcBef>
                <a:spcPts val="1000"/>
              </a:spcBef>
            </a:pPr>
            <a:r>
              <a:rPr lang="es-ES" altLang="es-ES" dirty="0"/>
              <a:t>O cuando se dispone de muestras de pequeño tamaño con distribución Normal</a:t>
            </a:r>
            <a:endParaRPr lang="en-US" altLang="es-ES" sz="28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50</a:t>
            </a:fld>
            <a:endParaRPr lang="es-ES"/>
          </a:p>
        </p:txBody>
      </p:sp>
      <p:pic>
        <p:nvPicPr>
          <p:cNvPr id="6" name="Imagen 5">
            <a:extLst>
              <a:ext uri="{FF2B5EF4-FFF2-40B4-BE49-F238E27FC236}">
                <a16:creationId xmlns:a16="http://schemas.microsoft.com/office/drawing/2014/main" id="{D3D2522C-51DC-313D-BF56-A20F4AEA3F9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725169" y="1870075"/>
            <a:ext cx="5375391" cy="4306888"/>
          </a:xfrm>
          <a:prstGeom prst="rect">
            <a:avLst/>
          </a:prstGeom>
        </p:spPr>
      </p:pic>
    </p:spTree>
    <p:extLst>
      <p:ext uri="{BB962C8B-B14F-4D97-AF65-F5344CB8AC3E}">
        <p14:creationId xmlns:p14="http://schemas.microsoft.com/office/powerpoint/2010/main" val="37094416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951790-DF96-6E3F-2014-CCB98C7D9BC2}"/>
              </a:ext>
            </a:extLst>
          </p:cNvPr>
          <p:cNvSpPr>
            <a:spLocks noGrp="1"/>
          </p:cNvSpPr>
          <p:nvPr>
            <p:ph type="title"/>
          </p:nvPr>
        </p:nvSpPr>
        <p:spPr/>
        <p:txBody>
          <a:bodyPr/>
          <a:lstStyle/>
          <a:p>
            <a:r>
              <a:rPr lang="es-ES" dirty="0"/>
              <a:t>10. Intervalo de confianza para la diferencia de las medias de dos poblaciones</a:t>
            </a:r>
          </a:p>
        </p:txBody>
      </p:sp>
      <p:sp>
        <p:nvSpPr>
          <p:cNvPr id="3" name="Marcador de contenido 2">
            <a:extLst>
              <a:ext uri="{FF2B5EF4-FFF2-40B4-BE49-F238E27FC236}">
                <a16:creationId xmlns:a16="http://schemas.microsoft.com/office/drawing/2014/main" id="{502BEC66-7892-3662-9658-D3816CBE52A1}"/>
              </a:ext>
            </a:extLst>
          </p:cNvPr>
          <p:cNvSpPr>
            <a:spLocks noGrp="1"/>
          </p:cNvSpPr>
          <p:nvPr>
            <p:ph idx="1"/>
          </p:nvPr>
        </p:nvSpPr>
        <p:spPr/>
        <p:txBody>
          <a:bodyPr>
            <a:normAutofit lnSpcReduction="10000"/>
          </a:bodyPr>
          <a:lstStyle/>
          <a:p>
            <a:r>
              <a:rPr lang="es-ES" dirty="0"/>
              <a:t>Casos posibles</a:t>
            </a:r>
          </a:p>
          <a:p>
            <a:pPr lvl="1"/>
            <a:r>
              <a:rPr lang="es-ES" dirty="0"/>
              <a:t>Varianzas poblacionales conocidas </a:t>
            </a:r>
            <a:r>
              <a:rPr lang="es-ES" dirty="0">
                <a:sym typeface="Wingdings" panose="05000000000000000000" pitchFamily="2" charset="2"/>
              </a:rPr>
              <a:t> Se utiliza un estimador con distribución Normal</a:t>
            </a:r>
            <a:endParaRPr lang="es-ES" dirty="0"/>
          </a:p>
          <a:p>
            <a:pPr lvl="1"/>
            <a:r>
              <a:rPr lang="es-ES" dirty="0"/>
              <a:t>Varianzas poblacionales desconocidas</a:t>
            </a:r>
          </a:p>
          <a:p>
            <a:pPr lvl="2"/>
            <a:r>
              <a:rPr lang="es-ES" dirty="0"/>
              <a:t>Muestras grandes </a:t>
            </a:r>
            <a:r>
              <a:rPr lang="es-ES" dirty="0">
                <a:sym typeface="Wingdings" panose="05000000000000000000" pitchFamily="2" charset="2"/>
              </a:rPr>
              <a:t> Se utiliza un estimador con distribución Normal</a:t>
            </a:r>
            <a:endParaRPr lang="es-ES" dirty="0"/>
          </a:p>
          <a:p>
            <a:pPr lvl="2"/>
            <a:r>
              <a:rPr lang="es-ES" dirty="0"/>
              <a:t>Muestras pequeñas con distribución Normal</a:t>
            </a:r>
          </a:p>
          <a:p>
            <a:pPr lvl="3"/>
            <a:r>
              <a:rPr lang="es-ES" dirty="0"/>
              <a:t>Varianzas iguales </a:t>
            </a:r>
            <a:r>
              <a:rPr lang="es-ES" dirty="0">
                <a:sym typeface="Wingdings" panose="05000000000000000000" pitchFamily="2" charset="2"/>
              </a:rPr>
              <a:t> Se utiliza un estimador con distribución T de </a:t>
            </a:r>
            <a:r>
              <a:rPr lang="es-ES" dirty="0" err="1">
                <a:sym typeface="Wingdings" panose="05000000000000000000" pitchFamily="2" charset="2"/>
              </a:rPr>
              <a:t>Student</a:t>
            </a:r>
            <a:endParaRPr lang="es-ES" dirty="0">
              <a:sym typeface="Wingdings" panose="05000000000000000000" pitchFamily="2" charset="2"/>
            </a:endParaRPr>
          </a:p>
          <a:p>
            <a:pPr lvl="3"/>
            <a:r>
              <a:rPr lang="es-ES" dirty="0">
                <a:sym typeface="Wingdings" panose="05000000000000000000" pitchFamily="2" charset="2"/>
              </a:rPr>
              <a:t>Varianzas diferentes  Se utiliza un estimador con distribución aproximada a T de </a:t>
            </a:r>
            <a:r>
              <a:rPr lang="es-ES" dirty="0" err="1">
                <a:sym typeface="Wingdings" panose="05000000000000000000" pitchFamily="2" charset="2"/>
              </a:rPr>
              <a:t>Student</a:t>
            </a:r>
            <a:endParaRPr lang="es-ES" dirty="0"/>
          </a:p>
          <a:p>
            <a:pPr lvl="2"/>
            <a:r>
              <a:rPr lang="es-ES" dirty="0"/>
              <a:t>Muestras pequeñas sin distribución Normal o desconocida </a:t>
            </a:r>
            <a:r>
              <a:rPr lang="es-ES" dirty="0">
                <a:sym typeface="Wingdings" panose="05000000000000000000" pitchFamily="2" charset="2"/>
              </a:rPr>
              <a:t> Se aplican técnicas de inferencia no paramétrica (ver capítulo 10.2 del libro) </a:t>
            </a:r>
            <a:endParaRPr lang="es-ES" dirty="0"/>
          </a:p>
          <a:p>
            <a:r>
              <a:rPr lang="es-ES" dirty="0"/>
              <a:t>Nota</a:t>
            </a:r>
          </a:p>
          <a:p>
            <a:pPr lvl="1"/>
            <a:r>
              <a:rPr lang="es-ES" dirty="0"/>
              <a:t>Una muestra se suele considerar grande cuando el tamaño es n≥30 o n&gt;30 (no hay unanimidad). </a:t>
            </a:r>
          </a:p>
          <a:p>
            <a:endParaRPr lang="es-ES" dirty="0"/>
          </a:p>
        </p:txBody>
      </p:sp>
      <p:sp>
        <p:nvSpPr>
          <p:cNvPr id="4" name="Marcador de número de diapositiva 3">
            <a:extLst>
              <a:ext uri="{FF2B5EF4-FFF2-40B4-BE49-F238E27FC236}">
                <a16:creationId xmlns:a16="http://schemas.microsoft.com/office/drawing/2014/main" id="{43D0A554-F314-B7B4-16DC-4171AD26832B}"/>
              </a:ext>
            </a:extLst>
          </p:cNvPr>
          <p:cNvSpPr>
            <a:spLocks noGrp="1"/>
          </p:cNvSpPr>
          <p:nvPr>
            <p:ph type="sldNum" sz="quarter" idx="12"/>
          </p:nvPr>
        </p:nvSpPr>
        <p:spPr/>
        <p:txBody>
          <a:bodyPr/>
          <a:lstStyle/>
          <a:p>
            <a:fld id="{336CAFD0-1F6E-4E11-9822-836563A02839}" type="slidenum">
              <a:rPr lang="es-ES" smtClean="0"/>
              <a:pPr/>
              <a:t>51</a:t>
            </a:fld>
            <a:endParaRPr lang="es-ES" dirty="0"/>
          </a:p>
        </p:txBody>
      </p:sp>
    </p:spTree>
    <p:extLst>
      <p:ext uri="{BB962C8B-B14F-4D97-AF65-F5344CB8AC3E}">
        <p14:creationId xmlns:p14="http://schemas.microsoft.com/office/powerpoint/2010/main" val="19462701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926192-44C9-4BB8-E960-A5AAE6AA6832}"/>
              </a:ext>
            </a:extLst>
          </p:cNvPr>
          <p:cNvSpPr>
            <a:spLocks noGrp="1"/>
          </p:cNvSpPr>
          <p:nvPr>
            <p:ph type="title"/>
          </p:nvPr>
        </p:nvSpPr>
        <p:spPr/>
        <p:txBody>
          <a:bodyPr>
            <a:normAutofit fontScale="90000"/>
          </a:bodyPr>
          <a:lstStyle/>
          <a:p>
            <a:r>
              <a:rPr lang="es-ES" dirty="0"/>
              <a:t>10. Intervalo de confianza para la diferencia de las medias de dos poblaciones. Interpretación</a:t>
            </a:r>
          </a:p>
        </p:txBody>
      </p:sp>
      <p:sp>
        <p:nvSpPr>
          <p:cNvPr id="3" name="Marcador de contenido 2">
            <a:extLst>
              <a:ext uri="{FF2B5EF4-FFF2-40B4-BE49-F238E27FC236}">
                <a16:creationId xmlns:a16="http://schemas.microsoft.com/office/drawing/2014/main" id="{D1B33CCB-1512-B773-C641-94E33C6DF452}"/>
              </a:ext>
            </a:extLst>
          </p:cNvPr>
          <p:cNvSpPr>
            <a:spLocks noGrp="1"/>
          </p:cNvSpPr>
          <p:nvPr>
            <p:ph idx="1"/>
          </p:nvPr>
        </p:nvSpPr>
        <p:spPr/>
        <p:txBody>
          <a:bodyPr/>
          <a:lstStyle/>
          <a:p>
            <a:r>
              <a:rPr lang="es-ES" dirty="0"/>
              <a:t>Si el intervalo de confianza para la diferencia de las medias de dos poblaciones contiene el valor 0, se puede para afirmar que la diferencia de las medias NO es significativa.</a:t>
            </a:r>
          </a:p>
          <a:p>
            <a:r>
              <a:rPr lang="es-ES" dirty="0"/>
              <a:t>Si el intervalo no contiene el valor 0, se puede afirmar que la diferencia entre las medias de ambas poblaciones SÍ es significativa y además:</a:t>
            </a:r>
          </a:p>
          <a:p>
            <a:pPr lvl="1"/>
            <a:r>
              <a:rPr lang="es-ES" dirty="0"/>
              <a:t>Si los extremos del intervalo son negativos, se puede afirmar que el parámetro de la primera población es menor que el de la segunda.</a:t>
            </a:r>
          </a:p>
          <a:p>
            <a:pPr lvl="1"/>
            <a:r>
              <a:rPr lang="es-ES" dirty="0"/>
              <a:t>Si los extremos del intervalo son positivos, se puede afirmar que el parámetro de la primera población es mayor que el de la segunda.</a:t>
            </a:r>
          </a:p>
          <a:p>
            <a:endParaRPr lang="es-ES" dirty="0"/>
          </a:p>
        </p:txBody>
      </p:sp>
      <p:sp>
        <p:nvSpPr>
          <p:cNvPr id="4" name="Marcador de número de diapositiva 3">
            <a:extLst>
              <a:ext uri="{FF2B5EF4-FFF2-40B4-BE49-F238E27FC236}">
                <a16:creationId xmlns:a16="http://schemas.microsoft.com/office/drawing/2014/main" id="{A53C9DC0-79C7-F89F-E7CC-0F4D51AE9B57}"/>
              </a:ext>
            </a:extLst>
          </p:cNvPr>
          <p:cNvSpPr>
            <a:spLocks noGrp="1"/>
          </p:cNvSpPr>
          <p:nvPr>
            <p:ph type="sldNum" sz="quarter" idx="12"/>
          </p:nvPr>
        </p:nvSpPr>
        <p:spPr/>
        <p:txBody>
          <a:bodyPr/>
          <a:lstStyle/>
          <a:p>
            <a:fld id="{336CAFD0-1F6E-4E11-9822-836563A02839}" type="slidenum">
              <a:rPr lang="es-ES" smtClean="0"/>
              <a:pPr/>
              <a:t>52</a:t>
            </a:fld>
            <a:endParaRPr lang="es-ES" dirty="0"/>
          </a:p>
        </p:txBody>
      </p:sp>
    </p:spTree>
    <p:extLst>
      <p:ext uri="{BB962C8B-B14F-4D97-AF65-F5344CB8AC3E}">
        <p14:creationId xmlns:p14="http://schemas.microsoft.com/office/powerpoint/2010/main" val="39995879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AA8AA7-3D16-6D94-3001-C108186C6E9E}"/>
              </a:ext>
            </a:extLst>
          </p:cNvPr>
          <p:cNvSpPr>
            <a:spLocks noGrp="1"/>
          </p:cNvSpPr>
          <p:nvPr>
            <p:ph type="title"/>
          </p:nvPr>
        </p:nvSpPr>
        <p:spPr/>
        <p:txBody>
          <a:bodyPr>
            <a:normAutofit fontScale="90000"/>
          </a:bodyPr>
          <a:lstStyle/>
          <a:p>
            <a:r>
              <a:rPr lang="es-ES" dirty="0"/>
              <a:t>10. Intervalo de confianza para la diferencia de las medias de dos poblaciones. Fórmulas (1)</a:t>
            </a:r>
          </a:p>
        </p:txBody>
      </p:sp>
      <p:sp>
        <p:nvSpPr>
          <p:cNvPr id="4" name="Marcador de número de diapositiva 3">
            <a:extLst>
              <a:ext uri="{FF2B5EF4-FFF2-40B4-BE49-F238E27FC236}">
                <a16:creationId xmlns:a16="http://schemas.microsoft.com/office/drawing/2014/main" id="{A8F86BC0-8C38-CB78-306D-511493FB8355}"/>
              </a:ext>
            </a:extLst>
          </p:cNvPr>
          <p:cNvSpPr>
            <a:spLocks noGrp="1"/>
          </p:cNvSpPr>
          <p:nvPr>
            <p:ph type="sldNum" sz="quarter" idx="12"/>
          </p:nvPr>
        </p:nvSpPr>
        <p:spPr/>
        <p:txBody>
          <a:bodyPr/>
          <a:lstStyle/>
          <a:p>
            <a:fld id="{336CAFD0-1F6E-4E11-9822-836563A02839}" type="slidenum">
              <a:rPr lang="es-ES" smtClean="0"/>
              <a:pPr/>
              <a:t>53</a:t>
            </a:fld>
            <a:endParaRPr lang="es-ES"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2814101176"/>
                  </p:ext>
                </p:extLst>
              </p:nvPr>
            </p:nvGraphicFramePr>
            <p:xfrm>
              <a:off x="838200" y="1825625"/>
              <a:ext cx="10515597" cy="3917696"/>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082800">
                      <a:extLst>
                        <a:ext uri="{9D8B030D-6E8A-4147-A177-3AD203B41FA5}">
                          <a16:colId xmlns:a16="http://schemas.microsoft.com/office/drawing/2014/main" val="1544234520"/>
                        </a:ext>
                      </a:extLst>
                    </a:gridCol>
                    <a:gridCol w="6019797">
                      <a:extLst>
                        <a:ext uri="{9D8B030D-6E8A-4147-A177-3AD203B41FA5}">
                          <a16:colId xmlns:a16="http://schemas.microsoft.com/office/drawing/2014/main" val="906517329"/>
                        </a:ext>
                      </a:extLst>
                    </a:gridCol>
                  </a:tblGrid>
                  <a:tr h="370840">
                    <a:tc>
                      <a:txBody>
                        <a:bodyPr/>
                        <a:lstStyle/>
                        <a:p>
                          <a:pPr algn="ctr"/>
                          <a:r>
                            <a:rPr lang="es-ES" sz="1600" b="1" dirty="0"/>
                            <a:t>Se conocen las varianzas poblacionales (</a:t>
                          </a:r>
                          <a14:m>
                            <m:oMath xmlns:m="http://schemas.openxmlformats.org/officeDocument/2006/math">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rPr>
                                    <m:t>𝑿</m:t>
                                  </m:r>
                                </m:sub>
                                <m:sup>
                                  <m:r>
                                    <a:rPr lang="es-ES" sz="1600" b="1" i="1" smtClean="0">
                                      <a:latin typeface="Cambria Math" panose="02040503050406030204" pitchFamily="18" charset="0"/>
                                    </a:rPr>
                                    <m:t>𝟐</m:t>
                                  </m:r>
                                </m:sup>
                              </m:sSubSup>
                              <m:r>
                                <a:rPr lang="es-ES" sz="1600" b="1" i="1" smtClean="0">
                                  <a:latin typeface="Cambria Math" panose="02040503050406030204" pitchFamily="18" charset="0"/>
                                </a:rPr>
                                <m:t>,</m:t>
                              </m:r>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ea typeface="Cambria Math" panose="02040503050406030204" pitchFamily="18" charset="0"/>
                                    </a:rPr>
                                    <m:t>𝒀</m:t>
                                  </m:r>
                                </m:sub>
                                <m:sup>
                                  <m:r>
                                    <a:rPr lang="es-ES" sz="1600" b="1" i="1" smtClean="0">
                                      <a:latin typeface="Cambria Math" panose="02040503050406030204" pitchFamily="18" charset="0"/>
                                    </a:rPr>
                                    <m:t>𝟐</m:t>
                                  </m:r>
                                </m:sup>
                              </m:sSubSup>
                            </m:oMath>
                          </a14:m>
                          <a:r>
                            <a:rPr lang="es-ES" sz="1600" b="1" dirty="0"/>
                            <a:t>)</a:t>
                          </a:r>
                        </a:p>
                      </a:txBody>
                      <a:tcPr>
                        <a:solidFill>
                          <a:schemeClr val="bg1">
                            <a:lumMod val="85000"/>
                          </a:schemeClr>
                        </a:solidFill>
                      </a:tcPr>
                    </a:tc>
                    <a:tc>
                      <a:txBody>
                        <a:bodyPr/>
                        <a:lstStyle/>
                        <a:p>
                          <a:pPr algn="ctr"/>
                          <a:r>
                            <a:rPr lang="es-ES" sz="1600" b="1" dirty="0"/>
                            <a:t>Tamaño de las muestras</a:t>
                          </a:r>
                          <a:br>
                            <a:rPr lang="es-ES" sz="1600" b="1" dirty="0"/>
                          </a:b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sz="1600" dirty="0"/>
                            <a:t>Si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Cualquiera</a:t>
                          </a:r>
                        </a:p>
                        <a:p>
                          <a:pPr algn="ctr"/>
                          <a:endParaRPr lang="es-ES" sz="1600" dirty="0"/>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𝑖</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i="1" kern="1200">
                                    <a:solidFill>
                                      <a:schemeClr val="tx1"/>
                                    </a:solidFill>
                                    <a:effectLst/>
                                    <a:latin typeface="Cambria Math" panose="02040503050406030204" pitchFamily="18" charset="0"/>
                                    <a:ea typeface="+mn-ea"/>
                                    <a:cs typeface="+mn-cs"/>
                                  </a:rPr>
                                  <m:t>−</m:t>
                                </m:r>
                                <m:sSub>
                                  <m:sSubPr>
                                    <m:ctrlPr>
                                      <a:rPr lang="es-ES" sz="1600" i="1" kern="1200">
                                        <a:solidFill>
                                          <a:schemeClr val="tx1"/>
                                        </a:solidFill>
                                        <a:effectLst/>
                                        <a:latin typeface="Cambria Math" panose="02040503050406030204" pitchFamily="18" charset="0"/>
                                        <a:ea typeface="+mn-ea"/>
                                        <a:cs typeface="+mn-cs"/>
                                      </a:rPr>
                                    </m:ctrlPr>
                                  </m:sSubPr>
                                  <m:e>
                                    <m:r>
                                      <a:rPr lang="es-ES" sz="1600" i="1" kern="1200">
                                        <a:solidFill>
                                          <a:schemeClr val="tx1"/>
                                        </a:solidFill>
                                        <a:effectLst/>
                                        <a:latin typeface="Cambria Math" panose="02040503050406030204" pitchFamily="18" charset="0"/>
                                        <a:ea typeface="+mn-ea"/>
                                        <a:cs typeface="+mn-cs"/>
                                      </a:rPr>
                                      <m:t>𝑧</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𝑠</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b="0" i="1" kern="1200" smtClean="0">
                                    <a:solidFill>
                                      <a:schemeClr val="tx1"/>
                                    </a:solidFill>
                                    <a:effectLst/>
                                    <a:latin typeface="Cambria Math" panose="02040503050406030204" pitchFamily="18" charset="0"/>
                                    <a:ea typeface="+mn-ea"/>
                                    <a:cs typeface="+mn-cs"/>
                                  </a:rPr>
                                  <m:t>+</m:t>
                                </m:r>
                                <m:sSub>
                                  <m:sSubPr>
                                    <m:ctrlPr>
                                      <a:rPr lang="es-ES" sz="1600" i="1" kern="1200">
                                        <a:solidFill>
                                          <a:schemeClr val="tx1"/>
                                        </a:solidFill>
                                        <a:effectLst/>
                                        <a:latin typeface="Cambria Math" panose="02040503050406030204" pitchFamily="18" charset="0"/>
                                        <a:ea typeface="+mn-ea"/>
                                        <a:cs typeface="+mn-cs"/>
                                      </a:rPr>
                                    </m:ctrlPr>
                                  </m:sSubPr>
                                  <m:e>
                                    <m:r>
                                      <a:rPr lang="es-ES" sz="1600" i="1" kern="1200">
                                        <a:solidFill>
                                          <a:schemeClr val="tx1"/>
                                        </a:solidFill>
                                        <a:effectLst/>
                                        <a:latin typeface="Cambria Math" panose="02040503050406030204" pitchFamily="18" charset="0"/>
                                        <a:ea typeface="+mn-ea"/>
                                        <a:cs typeface="+mn-cs"/>
                                      </a:rPr>
                                      <m:t>𝑧</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947291719"/>
                      </a:ext>
                    </a:extLst>
                  </a:tr>
                  <a:tr h="370840">
                    <a:tc>
                      <a:txBody>
                        <a:bodyPr/>
                        <a:lstStyle/>
                        <a:p>
                          <a:pPr algn="ctr"/>
                          <a:r>
                            <a:rPr lang="es-ES" sz="1600" dirty="0"/>
                            <a:t>No</a:t>
                          </a:r>
                        </a:p>
                      </a:txBody>
                      <a:tcPr anchor="ctr"/>
                    </a:tc>
                    <a:tc>
                      <a:txBody>
                        <a:bodyPr/>
                        <a:lstStyle/>
                        <a:p>
                          <a:pPr algn="ctr"/>
                          <a:r>
                            <a:rPr lang="es-ES" sz="1600" dirty="0"/>
                            <a:t>Grande</a:t>
                          </a:r>
                        </a:p>
                      </a:txBody>
                      <a:tcPr anchor="ctr"/>
                    </a:tc>
                    <a:tc>
                      <a:txBody>
                        <a:bodyPr/>
                        <a:lstStyle/>
                        <a:p>
                          <a:pPr algn="ctr"/>
                          <a:r>
                            <a:rPr lang="es-ES" sz="1600" dirty="0"/>
                            <a:t>Se sustituyen las varianzas poblacionales por las muestrales</a:t>
                          </a:r>
                          <a:endParaRPr lang="es-ES" sz="16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𝑖</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i="1" kern="1200">
                                    <a:solidFill>
                                      <a:schemeClr val="tx1"/>
                                    </a:solidFill>
                                    <a:effectLst/>
                                    <a:latin typeface="Cambria Math" panose="02040503050406030204" pitchFamily="18" charset="0"/>
                                    <a:ea typeface="+mn-ea"/>
                                    <a:cs typeface="+mn-cs"/>
                                  </a:rPr>
                                  <m:t>−</m:t>
                                </m:r>
                                <m:sSub>
                                  <m:sSubPr>
                                    <m:ctrlPr>
                                      <a:rPr lang="es-ES" sz="1600" i="1" kern="1200">
                                        <a:solidFill>
                                          <a:schemeClr val="tx1"/>
                                        </a:solidFill>
                                        <a:effectLst/>
                                        <a:latin typeface="Cambria Math" panose="02040503050406030204" pitchFamily="18" charset="0"/>
                                        <a:ea typeface="+mn-ea"/>
                                        <a:cs typeface="+mn-cs"/>
                                      </a:rPr>
                                    </m:ctrlPr>
                                  </m:sSubPr>
                                  <m:e>
                                    <m:r>
                                      <a:rPr lang="es-ES" sz="1600" i="1" kern="1200">
                                        <a:solidFill>
                                          <a:schemeClr val="tx1"/>
                                        </a:solidFill>
                                        <a:effectLst/>
                                        <a:latin typeface="Cambria Math" panose="02040503050406030204" pitchFamily="18" charset="0"/>
                                        <a:ea typeface="+mn-ea"/>
                                        <a:cs typeface="+mn-cs"/>
                                      </a:rPr>
                                      <m:t>𝑧</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p>
                          <a:pPr algn="ctr"/>
                          <a:r>
                            <a:rPr lang="es-ES" sz="1600" kern="1200" dirty="0">
                              <a:solidFill>
                                <a:schemeClr val="tx1"/>
                              </a:solidFill>
                              <a:effectLst/>
                              <a:latin typeface="+mn-lt"/>
                              <a:ea typeface="+mn-ea"/>
                              <a:cs typeface="+mn-cs"/>
                            </a:rPr>
                            <a:t> </a:t>
                          </a:r>
                          <a14:m>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𝑠</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b="0" i="1" kern="1200" smtClean="0">
                                  <a:solidFill>
                                    <a:schemeClr val="tx1"/>
                                  </a:solidFill>
                                  <a:effectLst/>
                                  <a:latin typeface="Cambria Math" panose="02040503050406030204" pitchFamily="18" charset="0"/>
                                  <a:ea typeface="+mn-ea"/>
                                  <a:cs typeface="+mn-cs"/>
                                </a:rPr>
                                <m:t>+</m:t>
                              </m:r>
                              <m:sSub>
                                <m:sSubPr>
                                  <m:ctrlPr>
                                    <a:rPr lang="es-ES" sz="1600" i="1" kern="1200">
                                      <a:solidFill>
                                        <a:schemeClr val="tx1"/>
                                      </a:solidFill>
                                      <a:effectLst/>
                                      <a:latin typeface="Cambria Math" panose="02040503050406030204" pitchFamily="18" charset="0"/>
                                      <a:ea typeface="+mn-ea"/>
                                      <a:cs typeface="+mn-cs"/>
                                    </a:rPr>
                                  </m:ctrlPr>
                                </m:sSubPr>
                                <m:e>
                                  <m:r>
                                    <a:rPr lang="es-ES" sz="1600" i="1" kern="1200">
                                      <a:solidFill>
                                        <a:schemeClr val="tx1"/>
                                      </a:solidFill>
                                      <a:effectLst/>
                                      <a:latin typeface="Cambria Math" panose="02040503050406030204" pitchFamily="18" charset="0"/>
                                      <a:ea typeface="+mn-ea"/>
                                      <a:cs typeface="+mn-cs"/>
                                    </a:rPr>
                                    <m:t>𝑧</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a14:m>
                          <a:endParaRPr lang="es-ES" sz="16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76150309"/>
                      </a:ext>
                    </a:extLst>
                  </a:tr>
                </a:tbl>
              </a:graphicData>
            </a:graphic>
          </p:graphicFrame>
        </mc:Choice>
        <mc:Fallback xmlns="">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2814101176"/>
                  </p:ext>
                </p:extLst>
              </p:nvPr>
            </p:nvGraphicFramePr>
            <p:xfrm>
              <a:off x="838200" y="1825625"/>
              <a:ext cx="10515597" cy="3917696"/>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082800">
                      <a:extLst>
                        <a:ext uri="{9D8B030D-6E8A-4147-A177-3AD203B41FA5}">
                          <a16:colId xmlns:a16="http://schemas.microsoft.com/office/drawing/2014/main" val="1544234520"/>
                        </a:ext>
                      </a:extLst>
                    </a:gridCol>
                    <a:gridCol w="6019797">
                      <a:extLst>
                        <a:ext uri="{9D8B030D-6E8A-4147-A177-3AD203B41FA5}">
                          <a16:colId xmlns:a16="http://schemas.microsoft.com/office/drawing/2014/main" val="906517329"/>
                        </a:ext>
                      </a:extLst>
                    </a:gridCol>
                  </a:tblGrid>
                  <a:tr h="822960">
                    <a:tc>
                      <a:txBody>
                        <a:bodyPr/>
                        <a:lstStyle/>
                        <a:p>
                          <a:endParaRPr lang="es-ES"/>
                        </a:p>
                      </a:txBody>
                      <a:tcPr>
                        <a:blipFill>
                          <a:blip r:embed="rId2"/>
                          <a:stretch>
                            <a:fillRect l="-253" t="-2222" r="-336364" b="-378519"/>
                          </a:stretch>
                        </a:blipFill>
                      </a:tcPr>
                    </a:tc>
                    <a:tc>
                      <a:txBody>
                        <a:bodyPr/>
                        <a:lstStyle/>
                        <a:p>
                          <a:pPr algn="ctr"/>
                          <a:r>
                            <a:rPr lang="es-ES" sz="1600" b="1" dirty="0"/>
                            <a:t>Tamaño de las muestras</a:t>
                          </a:r>
                          <a:br>
                            <a:rPr lang="es-ES" sz="1600" b="1" dirty="0"/>
                          </a:b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1532382">
                    <a:tc>
                      <a:txBody>
                        <a:bodyPr/>
                        <a:lstStyle/>
                        <a:p>
                          <a:pPr algn="ctr"/>
                          <a:r>
                            <a:rPr lang="es-ES" sz="1600" dirty="0"/>
                            <a:t>Si</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Cualquiera</a:t>
                          </a:r>
                        </a:p>
                        <a:p>
                          <a:pPr algn="ctr"/>
                          <a:endParaRPr lang="es-ES" sz="1600" dirty="0"/>
                        </a:p>
                      </a:txBody>
                      <a:tcPr anchor="ctr"/>
                    </a:tc>
                    <a:tc>
                      <a:txBody>
                        <a:bodyPr/>
                        <a:lstStyle/>
                        <a:p>
                          <a:endParaRPr lang="es-ES"/>
                        </a:p>
                      </a:txBody>
                      <a:tcPr anchor="ctr">
                        <a:blipFill>
                          <a:blip r:embed="rId2"/>
                          <a:stretch>
                            <a:fillRect l="-74798" t="-54762" r="-202" b="-102778"/>
                          </a:stretch>
                        </a:blipFill>
                      </a:tcPr>
                    </a:tc>
                    <a:extLst>
                      <a:ext uri="{0D108BD9-81ED-4DB2-BD59-A6C34878D82A}">
                        <a16:rowId xmlns:a16="http://schemas.microsoft.com/office/drawing/2014/main" val="947291719"/>
                      </a:ext>
                    </a:extLst>
                  </a:tr>
                  <a:tr h="1562354">
                    <a:tc>
                      <a:txBody>
                        <a:bodyPr/>
                        <a:lstStyle/>
                        <a:p>
                          <a:pPr algn="ctr"/>
                          <a:r>
                            <a:rPr lang="es-ES" sz="1600" dirty="0"/>
                            <a:t>No</a:t>
                          </a:r>
                        </a:p>
                      </a:txBody>
                      <a:tcPr anchor="ctr"/>
                    </a:tc>
                    <a:tc>
                      <a:txBody>
                        <a:bodyPr/>
                        <a:lstStyle/>
                        <a:p>
                          <a:pPr algn="ctr"/>
                          <a:r>
                            <a:rPr lang="es-ES" sz="1600" dirty="0"/>
                            <a:t>Grande</a:t>
                          </a:r>
                        </a:p>
                      </a:txBody>
                      <a:tcPr anchor="ctr"/>
                    </a:tc>
                    <a:tc>
                      <a:txBody>
                        <a:bodyPr/>
                        <a:lstStyle/>
                        <a:p>
                          <a:endParaRPr lang="es-ES"/>
                        </a:p>
                      </a:txBody>
                      <a:tcPr anchor="ctr">
                        <a:blipFill>
                          <a:blip r:embed="rId2"/>
                          <a:stretch>
                            <a:fillRect l="-74798" t="-151751" r="-202" b="-778"/>
                          </a:stretch>
                        </a:blipFill>
                      </a:tcPr>
                    </a:tc>
                    <a:extLst>
                      <a:ext uri="{0D108BD9-81ED-4DB2-BD59-A6C34878D82A}">
                        <a16:rowId xmlns:a16="http://schemas.microsoft.com/office/drawing/2014/main" val="176150309"/>
                      </a:ext>
                    </a:extLst>
                  </a:tr>
                </a:tbl>
              </a:graphicData>
            </a:graphic>
          </p:graphicFrame>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792117D-9D21-C38C-1EC3-3B042134E76B}"/>
                  </a:ext>
                </a:extLst>
              </p:cNvPr>
              <p:cNvSpPr txBox="1"/>
              <p:nvPr/>
            </p:nvSpPr>
            <p:spPr>
              <a:xfrm>
                <a:off x="838199" y="5878258"/>
                <a:ext cx="8116229" cy="499945"/>
              </a:xfrm>
              <a:prstGeom prst="rect">
                <a:avLst/>
              </a:prstGeom>
              <a:noFill/>
            </p:spPr>
            <p:txBody>
              <a:bodyPr wrap="square">
                <a:spAutoFit/>
              </a:bodyPr>
              <a:lstStyle/>
              <a:p>
                <a14:m>
                  <m:oMath xmlns:m="http://schemas.openxmlformats.org/officeDocument/2006/math">
                    <m:sSub>
                      <m:sSubPr>
                        <m:ctrlPr>
                          <a:rPr lang="es-ES" sz="1600" i="1" smtClean="0">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𝑧</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sub>
                    </m:sSub>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𝑐𝑢𝑎𝑛𝑡𝑖𝑙</m:t>
                    </m:r>
                    <m:d>
                      <m:dPr>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l-GR"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e>
                    </m:d>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de</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Z</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N</m:t>
                    </m:r>
                    <m:d>
                      <m:dPr>
                        <m:ctrlPr>
                          <a:rPr lang="es-ES" sz="1600" i="1">
                            <a:effectLst/>
                            <a:latin typeface="Cambria Math" panose="02040503050406030204" pitchFamily="18" charset="0"/>
                          </a:rPr>
                        </m:ctrlPr>
                      </m:dPr>
                      <m:e>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0,1</m:t>
                        </m:r>
                      </m:e>
                    </m:d>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𝑃</m:t>
                    </m:r>
                    <m:d>
                      <m:dPr>
                        <m:begChr m:val="{"/>
                        <m:endChr m:val="}"/>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𝑍</m:t>
                        </m:r>
                        <m:r>
                          <a:rPr lang="es-ES" sz="1600" i="1">
                            <a:effectLst/>
                            <a:latin typeface="Cambria Math" panose="02040503050406030204" pitchFamily="18" charset="0"/>
                            <a:ea typeface="Calibri" panose="020F0502020204030204" pitchFamily="34" charset="0"/>
                            <a:cs typeface="Times New Roman" panose="02020603050405020304" pitchFamily="18" charset="0"/>
                          </a:rPr>
                          <m:t>&lt;</m:t>
                        </m:r>
                        <m:sSub>
                          <m:sSubPr>
                            <m:ctrlPr>
                              <a:rPr lang="es-ES" sz="1600" i="1">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𝑧</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sub>
                        </m:sSub>
                      </m:e>
                    </m:d>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s-ES" sz="1600" dirty="0">
                    <a:effectLst/>
                    <a:latin typeface="Calibri" panose="020F0502020204030204" pitchFamily="34" charset="0"/>
                    <a:ea typeface="Times New Roman" panose="02020603050405020304" pitchFamily="18" charset="0"/>
                    <a:cs typeface="Times New Roman" panose="02020603050405020304" pitchFamily="18" charset="0"/>
                  </a:rPr>
                  <a:t>     (Tabla A4)</a:t>
                </a:r>
                <a:endParaRPr lang="es-ES" sz="1600" dirty="0"/>
              </a:p>
            </p:txBody>
          </p:sp>
        </mc:Choice>
        <mc:Fallback xmlns="">
          <p:sp>
            <p:nvSpPr>
              <p:cNvPr id="17" name="CuadroTexto 16">
                <a:extLst>
                  <a:ext uri="{FF2B5EF4-FFF2-40B4-BE49-F238E27FC236}">
                    <a16:creationId xmlns:a16="http://schemas.microsoft.com/office/drawing/2014/main" id="{2792117D-9D21-C38C-1EC3-3B042134E76B}"/>
                  </a:ext>
                </a:extLst>
              </p:cNvPr>
              <p:cNvSpPr txBox="1">
                <a:spLocks noRot="1" noChangeAspect="1" noMove="1" noResize="1" noEditPoints="1" noAdjustHandles="1" noChangeArrowheads="1" noChangeShapeType="1" noTextEdit="1"/>
              </p:cNvSpPr>
              <p:nvPr/>
            </p:nvSpPr>
            <p:spPr>
              <a:xfrm>
                <a:off x="838199" y="5878258"/>
                <a:ext cx="8116229" cy="499945"/>
              </a:xfrm>
              <a:prstGeom prst="rect">
                <a:avLst/>
              </a:prstGeom>
              <a:blipFill>
                <a:blip r:embed="rId3"/>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405933475"/>
      </p:ext>
    </p:extLst>
  </p:cSld>
  <p:clrMapOvr>
    <a:masterClrMapping/>
  </p:clrMapOvr>
  <mc:AlternateContent xmlns:mc="http://schemas.openxmlformats.org/markup-compatibility/2006" xmlns:p14="http://schemas.microsoft.com/office/powerpoint/2010/main">
    <mc:Choice Requires="p14">
      <p:transition spd="slow" p14:dur="2000" advTm="112642"/>
    </mc:Choice>
    <mc:Fallback xmlns="">
      <p:transition spd="slow" advTm="112642"/>
    </mc:Fallback>
  </mc:AlternateContent>
  <p:extLst>
    <p:ext uri="{3A86A75C-4F4B-4683-9AE1-C65F6400EC91}">
      <p14:laserTraceLst xmlns:p14="http://schemas.microsoft.com/office/powerpoint/2010/main">
        <p14:tracePtLst>
          <p14:tracePt t="5269" x="7038975" y="3101975"/>
          <p14:tracePt t="5345" x="7031038" y="3101975"/>
          <p14:tracePt t="5353" x="7013575" y="3109913"/>
          <p14:tracePt t="5369" x="6996113" y="3119438"/>
          <p14:tracePt t="5377" x="6986588" y="3127375"/>
          <p14:tracePt t="5393" x="6969125" y="3144838"/>
          <p14:tracePt t="5402" x="6961188" y="3144838"/>
          <p14:tracePt t="5419" x="6934200" y="3171825"/>
          <p14:tracePt t="5435" x="6916738" y="3189288"/>
          <p14:tracePt t="5452" x="6908800" y="3232150"/>
          <p14:tracePt t="5469" x="6864350" y="3259138"/>
          <p14:tracePt t="5485" x="6838950" y="3302000"/>
          <p14:tracePt t="5502" x="6821488" y="3354388"/>
          <p14:tracePt t="5519" x="6811963" y="3371850"/>
          <p14:tracePt t="5535" x="6786563" y="3406775"/>
          <p14:tracePt t="5537" x="6777038" y="3416300"/>
          <p14:tracePt t="5552" x="6777038" y="3441700"/>
          <p14:tracePt t="5553" x="6759575" y="3451225"/>
          <p14:tracePt t="5569" x="6742113" y="3476625"/>
          <p14:tracePt t="5585" x="6734175" y="3503613"/>
          <p14:tracePt t="5602" x="6724650" y="3529013"/>
          <p14:tracePt t="5619" x="6724650" y="3546475"/>
          <p14:tracePt t="5635" x="6716713" y="3590925"/>
          <p14:tracePt t="5652" x="6716713" y="3616325"/>
          <p14:tracePt t="5668" x="6707188" y="3643313"/>
          <p14:tracePt t="5685" x="6707188" y="3668713"/>
          <p14:tracePt t="5702" x="6707188" y="3721100"/>
          <p14:tracePt t="5719" x="6707188" y="3773488"/>
          <p14:tracePt t="5735" x="6724650" y="3835400"/>
          <p14:tracePt t="5737" x="6734175" y="3852863"/>
          <p14:tracePt t="5752" x="6742113" y="3870325"/>
          <p14:tracePt t="5753" x="6759575" y="3905250"/>
          <p14:tracePt t="5769" x="6786563" y="3983038"/>
          <p14:tracePt t="5785" x="6811963" y="4044950"/>
          <p14:tracePt t="5802" x="6856413" y="4105275"/>
          <p14:tracePt t="5818" x="6891338" y="4141788"/>
          <p14:tracePt t="5835" x="6926263" y="4184650"/>
          <p14:tracePt t="5852" x="6961188" y="4202113"/>
          <p14:tracePt t="5869" x="6986588" y="4246563"/>
          <p14:tracePt t="5885" x="7021513" y="4281488"/>
          <p14:tracePt t="5902" x="7083425" y="4341813"/>
          <p14:tracePt t="5919" x="7135813" y="4394200"/>
          <p14:tracePt t="5935" x="7213600" y="4446588"/>
          <p14:tracePt t="5952" x="7335838" y="4498975"/>
          <p14:tracePt t="5953" x="7345363" y="4525963"/>
          <p14:tracePt t="5969" x="7397750" y="4533900"/>
          <p14:tracePt t="5985" x="7415213" y="4543425"/>
          <p14:tracePt t="6002" x="7432675" y="4543425"/>
          <p14:tracePt t="6018" x="7450138" y="4560888"/>
          <p14:tracePt t="6035" x="7485063" y="4578350"/>
          <p14:tracePt t="6052" x="7554913" y="4586288"/>
          <p14:tracePt t="6069" x="7632700" y="4586288"/>
          <p14:tracePt t="6085" x="7764463" y="4603750"/>
          <p14:tracePt t="6102" x="7816850" y="4613275"/>
          <p14:tracePt t="6119" x="7869238" y="4621213"/>
          <p14:tracePt t="6135" x="7929563" y="4638675"/>
          <p14:tracePt t="6137" x="7974013" y="4638675"/>
          <p14:tracePt t="6152" x="8034338" y="4638675"/>
          <p14:tracePt t="6153" x="8148638" y="4648200"/>
          <p14:tracePt t="6169" x="8428038" y="4665663"/>
          <p14:tracePt t="6185" x="8672513" y="4665663"/>
          <p14:tracePt t="6202" x="8969375" y="4665663"/>
          <p14:tracePt t="6218" x="9205913" y="4665663"/>
          <p14:tracePt t="6235" x="9363075" y="4665663"/>
          <p14:tracePt t="6252" x="9458325" y="4665663"/>
          <p14:tracePt t="6269" x="9520238" y="4665663"/>
          <p14:tracePt t="6285" x="9555163" y="4648200"/>
          <p14:tracePt t="6302" x="9598025" y="4613275"/>
          <p14:tracePt t="6318" x="9650413" y="4551363"/>
          <p14:tracePt t="6335" x="9702800" y="4508500"/>
          <p14:tracePt t="6337" x="9729788" y="4481513"/>
          <p14:tracePt t="6352" x="9764713" y="4456113"/>
          <p14:tracePt t="6353" x="9782175" y="4446588"/>
          <p14:tracePt t="6369" x="9842500" y="4394200"/>
          <p14:tracePt t="6385" x="9869488" y="4333875"/>
          <p14:tracePt t="6402" x="9886950" y="4202113"/>
          <p14:tracePt t="6419" x="9894888" y="3930650"/>
          <p14:tracePt t="6435" x="9869488" y="3633788"/>
          <p14:tracePt t="6452" x="9729788" y="3259138"/>
          <p14:tracePt t="6469" x="9615488" y="3057525"/>
          <p14:tracePt t="6485" x="9485313" y="2909888"/>
          <p14:tracePt t="6502" x="9310688" y="2752725"/>
          <p14:tracePt t="6519" x="9205913" y="2698750"/>
          <p14:tracePt t="6535" x="9153525" y="2646363"/>
          <p14:tracePt t="6552" x="9099550" y="2620963"/>
          <p14:tracePt t="6553" x="9074150" y="2603500"/>
          <p14:tracePt t="6569" x="8986838" y="2541588"/>
          <p14:tracePt t="6585" x="8855075" y="2516188"/>
          <p14:tracePt t="6602" x="8707438" y="2498725"/>
          <p14:tracePt t="6618" x="8645525" y="2489200"/>
          <p14:tracePt t="6635" x="8593138" y="2489200"/>
          <p14:tracePt t="6652" x="8575675" y="2489200"/>
          <p14:tracePt t="6668" x="8567738" y="2489200"/>
          <p14:tracePt t="6730" x="0" y="0"/>
        </p14:tracePtLst>
        <p14:tracePtLst>
          <p14:tracePt t="11813" x="2479675" y="2795588"/>
          <p14:tracePt t="11953" x="2471738" y="2795588"/>
          <p14:tracePt t="11961" x="2462213" y="2795588"/>
          <p14:tracePt t="11969" x="2454275" y="2787650"/>
          <p14:tracePt t="11985" x="2419350" y="2770188"/>
          <p14:tracePt t="12001" x="2384425" y="2733675"/>
          <p14:tracePt t="12018" x="2339975" y="2673350"/>
          <p14:tracePt t="12034" x="2305050" y="2628900"/>
          <p14:tracePt t="12051" x="2297113" y="2576513"/>
          <p14:tracePt t="12068" x="2287588" y="2524125"/>
          <p14:tracePt t="12084" x="2279650" y="2498725"/>
          <p14:tracePt t="12102" x="2279650" y="2481263"/>
          <p14:tracePt t="12118" x="2279650" y="2463800"/>
          <p14:tracePt t="12134" x="2279650" y="2454275"/>
          <p14:tracePt t="12151" x="2279650" y="2446338"/>
          <p14:tracePt t="12168" x="2279650" y="2419350"/>
          <p14:tracePt t="12185" x="2297113" y="2393950"/>
          <p14:tracePt t="12202" x="2305050" y="2384425"/>
          <p14:tracePt t="12218" x="2322513" y="2366963"/>
          <p14:tracePt t="12241" x="2332038" y="2359025"/>
          <p14:tracePt t="12265" x="2339975" y="2359025"/>
          <p14:tracePt t="12273" x="2339975" y="2349500"/>
          <p14:tracePt t="12297" x="2349500" y="2349500"/>
          <p14:tracePt t="12321" x="2349500" y="2341563"/>
          <p14:tracePt t="12329" x="2357438" y="2341563"/>
          <p14:tracePt t="12337" x="2366963" y="2341563"/>
          <p14:tracePt t="12351" x="2366963" y="2332038"/>
          <p14:tracePt t="12368" x="2374900" y="2324100"/>
          <p14:tracePt t="12370" x="2384425" y="2324100"/>
          <p14:tracePt t="12385" x="2401888" y="2324100"/>
          <p14:tracePt t="12401" x="2409825" y="2324100"/>
          <p14:tracePt t="12418" x="2419350" y="2314575"/>
          <p14:tracePt t="12434" x="2427288" y="2314575"/>
          <p14:tracePt t="12451" x="2454275" y="2314575"/>
          <p14:tracePt t="12468" x="2479675" y="2314575"/>
          <p14:tracePt t="12484" x="2497138" y="2314575"/>
          <p14:tracePt t="12501" x="2514600" y="2314575"/>
          <p14:tracePt t="12518" x="2532063" y="2314575"/>
          <p14:tracePt t="12534" x="2541588" y="2314575"/>
          <p14:tracePt t="12551" x="2559050" y="2314575"/>
          <p14:tracePt t="12569" x="2566988" y="2314575"/>
          <p14:tracePt t="12585" x="2584450" y="2314575"/>
          <p14:tracePt t="12601" x="2601913" y="2332038"/>
          <p14:tracePt t="12617" x="2619375" y="2341563"/>
          <p14:tracePt t="12634" x="2636838" y="2341563"/>
          <p14:tracePt t="12651" x="2646363" y="2366963"/>
          <p14:tracePt t="12668" x="2654300" y="2376488"/>
          <p14:tracePt t="12684" x="2671763" y="2393950"/>
          <p14:tracePt t="12701" x="2681288" y="2419350"/>
          <p14:tracePt t="12718" x="2681288" y="2436813"/>
          <p14:tracePt t="12735" x="2681288" y="2454275"/>
          <p14:tracePt t="12751" x="2681288" y="2471738"/>
          <p14:tracePt t="12768" x="2681288" y="2489200"/>
          <p14:tracePt t="12769" x="2681288" y="2498725"/>
          <p14:tracePt t="12785" x="2681288" y="2524125"/>
          <p14:tracePt t="12801" x="2681288" y="2551113"/>
          <p14:tracePt t="12817" x="2681288" y="2568575"/>
          <p14:tracePt t="12834" x="2681288" y="2593975"/>
          <p14:tracePt t="12851" x="2681288" y="2611438"/>
          <p14:tracePt t="12868" x="2671763" y="2628900"/>
          <p14:tracePt t="12884" x="2654300" y="2663825"/>
          <p14:tracePt t="12901" x="2654300" y="2708275"/>
          <p14:tracePt t="12918" x="2636838" y="2733675"/>
          <p14:tracePt t="12934" x="2636838" y="2743200"/>
          <p14:tracePt t="12951" x="2628900" y="2743200"/>
          <p14:tracePt t="12969" x="2628900" y="2752725"/>
          <p14:tracePt t="13290" x="0" y="0"/>
        </p14:tracePtLst>
        <p14:tracePtLst>
          <p14:tracePt t="13789" x="2916238" y="2690813"/>
          <p14:tracePt t="13857" x="2908300" y="2690813"/>
          <p14:tracePt t="13865" x="2898775" y="2690813"/>
          <p14:tracePt t="13873" x="2890838" y="2681288"/>
          <p14:tracePt t="13889" x="2881313" y="2673350"/>
          <p14:tracePt t="13901" x="2863850" y="2673350"/>
          <p14:tracePt t="13917" x="2855913" y="2663825"/>
          <p14:tracePt t="13934" x="2803525" y="2628900"/>
          <p14:tracePt t="13951" x="2768600" y="2576513"/>
          <p14:tracePt t="13967" x="2716213" y="2516188"/>
          <p14:tracePt t="13984" x="2706688" y="2481263"/>
          <p14:tracePt t="13985" x="2706688" y="2471738"/>
          <p14:tracePt t="14001" x="2706688" y="2446338"/>
          <p14:tracePt t="14018" x="2698750" y="2428875"/>
          <p14:tracePt t="14034" x="2698750" y="2401888"/>
          <p14:tracePt t="14051" x="2698750" y="2384425"/>
          <p14:tracePt t="14067" x="2716213" y="2366963"/>
          <p14:tracePt t="14084" x="2724150" y="2359025"/>
          <p14:tracePt t="14101" x="2741613" y="2359025"/>
          <p14:tracePt t="14117" x="2751138" y="2349500"/>
          <p14:tracePt t="14134" x="2759075" y="2349500"/>
          <p14:tracePt t="14153" x="2768600" y="2349500"/>
          <p14:tracePt t="14169" x="2776538" y="2349500"/>
          <p14:tracePt t="14184" x="2786063" y="2349500"/>
          <p14:tracePt t="14201" x="2811463" y="2359025"/>
          <p14:tracePt t="14217" x="2855913" y="2376488"/>
          <p14:tracePt t="14234" x="2908300" y="2411413"/>
          <p14:tracePt t="14251" x="2960688" y="2454275"/>
          <p14:tracePt t="14267" x="3003550" y="2506663"/>
          <p14:tracePt t="14284" x="3030538" y="2533650"/>
          <p14:tracePt t="14301" x="3038475" y="2559050"/>
          <p14:tracePt t="14317" x="3048000" y="2568575"/>
          <p14:tracePt t="14334" x="3057525" y="2586038"/>
          <p14:tracePt t="14351" x="3057525" y="2603500"/>
          <p14:tracePt t="14367" x="3057525" y="2620963"/>
          <p14:tracePt t="14384" x="3038475" y="2655888"/>
          <p14:tracePt t="14385" x="3030538" y="2655888"/>
          <p14:tracePt t="14401" x="3003550" y="2690813"/>
          <p14:tracePt t="14417" x="2978150" y="2708275"/>
          <p14:tracePt t="14434" x="2951163" y="2733675"/>
          <p14:tracePt t="14450" x="2925763" y="2743200"/>
          <p14:tracePt t="14467" x="2916238" y="2752725"/>
          <p14:tracePt t="14714" x="0" y="0"/>
        </p14:tracePtLst>
        <p14:tracePtLst>
          <p14:tracePt t="18701" x="2532063" y="2733675"/>
          <p14:tracePt t="18729" x="2524125" y="2733675"/>
          <p14:tracePt t="18745" x="2514600" y="2733675"/>
          <p14:tracePt t="18754" x="2506663" y="2733675"/>
          <p14:tracePt t="18761" x="2497138" y="2733675"/>
          <p14:tracePt t="18777" x="2489200" y="2733675"/>
          <p14:tracePt t="18785" x="2471738" y="2725738"/>
          <p14:tracePt t="18800" x="2436813" y="2716213"/>
          <p14:tracePt t="18801" x="2427288" y="2708275"/>
          <p14:tracePt t="18817" x="2366963" y="2681288"/>
          <p14:tracePt t="18833" x="2322513" y="2655888"/>
          <p14:tracePt t="18850" x="2262188" y="2586038"/>
          <p14:tracePt t="18866" x="2235200" y="2551113"/>
          <p14:tracePt t="18883" x="2227263" y="2516188"/>
          <p14:tracePt t="18900" x="2217738" y="2498725"/>
          <p14:tracePt t="18916" x="2209800" y="2481263"/>
          <p14:tracePt t="18933" x="2209800" y="2454275"/>
          <p14:tracePt t="18950" x="2209800" y="2428875"/>
          <p14:tracePt t="18967" x="2217738" y="2401888"/>
          <p14:tracePt t="18983" x="2244725" y="2384425"/>
          <p14:tracePt t="19000" x="2279650" y="2341563"/>
          <p14:tracePt t="19001" x="2305050" y="2324100"/>
          <p14:tracePt t="19017" x="2357438" y="2306638"/>
          <p14:tracePt t="19033" x="2392363" y="2279650"/>
          <p14:tracePt t="19050" x="2436813" y="2271713"/>
          <p14:tracePt t="19067" x="2454275" y="2271713"/>
          <p14:tracePt t="19083" x="2462213" y="2262188"/>
          <p14:tracePt t="19100" x="2479675" y="2262188"/>
          <p14:tracePt t="19116" x="2489200" y="2262188"/>
          <p14:tracePt t="19133" x="2514600" y="2271713"/>
          <p14:tracePt t="19150" x="2549525" y="2271713"/>
          <p14:tracePt t="19167" x="2576513" y="2279650"/>
          <p14:tracePt t="19183" x="2601913" y="2306638"/>
          <p14:tracePt t="19200" x="2619375" y="2314575"/>
          <p14:tracePt t="19201" x="2628900" y="2314575"/>
          <p14:tracePt t="19217" x="2636838" y="2341563"/>
          <p14:tracePt t="19233" x="2646363" y="2384425"/>
          <p14:tracePt t="19250" x="2654300" y="2419350"/>
          <p14:tracePt t="19267" x="2654300" y="2481263"/>
          <p14:tracePt t="19283" x="2654300" y="2506663"/>
          <p14:tracePt t="19300" x="2654300" y="2516188"/>
          <p14:tracePt t="19316" x="2654300" y="2541588"/>
          <p14:tracePt t="19333" x="2654300" y="2568575"/>
          <p14:tracePt t="19350" x="2654300" y="2586038"/>
          <p14:tracePt t="19367" x="2654300" y="2603500"/>
          <p14:tracePt t="19370" x="2646363" y="2603500"/>
          <p14:tracePt t="19385" x="2646363" y="2611438"/>
          <p14:tracePt t="19401" x="2646363" y="2620963"/>
          <p14:tracePt t="19417" x="2636838" y="2620963"/>
          <p14:tracePt t="19433" x="2619375" y="2646363"/>
          <p14:tracePt t="19450" x="2611438" y="2655888"/>
          <p14:tracePt t="19467" x="2584450" y="2673350"/>
          <p14:tracePt t="19483" x="2566988" y="2690813"/>
          <p14:tracePt t="19500" x="2549525" y="2708275"/>
          <p14:tracePt t="19517" x="2532063" y="2708275"/>
          <p14:tracePt t="19533" x="2514600" y="2716213"/>
          <p14:tracePt t="19550" x="2514600" y="2725738"/>
          <p14:tracePt t="19567" x="2506663" y="2733675"/>
          <p14:tracePt t="19583" x="2497138" y="2733675"/>
          <p14:tracePt t="19600" x="2489200" y="2733675"/>
          <p14:tracePt t="19626" x="0" y="0"/>
        </p14:tracePtLst>
        <p14:tracePtLst>
          <p14:tracePt t="23846" x="4244975" y="3206750"/>
          <p14:tracePt t="23849" x="4227513" y="3206750"/>
          <p14:tracePt t="23857" x="4217988" y="3206750"/>
          <p14:tracePt t="23866" x="4200525" y="3206750"/>
          <p14:tracePt t="23882" x="4175125" y="3206750"/>
          <p14:tracePt t="23899" x="4148138" y="3206750"/>
          <p14:tracePt t="23916" x="4113213" y="3206750"/>
          <p14:tracePt t="23932" x="4087813" y="3206750"/>
          <p14:tracePt t="23949" x="4070350" y="3206750"/>
          <p14:tracePt t="23966" x="4035425" y="3224213"/>
          <p14:tracePt t="23982" x="4008438" y="3232150"/>
          <p14:tracePt t="23999" x="3983038" y="3249613"/>
          <p14:tracePt t="24001" x="3965575" y="3249613"/>
          <p14:tracePt t="24016" x="3948113" y="3249613"/>
          <p14:tracePt t="24017" x="3938588" y="3259138"/>
          <p14:tracePt t="24033" x="3903663" y="3284538"/>
          <p14:tracePt t="24049" x="3878263" y="3311525"/>
          <p14:tracePt t="24066" x="3868738" y="3336925"/>
          <p14:tracePt t="24082" x="3851275" y="3354388"/>
          <p14:tracePt t="24099" x="3851275" y="3371850"/>
          <p14:tracePt t="24116" x="3833813" y="3389313"/>
          <p14:tracePt t="24132" x="3833813" y="3406775"/>
          <p14:tracePt t="24149" x="3833813" y="3416300"/>
          <p14:tracePt t="24166" x="3833813" y="3451225"/>
          <p14:tracePt t="24183" x="3833813" y="3486150"/>
          <p14:tracePt t="24199" x="3843338" y="3503613"/>
          <p14:tracePt t="24216" x="3868738" y="3563938"/>
          <p14:tracePt t="24217" x="3868738" y="3573463"/>
          <p14:tracePt t="24233" x="3895725" y="3625850"/>
          <p14:tracePt t="24249" x="3956050" y="3668713"/>
          <p14:tracePt t="24266" x="4000500" y="3713163"/>
          <p14:tracePt t="24283" x="4060825" y="3748088"/>
          <p14:tracePt t="24299" x="4140200" y="3765550"/>
          <p14:tracePt t="24316" x="4183063" y="3783013"/>
          <p14:tracePt t="24332" x="4227513" y="3783013"/>
          <p14:tracePt t="24349" x="4262438" y="3783013"/>
          <p14:tracePt t="24366" x="4305300" y="3783013"/>
          <p14:tracePt t="24383" x="4340225" y="3783013"/>
          <p14:tracePt t="24399" x="4375150" y="3773488"/>
          <p14:tracePt t="24416" x="4402138" y="3773488"/>
          <p14:tracePt t="24433" x="4419600" y="3765550"/>
          <p14:tracePt t="24465" x="4419600" y="3756025"/>
          <p14:tracePt t="24497" x="4427538" y="3756025"/>
          <p14:tracePt t="24505" x="4437063" y="3756025"/>
          <p14:tracePt t="24521" x="4437063" y="3748088"/>
          <p14:tracePt t="24658" x="0" y="0"/>
        </p14:tracePtLst>
        <p14:tracePtLst>
          <p14:tracePt t="27021" x="7240588" y="3494088"/>
          <p14:tracePt t="27081" x="7248525" y="3494088"/>
          <p14:tracePt t="27089" x="7258050" y="3494088"/>
          <p14:tracePt t="27099" x="7275513" y="3494088"/>
          <p14:tracePt t="27115" x="7292975" y="3503613"/>
          <p14:tracePt t="27132" x="7353300" y="3511550"/>
          <p14:tracePt t="27149" x="7458075" y="3538538"/>
          <p14:tracePt t="27165" x="7624763" y="3573463"/>
          <p14:tracePt t="27182" x="7964488" y="3608388"/>
          <p14:tracePt t="27199" x="8278813" y="3643313"/>
          <p14:tracePt t="27215" x="8628063" y="3668713"/>
          <p14:tracePt t="27218" x="8777288" y="3686175"/>
          <p14:tracePt t="27232" x="8934450" y="3686175"/>
          <p14:tracePt t="27233" x="8977313" y="3695700"/>
          <p14:tracePt t="27249" x="9039225" y="3713163"/>
          <p14:tracePt t="27265" x="9064625" y="3721100"/>
          <p14:tracePt t="27282" x="9082088" y="3730625"/>
          <p14:tracePt t="27299" x="9091613" y="3730625"/>
          <p14:tracePt t="27315" x="9109075" y="3738563"/>
          <p14:tracePt t="27332" x="9144000" y="3738563"/>
          <p14:tracePt t="27349" x="9231313" y="3748088"/>
          <p14:tracePt t="27365" x="9275763" y="3756025"/>
          <p14:tracePt t="27382" x="9336088" y="3756025"/>
          <p14:tracePt t="27399" x="9388475" y="3756025"/>
          <p14:tracePt t="27415" x="9423400" y="3756025"/>
          <p14:tracePt t="27417" x="9458325" y="3756025"/>
          <p14:tracePt t="27432" x="9485313" y="3756025"/>
          <p14:tracePt t="27433" x="9502775" y="3756025"/>
          <p14:tracePt t="27449" x="9520238" y="3738563"/>
          <p14:tracePt t="27465" x="9537700" y="3721100"/>
          <p14:tracePt t="27482" x="9555163" y="3695700"/>
          <p14:tracePt t="27499" x="9563100" y="3686175"/>
          <p14:tracePt t="27515" x="9580563" y="3668713"/>
          <p14:tracePt t="27532" x="9590088" y="3651250"/>
          <p14:tracePt t="27549" x="9607550" y="3633788"/>
          <p14:tracePt t="27565" x="9625013" y="3616325"/>
          <p14:tracePt t="27582" x="9650413" y="3581400"/>
          <p14:tracePt t="27599" x="9685338" y="3521075"/>
          <p14:tracePt t="27615" x="9729788" y="3476625"/>
          <p14:tracePt t="27617" x="9729788" y="3441700"/>
          <p14:tracePt t="27632" x="9747250" y="3424238"/>
          <p14:tracePt t="27633" x="9755188" y="3406775"/>
          <p14:tracePt t="27649" x="9764713" y="3381375"/>
          <p14:tracePt t="27665" x="9764713" y="3371850"/>
          <p14:tracePt t="27682" x="9764713" y="3354388"/>
          <p14:tracePt t="27699" x="9755188" y="3336925"/>
          <p14:tracePt t="27715" x="9755188" y="3302000"/>
          <p14:tracePt t="27732" x="9729788" y="3259138"/>
          <p14:tracePt t="27748" x="9694863" y="3197225"/>
          <p14:tracePt t="27765" x="9659938" y="3136900"/>
          <p14:tracePt t="27782" x="9625013" y="3092450"/>
          <p14:tracePt t="27798" x="9607550" y="3040063"/>
          <p14:tracePt t="27815" x="9563100" y="2979738"/>
          <p14:tracePt t="27818" x="9537700" y="2927350"/>
          <p14:tracePt t="27832" x="9502775" y="2909888"/>
          <p14:tracePt t="27833" x="9485313" y="2892425"/>
          <p14:tracePt t="27849" x="9423400" y="2840038"/>
          <p14:tracePt t="27865" x="9388475" y="2805113"/>
          <p14:tracePt t="27882" x="9328150" y="2770188"/>
          <p14:tracePt t="27899" x="9283700" y="2725738"/>
          <p14:tracePt t="27915" x="9178925" y="2698750"/>
          <p14:tracePt t="27932" x="9117013" y="2663825"/>
          <p14:tracePt t="27949" x="8890000" y="2611438"/>
          <p14:tracePt t="27965" x="8742363" y="2586038"/>
          <p14:tracePt t="27982" x="8620125" y="2559050"/>
          <p14:tracePt t="27999" x="8480425" y="2551113"/>
          <p14:tracePt t="28015" x="8375650" y="2533650"/>
          <p14:tracePt t="28032" x="8253413" y="2533650"/>
          <p14:tracePt t="28033" x="8191500" y="2524125"/>
          <p14:tracePt t="28049" x="8086725" y="2524125"/>
          <p14:tracePt t="28065" x="7947025" y="2533650"/>
          <p14:tracePt t="28082" x="7712075" y="2551113"/>
          <p14:tracePt t="28099" x="7467600" y="2559050"/>
          <p14:tracePt t="28115" x="7205663" y="2586038"/>
          <p14:tracePt t="28132" x="7091363" y="2586038"/>
          <p14:tracePt t="28149" x="6899275" y="2620963"/>
          <p14:tracePt t="28165" x="6804025" y="2646363"/>
          <p14:tracePt t="28182" x="6724650" y="2690813"/>
          <p14:tracePt t="28199" x="6637338" y="2725738"/>
          <p14:tracePt t="28215" x="6542088" y="2770188"/>
          <p14:tracePt t="28216" x="6524625" y="2805113"/>
          <p14:tracePt t="28232" x="6497638" y="2830513"/>
          <p14:tracePt t="28233" x="6454775" y="2857500"/>
          <p14:tracePt t="28249" x="6419850" y="2944813"/>
          <p14:tracePt t="28265" x="6392863" y="3084513"/>
          <p14:tracePt t="28282" x="6375400" y="3232150"/>
          <p14:tracePt t="28298" x="6375400" y="3346450"/>
          <p14:tracePt t="28315" x="6392863" y="3468688"/>
          <p14:tracePt t="28332" x="6472238" y="3616325"/>
          <p14:tracePt t="28349" x="6629400" y="3695700"/>
          <p14:tracePt t="28365" x="6794500" y="3773488"/>
          <p14:tracePt t="28382" x="7021513" y="3843338"/>
          <p14:tracePt t="28399" x="7258050" y="3878263"/>
          <p14:tracePt t="28415" x="7380288" y="3905250"/>
          <p14:tracePt t="28417" x="7440613" y="3905250"/>
          <p14:tracePt t="28432" x="7475538" y="3905250"/>
          <p14:tracePt t="28433" x="7502525" y="3905250"/>
          <p14:tracePt t="28449" x="7510463" y="3905250"/>
          <p14:tracePt t="28465" x="7527925" y="3905250"/>
          <p14:tracePt t="28489" x="7527925" y="3895725"/>
          <p14:tracePt t="28545" x="7537450" y="3895725"/>
          <p14:tracePt t="28553" x="7597775" y="3887788"/>
          <p14:tracePt t="28561" x="7642225" y="3887788"/>
          <p14:tracePt t="28569" x="7702550" y="3887788"/>
          <p14:tracePt t="28582" x="7816850" y="3887788"/>
          <p14:tracePt t="28599" x="8051800" y="3887788"/>
          <p14:tracePt t="28615" x="8331200" y="3887788"/>
          <p14:tracePt t="28632" x="8672513" y="3887788"/>
          <p14:tracePt t="28633" x="8759825" y="3887788"/>
          <p14:tracePt t="28649" x="8847138" y="3878263"/>
          <p14:tracePt t="28665" x="8864600" y="3870325"/>
          <p14:tracePt t="28858" x="0" y="0"/>
        </p14:tracePtLst>
        <p14:tracePtLst>
          <p14:tracePt t="30533" x="7694613" y="3354388"/>
          <p14:tracePt t="30706" x="0" y="0"/>
        </p14:tracePtLst>
        <p14:tracePtLst>
          <p14:tracePt t="32693" x="7694613" y="3371850"/>
          <p14:tracePt t="32890" x="0" y="0"/>
        </p14:tracePtLst>
        <p14:tracePtLst>
          <p14:tracePt t="33446" x="7981950" y="3354388"/>
          <p14:tracePt t="33570" x="0" y="0"/>
        </p14:tracePtLst>
        <p14:tracePtLst>
          <p14:tracePt t="37173" x="7615238" y="3336925"/>
          <p14:tracePt t="37330" x="0" y="0"/>
        </p14:tracePtLst>
        <p14:tracePtLst>
          <p14:tracePt t="38213" x="8026400" y="3336925"/>
          <p14:tracePt t="38386" x="0" y="0"/>
        </p14:tracePtLst>
        <p14:tracePtLst>
          <p14:tracePt t="39301" x="8540750" y="3563938"/>
          <p14:tracePt t="39305" x="8540750" y="3573463"/>
          <p14:tracePt t="39313" x="8550275" y="3581400"/>
          <p14:tracePt t="39330" x="8558213" y="3590925"/>
          <p14:tracePt t="39347" x="8575675" y="3608388"/>
          <p14:tracePt t="39364" x="8593138" y="3616325"/>
          <p14:tracePt t="39380" x="8637588" y="3643313"/>
          <p14:tracePt t="39397" x="8689975" y="3678238"/>
          <p14:tracePt t="39414" x="8785225" y="3703638"/>
          <p14:tracePt t="39430" x="8864600" y="3730625"/>
          <p14:tracePt t="39447" x="8969375" y="3756025"/>
          <p14:tracePt t="39464" x="9091613" y="3783013"/>
          <p14:tracePt t="39466" x="9178925" y="3783013"/>
          <p14:tracePt t="39480" x="9240838" y="3800475"/>
          <p14:tracePt t="39481" x="9363075" y="3817938"/>
          <p14:tracePt t="39497" x="9405938" y="3835400"/>
          <p14:tracePt t="39513" x="9502775" y="3835400"/>
          <p14:tracePt t="39530" x="9580563" y="3835400"/>
          <p14:tracePt t="39547" x="9615488" y="3835400"/>
          <p14:tracePt t="39564" x="9677400" y="3835400"/>
          <p14:tracePt t="39580" x="9729788" y="3817938"/>
          <p14:tracePt t="39597" x="9782175" y="3800475"/>
          <p14:tracePt t="39614" x="9825038" y="3773488"/>
          <p14:tracePt t="39630" x="9877425" y="3738563"/>
          <p14:tracePt t="39647" x="9904413" y="3713163"/>
          <p14:tracePt t="39663" x="9921875" y="3703638"/>
          <p14:tracePt t="39665" x="9939338" y="3686175"/>
          <p14:tracePt t="39681" x="9947275" y="3668713"/>
          <p14:tracePt t="39697" x="9947275" y="3643313"/>
          <p14:tracePt t="39714" x="9947275" y="3608388"/>
          <p14:tracePt t="39730" x="9956800" y="3556000"/>
          <p14:tracePt t="39747" x="9956800" y="3521075"/>
          <p14:tracePt t="39764" x="9956800" y="3468688"/>
          <p14:tracePt t="39780" x="9947275" y="3416300"/>
          <p14:tracePt t="39797" x="9929813" y="3371850"/>
          <p14:tracePt t="39814" x="9894888" y="3319463"/>
          <p14:tracePt t="39830" x="9859963" y="3241675"/>
          <p14:tracePt t="39847" x="9817100" y="3197225"/>
          <p14:tracePt t="39863" x="9790113" y="3144838"/>
          <p14:tracePt t="39865" x="9782175" y="3119438"/>
          <p14:tracePt t="39880" x="9755188" y="3092450"/>
          <p14:tracePt t="39897" x="9729788" y="3049588"/>
          <p14:tracePt t="39913" x="9702800" y="3014663"/>
          <p14:tracePt t="39930" x="9667875" y="2987675"/>
          <p14:tracePt t="39947" x="9650413" y="2970213"/>
          <p14:tracePt t="39963" x="9625013" y="2944813"/>
          <p14:tracePt t="39980" x="9607550" y="2909888"/>
          <p14:tracePt t="39997" x="9580563" y="2892425"/>
          <p14:tracePt t="40013" x="9555163" y="2865438"/>
          <p14:tracePt t="40030" x="9528175" y="2847975"/>
          <p14:tracePt t="40047" x="9502775" y="2830513"/>
          <p14:tracePt t="40063" x="9475788" y="2813050"/>
          <p14:tracePt t="40065" x="9458325" y="2805113"/>
          <p14:tracePt t="40080" x="9440863" y="2795588"/>
          <p14:tracePt t="40081" x="9423400" y="2787650"/>
          <p14:tracePt t="40097" x="9405938" y="2778125"/>
          <p14:tracePt t="40113" x="9380538" y="2770188"/>
          <p14:tracePt t="40130" x="9328150" y="2752725"/>
          <p14:tracePt t="40147" x="9301163" y="2733675"/>
          <p14:tracePt t="40163" x="9275763" y="2733675"/>
          <p14:tracePt t="40180" x="9231313" y="2716213"/>
          <p14:tracePt t="40197" x="9188450" y="2708275"/>
          <p14:tracePt t="40213" x="9099550" y="2708275"/>
          <p14:tracePt t="40230" x="9004300" y="2708275"/>
          <p14:tracePt t="40247" x="8959850" y="2698750"/>
          <p14:tracePt t="40264" x="8899525" y="2698750"/>
          <p14:tracePt t="40266" x="8882063" y="2698750"/>
          <p14:tracePt t="40280" x="8847138" y="2698750"/>
          <p14:tracePt t="40281" x="8820150" y="2698750"/>
          <p14:tracePt t="40297" x="8794750" y="2698750"/>
          <p14:tracePt t="40313" x="8759825" y="2708275"/>
          <p14:tracePt t="40330" x="8715375" y="2716213"/>
          <p14:tracePt t="40347" x="8672513" y="2725738"/>
          <p14:tracePt t="40363" x="8602663" y="2743200"/>
          <p14:tracePt t="40380" x="8480425" y="2770188"/>
          <p14:tracePt t="40397" x="8393113" y="2795588"/>
          <p14:tracePt t="40413" x="8348663" y="2813050"/>
          <p14:tracePt t="40430" x="8296275" y="2840038"/>
          <p14:tracePt t="40447" x="8261350" y="2857500"/>
          <p14:tracePt t="40463" x="8235950" y="2882900"/>
          <p14:tracePt t="40465" x="8218488" y="2900363"/>
          <p14:tracePt t="40480" x="8201025" y="2909888"/>
          <p14:tracePt t="40481" x="8183563" y="2927350"/>
          <p14:tracePt t="40497" x="8166100" y="2987675"/>
          <p14:tracePt t="40513" x="8131175" y="3032125"/>
          <p14:tracePt t="40530" x="8113713" y="3092450"/>
          <p14:tracePt t="40547" x="8096250" y="3179763"/>
          <p14:tracePt t="40563" x="8086725" y="3214688"/>
          <p14:tracePt t="40580" x="8086725" y="3267075"/>
          <p14:tracePt t="40597" x="8086725" y="3363913"/>
          <p14:tracePt t="40613" x="8086725" y="3406775"/>
          <p14:tracePt t="40630" x="8113713" y="3494088"/>
          <p14:tracePt t="40647" x="8148638" y="3581400"/>
          <p14:tracePt t="40664" x="8208963" y="3625850"/>
          <p14:tracePt t="40665" x="8226425" y="3660775"/>
          <p14:tracePt t="40680" x="8253413" y="3686175"/>
          <p14:tracePt t="40682" x="8288338" y="3703638"/>
          <p14:tracePt t="40697" x="8366125" y="3773488"/>
          <p14:tracePt t="40713" x="8540750" y="3843338"/>
          <p14:tracePt t="40730" x="8680450" y="3922713"/>
          <p14:tracePt t="40747" x="8882063" y="3992563"/>
          <p14:tracePt t="40763" x="9039225" y="4000500"/>
          <p14:tracePt t="40780" x="9178925" y="4010025"/>
          <p14:tracePt t="40797" x="9405938" y="4017963"/>
          <p14:tracePt t="40813" x="9659938" y="4035425"/>
          <p14:tracePt t="40830" x="9964738" y="4027488"/>
          <p14:tracePt t="40847" x="10191750" y="4027488"/>
          <p14:tracePt t="40863" x="10358438" y="4017963"/>
          <p14:tracePt t="40880" x="10436225" y="4010025"/>
          <p14:tracePt t="40897" x="10445750" y="4010025"/>
          <p14:tracePt t="40913" x="10445750" y="4000500"/>
          <p14:tracePt t="40937" x="10445750" y="3992563"/>
          <p14:tracePt t="40947" x="10445750" y="3983038"/>
          <p14:tracePt t="40963" x="10453688" y="3965575"/>
          <p14:tracePt t="40980" x="10463213" y="3948113"/>
          <p14:tracePt t="40997" x="10463213" y="3940175"/>
          <p14:tracePt t="41013" x="10471150" y="3930650"/>
          <p14:tracePt t="41030" x="10480675" y="3913188"/>
          <p14:tracePt t="41047" x="10488613" y="3895725"/>
          <p14:tracePt t="41063" x="10506075" y="3870325"/>
          <p14:tracePt t="41080" x="10515600" y="3835400"/>
          <p14:tracePt t="41081" x="10523538" y="3800475"/>
          <p14:tracePt t="41097" x="10533063" y="3765550"/>
          <p14:tracePt t="41113" x="10533063" y="3730625"/>
          <p14:tracePt t="41234" x="0" y="0"/>
        </p14:tracePtLst>
        <p14:tracePtLst>
          <p14:tracePt t="43886" x="8418513" y="3406775"/>
          <p14:tracePt t="43914" x="8453438" y="3416300"/>
          <p14:tracePt t="43921" x="8480425" y="3424238"/>
          <p14:tracePt t="43929" x="8515350" y="3433763"/>
          <p14:tracePt t="43946" x="8540750" y="3441700"/>
          <p14:tracePt t="43963" x="8567738" y="3459163"/>
          <p14:tracePt t="43980" x="8585200" y="3459163"/>
          <p14:tracePt t="43996" x="8602663" y="3459163"/>
          <p14:tracePt t="44013" x="8620125" y="3459163"/>
          <p14:tracePt t="44030" x="8637588" y="3468688"/>
          <p14:tracePt t="44046" x="8645525" y="3468688"/>
          <p14:tracePt t="44063" x="8655050" y="3468688"/>
          <p14:tracePt t="44081" x="8662988" y="3468688"/>
          <p14:tracePt t="44217" x="8662988" y="3459163"/>
          <p14:tracePt t="44233" x="8662988" y="3451225"/>
          <p14:tracePt t="44241" x="8672513" y="3433763"/>
          <p14:tracePt t="44257" x="8680450" y="3416300"/>
          <p14:tracePt t="44265" x="8689975" y="3389313"/>
          <p14:tracePt t="44279" x="8689975" y="3381375"/>
          <p14:tracePt t="44281" x="8697913" y="3363913"/>
          <p14:tracePt t="44296" x="8697913" y="3354388"/>
          <p14:tracePt t="44297" x="8697913" y="3328988"/>
          <p14:tracePt t="44313" x="8697913" y="3302000"/>
          <p14:tracePt t="44329" x="8697913" y="3249613"/>
          <p14:tracePt t="44346" x="8697913" y="3171825"/>
          <p14:tracePt t="44362" x="8689975" y="3154363"/>
          <p14:tracePt t="44379" x="8680450" y="3136900"/>
          <p14:tracePt t="44396" x="8672513" y="3127375"/>
          <p14:tracePt t="44413" x="8662988" y="3119438"/>
          <p14:tracePt t="44429" x="8655050" y="3109913"/>
          <p14:tracePt t="44446" x="8628063" y="3109913"/>
          <p14:tracePt t="44463" x="8628063" y="3101975"/>
          <p14:tracePt t="44479" x="8610600" y="3101975"/>
          <p14:tracePt t="44496" x="8610600" y="3092450"/>
          <p14:tracePt t="44497" x="8593138" y="3092450"/>
          <p14:tracePt t="44513" x="8585200" y="3092450"/>
          <p14:tracePt t="44529" x="8575675" y="3092450"/>
          <p14:tracePt t="44546" x="8567738" y="3092450"/>
          <p14:tracePt t="44563" x="8558213" y="3092450"/>
          <p14:tracePt t="44579" x="8550275" y="3084513"/>
          <p14:tracePt t="44689" x="8540750" y="3084513"/>
          <p14:tracePt t="44697" x="8540750" y="3092450"/>
          <p14:tracePt t="44753" x="8540750" y="3101975"/>
          <p14:tracePt t="44761" x="8505825" y="3119438"/>
          <p14:tracePt t="44769" x="8497888" y="3136900"/>
          <p14:tracePt t="44779" x="8488363" y="3144838"/>
          <p14:tracePt t="44796" x="8462963" y="3162300"/>
          <p14:tracePt t="44813" x="8428038" y="3197225"/>
          <p14:tracePt t="44829" x="8401050" y="3232150"/>
          <p14:tracePt t="44846" x="8383588" y="3249613"/>
          <p14:tracePt t="44863" x="8358188" y="3267075"/>
          <p14:tracePt t="44879" x="8348663" y="3294063"/>
          <p14:tracePt t="44881" x="8340725" y="3294063"/>
          <p14:tracePt t="44896" x="8340725" y="3302000"/>
          <p14:tracePt t="44897" x="8331200" y="3319463"/>
          <p14:tracePt t="44913" x="8323263" y="3354388"/>
          <p14:tracePt t="44929" x="8313738" y="3371850"/>
          <p14:tracePt t="44946" x="8278813" y="3416300"/>
          <p14:tracePt t="44963" x="8270875" y="3459163"/>
          <p14:tracePt t="44979" x="8243888" y="3494088"/>
          <p14:tracePt t="44996" x="8243888" y="3521075"/>
          <p14:tracePt t="45013" x="8235950" y="3538538"/>
          <p14:tracePt t="45029" x="8235950" y="3556000"/>
          <p14:tracePt t="45046" x="8243888" y="3590925"/>
          <p14:tracePt t="45063" x="8261350" y="3616325"/>
          <p14:tracePt t="45079" x="8313738" y="3651250"/>
          <p14:tracePt t="45081" x="8331200" y="3686175"/>
          <p14:tracePt t="45096" x="8358188" y="3695700"/>
          <p14:tracePt t="45097" x="8393113" y="3713163"/>
          <p14:tracePt t="45113" x="8428038" y="3738563"/>
          <p14:tracePt t="45129" x="8462963" y="3748088"/>
          <p14:tracePt t="45146" x="8480425" y="3756025"/>
          <p14:tracePt t="45163" x="8488363" y="3756025"/>
          <p14:tracePt t="45179" x="8488363" y="3765550"/>
          <p14:tracePt t="45196" x="8497888" y="3765550"/>
          <p14:tracePt t="45217" x="8505825" y="3765550"/>
          <p14:tracePt t="45233" x="8523288" y="3765550"/>
          <p14:tracePt t="45246" x="8540750" y="3765550"/>
          <p14:tracePt t="45262" x="8550275" y="3756025"/>
          <p14:tracePt t="45279" x="8575675" y="3756025"/>
          <p14:tracePt t="45281" x="8593138" y="3748088"/>
          <p14:tracePt t="45296" x="8602663" y="3748088"/>
          <p14:tracePt t="45297" x="8610600" y="3738563"/>
          <p14:tracePt t="45313" x="8628063" y="3738563"/>
          <p14:tracePt t="45329" x="8628063" y="3730625"/>
          <p14:tracePt t="45409" x="8637588" y="3730625"/>
          <p14:tracePt t="45465" x="8637588" y="3713163"/>
          <p14:tracePt t="45474" x="8637588" y="3703638"/>
          <p14:tracePt t="45490" x="8645525" y="3695700"/>
          <p14:tracePt t="45497" x="8645525" y="3686175"/>
          <p14:tracePt t="45513" x="8655050" y="3678238"/>
          <p14:tracePt t="45529" x="8662988" y="3668713"/>
          <p14:tracePt t="45546" x="8662988" y="3660775"/>
          <p14:tracePt t="45562" x="8672513" y="3660775"/>
          <p14:tracePt t="45785" x="8672513" y="3651250"/>
          <p14:tracePt t="45793" x="8672513" y="3643313"/>
          <p14:tracePt t="45809" x="8672513" y="3633788"/>
          <p14:tracePt t="45817" x="8672513" y="3625850"/>
          <p14:tracePt t="45833" x="8672513" y="3616325"/>
          <p14:tracePt t="45923" x="0" y="0"/>
        </p14:tracePtLst>
        <p14:tracePtLst>
          <p14:tracePt t="49654" x="8890000" y="3162300"/>
          <p14:tracePt t="49697" x="8890000" y="3154363"/>
          <p14:tracePt t="49705" x="8890000" y="3136900"/>
          <p14:tracePt t="49713" x="8882063" y="3119438"/>
          <p14:tracePt t="49729" x="8872538" y="3101975"/>
          <p14:tracePt t="49745" x="8872538" y="3084513"/>
          <p14:tracePt t="49762" x="8864600" y="3074988"/>
          <p14:tracePt t="49779" x="8864600" y="3067050"/>
          <p14:tracePt t="49801" x="8864600" y="3057525"/>
          <p14:tracePt t="49812" x="8864600" y="3049588"/>
          <p14:tracePt t="49829" x="8872538" y="3040063"/>
          <p14:tracePt t="49845" x="8872538" y="3032125"/>
          <p14:tracePt t="49862" x="8872538" y="3022600"/>
          <p14:tracePt t="49878" x="8882063" y="3022600"/>
          <p14:tracePt t="49895" x="8890000" y="3022600"/>
          <p14:tracePt t="49921" x="8899525" y="3022600"/>
          <p14:tracePt t="49929" x="8907463" y="3022600"/>
          <p14:tracePt t="49945" x="8916988" y="3022600"/>
          <p14:tracePt t="49969" x="8924925" y="3022600"/>
          <p14:tracePt t="49993" x="8934450" y="3022600"/>
          <p14:tracePt t="50009" x="8959850" y="3022600"/>
          <p14:tracePt t="50017" x="8977313" y="3032125"/>
          <p14:tracePt t="50028" x="8994775" y="3049588"/>
          <p14:tracePt t="50045" x="9029700" y="3067050"/>
          <p14:tracePt t="50062" x="9039225" y="3067050"/>
          <p14:tracePt t="50078" x="9056688" y="3084513"/>
          <p14:tracePt t="50095" x="9056688" y="3101975"/>
          <p14:tracePt t="50097" x="9064625" y="3119438"/>
          <p14:tracePt t="50112" x="9074150" y="3127375"/>
          <p14:tracePt t="50113" x="9082088" y="3136900"/>
          <p14:tracePt t="50129" x="9082088" y="3144838"/>
          <p14:tracePt t="50145" x="9082088" y="3154363"/>
          <p14:tracePt t="50162" x="9082088" y="3171825"/>
          <p14:tracePt t="50178" x="9082088" y="3206750"/>
          <p14:tracePt t="50195" x="9074150" y="3214688"/>
          <p14:tracePt t="50212" x="9064625" y="3232150"/>
          <p14:tracePt t="50229" x="9056688" y="3241675"/>
          <p14:tracePt t="50245" x="9047163" y="3249613"/>
          <p14:tracePt t="50425" x="9039225" y="3249613"/>
          <p14:tracePt t="50433" x="9021763" y="3249613"/>
          <p14:tracePt t="50445" x="9021763" y="3259138"/>
          <p14:tracePt t="50447" x="0" y="0"/>
        </p14:tracePtLst>
        <p14:tracePtLst>
          <p14:tracePt t="51421" x="8951913" y="3459163"/>
          <p14:tracePt t="51482" x="0" y="0"/>
        </p14:tracePtLst>
        <p14:tracePtLst>
          <p14:tracePt t="52573" x="9318625" y="3171825"/>
          <p14:tracePt t="52633" x="9301163" y="3109913"/>
          <p14:tracePt t="52641" x="9293225" y="3092450"/>
          <p14:tracePt t="52649" x="9293225" y="3084513"/>
          <p14:tracePt t="52662" x="9283700" y="3067050"/>
          <p14:tracePt t="52678" x="9275763" y="3032125"/>
          <p14:tracePt t="52695" x="9275763" y="3014663"/>
          <p14:tracePt t="52711" x="9275763" y="3005138"/>
          <p14:tracePt t="52713" x="9275763" y="2997200"/>
          <p14:tracePt t="52729" x="9275763" y="2987675"/>
          <p14:tracePt t="52785" x="9275763" y="2979738"/>
          <p14:tracePt t="52793" x="9283700" y="2979738"/>
          <p14:tracePt t="52817" x="9293225" y="2979738"/>
          <p14:tracePt t="52897" x="9301163" y="2979738"/>
          <p14:tracePt t="52921" x="9310688" y="2970213"/>
          <p14:tracePt t="52937" x="9318625" y="2970213"/>
          <p14:tracePt t="52961" x="9328150" y="2962275"/>
          <p14:tracePt t="52977" x="9328150" y="2952750"/>
          <p14:tracePt t="52985" x="9336088" y="2952750"/>
          <p14:tracePt t="53073" x="9345613" y="2952750"/>
          <p14:tracePt t="53089" x="9353550" y="2952750"/>
          <p14:tracePt t="53113" x="9371013" y="2952750"/>
          <p14:tracePt t="53121" x="9380538" y="2952750"/>
          <p14:tracePt t="53129" x="9388475" y="2952750"/>
          <p14:tracePt t="53145" x="9405938" y="2962275"/>
          <p14:tracePt t="53161" x="9415463" y="2962275"/>
          <p14:tracePt t="53179" x="9432925" y="2970213"/>
          <p14:tracePt t="53195" x="9440863" y="2979738"/>
          <p14:tracePt t="53211" x="9450388" y="2987675"/>
          <p14:tracePt t="53228" x="9458325" y="2997200"/>
          <p14:tracePt t="53245" x="9467850" y="3005138"/>
          <p14:tracePt t="53261" x="9475788" y="3014663"/>
          <p14:tracePt t="53279" x="9485313" y="3032125"/>
          <p14:tracePt t="53295" x="9502775" y="3049588"/>
          <p14:tracePt t="53385" x="9502775" y="3057525"/>
          <p14:tracePt t="53387" x="0" y="0"/>
        </p14:tracePtLst>
        <p14:tracePtLst>
          <p14:tracePt t="60237" x="8313738" y="3336925"/>
          <p14:tracePt t="60377" x="8323263" y="3328988"/>
          <p14:tracePt t="60385" x="8323263" y="3311525"/>
          <p14:tracePt t="60401" x="8323263" y="3294063"/>
          <p14:tracePt t="60410" x="8323263" y="3284538"/>
          <p14:tracePt t="60427" x="8323263" y="3249613"/>
          <p14:tracePt t="60444" x="8323263" y="3224213"/>
          <p14:tracePt t="60460" x="8323263" y="3197225"/>
          <p14:tracePt t="60477" x="8313738" y="3171825"/>
          <p14:tracePt t="60494" x="8305800" y="3154363"/>
          <p14:tracePt t="60510" x="8296275" y="3144838"/>
          <p14:tracePt t="60527" x="8288338" y="3144838"/>
          <p14:tracePt t="60553" x="8288338" y="3136900"/>
          <p14:tracePt t="60569" x="8278813" y="3136900"/>
          <p14:tracePt t="60633" x="8270875" y="3136900"/>
          <p14:tracePt t="60649" x="8261350" y="3136900"/>
          <p14:tracePt t="60681" x="8261350" y="3144838"/>
          <p14:tracePt t="60689" x="8261350" y="3162300"/>
          <p14:tracePt t="60697" x="8253413" y="3171825"/>
          <p14:tracePt t="60710" x="8235950" y="3179763"/>
          <p14:tracePt t="60727" x="8218488" y="3214688"/>
          <p14:tracePt t="60743" x="8201025" y="3249613"/>
          <p14:tracePt t="60745" x="8183563" y="3284538"/>
          <p14:tracePt t="60760" x="8183563" y="3294063"/>
          <p14:tracePt t="60761" x="8174038" y="3311525"/>
          <p14:tracePt t="60777" x="8174038" y="3328988"/>
          <p14:tracePt t="60793" x="8174038" y="3336925"/>
          <p14:tracePt t="60810" x="8174038" y="3354388"/>
          <p14:tracePt t="60827" x="8183563" y="3354388"/>
          <p14:tracePt t="60844" x="8201025" y="3363913"/>
          <p14:tracePt t="60860" x="8218488" y="3371850"/>
          <p14:tracePt t="60905" x="8226425" y="3371850"/>
          <p14:tracePt t="60937" x="8235950" y="3371850"/>
          <p14:tracePt t="61026" x="0" y="0"/>
        </p14:tracePtLst>
        <p14:tracePtLst>
          <p14:tracePt t="61493" x="8358188" y="4194175"/>
          <p14:tracePt t="61561" x="8358188" y="4202113"/>
          <p14:tracePt t="61593" x="8348663" y="4202113"/>
          <p14:tracePt t="61601" x="8340725" y="4202113"/>
          <p14:tracePt t="61617" x="8331200" y="4202113"/>
          <p14:tracePt t="61627" x="8305800" y="4202113"/>
          <p14:tracePt t="61644" x="8253413" y="4202113"/>
          <p14:tracePt t="61660" x="8235950" y="4202113"/>
          <p14:tracePt t="61677" x="8218488" y="4202113"/>
          <p14:tracePt t="61693" x="8201025" y="4202113"/>
          <p14:tracePt t="61710" x="8191500" y="4202113"/>
          <p14:tracePt t="61727" x="8183563" y="4194175"/>
          <p14:tracePt t="61744" x="8174038" y="4184650"/>
          <p14:tracePt t="61760" x="8166100" y="4176713"/>
          <p14:tracePt t="61761" x="8156575" y="4159250"/>
          <p14:tracePt t="61777" x="8148638" y="4124325"/>
          <p14:tracePt t="61793" x="8148638" y="4097338"/>
          <p14:tracePt t="61810" x="8156575" y="4070350"/>
          <p14:tracePt t="61827" x="8166100" y="4035425"/>
          <p14:tracePt t="61843" x="8183563" y="3992563"/>
          <p14:tracePt t="61860" x="8201025" y="3965575"/>
          <p14:tracePt t="61877" x="8208963" y="3948113"/>
          <p14:tracePt t="61893" x="8226425" y="3940175"/>
          <p14:tracePt t="61910" x="8243888" y="3930650"/>
          <p14:tracePt t="61927" x="8261350" y="3930650"/>
          <p14:tracePt t="61944" x="8288338" y="3930650"/>
          <p14:tracePt t="61945" x="8305800" y="3930650"/>
          <p14:tracePt t="61960" x="8313738" y="3930650"/>
          <p14:tracePt t="61977" x="8331200" y="3930650"/>
          <p14:tracePt t="61993" x="8340725" y="3940175"/>
          <p14:tracePt t="62010" x="8358188" y="3940175"/>
          <p14:tracePt t="62027" x="8358188" y="3948113"/>
          <p14:tracePt t="62043" x="8366125" y="3948113"/>
          <p14:tracePt t="62162" x="0" y="0"/>
        </p14:tracePtLst>
        <p14:tracePtLst>
          <p14:tracePt t="65645" x="8156575" y="3451225"/>
          <p14:tracePt t="65649" x="8174038" y="3459163"/>
          <p14:tracePt t="65659" x="8174038" y="3468688"/>
          <p14:tracePt t="65676" x="8191500" y="3468688"/>
          <p14:tracePt t="65693" x="8191500" y="3476625"/>
          <p14:tracePt t="65826" x="8191500" y="3468688"/>
          <p14:tracePt t="65833" x="8191500" y="3433763"/>
          <p14:tracePt t="65843" x="8191500" y="3416300"/>
          <p14:tracePt t="65859" x="8183563" y="3363913"/>
          <p14:tracePt t="65876" x="8183563" y="3319463"/>
          <p14:tracePt t="65893" x="8183563" y="3302000"/>
          <p14:tracePt t="65910" x="8174038" y="3276600"/>
          <p14:tracePt t="65926" x="8166100" y="3259138"/>
          <p14:tracePt t="65943" x="8156575" y="3249613"/>
          <p14:tracePt t="65961" x="8148638" y="3241675"/>
          <p14:tracePt t="65976" x="8139113" y="3232150"/>
          <p14:tracePt t="65993" x="8121650" y="3232150"/>
          <p14:tracePt t="66010" x="8104188" y="3214688"/>
          <p14:tracePt t="66026" x="8096250" y="3206750"/>
          <p14:tracePt t="66043" x="8086725" y="3197225"/>
          <p14:tracePt t="66059" x="8061325" y="3189288"/>
          <p14:tracePt t="66076" x="8034338" y="3179763"/>
          <p14:tracePt t="66093" x="8008938" y="3162300"/>
          <p14:tracePt t="66109" x="7974013" y="3144838"/>
          <p14:tracePt t="66126" x="7939088" y="3136900"/>
          <p14:tracePt t="66143" x="7912100" y="3127375"/>
          <p14:tracePt t="66159" x="7886700" y="3119438"/>
          <p14:tracePt t="66161" x="7869238" y="3109913"/>
          <p14:tracePt t="66176" x="7859713" y="3109913"/>
          <p14:tracePt t="66193" x="7834313" y="3109913"/>
          <p14:tracePt t="66209" x="7816850" y="3109913"/>
          <p14:tracePt t="66241" x="7807325" y="3109913"/>
          <p14:tracePt t="66281" x="7799388" y="3109913"/>
          <p14:tracePt t="66289" x="7789863" y="3119438"/>
          <p14:tracePt t="66305" x="7772400" y="3127375"/>
          <p14:tracePt t="66313" x="7747000" y="3136900"/>
          <p14:tracePt t="66326" x="7677150" y="3154363"/>
          <p14:tracePt t="66343" x="7642225" y="3171825"/>
          <p14:tracePt t="66359" x="7607300" y="3189288"/>
          <p14:tracePt t="66361" x="7597775" y="3189288"/>
          <p14:tracePt t="66376" x="7580313" y="3197225"/>
          <p14:tracePt t="66377" x="7572375" y="3197225"/>
          <p14:tracePt t="66393" x="7572375" y="3224213"/>
          <p14:tracePt t="66409" x="7562850" y="3224213"/>
          <p14:tracePt t="66426" x="7554913" y="3232150"/>
          <p14:tracePt t="66442" x="7545388" y="3241675"/>
          <p14:tracePt t="66459" x="7527925" y="3259138"/>
          <p14:tracePt t="66476" x="7519988" y="3276600"/>
          <p14:tracePt t="66493" x="7502525" y="3302000"/>
          <p14:tracePt t="66509" x="7493000" y="3328988"/>
          <p14:tracePt t="66526" x="7485063" y="3354388"/>
          <p14:tracePt t="66543" x="7485063" y="3371850"/>
          <p14:tracePt t="66559" x="7485063" y="3398838"/>
          <p14:tracePt t="66576" x="7502525" y="3406775"/>
          <p14:tracePt t="66577" x="7510463" y="3416300"/>
          <p14:tracePt t="66593" x="7545388" y="3441700"/>
          <p14:tracePt t="66609" x="7572375" y="3441700"/>
          <p14:tracePt t="66626" x="7615238" y="3459163"/>
          <p14:tracePt t="66642" x="7642225" y="3486150"/>
          <p14:tracePt t="66659" x="7694613" y="3503613"/>
          <p14:tracePt t="66676" x="7720013" y="3511550"/>
          <p14:tracePt t="66693" x="7737475" y="3511550"/>
          <p14:tracePt t="66709" x="7754938" y="3511550"/>
          <p14:tracePt t="66726" x="7772400" y="3511550"/>
          <p14:tracePt t="66742" x="7789863" y="3511550"/>
          <p14:tracePt t="66759" x="7834313" y="3503613"/>
          <p14:tracePt t="66761" x="7886700" y="3503613"/>
          <p14:tracePt t="66776" x="7904163" y="3494088"/>
          <p14:tracePt t="66777" x="7947025" y="3486150"/>
          <p14:tracePt t="66793" x="7999413" y="3476625"/>
          <p14:tracePt t="66809" x="8051800" y="3468688"/>
          <p14:tracePt t="66826" x="8086725" y="3468688"/>
          <p14:tracePt t="66842" x="8096250" y="3459163"/>
          <p14:tracePt t="66859" x="8131175" y="3459163"/>
          <p14:tracePt t="66889" x="8139113" y="3459163"/>
          <p14:tracePt t="66897" x="8139113" y="3451225"/>
          <p14:tracePt t="66909" x="8148638" y="3451225"/>
          <p14:tracePt t="66926" x="8156575" y="3441700"/>
          <p14:tracePt t="66942" x="8174038" y="3433763"/>
          <p14:tracePt t="66959" x="8183563" y="3416300"/>
          <p14:tracePt t="66961" x="8191500" y="3416300"/>
          <p14:tracePt t="66976" x="8191500" y="3406775"/>
          <p14:tracePt t="66977" x="8208963" y="3389313"/>
          <p14:tracePt t="66993" x="8218488" y="3381375"/>
          <p14:tracePt t="67009" x="8235950" y="3363913"/>
          <p14:tracePt t="67026" x="8243888" y="3336925"/>
          <p14:tracePt t="67042" x="8253413" y="3328988"/>
          <p14:tracePt t="67059" x="8253413" y="3311525"/>
          <p14:tracePt t="67076" x="8253413" y="3302000"/>
          <p14:tracePt t="67093" x="8253413" y="3294063"/>
          <p14:tracePt t="67109" x="8243888" y="3259138"/>
          <p14:tracePt t="67126" x="8218488" y="3241675"/>
          <p14:tracePt t="67142" x="8174038" y="3197225"/>
          <p14:tracePt t="67159" x="8131175" y="3144838"/>
          <p14:tracePt t="67161" x="8104188" y="3136900"/>
          <p14:tracePt t="67176" x="8086725" y="3119438"/>
          <p14:tracePt t="67177" x="8069263" y="3101975"/>
          <p14:tracePt t="67193" x="8034338" y="3092450"/>
          <p14:tracePt t="67209" x="8008938" y="3074988"/>
          <p14:tracePt t="67226" x="7981950" y="3067050"/>
          <p14:tracePt t="67242" x="7964488" y="3067050"/>
          <p14:tracePt t="67259" x="7956550" y="3057525"/>
          <p14:tracePt t="67276" x="7929563" y="3057525"/>
          <p14:tracePt t="67293" x="7904163" y="3057525"/>
          <p14:tracePt t="67309" x="7877175" y="3057525"/>
          <p14:tracePt t="67326" x="7851775" y="3057525"/>
          <p14:tracePt t="67343" x="7824788" y="3057525"/>
          <p14:tracePt t="67359" x="7807325" y="3067050"/>
          <p14:tracePt t="67361" x="7799388" y="3067050"/>
          <p14:tracePt t="67377" x="7799388" y="3074988"/>
          <p14:tracePt t="67393" x="7772400" y="3092450"/>
          <p14:tracePt t="67409" x="7747000" y="3101975"/>
          <p14:tracePt t="67426" x="7702550" y="3119438"/>
          <p14:tracePt t="67442" x="7624763" y="3144838"/>
          <p14:tracePt t="67459" x="7597775" y="3154363"/>
          <p14:tracePt t="67476" x="7572375" y="3171825"/>
          <p14:tracePt t="67492" x="7554913" y="3179763"/>
          <p14:tracePt t="67509" x="7545388" y="3179763"/>
          <p14:tracePt t="67526" x="7545388" y="3189288"/>
          <p14:tracePt t="67542" x="7537450" y="3197225"/>
          <p14:tracePt t="67559" x="7527925" y="3214688"/>
          <p14:tracePt t="67577" x="7527925" y="3241675"/>
          <p14:tracePt t="67593" x="7527925" y="3276600"/>
          <p14:tracePt t="67609" x="7537450" y="3302000"/>
          <p14:tracePt t="67626" x="7554913" y="3319463"/>
          <p14:tracePt t="67642" x="7589838" y="3354388"/>
          <p14:tracePt t="67659" x="7624763" y="3381375"/>
          <p14:tracePt t="67676" x="7650163" y="3398838"/>
          <p14:tracePt t="67692" x="7694613" y="3424238"/>
          <p14:tracePt t="67709" x="7712075" y="3451225"/>
          <p14:tracePt t="67726" x="7737475" y="3451225"/>
          <p14:tracePt t="67743" x="7754938" y="3468688"/>
          <p14:tracePt t="67759" x="7772400" y="3468688"/>
          <p14:tracePt t="67776" x="7781925" y="3468688"/>
          <p14:tracePt t="67778" x="7789863" y="3468688"/>
          <p14:tracePt t="67793" x="7799388" y="3476625"/>
          <p14:tracePt t="67954" x="0" y="0"/>
        </p14:tracePtLst>
        <p14:tracePtLst>
          <p14:tracePt t="72549" x="1930400" y="5643563"/>
          <p14:tracePt t="72577" x="1938338" y="5643563"/>
          <p14:tracePt t="72585" x="1955800" y="5643563"/>
          <p14:tracePt t="72593" x="1965325" y="5643563"/>
          <p14:tracePt t="72609" x="1982788" y="5643563"/>
          <p14:tracePt t="72625" x="1990725" y="5643563"/>
          <p14:tracePt t="72641" x="2008188" y="5643563"/>
          <p14:tracePt t="72665" x="2025650" y="5643563"/>
          <p14:tracePt t="72675" x="2035175" y="5643563"/>
          <p14:tracePt t="72692" x="2052638" y="5635625"/>
          <p14:tracePt t="72708" x="2070100" y="5626100"/>
          <p14:tracePt t="72725" x="2105025" y="5600700"/>
          <p14:tracePt t="72742" x="2147888" y="5565775"/>
          <p14:tracePt t="72758" x="2200275" y="5503863"/>
          <p14:tracePt t="72775" x="2262188" y="5441950"/>
          <p14:tracePt t="72792" x="2297113" y="5364163"/>
          <p14:tracePt t="72793" x="2305050" y="5294313"/>
          <p14:tracePt t="72809" x="2322513" y="5214938"/>
          <p14:tracePt t="72825" x="2322513" y="5137150"/>
          <p14:tracePt t="72842" x="2322513" y="5110163"/>
          <p14:tracePt t="72858" x="2305050" y="5067300"/>
          <p14:tracePt t="72875" x="2262188" y="5014913"/>
          <p14:tracePt t="72892" x="2200275" y="4970463"/>
          <p14:tracePt t="72908" x="2139950" y="4935538"/>
          <p14:tracePt t="72925" x="1982788" y="4892675"/>
          <p14:tracePt t="72942" x="1903413" y="4875213"/>
          <p14:tracePt t="72958" x="1763713" y="4857750"/>
          <p14:tracePt t="72975" x="1571625" y="4848225"/>
          <p14:tracePt t="72992" x="1371600" y="4848225"/>
          <p14:tracePt t="72993" x="1309688" y="4848225"/>
          <p14:tracePt t="73009" x="1169988" y="4857750"/>
          <p14:tracePt t="73025" x="1117600" y="4865688"/>
          <p14:tracePt t="73042" x="1100138" y="4883150"/>
          <p14:tracePt t="73058" x="1092200" y="4883150"/>
          <p14:tracePt t="73114" x="0" y="0"/>
        </p14:tracePtLst>
        <p14:tracePtLst>
          <p14:tracePt t="74029" x="4043363" y="5521325"/>
          <p14:tracePt t="74137" x="4052888" y="5521325"/>
          <p14:tracePt t="74145" x="4060825" y="5530850"/>
          <p14:tracePt t="74153" x="4070350" y="5530850"/>
          <p14:tracePt t="74161" x="4078288" y="5530850"/>
          <p14:tracePt t="74175" x="4087813" y="5538788"/>
          <p14:tracePt t="74192" x="4113213" y="5548313"/>
          <p14:tracePt t="74193" x="4122738" y="5556250"/>
          <p14:tracePt t="74208" x="4130675" y="5565775"/>
          <p14:tracePt t="74209" x="4148138" y="5573713"/>
          <p14:tracePt t="74225" x="4157663" y="5583238"/>
          <p14:tracePt t="74241" x="4192588" y="5600700"/>
          <p14:tracePt t="74258" x="4217988" y="5626100"/>
          <p14:tracePt t="74275" x="4244975" y="5635625"/>
          <p14:tracePt t="74291" x="4270375" y="5653088"/>
          <p14:tracePt t="74308" x="4287838" y="5661025"/>
          <p14:tracePt t="74325" x="4305300" y="5688013"/>
          <p14:tracePt t="74341" x="4349750" y="5695950"/>
          <p14:tracePt t="74358" x="4375150" y="5713413"/>
          <p14:tracePt t="74375" x="4410075" y="5713413"/>
          <p14:tracePt t="74391" x="4445000" y="5722938"/>
          <p14:tracePt t="74393" x="4471988" y="5730875"/>
          <p14:tracePt t="74408" x="4479925" y="5740400"/>
          <p14:tracePt t="74410" x="4497388" y="5740400"/>
          <p14:tracePt t="74425" x="4514850" y="5740400"/>
          <p14:tracePt t="74441" x="4532313" y="5748338"/>
          <p14:tracePt t="74458" x="4567238" y="5740400"/>
          <p14:tracePt t="74475" x="4594225" y="5730875"/>
          <p14:tracePt t="74491" x="4619625" y="5713413"/>
          <p14:tracePt t="74508" x="4654550" y="5705475"/>
          <p14:tracePt t="74525" x="4681538" y="5688013"/>
          <p14:tracePt t="74541" x="4706938" y="5670550"/>
          <p14:tracePt t="74558" x="4724400" y="5653088"/>
          <p14:tracePt t="74575" x="4751388" y="5618163"/>
          <p14:tracePt t="74591" x="4759325" y="5583238"/>
          <p14:tracePt t="74593" x="4759325" y="5573713"/>
          <p14:tracePt t="74608" x="4759325" y="5556250"/>
          <p14:tracePt t="74609" x="4759325" y="5538788"/>
          <p14:tracePt t="74625" x="4759325" y="5503863"/>
          <p14:tracePt t="74642" x="4759325" y="5476875"/>
          <p14:tracePt t="74658" x="4759325" y="5451475"/>
          <p14:tracePt t="74675" x="4741863" y="5416550"/>
          <p14:tracePt t="74691" x="4716463" y="5399088"/>
          <p14:tracePt t="74708" x="4646613" y="5329238"/>
          <p14:tracePt t="74725" x="4602163" y="5276850"/>
          <p14:tracePt t="74742" x="4497388" y="5214938"/>
          <p14:tracePt t="74758" x="4437063" y="5180013"/>
          <p14:tracePt t="74775" x="4402138" y="5145088"/>
          <p14:tracePt t="74792" x="4357688" y="5127625"/>
          <p14:tracePt t="74793" x="4340225" y="5119688"/>
          <p14:tracePt t="74808" x="4332288" y="5119688"/>
          <p14:tracePt t="74809" x="4322763" y="5110163"/>
          <p14:tracePt t="74825" x="4297363" y="5092700"/>
          <p14:tracePt t="74841" x="4244975" y="5084763"/>
          <p14:tracePt t="74858" x="4210050" y="5084763"/>
          <p14:tracePt t="74875" x="4095750" y="5067300"/>
          <p14:tracePt t="74892" x="3878263" y="5057775"/>
          <p14:tracePt t="74908" x="3686175" y="5057775"/>
          <p14:tracePt t="74925" x="3529013" y="5057775"/>
          <p14:tracePt t="74941" x="3467100" y="5075238"/>
          <p14:tracePt t="74958" x="3432175" y="5092700"/>
          <p14:tracePt t="74975" x="3414713" y="5102225"/>
          <p14:tracePt t="74991" x="3397250" y="5127625"/>
          <p14:tracePt t="74993" x="3389313" y="5137150"/>
          <p14:tracePt t="75008" x="3379788" y="5197475"/>
          <p14:tracePt t="75025" x="3379788" y="5224463"/>
          <p14:tracePt t="75041" x="3379788" y="5276850"/>
          <p14:tracePt t="75058" x="3397250" y="5329238"/>
          <p14:tracePt t="75075" x="3432175" y="5381625"/>
          <p14:tracePt t="75091" x="3476625" y="5434013"/>
          <p14:tracePt t="75108" x="3511550" y="5459413"/>
          <p14:tracePt t="75125" x="3581400" y="5486400"/>
          <p14:tracePt t="75141" x="3703638" y="5503863"/>
          <p14:tracePt t="75158" x="3833813" y="5503863"/>
          <p14:tracePt t="75175" x="3938588" y="5503863"/>
          <p14:tracePt t="75191" x="3973513" y="5503863"/>
          <p14:tracePt t="75193" x="3990975" y="5503863"/>
          <p14:tracePt t="75305" x="4000500" y="5503863"/>
          <p14:tracePt t="75402" x="0" y="0"/>
        </p14:tracePtLst>
        <p14:tracePtLst>
          <p14:tracePt t="81885" x="9029700" y="5189538"/>
          <p14:tracePt t="81945" x="9029700" y="5180013"/>
          <p14:tracePt t="81953" x="9029700" y="5162550"/>
          <p14:tracePt t="81969" x="9029700" y="5145088"/>
          <p14:tracePt t="81977" x="9029700" y="5127625"/>
          <p14:tracePt t="81990" x="9029700" y="5110163"/>
          <p14:tracePt t="82007" x="9029700" y="5084763"/>
          <p14:tracePt t="82023" x="9029700" y="5040313"/>
          <p14:tracePt t="82041" x="9029700" y="5022850"/>
          <p14:tracePt t="82057" x="9012238" y="4997450"/>
          <p14:tracePt t="82074" x="9004300" y="4979988"/>
          <p14:tracePt t="82090" x="8986838" y="4962525"/>
          <p14:tracePt t="82107" x="8977313" y="4953000"/>
          <p14:tracePt t="82123" x="8969375" y="4953000"/>
          <p14:tracePt t="82140" x="8959850" y="4953000"/>
          <p14:tracePt t="82157" x="8951913" y="4953000"/>
          <p14:tracePt t="82174" x="8942388" y="4953000"/>
          <p14:tracePt t="82190" x="8934450" y="4953000"/>
          <p14:tracePt t="82207" x="8924925" y="4953000"/>
          <p14:tracePt t="82223" x="8916988" y="4945063"/>
          <p14:tracePt t="82225" x="8907463" y="4945063"/>
          <p14:tracePt t="82241" x="8899525" y="4945063"/>
          <p14:tracePt t="82289" x="8890000" y="4945063"/>
          <p14:tracePt t="82345" x="8890000" y="4953000"/>
          <p14:tracePt t="82353" x="8882063" y="4953000"/>
          <p14:tracePt t="82369" x="8882063" y="4962525"/>
          <p14:tracePt t="82377" x="8864600" y="4970463"/>
          <p14:tracePt t="82390" x="8855075" y="4970463"/>
          <p14:tracePt t="82407" x="8855075" y="4979988"/>
          <p14:tracePt t="82424" x="8847138" y="4987925"/>
          <p14:tracePt t="82425" x="8829675" y="4997450"/>
          <p14:tracePt t="82449" x="8829675" y="5005388"/>
          <p14:tracePt t="82457" x="8829675" y="5014913"/>
          <p14:tracePt t="82473" x="8820150" y="5014913"/>
          <p14:tracePt t="82490" x="8812213" y="5022850"/>
          <p14:tracePt t="82507" x="8812213" y="5032375"/>
          <p14:tracePt t="82524" x="8802688" y="5049838"/>
          <p14:tracePt t="82540" x="8794750" y="5067300"/>
          <p14:tracePt t="82557" x="8785225" y="5084763"/>
          <p14:tracePt t="82573" x="8785225" y="5092700"/>
          <p14:tracePt t="82590" x="8785225" y="5102225"/>
          <p14:tracePt t="82607" x="8785225" y="5110163"/>
          <p14:tracePt t="82623" x="8785225" y="5137150"/>
          <p14:tracePt t="82625" x="8794750" y="5137150"/>
          <p14:tracePt t="82640" x="8802688" y="5154613"/>
          <p14:tracePt t="82641" x="8802688" y="5162550"/>
          <p14:tracePt t="82657" x="8812213" y="5180013"/>
          <p14:tracePt t="82674" x="8820150" y="5197475"/>
          <p14:tracePt t="82690" x="8837613" y="5214938"/>
          <p14:tracePt t="82707" x="8855075" y="5232400"/>
          <p14:tracePt t="82723" x="8872538" y="5249863"/>
          <p14:tracePt t="82740" x="8890000" y="5259388"/>
          <p14:tracePt t="82757" x="8924925" y="5276850"/>
          <p14:tracePt t="82774" x="8951913" y="5284788"/>
          <p14:tracePt t="82790" x="8969375" y="5284788"/>
          <p14:tracePt t="82807" x="8986838" y="5284788"/>
          <p14:tracePt t="82823" x="9012238" y="5284788"/>
          <p14:tracePt t="82825" x="9021763" y="5284788"/>
          <p14:tracePt t="82841" x="9029700" y="5284788"/>
          <p14:tracePt t="82857" x="9039225" y="5284788"/>
          <p14:tracePt t="82881" x="9047163" y="5284788"/>
          <p14:tracePt t="82897" x="9056688" y="5284788"/>
          <p14:tracePt t="82907" x="9064625" y="5267325"/>
          <p14:tracePt t="82923" x="9074150" y="5249863"/>
          <p14:tracePt t="82940" x="9082088" y="5232400"/>
          <p14:tracePt t="82957" x="9091613" y="5207000"/>
          <p14:tracePt t="82973" x="9091613" y="5189538"/>
          <p14:tracePt t="82990" x="9099550" y="5172075"/>
          <p14:tracePt t="83007" x="9109075" y="5154613"/>
          <p14:tracePt t="83023" x="9109075" y="5137150"/>
          <p14:tracePt t="83040" x="9109075" y="5127625"/>
          <p14:tracePt t="83041" x="9109075" y="5119688"/>
          <p14:tracePt t="83057" x="9099550" y="5110163"/>
          <p14:tracePt t="83073" x="9074150" y="5092700"/>
          <p14:tracePt t="83090" x="9056688" y="5084763"/>
          <p14:tracePt t="83107" x="9039225" y="5067300"/>
          <p14:tracePt t="83123" x="9004300" y="5057775"/>
          <p14:tracePt t="83140" x="8977313" y="5040313"/>
          <p14:tracePt t="83157" x="8959850" y="5022850"/>
          <p14:tracePt t="83173" x="8942388" y="5022850"/>
          <p14:tracePt t="83190" x="8924925" y="5014913"/>
          <p14:tracePt t="83207" x="8916988" y="5014913"/>
          <p14:tracePt t="83223" x="8899525" y="5005388"/>
          <p14:tracePt t="83225" x="8890000" y="5005388"/>
          <p14:tracePt t="83249" x="8882063" y="5005388"/>
          <p14:tracePt t="83258" x="8872538" y="5005388"/>
          <p14:tracePt t="83281" x="8864600" y="5005388"/>
          <p14:tracePt t="83290" x="8855075" y="5005388"/>
          <p14:tracePt t="83307" x="8847138" y="5005388"/>
          <p14:tracePt t="83345" x="8837613" y="5005388"/>
          <p14:tracePt t="83417" x="8829675" y="5014913"/>
          <p14:tracePt t="83425" x="8820150" y="5014913"/>
          <p14:tracePt t="83433" x="8812213" y="5032375"/>
          <p14:tracePt t="83441" x="8802688" y="5040313"/>
          <p14:tracePt t="83457" x="8785225" y="5049838"/>
          <p14:tracePt t="83473" x="8767763" y="5067300"/>
          <p14:tracePt t="83490" x="8759825" y="5084763"/>
          <p14:tracePt t="83507" x="8750300" y="5102225"/>
          <p14:tracePt t="83529" x="8750300" y="5110163"/>
          <p14:tracePt t="83545" x="8750300" y="5119688"/>
          <p14:tracePt t="83569" x="8750300" y="5127625"/>
          <p14:tracePt t="83586" x="8750300" y="5137150"/>
          <p14:tracePt t="83601" x="8750300" y="5145088"/>
          <p14:tracePt t="83617" x="8750300" y="5154613"/>
          <p14:tracePt t="83625" x="8750300" y="5172075"/>
          <p14:tracePt t="83641" x="8767763" y="5180013"/>
          <p14:tracePt t="83657" x="8767763" y="5189538"/>
          <p14:tracePt t="83673" x="8777288" y="5197475"/>
          <p14:tracePt t="83690" x="8785225" y="5207000"/>
          <p14:tracePt t="83706" x="8794750" y="5214938"/>
          <p14:tracePt t="83724" x="8802688" y="5214938"/>
          <p14:tracePt t="83740" x="8812213" y="5214938"/>
          <p14:tracePt t="83757" x="8837613" y="5224463"/>
          <p14:tracePt t="83774" x="8855075" y="5232400"/>
          <p14:tracePt t="83790" x="8864600" y="5232400"/>
          <p14:tracePt t="83807" x="8890000" y="5241925"/>
          <p14:tracePt t="83824" x="8899525" y="5241925"/>
          <p14:tracePt t="83825" x="8907463" y="5241925"/>
          <p14:tracePt t="83841" x="8916988" y="5241925"/>
          <p14:tracePt t="83857" x="8924925" y="5241925"/>
          <p14:tracePt t="83873" x="8934450" y="5241925"/>
          <p14:tracePt t="83890" x="8951913" y="5241925"/>
          <p14:tracePt t="83907" x="8959850" y="5232400"/>
          <p14:tracePt t="83923" x="8969375" y="5232400"/>
          <p14:tracePt t="83940" x="8977313" y="5232400"/>
          <p14:tracePt t="83957" x="8986838" y="5224463"/>
          <p14:tracePt t="83973" x="8994775" y="5224463"/>
          <p14:tracePt t="84065" x="8994775" y="5214938"/>
          <p14:tracePt t="84089" x="8994775" y="5207000"/>
          <p14:tracePt t="84105" x="8994775" y="5197475"/>
          <p14:tracePt t="84113" x="8986838" y="5180013"/>
          <p14:tracePt t="84129" x="8977313" y="5162550"/>
          <p14:tracePt t="84140" x="8977313" y="5145088"/>
          <p14:tracePt t="84157" x="8969375" y="5127625"/>
          <p14:tracePt t="84177" x="8969375" y="5119688"/>
          <p14:tracePt t="84193" x="8969375" y="5110163"/>
          <p14:tracePt t="84209" x="8969375" y="5102225"/>
          <p14:tracePt t="84225" x="8969375" y="5092700"/>
          <p14:tracePt t="84249" x="8959850" y="5084763"/>
          <p14:tracePt t="84257" x="8959850" y="5075238"/>
          <p14:tracePt t="84273" x="8942388" y="5057775"/>
          <p14:tracePt t="84290" x="8924925" y="5040313"/>
          <p14:tracePt t="84307" x="8907463" y="5040313"/>
          <p14:tracePt t="84323" x="8907463" y="5032375"/>
          <p14:tracePt t="84340" x="8890000" y="5022850"/>
          <p14:tracePt t="84357" x="8882063" y="5014913"/>
          <p14:tracePt t="84373" x="8872538" y="5014913"/>
          <p14:tracePt t="84401" x="8864600" y="5014913"/>
          <p14:tracePt t="84474" x="8855075" y="5014913"/>
          <p14:tracePt t="84586" x="0" y="0"/>
        </p14:tracePtLst>
        <p14:tracePtLst>
          <p14:tracePt t="89077" x="8890000" y="3259138"/>
          <p14:tracePt t="89081" x="8899525" y="3259138"/>
          <p14:tracePt t="89097" x="8907463" y="3267075"/>
          <p14:tracePt t="89106" x="8924925" y="3276600"/>
          <p14:tracePt t="89122" x="8942388" y="3284538"/>
          <p14:tracePt t="89139" x="8951913" y="3284538"/>
          <p14:tracePt t="89156" x="8986838" y="3302000"/>
          <p14:tracePt t="89172" x="9004300" y="3311525"/>
          <p14:tracePt t="89189" x="9021763" y="3311525"/>
          <p14:tracePt t="89206" x="9029700" y="3311525"/>
          <p14:tracePt t="89222" x="9039225" y="3319463"/>
          <p14:tracePt t="89239" x="9047163" y="3319463"/>
          <p14:tracePt t="89256" x="9056688" y="3319463"/>
          <p14:tracePt t="89401" x="9056688" y="3311525"/>
          <p14:tracePt t="89410" x="9056688" y="3302000"/>
          <p14:tracePt t="89425" x="9056688" y="3294063"/>
          <p14:tracePt t="89433" x="9064625" y="3294063"/>
          <p14:tracePt t="89441" x="9064625" y="3284538"/>
          <p14:tracePt t="89456" x="9064625" y="3276600"/>
          <p14:tracePt t="89457" x="9074150" y="3276600"/>
          <p14:tracePt t="89473" x="9074150" y="3267075"/>
          <p14:tracePt t="89489" x="9074150" y="3249613"/>
          <p14:tracePt t="89505" x="9074150" y="3232150"/>
          <p14:tracePt t="89522" x="9074150" y="3224213"/>
          <p14:tracePt t="89539" x="9074150" y="3214688"/>
          <p14:tracePt t="89556" x="9074150" y="3206750"/>
          <p14:tracePt t="89572" x="9074150" y="3197225"/>
          <p14:tracePt t="89589" x="9074150" y="3189288"/>
          <p14:tracePt t="89606" x="9074150" y="3171825"/>
          <p14:tracePt t="89623" x="9064625" y="3162300"/>
          <p14:tracePt t="89639" x="9064625" y="3144838"/>
          <p14:tracePt t="89656" x="9064625" y="3136900"/>
          <p14:tracePt t="89672" x="9064625" y="3127375"/>
          <p14:tracePt t="89689" x="9064625" y="3119438"/>
          <p14:tracePt t="89713" x="9056688" y="3109913"/>
          <p14:tracePt t="89722" x="9056688" y="3101975"/>
          <p14:tracePt t="89739" x="9047163" y="3092450"/>
          <p14:tracePt t="89756" x="9039225" y="3057525"/>
          <p14:tracePt t="89772" x="9029700" y="3057525"/>
          <p14:tracePt t="89789" x="9029700" y="3040063"/>
          <p14:tracePt t="89806" x="9021763" y="3032125"/>
          <p14:tracePt t="89822" x="9021763" y="3022600"/>
          <p14:tracePt t="89839" x="9021763" y="3014663"/>
          <p14:tracePt t="89856" x="9012238" y="3005138"/>
          <p14:tracePt t="89857" x="8994775" y="2997200"/>
          <p14:tracePt t="89873" x="8986838" y="2987675"/>
          <p14:tracePt t="89889" x="8969375" y="2970213"/>
          <p14:tracePt t="89905" x="8959850" y="2970213"/>
          <p14:tracePt t="89922" x="8951913" y="2962275"/>
          <p14:tracePt t="89939" x="8934450" y="2952750"/>
          <p14:tracePt t="89956" x="8924925" y="2952750"/>
          <p14:tracePt t="89972" x="8916988" y="2944813"/>
          <p14:tracePt t="89989" x="8907463" y="2944813"/>
          <p14:tracePt t="90006" x="8899525" y="2935288"/>
          <p14:tracePt t="90025" x="8890000" y="2935288"/>
          <p14:tracePt t="90039" x="8882063" y="2935288"/>
          <p14:tracePt t="90056" x="8872538" y="2935288"/>
          <p14:tracePt t="90057" x="8864600" y="2935288"/>
          <p14:tracePt t="90097" x="8855075" y="2935288"/>
          <p14:tracePt t="90161" x="8847138" y="2935288"/>
          <p14:tracePt t="90169" x="8837613" y="2935288"/>
          <p14:tracePt t="90193" x="8837613" y="2944813"/>
          <p14:tracePt t="90201" x="8829675" y="2944813"/>
          <p14:tracePt t="90217" x="8820150" y="2944813"/>
          <p14:tracePt t="90242" x="8812213" y="2944813"/>
          <p14:tracePt t="90281" x="8812213" y="2952750"/>
          <p14:tracePt t="90289" x="8802688" y="2952750"/>
          <p14:tracePt t="90313" x="8794750" y="2962275"/>
          <p14:tracePt t="90337" x="8785225" y="2962275"/>
          <p14:tracePt t="90345" x="8785225" y="2970213"/>
          <p14:tracePt t="90356" x="8785225" y="2979738"/>
          <p14:tracePt t="90372" x="8777288" y="2979738"/>
          <p14:tracePt t="90389" x="8777288" y="2987675"/>
          <p14:tracePt t="90406" x="8767763" y="2987675"/>
          <p14:tracePt t="90422" x="8759825" y="2997200"/>
          <p14:tracePt t="90439" x="8750300" y="3005138"/>
          <p14:tracePt t="90457" x="8742363" y="3005138"/>
          <p14:tracePt t="90473" x="8732838" y="3014663"/>
          <p14:tracePt t="90489" x="8732838" y="3032125"/>
          <p14:tracePt t="90513" x="8732838" y="3040063"/>
          <p14:tracePt t="90522" x="8724900" y="3049588"/>
          <p14:tracePt t="90539" x="8724900" y="3057525"/>
          <p14:tracePt t="90555" x="8724900" y="3067050"/>
          <p14:tracePt t="90573" x="8724900" y="3074988"/>
          <p14:tracePt t="90593" x="8724900" y="3084513"/>
          <p14:tracePt t="90606" x="8732838" y="3084513"/>
          <p14:tracePt t="90622" x="8742363" y="3092450"/>
          <p14:tracePt t="90639" x="8742363" y="3101975"/>
          <p14:tracePt t="90655" x="8767763" y="3109913"/>
          <p14:tracePt t="90657" x="8767763" y="3119438"/>
          <p14:tracePt t="90673" x="8777288" y="3119438"/>
          <p14:tracePt t="90689" x="8794750" y="3144838"/>
          <p14:tracePt t="90706" x="8812213" y="3154363"/>
          <p14:tracePt t="90722" x="8829675" y="3162300"/>
          <p14:tracePt t="90739" x="8829675" y="3171825"/>
          <p14:tracePt t="90756" x="8855075" y="3179763"/>
          <p14:tracePt t="90773" x="8864600" y="3189288"/>
          <p14:tracePt t="90789" x="8890000" y="3197225"/>
          <p14:tracePt t="90806" x="8907463" y="3206750"/>
          <p14:tracePt t="90822" x="8924925" y="3214688"/>
          <p14:tracePt t="90839" x="8942388" y="3232150"/>
          <p14:tracePt t="90841" x="8951913" y="3232150"/>
          <p14:tracePt t="90855" x="8959850" y="3232150"/>
          <p14:tracePt t="90872" x="8969375" y="3232150"/>
          <p14:tracePt t="90873" x="8977313" y="3232150"/>
          <p14:tracePt t="90889" x="8986838" y="3232150"/>
          <p14:tracePt t="90906" x="8994775" y="3241675"/>
          <p14:tracePt t="90922" x="9004300" y="3241675"/>
          <p14:tracePt t="90939" x="9021763" y="3249613"/>
          <p14:tracePt t="90955" x="9039225" y="3249613"/>
          <p14:tracePt t="90972" x="9074150" y="3259138"/>
          <p14:tracePt t="90989" x="9082088" y="3259138"/>
          <p14:tracePt t="91006" x="9091613" y="3259138"/>
          <p14:tracePt t="91073" x="9091613" y="3249613"/>
          <p14:tracePt t="91081" x="9099550" y="3249613"/>
          <p14:tracePt t="91089" x="9099550" y="3241675"/>
          <p14:tracePt t="91106" x="9109075" y="3241675"/>
          <p14:tracePt t="91122" x="9117013" y="3232150"/>
          <p14:tracePt t="91139" x="9126538" y="3214688"/>
          <p14:tracePt t="91155" x="9153525" y="3189288"/>
          <p14:tracePt t="91172" x="9153525" y="3171825"/>
          <p14:tracePt t="91189" x="9161463" y="3154363"/>
          <p14:tracePt t="91209" x="9170988" y="3144838"/>
          <p14:tracePt t="91226" x="9170988" y="3136900"/>
          <p14:tracePt t="91249" x="9170988" y="3127375"/>
          <p14:tracePt t="91265" x="9161463" y="3119438"/>
          <p14:tracePt t="91273" x="9161463" y="3101975"/>
          <p14:tracePt t="91289" x="9153525" y="3092450"/>
          <p14:tracePt t="91305" x="9144000" y="3084513"/>
          <p14:tracePt t="91322" x="9144000" y="3074988"/>
          <p14:tracePt t="91339" x="9134475" y="3067050"/>
          <p14:tracePt t="91361" x="9126538" y="3067050"/>
          <p14:tracePt t="91372" x="9126538" y="3057525"/>
          <p14:tracePt t="91389" x="9109075" y="3040063"/>
          <p14:tracePt t="91405" x="9082088" y="3032125"/>
          <p14:tracePt t="91422" x="9056688" y="3014663"/>
          <p14:tracePt t="91439" x="9047163" y="3005138"/>
          <p14:tracePt t="91455" x="9029700" y="2997200"/>
          <p14:tracePt t="91481" x="9029700" y="2987675"/>
          <p14:tracePt t="91489" x="9021763" y="2987675"/>
          <p14:tracePt t="91505" x="9012238" y="2987675"/>
          <p14:tracePt t="91522" x="9004300" y="2987675"/>
          <p14:tracePt t="91539" x="8986838" y="2979738"/>
          <p14:tracePt t="91555" x="8959850" y="2979738"/>
          <p14:tracePt t="91572" x="8951913" y="2970213"/>
          <p14:tracePt t="91589" x="8934450" y="2962275"/>
          <p14:tracePt t="91617" x="8924925" y="2962275"/>
          <p14:tracePt t="91633" x="8916988" y="2962275"/>
          <p14:tracePt t="91673" x="8907463" y="2962275"/>
          <p14:tracePt t="91681" x="8899525" y="2962275"/>
          <p14:tracePt t="91705" x="8890000" y="2962275"/>
          <p14:tracePt t="91721" x="8882063" y="2962275"/>
          <p14:tracePt t="91841" x="8872538" y="2962275"/>
          <p14:tracePt t="91849" x="8864600" y="2962275"/>
          <p14:tracePt t="91857" x="8855075" y="2970213"/>
          <p14:tracePt t="91873" x="8847138" y="2970213"/>
          <p14:tracePt t="91889" x="8829675" y="2979738"/>
          <p14:tracePt t="91905" x="8820150" y="2979738"/>
          <p14:tracePt t="91922" x="8812213" y="2979738"/>
          <p14:tracePt t="91939" x="8794750" y="2997200"/>
          <p14:tracePt t="91955" x="8794750" y="3005138"/>
          <p14:tracePt t="91972" x="8785225" y="3005138"/>
          <p14:tracePt t="91993" x="8777288" y="3005138"/>
          <p14:tracePt t="92005" x="8777288" y="3014663"/>
          <p14:tracePt t="92022" x="8777288" y="3022600"/>
          <p14:tracePt t="92041" x="8759825" y="3032125"/>
          <p14:tracePt t="92057" x="8750300" y="3049588"/>
          <p14:tracePt t="92072" x="8742363" y="3049588"/>
          <p14:tracePt t="92073" x="8732838" y="3057525"/>
          <p14:tracePt t="92089" x="8707438" y="3074988"/>
          <p14:tracePt t="92105" x="8707438" y="3084513"/>
          <p14:tracePt t="92122" x="8697913" y="3101975"/>
          <p14:tracePt t="92139" x="8689975" y="3109913"/>
          <p14:tracePt t="92155" x="8689975" y="3136900"/>
          <p14:tracePt t="92172" x="8689975" y="3154363"/>
          <p14:tracePt t="92189" x="8689975" y="3171825"/>
          <p14:tracePt t="92205" x="8689975" y="3197225"/>
          <p14:tracePt t="92222" x="8689975" y="3214688"/>
          <p14:tracePt t="92239" x="8707438" y="3241675"/>
          <p14:tracePt t="92255" x="8715375" y="3249613"/>
          <p14:tracePt t="92257" x="8724900" y="3259138"/>
          <p14:tracePt t="92272" x="8732838" y="3276600"/>
          <p14:tracePt t="92289" x="8742363" y="3294063"/>
          <p14:tracePt t="92305" x="8750300" y="3294063"/>
          <p14:tracePt t="92322" x="8777288" y="3311525"/>
          <p14:tracePt t="92339" x="8794750" y="3319463"/>
          <p14:tracePt t="92356" x="8820150" y="3328988"/>
          <p14:tracePt t="92372" x="8847138" y="3336925"/>
          <p14:tracePt t="92389" x="8864600" y="3354388"/>
          <p14:tracePt t="92405" x="8882063" y="3354388"/>
          <p14:tracePt t="92422" x="8890000" y="3354388"/>
          <p14:tracePt t="92439" x="8899525" y="3354388"/>
          <p14:tracePt t="92497" x="8907463" y="3346450"/>
          <p14:tracePt t="92505" x="8916988" y="3346450"/>
          <p14:tracePt t="92513" x="8934450" y="3336925"/>
          <p14:tracePt t="92522" x="8951913" y="3336925"/>
          <p14:tracePt t="92539" x="9029700" y="3319463"/>
          <p14:tracePt t="92556" x="9056688" y="3319463"/>
          <p14:tracePt t="92572" x="9074150" y="3311525"/>
          <p14:tracePt t="92589" x="9074150" y="3302000"/>
          <p14:tracePt t="92618" x="9082088" y="3302000"/>
          <p14:tracePt t="92633" x="9082088" y="3294063"/>
          <p14:tracePt t="92649" x="9082088" y="3284538"/>
          <p14:tracePt t="92737" x="9082088" y="3276600"/>
          <p14:tracePt t="92753" x="9082088" y="3267075"/>
          <p14:tracePt t="92761" x="9082088" y="3259138"/>
          <p14:tracePt t="92772" x="9082088" y="3249613"/>
          <p14:tracePt t="92788" x="9082088" y="3206750"/>
          <p14:tracePt t="92805" x="9064625" y="3179763"/>
          <p14:tracePt t="92822" x="9064625" y="3162300"/>
          <p14:tracePt t="92839" x="9056688" y="3144838"/>
          <p14:tracePt t="92873" x="9056688" y="3136900"/>
          <p14:tracePt t="92881" x="9047163" y="3136900"/>
          <p14:tracePt t="92897" x="9039225" y="3127375"/>
          <p14:tracePt t="92905" x="9029700" y="3119438"/>
          <p14:tracePt t="92922" x="9004300" y="3101975"/>
          <p14:tracePt t="92939" x="8994775" y="3092450"/>
          <p14:tracePt t="92955" x="8986838" y="3084513"/>
          <p14:tracePt t="92973" x="8986838" y="3074988"/>
          <p14:tracePt t="92989" x="8977313" y="3074988"/>
          <p14:tracePt t="93005" x="8969375" y="3067050"/>
          <p14:tracePt t="93022" x="8951913" y="3057525"/>
          <p14:tracePt t="93038" x="8924925" y="3049588"/>
          <p14:tracePt t="93055" x="8899525" y="3049588"/>
          <p14:tracePt t="93072" x="8890000" y="3040063"/>
          <p14:tracePt t="93074" x="8882063" y="3040063"/>
          <p14:tracePt t="93089" x="8872538" y="3040063"/>
          <p14:tracePt t="93105" x="8855075" y="3040063"/>
          <p14:tracePt t="93122" x="8855075" y="3032125"/>
          <p14:tracePt t="93139" x="8837613" y="3032125"/>
          <p14:tracePt t="93155" x="8829675" y="3032125"/>
          <p14:tracePt t="93201" x="8820150" y="3032125"/>
          <p14:tracePt t="93209" x="8820150" y="3040063"/>
          <p14:tracePt t="93241" x="8812213" y="3040063"/>
          <p14:tracePt t="93257" x="8802688" y="3049588"/>
          <p14:tracePt t="93265" x="8802688" y="3057525"/>
          <p14:tracePt t="93274" x="8794750" y="3057525"/>
          <p14:tracePt t="93297" x="8785225" y="3067050"/>
          <p14:tracePt t="93305" x="8767763" y="3084513"/>
          <p14:tracePt t="93322" x="8767763" y="3101975"/>
          <p14:tracePt t="93339" x="8750300" y="3109913"/>
          <p14:tracePt t="93355" x="8742363" y="3136900"/>
          <p14:tracePt t="93372" x="8742363" y="3154363"/>
          <p14:tracePt t="93389" x="8732838" y="3162300"/>
          <p14:tracePt t="93406" x="8732838" y="3189288"/>
          <p14:tracePt t="93422" x="8732838" y="3206750"/>
          <p14:tracePt t="93438" x="8742363" y="3214688"/>
          <p14:tracePt t="93455" x="8759825" y="3214688"/>
          <p14:tracePt t="93472" x="8777288" y="3232150"/>
          <p14:tracePt t="93473" x="8785225" y="3232150"/>
          <p14:tracePt t="93489" x="8812213" y="3241675"/>
          <p14:tracePt t="93506" x="8829675" y="3259138"/>
          <p14:tracePt t="93522" x="8847138" y="3276600"/>
          <p14:tracePt t="93538" x="8882063" y="3276600"/>
          <p14:tracePt t="93555" x="8882063" y="3284538"/>
          <p14:tracePt t="93572" x="8907463" y="3294063"/>
          <p14:tracePt t="93588" x="8916988" y="3294063"/>
          <p14:tracePt t="93606" x="8934450" y="3294063"/>
          <p14:tracePt t="93622" x="8959850" y="3294063"/>
          <p14:tracePt t="93638" x="8994775" y="3294063"/>
          <p14:tracePt t="93655" x="9021763" y="3276600"/>
          <p14:tracePt t="93672" x="9039225" y="3267075"/>
          <p14:tracePt t="93673" x="9056688" y="3259138"/>
          <p14:tracePt t="93688" x="9074150" y="3249613"/>
          <p14:tracePt t="93705" x="9074150" y="3241675"/>
          <p14:tracePt t="93729" x="9074150" y="3232150"/>
          <p14:tracePt t="93738" x="9082088" y="3232150"/>
          <p14:tracePt t="93755" x="9091613" y="3232150"/>
          <p14:tracePt t="93772" x="9099550" y="3224213"/>
          <p14:tracePt t="93789" x="9126538" y="3206750"/>
          <p14:tracePt t="93805" x="9134475" y="3197225"/>
          <p14:tracePt t="93822" x="9153525" y="3189288"/>
          <p14:tracePt t="93838" x="9161463" y="3179763"/>
          <p14:tracePt t="93855" x="9170988" y="3171825"/>
          <p14:tracePt t="93921" x="9178925" y="3171825"/>
          <p14:tracePt t="94074" x="0" y="0"/>
        </p14:tracePtLst>
        <p14:tracePtLst>
          <p14:tracePt t="99573" x="8959850" y="3241675"/>
          <p14:tracePt t="99577" x="8969375" y="3241675"/>
          <p14:tracePt t="99587" x="8977313" y="3241675"/>
          <p14:tracePt t="99604" x="8986838" y="3249613"/>
          <p14:tracePt t="99621" x="9004300" y="3259138"/>
          <p14:tracePt t="99637" x="9029700" y="3259138"/>
          <p14:tracePt t="99654" x="9039225" y="3267075"/>
          <p14:tracePt t="99671" x="9047163" y="3267075"/>
          <p14:tracePt t="99689" x="9056688" y="3267075"/>
          <p14:tracePt t="99705" x="9064625" y="3267075"/>
          <p14:tracePt t="99753" x="9074150" y="3267075"/>
          <p14:tracePt t="99777" x="9074150" y="3259138"/>
          <p14:tracePt t="99785" x="9074150" y="3249613"/>
          <p14:tracePt t="99809" x="9082088" y="3241675"/>
          <p14:tracePt t="99817" x="9082088" y="3232150"/>
          <p14:tracePt t="99825" x="9091613" y="3224213"/>
          <p14:tracePt t="99837" x="9091613" y="3206750"/>
          <p14:tracePt t="99854" x="9099550" y="3189288"/>
          <p14:tracePt t="99871" x="9109075" y="3154363"/>
          <p14:tracePt t="99888" x="9109075" y="3127375"/>
          <p14:tracePt t="99904" x="9109075" y="3109913"/>
          <p14:tracePt t="99905" x="9109075" y="3101975"/>
          <p14:tracePt t="99921" x="9109075" y="3084513"/>
          <p14:tracePt t="99938" x="9099550" y="3074988"/>
          <p14:tracePt t="99954" x="9091613" y="3057525"/>
          <p14:tracePt t="99971" x="9074150" y="3049588"/>
          <p14:tracePt t="99987" x="9029700" y="3032125"/>
          <p14:tracePt t="100004" x="9004300" y="3005138"/>
          <p14:tracePt t="100021" x="8977313" y="2997200"/>
          <p14:tracePt t="100038" x="8959850" y="2979738"/>
          <p14:tracePt t="100054" x="8951913" y="2970213"/>
          <p14:tracePt t="100071" x="8942388" y="2962275"/>
          <p14:tracePt t="100087" x="8924925" y="2952750"/>
          <p14:tracePt t="100104" x="8916988" y="2952750"/>
          <p14:tracePt t="100106" x="8907463" y="2944813"/>
          <p14:tracePt t="100121" x="8890000" y="2935288"/>
          <p14:tracePt t="100137" x="8872538" y="2935288"/>
          <p14:tracePt t="100154" x="8864600" y="2935288"/>
          <p14:tracePt t="100171" x="8855075" y="2935288"/>
          <p14:tracePt t="100209" x="8855075" y="2944813"/>
          <p14:tracePt t="100225" x="8847138" y="2944813"/>
          <p14:tracePt t="100233" x="8837613" y="2952750"/>
          <p14:tracePt t="100241" x="8829675" y="2970213"/>
          <p14:tracePt t="100254" x="8820150" y="2979738"/>
          <p14:tracePt t="100271" x="8812213" y="3014663"/>
          <p14:tracePt t="100288" x="8794750" y="3049588"/>
          <p14:tracePt t="100289" x="8794750" y="3057525"/>
          <p14:tracePt t="100304" x="8794750" y="3084513"/>
          <p14:tracePt t="100305" x="8794750" y="3101975"/>
          <p14:tracePt t="100321" x="8794750" y="3127375"/>
          <p14:tracePt t="100337" x="8802688" y="3154363"/>
          <p14:tracePt t="100354" x="8812213" y="3171825"/>
          <p14:tracePt t="100371" x="8837613" y="3179763"/>
          <p14:tracePt t="100387" x="8872538" y="3197225"/>
          <p14:tracePt t="100404" x="8890000" y="3206750"/>
          <p14:tracePt t="100421" x="8907463" y="3206750"/>
          <p14:tracePt t="100438" x="8916988" y="3214688"/>
          <p14:tracePt t="100457" x="8924925" y="3214688"/>
          <p14:tracePt t="100497" x="8934450" y="3214688"/>
          <p14:tracePt t="100521" x="8942388" y="3214688"/>
          <p14:tracePt t="100529" x="8951913" y="3214688"/>
          <p14:tracePt t="100610" x="0" y="0"/>
        </p14:tracePtLst>
        <p14:tracePtLst>
          <p14:tracePt t="103741" x="9047163" y="4962525"/>
          <p14:tracePt t="103746" x="9039225" y="4962525"/>
          <p14:tracePt t="103761" x="9029700" y="4962525"/>
          <p14:tracePt t="103778" x="9021763" y="4953000"/>
          <p14:tracePt t="103787" x="9004300" y="4953000"/>
          <p14:tracePt t="103804" x="8994775" y="4953000"/>
          <p14:tracePt t="103820" x="8986838" y="4953000"/>
          <p14:tracePt t="103837" x="8977313" y="4953000"/>
          <p14:tracePt t="103873" x="8969375" y="4953000"/>
          <p14:tracePt t="103881" x="8959850" y="4953000"/>
          <p14:tracePt t="103897" x="8951913" y="4953000"/>
          <p14:tracePt t="103905" x="8942388" y="4953000"/>
          <p14:tracePt t="103920" x="8934450" y="4953000"/>
          <p14:tracePt t="103921" x="8924925" y="4953000"/>
          <p14:tracePt t="103937" x="8890000" y="4953000"/>
          <p14:tracePt t="103954" x="8872538" y="4953000"/>
          <p14:tracePt t="103970" x="8855075" y="4962525"/>
          <p14:tracePt t="103987" x="8847138" y="4962525"/>
          <p14:tracePt t="104003" x="8837613" y="4962525"/>
          <p14:tracePt t="104020" x="8829675" y="4970463"/>
          <p14:tracePt t="104037" x="8820150" y="4979988"/>
          <p14:tracePt t="104054" x="8812213" y="4987925"/>
          <p14:tracePt t="104070" x="8802688" y="4987925"/>
          <p14:tracePt t="104087" x="8785225" y="4987925"/>
          <p14:tracePt t="104104" x="8777288" y="4987925"/>
          <p14:tracePt t="104105" x="8767763" y="4997450"/>
          <p14:tracePt t="104120" x="8759825" y="4997450"/>
          <p14:tracePt t="104137" x="8750300" y="5005388"/>
          <p14:tracePt t="104154" x="8742363" y="5005388"/>
          <p14:tracePt t="104170" x="8742363" y="5022850"/>
          <p14:tracePt t="104187" x="8724900" y="5040313"/>
          <p14:tracePt t="104203" x="8715375" y="5049838"/>
          <p14:tracePt t="104220" x="8697913" y="5057775"/>
          <p14:tracePt t="104237" x="8689975" y="5067300"/>
          <p14:tracePt t="104254" x="8672513" y="5084763"/>
          <p14:tracePt t="104270" x="8662988" y="5102225"/>
          <p14:tracePt t="104287" x="8655050" y="5119688"/>
          <p14:tracePt t="104304" x="8637588" y="5137150"/>
          <p14:tracePt t="104305" x="8637588" y="5145088"/>
          <p14:tracePt t="104320" x="8637588" y="5154613"/>
          <p14:tracePt t="104337" x="8637588" y="5172075"/>
          <p14:tracePt t="104354" x="8637588" y="5180013"/>
          <p14:tracePt t="104370" x="8637588" y="5197475"/>
          <p14:tracePt t="104386" x="8637588" y="5207000"/>
          <p14:tracePt t="104403" x="8637588" y="5214938"/>
          <p14:tracePt t="104420" x="8655050" y="5224463"/>
          <p14:tracePt t="104437" x="8672513" y="5249863"/>
          <p14:tracePt t="104453" x="8697913" y="5259388"/>
          <p14:tracePt t="104470" x="8715375" y="5276850"/>
          <p14:tracePt t="104486" x="8732838" y="5284788"/>
          <p14:tracePt t="104503" x="8750300" y="5294313"/>
          <p14:tracePt t="104505" x="8759825" y="5294313"/>
          <p14:tracePt t="104520" x="8767763" y="5302250"/>
          <p14:tracePt t="104521" x="8777288" y="5302250"/>
          <p14:tracePt t="104537" x="8794750" y="5302250"/>
          <p14:tracePt t="104553" x="8829675" y="5311775"/>
          <p14:tracePt t="104570" x="8855075" y="5319713"/>
          <p14:tracePt t="104587" x="8969375" y="5329238"/>
          <p14:tracePt t="104604" x="8994775" y="5329238"/>
          <p14:tracePt t="104620" x="9012238" y="5329238"/>
          <p14:tracePt t="104637" x="9029700" y="5329238"/>
          <p14:tracePt t="104721" x="9039225" y="5329238"/>
          <p14:tracePt t="104753" x="9047163" y="5329238"/>
          <p14:tracePt t="104761" x="9056688" y="5329238"/>
          <p14:tracePt t="104785" x="9056688" y="5319713"/>
          <p14:tracePt t="104793" x="9064625" y="5311775"/>
          <p14:tracePt t="104803" x="9074150" y="5311775"/>
          <p14:tracePt t="104820" x="9074150" y="5284788"/>
          <p14:tracePt t="104837" x="9082088" y="5267325"/>
          <p14:tracePt t="104853" x="9099550" y="5259388"/>
          <p14:tracePt t="104870" x="9099550" y="5249863"/>
          <p14:tracePt t="104887" x="9099550" y="5241925"/>
          <p14:tracePt t="104903" x="9099550" y="5214938"/>
          <p14:tracePt t="104905" x="9099550" y="5207000"/>
          <p14:tracePt t="104920" x="9099550" y="5197475"/>
          <p14:tracePt t="104921" x="9099550" y="5189538"/>
          <p14:tracePt t="104937" x="9099550" y="5172075"/>
          <p14:tracePt t="104953" x="9091613" y="5154613"/>
          <p14:tracePt t="104970" x="9082088" y="5137150"/>
          <p14:tracePt t="104987" x="9074150" y="5127625"/>
          <p14:tracePt t="105003" x="9064625" y="5110163"/>
          <p14:tracePt t="105020" x="9047163" y="5102225"/>
          <p14:tracePt t="105036" x="9029700" y="5084763"/>
          <p14:tracePt t="105053" x="9021763" y="5067300"/>
          <p14:tracePt t="105070" x="9012238" y="5049838"/>
          <p14:tracePt t="105087" x="9004300" y="5049838"/>
          <p14:tracePt t="105103" x="8977313" y="5032375"/>
          <p14:tracePt t="105120" x="8969375" y="5022850"/>
          <p14:tracePt t="105121" x="8959850" y="5022850"/>
          <p14:tracePt t="105137" x="8951913" y="5014913"/>
          <p14:tracePt t="105153" x="8942388" y="5014913"/>
          <p14:tracePt t="105170" x="8934450" y="5005388"/>
          <p14:tracePt t="105187" x="8924925" y="5005388"/>
          <p14:tracePt t="105203" x="8907463" y="5005388"/>
          <p14:tracePt t="105241" x="8899525" y="5005388"/>
          <p14:tracePt t="105250" x="8890000" y="5005388"/>
          <p14:tracePt t="105265" x="8882063" y="5005388"/>
          <p14:tracePt t="105290" x="8872538" y="5005388"/>
          <p14:tracePt t="105297" x="8864600" y="5005388"/>
          <p14:tracePt t="105313" x="8855075" y="5005388"/>
          <p14:tracePt t="105321" x="8847138" y="5005388"/>
          <p14:tracePt t="105337" x="8837613" y="5014913"/>
          <p14:tracePt t="105353" x="8829675" y="5014913"/>
          <p14:tracePt t="105370" x="8812213" y="5014913"/>
          <p14:tracePt t="105409" x="8802688" y="5014913"/>
          <p14:tracePt t="105417" x="8794750" y="5022850"/>
          <p14:tracePt t="105457" x="8785225" y="5032375"/>
          <p14:tracePt t="105482" x="8777288" y="5040313"/>
          <p14:tracePt t="105497" x="8767763" y="5040313"/>
          <p14:tracePt t="105505" x="8767763" y="5049838"/>
          <p14:tracePt t="105513" x="8767763" y="5057775"/>
          <p14:tracePt t="105521" x="8767763" y="5067300"/>
          <p14:tracePt t="105537" x="8759825" y="5067300"/>
          <p14:tracePt t="105553" x="8759825" y="5084763"/>
          <p14:tracePt t="105570" x="8750300" y="5084763"/>
          <p14:tracePt t="105587" x="8750300" y="5092700"/>
          <p14:tracePt t="105604" x="8750300" y="5102225"/>
          <p14:tracePt t="105620" x="8759825" y="5110163"/>
          <p14:tracePt t="105637" x="8767763" y="5119688"/>
          <p14:tracePt t="105653" x="8777288" y="5127625"/>
          <p14:tracePt t="105670" x="8785225" y="5127625"/>
          <p14:tracePt t="105689" x="8785225" y="5137150"/>
          <p14:tracePt t="105737" x="8794750" y="5137150"/>
          <p14:tracePt t="105745" x="8794750" y="5145088"/>
          <p14:tracePt t="105753" x="8812213" y="5145088"/>
          <p14:tracePt t="105770" x="8855075" y="5162550"/>
          <p14:tracePt t="105787" x="8916988" y="5162550"/>
          <p14:tracePt t="105803" x="8951913" y="5162550"/>
          <p14:tracePt t="105820" x="8977313" y="5162550"/>
          <p14:tracePt t="105837" x="9004300" y="5172075"/>
          <p14:tracePt t="105853" x="9029700" y="5180013"/>
          <p14:tracePt t="105870" x="9039225" y="5180013"/>
          <p14:tracePt t="105887" x="9039225" y="5189538"/>
          <p14:tracePt t="106274" x="0" y="0"/>
        </p14:tracePtLst>
        <p14:tracePtLst>
          <p14:tracePt t="107973" x="7842250" y="5276850"/>
          <p14:tracePt t="108113" x="7851775" y="5276850"/>
          <p14:tracePt t="108121" x="7859713" y="5267325"/>
          <p14:tracePt t="108137" x="7869238" y="5259388"/>
          <p14:tracePt t="108145" x="7877175" y="5259388"/>
          <p14:tracePt t="108153" x="7877175" y="5249863"/>
          <p14:tracePt t="108170" x="7877175" y="5241925"/>
          <p14:tracePt t="108186" x="7877175" y="5224463"/>
          <p14:tracePt t="108203" x="7877175" y="5197475"/>
          <p14:tracePt t="108220" x="7859713" y="5162550"/>
          <p14:tracePt t="108236" x="7842250" y="5119688"/>
          <p14:tracePt t="108253" x="7842250" y="5092700"/>
          <p14:tracePt t="108269" x="7824788" y="5084763"/>
          <p14:tracePt t="108286" x="7807325" y="5057775"/>
          <p14:tracePt t="108303" x="7789863" y="5040313"/>
          <p14:tracePt t="108305" x="7772400" y="5022850"/>
          <p14:tracePt t="108321" x="7754938" y="5014913"/>
          <p14:tracePt t="108336" x="7747000" y="5014913"/>
          <p14:tracePt t="108337" x="7747000" y="5005388"/>
          <p14:tracePt t="108353" x="7729538" y="5005388"/>
          <p14:tracePt t="108370" x="7729538" y="4997450"/>
          <p14:tracePt t="108386" x="7720013" y="4997450"/>
          <p14:tracePt t="108403" x="7702550" y="4997450"/>
          <p14:tracePt t="108419" x="7694613" y="4997450"/>
          <p14:tracePt t="108436" x="7685088" y="4997450"/>
          <p14:tracePt t="108453" x="7667625" y="4997450"/>
          <p14:tracePt t="108470" x="7659688" y="4997450"/>
          <p14:tracePt t="108486" x="7650163" y="4997450"/>
          <p14:tracePt t="108503" x="7642225" y="5005388"/>
          <p14:tracePt t="108519" x="7624763" y="5005388"/>
          <p14:tracePt t="108537" x="7597775" y="5014913"/>
          <p14:tracePt t="108553" x="7580313" y="5032375"/>
          <p14:tracePt t="108569" x="7554913" y="5057775"/>
          <p14:tracePt t="108586" x="7537450" y="5084763"/>
          <p14:tracePt t="108603" x="7502525" y="5102225"/>
          <p14:tracePt t="108619" x="7475538" y="5137150"/>
          <p14:tracePt t="108636" x="7440613" y="5172075"/>
          <p14:tracePt t="108653" x="7432675" y="5189538"/>
          <p14:tracePt t="108670" x="7415213" y="5207000"/>
          <p14:tracePt t="108686" x="7405688" y="5224463"/>
          <p14:tracePt t="108703" x="7397750" y="5224463"/>
          <p14:tracePt t="108705" x="7388225" y="5241925"/>
          <p14:tracePt t="108719" x="7388225" y="5249863"/>
          <p14:tracePt t="108721" x="7380288" y="5249863"/>
          <p14:tracePt t="108736" x="7380288" y="5259388"/>
          <p14:tracePt t="108737" x="7370763" y="5276850"/>
          <p14:tracePt t="108753" x="7370763" y="5302250"/>
          <p14:tracePt t="108769" x="7362825" y="5319713"/>
          <p14:tracePt t="108786" x="7362825" y="5364163"/>
          <p14:tracePt t="108803" x="7370763" y="5389563"/>
          <p14:tracePt t="108819" x="7397750" y="5407025"/>
          <p14:tracePt t="108836" x="7458075" y="5416550"/>
          <p14:tracePt t="108853" x="7502525" y="5434013"/>
          <p14:tracePt t="108870" x="7545388" y="5451475"/>
          <p14:tracePt t="108886" x="7572375" y="5451475"/>
          <p14:tracePt t="108903" x="7589838" y="5459413"/>
          <p14:tracePt t="108919" x="7607300" y="5468938"/>
          <p14:tracePt t="108921" x="7624763" y="5468938"/>
          <p14:tracePt t="108936" x="7632700" y="5468938"/>
          <p14:tracePt t="108937" x="7650163" y="5468938"/>
          <p14:tracePt t="108953" x="7677150" y="5468938"/>
          <p14:tracePt t="108969" x="7764463" y="5468938"/>
          <p14:tracePt t="108986" x="7789863" y="5468938"/>
          <p14:tracePt t="109003" x="7816850" y="5468938"/>
          <p14:tracePt t="109019" x="7834313" y="5468938"/>
          <p14:tracePt t="109036" x="7842250" y="5468938"/>
          <p14:tracePt t="109053" x="7851775" y="5459413"/>
          <p14:tracePt t="109069" x="7851775" y="5451475"/>
          <p14:tracePt t="109086" x="7859713" y="5451475"/>
          <p14:tracePt t="109103" x="7869238" y="5434013"/>
          <p14:tracePt t="109119" x="7869238" y="5407025"/>
          <p14:tracePt t="109121" x="7869238" y="5389563"/>
          <p14:tracePt t="109136" x="7869238" y="5372100"/>
          <p14:tracePt t="109137" x="7869238" y="5364163"/>
          <p14:tracePt t="109153" x="7859713" y="5319713"/>
          <p14:tracePt t="109169" x="7842250" y="5284788"/>
          <p14:tracePt t="109186" x="7824788" y="5249863"/>
          <p14:tracePt t="109203" x="7807325" y="5249863"/>
          <p14:tracePt t="109219" x="7807325" y="5241925"/>
          <p14:tracePt t="109236" x="7789863" y="5241925"/>
          <p14:tracePt t="109253" x="7781925" y="5232400"/>
          <p14:tracePt t="109269" x="7772400" y="5232400"/>
          <p14:tracePt t="109286" x="7764463" y="5232400"/>
          <p14:tracePt t="109321" x="7754938" y="5232400"/>
          <p14:tracePt t="109386" x="0" y="0"/>
        </p14:tracePtLst>
        <p14:tracePtLst>
          <p14:tracePt t="109973" x="8637588" y="5162550"/>
          <p14:tracePt t="110041" x="8645525" y="5162550"/>
          <p14:tracePt t="110049" x="8655050" y="5162550"/>
          <p14:tracePt t="110065" x="8662988" y="5162550"/>
          <p14:tracePt t="110073" x="8680450" y="5172075"/>
          <p14:tracePt t="110086" x="8707438" y="5172075"/>
          <p14:tracePt t="110103" x="8794750" y="5180013"/>
          <p14:tracePt t="110119" x="8872538" y="5180013"/>
          <p14:tracePt t="110121" x="8890000" y="5180013"/>
          <p14:tracePt t="110137" x="8916988" y="5180013"/>
          <p14:tracePt t="110152" x="8924925" y="5180013"/>
          <p14:tracePt t="110370" x="0" y="0"/>
        </p14:tracePtLst>
      </p14:laserTraceLst>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AA8AA7-3D16-6D94-3001-C108186C6E9E}"/>
              </a:ext>
            </a:extLst>
          </p:cNvPr>
          <p:cNvSpPr>
            <a:spLocks noGrp="1"/>
          </p:cNvSpPr>
          <p:nvPr>
            <p:ph type="title"/>
          </p:nvPr>
        </p:nvSpPr>
        <p:spPr/>
        <p:txBody>
          <a:bodyPr>
            <a:normAutofit fontScale="90000"/>
          </a:bodyPr>
          <a:lstStyle/>
          <a:p>
            <a:r>
              <a:rPr lang="es-ES" dirty="0"/>
              <a:t>10. Intervalo de confianza para la diferencia de las medias de dos poblaciones. Fórmulas (2)</a:t>
            </a:r>
          </a:p>
        </p:txBody>
      </p:sp>
      <p:sp>
        <p:nvSpPr>
          <p:cNvPr id="4" name="Marcador de número de diapositiva 3">
            <a:extLst>
              <a:ext uri="{FF2B5EF4-FFF2-40B4-BE49-F238E27FC236}">
                <a16:creationId xmlns:a16="http://schemas.microsoft.com/office/drawing/2014/main" id="{A8F86BC0-8C38-CB78-306D-511493FB8355}"/>
              </a:ext>
            </a:extLst>
          </p:cNvPr>
          <p:cNvSpPr>
            <a:spLocks noGrp="1"/>
          </p:cNvSpPr>
          <p:nvPr>
            <p:ph type="sldNum" sz="quarter" idx="12"/>
          </p:nvPr>
        </p:nvSpPr>
        <p:spPr/>
        <p:txBody>
          <a:bodyPr/>
          <a:lstStyle/>
          <a:p>
            <a:fld id="{336CAFD0-1F6E-4E11-9822-836563A02839}" type="slidenum">
              <a:rPr lang="es-ES" smtClean="0"/>
              <a:pPr/>
              <a:t>54</a:t>
            </a:fld>
            <a:endParaRPr lang="es-ES"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2667213844"/>
                  </p:ext>
                </p:extLst>
              </p:nvPr>
            </p:nvGraphicFramePr>
            <p:xfrm>
              <a:off x="838200" y="1825625"/>
              <a:ext cx="10515597" cy="4084574"/>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926080">
                      <a:extLst>
                        <a:ext uri="{9D8B030D-6E8A-4147-A177-3AD203B41FA5}">
                          <a16:colId xmlns:a16="http://schemas.microsoft.com/office/drawing/2014/main" val="1544234520"/>
                        </a:ext>
                      </a:extLst>
                    </a:gridCol>
                    <a:gridCol w="5176517">
                      <a:extLst>
                        <a:ext uri="{9D8B030D-6E8A-4147-A177-3AD203B41FA5}">
                          <a16:colId xmlns:a16="http://schemas.microsoft.com/office/drawing/2014/main" val="906517329"/>
                        </a:ext>
                      </a:extLst>
                    </a:gridCol>
                  </a:tblGrid>
                  <a:tr h="370840">
                    <a:tc>
                      <a:txBody>
                        <a:bodyPr/>
                        <a:lstStyle/>
                        <a:p>
                          <a:pPr algn="ctr"/>
                          <a:r>
                            <a:rPr lang="es-ES" sz="1600" b="1" dirty="0"/>
                            <a:t>Se conocen las varianzas poblacionales (</a:t>
                          </a:r>
                          <a14:m>
                            <m:oMath xmlns:m="http://schemas.openxmlformats.org/officeDocument/2006/math">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rPr>
                                    <m:t>𝑿</m:t>
                                  </m:r>
                                </m:sub>
                                <m:sup>
                                  <m:r>
                                    <a:rPr lang="es-ES" sz="1600" b="1" i="1" smtClean="0">
                                      <a:latin typeface="Cambria Math" panose="02040503050406030204" pitchFamily="18" charset="0"/>
                                    </a:rPr>
                                    <m:t>𝟐</m:t>
                                  </m:r>
                                </m:sup>
                              </m:sSubSup>
                              <m:r>
                                <a:rPr lang="es-ES" sz="1600" b="1" i="1" smtClean="0">
                                  <a:latin typeface="Cambria Math" panose="02040503050406030204" pitchFamily="18" charset="0"/>
                                </a:rPr>
                                <m:t>,</m:t>
                              </m:r>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ea typeface="Cambria Math" panose="02040503050406030204" pitchFamily="18" charset="0"/>
                                    </a:rPr>
                                    <m:t>𝒀</m:t>
                                  </m:r>
                                </m:sub>
                                <m:sup>
                                  <m:r>
                                    <a:rPr lang="es-ES" sz="1600" b="1" i="1" smtClean="0">
                                      <a:latin typeface="Cambria Math" panose="02040503050406030204" pitchFamily="18" charset="0"/>
                                    </a:rPr>
                                    <m:t>𝟐</m:t>
                                  </m:r>
                                </m:sup>
                              </m:sSubSup>
                            </m:oMath>
                          </a14:m>
                          <a:r>
                            <a:rPr lang="es-ES" sz="1600" b="1" dirty="0"/>
                            <a:t>)</a:t>
                          </a:r>
                        </a:p>
                      </a:txBody>
                      <a:tcPr>
                        <a:solidFill>
                          <a:schemeClr val="bg1">
                            <a:lumMod val="85000"/>
                          </a:schemeClr>
                        </a:solidFill>
                      </a:tcPr>
                    </a:tc>
                    <a:tc>
                      <a:txBody>
                        <a:bodyPr/>
                        <a:lstStyle/>
                        <a:p>
                          <a:pPr algn="ctr"/>
                          <a:r>
                            <a:rPr lang="es-ES" sz="1600" b="1" dirty="0"/>
                            <a:t>Tamaño de las muestras</a:t>
                          </a:r>
                        </a:p>
                        <a:p>
                          <a:pPr algn="ct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sz="1600" dirty="0"/>
                            <a:t>No</a:t>
                          </a:r>
                        </a:p>
                        <a:p>
                          <a:pPr algn="ctr"/>
                          <a:r>
                            <a:rPr lang="es-ES" sz="1600" dirty="0"/>
                            <a:t>Pero son iguales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Muestras pequeñas con distribución Normal</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𝑖</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i="1" kern="120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m:t>
                                </m:r>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𝑡</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𝑛</m:t>
                                    </m:r>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𝑚</m:t>
                                    </m:r>
                                    <m:r>
                                      <a:rPr lang="es-ES" sz="1600" b="0" i="1" kern="1200" smtClean="0">
                                        <a:solidFill>
                                          <a:schemeClr val="tx1"/>
                                        </a:solidFill>
                                        <a:effectLst/>
                                        <a:latin typeface="Cambria Math" panose="02040503050406030204" pitchFamily="18" charset="0"/>
                                        <a:ea typeface="+mn-ea"/>
                                        <a:cs typeface="+mn-cs"/>
                                      </a:rPr>
                                      <m:t>−2</m:t>
                                    </m:r>
                                  </m:sub>
                                </m:sSub>
                                <m:r>
                                  <a:rPr lang="es-ES" sz="1600" b="0" i="1" kern="1200" smtClean="0">
                                    <a:solidFill>
                                      <a:schemeClr val="tx1"/>
                                    </a:solidFill>
                                    <a:effectLst/>
                                    <a:latin typeface="Cambria Math" panose="02040503050406030204" pitchFamily="18" charset="0"/>
                                    <a:ea typeface="+mn-ea"/>
                                    <a:cs typeface="+mn-cs"/>
                                  </a:rPr>
                                  <m:t>)</m:t>
                                </m:r>
                                <m:d>
                                  <m:dPr>
                                    <m:ctrlPr>
                                      <a:rPr lang="es-ES" sz="1600" i="1" kern="1200" smtClean="0">
                                        <a:solidFill>
                                          <a:schemeClr val="tx1"/>
                                        </a:solidFill>
                                        <a:effectLst/>
                                        <a:latin typeface="Cambria Math" panose="02040503050406030204" pitchFamily="18" charset="0"/>
                                        <a:ea typeface="+mn-ea"/>
                                        <a:cs typeface="+mn-cs"/>
                                      </a:rPr>
                                    </m:ctrlPr>
                                  </m:dPr>
                                  <m:e>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𝑝</m:t>
                                        </m:r>
                                      </m:sub>
                                    </m:sSub>
                                  </m:e>
                                </m:d>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r>
                                          <a:rPr lang="es-ES" sz="1600" i="1" kern="1200" smtClean="0">
                                            <a:solidFill>
                                              <a:schemeClr val="tx1"/>
                                            </a:solidFill>
                                            <a:effectLst/>
                                            <a:latin typeface="Cambria Math" panose="02040503050406030204" pitchFamily="18" charset="0"/>
                                            <a:ea typeface="+mn-ea"/>
                                            <a:cs typeface="+mn-cs"/>
                                          </a:rPr>
                                          <m:t>1</m:t>
                                        </m:r>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r>
                                          <a:rPr lang="es-ES" sz="1600" i="1" kern="1200" smtClean="0">
                                            <a:solidFill>
                                              <a:schemeClr val="tx1"/>
                                            </a:solidFill>
                                            <a:effectLst/>
                                            <a:latin typeface="Cambria Math" panose="02040503050406030204" pitchFamily="18" charset="0"/>
                                            <a:ea typeface="+mn-ea"/>
                                            <a:cs typeface="+mn-cs"/>
                                          </a:rPr>
                                          <m:t>1</m:t>
                                        </m:r>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𝑠</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b="0" i="1" kern="1200" smtClean="0">
                                    <a:solidFill>
                                      <a:schemeClr val="tx1"/>
                                    </a:solidFill>
                                    <a:effectLst/>
                                    <a:latin typeface="Cambria Math" panose="02040503050406030204" pitchFamily="18" charset="0"/>
                                    <a:ea typeface="+mn-ea"/>
                                    <a:cs typeface="+mn-cs"/>
                                  </a:rPr>
                                  <m:t>+(</m:t>
                                </m:r>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𝑡</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𝑛</m:t>
                                    </m:r>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𝑚</m:t>
                                    </m:r>
                                    <m:r>
                                      <a:rPr lang="es-ES" sz="1600" b="0" i="1" kern="1200" smtClean="0">
                                        <a:solidFill>
                                          <a:schemeClr val="tx1"/>
                                        </a:solidFill>
                                        <a:effectLst/>
                                        <a:latin typeface="Cambria Math" panose="02040503050406030204" pitchFamily="18" charset="0"/>
                                        <a:ea typeface="+mn-ea"/>
                                        <a:cs typeface="+mn-cs"/>
                                      </a:rPr>
                                      <m:t>−2</m:t>
                                    </m:r>
                                  </m:sub>
                                </m:sSub>
                                <m:r>
                                  <a:rPr lang="es-ES" sz="1600" b="0" i="1" kern="1200" smtClean="0">
                                    <a:solidFill>
                                      <a:schemeClr val="tx1"/>
                                    </a:solidFill>
                                    <a:effectLst/>
                                    <a:latin typeface="Cambria Math" panose="02040503050406030204" pitchFamily="18" charset="0"/>
                                    <a:ea typeface="+mn-ea"/>
                                    <a:cs typeface="+mn-cs"/>
                                  </a:rPr>
                                  <m:t>)</m:t>
                                </m:r>
                                <m:d>
                                  <m:dPr>
                                    <m:ctrlPr>
                                      <a:rPr lang="es-ES" sz="1600" i="1" kern="1200" smtClean="0">
                                        <a:solidFill>
                                          <a:schemeClr val="tx1"/>
                                        </a:solidFill>
                                        <a:effectLst/>
                                        <a:latin typeface="Cambria Math" panose="02040503050406030204" pitchFamily="18" charset="0"/>
                                        <a:ea typeface="+mn-ea"/>
                                        <a:cs typeface="+mn-cs"/>
                                      </a:rPr>
                                    </m:ctrlPr>
                                  </m:dPr>
                                  <m:e>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𝑝</m:t>
                                        </m:r>
                                      </m:sub>
                                    </m:sSub>
                                  </m:e>
                                </m:d>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r>
                                          <a:rPr lang="es-ES" sz="1600" i="1" kern="1200" smtClean="0">
                                            <a:solidFill>
                                              <a:schemeClr val="tx1"/>
                                            </a:solidFill>
                                            <a:effectLst/>
                                            <a:latin typeface="Cambria Math" panose="02040503050406030204" pitchFamily="18" charset="0"/>
                                            <a:ea typeface="+mn-ea"/>
                                            <a:cs typeface="+mn-cs"/>
                                          </a:rPr>
                                          <m:t>1</m:t>
                                        </m:r>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r>
                                          <a:rPr lang="es-ES" sz="1600" i="1" kern="1200" smtClean="0">
                                            <a:solidFill>
                                              <a:schemeClr val="tx1"/>
                                            </a:solidFill>
                                            <a:effectLst/>
                                            <a:latin typeface="Cambria Math" panose="02040503050406030204" pitchFamily="18" charset="0"/>
                                            <a:ea typeface="+mn-ea"/>
                                            <a:cs typeface="+mn-cs"/>
                                          </a:rPr>
                                          <m:t>1</m:t>
                                        </m:r>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s-ES" sz="1600" i="0" kern="1200" dirty="0">
                            <a:solidFill>
                              <a:schemeClr val="tx1"/>
                            </a:solidFill>
                            <a:effectLst/>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s-ES" sz="1600" b="0" i="1" kern="1200" smtClean="0">
                                  <a:solidFill>
                                    <a:schemeClr val="tx1"/>
                                  </a:solidFill>
                                  <a:effectLst/>
                                  <a:latin typeface="Cambria Math" panose="02040503050406030204" pitchFamily="18" charset="0"/>
                                  <a:ea typeface="+mn-ea"/>
                                  <a:cs typeface="+mn-cs"/>
                                </a:rPr>
                                <m:t>𝑛</m:t>
                              </m:r>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𝑚</m:t>
                              </m:r>
                              <m:r>
                                <a:rPr lang="es-ES" sz="1600" b="0" i="1" kern="1200" smtClean="0">
                                  <a:solidFill>
                                    <a:schemeClr val="tx1"/>
                                  </a:solidFill>
                                  <a:effectLst/>
                                  <a:latin typeface="Cambria Math" panose="02040503050406030204" pitchFamily="18" charset="0"/>
                                  <a:ea typeface="+mn-ea"/>
                                  <a:cs typeface="+mn-cs"/>
                                </a:rPr>
                                <m:t>−2</m:t>
                              </m:r>
                            </m:oMath>
                          </a14:m>
                          <a:r>
                            <a:rPr lang="es-ES" sz="1600" i="0" kern="1200" dirty="0">
                              <a:solidFill>
                                <a:schemeClr val="tx1"/>
                              </a:solidFill>
                              <a:effectLst/>
                              <a:latin typeface="+mn-lt"/>
                              <a:ea typeface="+mn-ea"/>
                              <a:cs typeface="+mn-cs"/>
                            </a:rPr>
                            <a:t> = grados de libertad</a:t>
                          </a:r>
                          <a:endParaRPr lang="es-ES" sz="1600" i="1" kern="1200" dirty="0">
                            <a:solidFill>
                              <a:schemeClr val="tx1"/>
                            </a:solidFill>
                            <a:effectLst/>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𝑝</m:t>
                                  </m:r>
                                </m:sub>
                              </m:sSub>
                            </m:oMath>
                          </a14:m>
                          <a:r>
                            <a:rPr lang="es-ES" sz="1600" kern="1200" dirty="0">
                              <a:solidFill>
                                <a:schemeClr val="tx1"/>
                              </a:solidFill>
                              <a:effectLst/>
                              <a:latin typeface="+mn-lt"/>
                              <a:ea typeface="+mn-ea"/>
                              <a:cs typeface="+mn-cs"/>
                            </a:rPr>
                            <a:t>= varianza</a:t>
                          </a:r>
                          <a:r>
                            <a:rPr lang="es-ES" sz="1600" kern="1200" baseline="0" dirty="0">
                              <a:solidFill>
                                <a:schemeClr val="tx1"/>
                              </a:solidFill>
                              <a:effectLst/>
                              <a:latin typeface="+mn-lt"/>
                              <a:ea typeface="+mn-ea"/>
                              <a:cs typeface="+mn-cs"/>
                            </a:rPr>
                            <a:t> muestral agrupada</a:t>
                          </a:r>
                          <a:endParaRPr lang="es-ES" sz="16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6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𝑝</m:t>
                                    </m:r>
                                  </m:sub>
                                </m:sSub>
                                <m:r>
                                  <a:rPr lang="es-ES" sz="1600" b="0" i="1" kern="1200" smtClean="0">
                                    <a:solidFill>
                                      <a:schemeClr val="tx1"/>
                                    </a:solidFill>
                                    <a:effectLst/>
                                    <a:latin typeface="Cambria Math" panose="02040503050406030204" pitchFamily="18" charset="0"/>
                                    <a:ea typeface="+mn-ea"/>
                                    <a:cs typeface="+mn-cs"/>
                                  </a:rPr>
                                  <m:t>=</m:t>
                                </m:r>
                                <m:rad>
                                  <m:radPr>
                                    <m:degHide m:val="on"/>
                                    <m:ctrlPr>
                                      <a:rPr lang="es-ES" sz="1600" b="0" i="1" kern="1200" smtClean="0">
                                        <a:solidFill>
                                          <a:schemeClr val="tx1"/>
                                        </a:solidFill>
                                        <a:effectLst/>
                                        <a:latin typeface="Cambria Math" panose="02040503050406030204" pitchFamily="18" charset="0"/>
                                        <a:ea typeface="+mn-ea"/>
                                        <a:cs typeface="+mn-cs"/>
                                      </a:rPr>
                                    </m:ctrlPr>
                                  </m:radPr>
                                  <m:deg/>
                                  <m:e>
                                    <m:f>
                                      <m:fPr>
                                        <m:ctrlPr>
                                          <a:rPr lang="es-ES" sz="1600" b="0" i="1" kern="1200" smtClean="0">
                                            <a:solidFill>
                                              <a:schemeClr val="tx1"/>
                                            </a:solidFill>
                                            <a:effectLst/>
                                            <a:latin typeface="Cambria Math" panose="02040503050406030204" pitchFamily="18" charset="0"/>
                                            <a:ea typeface="+mn-ea"/>
                                            <a:cs typeface="+mn-cs"/>
                                          </a:rPr>
                                        </m:ctrlPr>
                                      </m:fPr>
                                      <m:num>
                                        <m:d>
                                          <m:dPr>
                                            <m:ctrlPr>
                                              <a:rPr lang="es-ES" sz="1600" b="0" i="1" kern="1200" smtClean="0">
                                                <a:solidFill>
                                                  <a:schemeClr val="tx1"/>
                                                </a:solidFill>
                                                <a:effectLst/>
                                                <a:latin typeface="Cambria Math" panose="02040503050406030204" pitchFamily="18" charset="0"/>
                                                <a:ea typeface="+mn-ea"/>
                                                <a:cs typeface="+mn-cs"/>
                                              </a:rPr>
                                            </m:ctrlPr>
                                          </m:dPr>
                                          <m:e>
                                            <m:r>
                                              <a:rPr lang="es-ES" sz="1600" b="0" i="1" kern="1200" smtClean="0">
                                                <a:solidFill>
                                                  <a:schemeClr val="tx1"/>
                                                </a:solidFill>
                                                <a:effectLst/>
                                                <a:latin typeface="Cambria Math" panose="02040503050406030204" pitchFamily="18" charset="0"/>
                                                <a:ea typeface="+mn-ea"/>
                                                <a:cs typeface="+mn-cs"/>
                                              </a:rPr>
                                              <m:t>𝑛</m:t>
                                            </m:r>
                                            <m:r>
                                              <a:rPr lang="es-ES" sz="1600" b="0" i="1" kern="1200" smtClean="0">
                                                <a:solidFill>
                                                  <a:schemeClr val="tx1"/>
                                                </a:solidFill>
                                                <a:effectLst/>
                                                <a:latin typeface="Cambria Math" panose="02040503050406030204" pitchFamily="18" charset="0"/>
                                                <a:ea typeface="+mn-ea"/>
                                                <a:cs typeface="+mn-cs"/>
                                              </a:rPr>
                                              <m:t>−1</m:t>
                                            </m:r>
                                          </m:e>
                                        </m:d>
                                        <m:sSubSup>
                                          <m:sSubSupPr>
                                            <m:ctrlPr>
                                              <a:rPr lang="es-ES" sz="1600" i="1" kern="1200" smtClean="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r>
                                          <a:rPr lang="es-ES" sz="1600" b="0" i="1" kern="1200" smtClean="0">
                                            <a:solidFill>
                                              <a:schemeClr val="tx1"/>
                                            </a:solidFill>
                                            <a:effectLst/>
                                            <a:latin typeface="Cambria Math" panose="02040503050406030204" pitchFamily="18" charset="0"/>
                                            <a:ea typeface="+mn-ea"/>
                                            <a:cs typeface="+mn-cs"/>
                                          </a:rPr>
                                          <m:t>+</m:t>
                                        </m:r>
                                        <m:d>
                                          <m:dPr>
                                            <m:ctrlPr>
                                              <a:rPr lang="es-ES" sz="1600" b="0" i="1" kern="1200" smtClean="0">
                                                <a:solidFill>
                                                  <a:schemeClr val="tx1"/>
                                                </a:solidFill>
                                                <a:effectLst/>
                                                <a:latin typeface="Cambria Math" panose="02040503050406030204" pitchFamily="18" charset="0"/>
                                                <a:ea typeface="+mn-ea"/>
                                                <a:cs typeface="+mn-cs"/>
                                              </a:rPr>
                                            </m:ctrlPr>
                                          </m:dPr>
                                          <m:e>
                                            <m:r>
                                              <a:rPr lang="es-ES" sz="1600" b="0" i="1" kern="1200" smtClean="0">
                                                <a:solidFill>
                                                  <a:schemeClr val="tx1"/>
                                                </a:solidFill>
                                                <a:effectLst/>
                                                <a:latin typeface="Cambria Math" panose="02040503050406030204" pitchFamily="18" charset="0"/>
                                                <a:ea typeface="+mn-ea"/>
                                                <a:cs typeface="+mn-cs"/>
                                              </a:rPr>
                                              <m:t>𝑚</m:t>
                                            </m:r>
                                            <m:r>
                                              <a:rPr lang="es-ES" sz="1600" b="0" i="1" kern="1200" smtClean="0">
                                                <a:solidFill>
                                                  <a:schemeClr val="tx1"/>
                                                </a:solidFill>
                                                <a:effectLst/>
                                                <a:latin typeface="Cambria Math" panose="02040503050406030204" pitchFamily="18" charset="0"/>
                                                <a:ea typeface="+mn-ea"/>
                                                <a:cs typeface="+mn-cs"/>
                                              </a:rPr>
                                              <m:t>−1</m:t>
                                            </m:r>
                                          </m:e>
                                        </m:d>
                                        <m:sSubSup>
                                          <m:sSubSupPr>
                                            <m:ctrlPr>
                                              <a:rPr lang="es-ES" sz="1600" i="1" kern="1200" smtClean="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r>
                                          <a:rPr lang="es-ES" sz="1600" b="0" i="1" kern="1200" smtClean="0">
                                            <a:solidFill>
                                              <a:schemeClr val="tx1"/>
                                            </a:solidFill>
                                            <a:effectLst/>
                                            <a:latin typeface="Cambria Math" panose="02040503050406030204" pitchFamily="18" charset="0"/>
                                            <a:ea typeface="+mn-ea"/>
                                            <a:cs typeface="+mn-cs"/>
                                          </a:rPr>
                                          <m:t>+</m:t>
                                        </m:r>
                                        <m:r>
                                          <a:rPr lang="es-ES" sz="1600" b="0" i="1" kern="1200" smtClean="0">
                                            <a:solidFill>
                                              <a:schemeClr val="tx1"/>
                                            </a:solidFill>
                                            <a:effectLst/>
                                            <a:latin typeface="Cambria Math" panose="02040503050406030204" pitchFamily="18" charset="0"/>
                                            <a:ea typeface="+mn-ea"/>
                                            <a:cs typeface="+mn-cs"/>
                                          </a:rPr>
                                          <m:t>𝑚</m:t>
                                        </m:r>
                                        <m:r>
                                          <a:rPr lang="es-ES" sz="1600" b="0" i="1" kern="1200" smtClean="0">
                                            <a:solidFill>
                                              <a:schemeClr val="tx1"/>
                                            </a:solidFill>
                                            <a:effectLst/>
                                            <a:latin typeface="Cambria Math" panose="02040503050406030204" pitchFamily="18" charset="0"/>
                                            <a:ea typeface="+mn-ea"/>
                                            <a:cs typeface="+mn-cs"/>
                                          </a:rPr>
                                          <m:t>−2</m:t>
                                        </m:r>
                                      </m:den>
                                    </m:f>
                                  </m:e>
                                </m:rad>
                              </m:oMath>
                            </m:oMathPara>
                          </a14:m>
                          <a:endParaRPr lang="es-ES" sz="16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ES" sz="16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947291719"/>
                      </a:ext>
                    </a:extLst>
                  </a:tr>
                </a:tbl>
              </a:graphicData>
            </a:graphic>
          </p:graphicFrame>
        </mc:Choice>
        <mc:Fallback xmlns="">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2667213844"/>
                  </p:ext>
                </p:extLst>
              </p:nvPr>
            </p:nvGraphicFramePr>
            <p:xfrm>
              <a:off x="838200" y="1825625"/>
              <a:ext cx="10515597" cy="4084574"/>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926080">
                      <a:extLst>
                        <a:ext uri="{9D8B030D-6E8A-4147-A177-3AD203B41FA5}">
                          <a16:colId xmlns:a16="http://schemas.microsoft.com/office/drawing/2014/main" val="1544234520"/>
                        </a:ext>
                      </a:extLst>
                    </a:gridCol>
                    <a:gridCol w="5176517">
                      <a:extLst>
                        <a:ext uri="{9D8B030D-6E8A-4147-A177-3AD203B41FA5}">
                          <a16:colId xmlns:a16="http://schemas.microsoft.com/office/drawing/2014/main" val="906517329"/>
                        </a:ext>
                      </a:extLst>
                    </a:gridCol>
                  </a:tblGrid>
                  <a:tr h="593725">
                    <a:tc>
                      <a:txBody>
                        <a:bodyPr/>
                        <a:lstStyle/>
                        <a:p>
                          <a:endParaRPr lang="es-ES"/>
                        </a:p>
                      </a:txBody>
                      <a:tcPr>
                        <a:blipFill>
                          <a:blip r:embed="rId2"/>
                          <a:stretch>
                            <a:fillRect l="-253" t="-3061" r="-336364" b="-586735"/>
                          </a:stretch>
                        </a:blipFill>
                      </a:tcPr>
                    </a:tc>
                    <a:tc>
                      <a:txBody>
                        <a:bodyPr/>
                        <a:lstStyle/>
                        <a:p>
                          <a:pPr algn="ctr"/>
                          <a:r>
                            <a:rPr lang="es-ES" sz="1600" b="1" dirty="0"/>
                            <a:t>Tamaño de las muestras</a:t>
                          </a:r>
                        </a:p>
                        <a:p>
                          <a:pPr algn="ct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490849">
                    <a:tc>
                      <a:txBody>
                        <a:bodyPr/>
                        <a:lstStyle/>
                        <a:p>
                          <a:pPr algn="ctr"/>
                          <a:r>
                            <a:rPr lang="es-ES" sz="1600" dirty="0"/>
                            <a:t>No</a:t>
                          </a:r>
                        </a:p>
                        <a:p>
                          <a:pPr algn="ctr"/>
                          <a:r>
                            <a:rPr lang="es-ES" sz="1600" dirty="0"/>
                            <a:t>Pero son iguales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Muestras pequeñas con distribución Normal</a:t>
                          </a:r>
                        </a:p>
                      </a:txBody>
                      <a:tcPr anchor="ctr"/>
                    </a:tc>
                    <a:tc>
                      <a:txBody>
                        <a:bodyPr/>
                        <a:lstStyle/>
                        <a:p>
                          <a:endParaRPr lang="es-ES"/>
                        </a:p>
                      </a:txBody>
                      <a:tcPr anchor="ctr">
                        <a:blipFill>
                          <a:blip r:embed="rId2"/>
                          <a:stretch>
                            <a:fillRect l="-103176" t="-17627" r="-235" b="-349"/>
                          </a:stretch>
                        </a:blipFill>
                      </a:tcPr>
                    </a:tc>
                    <a:extLst>
                      <a:ext uri="{0D108BD9-81ED-4DB2-BD59-A6C34878D82A}">
                        <a16:rowId xmlns:a16="http://schemas.microsoft.com/office/drawing/2014/main" val="947291719"/>
                      </a:ext>
                    </a:extLst>
                  </a:tr>
                </a:tbl>
              </a:graphicData>
            </a:graphic>
          </p:graphicFrame>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EE875CD6-49CF-EA2F-1EE6-C8C31A29BB57}"/>
                  </a:ext>
                </a:extLst>
              </p:cNvPr>
              <p:cNvSpPr txBox="1"/>
              <p:nvPr/>
            </p:nvSpPr>
            <p:spPr>
              <a:xfrm>
                <a:off x="838199" y="6106377"/>
                <a:ext cx="10515597" cy="499945"/>
              </a:xfrm>
              <a:prstGeom prst="rect">
                <a:avLst/>
              </a:prstGeom>
              <a:noFill/>
            </p:spPr>
            <p:txBody>
              <a:bodyPr wrap="square">
                <a:spAutoFit/>
              </a:bodyPr>
              <a:lstStyle/>
              <a:p>
                <a14:m>
                  <m:oMath xmlns:m="http://schemas.openxmlformats.org/officeDocument/2006/math">
                    <m:sSub>
                      <m:sSubPr>
                        <m:ctrlPr>
                          <a:rPr lang="es-ES" sz="1600" i="1" smtClean="0">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𝑛</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𝑚</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−2</m:t>
                        </m:r>
                      </m:sub>
                    </m:sSub>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𝑐𝑢𝑎𝑛𝑡𝑖𝑙</m:t>
                    </m:r>
                    <m:d>
                      <m:dPr>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l-GR"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e>
                    </m:d>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de</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T</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Student</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m:t>
                    </m:r>
                    <m:r>
                      <m:rPr>
                        <m:nor/>
                      </m:rPr>
                      <a:rPr lang="es-ES" sz="1600" b="0" i="0" smtClean="0">
                        <a:effectLst/>
                        <a:latin typeface="Cambria Math" panose="02040503050406030204" pitchFamily="18" charset="0"/>
                        <a:ea typeface="Calibri" panose="020F0502020204030204" pitchFamily="34" charset="0"/>
                        <a:cs typeface="Times New Roman" panose="02020603050405020304" pitchFamily="18" charset="0"/>
                      </a:rPr>
                      <m:t>n</m:t>
                    </m:r>
                    <m:r>
                      <m:rPr>
                        <m:nor/>
                      </m:rPr>
                      <a:rPr lang="es-ES" sz="1600" b="0" i="0" smtClean="0">
                        <a:effectLst/>
                        <a:latin typeface="Cambria Math" panose="02040503050406030204" pitchFamily="18" charset="0"/>
                        <a:ea typeface="Calibri" panose="020F0502020204030204" pitchFamily="34" charset="0"/>
                        <a:cs typeface="Times New Roman" panose="02020603050405020304" pitchFamily="18" charset="0"/>
                      </a:rPr>
                      <m:t>+</m:t>
                    </m:r>
                    <m:r>
                      <m:rPr>
                        <m:nor/>
                      </m:rPr>
                      <a:rPr lang="es-ES" sz="1600" b="0" i="0" smtClean="0">
                        <a:effectLst/>
                        <a:latin typeface="Cambria Math" panose="02040503050406030204" pitchFamily="18" charset="0"/>
                        <a:ea typeface="Calibri" panose="020F0502020204030204" pitchFamily="34" charset="0"/>
                        <a:cs typeface="Times New Roman" panose="02020603050405020304" pitchFamily="18" charset="0"/>
                      </a:rPr>
                      <m:t>m</m:t>
                    </m:r>
                    <m:r>
                      <m:rPr>
                        <m:nor/>
                      </m:rPr>
                      <a:rPr lang="es-ES" sz="1600" b="0" i="0" smtClean="0">
                        <a:effectLst/>
                        <a:latin typeface="Cambria Math" panose="02040503050406030204" pitchFamily="18" charset="0"/>
                        <a:ea typeface="Calibri" panose="020F0502020204030204" pitchFamily="34" charset="0"/>
                        <a:cs typeface="Times New Roman" panose="02020603050405020304" pitchFamily="18" charset="0"/>
                      </a:rPr>
                      <m:t>−2)</m:t>
                    </m:r>
                    <m:r>
                      <m:rPr>
                        <m:nor/>
                      </m:rPr>
                      <a:rPr lang="es-ES" sz="1600" i="1">
                        <a:effectLst/>
                        <a:latin typeface="Calibri" panose="020F0502020204030204" pitchFamily="34" charset="0"/>
                        <a:ea typeface="Calibri" panose="020F0502020204030204" pitchFamily="34" charset="0"/>
                        <a:cs typeface="Times New Roman" panose="02020603050405020304" pitchFamily="18" charset="0"/>
                      </a:rPr>
                      <m:t> </m:t>
                    </m:r>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𝑃</m:t>
                    </m:r>
                    <m:d>
                      <m:dPr>
                        <m:begChr m:val="{"/>
                        <m:endChr m:val="}"/>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𝑇</m:t>
                        </m:r>
                        <m:r>
                          <a:rPr lang="es-ES" sz="1600" i="1">
                            <a:effectLst/>
                            <a:latin typeface="Cambria Math" panose="02040503050406030204" pitchFamily="18" charset="0"/>
                            <a:ea typeface="Calibri" panose="020F0502020204030204" pitchFamily="34" charset="0"/>
                            <a:cs typeface="Times New Roman" panose="02020603050405020304" pitchFamily="18" charset="0"/>
                          </a:rPr>
                          <m:t>&lt;</m:t>
                        </m:r>
                        <m:sSub>
                          <m:sSubPr>
                            <m:ctrlPr>
                              <a:rPr lang="es-ES" sz="1600" i="1">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𝑛</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𝑚</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−2</m:t>
                            </m:r>
                          </m:sub>
                        </m:sSub>
                      </m:e>
                    </m:d>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Times New Roman" panose="02020603050405020304" pitchFamily="18" charset="0"/>
                        <a:cs typeface="Times New Roman" panose="02020603050405020304" pitchFamily="18" charset="0"/>
                      </a:rPr>
                      <m:t>   →   </m:t>
                    </m:r>
                    <m:r>
                      <a:rPr lang="es-ES" sz="1600" i="1">
                        <a:effectLst/>
                        <a:latin typeface="Cambria Math" panose="02040503050406030204" pitchFamily="18" charset="0"/>
                        <a:ea typeface="Times New Roman" panose="02020603050405020304" pitchFamily="18" charset="0"/>
                        <a:cs typeface="Times New Roman" panose="02020603050405020304" pitchFamily="18" charset="0"/>
                      </a:rPr>
                      <m:t>𝑃</m:t>
                    </m:r>
                    <m:d>
                      <m:dPr>
                        <m:begChr m:val="{"/>
                        <m:endChr m:val="}"/>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𝑇</m:t>
                        </m:r>
                        <m:r>
                          <a:rPr lang="es-ES" sz="1600" i="1">
                            <a:effectLst/>
                            <a:latin typeface="Cambria Math" panose="02040503050406030204" pitchFamily="18" charset="0"/>
                            <a:ea typeface="Calibri" panose="020F0502020204030204" pitchFamily="34" charset="0"/>
                            <a:cs typeface="Times New Roman" panose="02020603050405020304" pitchFamily="18" charset="0"/>
                          </a:rPr>
                          <m:t>&gt;</m:t>
                        </m:r>
                        <m:sSub>
                          <m:sSubPr>
                            <m:ctrlPr>
                              <a:rPr lang="es-ES" sz="1600" i="1">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𝑛</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𝑚</m:t>
                            </m:r>
                            <m:r>
                              <a:rPr lang="es-ES" sz="1600" b="0" i="1" smtClean="0">
                                <a:effectLst/>
                                <a:latin typeface="Cambria Math" panose="02040503050406030204" pitchFamily="18" charset="0"/>
                                <a:ea typeface="Calibri" panose="020F0502020204030204" pitchFamily="34" charset="0"/>
                                <a:cs typeface="Times New Roman" panose="02020603050405020304" pitchFamily="18" charset="0"/>
                              </a:rPr>
                              <m:t>−2</m:t>
                            </m:r>
                          </m:sub>
                        </m:sSub>
                      </m:e>
                    </m:d>
                    <m:r>
                      <a:rPr lang="es-ES"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s-ES" sz="1600" dirty="0">
                    <a:effectLst/>
                    <a:latin typeface="Calibri" panose="020F0502020204030204" pitchFamily="34" charset="0"/>
                    <a:ea typeface="Times New Roman" panose="02020603050405020304" pitchFamily="18" charset="0"/>
                    <a:cs typeface="Times New Roman" panose="02020603050405020304" pitchFamily="18" charset="0"/>
                  </a:rPr>
                  <a:t>     (Tabla A5)</a:t>
                </a:r>
                <a:endParaRPr lang="es-ES" sz="1600" dirty="0"/>
              </a:p>
            </p:txBody>
          </p:sp>
        </mc:Choice>
        <mc:Fallback xmlns="">
          <p:sp>
            <p:nvSpPr>
              <p:cNvPr id="29" name="CuadroTexto 28">
                <a:extLst>
                  <a:ext uri="{FF2B5EF4-FFF2-40B4-BE49-F238E27FC236}">
                    <a16:creationId xmlns:a16="http://schemas.microsoft.com/office/drawing/2014/main" id="{EE875CD6-49CF-EA2F-1EE6-C8C31A29BB57}"/>
                  </a:ext>
                </a:extLst>
              </p:cNvPr>
              <p:cNvSpPr txBox="1">
                <a:spLocks noRot="1" noChangeAspect="1" noMove="1" noResize="1" noEditPoints="1" noAdjustHandles="1" noChangeArrowheads="1" noChangeShapeType="1" noTextEdit="1"/>
              </p:cNvSpPr>
              <p:nvPr/>
            </p:nvSpPr>
            <p:spPr>
              <a:xfrm>
                <a:off x="838199" y="6106377"/>
                <a:ext cx="10515597" cy="499945"/>
              </a:xfrm>
              <a:prstGeom prst="rect">
                <a:avLst/>
              </a:prstGeom>
              <a:blipFill>
                <a:blip r:embed="rId3"/>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4186465540"/>
      </p:ext>
    </p:extLst>
  </p:cSld>
  <p:clrMapOvr>
    <a:masterClrMapping/>
  </p:clrMapOvr>
  <mc:AlternateContent xmlns:mc="http://schemas.openxmlformats.org/markup-compatibility/2006" xmlns:p14="http://schemas.microsoft.com/office/powerpoint/2010/main">
    <mc:Choice Requires="p14">
      <p:transition spd="slow" p14:dur="2000" advTm="63299"/>
    </mc:Choice>
    <mc:Fallback xmlns="">
      <p:transition spd="slow" advTm="63299"/>
    </mc:Fallback>
  </mc:AlternateContent>
  <p:extLst>
    <p:ext uri="{3A86A75C-4F4B-4683-9AE1-C65F6400EC91}">
      <p14:laserTraceLst xmlns:p14="http://schemas.microsoft.com/office/powerpoint/2010/main">
        <p14:tracePtLst>
          <p14:tracePt t="3023" x="1903413" y="4176713"/>
          <p14:tracePt t="3067" x="1895475" y="4176713"/>
          <p14:tracePt t="3075" x="1868488" y="4176713"/>
          <p14:tracePt t="3083" x="1843088" y="4184650"/>
          <p14:tracePt t="3098" x="1825625" y="4184650"/>
          <p14:tracePt t="3099" x="1816100" y="4194175"/>
          <p14:tracePt t="3115" x="1763713" y="4202113"/>
          <p14:tracePt t="3131" x="1685925" y="4211638"/>
          <p14:tracePt t="3148" x="1641475" y="4229100"/>
          <p14:tracePt t="3164" x="1598613" y="4237038"/>
          <p14:tracePt t="3181" x="1581150" y="4254500"/>
          <p14:tracePt t="3198" x="1571625" y="4271963"/>
          <p14:tracePt t="3215" x="1563688" y="4289425"/>
          <p14:tracePt t="3231" x="1554163" y="4289425"/>
          <p14:tracePt t="3248" x="1546225" y="4306888"/>
          <p14:tracePt t="3264" x="1546225" y="4316413"/>
          <p14:tracePt t="3281" x="1546225" y="4324350"/>
          <p14:tracePt t="3282" x="1546225" y="4333875"/>
          <p14:tracePt t="3298" x="1546225" y="4341813"/>
          <p14:tracePt t="3299" x="1546225" y="4351338"/>
          <p14:tracePt t="3315" x="1546225" y="4376738"/>
          <p14:tracePt t="3332" x="1554163" y="4411663"/>
          <p14:tracePt t="3348" x="1563688" y="4438650"/>
          <p14:tracePt t="3364" x="1571625" y="4456113"/>
          <p14:tracePt t="3381" x="1571625" y="4491038"/>
          <p14:tracePt t="3398" x="1581150" y="4508500"/>
          <p14:tracePt t="3414" x="1598613" y="4533900"/>
          <p14:tracePt t="3432" x="1606550" y="4551363"/>
          <p14:tracePt t="3448" x="1616075" y="4578350"/>
          <p14:tracePt t="3464" x="1641475" y="4603750"/>
          <p14:tracePt t="3481" x="1658938" y="4638675"/>
          <p14:tracePt t="3483" x="1658938" y="4648200"/>
          <p14:tracePt t="3498" x="1668463" y="4665663"/>
          <p14:tracePt t="3499" x="1676400" y="4673600"/>
          <p14:tracePt t="3515" x="1693863" y="4691063"/>
          <p14:tracePt t="3531" x="1703388" y="4708525"/>
          <p14:tracePt t="3548" x="1728788" y="4718050"/>
          <p14:tracePt t="3564" x="1746250" y="4725988"/>
          <p14:tracePt t="3581" x="1763713" y="4743450"/>
          <p14:tracePt t="3598" x="1781175" y="4770438"/>
          <p14:tracePt t="3614" x="1808163" y="4778375"/>
          <p14:tracePt t="3631" x="1843088" y="4795838"/>
          <p14:tracePt t="3648" x="1868488" y="4805363"/>
          <p14:tracePt t="3664" x="1885950" y="4822825"/>
          <p14:tracePt t="3681" x="1912938" y="4830763"/>
          <p14:tracePt t="3683" x="1920875" y="4830763"/>
          <p14:tracePt t="3698" x="1938338" y="4840288"/>
          <p14:tracePt t="3699" x="1955800" y="4848225"/>
          <p14:tracePt t="3715" x="1973263" y="4865688"/>
          <p14:tracePt t="3731" x="2008188" y="4875213"/>
          <p14:tracePt t="3748" x="2043113" y="4875213"/>
          <p14:tracePt t="3764" x="2060575" y="4883150"/>
          <p14:tracePt t="3781" x="2078038" y="4883150"/>
          <p14:tracePt t="3798" x="2105025" y="4892675"/>
          <p14:tracePt t="3814" x="2122488" y="4892675"/>
          <p14:tracePt t="3831" x="2130425" y="4892675"/>
          <p14:tracePt t="3848" x="2157413" y="4892675"/>
          <p14:tracePt t="3864" x="2182813" y="4892675"/>
          <p14:tracePt t="3881" x="2217738" y="4892675"/>
          <p14:tracePt t="3882" x="2227263" y="4892675"/>
          <p14:tracePt t="3898" x="2252663" y="4892675"/>
          <p14:tracePt t="3899" x="2270125" y="4892675"/>
          <p14:tracePt t="3915" x="2322513" y="4892675"/>
          <p14:tracePt t="3931" x="2357438" y="4892675"/>
          <p14:tracePt t="3948" x="2401888" y="4892675"/>
          <p14:tracePt t="3964" x="2419350" y="4892675"/>
          <p14:tracePt t="3981" x="2444750" y="4883150"/>
          <p14:tracePt t="3997" x="2462213" y="4875213"/>
          <p14:tracePt t="4014" x="2489200" y="4865688"/>
          <p14:tracePt t="4031" x="2497138" y="4848225"/>
          <p14:tracePt t="4047" x="2541588" y="4822825"/>
          <p14:tracePt t="4064" x="2559050" y="4805363"/>
          <p14:tracePt t="4081" x="2576513" y="4795838"/>
          <p14:tracePt t="4083" x="2584450" y="4787900"/>
          <p14:tracePt t="4098" x="2584450" y="4778375"/>
          <p14:tracePt t="4099" x="2593975" y="4778375"/>
          <p14:tracePt t="4114" x="2593975" y="4760913"/>
          <p14:tracePt t="4131" x="2601913" y="4743450"/>
          <p14:tracePt t="4147" x="2601913" y="4691063"/>
          <p14:tracePt t="4164" x="2611438" y="4648200"/>
          <p14:tracePt t="4181" x="2611438" y="4630738"/>
          <p14:tracePt t="4198" x="2619375" y="4613275"/>
          <p14:tracePt t="4214" x="2619375" y="4603750"/>
          <p14:tracePt t="4231" x="2619375" y="4595813"/>
          <p14:tracePt t="4248" x="2619375" y="4586288"/>
          <p14:tracePt t="4264" x="2619375" y="4578350"/>
          <p14:tracePt t="4281" x="2611438" y="4568825"/>
          <p14:tracePt t="4297" x="2601913" y="4568825"/>
          <p14:tracePt t="4314" x="2601913" y="4560888"/>
          <p14:tracePt t="4331" x="2601913" y="4551363"/>
          <p14:tracePt t="4379" x="2593975" y="4551363"/>
          <p14:tracePt t="4387" x="2593975" y="4543425"/>
          <p14:tracePt t="4397" x="2584450" y="4533900"/>
          <p14:tracePt t="4414" x="2576513" y="4516438"/>
          <p14:tracePt t="4435" x="2576513" y="4508500"/>
          <p14:tracePt t="4447" x="2566988" y="4498975"/>
          <p14:tracePt t="4464" x="2559050" y="4491038"/>
          <p14:tracePt t="4481" x="2559050" y="4481513"/>
          <p14:tracePt t="4498" x="2549525" y="4473575"/>
          <p14:tracePt t="4499" x="2541588" y="4473575"/>
          <p14:tracePt t="4515" x="2532063" y="4456113"/>
          <p14:tracePt t="4531" x="2497138" y="4421188"/>
          <p14:tracePt t="4547" x="2471738" y="4403725"/>
          <p14:tracePt t="4564" x="2462213" y="4403725"/>
          <p14:tracePt t="4581" x="2454275" y="4394200"/>
          <p14:tracePt t="4603" x="2454275" y="4386263"/>
          <p14:tracePt t="4619" x="2444750" y="4386263"/>
          <p14:tracePt t="4631" x="2436813" y="4376738"/>
          <p14:tracePt t="4647" x="2427288" y="4376738"/>
          <p14:tracePt t="4664" x="2409825" y="4368800"/>
          <p14:tracePt t="4681" x="2401888" y="4368800"/>
          <p14:tracePt t="4697" x="2392363" y="4368800"/>
          <p14:tracePt t="4699" x="2384425" y="4368800"/>
          <p14:tracePt t="4722" x="2374900" y="4368800"/>
          <p14:tracePt t="4730" x="2366963" y="4368800"/>
          <p14:tracePt t="4747" x="2332038" y="4368800"/>
          <p14:tracePt t="4764" x="2305050" y="4368800"/>
          <p14:tracePt t="4781" x="2279650" y="4368800"/>
          <p14:tracePt t="4797" x="2209800" y="4368800"/>
          <p14:tracePt t="4814" x="2182813" y="4368800"/>
          <p14:tracePt t="4831" x="2165350" y="4359275"/>
          <p14:tracePt t="4851" x="2157413" y="4359275"/>
          <p14:tracePt t="4883" x="2147888" y="4359275"/>
          <p14:tracePt t="4899" x="2139950" y="4351338"/>
          <p14:tracePt t="4906" x="2122488" y="4351338"/>
          <p14:tracePt t="4914" x="2105025" y="4351338"/>
          <p14:tracePt t="4931" x="2078038" y="4351338"/>
          <p14:tracePt t="4947" x="2052638" y="4351338"/>
          <p14:tracePt t="4964" x="2035175" y="4351338"/>
          <p14:tracePt t="4981" x="2017713" y="4351338"/>
          <p14:tracePt t="4997" x="2008188" y="4351338"/>
          <p14:tracePt t="5014" x="1990725" y="4351338"/>
          <p14:tracePt t="5031" x="1965325" y="4351338"/>
          <p14:tracePt t="5047" x="1947863" y="4359275"/>
          <p14:tracePt t="5064" x="1903413" y="4386263"/>
          <p14:tracePt t="5080" x="1878013" y="4421188"/>
          <p14:tracePt t="5097" x="1843088" y="4456113"/>
          <p14:tracePt t="5114" x="1843088" y="4473575"/>
          <p14:tracePt t="5131" x="1843088" y="4481513"/>
          <p14:tracePt t="5147" x="1843088" y="4498975"/>
          <p14:tracePt t="5164" x="1860550" y="4508500"/>
          <p14:tracePt t="5181" x="1895475" y="4543425"/>
          <p14:tracePt t="5197" x="1920875" y="4560888"/>
          <p14:tracePt t="5214" x="1965325" y="4578350"/>
          <p14:tracePt t="5230" x="1990725" y="4595813"/>
          <p14:tracePt t="5247" x="2025650" y="4603750"/>
          <p14:tracePt t="5264" x="2060575" y="4613275"/>
          <p14:tracePt t="5281" x="2139950" y="4630738"/>
          <p14:tracePt t="5297" x="2235200" y="4665663"/>
          <p14:tracePt t="5299" x="2252663" y="4665663"/>
          <p14:tracePt t="5314" x="2287588" y="4673600"/>
          <p14:tracePt t="5331" x="2314575" y="4683125"/>
          <p14:tracePt t="5347" x="2322513" y="4683125"/>
          <p14:tracePt t="5540" x="0" y="0"/>
        </p14:tracePtLst>
        <p14:tracePtLst>
          <p14:tracePt t="6255" x="1336675" y="5049838"/>
          <p14:tracePt t="6258" x="1344613" y="5049838"/>
          <p14:tracePt t="6267" x="1354138" y="5049838"/>
          <p14:tracePt t="6283" x="1362075" y="5049838"/>
          <p14:tracePt t="6297" x="1371600" y="5049838"/>
          <p14:tracePt t="6299" x="1379538" y="5049838"/>
          <p14:tracePt t="6314" x="1389063" y="5049838"/>
          <p14:tracePt t="6315" x="1406525" y="5049838"/>
          <p14:tracePt t="6331" x="1441450" y="5049838"/>
          <p14:tracePt t="6347" x="1484313" y="5049838"/>
          <p14:tracePt t="6364" x="1546225" y="5049838"/>
          <p14:tracePt t="6381" x="1589088" y="5049838"/>
          <p14:tracePt t="6397" x="1616075" y="5049838"/>
          <p14:tracePt t="6414" x="1658938" y="5057775"/>
          <p14:tracePt t="6431" x="1703388" y="5067300"/>
          <p14:tracePt t="6447" x="1746250" y="5075238"/>
          <p14:tracePt t="6464" x="1808163" y="5084763"/>
          <p14:tracePt t="6481" x="1851025" y="5102225"/>
          <p14:tracePt t="6497" x="1912938" y="5110163"/>
          <p14:tracePt t="6499" x="2008188" y="5137150"/>
          <p14:tracePt t="6514" x="2130425" y="5154613"/>
          <p14:tracePt t="6531" x="2305050" y="5162550"/>
          <p14:tracePt t="6547" x="2384425" y="5172075"/>
          <p14:tracePt t="6564" x="2436813" y="5180013"/>
          <p14:tracePt t="6580" x="2462213" y="5180013"/>
          <p14:tracePt t="6597" x="2462213" y="5189538"/>
          <p14:tracePt t="6614" x="2471738" y="5189538"/>
          <p14:tracePt t="6651" x="2479675" y="5189538"/>
          <p14:tracePt t="7100" x="0" y="0"/>
        </p14:tracePtLst>
        <p14:tracePtLst>
          <p14:tracePt t="12295" x="4078288" y="4219575"/>
          <p14:tracePt t="12315" x="4087813" y="4219575"/>
          <p14:tracePt t="12323" x="4157663" y="4219575"/>
          <p14:tracePt t="12330" x="4200525" y="4219575"/>
          <p14:tracePt t="12347" x="4419600" y="4202113"/>
          <p14:tracePt t="12363" x="4759325" y="4176713"/>
          <p14:tracePt t="12379" x="5205413" y="4132263"/>
          <p14:tracePt t="12396" x="5789613" y="4087813"/>
          <p14:tracePt t="12413" x="6122988" y="4070350"/>
          <p14:tracePt t="12429" x="6427788" y="4079875"/>
          <p14:tracePt t="12446" x="6559550" y="4079875"/>
          <p14:tracePt t="12463" x="6577013" y="4079875"/>
          <p14:tracePt t="12579" x="6577013" y="4087813"/>
          <p14:tracePt t="12587" x="6577013" y="4105275"/>
          <p14:tracePt t="12596" x="6577013" y="4132263"/>
          <p14:tracePt t="12613" x="6577013" y="4211638"/>
          <p14:tracePt t="12630" x="6584950" y="4289425"/>
          <p14:tracePt t="12646" x="6584950" y="4359275"/>
          <p14:tracePt t="12663" x="6584950" y="4446588"/>
          <p14:tracePt t="12680" x="6577013" y="4508500"/>
          <p14:tracePt t="12696" x="6559550" y="4533900"/>
          <p14:tracePt t="12713" x="6550025" y="4543425"/>
          <p14:tracePt t="12715" x="6550025" y="4551363"/>
          <p14:tracePt t="12729" x="6542088" y="4560888"/>
          <p14:tracePt t="12731" x="6532563" y="4560888"/>
          <p14:tracePt t="12779" x="6524625" y="4568825"/>
          <p14:tracePt t="12787" x="6524625" y="4578350"/>
          <p14:tracePt t="12796" x="6515100" y="4578350"/>
          <p14:tracePt t="12813" x="6507163" y="4586288"/>
          <p14:tracePt t="12830" x="6480175" y="4613275"/>
          <p14:tracePt t="12846" x="6454775" y="4656138"/>
          <p14:tracePt t="12863" x="6419850" y="4718050"/>
          <p14:tracePt t="12880" x="6392863" y="4770438"/>
          <p14:tracePt t="12896" x="6340475" y="4857750"/>
          <p14:tracePt t="12913" x="6305550" y="4900613"/>
          <p14:tracePt t="12915" x="6262688" y="4927600"/>
          <p14:tracePt t="12930" x="6253163" y="4945063"/>
          <p14:tracePt t="12931" x="6235700" y="4962525"/>
          <p14:tracePt t="12947" x="6200775" y="4979988"/>
          <p14:tracePt t="12963" x="6175375" y="4997450"/>
          <p14:tracePt t="12980" x="6122988" y="5022850"/>
          <p14:tracePt t="12996" x="6069013" y="5040313"/>
          <p14:tracePt t="13013" x="6008688" y="5057775"/>
          <p14:tracePt t="13029" x="5964238" y="5075238"/>
          <p14:tracePt t="13046" x="5807075" y="5110163"/>
          <p14:tracePt t="13063" x="5589588" y="5127625"/>
          <p14:tracePt t="13079" x="5397500" y="5154613"/>
          <p14:tracePt t="13096" x="5187950" y="5172075"/>
          <p14:tracePt t="13113" x="5056188" y="5197475"/>
          <p14:tracePt t="13115" x="5003800" y="5197475"/>
          <p14:tracePt t="13129" x="4986338" y="5197475"/>
          <p14:tracePt t="13131" x="4881563" y="5197475"/>
          <p14:tracePt t="13146" x="4846638" y="5197475"/>
          <p14:tracePt t="13163" x="4821238" y="5197475"/>
          <p14:tracePt t="13179" x="4794250" y="5189538"/>
          <p14:tracePt t="13196" x="4768850" y="5189538"/>
          <p14:tracePt t="13213" x="4751388" y="5189538"/>
          <p14:tracePt t="13229" x="4724400" y="5189538"/>
          <p14:tracePt t="13246" x="4706938" y="5189538"/>
          <p14:tracePt t="13263" x="4672013" y="5189538"/>
          <p14:tracePt t="13279" x="4629150" y="5189538"/>
          <p14:tracePt t="13296" x="4576763" y="5189538"/>
          <p14:tracePt t="13313" x="4532313" y="5180013"/>
          <p14:tracePt t="13315" x="4514850" y="5180013"/>
          <p14:tracePt t="13329" x="4506913" y="5180013"/>
          <p14:tracePt t="13331" x="4489450" y="5180013"/>
          <p14:tracePt t="13346" x="4479925" y="5180013"/>
          <p14:tracePt t="13571" x="0" y="0"/>
        </p14:tracePtLst>
        <p14:tracePtLst>
          <p14:tracePt t="22158" x="8855075" y="3014663"/>
          <p14:tracePt t="22162" x="8847138" y="3014663"/>
          <p14:tracePt t="22235" x="8837613" y="3014663"/>
          <p14:tracePt t="22283" x="8829675" y="3022600"/>
          <p14:tracePt t="22291" x="8820150" y="3022600"/>
          <p14:tracePt t="22307" x="8812213" y="3022600"/>
          <p14:tracePt t="22315" x="8794750" y="3022600"/>
          <p14:tracePt t="22328" x="8777288" y="3022600"/>
          <p14:tracePt t="22345" x="8767763" y="3022600"/>
          <p14:tracePt t="22347" x="8759825" y="3022600"/>
          <p14:tracePt t="22363" x="8750300" y="3022600"/>
          <p14:tracePt t="22378" x="8732838" y="3014663"/>
          <p14:tracePt t="22395" x="8715375" y="3014663"/>
          <p14:tracePt t="22411" x="8697913" y="3014663"/>
          <p14:tracePt t="22428" x="8689975" y="3014663"/>
          <p14:tracePt t="22445" x="8662988" y="3014663"/>
          <p14:tracePt t="22461" x="8655050" y="3014663"/>
          <p14:tracePt t="22478" x="8637588" y="3014663"/>
          <p14:tracePt t="22495" x="8620125" y="3014663"/>
          <p14:tracePt t="22511" x="8610600" y="3005138"/>
          <p14:tracePt t="22528" x="8593138" y="2997200"/>
          <p14:tracePt t="22547" x="8585200" y="2997200"/>
          <p14:tracePt t="22563" x="8575675" y="2997200"/>
          <p14:tracePt t="22579" x="8567738" y="2997200"/>
          <p14:tracePt t="22595" x="8550275" y="2997200"/>
          <p14:tracePt t="22611" x="8540750" y="2997200"/>
          <p14:tracePt t="22628" x="8532813" y="2997200"/>
          <p14:tracePt t="22645" x="8515350" y="2997200"/>
          <p14:tracePt t="22661" x="8505825" y="2997200"/>
          <p14:tracePt t="22678" x="8497888" y="2997200"/>
          <p14:tracePt t="22695" x="8488363" y="2997200"/>
          <p14:tracePt t="22711" x="8445500" y="3005138"/>
          <p14:tracePt t="22728" x="8418513" y="3014663"/>
          <p14:tracePt t="22745" x="8375650" y="3032125"/>
          <p14:tracePt t="22746" x="8340725" y="3032125"/>
          <p14:tracePt t="22761" x="8313738" y="3032125"/>
          <p14:tracePt t="22763" x="8296275" y="3040063"/>
          <p14:tracePt t="22778" x="8270875" y="3040063"/>
          <p14:tracePt t="22795" x="8226425" y="3057525"/>
          <p14:tracePt t="22811" x="8201025" y="3067050"/>
          <p14:tracePt t="22828" x="8183563" y="3074988"/>
          <p14:tracePt t="22845" x="8174038" y="3084513"/>
          <p14:tracePt t="22861" x="8148638" y="3109913"/>
          <p14:tracePt t="22878" x="8121650" y="3127375"/>
          <p14:tracePt t="22895" x="8113713" y="3154363"/>
          <p14:tracePt t="22911" x="8096250" y="3162300"/>
          <p14:tracePt t="22928" x="8096250" y="3189288"/>
          <p14:tracePt t="22945" x="8086725" y="3224213"/>
          <p14:tracePt t="22961" x="8086725" y="3259138"/>
          <p14:tracePt t="22963" x="8086725" y="3276600"/>
          <p14:tracePt t="22978" x="8086725" y="3319463"/>
          <p14:tracePt t="22994" x="8104188" y="3406775"/>
          <p14:tracePt t="23011" x="8121650" y="3486150"/>
          <p14:tracePt t="23028" x="8139113" y="3538538"/>
          <p14:tracePt t="23045" x="8166100" y="3625850"/>
          <p14:tracePt t="23061" x="8183563" y="3651250"/>
          <p14:tracePt t="23078" x="8201025" y="3713163"/>
          <p14:tracePt t="23094" x="8235950" y="3730625"/>
          <p14:tracePt t="23111" x="8253413" y="3756025"/>
          <p14:tracePt t="23128" x="8278813" y="3783013"/>
          <p14:tracePt t="23145" x="8366125" y="3808413"/>
          <p14:tracePt t="23161" x="8540750" y="3835400"/>
          <p14:tracePt t="23162" x="8567738" y="3843338"/>
          <p14:tracePt t="23178" x="8620125" y="3870325"/>
          <p14:tracePt t="23179" x="8697913" y="3878263"/>
          <p14:tracePt t="23195" x="8742363" y="3905250"/>
          <p14:tracePt t="23211" x="8777288" y="3922713"/>
          <p14:tracePt t="23228" x="8802688" y="3930650"/>
          <p14:tracePt t="23245" x="8820150" y="3930650"/>
          <p14:tracePt t="23262" x="8829675" y="3930650"/>
          <p14:tracePt t="23278" x="8837613" y="3930650"/>
          <p14:tracePt t="23295" x="8847138" y="3930650"/>
          <p14:tracePt t="23311" x="8872538" y="3922713"/>
          <p14:tracePt t="23328" x="8916988" y="3922713"/>
          <p14:tracePt t="23345" x="8994775" y="3922713"/>
          <p14:tracePt t="23361" x="9029700" y="3913188"/>
          <p14:tracePt t="23363" x="9047163" y="3905250"/>
          <p14:tracePt t="23378" x="9091613" y="3887788"/>
          <p14:tracePt t="23395" x="9117013" y="3887788"/>
          <p14:tracePt t="23411" x="9134475" y="3860800"/>
          <p14:tracePt t="23428" x="9161463" y="3825875"/>
          <p14:tracePt t="23444" x="9170988" y="3790950"/>
          <p14:tracePt t="23461" x="9188450" y="3783013"/>
          <p14:tracePt t="23478" x="9188450" y="3765550"/>
          <p14:tracePt t="23494" x="9188450" y="3748088"/>
          <p14:tracePt t="23511" x="9188450" y="3730625"/>
          <p14:tracePt t="23528" x="9188450" y="3695700"/>
          <p14:tracePt t="23545" x="9170988" y="3643313"/>
          <p14:tracePt t="23561" x="9161463" y="3546475"/>
          <p14:tracePt t="23563" x="9161463" y="3538538"/>
          <p14:tracePt t="23578" x="9153525" y="3511550"/>
          <p14:tracePt t="23579" x="9153525" y="3476625"/>
          <p14:tracePt t="23595" x="9153525" y="3433763"/>
          <p14:tracePt t="23611" x="9144000" y="3371850"/>
          <p14:tracePt t="23628" x="9117013" y="3319463"/>
          <p14:tracePt t="23644" x="9099550" y="3276600"/>
          <p14:tracePt t="23661" x="9082088" y="3259138"/>
          <p14:tracePt t="23678" x="9056688" y="3232150"/>
          <p14:tracePt t="23694" x="9021763" y="3214688"/>
          <p14:tracePt t="23711" x="8977313" y="3162300"/>
          <p14:tracePt t="23728" x="8934450" y="3136900"/>
          <p14:tracePt t="23745" x="8882063" y="3109913"/>
          <p14:tracePt t="23761" x="8864600" y="3092450"/>
          <p14:tracePt t="23763" x="8855075" y="3074988"/>
          <p14:tracePt t="23778" x="8829675" y="3067050"/>
          <p14:tracePt t="23779" x="8802688" y="3049588"/>
          <p14:tracePt t="23795" x="8724900" y="3022600"/>
          <p14:tracePt t="23811" x="8628063" y="2987675"/>
          <p14:tracePt t="23828" x="8567738" y="2970213"/>
          <p14:tracePt t="23844" x="8505825" y="2962275"/>
          <p14:tracePt t="23861" x="8418513" y="2962275"/>
          <p14:tracePt t="23877" x="8358188" y="2962275"/>
          <p14:tracePt t="23894" x="8243888" y="2962275"/>
          <p14:tracePt t="23911" x="8148638" y="2979738"/>
          <p14:tracePt t="23928" x="8113713" y="3005138"/>
          <p14:tracePt t="23944" x="8086725" y="3022600"/>
          <p14:tracePt t="23961" x="8061325" y="3040063"/>
          <p14:tracePt t="23963" x="8061325" y="3057525"/>
          <p14:tracePt t="23978" x="8051800" y="3057525"/>
          <p14:tracePt t="23979" x="8043863" y="3067050"/>
          <p14:tracePt t="23995" x="8034338" y="3084513"/>
          <p14:tracePt t="24011" x="8034338" y="3101975"/>
          <p14:tracePt t="24028" x="8026400" y="3127375"/>
          <p14:tracePt t="24044" x="8026400" y="3179763"/>
          <p14:tracePt t="24061" x="8026400" y="3224213"/>
          <p14:tracePt t="24078" x="8026400" y="3259138"/>
          <p14:tracePt t="24094" x="8034338" y="3319463"/>
          <p14:tracePt t="24111" x="8043863" y="3346450"/>
          <p14:tracePt t="24128" x="8051800" y="3371850"/>
          <p14:tracePt t="24144" x="8069263" y="3406775"/>
          <p14:tracePt t="24161" x="8113713" y="3451225"/>
          <p14:tracePt t="24163" x="8131175" y="3459163"/>
          <p14:tracePt t="24178" x="8139113" y="3476625"/>
          <p14:tracePt t="24179" x="8139113" y="3494088"/>
          <p14:tracePt t="24195" x="8156575" y="3503613"/>
          <p14:tracePt t="24211" x="8166100" y="3521075"/>
          <p14:tracePt t="24228" x="8166100" y="3538538"/>
          <p14:tracePt t="24245" x="8174038" y="3546475"/>
          <p14:tracePt t="24261" x="8174038" y="3556000"/>
          <p14:tracePt t="24278" x="8183563" y="3590925"/>
          <p14:tracePt t="24294" x="8201025" y="3643313"/>
          <p14:tracePt t="24311" x="8218488" y="3730625"/>
          <p14:tracePt t="24328" x="8235950" y="3773488"/>
          <p14:tracePt t="24344" x="8235950" y="3783013"/>
          <p14:tracePt t="24361" x="8253413" y="3800475"/>
          <p14:tracePt t="24362" x="8261350" y="3808413"/>
          <p14:tracePt t="24378" x="8261350" y="3817938"/>
          <p14:tracePt t="24403" x="8270875" y="3817938"/>
          <p14:tracePt t="24419" x="8278813" y="3817938"/>
          <p14:tracePt t="24442" x="8288338" y="3817938"/>
          <p14:tracePt t="24451" x="8305800" y="3817938"/>
          <p14:tracePt t="24467" x="8323263" y="3825875"/>
          <p14:tracePt t="24482" x="8331200" y="3825875"/>
          <p14:tracePt t="24515" x="0" y="0"/>
        </p14:tracePtLst>
        <p14:tracePtLst>
          <p14:tracePt t="25190" x="8445500" y="3616325"/>
          <p14:tracePt t="25243" x="8462963" y="3616325"/>
          <p14:tracePt t="25251" x="8470900" y="3616325"/>
          <p14:tracePt t="25261" x="8480425" y="3616325"/>
          <p14:tracePt t="25278" x="8505825" y="3616325"/>
          <p14:tracePt t="25294" x="8550275" y="3625850"/>
          <p14:tracePt t="25311" x="8575675" y="3633788"/>
          <p14:tracePt t="25328" x="8602663" y="3633788"/>
          <p14:tracePt t="25344" x="8610600" y="3633788"/>
          <p14:tracePt t="25361" x="8620125" y="3633788"/>
          <p14:tracePt t="25363" x="8620125" y="3625850"/>
          <p14:tracePt t="25378" x="8628063" y="3616325"/>
          <p14:tracePt t="25379" x="8637588" y="3616325"/>
          <p14:tracePt t="25395" x="8637588" y="3581400"/>
          <p14:tracePt t="25411" x="8645525" y="3556000"/>
          <p14:tracePt t="25427" x="8672513" y="3511550"/>
          <p14:tracePt t="25444" x="8697913" y="3468688"/>
          <p14:tracePt t="25461" x="8707438" y="3441700"/>
          <p14:tracePt t="25477" x="8707438" y="3416300"/>
          <p14:tracePt t="25494" x="8707438" y="3363913"/>
          <p14:tracePt t="25511" x="8707438" y="3328988"/>
          <p14:tracePt t="25527" x="8707438" y="3284538"/>
          <p14:tracePt t="25544" x="8707438" y="3241675"/>
          <p14:tracePt t="25561" x="8697913" y="3214688"/>
          <p14:tracePt t="25563" x="8680450" y="3206750"/>
          <p14:tracePt t="25578" x="8672513" y="3189288"/>
          <p14:tracePt t="25579" x="8655050" y="3179763"/>
          <p14:tracePt t="25595" x="8628063" y="3154363"/>
          <p14:tracePt t="25611" x="8610600" y="3144838"/>
          <p14:tracePt t="25627" x="8575675" y="3136900"/>
          <p14:tracePt t="25645" x="8550275" y="3119438"/>
          <p14:tracePt t="25661" x="8523288" y="3109913"/>
          <p14:tracePt t="25678" x="8488363" y="3101975"/>
          <p14:tracePt t="25694" x="8435975" y="3101975"/>
          <p14:tracePt t="25712" x="8393113" y="3092450"/>
          <p14:tracePt t="25727" x="8358188" y="3092450"/>
          <p14:tracePt t="25744" x="8305800" y="3092450"/>
          <p14:tracePt t="25761" x="8270875" y="3092450"/>
          <p14:tracePt t="25763" x="8253413" y="3084513"/>
          <p14:tracePt t="25777" x="8243888" y="3084513"/>
          <p14:tracePt t="25795" x="8226425" y="3084513"/>
          <p14:tracePt t="25811" x="8218488" y="3084513"/>
          <p14:tracePt t="25827" x="8218488" y="3092450"/>
          <p14:tracePt t="25844" x="8201025" y="3101975"/>
          <p14:tracePt t="25861" x="8183563" y="3136900"/>
          <p14:tracePt t="25877" x="8139113" y="3179763"/>
          <p14:tracePt t="25894" x="8113713" y="3276600"/>
          <p14:tracePt t="25911" x="8069263" y="3389313"/>
          <p14:tracePt t="25928" x="8051800" y="3486150"/>
          <p14:tracePt t="25944" x="8034338" y="3581400"/>
          <p14:tracePt t="25961" x="8034338" y="3643313"/>
          <p14:tracePt t="25963" x="8034338" y="3713163"/>
          <p14:tracePt t="25977" x="8034338" y="3730625"/>
          <p14:tracePt t="25979" x="8043863" y="3783013"/>
          <p14:tracePt t="25994" x="8061325" y="3825875"/>
          <p14:tracePt t="26011" x="8086725" y="3860800"/>
          <p14:tracePt t="26028" x="8174038" y="3887788"/>
          <p14:tracePt t="26044" x="8331200" y="3930650"/>
          <p14:tracePt t="26061" x="8418513" y="3983038"/>
          <p14:tracePt t="26077" x="8462963" y="4000500"/>
          <p14:tracePt t="26094" x="8488363" y="4017963"/>
          <p14:tracePt t="26111" x="8515350" y="4027488"/>
          <p14:tracePt t="26187" x="8523288" y="4027488"/>
          <p14:tracePt t="26203" x="8532813" y="4027488"/>
          <p14:tracePt t="26235" x="8532813" y="4017963"/>
          <p14:tracePt t="26299" x="8540750" y="4017963"/>
          <p14:tracePt t="26411" x="0" y="0"/>
        </p14:tracePtLst>
        <p14:tracePtLst>
          <p14:tracePt t="30495" x="8488363" y="3590925"/>
          <p14:tracePt t="30523" x="8505825" y="3598863"/>
          <p14:tracePt t="30532" x="8523288" y="3608388"/>
          <p14:tracePt t="30538" x="8532813" y="3608388"/>
          <p14:tracePt t="30547" x="8540750" y="3608388"/>
          <p14:tracePt t="30563" x="8550275" y="3608388"/>
          <p14:tracePt t="30577" x="8567738" y="3608388"/>
          <p14:tracePt t="30593" x="8575675" y="3608388"/>
          <p14:tracePt t="30595" x="8585200" y="3608388"/>
          <p14:tracePt t="30610" x="8585200" y="3616325"/>
          <p14:tracePt t="30626" x="8593138" y="3616325"/>
          <p14:tracePt t="30644" x="8602663" y="3616325"/>
          <p14:tracePt t="30707" x="8610600" y="3616325"/>
          <p14:tracePt t="30715" x="8610600" y="3608388"/>
          <p14:tracePt t="30723" x="8620125" y="3608388"/>
          <p14:tracePt t="30730" x="8620125" y="3598863"/>
          <p14:tracePt t="30743" x="8628063" y="3598863"/>
          <p14:tracePt t="30760" x="8637588" y="3590925"/>
          <p14:tracePt t="30777" x="8645525" y="3573463"/>
          <p14:tracePt t="30778" x="8655050" y="3556000"/>
          <p14:tracePt t="30793" x="8655050" y="3546475"/>
          <p14:tracePt t="30795" x="8672513" y="3538538"/>
          <p14:tracePt t="30811" x="8680450" y="3503613"/>
          <p14:tracePt t="30827" x="8697913" y="3476625"/>
          <p14:tracePt t="30843" x="8707438" y="3441700"/>
          <p14:tracePt t="30860" x="8707438" y="3406775"/>
          <p14:tracePt t="30877" x="8715375" y="3371850"/>
          <p14:tracePt t="30893" x="8715375" y="3311525"/>
          <p14:tracePt t="30910" x="8715375" y="3267075"/>
          <p14:tracePt t="30927" x="8715375" y="3232150"/>
          <p14:tracePt t="30943" x="8707438" y="3189288"/>
          <p14:tracePt t="30960" x="8680450" y="3154363"/>
          <p14:tracePt t="30977" x="8655050" y="3119438"/>
          <p14:tracePt t="30993" x="8637588" y="3092450"/>
          <p14:tracePt t="30995" x="8620125" y="3084513"/>
          <p14:tracePt t="31010" x="8585200" y="3067050"/>
          <p14:tracePt t="31011" x="8575675" y="3067050"/>
          <p14:tracePt t="31027" x="8550275" y="3040063"/>
          <p14:tracePt t="31043" x="8515350" y="3022600"/>
          <p14:tracePt t="31060" x="8480425" y="3005138"/>
          <p14:tracePt t="31077" x="8453438" y="2987675"/>
          <p14:tracePt t="31093" x="8410575" y="2997200"/>
          <p14:tracePt t="31110" x="8366125" y="2997200"/>
          <p14:tracePt t="31127" x="8331200" y="2987675"/>
          <p14:tracePt t="31143" x="8313738" y="2987675"/>
          <p14:tracePt t="31160" x="8296275" y="2987675"/>
          <p14:tracePt t="31177" x="8278813" y="2997200"/>
          <p14:tracePt t="31193" x="8261350" y="3005138"/>
          <p14:tracePt t="31195" x="8253413" y="3022600"/>
          <p14:tracePt t="31210" x="8183563" y="3049588"/>
          <p14:tracePt t="31227" x="8148638" y="3074988"/>
          <p14:tracePt t="31243" x="8086725" y="3101975"/>
          <p14:tracePt t="31260" x="8069263" y="3136900"/>
          <p14:tracePt t="31277" x="8051800" y="3154363"/>
          <p14:tracePt t="31293" x="8043863" y="3162300"/>
          <p14:tracePt t="31310" x="8043863" y="3189288"/>
          <p14:tracePt t="31327" x="8034338" y="3197225"/>
          <p14:tracePt t="31343" x="8051800" y="3232150"/>
          <p14:tracePt t="31360" x="8086725" y="3276600"/>
          <p14:tracePt t="31377" x="8121650" y="3328988"/>
          <p14:tracePt t="31394" x="8166100" y="3416300"/>
          <p14:tracePt t="31395" x="8174038" y="3424238"/>
          <p14:tracePt t="31410" x="8201025" y="3494088"/>
          <p14:tracePt t="31427" x="8235950" y="3538538"/>
          <p14:tracePt t="31443" x="8253413" y="3563938"/>
          <p14:tracePt t="31460" x="8270875" y="3598863"/>
          <p14:tracePt t="31477" x="8288338" y="3616325"/>
          <p14:tracePt t="31493" x="8323263" y="3643313"/>
          <p14:tracePt t="31510" x="8358188" y="3668713"/>
          <p14:tracePt t="31527" x="8375650" y="3678238"/>
          <p14:tracePt t="31543" x="8401050" y="3686175"/>
          <p14:tracePt t="31560" x="8428038" y="3695700"/>
          <p14:tracePt t="31577" x="8445500" y="3703638"/>
          <p14:tracePt t="31593" x="8453438" y="3703638"/>
          <p14:tracePt t="31610" x="8488363" y="3686175"/>
          <p14:tracePt t="31627" x="8505825" y="3678238"/>
          <p14:tracePt t="31643" x="8523288" y="3651250"/>
          <p14:tracePt t="31660" x="8540750" y="3643313"/>
          <p14:tracePt t="31677" x="8558213" y="3625850"/>
          <p14:tracePt t="31693" x="8575675" y="3616325"/>
          <p14:tracePt t="31710" x="8585200" y="3608388"/>
          <p14:tracePt t="31727" x="8593138" y="3598863"/>
          <p14:tracePt t="31743" x="8602663" y="3590925"/>
          <p14:tracePt t="31760" x="8610600" y="3581400"/>
          <p14:tracePt t="31776" x="8620125" y="3556000"/>
          <p14:tracePt t="31793" x="8628063" y="3538538"/>
          <p14:tracePt t="31795" x="8637588" y="3521075"/>
          <p14:tracePt t="31810" x="8645525" y="3521075"/>
          <p14:tracePt t="31811" x="8645525" y="3511550"/>
          <p14:tracePt t="31827" x="8655050" y="3494088"/>
          <p14:tracePt t="31843" x="8662988" y="3476625"/>
          <p14:tracePt t="31860" x="8662988" y="3459163"/>
          <p14:tracePt t="31877" x="8662988" y="3416300"/>
          <p14:tracePt t="31893" x="8662988" y="3302000"/>
          <p14:tracePt t="31910" x="8662988" y="3241675"/>
          <p14:tracePt t="31926" x="8662988" y="3162300"/>
          <p14:tracePt t="31943" x="8662988" y="3119438"/>
          <p14:tracePt t="31960" x="8655050" y="3074988"/>
          <p14:tracePt t="31976" x="8645525" y="3049588"/>
          <p14:tracePt t="31978" x="8637588" y="3040063"/>
          <p14:tracePt t="31993" x="8628063" y="3032125"/>
          <p14:tracePt t="31994" x="8620125" y="3022600"/>
          <p14:tracePt t="32010" x="8620125" y="3014663"/>
          <p14:tracePt t="32027" x="8610600" y="3005138"/>
          <p14:tracePt t="32043" x="8593138" y="2987675"/>
          <p14:tracePt t="32060" x="8585200" y="2987675"/>
          <p14:tracePt t="32083" x="8575675" y="2987675"/>
          <p14:tracePt t="32427" x="0" y="0"/>
        </p14:tracePtLst>
        <p14:tracePtLst>
          <p14:tracePt t="41040" x="7292975" y="4892675"/>
          <p14:tracePt t="41051" x="7292975" y="4883150"/>
          <p14:tracePt t="41058" x="7300913" y="4883150"/>
          <p14:tracePt t="41075" x="7318375" y="4883150"/>
          <p14:tracePt t="41092" x="7335838" y="4875213"/>
          <p14:tracePt t="41108" x="7345363" y="4865688"/>
          <p14:tracePt t="41125" x="7362825" y="4865688"/>
          <p14:tracePt t="41142" x="7362825" y="4857750"/>
          <p14:tracePt t="41159" x="7388225" y="4857750"/>
          <p14:tracePt t="41175" x="7415213" y="4857750"/>
          <p14:tracePt t="41192" x="7432675" y="4857750"/>
          <p14:tracePt t="41208" x="7458075" y="4865688"/>
          <p14:tracePt t="41225" x="7485063" y="4865688"/>
          <p14:tracePt t="41227" x="7502525" y="4875213"/>
          <p14:tracePt t="41242" x="7510463" y="4875213"/>
          <p14:tracePt t="41242" x="7527925" y="4883150"/>
          <p14:tracePt t="41259" x="7554913" y="4892675"/>
          <p14:tracePt t="41275" x="7580313" y="4892675"/>
          <p14:tracePt t="41292" x="7589838" y="4900613"/>
          <p14:tracePt t="41308" x="7597775" y="4900613"/>
          <p14:tracePt t="41325" x="7607300" y="4900613"/>
          <p14:tracePt t="41371" x="7615238" y="4900613"/>
          <p14:tracePt t="41387" x="7624763" y="4900613"/>
          <p14:tracePt t="41395" x="7632700" y="4900613"/>
          <p14:tracePt t="41403" x="7642225" y="4910138"/>
          <p14:tracePt t="41411" x="7650163" y="4918075"/>
          <p14:tracePt t="41425" x="7667625" y="4918075"/>
          <p14:tracePt t="41427" x="7685088" y="4918075"/>
          <p14:tracePt t="41442" x="7694613" y="4927600"/>
          <p14:tracePt t="41443" x="7702550" y="4935538"/>
          <p14:tracePt t="41459" x="7720013" y="4935538"/>
          <p14:tracePt t="41475" x="7729538" y="4935538"/>
          <p14:tracePt t="41547" x="7737475" y="4935538"/>
          <p14:tracePt t="41595" x="7747000" y="4935538"/>
          <p14:tracePt t="41603" x="7754938" y="4935538"/>
          <p14:tracePt t="41619" x="7764463" y="4935538"/>
          <p14:tracePt t="41627" x="7781925" y="4927600"/>
          <p14:tracePt t="41642" x="7789863" y="4927600"/>
          <p14:tracePt t="41659" x="7799388" y="4927600"/>
          <p14:tracePt t="42156" x="0" y="0"/>
        </p14:tracePtLst>
        <p14:tracePtLst>
          <p14:tracePt t="42454" x="7789863" y="4892675"/>
          <p14:tracePt t="42467" x="7772400" y="4883150"/>
          <p14:tracePt t="42475" x="7764463" y="4883150"/>
          <p14:tracePt t="42483" x="7764463" y="4875213"/>
          <p14:tracePt t="42499" x="7754938" y="4865688"/>
          <p14:tracePt t="42508" x="7747000" y="4857750"/>
          <p14:tracePt t="42525" x="7737475" y="4848225"/>
          <p14:tracePt t="42541" x="7712075" y="4822825"/>
          <p14:tracePt t="42558" x="7694613" y="4813300"/>
          <p14:tracePt t="42575" x="7667625" y="4778375"/>
          <p14:tracePt t="42591" x="7624763" y="4760913"/>
          <p14:tracePt t="42608" x="7607300" y="4743450"/>
          <p14:tracePt t="42625" x="7597775" y="4735513"/>
          <p14:tracePt t="42627" x="7589838" y="4735513"/>
          <p14:tracePt t="42651" x="7580313" y="4735513"/>
          <p14:tracePt t="42659" x="7572375" y="4735513"/>
          <p14:tracePt t="42675" x="7554913" y="4735513"/>
          <p14:tracePt t="42691" x="7527925" y="4735513"/>
          <p14:tracePt t="42709" x="7502525" y="4718050"/>
          <p14:tracePt t="42725" x="7475538" y="4708525"/>
          <p14:tracePt t="42742" x="7458075" y="4708525"/>
          <p14:tracePt t="42758" x="7440613" y="4708525"/>
          <p14:tracePt t="42775" x="7432675" y="4708525"/>
          <p14:tracePt t="42791" x="7415213" y="4708525"/>
          <p14:tracePt t="42808" x="7397750" y="4708525"/>
          <p14:tracePt t="42825" x="7370763" y="4700588"/>
          <p14:tracePt t="42827" x="7362825" y="4700588"/>
          <p14:tracePt t="42842" x="7353300" y="4700588"/>
          <p14:tracePt t="42843" x="7335838" y="4700588"/>
          <p14:tracePt t="42858" x="7318375" y="4700588"/>
          <p14:tracePt t="42875" x="7300913" y="4700588"/>
          <p14:tracePt t="42891" x="7292975" y="4700588"/>
          <p14:tracePt t="42908" x="7275513" y="4700588"/>
          <p14:tracePt t="42925" x="7265988" y="4708525"/>
          <p14:tracePt t="42942" x="7240588" y="4718050"/>
          <p14:tracePt t="42958" x="7213600" y="4725988"/>
          <p14:tracePt t="42975" x="7205663" y="4735513"/>
          <p14:tracePt t="42991" x="7188200" y="4743450"/>
          <p14:tracePt t="43008" x="7188200" y="4752975"/>
          <p14:tracePt t="43025" x="7178675" y="4752975"/>
          <p14:tracePt t="43041" x="7170738" y="4760913"/>
          <p14:tracePt t="43043" x="7161213" y="4770438"/>
          <p14:tracePt t="43060" x="7161213" y="4778375"/>
          <p14:tracePt t="43075" x="7161213" y="4795838"/>
          <p14:tracePt t="43091" x="7161213" y="4822825"/>
          <p14:tracePt t="43108" x="7153275" y="4848225"/>
          <p14:tracePt t="43125" x="7153275" y="4875213"/>
          <p14:tracePt t="43141" x="7153275" y="4892675"/>
          <p14:tracePt t="43159" x="7178675" y="4910138"/>
          <p14:tracePt t="43175" x="7196138" y="4918075"/>
          <p14:tracePt t="43191" x="7223125" y="4935538"/>
          <p14:tracePt t="43208" x="7258050" y="4953000"/>
          <p14:tracePt t="43225" x="7292975" y="4962525"/>
          <p14:tracePt t="43242" x="7345363" y="4987925"/>
          <p14:tracePt t="43243" x="7370763" y="5005388"/>
          <p14:tracePt t="43259" x="7397750" y="5032375"/>
          <p14:tracePt t="43275" x="7432675" y="5040313"/>
          <p14:tracePt t="43291" x="7450138" y="5049838"/>
          <p14:tracePt t="43308" x="7458075" y="5049838"/>
          <p14:tracePt t="43325" x="7458075" y="5057775"/>
          <p14:tracePt t="43342" x="7467600" y="5057775"/>
          <p14:tracePt t="43358" x="7485063" y="5057775"/>
          <p14:tracePt t="43375" x="7502525" y="5067300"/>
          <p14:tracePt t="43391" x="7537450" y="5067300"/>
          <p14:tracePt t="43408" x="7562850" y="5067300"/>
          <p14:tracePt t="43425" x="7597775" y="5067300"/>
          <p14:tracePt t="43442" x="7615238" y="5075238"/>
          <p14:tracePt t="43443" x="7624763" y="5075238"/>
          <p14:tracePt t="43467" x="7632700" y="5075238"/>
          <p14:tracePt t="43483" x="7642225" y="5075238"/>
          <p14:tracePt t="43499" x="7650163" y="5075238"/>
          <p14:tracePt t="43508" x="7659688" y="5067300"/>
          <p14:tracePt t="43525" x="7677150" y="5057775"/>
          <p14:tracePt t="43542" x="7702550" y="5057775"/>
          <p14:tracePt t="43558" x="7729538" y="5049838"/>
          <p14:tracePt t="43575" x="7737475" y="5040313"/>
          <p14:tracePt t="43591" x="7747000" y="5032375"/>
          <p14:tracePt t="43608" x="7764463" y="5032375"/>
          <p14:tracePt t="43625" x="7781925" y="5022850"/>
          <p14:tracePt t="43641" x="7807325" y="5005388"/>
          <p14:tracePt t="43643" x="7816850" y="5005388"/>
          <p14:tracePt t="43659" x="7834313" y="4997450"/>
          <p14:tracePt t="43675" x="7842250" y="4979988"/>
          <p14:tracePt t="43691" x="7859713" y="4970463"/>
          <p14:tracePt t="43708" x="7869238" y="4953000"/>
          <p14:tracePt t="43725" x="7869238" y="4910138"/>
          <p14:tracePt t="43742" x="7869238" y="4892675"/>
          <p14:tracePt t="43758" x="7869238" y="4865688"/>
          <p14:tracePt t="43775" x="7859713" y="4848225"/>
          <p14:tracePt t="43792" x="7842250" y="4822825"/>
          <p14:tracePt t="43808" x="7834313" y="4813300"/>
          <p14:tracePt t="43825" x="7807325" y="4795838"/>
          <p14:tracePt t="43841" x="7764463" y="4787900"/>
          <p14:tracePt t="43842" x="7747000" y="4770438"/>
          <p14:tracePt t="43858" x="7694613" y="4743450"/>
          <p14:tracePt t="43875" x="7650163" y="4718050"/>
          <p14:tracePt t="43892" x="7615238" y="4691063"/>
          <p14:tracePt t="43908" x="7607300" y="4691063"/>
          <p14:tracePt t="43979" x="7597775" y="4691063"/>
          <p14:tracePt t="44435" x="7589838" y="4691063"/>
          <p14:tracePt t="44531" x="7580313" y="4691063"/>
          <p14:tracePt t="44538" x="7572375" y="4691063"/>
          <p14:tracePt t="44555" x="7554913" y="4700588"/>
          <p14:tracePt t="44563" x="7519988" y="4700588"/>
          <p14:tracePt t="44575" x="7475538" y="4708525"/>
          <p14:tracePt t="44591" x="7388225" y="4718050"/>
          <p14:tracePt t="44608" x="7283450" y="4725988"/>
          <p14:tracePt t="44625" x="7178675" y="4725988"/>
          <p14:tracePt t="44627" x="7170738" y="4725988"/>
          <p14:tracePt t="44641" x="7161213" y="4725988"/>
          <p14:tracePt t="44643" x="7153275" y="4735513"/>
          <p14:tracePt t="44731" x="7153275" y="4743450"/>
          <p14:tracePt t="44739" x="7153275" y="4752975"/>
          <p14:tracePt t="44747" x="7153275" y="4760913"/>
          <p14:tracePt t="44758" x="7161213" y="4760913"/>
          <p14:tracePt t="44774" x="7170738" y="4778375"/>
          <p14:tracePt t="44791" x="7170738" y="4795838"/>
          <p14:tracePt t="44808" x="7170738" y="4805363"/>
          <p14:tracePt t="44825" x="7188200" y="4813300"/>
          <p14:tracePt t="44841" x="7188200" y="4840288"/>
          <p14:tracePt t="44858" x="7205663" y="4875213"/>
          <p14:tracePt t="44875" x="7213600" y="4883150"/>
          <p14:tracePt t="44891" x="7231063" y="4910138"/>
          <p14:tracePt t="44908" x="7258050" y="4935538"/>
          <p14:tracePt t="44925" x="7310438" y="4962525"/>
          <p14:tracePt t="44941" x="7423150" y="4979988"/>
          <p14:tracePt t="44958" x="7475538" y="4997450"/>
          <p14:tracePt t="44974" x="7537450" y="5014913"/>
          <p14:tracePt t="44991" x="7562850" y="5014913"/>
          <p14:tracePt t="45008" x="7580313" y="5022850"/>
          <p14:tracePt t="45025" x="7597775" y="5032375"/>
          <p14:tracePt t="45027" x="7607300" y="5032375"/>
          <p14:tracePt t="45041" x="7607300" y="5040313"/>
          <p14:tracePt t="45059" x="7615238" y="5040313"/>
          <p14:tracePt t="45075" x="7624763" y="5040313"/>
          <p14:tracePt t="45091" x="7659688" y="5040313"/>
          <p14:tracePt t="45108" x="7694613" y="5022850"/>
          <p14:tracePt t="45125" x="7729538" y="5014913"/>
          <p14:tracePt t="45141" x="7764463" y="4997450"/>
          <p14:tracePt t="45158" x="7772400" y="4997450"/>
          <p14:tracePt t="45174" x="7781925" y="4987925"/>
          <p14:tracePt t="45191" x="7789863" y="4979988"/>
          <p14:tracePt t="45227" x="7789863" y="4970463"/>
          <p14:tracePt t="45275" x="7781925" y="4970463"/>
          <p14:tracePt t="45362" x="7772400" y="4970463"/>
          <p14:tracePt t="45515" x="0" y="0"/>
        </p14:tracePtLst>
        <p14:tracePtLst>
          <p14:tracePt t="50599" x="7772400" y="5040313"/>
          <p14:tracePt t="50603" x="7764463" y="5040313"/>
          <p14:tracePt t="50627" x="7754938" y="5040313"/>
          <p14:tracePt t="50634" x="7747000" y="5040313"/>
          <p14:tracePt t="50643" x="7737475" y="5040313"/>
          <p14:tracePt t="50657" x="7729538" y="5040313"/>
          <p14:tracePt t="50658" x="7720013" y="5032375"/>
          <p14:tracePt t="50674" x="7702550" y="5032375"/>
          <p14:tracePt t="50691" x="7677150" y="5022850"/>
          <p14:tracePt t="50707" x="7624763" y="5014913"/>
          <p14:tracePt t="50723" x="7589838" y="5014913"/>
          <p14:tracePt t="50740" x="7562850" y="5005388"/>
          <p14:tracePt t="50757" x="7519988" y="4987925"/>
          <p14:tracePt t="50774" x="7493000" y="4979988"/>
          <p14:tracePt t="50790" x="7475538" y="4979988"/>
          <p14:tracePt t="50807" x="7450138" y="4970463"/>
          <p14:tracePt t="50824" x="7415213" y="4970463"/>
          <p14:tracePt t="50840" x="7397750" y="4970463"/>
          <p14:tracePt t="50857" x="7362825" y="4970463"/>
          <p14:tracePt t="50873" x="7345363" y="4970463"/>
          <p14:tracePt t="50890" x="7327900" y="4970463"/>
          <p14:tracePt t="50907" x="7318375" y="4970463"/>
          <p14:tracePt t="50924" x="7310438" y="4970463"/>
          <p14:tracePt t="50940" x="7300913" y="4970463"/>
          <p14:tracePt t="50957" x="7265988" y="4970463"/>
          <p14:tracePt t="50974" x="7240588" y="4970463"/>
          <p14:tracePt t="50990" x="7213600" y="4987925"/>
          <p14:tracePt t="51007" x="7205663" y="4987925"/>
          <p14:tracePt t="51024" x="7188200" y="4997450"/>
          <p14:tracePt t="51040" x="7178675" y="5005388"/>
          <p14:tracePt t="51057" x="7170738" y="5005388"/>
          <p14:tracePt t="51074" x="7153275" y="5014913"/>
          <p14:tracePt t="51075" x="7153275" y="5022850"/>
          <p14:tracePt t="51091" x="7143750" y="5032375"/>
          <p14:tracePt t="51107" x="7135813" y="5040313"/>
          <p14:tracePt t="51123" x="7135813" y="5049838"/>
          <p14:tracePt t="51140" x="7126288" y="5067300"/>
          <p14:tracePt t="51157" x="7126288" y="5075238"/>
          <p14:tracePt t="51173" x="7126288" y="5127625"/>
          <p14:tracePt t="51190" x="7126288" y="5162550"/>
          <p14:tracePt t="51207" x="7126288" y="5197475"/>
          <p14:tracePt t="51224" x="7126288" y="5224463"/>
          <p14:tracePt t="51241" x="7126288" y="5267325"/>
          <p14:tracePt t="51257" x="7135813" y="5294313"/>
          <p14:tracePt t="51273" x="7170738" y="5329238"/>
          <p14:tracePt t="51275" x="7188200" y="5337175"/>
          <p14:tracePt t="51290" x="7275513" y="5364163"/>
          <p14:tracePt t="51307" x="7327900" y="5372100"/>
          <p14:tracePt t="51324" x="7370763" y="5389563"/>
          <p14:tracePt t="51341" x="7467600" y="5407025"/>
          <p14:tracePt t="51357" x="7519988" y="5424488"/>
          <p14:tracePt t="51374" x="7562850" y="5434013"/>
          <p14:tracePt t="51390" x="7607300" y="5434013"/>
          <p14:tracePt t="51407" x="7632700" y="5434013"/>
          <p14:tracePt t="51423" x="7642225" y="5434013"/>
          <p14:tracePt t="51441" x="7650163" y="5434013"/>
          <p14:tracePt t="51491" x="7659688" y="5434013"/>
          <p14:tracePt t="51507" x="7667625" y="5424488"/>
          <p14:tracePt t="51515" x="7677150" y="5416550"/>
          <p14:tracePt t="51531" x="7694613" y="5399088"/>
          <p14:tracePt t="51540" x="7702550" y="5389563"/>
          <p14:tracePt t="51557" x="7729538" y="5364163"/>
          <p14:tracePt t="51573" x="7754938" y="5329238"/>
          <p14:tracePt t="51590" x="7764463" y="5294313"/>
          <p14:tracePt t="51607" x="7764463" y="5259388"/>
          <p14:tracePt t="51623" x="7772400" y="5224463"/>
          <p14:tracePt t="51643" x="7772400" y="5214938"/>
          <p14:tracePt t="51659" x="7772400" y="5207000"/>
          <p14:tracePt t="51707" x="7764463" y="5197475"/>
          <p14:tracePt t="51715" x="7754938" y="5189538"/>
          <p14:tracePt t="51723" x="7737475" y="5180013"/>
          <p14:tracePt t="51740" x="7702550" y="5162550"/>
          <p14:tracePt t="51758" x="7677150" y="5145088"/>
          <p14:tracePt t="51774" x="7650163" y="5119688"/>
          <p14:tracePt t="51790" x="7632700" y="5119688"/>
          <p14:tracePt t="51807" x="7607300" y="5092700"/>
          <p14:tracePt t="51823" x="7580313" y="5075238"/>
          <p14:tracePt t="51840" x="7554913" y="5049838"/>
          <p14:tracePt t="51857" x="7537450" y="5040313"/>
          <p14:tracePt t="51859" x="7527925" y="5040313"/>
          <p14:tracePt t="51874" x="7527925" y="5032375"/>
          <p14:tracePt t="51875" x="7519988" y="5032375"/>
          <p14:tracePt t="52075" x="0" y="0"/>
        </p14:tracePtLst>
        <p14:tracePtLst>
          <p14:tracePt t="54503" x="7702550" y="5172075"/>
          <p14:tracePt t="54579" x="7712075" y="5172075"/>
          <p14:tracePt t="54587" x="7720013" y="5172075"/>
          <p14:tracePt t="54595" x="7729538" y="5172075"/>
          <p14:tracePt t="54606" x="7747000" y="5172075"/>
          <p14:tracePt t="54623" x="7772400" y="5180013"/>
          <p14:tracePt t="54640" x="7851775" y="5197475"/>
          <p14:tracePt t="54656" x="7929563" y="5207000"/>
          <p14:tracePt t="54673" x="8069263" y="5224463"/>
          <p14:tracePt t="54675" x="8121650" y="5241925"/>
          <p14:tracePt t="54690" x="8218488" y="5241925"/>
          <p14:tracePt t="54691" x="8296275" y="5259388"/>
          <p14:tracePt t="54707" x="8488363" y="5259388"/>
          <p14:tracePt t="54723" x="8777288" y="5259388"/>
          <p14:tracePt t="54740" x="8994775" y="5259388"/>
          <p14:tracePt t="54756" x="9099550" y="5259388"/>
          <p14:tracePt t="54773" x="9196388" y="5259388"/>
          <p14:tracePt t="54790" x="9240838" y="5259388"/>
          <p14:tracePt t="54806" x="9258300" y="5259388"/>
          <p14:tracePt t="54823" x="9283700" y="5259388"/>
          <p14:tracePt t="54840" x="9293225" y="5259388"/>
          <p14:tracePt t="54856" x="9301163" y="5259388"/>
          <p14:tracePt t="54873" x="9328150" y="5259388"/>
          <p14:tracePt t="54875" x="9345613" y="5259388"/>
          <p14:tracePt t="54890" x="9363075" y="5259388"/>
          <p14:tracePt t="54891" x="9380538" y="5259388"/>
          <p14:tracePt t="54907" x="9510713" y="5259388"/>
          <p14:tracePt t="54923" x="9615488" y="5249863"/>
          <p14:tracePt t="54940" x="9677400" y="5241925"/>
          <p14:tracePt t="54956" x="9702800" y="5241925"/>
          <p14:tracePt t="54973" x="9720263" y="5232400"/>
          <p14:tracePt t="54990" x="9737725" y="5232400"/>
          <p14:tracePt t="55007" x="9755188" y="5232400"/>
          <p14:tracePt t="55023" x="9772650" y="5232400"/>
          <p14:tracePt t="55039" x="9790113" y="5232400"/>
          <p14:tracePt t="55056" x="9799638" y="5232400"/>
          <p14:tracePt t="55073" x="9817100" y="5232400"/>
          <p14:tracePt t="55099" x="9825038" y="5232400"/>
          <p14:tracePt t="55228" x="0" y="0"/>
        </p14:tracePtLst>
        <p14:tracePtLst>
          <p14:tracePt t="55679" x="9082088" y="5503863"/>
          <p14:tracePt t="55682" x="9074150" y="5495925"/>
          <p14:tracePt t="55690" x="9064625" y="5495925"/>
          <p14:tracePt t="55706" x="9039225" y="5486400"/>
          <p14:tracePt t="55723" x="9012238" y="5486400"/>
          <p14:tracePt t="55739" x="8986838" y="5486400"/>
          <p14:tracePt t="55757" x="8977313" y="5486400"/>
          <p14:tracePt t="55773" x="8959850" y="5486400"/>
          <p14:tracePt t="55789" x="8924925" y="5486400"/>
          <p14:tracePt t="55806" x="8882063" y="5468938"/>
          <p14:tracePt t="55823" x="8829675" y="5468938"/>
          <p14:tracePt t="55839" x="8742363" y="5459413"/>
          <p14:tracePt t="55856" x="8637588" y="5451475"/>
          <p14:tracePt t="55873" x="8515350" y="5451475"/>
          <p14:tracePt t="55889" x="8340725" y="5451475"/>
          <p14:tracePt t="55891" x="8296275" y="5451475"/>
          <p14:tracePt t="55906" x="8166100" y="5451475"/>
          <p14:tracePt t="55923" x="8096250" y="5451475"/>
          <p14:tracePt t="55939" x="8051800" y="5451475"/>
          <p14:tracePt t="55956" x="8026400" y="5451475"/>
          <p14:tracePt t="55973" x="8016875" y="5459413"/>
          <p14:tracePt t="55989" x="7999413" y="5468938"/>
          <p14:tracePt t="56006" x="7956550" y="5476875"/>
          <p14:tracePt t="56023" x="7886700" y="5476875"/>
          <p14:tracePt t="56039" x="7720013" y="5495925"/>
          <p14:tracePt t="56056" x="7632700" y="5503863"/>
          <p14:tracePt t="56073" x="7562850" y="5513388"/>
          <p14:tracePt t="56074" x="7527925" y="5513388"/>
          <p14:tracePt t="56090" x="7510463" y="5513388"/>
          <p14:tracePt t="56091" x="7510463" y="5521325"/>
          <p14:tracePt t="56107" x="7485063" y="5538788"/>
          <p14:tracePt t="56123" x="7467600" y="5548313"/>
          <p14:tracePt t="56139" x="7458075" y="5573713"/>
          <p14:tracePt t="56156" x="7440613" y="5591175"/>
          <p14:tracePt t="56173" x="7423150" y="5618163"/>
          <p14:tracePt t="56190" x="7415213" y="5670550"/>
          <p14:tracePt t="56206" x="7405688" y="5705475"/>
          <p14:tracePt t="56223" x="7388225" y="5748338"/>
          <p14:tracePt t="56239" x="7388225" y="5800725"/>
          <p14:tracePt t="56256" x="7388225" y="5845175"/>
          <p14:tracePt t="56273" x="7388225" y="5880100"/>
          <p14:tracePt t="56275" x="7388225" y="5888038"/>
          <p14:tracePt t="56290" x="7397750" y="5932488"/>
          <p14:tracePt t="56291" x="7397750" y="5957888"/>
          <p14:tracePt t="56306" x="7405688" y="5992813"/>
          <p14:tracePt t="56323" x="7432675" y="6027738"/>
          <p14:tracePt t="56339" x="7450138" y="6072188"/>
          <p14:tracePt t="56356" x="7475538" y="6115050"/>
          <p14:tracePt t="56373" x="7502525" y="6167438"/>
          <p14:tracePt t="56390" x="7545388" y="6211888"/>
          <p14:tracePt t="56406" x="7589838" y="6229350"/>
          <p14:tracePt t="56423" x="7650163" y="6299200"/>
          <p14:tracePt t="56439" x="7712075" y="6342063"/>
          <p14:tracePt t="56456" x="7754938" y="6394450"/>
          <p14:tracePt t="56473" x="7824788" y="6456363"/>
          <p14:tracePt t="56474" x="7834313" y="6473825"/>
          <p14:tracePt t="56490" x="7894638" y="6516688"/>
          <p14:tracePt t="56506" x="7956550" y="6561138"/>
          <p14:tracePt t="56523" x="8034338" y="6621463"/>
          <p14:tracePt t="56539" x="8121650" y="6665913"/>
          <p14:tracePt t="56556" x="8235950" y="6700838"/>
          <p14:tracePt t="56573" x="8288338" y="6743700"/>
          <p14:tracePt t="56589" x="8410575" y="6770688"/>
          <p14:tracePt t="56606" x="8593138" y="6805613"/>
          <p14:tracePt t="56623" x="8829675" y="6840538"/>
          <p14:tracePt t="56731" x="10253663" y="6848475"/>
          <p14:tracePt t="56739" x="10271125" y="6840538"/>
          <p14:tracePt t="56747" x="10279063" y="6831013"/>
          <p14:tracePt t="56756" x="10288588" y="6813550"/>
          <p14:tracePt t="56773" x="10383838" y="6778625"/>
          <p14:tracePt t="56789" x="10463213" y="6753225"/>
          <p14:tracePt t="56806" x="10515600" y="6718300"/>
          <p14:tracePt t="56823" x="10610850" y="6673850"/>
          <p14:tracePt t="56839" x="10663238" y="6613525"/>
          <p14:tracePt t="56856" x="10715625" y="6508750"/>
          <p14:tracePt t="56873" x="10750550" y="6394450"/>
          <p14:tracePt t="56889" x="10768013" y="6342063"/>
          <p14:tracePt t="56891" x="10777538" y="6324600"/>
          <p14:tracePt t="56906" x="10777538" y="6299200"/>
          <p14:tracePt t="56923" x="10777538" y="6281738"/>
          <p14:tracePt t="56947" x="10777538" y="6272213"/>
          <p14:tracePt t="56963" x="10777538" y="6264275"/>
          <p14:tracePt t="56973" x="10768013" y="6264275"/>
          <p14:tracePt t="56995" x="10760075" y="6264275"/>
          <p14:tracePt t="57006" x="10760075" y="6254750"/>
          <p14:tracePt t="57035" x="10760075" y="6246813"/>
          <p14:tracePt t="57043" x="10760075" y="6237288"/>
          <p14:tracePt t="57056" x="10750550" y="6237288"/>
          <p14:tracePt t="57073" x="10733088" y="6211888"/>
          <p14:tracePt t="57089" x="10707688" y="6194425"/>
          <p14:tracePt t="57091" x="10690225" y="6176963"/>
          <p14:tracePt t="57106" x="10655300" y="6124575"/>
          <p14:tracePt t="57123" x="10637838" y="6089650"/>
          <p14:tracePt t="57140" x="10602913" y="6062663"/>
          <p14:tracePt t="57156" x="10593388" y="6045200"/>
          <p14:tracePt t="57173" x="10593388" y="6027738"/>
          <p14:tracePt t="57189" x="10585450" y="6027738"/>
          <p14:tracePt t="57331" x="0" y="0"/>
        </p14:tracePtLst>
        <p14:tracePtLst>
          <p14:tracePt t="58031" x="9310688" y="4246563"/>
          <p14:tracePt t="58043" x="9318625" y="4246563"/>
          <p14:tracePt t="58059" x="9328150" y="4254500"/>
          <p14:tracePt t="58067" x="9336088" y="4254500"/>
          <p14:tracePt t="58075" x="9353550" y="4254500"/>
          <p14:tracePt t="58089" x="9371013" y="4254500"/>
          <p14:tracePt t="58090" x="9388475" y="4254500"/>
          <p14:tracePt t="58106" x="9432925" y="4289425"/>
          <p14:tracePt t="58123" x="9510713" y="4324350"/>
          <p14:tracePt t="58139" x="9694863" y="4386263"/>
          <p14:tracePt t="58156" x="9807575" y="4421188"/>
          <p14:tracePt t="58172" x="9939338" y="4491038"/>
          <p14:tracePt t="58189" x="10156825" y="4508500"/>
          <p14:tracePt t="58206" x="10236200" y="4508500"/>
          <p14:tracePt t="58222" x="10331450" y="4508500"/>
          <p14:tracePt t="58239" x="10401300" y="4481513"/>
          <p14:tracePt t="58256" x="10445750" y="4473575"/>
          <p14:tracePt t="58273" x="10488613" y="4438650"/>
          <p14:tracePt t="58274" x="10515600" y="4421188"/>
          <p14:tracePt t="58289" x="10523538" y="4394200"/>
          <p14:tracePt t="58290" x="10541000" y="4386263"/>
          <p14:tracePt t="58306" x="10575925" y="4351338"/>
          <p14:tracePt t="58323" x="10628313" y="4271963"/>
          <p14:tracePt t="58339" x="10680700" y="4202113"/>
          <p14:tracePt t="58356" x="10715625" y="4132263"/>
          <p14:tracePt t="58373" x="10725150" y="4017963"/>
          <p14:tracePt t="58389" x="10725150" y="3957638"/>
          <p14:tracePt t="58406" x="10725150" y="3922713"/>
          <p14:tracePt t="58422" x="10707688" y="3860800"/>
          <p14:tracePt t="58439" x="10672763" y="3808413"/>
          <p14:tracePt t="58456" x="10610850" y="3686175"/>
          <p14:tracePt t="58472" x="10567988" y="3590925"/>
          <p14:tracePt t="58475" x="10498138" y="3556000"/>
          <p14:tracePt t="58489" x="10445750" y="3476625"/>
          <p14:tracePt t="58490" x="10418763" y="3451225"/>
          <p14:tracePt t="58506" x="10340975" y="3424238"/>
          <p14:tracePt t="58507" x="10288588" y="3381375"/>
          <p14:tracePt t="58523" x="10183813" y="3294063"/>
          <p14:tracePt t="58539" x="10131425" y="3232150"/>
          <p14:tracePt t="58556" x="10026650" y="3171825"/>
          <p14:tracePt t="58572" x="9939338" y="3127375"/>
          <p14:tracePt t="58589" x="9886950" y="3074988"/>
          <p14:tracePt t="58606" x="9852025" y="3049588"/>
          <p14:tracePt t="58622" x="9799638" y="3032125"/>
          <p14:tracePt t="58639" x="9755188" y="2997200"/>
          <p14:tracePt t="58656" x="9642475" y="2979738"/>
          <p14:tracePt t="58673" x="9502775" y="2952750"/>
          <p14:tracePt t="58689" x="9266238" y="2927350"/>
          <p14:tracePt t="58706" x="8847138" y="2874963"/>
          <p14:tracePt t="58723" x="8550275" y="2857500"/>
          <p14:tracePt t="58739" x="8288338" y="2857500"/>
          <p14:tracePt t="58756" x="8061325" y="2857500"/>
          <p14:tracePt t="58772" x="7894638" y="2857500"/>
          <p14:tracePt t="58789" x="7685088" y="2857500"/>
          <p14:tracePt t="58806" x="7493000" y="2857500"/>
          <p14:tracePt t="58822" x="7353300" y="2874963"/>
          <p14:tracePt t="58839" x="7258050" y="2892425"/>
          <p14:tracePt t="58856" x="7231063" y="2917825"/>
          <p14:tracePt t="58872" x="7178675" y="2944813"/>
          <p14:tracePt t="58889" x="7153275" y="2979738"/>
          <p14:tracePt t="58906" x="7118350" y="3040063"/>
          <p14:tracePt t="58923" x="7100888" y="3074988"/>
          <p14:tracePt t="58939" x="7091363" y="3092450"/>
          <p14:tracePt t="58956" x="7091363" y="3109913"/>
          <p14:tracePt t="59083" x="0" y="0"/>
        </p14:tracePtLst>
      </p14:laserTraceLst>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AA8AA7-3D16-6D94-3001-C108186C6E9E}"/>
              </a:ext>
            </a:extLst>
          </p:cNvPr>
          <p:cNvSpPr>
            <a:spLocks noGrp="1"/>
          </p:cNvSpPr>
          <p:nvPr>
            <p:ph type="title"/>
          </p:nvPr>
        </p:nvSpPr>
        <p:spPr/>
        <p:txBody>
          <a:bodyPr>
            <a:normAutofit fontScale="90000"/>
          </a:bodyPr>
          <a:lstStyle/>
          <a:p>
            <a:r>
              <a:rPr lang="es-ES" dirty="0"/>
              <a:t>10. Intervalo de confianza para la diferencia de las medias de dos poblaciones. Fórmulas (3)</a:t>
            </a:r>
          </a:p>
        </p:txBody>
      </p:sp>
      <p:sp>
        <p:nvSpPr>
          <p:cNvPr id="4" name="Marcador de número de diapositiva 3">
            <a:extLst>
              <a:ext uri="{FF2B5EF4-FFF2-40B4-BE49-F238E27FC236}">
                <a16:creationId xmlns:a16="http://schemas.microsoft.com/office/drawing/2014/main" id="{A8F86BC0-8C38-CB78-306D-511493FB8355}"/>
              </a:ext>
            </a:extLst>
          </p:cNvPr>
          <p:cNvSpPr>
            <a:spLocks noGrp="1"/>
          </p:cNvSpPr>
          <p:nvPr>
            <p:ph type="sldNum" sz="quarter" idx="12"/>
          </p:nvPr>
        </p:nvSpPr>
        <p:spPr/>
        <p:txBody>
          <a:bodyPr/>
          <a:lstStyle/>
          <a:p>
            <a:fld id="{336CAFD0-1F6E-4E11-9822-836563A02839}" type="slidenum">
              <a:rPr lang="es-ES" smtClean="0"/>
              <a:pPr/>
              <a:t>55</a:t>
            </a:fld>
            <a:endParaRPr lang="es-ES" dirty="0"/>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1737015723"/>
                  </p:ext>
                </p:extLst>
              </p:nvPr>
            </p:nvGraphicFramePr>
            <p:xfrm>
              <a:off x="838200" y="1825625"/>
              <a:ext cx="10515597" cy="3520694"/>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926080">
                      <a:extLst>
                        <a:ext uri="{9D8B030D-6E8A-4147-A177-3AD203B41FA5}">
                          <a16:colId xmlns:a16="http://schemas.microsoft.com/office/drawing/2014/main" val="1544234520"/>
                        </a:ext>
                      </a:extLst>
                    </a:gridCol>
                    <a:gridCol w="5176517">
                      <a:extLst>
                        <a:ext uri="{9D8B030D-6E8A-4147-A177-3AD203B41FA5}">
                          <a16:colId xmlns:a16="http://schemas.microsoft.com/office/drawing/2014/main" val="906517329"/>
                        </a:ext>
                      </a:extLst>
                    </a:gridCol>
                  </a:tblGrid>
                  <a:tr h="370840">
                    <a:tc>
                      <a:txBody>
                        <a:bodyPr/>
                        <a:lstStyle/>
                        <a:p>
                          <a:pPr algn="ctr"/>
                          <a:r>
                            <a:rPr lang="es-ES" sz="1600" b="1" dirty="0"/>
                            <a:t>Se conocen las varianzas poblacionales (</a:t>
                          </a:r>
                          <a14:m>
                            <m:oMath xmlns:m="http://schemas.openxmlformats.org/officeDocument/2006/math">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rPr>
                                    <m:t>𝑿</m:t>
                                  </m:r>
                                </m:sub>
                                <m:sup>
                                  <m:r>
                                    <a:rPr lang="es-ES" sz="1600" b="1" i="1" smtClean="0">
                                      <a:latin typeface="Cambria Math" panose="02040503050406030204" pitchFamily="18" charset="0"/>
                                    </a:rPr>
                                    <m:t>𝟐</m:t>
                                  </m:r>
                                </m:sup>
                              </m:sSubSup>
                              <m:r>
                                <a:rPr lang="es-ES" sz="1600" b="1" i="1" smtClean="0">
                                  <a:latin typeface="Cambria Math" panose="02040503050406030204" pitchFamily="18" charset="0"/>
                                </a:rPr>
                                <m:t>,</m:t>
                              </m:r>
                              <m:sSubSup>
                                <m:sSubSupPr>
                                  <m:ctrlPr>
                                    <a:rPr lang="es-ES" sz="1600" b="1" i="1" smtClean="0">
                                      <a:latin typeface="Cambria Math" panose="02040503050406030204" pitchFamily="18" charset="0"/>
                                    </a:rPr>
                                  </m:ctrlPr>
                                </m:sSubSupPr>
                                <m:e>
                                  <m:r>
                                    <a:rPr lang="es-ES" sz="1600" b="1" i="1" smtClean="0">
                                      <a:latin typeface="Cambria Math" panose="02040503050406030204" pitchFamily="18" charset="0"/>
                                      <a:ea typeface="Cambria Math" panose="02040503050406030204" pitchFamily="18" charset="0"/>
                                    </a:rPr>
                                    <m:t>𝝈</m:t>
                                  </m:r>
                                </m:e>
                                <m:sub>
                                  <m:r>
                                    <a:rPr lang="es-ES" sz="1600" b="1" i="1" smtClean="0">
                                      <a:latin typeface="Cambria Math" panose="02040503050406030204" pitchFamily="18" charset="0"/>
                                      <a:ea typeface="Cambria Math" panose="02040503050406030204" pitchFamily="18" charset="0"/>
                                    </a:rPr>
                                    <m:t>𝒀</m:t>
                                  </m:r>
                                </m:sub>
                                <m:sup>
                                  <m:r>
                                    <a:rPr lang="es-ES" sz="1600" b="1" i="1" smtClean="0">
                                      <a:latin typeface="Cambria Math" panose="02040503050406030204" pitchFamily="18" charset="0"/>
                                    </a:rPr>
                                    <m:t>𝟐</m:t>
                                  </m:r>
                                </m:sup>
                              </m:sSubSup>
                            </m:oMath>
                          </a14:m>
                          <a:r>
                            <a:rPr lang="es-ES" sz="1600" b="1" dirty="0"/>
                            <a:t>)</a:t>
                          </a:r>
                        </a:p>
                      </a:txBody>
                      <a:tcPr>
                        <a:solidFill>
                          <a:schemeClr val="bg1">
                            <a:lumMod val="85000"/>
                          </a:schemeClr>
                        </a:solidFill>
                      </a:tcPr>
                    </a:tc>
                    <a:tc>
                      <a:txBody>
                        <a:bodyPr/>
                        <a:lstStyle/>
                        <a:p>
                          <a:pPr algn="ctr"/>
                          <a:r>
                            <a:rPr lang="es-ES" sz="1600" b="1" dirty="0"/>
                            <a:t>Tamaño de las muestras</a:t>
                          </a:r>
                        </a:p>
                        <a:p>
                          <a:pPr algn="ct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sz="1600" dirty="0"/>
                            <a:t>No</a:t>
                          </a:r>
                        </a:p>
                        <a:p>
                          <a:pPr algn="ctr"/>
                          <a:r>
                            <a:rPr lang="es-ES" sz="1600" dirty="0"/>
                            <a:t>Pero son diferentes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Muestras pequeñas con distribución Normal</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𝑖</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i="1" kern="1200">
                                    <a:solidFill>
                                      <a:schemeClr val="tx1"/>
                                    </a:solidFill>
                                    <a:effectLst/>
                                    <a:latin typeface="Cambria Math" panose="02040503050406030204" pitchFamily="18" charset="0"/>
                                    <a:ea typeface="+mn-ea"/>
                                    <a:cs typeface="+mn-cs"/>
                                  </a:rPr>
                                  <m:t>−</m:t>
                                </m:r>
                                <m:sSub>
                                  <m:sSubPr>
                                    <m:ctrlPr>
                                      <a:rPr lang="es-ES" sz="1600" i="1" kern="120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𝑡</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r>
                                      <a:rPr lang="es-ES" sz="1600" b="0" i="1" kern="1200" smtClean="0">
                                        <a:solidFill>
                                          <a:schemeClr val="tx1"/>
                                        </a:solidFill>
                                        <a:effectLst/>
                                        <a:latin typeface="Cambria Math" panose="02040503050406030204" pitchFamily="18" charset="0"/>
                                        <a:ea typeface="+mn-ea"/>
                                        <a:cs typeface="+mn-cs"/>
                                      </a:rPr>
                                      <m:t>, </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𝜈</m:t>
                                    </m:r>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m:oMathPara>
                          </a14:m>
                          <a:endParaRPr lang="es-ES" sz="1600" kern="1200" dirty="0">
                            <a:solidFill>
                              <a:schemeClr val="tx1"/>
                            </a:solidFill>
                            <a:effectLst/>
                            <a:latin typeface="+mn-lt"/>
                            <a:ea typeface="+mn-ea"/>
                            <a:cs typeface="+mn-cs"/>
                          </a:endParaRPr>
                        </a:p>
                        <a:p>
                          <a:pPr algn="ctr"/>
                          <a:r>
                            <a:rPr lang="es-ES" sz="1600" kern="1200" dirty="0">
                              <a:solidFill>
                                <a:schemeClr val="tx1"/>
                              </a:solidFill>
                              <a:effectLst/>
                              <a:latin typeface="+mn-lt"/>
                              <a:ea typeface="+mn-ea"/>
                              <a:cs typeface="+mn-cs"/>
                            </a:rPr>
                            <a:t> </a:t>
                          </a:r>
                          <a14:m>
                            <m:oMath xmlns:m="http://schemas.openxmlformats.org/officeDocument/2006/math">
                              <m:sSub>
                                <m:sSubPr>
                                  <m:ctrlPr>
                                    <a:rPr lang="es-ES" sz="1600" i="1" smtClean="0">
                                      <a:latin typeface="Cambria Math" panose="02040503050406030204" pitchFamily="18" charset="0"/>
                                    </a:rPr>
                                  </m:ctrlPr>
                                </m:sSubPr>
                                <m:e>
                                  <m:r>
                                    <a:rPr lang="es-ES" sz="1600" b="0" i="1" smtClean="0">
                                      <a:latin typeface="Cambria Math" panose="02040503050406030204" pitchFamily="18" charset="0"/>
                                    </a:rPr>
                                    <m:t>𝐿</m:t>
                                  </m:r>
                                </m:e>
                                <m:sub>
                                  <m:r>
                                    <a:rPr lang="es-ES" sz="1600" b="0" i="1" smtClean="0">
                                      <a:latin typeface="Cambria Math" panose="02040503050406030204" pitchFamily="18" charset="0"/>
                                    </a:rPr>
                                    <m:t>𝑠</m:t>
                                  </m:r>
                                </m:sub>
                              </m:sSub>
                              <m:r>
                                <a:rPr lang="es-ES" sz="1600" b="0" i="1" smtClean="0">
                                  <a:latin typeface="Cambria Math" panose="02040503050406030204" pitchFamily="18" charset="0"/>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𝑋</m:t>
                                  </m:r>
                                </m:e>
                              </m:acc>
                              <m:r>
                                <a:rPr lang="es-ES" sz="1600" i="1" kern="1200">
                                  <a:solidFill>
                                    <a:schemeClr val="tx1"/>
                                  </a:solidFill>
                                  <a:effectLst/>
                                  <a:latin typeface="Cambria Math" panose="02040503050406030204" pitchFamily="18" charset="0"/>
                                  <a:ea typeface="+mn-ea"/>
                                  <a:cs typeface="+mn-cs"/>
                                </a:rPr>
                                <m:t>−</m:t>
                              </m:r>
                              <m:acc>
                                <m:accPr>
                                  <m:chr m:val="̅"/>
                                  <m:ctrlPr>
                                    <a:rPr lang="es-ES" sz="1600" i="1" kern="1200" smtClean="0">
                                      <a:solidFill>
                                        <a:schemeClr val="tx1"/>
                                      </a:solidFill>
                                      <a:effectLst/>
                                      <a:latin typeface="Cambria Math" panose="02040503050406030204" pitchFamily="18" charset="0"/>
                                      <a:ea typeface="+mn-ea"/>
                                      <a:cs typeface="+mn-cs"/>
                                    </a:rPr>
                                  </m:ctrlPr>
                                </m:accPr>
                                <m:e>
                                  <m:r>
                                    <a:rPr lang="es-ES" sz="1600" b="0" i="1" kern="1200" smtClean="0">
                                      <a:solidFill>
                                        <a:schemeClr val="tx1"/>
                                      </a:solidFill>
                                      <a:effectLst/>
                                      <a:latin typeface="Cambria Math" panose="02040503050406030204" pitchFamily="18" charset="0"/>
                                      <a:ea typeface="+mn-ea"/>
                                      <a:cs typeface="+mn-cs"/>
                                    </a:rPr>
                                    <m:t>𝑌</m:t>
                                  </m:r>
                                </m:e>
                              </m:acc>
                              <m:r>
                                <a:rPr lang="es-ES" sz="1600" b="0" i="1" kern="1200" smtClean="0">
                                  <a:solidFill>
                                    <a:schemeClr val="tx1"/>
                                  </a:solidFill>
                                  <a:effectLst/>
                                  <a:latin typeface="Cambria Math" panose="02040503050406030204" pitchFamily="18" charset="0"/>
                                  <a:ea typeface="+mn-ea"/>
                                  <a:cs typeface="+mn-cs"/>
                                </a:rPr>
                                <m:t>+</m:t>
                              </m:r>
                              <m:sSub>
                                <m:sSubPr>
                                  <m:ctrlPr>
                                    <a:rPr lang="es-ES" sz="1600" i="1" kern="1200" smtClean="0">
                                      <a:solidFill>
                                        <a:schemeClr val="tx1"/>
                                      </a:solidFill>
                                      <a:effectLst/>
                                      <a:latin typeface="Cambria Math" panose="02040503050406030204" pitchFamily="18" charset="0"/>
                                      <a:ea typeface="+mn-ea"/>
                                      <a:cs typeface="+mn-cs"/>
                                    </a:rPr>
                                  </m:ctrlPr>
                                </m:sSubPr>
                                <m:e>
                                  <m:r>
                                    <a:rPr lang="es-ES" sz="1600" b="0" i="1" kern="1200" smtClean="0">
                                      <a:solidFill>
                                        <a:schemeClr val="tx1"/>
                                      </a:solidFill>
                                      <a:effectLst/>
                                      <a:latin typeface="Cambria Math" panose="02040503050406030204" pitchFamily="18" charset="0"/>
                                      <a:ea typeface="+mn-ea"/>
                                      <a:cs typeface="+mn-cs"/>
                                    </a:rPr>
                                    <m:t>𝑡</m:t>
                                  </m:r>
                                </m:e>
                                <m:sub>
                                  <m:f>
                                    <m:fPr>
                                      <m:ctrlPr>
                                        <a:rPr lang="es-ES" sz="1600" i="1" kern="1200">
                                          <a:solidFill>
                                            <a:schemeClr val="tx1"/>
                                          </a:solidFill>
                                          <a:effectLst/>
                                          <a:latin typeface="Cambria Math" panose="02040503050406030204" pitchFamily="18" charset="0"/>
                                          <a:ea typeface="+mn-ea"/>
                                          <a:cs typeface="+mn-cs"/>
                                        </a:rPr>
                                      </m:ctrlPr>
                                    </m:fPr>
                                    <m:num>
                                      <m:r>
                                        <a:rPr lang="es-ES" sz="1600" i="1" kern="1200">
                                          <a:solidFill>
                                            <a:schemeClr val="tx1"/>
                                          </a:solidFill>
                                          <a:effectLst/>
                                          <a:latin typeface="Cambria Math" panose="02040503050406030204" pitchFamily="18" charset="0"/>
                                          <a:ea typeface="+mn-ea"/>
                                          <a:cs typeface="+mn-cs"/>
                                        </a:rPr>
                                        <m:t>𝛼</m:t>
                                      </m:r>
                                    </m:num>
                                    <m:den>
                                      <m:r>
                                        <a:rPr lang="es-ES" sz="1600" i="1" kern="1200">
                                          <a:solidFill>
                                            <a:schemeClr val="tx1"/>
                                          </a:solidFill>
                                          <a:effectLst/>
                                          <a:latin typeface="Cambria Math" panose="02040503050406030204" pitchFamily="18" charset="0"/>
                                          <a:ea typeface="+mn-ea"/>
                                          <a:cs typeface="+mn-cs"/>
                                        </a:rPr>
                                        <m:t>2</m:t>
                                      </m:r>
                                    </m:den>
                                  </m:f>
                                  <m:r>
                                    <a:rPr lang="es-ES" sz="1600" b="0" i="1" kern="1200" smtClean="0">
                                      <a:solidFill>
                                        <a:schemeClr val="tx1"/>
                                      </a:solidFill>
                                      <a:effectLst/>
                                      <a:latin typeface="Cambria Math" panose="02040503050406030204" pitchFamily="18" charset="0"/>
                                      <a:ea typeface="+mn-ea"/>
                                      <a:cs typeface="+mn-cs"/>
                                    </a:rPr>
                                    <m:t>, </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𝜈</m:t>
                                  </m:r>
                                </m:sub>
                              </m:sSub>
                              <m:rad>
                                <m:radPr>
                                  <m:degHide m:val="on"/>
                                  <m:ctrlPr>
                                    <a:rPr lang="es-ES" sz="1600" i="1" kern="1200">
                                      <a:solidFill>
                                        <a:schemeClr val="tx1"/>
                                      </a:solidFill>
                                      <a:effectLst/>
                                      <a:latin typeface="Cambria Math" panose="02040503050406030204" pitchFamily="18" charset="0"/>
                                      <a:ea typeface="+mn-ea"/>
                                      <a:cs typeface="+mn-cs"/>
                                    </a:rPr>
                                  </m:ctrlPr>
                                </m:radPr>
                                <m:deg/>
                                <m:e>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𝑋</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𝑛</m:t>
                                      </m:r>
                                    </m:den>
                                  </m:f>
                                  <m:r>
                                    <a:rPr lang="es-ES" sz="1600" i="1" kern="1200">
                                      <a:solidFill>
                                        <a:schemeClr val="tx1"/>
                                      </a:solidFill>
                                      <a:effectLst/>
                                      <a:latin typeface="Cambria Math" panose="02040503050406030204" pitchFamily="18" charset="0"/>
                                      <a:ea typeface="+mn-ea"/>
                                      <a:cs typeface="+mn-cs"/>
                                    </a:rPr>
                                    <m:t>+</m:t>
                                  </m:r>
                                  <m:f>
                                    <m:fPr>
                                      <m:ctrlPr>
                                        <a:rPr lang="es-ES" sz="1600" i="1" kern="1200">
                                          <a:solidFill>
                                            <a:schemeClr val="tx1"/>
                                          </a:solidFill>
                                          <a:effectLst/>
                                          <a:latin typeface="Cambria Math" panose="02040503050406030204" pitchFamily="18" charset="0"/>
                                          <a:ea typeface="+mn-ea"/>
                                          <a:cs typeface="+mn-cs"/>
                                        </a:rPr>
                                      </m:ctrlPr>
                                    </m:fPr>
                                    <m:num>
                                      <m:sSubSup>
                                        <m:sSubSupPr>
                                          <m:ctrlPr>
                                            <a:rPr lang="es-ES" sz="1600" i="1" kern="1200">
                                              <a:solidFill>
                                                <a:schemeClr val="tx1"/>
                                              </a:solidFill>
                                              <a:effectLst/>
                                              <a:latin typeface="Cambria Math" panose="02040503050406030204" pitchFamily="18" charset="0"/>
                                              <a:ea typeface="+mn-ea"/>
                                              <a:cs typeface="+mn-cs"/>
                                            </a:rPr>
                                          </m:ctrlPr>
                                        </m:sSubSupPr>
                                        <m:e>
                                          <m:r>
                                            <a:rPr lang="es-ES" sz="1600" i="1" kern="1200">
                                              <a:solidFill>
                                                <a:schemeClr val="tx1"/>
                                              </a:solidFill>
                                              <a:effectLst/>
                                              <a:latin typeface="Cambria Math" panose="02040503050406030204" pitchFamily="18" charset="0"/>
                                              <a:ea typeface="+mn-ea"/>
                                              <a:cs typeface="+mn-cs"/>
                                            </a:rPr>
                                            <m:t>𝑠</m:t>
                                          </m:r>
                                        </m:e>
                                        <m:sub>
                                          <m:r>
                                            <a:rPr lang="es-ES" sz="1600" b="0" i="1" kern="1200" smtClean="0">
                                              <a:solidFill>
                                                <a:schemeClr val="tx1"/>
                                              </a:solidFill>
                                              <a:effectLst/>
                                              <a:latin typeface="Cambria Math" panose="02040503050406030204" pitchFamily="18" charset="0"/>
                                              <a:ea typeface="+mn-ea"/>
                                              <a:cs typeface="+mn-cs"/>
                                            </a:rPr>
                                            <m:t>𝑌</m:t>
                                          </m:r>
                                        </m:sub>
                                        <m:sup>
                                          <m:r>
                                            <a:rPr lang="es-ES" sz="1600" i="1" kern="1200">
                                              <a:solidFill>
                                                <a:schemeClr val="tx1"/>
                                              </a:solidFill>
                                              <a:effectLst/>
                                              <a:latin typeface="Cambria Math" panose="02040503050406030204" pitchFamily="18" charset="0"/>
                                              <a:ea typeface="+mn-ea"/>
                                              <a:cs typeface="+mn-cs"/>
                                            </a:rPr>
                                            <m:t>2</m:t>
                                          </m:r>
                                        </m:sup>
                                      </m:sSubSup>
                                    </m:num>
                                    <m:den>
                                      <m:r>
                                        <a:rPr lang="es-ES" sz="1600" b="0" i="1" kern="1200" smtClean="0">
                                          <a:solidFill>
                                            <a:schemeClr val="tx1"/>
                                          </a:solidFill>
                                          <a:effectLst/>
                                          <a:latin typeface="Cambria Math" panose="02040503050406030204" pitchFamily="18" charset="0"/>
                                          <a:ea typeface="+mn-ea"/>
                                          <a:cs typeface="+mn-cs"/>
                                        </a:rPr>
                                        <m:t>𝑚</m:t>
                                      </m:r>
                                    </m:den>
                                  </m:f>
                                </m:e>
                              </m:rad>
                            </m:oMath>
                          </a14:m>
                          <a:endParaRPr lang="es-ES" sz="1600" kern="1200" dirty="0">
                            <a:solidFill>
                              <a:schemeClr val="tx1"/>
                            </a:solidFill>
                            <a:effectLst/>
                            <a:latin typeface="+mn-lt"/>
                            <a:ea typeface="+mn-ea"/>
                            <a:cs typeface="+mn-cs"/>
                          </a:endParaRPr>
                        </a:p>
                        <a:p>
                          <a:pPr algn="ctr"/>
                          <a:endParaRPr lang="es-ES" sz="1600" kern="1200" dirty="0">
                            <a:solidFill>
                              <a:schemeClr val="tx1"/>
                            </a:solidFill>
                            <a:effectLst/>
                            <a:latin typeface="+mn-lt"/>
                            <a:ea typeface="+mn-ea"/>
                            <a:cs typeface="+mn-cs"/>
                          </a:endParaRPr>
                        </a:p>
                        <a:p>
                          <a:pPr algn="ctr"/>
                          <a14:m>
                            <m:oMath xmlns:m="http://schemas.openxmlformats.org/officeDocument/2006/math">
                              <m:r>
                                <a:rPr lang="es-ES" sz="1600" i="1" kern="1200" smtClean="0">
                                  <a:solidFill>
                                    <a:schemeClr val="tx1"/>
                                  </a:solidFill>
                                  <a:effectLst/>
                                  <a:latin typeface="Cambria Math" panose="02040503050406030204" pitchFamily="18" charset="0"/>
                                  <a:ea typeface="Cambria Math" panose="02040503050406030204" pitchFamily="18" charset="0"/>
                                  <a:cs typeface="+mn-cs"/>
                                </a:rPr>
                                <m:t>𝜈</m:t>
                              </m:r>
                            </m:oMath>
                          </a14:m>
                          <a:r>
                            <a:rPr lang="es-ES" sz="1600" kern="1200" dirty="0">
                              <a:solidFill>
                                <a:schemeClr val="tx1"/>
                              </a:solidFill>
                              <a:effectLst/>
                              <a:latin typeface="+mn-lt"/>
                              <a:ea typeface="+mn-ea"/>
                              <a:cs typeface="+mn-cs"/>
                            </a:rPr>
                            <a:t> = grados</a:t>
                          </a:r>
                          <a:r>
                            <a:rPr lang="es-ES" sz="1600" kern="1200" baseline="0" dirty="0">
                              <a:solidFill>
                                <a:schemeClr val="tx1"/>
                              </a:solidFill>
                              <a:effectLst/>
                              <a:latin typeface="+mn-lt"/>
                              <a:ea typeface="+mn-ea"/>
                              <a:cs typeface="+mn-cs"/>
                            </a:rPr>
                            <a:t> de libertad</a:t>
                          </a:r>
                          <a:endParaRPr lang="es-ES" sz="1600" kern="1200" dirty="0">
                            <a:solidFill>
                              <a:schemeClr val="tx1"/>
                            </a:solidFill>
                            <a:effectLst/>
                            <a:latin typeface="+mn-lt"/>
                            <a:ea typeface="+mn-ea"/>
                            <a:cs typeface="+mn-cs"/>
                          </a:endParaRPr>
                        </a:p>
                        <a:p>
                          <a:pPr algn="ctr"/>
                          <a14:m>
                            <m:oMathPara xmlns:m="http://schemas.openxmlformats.org/officeDocument/2006/math">
                              <m:oMathParaPr>
                                <m:jc m:val="centerGroup"/>
                              </m:oMathParaPr>
                              <m:oMath xmlns:m="http://schemas.openxmlformats.org/officeDocument/2006/math">
                                <m:r>
                                  <a:rPr lang="es-ES" sz="1600" i="1" kern="1200" smtClean="0">
                                    <a:solidFill>
                                      <a:schemeClr val="tx1"/>
                                    </a:solidFill>
                                    <a:effectLst/>
                                    <a:latin typeface="Cambria Math" panose="02040503050406030204" pitchFamily="18" charset="0"/>
                                    <a:ea typeface="Cambria Math" panose="02040503050406030204" pitchFamily="18" charset="0"/>
                                    <a:cs typeface="+mn-cs"/>
                                  </a:rPr>
                                  <m:t>𝜈</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fPr>
                                  <m:num>
                                    <m:sSup>
                                      <m:s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pPr>
                                      <m:e>
                                        <m:d>
                                          <m:d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dPr>
                                          <m:e>
                                            <m:f>
                                              <m:f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𝑋</m:t>
                                                    </m:r>
                                                  </m:sub>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2</m:t>
                                                    </m:r>
                                                  </m:sup>
                                                </m:sSubSup>
                                              </m:num>
                                              <m:den>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𝑛</m:t>
                                                </m:r>
                                              </m:den>
                                            </m:f>
                                            <m:r>
                                              <a:rPr lang="es-ES" sz="16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𝑌</m:t>
                                                    </m:r>
                                                  </m:sub>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2</m:t>
                                                    </m:r>
                                                  </m:sup>
                                                </m:sSubSup>
                                              </m:num>
                                              <m:den>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𝑚</m:t>
                                                </m:r>
                                              </m:den>
                                            </m:f>
                                          </m:e>
                                        </m:d>
                                      </m:e>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2</m:t>
                                        </m:r>
                                      </m:sup>
                                    </m:sSup>
                                  </m:num>
                                  <m:den>
                                    <m:f>
                                      <m:f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𝑋</m:t>
                                            </m:r>
                                          </m:sub>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4</m:t>
                                            </m:r>
                                          </m:sup>
                                        </m:sSubSup>
                                      </m:num>
                                      <m:den>
                                        <m:sSup>
                                          <m:s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𝑛</m:t>
                                            </m:r>
                                          </m:e>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2</m:t>
                                            </m:r>
                                          </m:sup>
                                        </m:s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𝑛</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−1)</m:t>
                                        </m:r>
                                      </m:den>
                                    </m:f>
                                    <m:r>
                                      <a:rPr lang="es-ES" sz="16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𝑌</m:t>
                                            </m:r>
                                          </m:sub>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4</m:t>
                                            </m:r>
                                          </m:sup>
                                        </m:sSubSup>
                                      </m:num>
                                      <m:den>
                                        <m:sSup>
                                          <m:sSupPr>
                                            <m:ctrlPr>
                                              <a:rPr lang="es-ES" sz="1600" b="0" i="1" kern="1200" smtClean="0">
                                                <a:solidFill>
                                                  <a:schemeClr val="tx1"/>
                                                </a:solidFill>
                                                <a:effectLst/>
                                                <a:latin typeface="Cambria Math" panose="02040503050406030204" pitchFamily="18" charset="0"/>
                                                <a:ea typeface="Cambria Math" panose="02040503050406030204" pitchFamily="18" charset="0"/>
                                                <a:cs typeface="+mn-cs"/>
                                              </a:rPr>
                                            </m:ctrlPr>
                                          </m:sSupPr>
                                          <m:e>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𝑚</m:t>
                                            </m:r>
                                          </m:e>
                                          <m: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2</m:t>
                                            </m:r>
                                          </m:sup>
                                        </m:sSup>
                                        <m:r>
                                          <a:rPr lang="es-ES" sz="1600" b="0" i="1" kern="1200" smtClean="0">
                                            <a:solidFill>
                                              <a:schemeClr val="tx1"/>
                                            </a:solidFill>
                                            <a:effectLst/>
                                            <a:latin typeface="Cambria Math" panose="02040503050406030204" pitchFamily="18" charset="0"/>
                                            <a:ea typeface="Cambria Math" panose="02040503050406030204" pitchFamily="18" charset="0"/>
                                            <a:cs typeface="+mn-cs"/>
                                          </a:rPr>
                                          <m:t>(</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𝑚</m:t>
                                        </m:r>
                                        <m:r>
                                          <a:rPr lang="es-ES" sz="1600" b="0" i="1" kern="1200" smtClean="0">
                                            <a:solidFill>
                                              <a:schemeClr val="tx1"/>
                                            </a:solidFill>
                                            <a:effectLst/>
                                            <a:latin typeface="Cambria Math" panose="02040503050406030204" pitchFamily="18" charset="0"/>
                                            <a:ea typeface="Cambria Math" panose="02040503050406030204" pitchFamily="18" charset="0"/>
                                            <a:cs typeface="+mn-cs"/>
                                          </a:rPr>
                                          <m:t>−1)</m:t>
                                        </m:r>
                                      </m:den>
                                    </m:f>
                                  </m:den>
                                </m:f>
                              </m:oMath>
                            </m:oMathPara>
                          </a14:m>
                          <a:endParaRPr lang="es-ES" sz="160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76150309"/>
                      </a:ext>
                    </a:extLst>
                  </a:tr>
                </a:tbl>
              </a:graphicData>
            </a:graphic>
          </p:graphicFrame>
        </mc:Choice>
        <mc:Fallback xmlns="">
          <p:graphicFrame>
            <p:nvGraphicFramePr>
              <p:cNvPr id="5" name="Tabla 5">
                <a:extLst>
                  <a:ext uri="{FF2B5EF4-FFF2-40B4-BE49-F238E27FC236}">
                    <a16:creationId xmlns:a16="http://schemas.microsoft.com/office/drawing/2014/main" id="{B08DBA7B-1101-D5BA-53FC-4557DC1731EC}"/>
                  </a:ext>
                </a:extLst>
              </p:cNvPr>
              <p:cNvGraphicFramePr>
                <a:graphicFrameLocks noGrp="1"/>
              </p:cNvGraphicFramePr>
              <p:nvPr>
                <p:ph idx="1"/>
                <p:extLst>
                  <p:ext uri="{D42A27DB-BD31-4B8C-83A1-F6EECF244321}">
                    <p14:modId xmlns:p14="http://schemas.microsoft.com/office/powerpoint/2010/main" val="1737015723"/>
                  </p:ext>
                </p:extLst>
              </p:nvPr>
            </p:nvGraphicFramePr>
            <p:xfrm>
              <a:off x="838200" y="1825625"/>
              <a:ext cx="10515597" cy="3520694"/>
            </p:xfrm>
            <a:graphic>
              <a:graphicData uri="http://schemas.openxmlformats.org/drawingml/2006/table">
                <a:tbl>
                  <a:tblPr firstRow="1" bandRow="1">
                    <a:tableStyleId>{5940675A-B579-460E-94D1-54222C63F5DA}</a:tableStyleId>
                  </a:tblPr>
                  <a:tblGrid>
                    <a:gridCol w="2413000">
                      <a:extLst>
                        <a:ext uri="{9D8B030D-6E8A-4147-A177-3AD203B41FA5}">
                          <a16:colId xmlns:a16="http://schemas.microsoft.com/office/drawing/2014/main" val="4105831724"/>
                        </a:ext>
                      </a:extLst>
                    </a:gridCol>
                    <a:gridCol w="2926080">
                      <a:extLst>
                        <a:ext uri="{9D8B030D-6E8A-4147-A177-3AD203B41FA5}">
                          <a16:colId xmlns:a16="http://schemas.microsoft.com/office/drawing/2014/main" val="1544234520"/>
                        </a:ext>
                      </a:extLst>
                    </a:gridCol>
                    <a:gridCol w="5176517">
                      <a:extLst>
                        <a:ext uri="{9D8B030D-6E8A-4147-A177-3AD203B41FA5}">
                          <a16:colId xmlns:a16="http://schemas.microsoft.com/office/drawing/2014/main" val="906517329"/>
                        </a:ext>
                      </a:extLst>
                    </a:gridCol>
                  </a:tblGrid>
                  <a:tr h="593725">
                    <a:tc>
                      <a:txBody>
                        <a:bodyPr/>
                        <a:lstStyle/>
                        <a:p>
                          <a:endParaRPr lang="es-ES"/>
                        </a:p>
                      </a:txBody>
                      <a:tcPr>
                        <a:blipFill>
                          <a:blip r:embed="rId2"/>
                          <a:stretch>
                            <a:fillRect l="-253" t="-3061" r="-336364" b="-492857"/>
                          </a:stretch>
                        </a:blipFill>
                      </a:tcPr>
                    </a:tc>
                    <a:tc>
                      <a:txBody>
                        <a:bodyPr/>
                        <a:lstStyle/>
                        <a:p>
                          <a:pPr algn="ctr"/>
                          <a:r>
                            <a:rPr lang="es-ES" sz="1600" b="1" dirty="0"/>
                            <a:t>Tamaño de las muestras</a:t>
                          </a:r>
                        </a:p>
                        <a:p>
                          <a:pPr algn="ctr"/>
                          <a:r>
                            <a:rPr lang="es-ES" sz="1600" b="1" dirty="0"/>
                            <a:t>(n, m)</a:t>
                          </a:r>
                        </a:p>
                      </a:txBody>
                      <a:tcPr>
                        <a:solidFill>
                          <a:schemeClr val="bg1">
                            <a:lumMod val="85000"/>
                          </a:schemeClr>
                        </a:solidFill>
                      </a:tcPr>
                    </a:tc>
                    <a:tc>
                      <a:txBody>
                        <a:bodyPr/>
                        <a:lstStyle/>
                        <a:p>
                          <a:pPr algn="ctr"/>
                          <a:r>
                            <a:rPr lang="es-ES" sz="1600"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2926969">
                    <a:tc>
                      <a:txBody>
                        <a:bodyPr/>
                        <a:lstStyle/>
                        <a:p>
                          <a:pPr algn="ctr"/>
                          <a:r>
                            <a:rPr lang="es-ES" sz="1600" dirty="0"/>
                            <a:t>No</a:t>
                          </a:r>
                        </a:p>
                        <a:p>
                          <a:pPr algn="ctr"/>
                          <a:r>
                            <a:rPr lang="es-ES" sz="1600" dirty="0"/>
                            <a:t>Pero son diferentes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dirty="0"/>
                            <a:t>Muestras pequeñas con distribución Normal</a:t>
                          </a:r>
                        </a:p>
                      </a:txBody>
                      <a:tcPr anchor="ctr"/>
                    </a:tc>
                    <a:tc>
                      <a:txBody>
                        <a:bodyPr/>
                        <a:lstStyle/>
                        <a:p>
                          <a:endParaRPr lang="es-ES"/>
                        </a:p>
                      </a:txBody>
                      <a:tcPr anchor="ctr">
                        <a:blipFill>
                          <a:blip r:embed="rId2"/>
                          <a:stretch>
                            <a:fillRect l="-103176" t="-20998" r="-235" b="-416"/>
                          </a:stretch>
                        </a:blipFill>
                      </a:tcPr>
                    </a:tc>
                    <a:extLst>
                      <a:ext uri="{0D108BD9-81ED-4DB2-BD59-A6C34878D82A}">
                        <a16:rowId xmlns:a16="http://schemas.microsoft.com/office/drawing/2014/main" val="176150309"/>
                      </a:ext>
                    </a:extLst>
                  </a:tr>
                </a:tbl>
              </a:graphicData>
            </a:graphic>
          </p:graphicFrame>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323B91E8-A0D6-8E42-1C08-3AE07D060810}"/>
                  </a:ext>
                </a:extLst>
              </p:cNvPr>
              <p:cNvSpPr txBox="1"/>
              <p:nvPr/>
            </p:nvSpPr>
            <p:spPr>
              <a:xfrm>
                <a:off x="838199" y="5747004"/>
                <a:ext cx="10515597" cy="499945"/>
              </a:xfrm>
              <a:prstGeom prst="rect">
                <a:avLst/>
              </a:prstGeom>
              <a:noFill/>
            </p:spPr>
            <p:txBody>
              <a:bodyPr wrap="square">
                <a:spAutoFit/>
              </a:bodyPr>
              <a:lstStyle/>
              <a:p>
                <a14:m>
                  <m:oMath xmlns:m="http://schemas.openxmlformats.org/officeDocument/2006/math">
                    <m:sSub>
                      <m:sSubPr>
                        <m:ctrlPr>
                          <a:rPr lang="es-ES" sz="1600" i="1" smtClean="0">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latin typeface="Cambria Math" panose="02040503050406030204" pitchFamily="18" charset="0"/>
                            <a:ea typeface="Cambria Math" panose="02040503050406030204" pitchFamily="18" charset="0"/>
                          </a:rPr>
                          <m:t>𝜈</m:t>
                        </m:r>
                      </m:sub>
                    </m:sSub>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𝑐𝑢𝑎𝑛𝑡𝑖𝑙</m:t>
                    </m:r>
                    <m:d>
                      <m:dPr>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l-GR"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e>
                    </m:d>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de</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T</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 </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Student</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m:t>
                    </m:r>
                    <m:r>
                      <a:rPr lang="es-ES" sz="1600" i="1">
                        <a:latin typeface="Cambria Math" panose="02040503050406030204" pitchFamily="18" charset="0"/>
                        <a:ea typeface="Cambria Math" panose="02040503050406030204" pitchFamily="18" charset="0"/>
                      </a:rPr>
                      <m:t>𝜈</m:t>
                    </m:r>
                    <m:r>
                      <m:rPr>
                        <m:nor/>
                      </m:rPr>
                      <a:rPr lang="es-ES" sz="1600">
                        <a:effectLst/>
                        <a:latin typeface="Cambria Math" panose="02040503050406030204" pitchFamily="18" charset="0"/>
                        <a:ea typeface="Calibri" panose="020F0502020204030204" pitchFamily="34" charset="0"/>
                        <a:cs typeface="Times New Roman" panose="02020603050405020304" pitchFamily="18" charset="0"/>
                      </a:rPr>
                      <m:t>)</m:t>
                    </m:r>
                    <m:r>
                      <m:rPr>
                        <m:nor/>
                      </m:rPr>
                      <a:rPr lang="es-ES" sz="1600" i="1">
                        <a:effectLst/>
                        <a:latin typeface="Calibri" panose="020F0502020204030204" pitchFamily="34" charset="0"/>
                        <a:ea typeface="Calibri" panose="020F0502020204030204" pitchFamily="34" charset="0"/>
                        <a:cs typeface="Times New Roman" panose="02020603050405020304" pitchFamily="18" charset="0"/>
                      </a:rPr>
                      <m:t> </m:t>
                    </m:r>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effectLst/>
                        <a:latin typeface="Cambria Math" panose="02040503050406030204" pitchFamily="18" charset="0"/>
                        <a:ea typeface="Calibri" panose="020F0502020204030204" pitchFamily="34" charset="0"/>
                        <a:cs typeface="Times New Roman" panose="02020603050405020304" pitchFamily="18" charset="0"/>
                      </a:rPr>
                      <m:t>𝑃</m:t>
                    </m:r>
                    <m:d>
                      <m:dPr>
                        <m:begChr m:val="{"/>
                        <m:endChr m:val="}"/>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𝑇</m:t>
                        </m:r>
                        <m:r>
                          <a:rPr lang="es-ES" sz="1600" i="1">
                            <a:effectLst/>
                            <a:latin typeface="Cambria Math" panose="02040503050406030204" pitchFamily="18" charset="0"/>
                            <a:ea typeface="Calibri" panose="020F0502020204030204" pitchFamily="34" charset="0"/>
                            <a:cs typeface="Times New Roman" panose="02020603050405020304" pitchFamily="18" charset="0"/>
                          </a:rPr>
                          <m:t>&lt;</m:t>
                        </m:r>
                        <m:sSub>
                          <m:sSubPr>
                            <m:ctrlPr>
                              <a:rPr lang="es-ES" sz="1600" i="1">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latin typeface="Cambria Math" panose="02040503050406030204" pitchFamily="18" charset="0"/>
                                <a:ea typeface="Cambria Math" panose="02040503050406030204" pitchFamily="18" charset="0"/>
                              </a:rPr>
                              <m:t>𝜈</m:t>
                            </m:r>
                          </m:sub>
                        </m:sSub>
                      </m:e>
                    </m:d>
                    <m:r>
                      <a:rPr lang="es-ES" sz="1600" i="1">
                        <a:effectLst/>
                        <a:latin typeface="Cambria Math" panose="02040503050406030204" pitchFamily="18" charset="0"/>
                        <a:ea typeface="Calibri" panose="020F0502020204030204" pitchFamily="34" charset="0"/>
                        <a:cs typeface="Times New Roman" panose="02020603050405020304" pitchFamily="18" charset="0"/>
                      </a:rPr>
                      <m:t>=1−</m:t>
                    </m:r>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Times New Roman" panose="02020603050405020304" pitchFamily="18" charset="0"/>
                        <a:cs typeface="Times New Roman" panose="02020603050405020304" pitchFamily="18" charset="0"/>
                      </a:rPr>
                      <m:t>   →   </m:t>
                    </m:r>
                    <m:r>
                      <a:rPr lang="es-ES" sz="1600" i="1">
                        <a:effectLst/>
                        <a:latin typeface="Cambria Math" panose="02040503050406030204" pitchFamily="18" charset="0"/>
                        <a:ea typeface="Times New Roman" panose="02020603050405020304" pitchFamily="18" charset="0"/>
                        <a:cs typeface="Times New Roman" panose="02020603050405020304" pitchFamily="18" charset="0"/>
                      </a:rPr>
                      <m:t>𝑃</m:t>
                    </m:r>
                    <m:d>
                      <m:dPr>
                        <m:begChr m:val="{"/>
                        <m:endChr m:val="}"/>
                        <m:ctrlPr>
                          <a:rPr lang="es-ES" sz="1600" i="1">
                            <a:effectLst/>
                            <a:latin typeface="Cambria Math" panose="02040503050406030204" pitchFamily="18" charset="0"/>
                          </a:rPr>
                        </m:ctrlPr>
                      </m:d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𝑇</m:t>
                        </m:r>
                        <m:r>
                          <a:rPr lang="es-ES" sz="1600" i="1">
                            <a:effectLst/>
                            <a:latin typeface="Cambria Math" panose="02040503050406030204" pitchFamily="18" charset="0"/>
                            <a:ea typeface="Calibri" panose="020F0502020204030204" pitchFamily="34" charset="0"/>
                            <a:cs typeface="Times New Roman" panose="02020603050405020304" pitchFamily="18" charset="0"/>
                          </a:rPr>
                          <m:t>&gt;</m:t>
                        </m:r>
                        <m:sSub>
                          <m:sSubPr>
                            <m:ctrlPr>
                              <a:rPr lang="es-ES" sz="1600" i="1">
                                <a:effectLst/>
                                <a:latin typeface="Cambria Math" panose="02040503050406030204" pitchFamily="18" charset="0"/>
                              </a:rPr>
                            </m:ctrlPr>
                          </m:sSubPr>
                          <m:e>
                            <m:r>
                              <a:rPr lang="es-ES" sz="1600" i="1">
                                <a:effectLst/>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ES" sz="1600" i="1">
                                <a:effectLst/>
                                <a:latin typeface="Cambria Math" panose="02040503050406030204" pitchFamily="18" charset="0"/>
                                <a:ea typeface="Calibri" panose="020F0502020204030204" pitchFamily="34" charset="0"/>
                                <a:cs typeface="Times New Roman" panose="02020603050405020304" pitchFamily="18" charset="0"/>
                              </a:rPr>
                              <m:t>,</m:t>
                            </m:r>
                            <m:r>
                              <a:rPr lang="es-ES" sz="1600" i="1">
                                <a:latin typeface="Cambria Math" panose="02040503050406030204" pitchFamily="18" charset="0"/>
                                <a:ea typeface="Cambria Math" panose="02040503050406030204" pitchFamily="18" charset="0"/>
                              </a:rPr>
                              <m:t>𝜈</m:t>
                            </m:r>
                          </m:sub>
                        </m:sSub>
                      </m:e>
                    </m:d>
                    <m:r>
                      <a:rPr lang="es-ES"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ES" sz="1600" i="1">
                            <a:effectLst/>
                            <a:latin typeface="Cambria Math" panose="02040503050406030204" pitchFamily="18" charset="0"/>
                          </a:rPr>
                        </m:ctrlPr>
                      </m:fPr>
                      <m:num>
                        <m:r>
                          <a:rPr lang="es-ES" sz="1600" i="1">
                            <a:effectLst/>
                            <a:latin typeface="Cambria Math" panose="02040503050406030204" pitchFamily="18" charset="0"/>
                            <a:ea typeface="Calibri" panose="020F0502020204030204" pitchFamily="34" charset="0"/>
                            <a:cs typeface="Times New Roman" panose="02020603050405020304" pitchFamily="18" charset="0"/>
                          </a:rPr>
                          <m:t>𝛼</m:t>
                        </m:r>
                      </m:num>
                      <m:den>
                        <m:r>
                          <a:rPr lang="es-ES" sz="1600" i="1">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s-ES" sz="1600" dirty="0">
                    <a:effectLst/>
                    <a:latin typeface="Calibri" panose="020F0502020204030204" pitchFamily="34" charset="0"/>
                    <a:ea typeface="Times New Roman" panose="02020603050405020304" pitchFamily="18" charset="0"/>
                    <a:cs typeface="Times New Roman" panose="02020603050405020304" pitchFamily="18" charset="0"/>
                  </a:rPr>
                  <a:t>     (Tabla A5)</a:t>
                </a:r>
                <a:endParaRPr lang="es-ES" sz="1600" dirty="0"/>
              </a:p>
            </p:txBody>
          </p:sp>
        </mc:Choice>
        <mc:Fallback xmlns="">
          <p:sp>
            <p:nvSpPr>
              <p:cNvPr id="17" name="CuadroTexto 16">
                <a:extLst>
                  <a:ext uri="{FF2B5EF4-FFF2-40B4-BE49-F238E27FC236}">
                    <a16:creationId xmlns:a16="http://schemas.microsoft.com/office/drawing/2014/main" id="{323B91E8-A0D6-8E42-1C08-3AE07D060810}"/>
                  </a:ext>
                </a:extLst>
              </p:cNvPr>
              <p:cNvSpPr txBox="1">
                <a:spLocks noRot="1" noChangeAspect="1" noMove="1" noResize="1" noEditPoints="1" noAdjustHandles="1" noChangeArrowheads="1" noChangeShapeType="1" noTextEdit="1"/>
              </p:cNvSpPr>
              <p:nvPr/>
            </p:nvSpPr>
            <p:spPr>
              <a:xfrm>
                <a:off x="838199" y="5747004"/>
                <a:ext cx="10515597" cy="499945"/>
              </a:xfrm>
              <a:prstGeom prst="rect">
                <a:avLst/>
              </a:prstGeom>
              <a:blipFill>
                <a:blip r:embed="rId3"/>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500451817"/>
      </p:ext>
    </p:extLst>
  </p:cSld>
  <p:clrMapOvr>
    <a:masterClrMapping/>
  </p:clrMapOvr>
  <mc:AlternateContent xmlns:mc="http://schemas.openxmlformats.org/markup-compatibility/2006" xmlns:p14="http://schemas.microsoft.com/office/powerpoint/2010/main">
    <mc:Choice Requires="p14">
      <p:transition spd="slow" p14:dur="2000" advTm="91629"/>
    </mc:Choice>
    <mc:Fallback xmlns="">
      <p:transition spd="slow" advTm="91629"/>
    </mc:Fallback>
  </mc:AlternateContent>
  <p:extLst>
    <p:ext uri="{3A86A75C-4F4B-4683-9AE1-C65F6400EC91}">
      <p14:laserTraceLst xmlns:p14="http://schemas.microsoft.com/office/powerpoint/2010/main">
        <p14:tracePtLst>
          <p14:tracePt t="2578" x="2332038" y="4070350"/>
          <p14:tracePt t="2581" x="2322513" y="4052888"/>
          <p14:tracePt t="2589" x="2287588" y="4044950"/>
          <p14:tracePt t="2601" x="2279650" y="4035425"/>
          <p14:tracePt t="2617" x="2252663" y="4027488"/>
          <p14:tracePt t="2634" x="2235200" y="4027488"/>
          <p14:tracePt t="2651" x="2209800" y="4017963"/>
          <p14:tracePt t="2652" x="2200275" y="4017963"/>
          <p14:tracePt t="2668" x="2192338" y="4010025"/>
          <p14:tracePt t="2669" x="2165350" y="4010025"/>
          <p14:tracePt t="2685" x="2139950" y="4000500"/>
          <p14:tracePt t="2701" x="2095500" y="4000500"/>
          <p14:tracePt t="2717" x="2052638" y="3992563"/>
          <p14:tracePt t="2734" x="2017713" y="3992563"/>
          <p14:tracePt t="2751" x="1982788" y="3992563"/>
          <p14:tracePt t="2767" x="1973263" y="3992563"/>
          <p14:tracePt t="2784" x="1955800" y="3992563"/>
          <p14:tracePt t="2801" x="1947863" y="3992563"/>
          <p14:tracePt t="2817" x="1938338" y="3992563"/>
          <p14:tracePt t="2834" x="1920875" y="3992563"/>
          <p14:tracePt t="2851" x="1895475" y="3983038"/>
          <p14:tracePt t="2867" x="1868488" y="3983038"/>
          <p14:tracePt t="2869" x="1851025" y="3983038"/>
          <p14:tracePt t="2885" x="1833563" y="3983038"/>
          <p14:tracePt t="2901" x="1825625" y="3983038"/>
          <p14:tracePt t="2917" x="1798638" y="3983038"/>
          <p14:tracePt t="2934" x="1781175" y="3983038"/>
          <p14:tracePt t="2951" x="1755775" y="3983038"/>
          <p14:tracePt t="2967" x="1728788" y="3992563"/>
          <p14:tracePt t="2984" x="1693863" y="4000500"/>
          <p14:tracePt t="3001" x="1676400" y="4017963"/>
          <p14:tracePt t="3017" x="1658938" y="4017963"/>
          <p14:tracePt t="3034" x="1633538" y="4027488"/>
          <p14:tracePt t="3051" x="1633538" y="4035425"/>
          <p14:tracePt t="3067" x="1624013" y="4044950"/>
          <p14:tracePt t="3085" x="1616075" y="4044950"/>
          <p14:tracePt t="3101" x="1606550" y="4052888"/>
          <p14:tracePt t="3117" x="1589088" y="4070350"/>
          <p14:tracePt t="3134" x="1571625" y="4097338"/>
          <p14:tracePt t="3151" x="1546225" y="4124325"/>
          <p14:tracePt t="3167" x="1519238" y="4167188"/>
          <p14:tracePt t="3184" x="1511300" y="4184650"/>
          <p14:tracePt t="3201" x="1501775" y="4202113"/>
          <p14:tracePt t="3217" x="1501775" y="4219575"/>
          <p14:tracePt t="3234" x="1501775" y="4229100"/>
          <p14:tracePt t="3251" x="1511300" y="4246563"/>
          <p14:tracePt t="3267" x="1519238" y="4264025"/>
          <p14:tracePt t="3269" x="1528763" y="4271963"/>
          <p14:tracePt t="3284" x="1554163" y="4298950"/>
          <p14:tracePt t="3301" x="1581150" y="4316413"/>
          <p14:tracePt t="3317" x="1606550" y="4333875"/>
          <p14:tracePt t="3334" x="1624013" y="4351338"/>
          <p14:tracePt t="3351" x="1658938" y="4368800"/>
          <p14:tracePt t="3367" x="1685925" y="4368800"/>
          <p14:tracePt t="3384" x="1703388" y="4376738"/>
          <p14:tracePt t="3401" x="1738313" y="4394200"/>
          <p14:tracePt t="3417" x="1763713" y="4403725"/>
          <p14:tracePt t="3434" x="1816100" y="4403725"/>
          <p14:tracePt t="3451" x="1860550" y="4411663"/>
          <p14:tracePt t="3467" x="1938338" y="4429125"/>
          <p14:tracePt t="3469" x="1955800" y="4438650"/>
          <p14:tracePt t="3484" x="2000250" y="4446588"/>
          <p14:tracePt t="3501" x="2025650" y="4446588"/>
          <p14:tracePt t="3517" x="2035175" y="4446588"/>
          <p14:tracePt t="3534" x="2043113" y="4446588"/>
          <p14:tracePt t="3564" x="2052638" y="4446588"/>
          <p14:tracePt t="3629" x="2060575" y="4446588"/>
          <p14:tracePt t="3645" x="2070100" y="4446588"/>
          <p14:tracePt t="3653" x="2078038" y="4446588"/>
          <p14:tracePt t="3669" x="2087563" y="4446588"/>
          <p14:tracePt t="3677" x="2095500" y="4446588"/>
          <p14:tracePt t="3685" x="2105025" y="4446588"/>
          <p14:tracePt t="3701" x="2130425" y="4446588"/>
          <p14:tracePt t="3717" x="2157413" y="4438650"/>
          <p14:tracePt t="3733" x="2192338" y="4421188"/>
          <p14:tracePt t="3751" x="2200275" y="4411663"/>
          <p14:tracePt t="3767" x="2217738" y="4403725"/>
          <p14:tracePt t="3784" x="2227263" y="4386263"/>
          <p14:tracePt t="3801" x="2235200" y="4376738"/>
          <p14:tracePt t="3817" x="2244725" y="4368800"/>
          <p14:tracePt t="3834" x="2244725" y="4351338"/>
          <p14:tracePt t="3850" x="2244725" y="4341813"/>
          <p14:tracePt t="3867" x="2244725" y="4333875"/>
          <p14:tracePt t="3869" x="2244725" y="4324350"/>
          <p14:tracePt t="3884" x="2244725" y="4316413"/>
          <p14:tracePt t="3885" x="2244725" y="4306888"/>
          <p14:tracePt t="3901" x="2227263" y="4298950"/>
          <p14:tracePt t="3917" x="2227263" y="4289425"/>
          <p14:tracePt t="3934" x="2227263" y="4281488"/>
          <p14:tracePt t="3950" x="2217738" y="4281488"/>
          <p14:tracePt t="4005" x="2209800" y="4281488"/>
          <p14:tracePt t="4029" x="2200275" y="4281488"/>
          <p14:tracePt t="4053" x="2192338" y="4281488"/>
          <p14:tracePt t="4101" x="2192338" y="4289425"/>
          <p14:tracePt t="4142" x="0" y="0"/>
        </p14:tracePtLst>
        <p14:tracePtLst>
          <p14:tracePt t="8441" x="1868488" y="4394200"/>
          <p14:tracePt t="8444" x="1860550" y="4394200"/>
          <p14:tracePt t="8452" x="1843088" y="4394200"/>
          <p14:tracePt t="8467" x="1833563" y="4394200"/>
          <p14:tracePt t="8483" x="1808163" y="4394200"/>
          <p14:tracePt t="8485" x="1798638" y="4394200"/>
          <p14:tracePt t="8500" x="1781175" y="4394200"/>
          <p14:tracePt t="8501" x="1763713" y="4394200"/>
          <p14:tracePt t="8517" x="1720850" y="4394200"/>
          <p14:tracePt t="8533" x="1703388" y="4394200"/>
          <p14:tracePt t="8550" x="1676400" y="4394200"/>
          <p14:tracePt t="8566" x="1651000" y="4394200"/>
          <p14:tracePt t="8583" x="1624013" y="4394200"/>
          <p14:tracePt t="8600" x="1606550" y="4394200"/>
          <p14:tracePt t="8616" x="1571625" y="4394200"/>
          <p14:tracePt t="8633" x="1528763" y="4403725"/>
          <p14:tracePt t="8650" x="1476375" y="4403725"/>
          <p14:tracePt t="8666" x="1423988" y="4411663"/>
          <p14:tracePt t="8683" x="1406525" y="4421188"/>
          <p14:tracePt t="8684" x="1397000" y="4421188"/>
          <p14:tracePt t="8701" x="1389063" y="4421188"/>
          <p14:tracePt t="8717" x="1389063" y="4429125"/>
          <p14:tracePt t="8733" x="1379538" y="4429125"/>
          <p14:tracePt t="8750" x="1371600" y="4438650"/>
          <p14:tracePt t="8766" x="1371600" y="4456113"/>
          <p14:tracePt t="8783" x="1362075" y="4473575"/>
          <p14:tracePt t="8800" x="1344613" y="4498975"/>
          <p14:tracePt t="8816" x="1344613" y="4525963"/>
          <p14:tracePt t="8833" x="1344613" y="4551363"/>
          <p14:tracePt t="8851" x="1336675" y="4595813"/>
          <p14:tracePt t="8866" x="1336675" y="4638675"/>
          <p14:tracePt t="8883" x="1354138" y="4673600"/>
          <p14:tracePt t="8884" x="1371600" y="4708525"/>
          <p14:tracePt t="8900" x="1423988" y="4743450"/>
          <p14:tracePt t="8917" x="1441450" y="4760913"/>
          <p14:tracePt t="8933" x="1466850" y="4770438"/>
          <p14:tracePt t="8950" x="1493838" y="4778375"/>
          <p14:tracePt t="8966" x="1519238" y="4795838"/>
          <p14:tracePt t="8983" x="1581150" y="4813300"/>
          <p14:tracePt t="9000" x="1624013" y="4822825"/>
          <p14:tracePt t="9017" x="1651000" y="4840288"/>
          <p14:tracePt t="9033" x="1711325" y="4840288"/>
          <p14:tracePt t="9050" x="1763713" y="4848225"/>
          <p14:tracePt t="9067" x="1798638" y="4848225"/>
          <p14:tracePt t="9083" x="1843088" y="4848225"/>
          <p14:tracePt t="9084" x="1860550" y="4848225"/>
          <p14:tracePt t="9100" x="1895475" y="4848225"/>
          <p14:tracePt t="9101" x="1903413" y="4848225"/>
          <p14:tracePt t="9117" x="1930400" y="4848225"/>
          <p14:tracePt t="9133" x="1982788" y="4848225"/>
          <p14:tracePt t="9149" x="2025650" y="4848225"/>
          <p14:tracePt t="9166" x="2078038" y="4848225"/>
          <p14:tracePt t="9183" x="2130425" y="4848225"/>
          <p14:tracePt t="9200" x="2165350" y="4848225"/>
          <p14:tracePt t="9216" x="2182813" y="4848225"/>
          <p14:tracePt t="9233" x="2200275" y="4848225"/>
          <p14:tracePt t="9445" x="0" y="0"/>
        </p14:tracePtLst>
        <p14:tracePtLst>
          <p14:tracePt t="10817" x="4881563" y="3948113"/>
          <p14:tracePt t="10949" x="4873625" y="3948113"/>
          <p14:tracePt t="10957" x="4856163" y="3948113"/>
          <p14:tracePt t="10981" x="4846638" y="3957638"/>
          <p14:tracePt t="10989" x="4829175" y="3957638"/>
          <p14:tracePt t="11005" x="4811713" y="3957638"/>
          <p14:tracePt t="11016" x="4803775" y="3957638"/>
          <p14:tracePt t="11033" x="4768850" y="3957638"/>
          <p14:tracePt t="11049" x="4733925" y="3965575"/>
          <p14:tracePt t="11066" x="4689475" y="3965575"/>
          <p14:tracePt t="11083" x="4594225" y="3975100"/>
          <p14:tracePt t="11099" x="4559300" y="3975100"/>
          <p14:tracePt t="11101" x="4524375" y="3975100"/>
          <p14:tracePt t="11116" x="4479925" y="3983038"/>
          <p14:tracePt t="11133" x="4437063" y="4000500"/>
          <p14:tracePt t="11149" x="4427538" y="4000500"/>
          <p14:tracePt t="11166" x="4410075" y="4000500"/>
          <p14:tracePt t="11183" x="4384675" y="4010025"/>
          <p14:tracePt t="11199" x="4357688" y="4017963"/>
          <p14:tracePt t="11216" x="4332288" y="4035425"/>
          <p14:tracePt t="11233" x="4297363" y="4044950"/>
          <p14:tracePt t="11249" x="4252913" y="4062413"/>
          <p14:tracePt t="11266" x="4217988" y="4079875"/>
          <p14:tracePt t="11283" x="4140200" y="4105275"/>
          <p14:tracePt t="11299" x="4105275" y="4124325"/>
          <p14:tracePt t="11301" x="4087813" y="4132263"/>
          <p14:tracePt t="11316" x="4078288" y="4132263"/>
          <p14:tracePt t="11317" x="4070350" y="4141788"/>
          <p14:tracePt t="11333" x="4060825" y="4159250"/>
          <p14:tracePt t="11349" x="4035425" y="4167188"/>
          <p14:tracePt t="11366" x="4017963" y="4194175"/>
          <p14:tracePt t="11383" x="4000500" y="4219575"/>
          <p14:tracePt t="11399" x="3973513" y="4237038"/>
          <p14:tracePt t="11416" x="3965575" y="4254500"/>
          <p14:tracePt t="11433" x="3948113" y="4281488"/>
          <p14:tracePt t="11449" x="3930650" y="4316413"/>
          <p14:tracePt t="11466" x="3921125" y="4341813"/>
          <p14:tracePt t="11483" x="3903663" y="4368800"/>
          <p14:tracePt t="11499" x="3903663" y="4403725"/>
          <p14:tracePt t="11501" x="3895725" y="4411663"/>
          <p14:tracePt t="11516" x="3895725" y="4446588"/>
          <p14:tracePt t="11533" x="3886200" y="4481513"/>
          <p14:tracePt t="11549" x="3886200" y="4508500"/>
          <p14:tracePt t="11566" x="3903663" y="4560888"/>
          <p14:tracePt t="11583" x="3913188" y="4578350"/>
          <p14:tracePt t="11599" x="3930650" y="4613275"/>
          <p14:tracePt t="11616" x="3938588" y="4638675"/>
          <p14:tracePt t="11633" x="3948113" y="4648200"/>
          <p14:tracePt t="11649" x="3973513" y="4665663"/>
          <p14:tracePt t="11666" x="3990975" y="4683125"/>
          <p14:tracePt t="11683" x="4008438" y="4691063"/>
          <p14:tracePt t="11700" x="4060825" y="4708525"/>
          <p14:tracePt t="11701" x="4070350" y="4718050"/>
          <p14:tracePt t="11716" x="4157663" y="4752975"/>
          <p14:tracePt t="11733" x="4252913" y="4795838"/>
          <p14:tracePt t="11749" x="4427538" y="4830763"/>
          <p14:tracePt t="11766" x="4514850" y="4857750"/>
          <p14:tracePt t="11783" x="4567238" y="4883150"/>
          <p14:tracePt t="11800" x="4654550" y="4927600"/>
          <p14:tracePt t="11816" x="4699000" y="4927600"/>
          <p14:tracePt t="11833" x="4741863" y="4945063"/>
          <p14:tracePt t="11849" x="4776788" y="4953000"/>
          <p14:tracePt t="11866" x="4811713" y="4953000"/>
          <p14:tracePt t="11883" x="4846638" y="4962525"/>
          <p14:tracePt t="11900" x="4899025" y="4962525"/>
          <p14:tracePt t="11901" x="4916488" y="4962525"/>
          <p14:tracePt t="11917" x="4978400" y="4962525"/>
          <p14:tracePt t="11933" x="5021263" y="4970463"/>
          <p14:tracePt t="11949" x="5083175" y="4979988"/>
          <p14:tracePt t="11966" x="5108575" y="4979988"/>
          <p14:tracePt t="11983" x="5135563" y="4979988"/>
          <p14:tracePt t="11999" x="5178425" y="4979988"/>
          <p14:tracePt t="12016" x="5205413" y="4979988"/>
          <p14:tracePt t="12033" x="5240338" y="4979988"/>
          <p14:tracePt t="12049" x="5265738" y="4979988"/>
          <p14:tracePt t="12066" x="5292725" y="4979988"/>
          <p14:tracePt t="12082" x="5318125" y="4979988"/>
          <p14:tracePt t="12085" x="5327650" y="4979988"/>
          <p14:tracePt t="12099" x="5335588" y="4979988"/>
          <p14:tracePt t="12101" x="5353050" y="4979988"/>
          <p14:tracePt t="12116" x="5370513" y="4979988"/>
          <p14:tracePt t="12117" x="5387975" y="4979988"/>
          <p14:tracePt t="12133" x="5440363" y="4979988"/>
          <p14:tracePt t="12149" x="5475288" y="4979988"/>
          <p14:tracePt t="12166" x="5554663" y="4979988"/>
          <p14:tracePt t="12183" x="5641975" y="4979988"/>
          <p14:tracePt t="12199" x="5684838" y="4970463"/>
          <p14:tracePt t="12216" x="5702300" y="4962525"/>
          <p14:tracePt t="12232" x="5711825" y="4953000"/>
          <p14:tracePt t="12249" x="5729288" y="4935538"/>
          <p14:tracePt t="12266" x="5746750" y="4935538"/>
          <p14:tracePt t="12283" x="5764213" y="4918075"/>
          <p14:tracePt t="12284" x="5781675" y="4910138"/>
          <p14:tracePt t="12299" x="5789613" y="4910138"/>
          <p14:tracePt t="12316" x="5834063" y="4875213"/>
          <p14:tracePt t="12333" x="5859463" y="4830763"/>
          <p14:tracePt t="12349" x="5886450" y="4805363"/>
          <p14:tracePt t="12366" x="5911850" y="4778375"/>
          <p14:tracePt t="12382" x="5911850" y="4770438"/>
          <p14:tracePt t="12399" x="5911850" y="4752975"/>
          <p14:tracePt t="12416" x="5911850" y="4735513"/>
          <p14:tracePt t="12432" x="5911850" y="4708525"/>
          <p14:tracePt t="12449" x="5911850" y="4691063"/>
          <p14:tracePt t="12466" x="5894388" y="4648200"/>
          <p14:tracePt t="12483" x="5859463" y="4595813"/>
          <p14:tracePt t="12499" x="5842000" y="4560888"/>
          <p14:tracePt t="12500" x="5842000" y="4551363"/>
          <p14:tracePt t="12516" x="5824538" y="4525963"/>
          <p14:tracePt t="12533" x="5816600" y="4508500"/>
          <p14:tracePt t="12549" x="5807075" y="4491038"/>
          <p14:tracePt t="12566" x="5781675" y="4456113"/>
          <p14:tracePt t="12582" x="5764213" y="4429125"/>
          <p14:tracePt t="12599" x="5737225" y="4394200"/>
          <p14:tracePt t="12616" x="5719763" y="4359275"/>
          <p14:tracePt t="12632" x="5694363" y="4298950"/>
          <p14:tracePt t="12649" x="5667375" y="4271963"/>
          <p14:tracePt t="12666" x="5659438" y="4264025"/>
          <p14:tracePt t="12683" x="5641975" y="4246563"/>
          <p14:tracePt t="12699" x="5624513" y="4219575"/>
          <p14:tracePt t="12700" x="5607050" y="4211638"/>
          <p14:tracePt t="12716" x="5580063" y="4184650"/>
          <p14:tracePt t="12733" x="5527675" y="4167188"/>
          <p14:tracePt t="12749" x="5484813" y="4132263"/>
          <p14:tracePt t="12766" x="5422900" y="4105275"/>
          <p14:tracePt t="12782" x="5370513" y="4087813"/>
          <p14:tracePt t="12799" x="5345113" y="4062413"/>
          <p14:tracePt t="12816" x="5310188" y="4044950"/>
          <p14:tracePt t="12832" x="5283200" y="4035425"/>
          <p14:tracePt t="12849" x="5257800" y="4035425"/>
          <p14:tracePt t="12866" x="5230813" y="4027488"/>
          <p14:tracePt t="12882" x="5195888" y="4010025"/>
          <p14:tracePt t="12899" x="5178425" y="4010025"/>
          <p14:tracePt t="12916" x="5160963" y="4010025"/>
          <p14:tracePt t="12917" x="5143500" y="4010025"/>
          <p14:tracePt t="12941" x="5135563" y="4010025"/>
          <p14:tracePt t="12957" x="5126038" y="4010025"/>
          <p14:tracePt t="12966" x="5126038" y="4000500"/>
          <p14:tracePt t="12997" x="5118100" y="3992563"/>
          <p14:tracePt t="13005" x="5108575" y="3992563"/>
          <p14:tracePt t="13016" x="5100638" y="3992563"/>
          <p14:tracePt t="13032" x="5056188" y="3983038"/>
          <p14:tracePt t="13049" x="5030788" y="3983038"/>
          <p14:tracePt t="13066" x="4986338" y="3983038"/>
          <p14:tracePt t="13083" x="4951413" y="3983038"/>
          <p14:tracePt t="13099" x="4916488" y="3983038"/>
          <p14:tracePt t="13100" x="4899025" y="3983038"/>
          <p14:tracePt t="13116" x="4873625" y="3983038"/>
          <p14:tracePt t="13133" x="4846638" y="3983038"/>
          <p14:tracePt t="13149" x="4829175" y="3992563"/>
          <p14:tracePt t="13166" x="4759325" y="3992563"/>
          <p14:tracePt t="13182" x="4716463" y="3992563"/>
          <p14:tracePt t="13199" x="4646613" y="3992563"/>
          <p14:tracePt t="13216" x="4549775" y="4000500"/>
          <p14:tracePt t="13232" x="4489450" y="4010025"/>
          <p14:tracePt t="13249" x="4462463" y="4010025"/>
          <p14:tracePt t="13253" x="4454525" y="4010025"/>
          <p14:tracePt t="13269" x="4454525" y="4017963"/>
          <p14:tracePt t="13285" x="4445000" y="4017963"/>
          <p14:tracePt t="13299" x="4437063" y="4027488"/>
          <p14:tracePt t="13301" x="4427538" y="4027488"/>
          <p14:tracePt t="13316" x="4410075" y="4044950"/>
          <p14:tracePt t="13333" x="4384675" y="4062413"/>
          <p14:tracePt t="13349" x="4322763" y="4097338"/>
          <p14:tracePt t="13366" x="4279900" y="4132263"/>
          <p14:tracePt t="13382" x="4235450" y="4149725"/>
          <p14:tracePt t="13399" x="4175125" y="4167188"/>
          <p14:tracePt t="13416" x="4148138" y="4202113"/>
          <p14:tracePt t="13432" x="4130675" y="4219575"/>
          <p14:tracePt t="13449" x="4105275" y="4254500"/>
          <p14:tracePt t="13466" x="4087813" y="4271963"/>
          <p14:tracePt t="13482" x="4060825" y="4306888"/>
          <p14:tracePt t="13499" x="4052888" y="4333875"/>
          <p14:tracePt t="13516" x="4035425" y="4394200"/>
          <p14:tracePt t="13517" x="4035425" y="4403725"/>
          <p14:tracePt t="13533" x="4035425" y="4456113"/>
          <p14:tracePt t="13549" x="4035425" y="4473575"/>
          <p14:tracePt t="13566" x="4035425" y="4491038"/>
          <p14:tracePt t="13582" x="4043363" y="4508500"/>
          <p14:tracePt t="13599" x="4070350" y="4533900"/>
          <p14:tracePt t="13616" x="4087813" y="4543425"/>
          <p14:tracePt t="13632" x="4113213" y="4560888"/>
          <p14:tracePt t="13649" x="4148138" y="4603750"/>
          <p14:tracePt t="13666" x="4175125" y="4613275"/>
          <p14:tracePt t="13682" x="4192588" y="4630738"/>
          <p14:tracePt t="13699" x="4227513" y="4648200"/>
          <p14:tracePt t="13716" x="4262438" y="4648200"/>
          <p14:tracePt t="13717" x="4279900" y="4665663"/>
          <p14:tracePt t="13733" x="4297363" y="4683125"/>
          <p14:tracePt t="13749" x="4332288" y="4691063"/>
          <p14:tracePt t="13766" x="4410075" y="4708525"/>
          <p14:tracePt t="13782" x="4471988" y="4718050"/>
          <p14:tracePt t="13799" x="4497388" y="4718050"/>
          <p14:tracePt t="13816" x="4514850" y="4725988"/>
          <p14:tracePt t="13832" x="4532313" y="4725988"/>
          <p14:tracePt t="13861" x="4541838" y="4725988"/>
          <p14:tracePt t="13989" x="4559300" y="4725988"/>
          <p14:tracePt t="13997" x="4567238" y="4725988"/>
          <p14:tracePt t="14005" x="4576763" y="4725988"/>
          <p14:tracePt t="14016" x="4611688" y="4725988"/>
          <p14:tracePt t="14032" x="4654550" y="4725988"/>
          <p14:tracePt t="14049" x="4751388" y="4725988"/>
          <p14:tracePt t="14066" x="4838700" y="4725988"/>
          <p14:tracePt t="14082" x="4881563" y="4725988"/>
          <p14:tracePt t="14099" x="4899025" y="4725988"/>
          <p14:tracePt t="14101" x="4908550" y="4725988"/>
          <p14:tracePt t="14270" x="4916488" y="4725988"/>
          <p14:tracePt t="14309" x="4933950" y="4725988"/>
          <p14:tracePt t="14316" x="4960938" y="4725988"/>
          <p14:tracePt t="14325" x="4968875" y="4725988"/>
          <p14:tracePt t="14333" x="5003800" y="4725988"/>
          <p14:tracePt t="14349" x="5038725" y="4725988"/>
          <p14:tracePt t="14365" x="5083175" y="4725988"/>
          <p14:tracePt t="14382" x="5091113" y="4725988"/>
          <p14:tracePt t="14399" x="5091113" y="4718050"/>
          <p14:tracePt t="14869" x="5108575" y="4718050"/>
          <p14:tracePt t="14877" x="5160963" y="4718050"/>
          <p14:tracePt t="14885" x="5240338" y="4725988"/>
          <p14:tracePt t="14899" x="5283200" y="4725988"/>
          <p14:tracePt t="14916" x="5362575" y="4735513"/>
          <p14:tracePt t="14918" x="5380038" y="4735513"/>
          <p14:tracePt t="14932" x="5467350" y="4735513"/>
          <p14:tracePt t="14949" x="5484813" y="4735513"/>
          <p14:tracePt t="15069" x="5475288" y="4735513"/>
          <p14:tracePt t="15117" x="5467350" y="4735513"/>
          <p14:tracePt t="15125" x="5457825" y="4735513"/>
          <p14:tracePt t="15149" x="5457825" y="4743450"/>
          <p14:tracePt t="15157" x="5449888" y="4743450"/>
          <p14:tracePt t="15165" x="5440363" y="4752975"/>
          <p14:tracePt t="15182" x="5432425" y="4752975"/>
          <p14:tracePt t="15199" x="5422900" y="4752975"/>
          <p14:tracePt t="15215" x="5414963" y="4752975"/>
          <p14:tracePt t="15325" x="5414963" y="4760913"/>
          <p14:tracePt t="15381" x="5405438" y="4760913"/>
          <p14:tracePt t="15397" x="5397500" y="4760913"/>
          <p14:tracePt t="15453" x="5387975" y="4760913"/>
          <p14:tracePt t="15477" x="5380038" y="4760913"/>
          <p14:tracePt t="15485" x="5362575" y="4770438"/>
          <p14:tracePt t="15501" x="5353050" y="4778375"/>
          <p14:tracePt t="15509" x="5345113" y="4778375"/>
          <p14:tracePt t="15517" x="5335588" y="4787900"/>
          <p14:tracePt t="15533" x="5318125" y="4787900"/>
          <p14:tracePt t="15548" x="5265738" y="4795838"/>
          <p14:tracePt t="15565" x="5222875" y="4795838"/>
          <p14:tracePt t="15582" x="5195888" y="4795838"/>
          <p14:tracePt t="15599" x="5187950" y="4805363"/>
          <p14:tracePt t="15615" x="5178425" y="4805363"/>
          <p14:tracePt t="15645" x="5170488" y="4805363"/>
          <p14:tracePt t="15653" x="5160963" y="4805363"/>
          <p14:tracePt t="15665" x="5153025" y="4805363"/>
          <p14:tracePt t="15682" x="5135563" y="4805363"/>
          <p14:tracePt t="16005" x="0" y="0"/>
        </p14:tracePtLst>
        <p14:tracePtLst>
          <p14:tracePt t="24040" x="8872538" y="3598863"/>
          <p14:tracePt t="24044" x="8882063" y="3598863"/>
          <p14:tracePt t="24053" x="8890000" y="3598863"/>
          <p14:tracePt t="24064" x="8890000" y="3608388"/>
          <p14:tracePt t="24081" x="8907463" y="3608388"/>
          <p14:tracePt t="24097" x="8916988" y="3608388"/>
          <p14:tracePt t="24114" x="8934450" y="3625850"/>
          <p14:tracePt t="24131" x="8951913" y="3625850"/>
          <p14:tracePt t="24133" x="8959850" y="3633788"/>
          <p14:tracePt t="24148" x="8977313" y="3643313"/>
          <p14:tracePt t="24164" x="8986838" y="3643313"/>
          <p14:tracePt t="24181" x="9004300" y="3643313"/>
          <p14:tracePt t="24197" x="9012238" y="3643313"/>
          <p14:tracePt t="24214" x="9029700" y="3643313"/>
          <p14:tracePt t="24231" x="9039225" y="3643313"/>
          <p14:tracePt t="24247" x="9047163" y="3643313"/>
          <p14:tracePt t="24264" x="9056688" y="3643313"/>
          <p14:tracePt t="24281" x="9064625" y="3643313"/>
          <p14:tracePt t="24301" x="9074150" y="3643313"/>
          <p14:tracePt t="24341" x="9082088" y="3643313"/>
          <p14:tracePt t="24349" x="9091613" y="3643313"/>
          <p14:tracePt t="24357" x="9099550" y="3643313"/>
          <p14:tracePt t="24373" x="9109075" y="3643313"/>
          <p14:tracePt t="24381" x="9117013" y="3643313"/>
          <p14:tracePt t="24397" x="9126538" y="3633788"/>
          <p14:tracePt t="24414" x="9126538" y="3625850"/>
          <p14:tracePt t="24431" x="9134475" y="3625850"/>
          <p14:tracePt t="24447" x="9153525" y="3616325"/>
          <p14:tracePt t="24464" x="9161463" y="3608388"/>
          <p14:tracePt t="24480" x="9170988" y="3608388"/>
          <p14:tracePt t="24497" x="9178925" y="3590925"/>
          <p14:tracePt t="24514" x="9196388" y="3573463"/>
          <p14:tracePt t="24531" x="9213850" y="3556000"/>
          <p14:tracePt t="24547" x="9223375" y="3546475"/>
          <p14:tracePt t="24548" x="9231313" y="3538538"/>
          <p14:tracePt t="24565" x="9240838" y="3529013"/>
          <p14:tracePt t="24580" x="9248775" y="3511550"/>
          <p14:tracePt t="24597" x="9248775" y="3486150"/>
          <p14:tracePt t="24614" x="9248775" y="3476625"/>
          <p14:tracePt t="24631" x="9248775" y="3451225"/>
          <p14:tracePt t="24647" x="9248775" y="3433763"/>
          <p14:tracePt t="24664" x="9248775" y="3424238"/>
          <p14:tracePt t="24681" x="9248775" y="3406775"/>
          <p14:tracePt t="24697" x="9240838" y="3381375"/>
          <p14:tracePt t="24714" x="9223375" y="3354388"/>
          <p14:tracePt t="24731" x="9205913" y="3336925"/>
          <p14:tracePt t="24733" x="9205913" y="3328988"/>
          <p14:tracePt t="24747" x="9205913" y="3319463"/>
          <p14:tracePt t="24749" x="9196388" y="3311525"/>
          <p14:tracePt t="24765" x="9178925" y="3284538"/>
          <p14:tracePt t="24781" x="9170988" y="3267075"/>
          <p14:tracePt t="24797" x="9134475" y="3249613"/>
          <p14:tracePt t="24814" x="9117013" y="3224213"/>
          <p14:tracePt t="24831" x="9099550" y="3206750"/>
          <p14:tracePt t="24847" x="9082088" y="3189288"/>
          <p14:tracePt t="24864" x="9074150" y="3179763"/>
          <p14:tracePt t="24881" x="9064625" y="3171825"/>
          <p14:tracePt t="24897" x="9047163" y="3162300"/>
          <p14:tracePt t="24914" x="9039225" y="3154363"/>
          <p14:tracePt t="24931" x="9029700" y="3144838"/>
          <p14:tracePt t="24933" x="9029700" y="3136900"/>
          <p14:tracePt t="24947" x="9021763" y="3136900"/>
          <p14:tracePt t="24949" x="9012238" y="3136900"/>
          <p14:tracePt t="24964" x="9004300" y="3136900"/>
          <p14:tracePt t="24981" x="8994775" y="3127375"/>
          <p14:tracePt t="24997" x="8986838" y="3127375"/>
          <p14:tracePt t="25014" x="8977313" y="3119438"/>
          <p14:tracePt t="25031" x="8969375" y="3119438"/>
          <p14:tracePt t="25047" x="8959850" y="3119438"/>
          <p14:tracePt t="25064" x="8951913" y="3119438"/>
          <p14:tracePt t="25081" x="8942388" y="3119438"/>
          <p14:tracePt t="25097" x="8934450" y="3119438"/>
          <p14:tracePt t="25114" x="8924925" y="3119438"/>
          <p14:tracePt t="25131" x="8916988" y="3119438"/>
          <p14:tracePt t="25149" x="8907463" y="3119438"/>
          <p14:tracePt t="25165" x="8899525" y="3119438"/>
          <p14:tracePt t="25188" x="8890000" y="3119438"/>
          <p14:tracePt t="25197" x="8882063" y="3119438"/>
          <p14:tracePt t="25214" x="8872538" y="3127375"/>
          <p14:tracePt t="25253" x="8864600" y="3127375"/>
          <p14:tracePt t="25269" x="8855075" y="3127375"/>
          <p14:tracePt t="25317" x="8847138" y="3136900"/>
          <p14:tracePt t="25333" x="8837613" y="3136900"/>
          <p14:tracePt t="25357" x="8829675" y="3144838"/>
          <p14:tracePt t="25421" x="8829675" y="3154363"/>
          <p14:tracePt t="25445" x="8820150" y="3154363"/>
          <p14:tracePt t="25557" x="8812213" y="3154363"/>
          <p14:tracePt t="25565" x="8794750" y="3171825"/>
          <p14:tracePt t="25573" x="8785225" y="3179763"/>
          <p14:tracePt t="25581" x="8777288" y="3179763"/>
          <p14:tracePt t="25597" x="8767763" y="3197225"/>
          <p14:tracePt t="25614" x="8742363" y="3214688"/>
          <p14:tracePt t="25630" x="8715375" y="3249613"/>
          <p14:tracePt t="25647" x="8707438" y="3267075"/>
          <p14:tracePt t="25664" x="8689975" y="3276600"/>
          <p14:tracePt t="25680" x="8680450" y="3284538"/>
          <p14:tracePt t="25717" x="8672513" y="3294063"/>
          <p14:tracePt t="25725" x="8672513" y="3302000"/>
          <p14:tracePt t="25741" x="8662988" y="3302000"/>
          <p14:tracePt t="25749" x="8662988" y="3311525"/>
          <p14:tracePt t="25764" x="8655050" y="3319463"/>
          <p14:tracePt t="25781" x="8655050" y="3328988"/>
          <p14:tracePt t="25797" x="8655050" y="3336925"/>
          <p14:tracePt t="25814" x="8655050" y="3346450"/>
          <p14:tracePt t="25830" x="8655050" y="3363913"/>
          <p14:tracePt t="25847" x="8655050" y="3389313"/>
          <p14:tracePt t="25864" x="8655050" y="3406775"/>
          <p14:tracePt t="25881" x="8655050" y="3433763"/>
          <p14:tracePt t="25897" x="8662988" y="3451225"/>
          <p14:tracePt t="25914" x="8680450" y="3486150"/>
          <p14:tracePt t="25930" x="8689975" y="3503613"/>
          <p14:tracePt t="25947" x="8715375" y="3529013"/>
          <p14:tracePt t="25964" x="8732838" y="3538538"/>
          <p14:tracePt t="25965" x="8742363" y="3546475"/>
          <p14:tracePt t="25981" x="8759825" y="3556000"/>
          <p14:tracePt t="25997" x="8794750" y="3563938"/>
          <p14:tracePt t="26014" x="8829675" y="3573463"/>
          <p14:tracePt t="26030" x="8882063" y="3590925"/>
          <p14:tracePt t="26047" x="8969375" y="3608388"/>
          <p14:tracePt t="26064" x="9039225" y="3633788"/>
          <p14:tracePt t="26080" x="9064625" y="3643313"/>
          <p14:tracePt t="26097" x="9091613" y="3651250"/>
          <p14:tracePt t="26114" x="9099550" y="3651250"/>
          <p14:tracePt t="26130" x="9109075" y="3651250"/>
          <p14:tracePt t="26542" x="0" y="0"/>
        </p14:tracePtLst>
        <p14:tracePtLst>
          <p14:tracePt t="28688" x="9134475" y="3651250"/>
          <p14:tracePt t="28813" x="9144000" y="3651250"/>
          <p14:tracePt t="28837" x="9153525" y="3643313"/>
          <p14:tracePt t="28845" x="9161463" y="3643313"/>
          <p14:tracePt t="28869" x="9170988" y="3633788"/>
          <p14:tracePt t="28877" x="9178925" y="3633788"/>
          <p14:tracePt t="28885" x="9188450" y="3633788"/>
          <p14:tracePt t="28901" x="9196388" y="3633788"/>
          <p14:tracePt t="28913" x="9196388" y="3625850"/>
          <p14:tracePt t="28930" x="9205913" y="3625850"/>
          <p14:tracePt t="28981" x="9205913" y="3616325"/>
          <p14:tracePt t="28997" x="9205913" y="3598863"/>
          <p14:tracePt t="29005" x="9205913" y="3581400"/>
          <p14:tracePt t="29013" x="9205913" y="3573463"/>
          <p14:tracePt t="29030" x="9196388" y="3546475"/>
          <p14:tracePt t="29047" x="9178925" y="3459163"/>
          <p14:tracePt t="29063" x="9170988" y="3424238"/>
          <p14:tracePt t="29080" x="9170988" y="3406775"/>
          <p14:tracePt t="29097" x="9161463" y="3381375"/>
          <p14:tracePt t="29113" x="9153525" y="3363913"/>
          <p14:tracePt t="29130" x="9144000" y="3346450"/>
          <p14:tracePt t="29147" x="9134475" y="3311525"/>
          <p14:tracePt t="29149" x="9126538" y="3284538"/>
          <p14:tracePt t="29163" x="9117013" y="3267075"/>
          <p14:tracePt t="29164" x="9109075" y="3249613"/>
          <p14:tracePt t="29180" x="9091613" y="3214688"/>
          <p14:tracePt t="29197" x="9082088" y="3179763"/>
          <p14:tracePt t="29213" x="9082088" y="3171825"/>
          <p14:tracePt t="29230" x="9064625" y="3154363"/>
          <p14:tracePt t="29247" x="9056688" y="3144838"/>
          <p14:tracePt t="29263" x="9039225" y="3136900"/>
          <p14:tracePt t="29280" x="8994775" y="3101975"/>
          <p14:tracePt t="29296" x="8942388" y="3074988"/>
          <p14:tracePt t="29313" x="8907463" y="3049588"/>
          <p14:tracePt t="29330" x="8890000" y="3040063"/>
          <p14:tracePt t="29347" x="8872538" y="3032125"/>
          <p14:tracePt t="29363" x="8864600" y="3032125"/>
          <p14:tracePt t="29364" x="8855075" y="3032125"/>
          <p14:tracePt t="29381" x="8847138" y="3032125"/>
          <p14:tracePt t="29397" x="8829675" y="3032125"/>
          <p14:tracePt t="29413" x="8812213" y="3032125"/>
          <p14:tracePt t="29430" x="8785225" y="3032125"/>
          <p14:tracePt t="29447" x="8767763" y="3032125"/>
          <p14:tracePt t="29463" x="8750300" y="3032125"/>
          <p14:tracePt t="29480" x="8742363" y="3040063"/>
          <p14:tracePt t="29500" x="8732838" y="3049588"/>
          <p14:tracePt t="29517" x="8724900" y="3049588"/>
          <p14:tracePt t="29530" x="8715375" y="3057525"/>
          <p14:tracePt t="29547" x="8715375" y="3067050"/>
          <p14:tracePt t="29549" x="8707438" y="3074988"/>
          <p14:tracePt t="29563" x="8697913" y="3084513"/>
          <p14:tracePt t="29564" x="8689975" y="3092450"/>
          <p14:tracePt t="29580" x="8672513" y="3127375"/>
          <p14:tracePt t="29597" x="8662988" y="3171825"/>
          <p14:tracePt t="29613" x="8655050" y="3214688"/>
          <p14:tracePt t="29630" x="8645525" y="3267075"/>
          <p14:tracePt t="29646" x="8645525" y="3284538"/>
          <p14:tracePt t="29663" x="8655050" y="3328988"/>
          <p14:tracePt t="29680" x="8662988" y="3363913"/>
          <p14:tracePt t="29696" x="8680450" y="3398838"/>
          <p14:tracePt t="29713" x="8707438" y="3433763"/>
          <p14:tracePt t="29730" x="8732838" y="3459163"/>
          <p14:tracePt t="29747" x="8750300" y="3476625"/>
          <p14:tracePt t="29763" x="8767763" y="3494088"/>
          <p14:tracePt t="29764" x="8777288" y="3511550"/>
          <p14:tracePt t="29780" x="8802688" y="3529013"/>
          <p14:tracePt t="29797" x="8820150" y="3546475"/>
          <p14:tracePt t="29813" x="8837613" y="3556000"/>
          <p14:tracePt t="29830" x="8855075" y="3556000"/>
          <p14:tracePt t="29847" x="8872538" y="3563938"/>
          <p14:tracePt t="29863" x="8882063" y="3563938"/>
          <p14:tracePt t="29880" x="8890000" y="3563938"/>
          <p14:tracePt t="29896" x="8907463" y="3563938"/>
          <p14:tracePt t="29913" x="8916988" y="3563938"/>
          <p14:tracePt t="29930" x="8924925" y="3563938"/>
          <p14:tracePt t="29947" x="8942388" y="3563938"/>
          <p14:tracePt t="29963" x="8959850" y="3563938"/>
          <p14:tracePt t="29980" x="8986838" y="3563938"/>
          <p14:tracePt t="29997" x="8994775" y="3563938"/>
          <p14:tracePt t="30013" x="8994775" y="3556000"/>
          <p14:tracePt t="30030" x="9004300" y="3556000"/>
          <p14:tracePt t="30047" x="9004300" y="3546475"/>
          <p14:tracePt t="30063" x="9012238" y="3546475"/>
          <p14:tracePt t="30133" x="9012238" y="3538538"/>
          <p14:tracePt t="30141" x="9021763" y="3529013"/>
          <p14:tracePt t="30157" x="9021763" y="3521075"/>
          <p14:tracePt t="30165" x="9029700" y="3521075"/>
          <p14:tracePt t="30180" x="9039225" y="3494088"/>
          <p14:tracePt t="30197" x="9056688" y="3476625"/>
          <p14:tracePt t="30213" x="9064625" y="3468688"/>
          <p14:tracePt t="30230" x="9064625" y="3441700"/>
          <p14:tracePt t="30246" x="9064625" y="3424238"/>
          <p14:tracePt t="30263" x="9064625" y="3416300"/>
          <p14:tracePt t="30280" x="9064625" y="3398838"/>
          <p14:tracePt t="30296" x="9064625" y="3389313"/>
          <p14:tracePt t="30313" x="9064625" y="3371850"/>
          <p14:tracePt t="30330" x="9064625" y="3354388"/>
          <p14:tracePt t="30346" x="9056688" y="3346450"/>
          <p14:tracePt t="30363" x="9047163" y="3328988"/>
          <p14:tracePt t="30365" x="9039225" y="3328988"/>
          <p14:tracePt t="30380" x="9029700" y="3319463"/>
          <p14:tracePt t="30381" x="9029700" y="3311525"/>
          <p14:tracePt t="30397" x="9029700" y="3302000"/>
          <p14:tracePt t="30413" x="9012238" y="3294063"/>
          <p14:tracePt t="30430" x="9012238" y="3284538"/>
          <p14:tracePt t="30446" x="8986838" y="3267075"/>
          <p14:tracePt t="30463" x="8969375" y="3249613"/>
          <p14:tracePt t="30480" x="8959850" y="3232150"/>
          <p14:tracePt t="30496" x="8942388" y="3224213"/>
          <p14:tracePt t="30513" x="8934450" y="3214688"/>
          <p14:tracePt t="30530" x="8916988" y="3206750"/>
          <p14:tracePt t="30546" x="8916988" y="3189288"/>
          <p14:tracePt t="30563" x="8907463" y="3189288"/>
          <p14:tracePt t="30565" x="8899525" y="3189288"/>
          <p14:tracePt t="30580" x="8899525" y="3179763"/>
          <p14:tracePt t="30581" x="8890000" y="3179763"/>
          <p14:tracePt t="30605" x="8890000" y="3171825"/>
          <p14:tracePt t="30613" x="8882063" y="3171825"/>
          <p14:tracePt t="30630" x="8872538" y="3171825"/>
          <p14:tracePt t="30646" x="8864600" y="3171825"/>
          <p14:tracePt t="30701" x="8855075" y="3171825"/>
          <p14:tracePt t="30757" x="8847138" y="3171825"/>
          <p14:tracePt t="30781" x="8847138" y="3179763"/>
          <p14:tracePt t="30789" x="8837613" y="3179763"/>
          <p14:tracePt t="30805" x="8829675" y="3179763"/>
          <p14:tracePt t="30845" x="8829675" y="3189288"/>
          <p14:tracePt t="30949" x="8820150" y="3189288"/>
          <p14:tracePt t="30965" x="8820150" y="3197225"/>
          <p14:tracePt t="30989" x="8820150" y="3206750"/>
          <p14:tracePt t="30997" x="8802688" y="3206750"/>
          <p14:tracePt t="31005" x="8802688" y="3224213"/>
          <p14:tracePt t="31013" x="8802688" y="3232150"/>
          <p14:tracePt t="31029" x="8785225" y="3232150"/>
          <p14:tracePt t="31046" x="8777288" y="3259138"/>
          <p14:tracePt t="31063" x="8767763" y="3276600"/>
          <p14:tracePt t="31080" x="8759825" y="3284538"/>
          <p14:tracePt t="31096" x="8750300" y="3302000"/>
          <p14:tracePt t="31125" x="8750300" y="3311525"/>
          <p14:tracePt t="31141" x="8742363" y="3319463"/>
          <p14:tracePt t="31165" x="8732838" y="3319463"/>
          <p14:tracePt t="31173" x="8732838" y="3328988"/>
          <p14:tracePt t="31197" x="8724900" y="3336925"/>
          <p14:tracePt t="31205" x="8724900" y="3346450"/>
          <p14:tracePt t="31213" x="8715375" y="3346450"/>
          <p14:tracePt t="31230" x="8715375" y="3354388"/>
          <p14:tracePt t="31246" x="8715375" y="3363913"/>
          <p14:tracePt t="31263" x="8715375" y="3371850"/>
          <p14:tracePt t="31280" x="8707438" y="3389313"/>
          <p14:tracePt t="31296" x="8697913" y="3389313"/>
          <p14:tracePt t="31313" x="8689975" y="3406775"/>
          <p14:tracePt t="31330" x="8689975" y="3416300"/>
          <p14:tracePt t="31346" x="8680450" y="3433763"/>
          <p14:tracePt t="31363" x="8680450" y="3451225"/>
          <p14:tracePt t="31380" x="8680450" y="3476625"/>
          <p14:tracePt t="31381" x="8680450" y="3486150"/>
          <p14:tracePt t="31397" x="8680450" y="3503613"/>
          <p14:tracePt t="31413" x="8680450" y="3511550"/>
          <p14:tracePt t="31430" x="8680450" y="3521075"/>
          <p14:tracePt t="31446" x="8689975" y="3538538"/>
          <p14:tracePt t="31463" x="8707438" y="3556000"/>
          <p14:tracePt t="31480" x="8732838" y="3563938"/>
          <p14:tracePt t="31496" x="8750300" y="3563938"/>
          <p14:tracePt t="31513" x="8767763" y="3573463"/>
          <p14:tracePt t="31530" x="8777288" y="3573463"/>
          <p14:tracePt t="31547" x="8794750" y="3573463"/>
          <p14:tracePt t="31549" x="8802688" y="3573463"/>
          <p14:tracePt t="31565" x="8812213" y="3573463"/>
          <p14:tracePt t="31580" x="8820150" y="3573463"/>
          <p14:tracePt t="31605" x="8829675" y="3573463"/>
          <p14:tracePt t="31830" x="0" y="0"/>
        </p14:tracePtLst>
        <p14:tracePtLst>
          <p14:tracePt t="33297" x="8969375" y="3294063"/>
          <p14:tracePt t="33302" x="8959850" y="3294063"/>
          <p14:tracePt t="33318" x="8951913" y="3284538"/>
          <p14:tracePt t="33329" x="8934450" y="3276600"/>
          <p14:tracePt t="33346" x="8907463" y="3267075"/>
          <p14:tracePt t="33362" x="8882063" y="3259138"/>
          <p14:tracePt t="33379" x="8847138" y="3249613"/>
          <p14:tracePt t="33381" x="8837613" y="3241675"/>
          <p14:tracePt t="33396" x="8820150" y="3232150"/>
          <p14:tracePt t="33397" x="8802688" y="3224213"/>
          <p14:tracePt t="33413" x="8785225" y="3224213"/>
          <p14:tracePt t="33429" x="8767763" y="3224213"/>
          <p14:tracePt t="33446" x="8742363" y="3214688"/>
          <p14:tracePt t="33462" x="8707438" y="3214688"/>
          <p14:tracePt t="33485" x="8697913" y="3214688"/>
          <p14:tracePt t="33541" x="8689975" y="3214688"/>
          <p14:tracePt t="33589" x="8689975" y="3224213"/>
          <p14:tracePt t="33597" x="8680450" y="3232150"/>
          <p14:tracePt t="33605" x="8662988" y="3241675"/>
          <p14:tracePt t="33613" x="8655050" y="3259138"/>
          <p14:tracePt t="33629" x="8637588" y="3276600"/>
          <p14:tracePt t="33646" x="8610600" y="3311525"/>
          <p14:tracePt t="33662" x="8602663" y="3328988"/>
          <p14:tracePt t="33679" x="8593138" y="3354388"/>
          <p14:tracePt t="33696" x="8593138" y="3363913"/>
          <p14:tracePt t="33713" x="8593138" y="3371850"/>
          <p14:tracePt t="33729" x="8593138" y="3398838"/>
          <p14:tracePt t="33746" x="8593138" y="3433763"/>
          <p14:tracePt t="33762" x="8593138" y="3459163"/>
          <p14:tracePt t="33779" x="8610600" y="3476625"/>
          <p14:tracePt t="33781" x="8620125" y="3486150"/>
          <p14:tracePt t="33796" x="8645525" y="3511550"/>
          <p14:tracePt t="33813" x="8662988" y="3529013"/>
          <p14:tracePt t="33829" x="8680450" y="3546475"/>
          <p14:tracePt t="33846" x="8707438" y="3556000"/>
          <p14:tracePt t="33862" x="8715375" y="3563938"/>
          <p14:tracePt t="33879" x="8732838" y="3573463"/>
          <p14:tracePt t="33896" x="8750300" y="3581400"/>
          <p14:tracePt t="33913" x="8759825" y="3598863"/>
          <p14:tracePt t="33929" x="8777288" y="3608388"/>
          <p14:tracePt t="33946" x="8785225" y="3616325"/>
          <p14:tracePt t="33962" x="8802688" y="3625850"/>
          <p14:tracePt t="33965" x="8802688" y="3633788"/>
          <p14:tracePt t="33981" x="8802688" y="3643313"/>
          <p14:tracePt t="33997" x="8812213" y="3643313"/>
          <p14:tracePt t="34117" x="8820150" y="3643313"/>
          <p14:tracePt t="34125" x="8829675" y="3643313"/>
          <p14:tracePt t="34133" x="8837613" y="3633788"/>
          <p14:tracePt t="34146" x="8847138" y="3633788"/>
          <p14:tracePt t="34163" x="8855075" y="3625850"/>
          <p14:tracePt t="34165" x="8864600" y="3625850"/>
          <p14:tracePt t="34179" x="8864600" y="3616325"/>
          <p14:tracePt t="34180" x="8872538" y="3616325"/>
          <p14:tracePt t="34196" x="8882063" y="3608388"/>
          <p14:tracePt t="34213" x="8899525" y="3598863"/>
          <p14:tracePt t="34229" x="8916988" y="3581400"/>
          <p14:tracePt t="34246" x="8934450" y="3573463"/>
          <p14:tracePt t="34263" x="8951913" y="3556000"/>
          <p14:tracePt t="34279" x="8969375" y="3538538"/>
          <p14:tracePt t="34296" x="8986838" y="3529013"/>
          <p14:tracePt t="34312" x="8994775" y="3529013"/>
          <p14:tracePt t="34333" x="8994775" y="3521075"/>
          <p14:tracePt t="34346" x="8994775" y="3511550"/>
          <p14:tracePt t="34362" x="8994775" y="3503613"/>
          <p14:tracePt t="34379" x="8994775" y="3459163"/>
          <p14:tracePt t="34396" x="8994775" y="3441700"/>
          <p14:tracePt t="34397" x="8994775" y="3433763"/>
          <p14:tracePt t="34413" x="8994775" y="3416300"/>
          <p14:tracePt t="34429" x="8994775" y="3389313"/>
          <p14:tracePt t="34446" x="8994775" y="3363913"/>
          <p14:tracePt t="34463" x="8986838" y="3328988"/>
          <p14:tracePt t="34479" x="8951913" y="3259138"/>
          <p14:tracePt t="34496" x="8924925" y="3224213"/>
          <p14:tracePt t="34512" x="8907463" y="3206750"/>
          <p14:tracePt t="34529" x="8899525" y="3197225"/>
          <p14:tracePt t="34546" x="8882063" y="3197225"/>
          <p14:tracePt t="34562" x="8864600" y="3189288"/>
          <p14:tracePt t="34579" x="8837613" y="3179763"/>
          <p14:tracePt t="34596" x="8829675" y="3179763"/>
          <p14:tracePt t="34597" x="8820150" y="3179763"/>
          <p14:tracePt t="34613" x="8812213" y="3179763"/>
          <p14:tracePt t="34629" x="8794750" y="3179763"/>
          <p14:tracePt t="34646" x="8785225" y="3179763"/>
          <p14:tracePt t="34669" x="8777288" y="3179763"/>
          <p14:tracePt t="34685" x="8767763" y="3179763"/>
          <p14:tracePt t="34862" x="0" y="0"/>
        </p14:tracePtLst>
        <p14:tracePtLst>
          <p14:tracePt t="44937" x="8994775" y="4691063"/>
          <p14:tracePt t="44973" x="8986838" y="4691063"/>
          <p14:tracePt t="44982" x="8977313" y="4691063"/>
          <p14:tracePt t="45005" x="8969375" y="4691063"/>
          <p14:tracePt t="45013" x="8959850" y="4691063"/>
          <p14:tracePt t="45021" x="8951913" y="4683125"/>
          <p14:tracePt t="45029" x="8942388" y="4683125"/>
          <p14:tracePt t="45044" x="8924925" y="4683125"/>
          <p14:tracePt t="45061" x="8907463" y="4683125"/>
          <p14:tracePt t="45077" x="8847138" y="4683125"/>
          <p14:tracePt t="45094" x="8802688" y="4683125"/>
          <p14:tracePt t="45111" x="8724900" y="4691063"/>
          <p14:tracePt t="45127" x="8628063" y="4691063"/>
          <p14:tracePt t="45144" x="8550275" y="4700588"/>
          <p14:tracePt t="45161" x="8453438" y="4708525"/>
          <p14:tracePt t="45177" x="8428038" y="4718050"/>
          <p14:tracePt t="45194" x="8401050" y="4718050"/>
          <p14:tracePt t="45211" x="8383588" y="4718050"/>
          <p14:tracePt t="45212" x="8375650" y="4718050"/>
          <p14:tracePt t="45229" x="8366125" y="4725988"/>
          <p14:tracePt t="45244" x="8348663" y="4725988"/>
          <p14:tracePt t="45261" x="8331200" y="4735513"/>
          <p14:tracePt t="45277" x="8270875" y="4735513"/>
          <p14:tracePt t="45294" x="8226425" y="4735513"/>
          <p14:tracePt t="45311" x="8201025" y="4735513"/>
          <p14:tracePt t="45328" x="8174038" y="4735513"/>
          <p14:tracePt t="45344" x="8166100" y="4735513"/>
          <p14:tracePt t="45361" x="8148638" y="4743450"/>
          <p14:tracePt t="45377" x="8121650" y="4743450"/>
          <p14:tracePt t="45394" x="8113713" y="4760913"/>
          <p14:tracePt t="45411" x="8096250" y="4760913"/>
          <p14:tracePt t="45428" x="8078788" y="4770438"/>
          <p14:tracePt t="45429" x="8061325" y="4770438"/>
          <p14:tracePt t="45445" x="8043863" y="4787900"/>
          <p14:tracePt t="45461" x="8016875" y="4787900"/>
          <p14:tracePt t="45477" x="7991475" y="4795838"/>
          <p14:tracePt t="45494" x="7974013" y="4813300"/>
          <p14:tracePt t="45511" x="7947025" y="4813300"/>
          <p14:tracePt t="45528" x="7929563" y="4830763"/>
          <p14:tracePt t="45544" x="7904163" y="4840288"/>
          <p14:tracePt t="45561" x="7869238" y="4848225"/>
          <p14:tracePt t="45577" x="7824788" y="4875213"/>
          <p14:tracePt t="45594" x="7772400" y="4892675"/>
          <p14:tracePt t="45611" x="7747000" y="4900613"/>
          <p14:tracePt t="45628" x="7720013" y="4918075"/>
          <p14:tracePt t="45629" x="7702550" y="4918075"/>
          <p14:tracePt t="45645" x="7685088" y="4935538"/>
          <p14:tracePt t="45661" x="7632700" y="4962525"/>
          <p14:tracePt t="45677" x="7607300" y="4987925"/>
          <p14:tracePt t="45694" x="7580313" y="5022850"/>
          <p14:tracePt t="45711" x="7545388" y="5040313"/>
          <p14:tracePt t="45727" x="7527925" y="5075238"/>
          <p14:tracePt t="45745" x="7510463" y="5102225"/>
          <p14:tracePt t="45761" x="7502525" y="5127625"/>
          <p14:tracePt t="45778" x="7493000" y="5154613"/>
          <p14:tracePt t="45794" x="7485063" y="5162550"/>
          <p14:tracePt t="45811" x="7458075" y="5207000"/>
          <p14:tracePt t="45827" x="7450138" y="5249863"/>
          <p14:tracePt t="45829" x="7440613" y="5284788"/>
          <p14:tracePt t="45844" x="7415213" y="5354638"/>
          <p14:tracePt t="45861" x="7397750" y="5407025"/>
          <p14:tracePt t="45877" x="7380288" y="5441950"/>
          <p14:tracePt t="45894" x="7370763" y="5468938"/>
          <p14:tracePt t="45911" x="7370763" y="5495925"/>
          <p14:tracePt t="45927" x="7370763" y="5521325"/>
          <p14:tracePt t="45944" x="7370763" y="5548313"/>
          <p14:tracePt t="45961" x="7370763" y="5565775"/>
          <p14:tracePt t="45977" x="7370763" y="5600700"/>
          <p14:tracePt t="45994" x="7380288" y="5643563"/>
          <p14:tracePt t="46011" x="7388225" y="5688013"/>
          <p14:tracePt t="46013" x="7397750" y="5705475"/>
          <p14:tracePt t="46027" x="7405688" y="5722938"/>
          <p14:tracePt t="46028" x="7405688" y="5730875"/>
          <p14:tracePt t="46044" x="7458075" y="5783263"/>
          <p14:tracePt t="46061" x="7510463" y="5818188"/>
          <p14:tracePt t="46077" x="7554913" y="5853113"/>
          <p14:tracePt t="46094" x="7615238" y="5888038"/>
          <p14:tracePt t="46111" x="7667625" y="5915025"/>
          <p14:tracePt t="46127" x="7720013" y="5940425"/>
          <p14:tracePt t="46144" x="7747000" y="5967413"/>
          <p14:tracePt t="46161" x="7799388" y="5992813"/>
          <p14:tracePt t="46177" x="7834313" y="6010275"/>
          <p14:tracePt t="46194" x="7921625" y="6072188"/>
          <p14:tracePt t="46211" x="7981950" y="6107113"/>
          <p14:tracePt t="46212" x="8008938" y="6124575"/>
          <p14:tracePt t="46227" x="8034338" y="6142038"/>
          <p14:tracePt t="46228" x="8069263" y="6149975"/>
          <p14:tracePt t="46244" x="8139113" y="6176963"/>
          <p14:tracePt t="46261" x="8174038" y="6184900"/>
          <p14:tracePt t="46277" x="8218488" y="6184900"/>
          <p14:tracePt t="46294" x="8235950" y="6184900"/>
          <p14:tracePt t="46311" x="8243888" y="6184900"/>
          <p14:tracePt t="46422" x="0" y="0"/>
        </p14:tracePtLst>
        <p14:tracePtLst>
          <p14:tracePt t="49352" x="8585200" y="4743450"/>
          <p14:tracePt t="49437" x="8575675" y="4743450"/>
          <p14:tracePt t="49453" x="8567738" y="4743450"/>
          <p14:tracePt t="49461" x="8558213" y="4743450"/>
          <p14:tracePt t="49469" x="8532813" y="4743450"/>
          <p14:tracePt t="49477" x="8462963" y="4743450"/>
          <p14:tracePt t="49493" x="8358188" y="4743450"/>
          <p14:tracePt t="49510" x="8113713" y="4743450"/>
          <p14:tracePt t="49527" x="7851775" y="4743450"/>
          <p14:tracePt t="49544" x="7702550" y="4743450"/>
          <p14:tracePt t="49560" x="7607300" y="4752975"/>
          <p14:tracePt t="49577" x="7554913" y="4770438"/>
          <p14:tracePt t="49594" x="7502525" y="4778375"/>
          <p14:tracePt t="49610" x="7450138" y="4787900"/>
          <p14:tracePt t="49627" x="7397750" y="4805363"/>
          <p14:tracePt t="49644" x="7318375" y="4822825"/>
          <p14:tracePt t="49660" x="7300913" y="4830763"/>
          <p14:tracePt t="49661" x="7275513" y="4840288"/>
          <p14:tracePt t="49677" x="7248525" y="4857750"/>
          <p14:tracePt t="49693" x="7213600" y="4883150"/>
          <p14:tracePt t="49710" x="7196138" y="4900613"/>
          <p14:tracePt t="49727" x="7170738" y="4927600"/>
          <p14:tracePt t="49744" x="7153275" y="4953000"/>
          <p14:tracePt t="49760" x="7135813" y="4970463"/>
          <p14:tracePt t="49777" x="7126288" y="4997450"/>
          <p14:tracePt t="49793" x="7108825" y="5032375"/>
          <p14:tracePt t="49810" x="7091363" y="5084763"/>
          <p14:tracePt t="49827" x="7073900" y="5119688"/>
          <p14:tracePt t="49844" x="7073900" y="5154613"/>
          <p14:tracePt t="49845" x="7073900" y="5172075"/>
          <p14:tracePt t="49861" x="7056438" y="5189538"/>
          <p14:tracePt t="49877" x="7048500" y="5232400"/>
          <p14:tracePt t="49893" x="7031038" y="5284788"/>
          <p14:tracePt t="49910" x="7031038" y="5311775"/>
          <p14:tracePt t="49927" x="7031038" y="5364163"/>
          <p14:tracePt t="49944" x="7031038" y="5407025"/>
          <p14:tracePt t="49960" x="7031038" y="5441950"/>
          <p14:tracePt t="49977" x="7031038" y="5486400"/>
          <p14:tracePt t="49994" x="7048500" y="5548313"/>
          <p14:tracePt t="50010" x="7065963" y="5591175"/>
          <p14:tracePt t="50027" x="7083425" y="5670550"/>
          <p14:tracePt t="50044" x="7108825" y="5765800"/>
          <p14:tracePt t="50045" x="7126288" y="5783263"/>
          <p14:tracePt t="50060" x="7143750" y="5835650"/>
          <p14:tracePt t="50077" x="7178675" y="5888038"/>
          <p14:tracePt t="50093" x="7205663" y="5922963"/>
          <p14:tracePt t="50110" x="7223125" y="5940425"/>
          <p14:tracePt t="50127" x="7240588" y="5949950"/>
          <p14:tracePt t="50143" x="7258050" y="5967413"/>
          <p14:tracePt t="50160" x="7275513" y="5984875"/>
          <p14:tracePt t="50177" x="7300913" y="6002338"/>
          <p14:tracePt t="50193" x="7327900" y="6019800"/>
          <p14:tracePt t="50210" x="7362825" y="6045200"/>
          <p14:tracePt t="50227" x="7397750" y="6072188"/>
          <p14:tracePt t="50244" x="7440613" y="6089650"/>
          <p14:tracePt t="50245" x="7467600" y="6097588"/>
          <p14:tracePt t="50261" x="7545388" y="6124575"/>
          <p14:tracePt t="50277" x="7597775" y="6142038"/>
          <p14:tracePt t="50293" x="7632700" y="6159500"/>
          <p14:tracePt t="50310" x="7677150" y="6176963"/>
          <p14:tracePt t="50326" x="7729538" y="6194425"/>
          <p14:tracePt t="50343" x="7781925" y="6202363"/>
          <p14:tracePt t="50361" x="7824788" y="6211888"/>
          <p14:tracePt t="50377" x="7834313" y="6219825"/>
          <p14:tracePt t="50393" x="7851775" y="6219825"/>
          <p14:tracePt t="50410" x="7886700" y="6237288"/>
          <p14:tracePt t="50427" x="7904163" y="6237288"/>
          <p14:tracePt t="50443" x="7939088" y="6254750"/>
          <p14:tracePt t="50446" x="7956550" y="6264275"/>
          <p14:tracePt t="50461" x="8016875" y="6281738"/>
          <p14:tracePt t="50477" x="8061325" y="6289675"/>
          <p14:tracePt t="50493" x="8174038" y="6307138"/>
          <p14:tracePt t="50510" x="8393113" y="6316663"/>
          <p14:tracePt t="50527" x="8585200" y="6324600"/>
          <p14:tracePt t="50544" x="8829675" y="6324600"/>
          <p14:tracePt t="50560" x="9091613" y="6324600"/>
          <p14:tracePt t="50577" x="9240838" y="6324600"/>
          <p14:tracePt t="50593" x="9440863" y="6324600"/>
          <p14:tracePt t="50610" x="9659938" y="6324600"/>
          <p14:tracePt t="50627" x="9807575" y="6324600"/>
          <p14:tracePt t="50644" x="10052050" y="6324600"/>
          <p14:tracePt t="50645" x="10201275" y="6324600"/>
          <p14:tracePt t="50660" x="10366375" y="6324600"/>
          <p14:tracePt t="50677" x="10541000" y="6316663"/>
          <p14:tracePt t="50693" x="10610850" y="6299200"/>
          <p14:tracePt t="50710" x="10637838" y="6281738"/>
          <p14:tracePt t="50727" x="10655300" y="6272213"/>
          <p14:tracePt t="50743" x="10680700" y="6254750"/>
          <p14:tracePt t="50760" x="10707688" y="6219825"/>
          <p14:tracePt t="50777" x="10733088" y="6149975"/>
          <p14:tracePt t="50793" x="10742613" y="6072188"/>
          <p14:tracePt t="50810" x="10750550" y="5984875"/>
          <p14:tracePt t="50827" x="10750550" y="5880100"/>
          <p14:tracePt t="50843" x="10742613" y="5792788"/>
          <p14:tracePt t="50845" x="10733088" y="5730875"/>
          <p14:tracePt t="50860" x="10715625" y="5653088"/>
          <p14:tracePt t="50861" x="10707688" y="5635625"/>
          <p14:tracePt t="50877" x="10655300" y="5538788"/>
          <p14:tracePt t="50893" x="10602913" y="5459413"/>
          <p14:tracePt t="50910" x="10575925" y="5424488"/>
          <p14:tracePt t="50927" x="10550525" y="5399088"/>
          <p14:tracePt t="50943" x="10515600" y="5381625"/>
          <p14:tracePt t="50960" x="10480675" y="5337175"/>
          <p14:tracePt t="50977" x="10436225" y="5294313"/>
          <p14:tracePt t="50993" x="10375900" y="5259388"/>
          <p14:tracePt t="51010" x="10288588" y="5214938"/>
          <p14:tracePt t="51027" x="10079038" y="5137150"/>
          <p14:tracePt t="51029" x="9929813" y="5102225"/>
          <p14:tracePt t="51043" x="9712325" y="5014913"/>
          <p14:tracePt t="51044" x="9475788" y="4953000"/>
          <p14:tracePt t="51060" x="9161463" y="4875213"/>
          <p14:tracePt t="51077" x="8847138" y="4822825"/>
          <p14:tracePt t="51093" x="8558213" y="4778375"/>
          <p14:tracePt t="51110" x="8296275" y="4743450"/>
          <p14:tracePt t="51126" x="8104188" y="4718050"/>
          <p14:tracePt t="51143" x="7859713" y="4708525"/>
          <p14:tracePt t="51160" x="7685088" y="4708525"/>
          <p14:tracePt t="51177" x="7607300" y="4708525"/>
          <p14:tracePt t="51193" x="7519988" y="4708525"/>
          <p14:tracePt t="51210" x="7493000" y="4725988"/>
          <p14:tracePt t="51226" x="7485063" y="4725988"/>
          <p14:tracePt t="51381" x="7493000" y="4725988"/>
          <p14:tracePt t="51389" x="7502525" y="4718050"/>
          <p14:tracePt t="51397" x="7502525" y="4708525"/>
          <p14:tracePt t="51445" x="0" y="0"/>
        </p14:tracePtLst>
        <p14:tracePtLst>
          <p14:tracePt t="57184" x="9188450" y="3459163"/>
          <p14:tracePt t="57277" x="9188450" y="3451225"/>
          <p14:tracePt t="57285" x="9188450" y="3441700"/>
          <p14:tracePt t="57293" x="9178925" y="3433763"/>
          <p14:tracePt t="57309" x="9170988" y="3398838"/>
          <p14:tracePt t="57326" x="9161463" y="3371850"/>
          <p14:tracePt t="57342" x="9144000" y="3311525"/>
          <p14:tracePt t="57359" x="9134475" y="3284538"/>
          <p14:tracePt t="57375" x="9126538" y="3267075"/>
          <p14:tracePt t="57392" x="9117013" y="3241675"/>
          <p14:tracePt t="57409" x="9117013" y="3232150"/>
          <p14:tracePt t="57425" x="9099550" y="3224213"/>
          <p14:tracePt t="57442" x="9091613" y="3206750"/>
          <p14:tracePt t="57459" x="9074150" y="3197225"/>
          <p14:tracePt t="57461" x="9056688" y="3179763"/>
          <p14:tracePt t="57475" x="9047163" y="3179763"/>
          <p14:tracePt t="57477" x="9029700" y="3162300"/>
          <p14:tracePt t="57492" x="9012238" y="3154363"/>
          <p14:tracePt t="57509" x="8977313" y="3127375"/>
          <p14:tracePt t="57525" x="8924925" y="3109913"/>
          <p14:tracePt t="57542" x="8916988" y="3101975"/>
          <p14:tracePt t="57559" x="8890000" y="3092450"/>
          <p14:tracePt t="57575" x="8872538" y="3084513"/>
          <p14:tracePt t="57592" x="8855075" y="3084513"/>
          <p14:tracePt t="57609" x="8837613" y="3084513"/>
          <p14:tracePt t="57625" x="8820150" y="3084513"/>
          <p14:tracePt t="57642" x="8785225" y="3084513"/>
          <p14:tracePt t="57659" x="8759825" y="3092450"/>
          <p14:tracePt t="57660" x="8750300" y="3092450"/>
          <p14:tracePt t="57675" x="8742363" y="3101975"/>
          <p14:tracePt t="57692" x="8732838" y="3101975"/>
          <p14:tracePt t="57709" x="8732838" y="3109913"/>
          <p14:tracePt t="57726" x="8724900" y="3119438"/>
          <p14:tracePt t="57742" x="8707438" y="3127375"/>
          <p14:tracePt t="57759" x="8680450" y="3154363"/>
          <p14:tracePt t="57775" x="8655050" y="3179763"/>
          <p14:tracePt t="57792" x="8628063" y="3214688"/>
          <p14:tracePt t="57809" x="8610600" y="3241675"/>
          <p14:tracePt t="57826" x="8610600" y="3267075"/>
          <p14:tracePt t="57842" x="8610600" y="3276600"/>
          <p14:tracePt t="57859" x="8610600" y="3294063"/>
          <p14:tracePt t="57875" x="8610600" y="3311525"/>
          <p14:tracePt t="57893" x="8620125" y="3336925"/>
          <p14:tracePt t="57909" x="8628063" y="3363913"/>
          <p14:tracePt t="57926" x="8637588" y="3389313"/>
          <p14:tracePt t="57942" x="8655050" y="3441700"/>
          <p14:tracePt t="57959" x="8672513" y="3476625"/>
          <p14:tracePt t="57975" x="8697913" y="3521075"/>
          <p14:tracePt t="57992" x="8715375" y="3546475"/>
          <p14:tracePt t="58009" x="8732838" y="3563938"/>
          <p14:tracePt t="58026" x="8750300" y="3590925"/>
          <p14:tracePt t="58042" x="8759825" y="3590925"/>
          <p14:tracePt t="58059" x="8777288" y="3616325"/>
          <p14:tracePt t="58061" x="8794750" y="3625850"/>
          <p14:tracePt t="58075" x="8812213" y="3633788"/>
          <p14:tracePt t="58077" x="8829675" y="3633788"/>
          <p14:tracePt t="58092" x="8882063" y="3660775"/>
          <p14:tracePt t="58109" x="8907463" y="3668713"/>
          <p14:tracePt t="58125" x="8959850" y="3678238"/>
          <p14:tracePt t="58142" x="8969375" y="3686175"/>
          <p14:tracePt t="58159" x="8977313" y="3686175"/>
          <p14:tracePt t="58175" x="8986838" y="3686175"/>
          <p14:tracePt t="58229" x="9004300" y="3678238"/>
          <p14:tracePt t="58237" x="9012238" y="3678238"/>
          <p14:tracePt t="58245" x="9021763" y="3668713"/>
          <p14:tracePt t="58259" x="9029700" y="3660775"/>
          <p14:tracePt t="58276" x="9047163" y="3651250"/>
          <p14:tracePt t="58277" x="9056688" y="3643313"/>
          <p14:tracePt t="58292" x="9064625" y="3625850"/>
          <p14:tracePt t="58309" x="9091613" y="3608388"/>
          <p14:tracePt t="58326" x="9109075" y="3563938"/>
          <p14:tracePt t="58343" x="9126538" y="3521075"/>
          <p14:tracePt t="58359" x="9134475" y="3476625"/>
          <p14:tracePt t="58375" x="9144000" y="3451225"/>
          <p14:tracePt t="58392" x="9144000" y="3433763"/>
          <p14:tracePt t="58409" x="9144000" y="3406775"/>
          <p14:tracePt t="58425" x="9144000" y="3398838"/>
          <p14:tracePt t="58443" x="9144000" y="3371850"/>
          <p14:tracePt t="58445" x="9134475" y="3363913"/>
          <p14:tracePt t="58459" x="9134475" y="3346450"/>
          <p14:tracePt t="58476" x="9099550" y="3294063"/>
          <p14:tracePt t="58477" x="9074150" y="3267075"/>
          <p14:tracePt t="58493" x="9056688" y="3249613"/>
          <p14:tracePt t="58509" x="9029700" y="3224213"/>
          <p14:tracePt t="58525" x="9021763" y="3214688"/>
          <p14:tracePt t="58543" x="9012238" y="3197225"/>
          <p14:tracePt t="58559" x="9004300" y="3197225"/>
          <p14:tracePt t="58621" x="8994775" y="3197225"/>
          <p14:tracePt t="58765" x="0" y="0"/>
        </p14:tracePtLst>
        <p14:tracePtLst>
          <p14:tracePt t="60329" x="9047163" y="3127375"/>
          <p14:tracePt t="60332" x="9039225" y="3127375"/>
          <p14:tracePt t="60349" x="9029700" y="3119438"/>
          <p14:tracePt t="60365" x="9021763" y="3119438"/>
          <p14:tracePt t="60381" x="9004300" y="3109913"/>
          <p14:tracePt t="60397" x="8994775" y="3109913"/>
          <p14:tracePt t="60408" x="8986838" y="3109913"/>
          <p14:tracePt t="60425" x="8977313" y="3109913"/>
          <p14:tracePt t="60442" x="8959850" y="3109913"/>
          <p14:tracePt t="60459" x="8942388" y="3101975"/>
          <p14:tracePt t="60475" x="8916988" y="3101975"/>
          <p14:tracePt t="60477" x="8899525" y="3101975"/>
          <p14:tracePt t="60492" x="8890000" y="3101975"/>
          <p14:tracePt t="60493" x="8855075" y="3101975"/>
          <p14:tracePt t="60509" x="8837613" y="3101975"/>
          <p14:tracePt t="60525" x="8820150" y="3109913"/>
          <p14:tracePt t="60549" x="8812213" y="3119438"/>
          <p14:tracePt t="60565" x="8802688" y="3119438"/>
          <p14:tracePt t="60581" x="8794750" y="3127375"/>
          <p14:tracePt t="60592" x="8794750" y="3136900"/>
          <p14:tracePt t="60608" x="8777288" y="3144838"/>
          <p14:tracePt t="60625" x="8750300" y="3179763"/>
          <p14:tracePt t="60642" x="8750300" y="3206750"/>
          <p14:tracePt t="60658" x="8732838" y="3214688"/>
          <p14:tracePt t="60661" x="8724900" y="3232150"/>
          <p14:tracePt t="60675" x="8724900" y="3241675"/>
          <p14:tracePt t="60692" x="8724900" y="3249613"/>
          <p14:tracePt t="60693" x="8724900" y="3267075"/>
          <p14:tracePt t="60709" x="8724900" y="3294063"/>
          <p14:tracePt t="60725" x="8724900" y="3311525"/>
          <p14:tracePt t="60742" x="8742363" y="3336925"/>
          <p14:tracePt t="60758" x="8759825" y="3354388"/>
          <p14:tracePt t="60775" x="8767763" y="3381375"/>
          <p14:tracePt t="60792" x="8794750" y="3406775"/>
          <p14:tracePt t="60809" x="8812213" y="3433763"/>
          <p14:tracePt t="60825" x="8855075" y="3476625"/>
          <p14:tracePt t="60842" x="8882063" y="3494088"/>
          <p14:tracePt t="60858" x="8899525" y="3529013"/>
          <p14:tracePt t="60861" x="8907463" y="3529013"/>
          <p14:tracePt t="60875" x="8916988" y="3538538"/>
          <p14:tracePt t="60876" x="8924925" y="3546475"/>
          <p14:tracePt t="60892" x="8934450" y="3556000"/>
          <p14:tracePt t="60893" x="8942388" y="3556000"/>
          <p14:tracePt t="60909" x="8951913" y="3556000"/>
          <p14:tracePt t="60925" x="8969375" y="3563938"/>
          <p14:tracePt t="60942" x="8969375" y="3573463"/>
          <p14:tracePt t="60958" x="8977313" y="3573463"/>
          <p14:tracePt t="60989" x="8986838" y="3573463"/>
          <p14:tracePt t="61005" x="8994775" y="3573463"/>
          <p14:tracePt t="61013" x="9004300" y="3563938"/>
          <p14:tracePt t="61025" x="9012238" y="3563938"/>
          <p14:tracePt t="61042" x="9047163" y="3556000"/>
          <p14:tracePt t="61058" x="9056688" y="3538538"/>
          <p14:tracePt t="61075" x="9082088" y="3511550"/>
          <p14:tracePt t="61092" x="9109075" y="3476625"/>
          <p14:tracePt t="61093" x="9117013" y="3468688"/>
          <p14:tracePt t="61109" x="9126538" y="3416300"/>
          <p14:tracePt t="61125" x="9126538" y="3398838"/>
          <p14:tracePt t="61142" x="9126538" y="3381375"/>
          <p14:tracePt t="61159" x="9126538" y="3371850"/>
          <p14:tracePt t="61253" x="9117013" y="3371850"/>
          <p14:tracePt t="61478" x="0" y="0"/>
        </p14:tracePtLst>
        <p14:tracePtLst>
          <p14:tracePt t="65217" x="9056688" y="3468688"/>
          <p14:tracePt t="65220" x="9064625" y="3468688"/>
          <p14:tracePt t="65229" x="9074150" y="3476625"/>
          <p14:tracePt t="65241" x="9091613" y="3476625"/>
          <p14:tracePt t="65258" x="9109075" y="3486150"/>
          <p14:tracePt t="65274" x="9126538" y="3486150"/>
          <p14:tracePt t="65291" x="9161463" y="3494088"/>
          <p14:tracePt t="65309" x="9170988" y="3494088"/>
          <p14:tracePt t="65325" x="9178925" y="3494088"/>
          <p14:tracePt t="65341" x="9188450" y="3494088"/>
          <p14:tracePt t="65358" x="9196388" y="3494088"/>
          <p14:tracePt t="65374" x="9205913" y="3494088"/>
          <p14:tracePt t="65391" x="9223375" y="3494088"/>
          <p14:tracePt t="65408" x="9231313" y="3476625"/>
          <p14:tracePt t="65424" x="9248775" y="3476625"/>
          <p14:tracePt t="65441" x="9266238" y="3468688"/>
          <p14:tracePt t="65457" x="9266238" y="3459163"/>
          <p14:tracePt t="65474" x="9275763" y="3451225"/>
          <p14:tracePt t="65491" x="9283700" y="3441700"/>
          <p14:tracePt t="65508" x="9293225" y="3424238"/>
          <p14:tracePt t="65509" x="9293225" y="3416300"/>
          <p14:tracePt t="65525" x="9293225" y="3398838"/>
          <p14:tracePt t="65541" x="9293225" y="3381375"/>
          <p14:tracePt t="65558" x="9293225" y="3354388"/>
          <p14:tracePt t="65581" x="9293225" y="3336925"/>
          <p14:tracePt t="65591" x="9275763" y="3328988"/>
          <p14:tracePt t="65608" x="9266238" y="3311525"/>
          <p14:tracePt t="65624" x="9240838" y="3302000"/>
          <p14:tracePt t="65641" x="9223375" y="3284538"/>
          <p14:tracePt t="65658" x="9205913" y="3276600"/>
          <p14:tracePt t="65674" x="9188450" y="3276600"/>
          <p14:tracePt t="65702" x="9178925" y="3276600"/>
          <p14:tracePt t="65741" x="9170988" y="3276600"/>
          <p14:tracePt t="65765" x="9161463" y="3276600"/>
          <p14:tracePt t="65773" x="9153525" y="3276600"/>
          <p14:tracePt t="65789" x="9144000" y="3276600"/>
          <p14:tracePt t="65821" x="9144000" y="3284538"/>
          <p14:tracePt t="65837" x="9134475" y="3294063"/>
          <p14:tracePt t="65845" x="9134475" y="3311525"/>
          <p14:tracePt t="65852" x="9126538" y="3311525"/>
          <p14:tracePt t="65861" x="9126538" y="3319463"/>
          <p14:tracePt t="65874" x="9126538" y="3328988"/>
          <p14:tracePt t="65891" x="9126538" y="3336925"/>
          <p14:tracePt t="65908" x="9126538" y="3354388"/>
          <p14:tracePt t="65925" x="9126538" y="3371850"/>
          <p14:tracePt t="65949" x="9134475" y="3381375"/>
          <p14:tracePt t="65973" x="9144000" y="3389313"/>
          <p14:tracePt t="65989" x="9153525" y="3389313"/>
          <p14:tracePt t="66005" x="9161463" y="3398838"/>
          <p14:tracePt t="66021" x="9170988" y="3398838"/>
          <p14:tracePt t="66029" x="9178925" y="3398838"/>
          <p14:tracePt t="66069" x="9188450" y="3398838"/>
          <p14:tracePt t="66085" x="9188450" y="3406775"/>
          <p14:tracePt t="66117" x="9196388" y="3406775"/>
          <p14:tracePt t="66869" x="9188450" y="3406775"/>
          <p14:tracePt t="66885" x="9188450" y="3416300"/>
          <p14:tracePt t="66893" x="9178925" y="3416300"/>
          <p14:tracePt t="66909" x="9170988" y="3416300"/>
          <p14:tracePt t="67158" x="0" y="0"/>
        </p14:tracePtLst>
        <p14:tracePtLst>
          <p14:tracePt t="72256" x="8899525" y="3529013"/>
          <p14:tracePt t="72285" x="8890000" y="3529013"/>
          <p14:tracePt t="72453" x="8882063" y="3529013"/>
          <p14:tracePt t="72461" x="8872538" y="3529013"/>
          <p14:tracePt t="72469" x="8864600" y="3521075"/>
          <p14:tracePt t="72477" x="8855075" y="3521075"/>
          <p14:tracePt t="72490" x="8837613" y="3511550"/>
          <p14:tracePt t="72506" x="8820150" y="3503613"/>
          <p14:tracePt t="72523" x="8794750" y="3476625"/>
          <p14:tracePt t="72565" x="8794750" y="3468688"/>
          <p14:tracePt t="72573" x="8794750" y="3459163"/>
          <p14:tracePt t="72589" x="8794750" y="3451225"/>
          <p14:tracePt t="72597" x="8794750" y="3433763"/>
          <p14:tracePt t="72607" x="8794750" y="3424238"/>
          <p14:tracePt t="72623" x="8794750" y="3398838"/>
          <p14:tracePt t="72640" x="8794750" y="3381375"/>
          <p14:tracePt t="72657" x="8794750" y="3371850"/>
          <p14:tracePt t="72673" x="8794750" y="3354388"/>
          <p14:tracePt t="72693" x="8794750" y="3346450"/>
          <p14:tracePt t="72709" x="8802688" y="3336925"/>
          <p14:tracePt t="72723" x="8812213" y="3328988"/>
          <p14:tracePt t="72740" x="8812213" y="3311525"/>
          <p14:tracePt t="72757" x="8812213" y="3302000"/>
          <p14:tracePt t="72773" x="8820150" y="3284538"/>
          <p14:tracePt t="72790" x="8829675" y="3276600"/>
          <p14:tracePt t="72807" x="8829675" y="3267075"/>
          <p14:tracePt t="72823" x="8837613" y="3259138"/>
          <p14:tracePt t="72844" x="8837613" y="3249613"/>
          <p14:tracePt t="72869" x="8837613" y="3241675"/>
          <p14:tracePt t="72877" x="8847138" y="3241675"/>
          <p14:tracePt t="72893" x="8855075" y="3241675"/>
          <p14:tracePt t="72907" x="8855075" y="3232150"/>
          <p14:tracePt t="72909" x="8855075" y="3224213"/>
          <p14:tracePt t="72933" x="8864600" y="3224213"/>
          <p14:tracePt t="72941" x="8864600" y="3214688"/>
          <p14:tracePt t="72957" x="8872538" y="3214688"/>
          <p14:tracePt t="72973" x="8882063" y="3206750"/>
          <p14:tracePt t="72990" x="8882063" y="3197225"/>
          <p14:tracePt t="73007" x="8890000" y="3197225"/>
          <p14:tracePt t="73037" x="8899525" y="3197225"/>
          <p14:tracePt t="73069" x="8907463" y="3197225"/>
          <p14:tracePt t="73077" x="8916988" y="3197225"/>
          <p14:tracePt t="73093" x="8924925" y="3197225"/>
          <p14:tracePt t="73101" x="8934450" y="3197225"/>
          <p14:tracePt t="73125" x="8934450" y="3206750"/>
          <p14:tracePt t="73133" x="8942388" y="3206750"/>
          <p14:tracePt t="73141" x="8951913" y="3206750"/>
          <p14:tracePt t="73157" x="8959850" y="3206750"/>
          <p14:tracePt t="73181" x="8969375" y="3206750"/>
          <p14:tracePt t="73190" x="8969375" y="3214688"/>
          <p14:tracePt t="73207" x="8977313" y="3214688"/>
          <p14:tracePt t="73223" x="8977313" y="3224213"/>
          <p14:tracePt t="73240" x="8977313" y="3232150"/>
          <p14:tracePt t="73256" x="8986838" y="3232150"/>
          <p14:tracePt t="73273" x="9004300" y="3259138"/>
          <p14:tracePt t="73290" x="9004300" y="3267075"/>
          <p14:tracePt t="73307" x="9004300" y="3294063"/>
          <p14:tracePt t="73308" x="9012238" y="3302000"/>
          <p14:tracePt t="73323" x="9012238" y="3311525"/>
          <p14:tracePt t="73340" x="9029700" y="3346450"/>
          <p14:tracePt t="73357" x="9039225" y="3381375"/>
          <p14:tracePt t="73373" x="9039225" y="3406775"/>
          <p14:tracePt t="73390" x="9039225" y="3424238"/>
          <p14:tracePt t="73407" x="9039225" y="3441700"/>
          <p14:tracePt t="73423" x="9039225" y="3468688"/>
          <p14:tracePt t="73440" x="9039225" y="3476625"/>
          <p14:tracePt t="73457" x="9039225" y="3494088"/>
          <p14:tracePt t="73473" x="9039225" y="3511550"/>
          <p14:tracePt t="73490" x="9039225" y="3521075"/>
          <p14:tracePt t="73507" x="9039225" y="3538538"/>
          <p14:tracePt t="73523" x="9039225" y="3546475"/>
          <p14:tracePt t="73540" x="9039225" y="3563938"/>
          <p14:tracePt t="73557" x="9029700" y="3573463"/>
          <p14:tracePt t="73573" x="9029700" y="3581400"/>
          <p14:tracePt t="73613" x="9021763" y="3581400"/>
          <p14:tracePt t="73709" x="9012238" y="3581400"/>
          <p14:tracePt t="73717" x="9004300" y="3581400"/>
          <p14:tracePt t="73749" x="8994775" y="3581400"/>
          <p14:tracePt t="73757" x="8986838" y="3581400"/>
          <p14:tracePt t="73773" x="8977313" y="3581400"/>
          <p14:tracePt t="73781" x="8969375" y="3581400"/>
          <p14:tracePt t="73790" x="8959850" y="3581400"/>
          <p14:tracePt t="73807" x="8951913" y="3581400"/>
          <p14:tracePt t="73823" x="8916988" y="3581400"/>
          <p14:tracePt t="73840" x="8899525" y="3573463"/>
          <p14:tracePt t="73857" x="8890000" y="3573463"/>
          <p14:tracePt t="73873" x="8890000" y="3563938"/>
          <p14:tracePt t="74077" x="8890000" y="3556000"/>
          <p14:tracePt t="74101" x="8890000" y="3546475"/>
          <p14:tracePt t="74109" x="8890000" y="3538538"/>
          <p14:tracePt t="74117" x="8890000" y="3529013"/>
          <p14:tracePt t="74124" x="8890000" y="3521075"/>
          <p14:tracePt t="74140" x="8890000" y="3511550"/>
          <p14:tracePt t="74141" x="8890000" y="3494088"/>
          <p14:tracePt t="74157" x="8890000" y="3468688"/>
          <p14:tracePt t="74173" x="8890000" y="3451225"/>
          <p14:tracePt t="74190" x="8890000" y="3433763"/>
          <p14:tracePt t="74221" x="8890000" y="3424238"/>
          <p14:tracePt t="74582" x="0" y="0"/>
        </p14:tracePtLst>
        <p14:tracePtLst>
          <p14:tracePt t="75553" x="9170988" y="3346450"/>
          <p14:tracePt t="75613" x="9161463" y="3336925"/>
          <p14:tracePt t="75629" x="9153525" y="3336925"/>
          <p14:tracePt t="75653" x="9144000" y="3336925"/>
          <p14:tracePt t="75669" x="9134475" y="3336925"/>
          <p14:tracePt t="75677" x="9134475" y="3328988"/>
          <p14:tracePt t="75701" x="9126538" y="3328988"/>
          <p14:tracePt t="75709" x="9117013" y="3328988"/>
          <p14:tracePt t="75733" x="9109075" y="3328988"/>
          <p14:tracePt t="75749" x="9099550" y="3328988"/>
          <p14:tracePt t="75789" x="9091613" y="3328988"/>
          <p14:tracePt t="75813" x="9082088" y="3328988"/>
          <p14:tracePt t="75821" x="9074150" y="3328988"/>
          <p14:tracePt t="75829" x="9074150" y="3336925"/>
          <p14:tracePt t="75853" x="9064625" y="3336925"/>
          <p14:tracePt t="75885" x="9056688" y="3336925"/>
          <p14:tracePt t="75893" x="9056688" y="3346450"/>
          <p14:tracePt t="75901" x="9047163" y="3346450"/>
          <p14:tracePt t="75933" x="9047163" y="3354388"/>
          <p14:tracePt t="75941" x="9039225" y="3354388"/>
          <p14:tracePt t="75957" x="9029700" y="3363913"/>
          <p14:tracePt t="75997" x="9021763" y="3363913"/>
          <p14:tracePt t="76013" x="9012238" y="3363913"/>
          <p14:tracePt t="76037" x="9004300" y="3371850"/>
          <p14:tracePt t="76061" x="9004300" y="3381375"/>
          <p14:tracePt t="76077" x="8994775" y="3381375"/>
          <p14:tracePt t="76085" x="8994775" y="3389313"/>
          <p14:tracePt t="76101" x="8986838" y="3398838"/>
          <p14:tracePt t="76109" x="8986838" y="3406775"/>
          <p14:tracePt t="76125" x="8986838" y="3416300"/>
          <p14:tracePt t="76139" x="8986838" y="3424238"/>
          <p14:tracePt t="76156" x="8986838" y="3451225"/>
          <p14:tracePt t="76173" x="8986838" y="3459163"/>
          <p14:tracePt t="76189" x="8994775" y="3476625"/>
          <p14:tracePt t="76206" x="8994775" y="3494088"/>
          <p14:tracePt t="76223" x="8994775" y="3503613"/>
          <p14:tracePt t="76239" x="9021763" y="3521075"/>
          <p14:tracePt t="76261" x="9029700" y="3521075"/>
          <p14:tracePt t="76277" x="9039225" y="3521075"/>
          <p14:tracePt t="76289" x="9047163" y="3521075"/>
          <p14:tracePt t="76306" x="9047163" y="3529013"/>
          <p14:tracePt t="76323" x="9056688" y="3529013"/>
          <p14:tracePt t="76340" x="9074150" y="3538538"/>
          <p14:tracePt t="76341" x="9091613" y="3538538"/>
          <p14:tracePt t="76356" x="9109075" y="3538538"/>
          <p14:tracePt t="76373" x="9126538" y="3538538"/>
          <p14:tracePt t="76453" x="9134475" y="3538538"/>
          <p14:tracePt t="76501" x="9134475" y="3529013"/>
          <p14:tracePt t="76517" x="9134475" y="3503613"/>
          <p14:tracePt t="76527" x="9134475" y="3494088"/>
          <p14:tracePt t="76533" x="9134475" y="3476625"/>
          <p14:tracePt t="76541" x="9134475" y="3459163"/>
          <p14:tracePt t="76557" x="9134475" y="3433763"/>
          <p14:tracePt t="76573" x="9134475" y="3406775"/>
          <p14:tracePt t="76589" x="9134475" y="3398838"/>
          <p14:tracePt t="76606" x="9134475" y="3381375"/>
          <p14:tracePt t="76637" x="9134475" y="3371850"/>
          <p14:tracePt t="76653" x="9126538" y="3371850"/>
          <p14:tracePt t="76661" x="9126538" y="3363913"/>
          <p14:tracePt t="76673" x="9117013" y="3363913"/>
          <p14:tracePt t="76689" x="9099550" y="3346450"/>
          <p14:tracePt t="76706" x="9091613" y="3346450"/>
          <p14:tracePt t="76722" x="9082088" y="3336925"/>
          <p14:tracePt t="76740" x="9074150" y="3328988"/>
          <p14:tracePt t="76789" x="9064625" y="3328988"/>
          <p14:tracePt t="76805" x="9056688" y="3328988"/>
          <p14:tracePt t="76845" x="9047163" y="3328988"/>
          <p14:tracePt t="76853" x="9047163" y="3336925"/>
          <p14:tracePt t="76869" x="9039225" y="3336925"/>
          <p14:tracePt t="76895" x="0" y="0"/>
        </p14:tracePtLst>
        <p14:tracePtLst>
          <p14:tracePt t="79144" x="8986838" y="5057775"/>
          <p14:tracePt t="79205" x="8986838" y="5049838"/>
          <p14:tracePt t="79213" x="8951913" y="5032375"/>
          <p14:tracePt t="79222" x="8924925" y="5014913"/>
          <p14:tracePt t="79239" x="8890000" y="4997450"/>
          <p14:tracePt t="79256" x="8855075" y="4970463"/>
          <p14:tracePt t="79272" x="8812213" y="4945063"/>
          <p14:tracePt t="79289" x="8759825" y="4927600"/>
          <p14:tracePt t="79306" x="8707438" y="4910138"/>
          <p14:tracePt t="79322" x="8680450" y="4900613"/>
          <p14:tracePt t="79339" x="8662988" y="4900613"/>
          <p14:tracePt t="79355" x="8637588" y="4900613"/>
          <p14:tracePt t="79373" x="8602663" y="4910138"/>
          <p14:tracePt t="79389" x="8540750" y="4927600"/>
          <p14:tracePt t="79405" x="8480425" y="4945063"/>
          <p14:tracePt t="79422" x="8435975" y="4962525"/>
          <p14:tracePt t="79439" x="8375650" y="4987925"/>
          <p14:tracePt t="79455" x="8278813" y="5014913"/>
          <p14:tracePt t="79472" x="8208963" y="5057775"/>
          <p14:tracePt t="79488" x="8113713" y="5084763"/>
          <p14:tracePt t="79505" x="8061325" y="5102225"/>
          <p14:tracePt t="79522" x="8026400" y="5127625"/>
          <p14:tracePt t="79539" x="8008938" y="5145088"/>
          <p14:tracePt t="79556" x="7991475" y="5172075"/>
          <p14:tracePt t="79557" x="7981950" y="5180013"/>
          <p14:tracePt t="79573" x="7974013" y="5197475"/>
          <p14:tracePt t="79589" x="7956550" y="5207000"/>
          <p14:tracePt t="79605" x="7929563" y="5232400"/>
          <p14:tracePt t="79622" x="7904163" y="5267325"/>
          <p14:tracePt t="79639" x="7886700" y="5294313"/>
          <p14:tracePt t="79655" x="7869238" y="5329238"/>
          <p14:tracePt t="79672" x="7869238" y="5399088"/>
          <p14:tracePt t="79689" x="7869238" y="5434013"/>
          <p14:tracePt t="79705" x="7877175" y="5459413"/>
          <p14:tracePt t="79722" x="7886700" y="5486400"/>
          <p14:tracePt t="79739" x="7912100" y="5503863"/>
          <p14:tracePt t="79756" x="7939088" y="5538788"/>
          <p14:tracePt t="79758" x="7956550" y="5556250"/>
          <p14:tracePt t="79773" x="7991475" y="5573713"/>
          <p14:tracePt t="79789" x="8016875" y="5608638"/>
          <p14:tracePt t="79805" x="8069263" y="5653088"/>
          <p14:tracePt t="79822" x="8121650" y="5695950"/>
          <p14:tracePt t="79839" x="8166100" y="5730875"/>
          <p14:tracePt t="79856" x="8183563" y="5757863"/>
          <p14:tracePt t="79872" x="8208963" y="5783263"/>
          <p14:tracePt t="79889" x="8243888" y="5818188"/>
          <p14:tracePt t="79905" x="8288338" y="5845175"/>
          <p14:tracePt t="79922" x="8340725" y="5870575"/>
          <p14:tracePt t="79939" x="8401050" y="5888038"/>
          <p14:tracePt t="79956" x="8428038" y="5897563"/>
          <p14:tracePt t="79957" x="8445500" y="5897563"/>
          <p14:tracePt t="79972" x="8523288" y="5905500"/>
          <p14:tracePt t="79989" x="8628063" y="5905500"/>
          <p14:tracePt t="80005" x="8767763" y="5905500"/>
          <p14:tracePt t="80022" x="8916988" y="5897563"/>
          <p14:tracePt t="80039" x="9117013" y="5888038"/>
          <p14:tracePt t="80056" x="9380538" y="5888038"/>
          <p14:tracePt t="80072" x="9493250" y="5862638"/>
          <p14:tracePt t="80089" x="9545638" y="5835650"/>
          <p14:tracePt t="80105" x="9580563" y="5800725"/>
          <p14:tracePt t="80122" x="9607550" y="5757863"/>
          <p14:tracePt t="80139" x="9607550" y="5730875"/>
          <p14:tracePt t="80155" x="9607550" y="5722938"/>
          <p14:tracePt t="80398" x="0" y="0"/>
        </p14:tracePtLst>
        <p14:tracePtLst>
          <p14:tracePt t="81447" x="9117013" y="3521075"/>
          <p14:tracePt t="81493" x="9126538" y="3521075"/>
          <p14:tracePt t="81509" x="9134475" y="3521075"/>
          <p14:tracePt t="81525" x="9144000" y="3521075"/>
          <p14:tracePt t="81533" x="9144000" y="3511550"/>
          <p14:tracePt t="81542" x="9153525" y="3511550"/>
          <p14:tracePt t="81555" x="9153525" y="3503613"/>
          <p14:tracePt t="81556" x="9161463" y="3503613"/>
          <p14:tracePt t="81573" x="9178925" y="3486150"/>
          <p14:tracePt t="81589" x="9188450" y="3459163"/>
          <p14:tracePt t="81605" x="9196388" y="3416300"/>
          <p14:tracePt t="81622" x="9205913" y="3389313"/>
          <p14:tracePt t="81638" x="9223375" y="3371850"/>
          <p14:tracePt t="81655" x="9223375" y="3346450"/>
          <p14:tracePt t="81676" x="9223375" y="3336925"/>
          <p14:tracePt t="81689" x="9223375" y="3319463"/>
          <p14:tracePt t="81705" x="9223375" y="3311525"/>
          <p14:tracePt t="81722" x="9223375" y="3294063"/>
          <p14:tracePt t="81739" x="9223375" y="3276600"/>
          <p14:tracePt t="81755" x="9213850" y="3267075"/>
          <p14:tracePt t="81757" x="9213850" y="3259138"/>
          <p14:tracePt t="81781" x="9205913" y="3249613"/>
          <p14:tracePt t="81789" x="9205913" y="3241675"/>
          <p14:tracePt t="81805" x="9196388" y="3232150"/>
          <p14:tracePt t="81822" x="9188450" y="3232150"/>
          <p14:tracePt t="81839" x="9161463" y="3206750"/>
          <p14:tracePt t="81855" x="9134475" y="3197225"/>
          <p14:tracePt t="81872" x="9117013" y="3171825"/>
          <p14:tracePt t="81889" x="9091613" y="3162300"/>
          <p14:tracePt t="81905" x="9064625" y="3162300"/>
          <p14:tracePt t="81922" x="9056688" y="3154363"/>
          <p14:tracePt t="81938" x="9039225" y="3144838"/>
          <p14:tracePt t="81955" x="9029700" y="3144838"/>
          <p14:tracePt t="81972" x="9021763" y="3144838"/>
          <p14:tracePt t="82021" x="9012238" y="3144838"/>
          <p14:tracePt t="82093" x="9004300" y="3144838"/>
          <p14:tracePt t="82117" x="8994775" y="3144838"/>
          <p14:tracePt t="82125" x="8986838" y="3144838"/>
          <p14:tracePt t="82133" x="8969375" y="3144838"/>
          <p14:tracePt t="82141" x="8951913" y="3144838"/>
          <p14:tracePt t="82155" x="8942388" y="3154363"/>
          <p14:tracePt t="82156" x="8934450" y="3154363"/>
          <p14:tracePt t="82172" x="8916988" y="3162300"/>
          <p14:tracePt t="82173" x="8907463" y="3162300"/>
          <p14:tracePt t="82189" x="8890000" y="3162300"/>
          <p14:tracePt t="82205" x="8890000" y="3171825"/>
          <p14:tracePt t="82222" x="8864600" y="3179763"/>
          <p14:tracePt t="82238" x="8864600" y="3189288"/>
          <p14:tracePt t="82261" x="8855075" y="3197225"/>
          <p14:tracePt t="82272" x="8847138" y="3206750"/>
          <p14:tracePt t="82293" x="8829675" y="3214688"/>
          <p14:tracePt t="82305" x="8820150" y="3224213"/>
          <p14:tracePt t="82322" x="8794750" y="3241675"/>
          <p14:tracePt t="82338" x="8785225" y="3249613"/>
          <p14:tracePt t="82340" x="8767763" y="3259138"/>
          <p14:tracePt t="82355" x="8759825" y="3267075"/>
          <p14:tracePt t="82372" x="8742363" y="3294063"/>
          <p14:tracePt t="82373" x="8732838" y="3311525"/>
          <p14:tracePt t="82389" x="8724900" y="3319463"/>
          <p14:tracePt t="82405" x="8707438" y="3328988"/>
          <p14:tracePt t="82422" x="8697913" y="3354388"/>
          <p14:tracePt t="82439" x="8689975" y="3371850"/>
          <p14:tracePt t="82455" x="8689975" y="3389313"/>
          <p14:tracePt t="82472" x="8689975" y="3416300"/>
          <p14:tracePt t="82488" x="8689975" y="3441700"/>
          <p14:tracePt t="82505" x="8697913" y="3468688"/>
          <p14:tracePt t="82522" x="8707438" y="3494088"/>
          <p14:tracePt t="82538" x="8724900" y="3511550"/>
          <p14:tracePt t="82555" x="8742363" y="3538538"/>
          <p14:tracePt t="82572" x="8759825" y="3563938"/>
          <p14:tracePt t="82573" x="8777288" y="3563938"/>
          <p14:tracePt t="82589" x="8794750" y="3581400"/>
          <p14:tracePt t="82605" x="8820150" y="3590925"/>
          <p14:tracePt t="82622" x="8847138" y="3616325"/>
          <p14:tracePt t="82639" x="8864600" y="3625850"/>
          <p14:tracePt t="82655" x="8882063" y="3625850"/>
          <p14:tracePt t="82672" x="8890000" y="3625850"/>
          <p14:tracePt t="82688" x="8899525" y="3625850"/>
          <p14:tracePt t="82705" x="8907463" y="3625850"/>
          <p14:tracePt t="82722" x="8924925" y="3625850"/>
          <p14:tracePt t="82738" x="8934450" y="3625850"/>
          <p14:tracePt t="82755" x="8942388" y="3625850"/>
          <p14:tracePt t="82772" x="8951913" y="3625850"/>
          <p14:tracePt t="82789" x="8959850" y="3625850"/>
          <p14:tracePt t="82805" x="8969375" y="3625850"/>
          <p14:tracePt t="82822" x="9004300" y="3616325"/>
          <p14:tracePt t="82838" x="9029700" y="3608388"/>
          <p14:tracePt t="82855" x="9056688" y="3598863"/>
          <p14:tracePt t="82872" x="9099550" y="3590925"/>
          <p14:tracePt t="82888" x="9109075" y="3590925"/>
          <p14:tracePt t="82905" x="9117013" y="3581400"/>
          <p14:tracePt t="82922" x="9126538" y="3573463"/>
          <p14:tracePt t="83149" x="0" y="0"/>
        </p14:tracePtLst>
      </p14:laserTraceLst>
    </p:ext>
  </p:extLs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fontScale="90000"/>
          </a:bodyPr>
          <a:lstStyle/>
          <a:p>
            <a:r>
              <a:rPr lang="es-ES" dirty="0"/>
              <a:t>10. Intervalo de confianza para la diferencia de las medias de dos poblaciones. Ejemplo 9.14</a:t>
            </a:r>
          </a:p>
        </p:txBody>
      </p:sp>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p:txBody>
          <a:bodyPr>
            <a:normAutofit lnSpcReduction="10000"/>
          </a:bodyPr>
          <a:lstStyle/>
          <a:p>
            <a:r>
              <a:rPr lang="es-ES" dirty="0"/>
              <a:t>Un experto evalúa la efectividad de una actualización del hardware de un ordenador ejecutando un cierto programa 50 veces antes de la actualización y 50 veces después de ella. </a:t>
            </a:r>
          </a:p>
          <a:p>
            <a:r>
              <a:rPr lang="es-ES" dirty="0"/>
              <a:t>Según estos datos, el tiempo de ejecución promedio es de</a:t>
            </a:r>
          </a:p>
          <a:p>
            <a:pPr lvl="1"/>
            <a:r>
              <a:rPr lang="es-ES" dirty="0"/>
              <a:t>8.5 minutos antes de la actualización</a:t>
            </a:r>
          </a:p>
          <a:p>
            <a:pPr lvl="1"/>
            <a:r>
              <a:rPr lang="es-ES" dirty="0"/>
              <a:t>7.22 minutos después de la actualización</a:t>
            </a:r>
          </a:p>
          <a:p>
            <a:r>
              <a:rPr lang="es-ES" dirty="0"/>
              <a:t>Históricamente, la desviación estándar ha sido de 1.8 minutos, y presumiblemente no ha cambiado. </a:t>
            </a:r>
          </a:p>
          <a:p>
            <a:r>
              <a:rPr lang="es-ES" dirty="0"/>
              <a:t>Construir un intervalo de confianza del 90 % que muestre cuánto se redujo el tiempo de ejecución medio debido a la actualización del hardware.</a:t>
            </a:r>
          </a:p>
        </p:txBody>
      </p:sp>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56</a:t>
            </a:fld>
            <a:endParaRPr lang="es-ES" dirty="0"/>
          </a:p>
        </p:txBody>
      </p:sp>
    </p:spTree>
    <p:extLst>
      <p:ext uri="{BB962C8B-B14F-4D97-AF65-F5344CB8AC3E}">
        <p14:creationId xmlns:p14="http://schemas.microsoft.com/office/powerpoint/2010/main" val="36291730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a:bodyPr>
          <a:lstStyle/>
          <a:p>
            <a:r>
              <a:rPr lang="es-ES" sz="3600" dirty="0"/>
              <a:t>10. Intervalo de confianza para la diferencia de las medias de dos poblaciones. Ejemplo 9.14 (Solución)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a:xfrm>
                <a:off x="838200" y="1825625"/>
                <a:ext cx="10515600" cy="4895850"/>
              </a:xfrm>
            </p:spPr>
            <p:txBody>
              <a:bodyPr>
                <a:normAutofit fontScale="55000" lnSpcReduction="20000"/>
              </a:bodyPr>
              <a:lstStyle/>
              <a:p>
                <a:r>
                  <a:rPr lang="es-ES" dirty="0"/>
                  <a:t>Es un caso de muestras grandes con varianzas conocidas</a:t>
                </a:r>
              </a:p>
              <a:p>
                <a:r>
                  <a:rPr lang="es-ES" dirty="0"/>
                  <a:t>X = tiempo de ejecución en una muestra de 50 ejecuciones antes de la actualización</a:t>
                </a:r>
              </a:p>
              <a:p>
                <a:r>
                  <a:rPr lang="es-ES" dirty="0"/>
                  <a:t>Y = tiempo de ejecución en una muestra de 50 ejecuciones después de la actualización</a:t>
                </a:r>
              </a:p>
              <a:p>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m:t>
                    </m:r>
                    <m:r>
                      <a:rPr lang="es-ES" b="0" i="1" smtClean="0">
                        <a:latin typeface="Cambria Math" panose="02040503050406030204" pitchFamily="18" charset="0"/>
                      </a:rPr>
                      <m:t>𝑚</m:t>
                    </m:r>
                    <m:r>
                      <a:rPr lang="es-ES" b="0" i="1" smtClean="0">
                        <a:latin typeface="Cambria Math" panose="02040503050406030204" pitchFamily="18" charset="0"/>
                      </a:rPr>
                      <m:t>=50</m:t>
                    </m:r>
                  </m:oMath>
                </a14:m>
                <a:endParaRPr lang="es-ES" b="0" dirty="0"/>
              </a:p>
              <a:p>
                <a14:m>
                  <m:oMath xmlns:m="http://schemas.openxmlformats.org/officeDocument/2006/math">
                    <m:sSub>
                      <m:sSubPr>
                        <m:ctrlPr>
                          <a:rPr lang="es-ES" i="1" smtClean="0">
                            <a:latin typeface="Cambria Math" panose="02040503050406030204" pitchFamily="18" charset="0"/>
                          </a:rPr>
                        </m:ctrlPr>
                      </m:sSubPr>
                      <m:e>
                        <m:r>
                          <a:rPr lang="es-ES" i="1" smtClean="0">
                            <a:latin typeface="Cambria Math" panose="02040503050406030204" pitchFamily="18" charset="0"/>
                            <a:ea typeface="Cambria Math" panose="02040503050406030204" pitchFamily="18" charset="0"/>
                          </a:rPr>
                          <m:t>𝜎</m:t>
                        </m:r>
                      </m:e>
                      <m:sub>
                        <m:r>
                          <a:rPr lang="es-ES" b="0" i="1" smtClean="0">
                            <a:latin typeface="Cambria Math" panose="02040503050406030204" pitchFamily="18" charset="0"/>
                          </a:rPr>
                          <m:t>𝑋</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𝜎</m:t>
                        </m:r>
                      </m:e>
                      <m:sub>
                        <m:r>
                          <a:rPr lang="es-ES" b="0" i="1" smtClean="0">
                            <a:latin typeface="Cambria Math" panose="02040503050406030204" pitchFamily="18" charset="0"/>
                          </a:rPr>
                          <m:t>𝑌</m:t>
                        </m:r>
                      </m:sub>
                    </m:sSub>
                    <m:r>
                      <a:rPr lang="es-ES" b="0" i="1" smtClean="0">
                        <a:latin typeface="Cambria Math" panose="02040503050406030204" pitchFamily="18" charset="0"/>
                      </a:rPr>
                      <m:t>=1.8 </m:t>
                    </m:r>
                    <m:r>
                      <m:rPr>
                        <m:nor/>
                      </m:rPr>
                      <a:rPr lang="es-ES" b="0" i="0" smtClean="0">
                        <a:latin typeface="Cambria Math" panose="02040503050406030204" pitchFamily="18" charset="0"/>
                      </a:rPr>
                      <m:t>min</m:t>
                    </m:r>
                  </m:oMath>
                </a14:m>
                <a:endParaRPr lang="es-ES" dirty="0"/>
              </a:p>
              <a:p>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𝑋</m:t>
                        </m:r>
                      </m:e>
                    </m:acc>
                    <m:r>
                      <a:rPr lang="es-ES" b="0" i="1" smtClean="0">
                        <a:latin typeface="Cambria Math" panose="02040503050406030204" pitchFamily="18" charset="0"/>
                      </a:rPr>
                      <m:t>=8.5 </m:t>
                    </m:r>
                    <m:r>
                      <m:rPr>
                        <m:nor/>
                      </m:rPr>
                      <a:rPr lang="es-ES" b="0" i="0" smtClean="0">
                        <a:latin typeface="Cambria Math" panose="02040503050406030204" pitchFamily="18" charset="0"/>
                      </a:rPr>
                      <m:t>min</m:t>
                    </m:r>
                  </m:oMath>
                </a14:m>
                <a:endParaRPr lang="es-ES" dirty="0"/>
              </a:p>
              <a:p>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𝑌</m:t>
                        </m:r>
                      </m:e>
                    </m:acc>
                    <m:r>
                      <a:rPr lang="es-ES" b="0" i="1" smtClean="0">
                        <a:latin typeface="Cambria Math" panose="02040503050406030204" pitchFamily="18" charset="0"/>
                      </a:rPr>
                      <m:t>=7.2 </m:t>
                    </m:r>
                    <m:r>
                      <m:rPr>
                        <m:nor/>
                      </m:rPr>
                      <a:rPr lang="es-ES" b="0" i="0" smtClean="0">
                        <a:latin typeface="Cambria Math" panose="02040503050406030204" pitchFamily="18" charset="0"/>
                      </a:rPr>
                      <m:t>min</m:t>
                    </m:r>
                  </m:oMath>
                </a14:m>
                <a:endParaRPr lang="es-ES"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=0.1→</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=0.05</m:t>
                    </m:r>
                  </m:oMath>
                </a14:m>
                <a:endParaRPr lang="es-ES" dirty="0"/>
              </a:p>
              <a:p>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r>
                      <a:rPr lang="es-ES" i="1">
                        <a:latin typeface="Cambria Math" panose="02040503050406030204" pitchFamily="18" charset="0"/>
                      </a:rPr>
                      <m:t>=</m:t>
                    </m:r>
                    <m:r>
                      <a:rPr lang="es-ES" i="1">
                        <a:latin typeface="Cambria Math" panose="02040503050406030204" pitchFamily="18" charset="0"/>
                      </a:rPr>
                      <m:t>𝑐𝑢𝑎𝑛𝑡𝑖𝑙</m:t>
                    </m:r>
                    <m:d>
                      <m:dPr>
                        <m:ctrlPr>
                          <a:rPr lang="es-ES" i="1">
                            <a:latin typeface="Cambria Math" panose="02040503050406030204" pitchFamily="18" charset="0"/>
                          </a:rPr>
                        </m:ctrlPr>
                      </m:dPr>
                      <m:e>
                        <m:r>
                          <a:rPr lang="es-ES" i="1">
                            <a:latin typeface="Cambria Math" panose="02040503050406030204" pitchFamily="18" charset="0"/>
                          </a:rPr>
                          <m:t>1−</m:t>
                        </m:r>
                        <m:f>
                          <m:fPr>
                            <m:ctrlPr>
                              <a:rPr lang="es-ES" i="1">
                                <a:latin typeface="Cambria Math" panose="02040503050406030204" pitchFamily="18" charset="0"/>
                              </a:rPr>
                            </m:ctrlPr>
                          </m:fPr>
                          <m:num>
                            <m:r>
                              <a:rPr lang="el-GR" i="1">
                                <a:latin typeface="Cambria Math" panose="02040503050406030204" pitchFamily="18" charset="0"/>
                              </a:rPr>
                              <m:t>𝛼</m:t>
                            </m:r>
                          </m:num>
                          <m:den>
                            <m:r>
                              <a:rPr lang="es-ES" i="1">
                                <a:latin typeface="Cambria Math" panose="02040503050406030204" pitchFamily="18" charset="0"/>
                              </a:rPr>
                              <m:t>2</m:t>
                            </m:r>
                          </m:den>
                        </m:f>
                      </m:e>
                    </m:d>
                    <m:r>
                      <m:rPr>
                        <m:nor/>
                      </m:rPr>
                      <a:rPr lang="es-ES"/>
                      <m:t>de</m:t>
                    </m:r>
                    <m:r>
                      <m:rPr>
                        <m:nor/>
                      </m:rPr>
                      <a:rPr lang="es-ES"/>
                      <m:t> </m:t>
                    </m:r>
                    <m:r>
                      <m:rPr>
                        <m:nor/>
                      </m:rPr>
                      <a:rPr lang="es-ES"/>
                      <m:t>Z</m:t>
                    </m:r>
                    <m:r>
                      <m:rPr>
                        <m:nor/>
                      </m:rPr>
                      <a:rPr lang="es-ES"/>
                      <m:t>:</m:t>
                    </m:r>
                    <m:r>
                      <m:rPr>
                        <m:nor/>
                      </m:rPr>
                      <a:rPr lang="es-ES"/>
                      <m:t>N</m:t>
                    </m:r>
                    <m:d>
                      <m:dPr>
                        <m:ctrlPr>
                          <a:rPr lang="es-ES" i="1">
                            <a:latin typeface="Cambria Math" panose="02040503050406030204" pitchFamily="18" charset="0"/>
                          </a:rPr>
                        </m:ctrlPr>
                      </m:dPr>
                      <m:e>
                        <m:r>
                          <m:rPr>
                            <m:nor/>
                          </m:rPr>
                          <a:rPr lang="es-ES"/>
                          <m:t>0,1</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e>
                    </m:d>
                    <m:r>
                      <a:rPr lang="es-ES" i="1">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b="0" i="1" smtClean="0">
                        <a:latin typeface="Cambria Math" panose="02040503050406030204" pitchFamily="18" charset="0"/>
                      </a:rPr>
                      <m:t>=1−0.05=0.95</m:t>
                    </m:r>
                  </m:oMath>
                </a14:m>
                <a:r>
                  <a:rPr lang="es-ES" dirty="0"/>
                  <a:t>           Según la tabla A4: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
                      <a:rPr lang="es-ES" i="1">
                        <a:latin typeface="Cambria Math" panose="02040503050406030204" pitchFamily="18" charset="0"/>
                      </a:rPr>
                      <m:t>≈</m:t>
                    </m:r>
                    <m:r>
                      <a:rPr lang="es-ES" b="0" i="1" smtClean="0">
                        <a:latin typeface="Cambria Math" panose="02040503050406030204" pitchFamily="18" charset="0"/>
                      </a:rPr>
                      <m:t>1.64</m:t>
                    </m:r>
                  </m:oMath>
                </a14:m>
                <a:endParaRPr lang="es-ES" dirty="0"/>
              </a:p>
              <a:p>
                <a:r>
                  <a:rPr lang="es-ES" dirty="0"/>
                  <a:t>Intervalo de confianza</a:t>
                </a:r>
                <a:r>
                  <a:rPr lang="es-ES" dirty="0">
                    <a:sym typeface="Wingdings" panose="05000000000000000000" pitchFamily="2" charset="2"/>
                  </a:rPr>
                  <a:t> C</a:t>
                </a:r>
                <a:r>
                  <a:rPr lang="es-ES" dirty="0"/>
                  <a:t>omo no contiene el valor 0, la diferencia de medias SÍ es significativa, siendo mayor la media de la primera población, por ser los extremos positivos</a:t>
                </a:r>
              </a:p>
              <a:p>
                <a:endParaRPr lang="es-E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𝑋</m:t>
                        </m:r>
                      </m:e>
                    </m:acc>
                    <m:r>
                      <a:rPr lang="es-ES" sz="2400" i="1" kern="1200">
                        <a:solidFill>
                          <a:schemeClr val="tx1"/>
                        </a:solidFill>
                        <a:effectLst/>
                        <a:latin typeface="Cambria Math" panose="02040503050406030204" pitchFamily="18" charset="0"/>
                        <a:ea typeface="+mn-ea"/>
                        <a:cs typeface="+mn-cs"/>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𝑌</m:t>
                        </m:r>
                      </m:e>
                    </m:acc>
                    <m:r>
                      <a:rPr lang="es-ES" sz="2400" i="1" kern="1200">
                        <a:solidFill>
                          <a:schemeClr val="tx1"/>
                        </a:solidFill>
                        <a:effectLst/>
                        <a:latin typeface="Cambria Math" panose="02040503050406030204" pitchFamily="18" charset="0"/>
                        <a:ea typeface="+mn-ea"/>
                        <a:cs typeface="+mn-cs"/>
                      </a:rPr>
                      <m:t>−</m:t>
                    </m:r>
                    <m:sSub>
                      <m:sSubPr>
                        <m:ctrlPr>
                          <a:rPr lang="es-ES" sz="2400" i="1" kern="1200">
                            <a:solidFill>
                              <a:schemeClr val="tx1"/>
                            </a:solidFill>
                            <a:effectLst/>
                            <a:latin typeface="Cambria Math" panose="02040503050406030204" pitchFamily="18" charset="0"/>
                            <a:ea typeface="+mn-ea"/>
                            <a:cs typeface="+mn-cs"/>
                          </a:rPr>
                        </m:ctrlPr>
                      </m:sSubPr>
                      <m:e>
                        <m:r>
                          <a:rPr lang="es-ES" sz="2400" i="1" kern="1200">
                            <a:solidFill>
                              <a:schemeClr val="tx1"/>
                            </a:solidFill>
                            <a:effectLst/>
                            <a:latin typeface="Cambria Math" panose="02040503050406030204" pitchFamily="18" charset="0"/>
                            <a:ea typeface="+mn-ea"/>
                            <a:cs typeface="+mn-cs"/>
                          </a:rPr>
                          <m:t>𝑧</m:t>
                        </m:r>
                      </m:e>
                      <m:sub>
                        <m:f>
                          <m:fPr>
                            <m:ctrlPr>
                              <a:rPr lang="es-ES" sz="2400" i="1" kern="1200">
                                <a:solidFill>
                                  <a:schemeClr val="tx1"/>
                                </a:solidFill>
                                <a:effectLst/>
                                <a:latin typeface="Cambria Math" panose="02040503050406030204" pitchFamily="18" charset="0"/>
                                <a:ea typeface="+mn-ea"/>
                                <a:cs typeface="+mn-cs"/>
                              </a:rPr>
                            </m:ctrlPr>
                          </m:fPr>
                          <m:num>
                            <m:r>
                              <a:rPr lang="es-ES" sz="2400" i="1" kern="1200">
                                <a:solidFill>
                                  <a:schemeClr val="tx1"/>
                                </a:solidFill>
                                <a:effectLst/>
                                <a:latin typeface="Cambria Math" panose="02040503050406030204" pitchFamily="18" charset="0"/>
                                <a:ea typeface="+mn-ea"/>
                                <a:cs typeface="+mn-cs"/>
                              </a:rPr>
                              <m:t>𝛼</m:t>
                            </m:r>
                          </m:num>
                          <m:den>
                            <m:r>
                              <a:rPr lang="es-ES" sz="2400" i="1" kern="1200">
                                <a:solidFill>
                                  <a:schemeClr val="tx1"/>
                                </a:solidFill>
                                <a:effectLst/>
                                <a:latin typeface="Cambria Math" panose="02040503050406030204" pitchFamily="18" charset="0"/>
                                <a:ea typeface="+mn-ea"/>
                                <a:cs typeface="+mn-cs"/>
                              </a:rPr>
                              <m:t>2</m:t>
                            </m:r>
                          </m:den>
                        </m:f>
                      </m:sub>
                    </m:sSub>
                    <m:rad>
                      <m:radPr>
                        <m:degHide m:val="on"/>
                        <m:ctrlPr>
                          <a:rPr lang="es-ES" sz="2400" i="1" kern="1200">
                            <a:solidFill>
                              <a:schemeClr val="tx1"/>
                            </a:solidFill>
                            <a:effectLst/>
                            <a:latin typeface="Cambria Math" panose="02040503050406030204" pitchFamily="18" charset="0"/>
                            <a:ea typeface="+mn-ea"/>
                            <a:cs typeface="+mn-cs"/>
                          </a:rPr>
                        </m:ctrlPr>
                      </m:radPr>
                      <m:deg/>
                      <m:e>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2400" b="0" i="1" kern="1200" smtClean="0">
                                    <a:solidFill>
                                      <a:schemeClr val="tx1"/>
                                    </a:solidFill>
                                    <a:effectLst/>
                                    <a:latin typeface="Cambria Math" panose="02040503050406030204" pitchFamily="18" charset="0"/>
                                    <a:ea typeface="+mn-ea"/>
                                    <a:cs typeface="+mn-cs"/>
                                  </a:rPr>
                                  <m:t>𝑋</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𝑛</m:t>
                            </m:r>
                          </m:den>
                        </m:f>
                        <m:r>
                          <a:rPr lang="es-ES" sz="2400" i="1" kern="1200">
                            <a:solidFill>
                              <a:schemeClr val="tx1"/>
                            </a:solidFill>
                            <a:effectLst/>
                            <a:latin typeface="Cambria Math" panose="02040503050406030204" pitchFamily="18" charset="0"/>
                            <a:ea typeface="+mn-ea"/>
                            <a:cs typeface="+mn-cs"/>
                          </a:rPr>
                          <m:t>+</m:t>
                        </m:r>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2400" b="0" i="1" kern="1200" smtClean="0">
                                    <a:solidFill>
                                      <a:schemeClr val="tx1"/>
                                    </a:solidFill>
                                    <a:effectLst/>
                                    <a:latin typeface="Cambria Math" panose="02040503050406030204" pitchFamily="18" charset="0"/>
                                    <a:ea typeface="+mn-ea"/>
                                    <a:cs typeface="+mn-cs"/>
                                  </a:rPr>
                                  <m:t>𝑌</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𝑚</m:t>
                            </m:r>
                          </m:den>
                        </m:f>
                      </m:e>
                    </m:rad>
                    <m:r>
                      <a:rPr lang="es-ES" sz="2400" b="0" i="0" kern="1200" smtClean="0">
                        <a:solidFill>
                          <a:schemeClr val="tx1"/>
                        </a:solidFill>
                        <a:effectLst/>
                        <a:latin typeface="Cambria Math" panose="02040503050406030204" pitchFamily="18" charset="0"/>
                        <a:ea typeface="+mn-ea"/>
                        <a:cs typeface="+mn-cs"/>
                      </a:rPr>
                      <m:t>=8.5−7.2−</m:t>
                    </m:r>
                  </m:oMath>
                </a14:m>
                <a:r>
                  <a:rPr lang="es-ES" dirty="0"/>
                  <a:t> </a:t>
                </a:r>
                <a14:m>
                  <m:oMath xmlns:m="http://schemas.openxmlformats.org/officeDocument/2006/math">
                    <m:r>
                      <a:rPr lang="es-ES" b="0" i="1" smtClean="0">
                        <a:latin typeface="Cambria Math" panose="02040503050406030204" pitchFamily="18" charset="0"/>
                      </a:rPr>
                      <m:t>1.64</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p>
                              <m:sSupPr>
                                <m:ctrlPr>
                                  <a:rPr lang="es-ES" i="1" smtClean="0">
                                    <a:latin typeface="Cambria Math" panose="02040503050406030204" pitchFamily="18" charset="0"/>
                                  </a:rPr>
                                </m:ctrlPr>
                              </m:sSupPr>
                              <m:e>
                                <m:r>
                                  <a:rPr lang="es-ES" b="0" i="1" smtClean="0">
                                    <a:latin typeface="Cambria Math" panose="02040503050406030204" pitchFamily="18" charset="0"/>
                                  </a:rPr>
                                  <m:t>1.8</m:t>
                                </m:r>
                              </m:e>
                              <m:sup>
                                <m:r>
                                  <a:rPr lang="es-ES" b="0" i="1" smtClean="0">
                                    <a:latin typeface="Cambria Math" panose="02040503050406030204" pitchFamily="18" charset="0"/>
                                  </a:rPr>
                                  <m:t>2</m:t>
                                </m:r>
                              </m:sup>
                            </m:sSup>
                          </m:num>
                          <m:den>
                            <m:r>
                              <a:rPr lang="es-ES" b="0" i="1" smtClean="0">
                                <a:latin typeface="Cambria Math" panose="02040503050406030204" pitchFamily="18" charset="0"/>
                              </a:rPr>
                              <m:t>50</m:t>
                            </m:r>
                          </m:den>
                        </m:f>
                        <m:r>
                          <a:rPr lang="es-ES" i="1">
                            <a:latin typeface="Cambria Math" panose="02040503050406030204" pitchFamily="18" charset="0"/>
                          </a:rPr>
                          <m:t>+</m:t>
                        </m:r>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1.8</m:t>
                                </m:r>
                              </m:e>
                              <m:sup>
                                <m:r>
                                  <a:rPr lang="es-ES" i="1">
                                    <a:latin typeface="Cambria Math" panose="02040503050406030204" pitchFamily="18" charset="0"/>
                                  </a:rPr>
                                  <m:t>2</m:t>
                                </m:r>
                              </m:sup>
                            </m:sSup>
                          </m:num>
                          <m:den>
                            <m:r>
                              <a:rPr lang="es-ES" i="1">
                                <a:latin typeface="Cambria Math" panose="02040503050406030204" pitchFamily="18" charset="0"/>
                              </a:rPr>
                              <m:t>50</m:t>
                            </m:r>
                          </m:den>
                        </m:f>
                      </m:e>
                    </m:rad>
                    <m:r>
                      <a:rPr lang="es-ES" b="0" i="1" smtClean="0">
                        <a:latin typeface="Cambria Math" panose="02040503050406030204" pitchFamily="18" charset="0"/>
                      </a:rPr>
                      <m:t>=1.3−0.6=0.7</m:t>
                    </m:r>
                  </m:oMath>
                </a14:m>
                <a:endParaRPr lang="es-ES" dirty="0"/>
              </a:p>
              <a:p>
                <a:pPr lvl="1"/>
                <a:endParaRPr lang="es-ES" i="1" dirty="0">
                  <a:latin typeface="Cambria Math" panose="02040503050406030204" pitchFamily="18" charset="0"/>
                </a:endParaRP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𝑋</m:t>
                        </m:r>
                      </m:e>
                    </m:acc>
                    <m:r>
                      <a:rPr lang="es-ES" sz="2400" i="1" kern="1200">
                        <a:solidFill>
                          <a:schemeClr val="tx1"/>
                        </a:solidFill>
                        <a:effectLst/>
                        <a:latin typeface="Cambria Math" panose="02040503050406030204" pitchFamily="18" charset="0"/>
                        <a:ea typeface="+mn-ea"/>
                        <a:cs typeface="+mn-cs"/>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𝑌</m:t>
                        </m:r>
                      </m:e>
                    </m:acc>
                    <m:r>
                      <a:rPr lang="es-ES" sz="2400" b="0" i="1" kern="1200" smtClean="0">
                        <a:solidFill>
                          <a:schemeClr val="tx1"/>
                        </a:solidFill>
                        <a:effectLst/>
                        <a:latin typeface="Cambria Math" panose="02040503050406030204" pitchFamily="18" charset="0"/>
                        <a:ea typeface="+mn-ea"/>
                        <a:cs typeface="+mn-cs"/>
                      </a:rPr>
                      <m:t>+</m:t>
                    </m:r>
                    <m:sSub>
                      <m:sSubPr>
                        <m:ctrlPr>
                          <a:rPr lang="es-ES" sz="2400" i="1" kern="1200">
                            <a:solidFill>
                              <a:schemeClr val="tx1"/>
                            </a:solidFill>
                            <a:effectLst/>
                            <a:latin typeface="Cambria Math" panose="02040503050406030204" pitchFamily="18" charset="0"/>
                            <a:ea typeface="+mn-ea"/>
                            <a:cs typeface="+mn-cs"/>
                          </a:rPr>
                        </m:ctrlPr>
                      </m:sSubPr>
                      <m:e>
                        <m:r>
                          <a:rPr lang="es-ES" sz="2400" i="1" kern="1200">
                            <a:solidFill>
                              <a:schemeClr val="tx1"/>
                            </a:solidFill>
                            <a:effectLst/>
                            <a:latin typeface="Cambria Math" panose="02040503050406030204" pitchFamily="18" charset="0"/>
                            <a:ea typeface="+mn-ea"/>
                            <a:cs typeface="+mn-cs"/>
                          </a:rPr>
                          <m:t>𝑧</m:t>
                        </m:r>
                      </m:e>
                      <m:sub>
                        <m:f>
                          <m:fPr>
                            <m:ctrlPr>
                              <a:rPr lang="es-ES" sz="2400" i="1" kern="1200">
                                <a:solidFill>
                                  <a:schemeClr val="tx1"/>
                                </a:solidFill>
                                <a:effectLst/>
                                <a:latin typeface="Cambria Math" panose="02040503050406030204" pitchFamily="18" charset="0"/>
                                <a:ea typeface="+mn-ea"/>
                                <a:cs typeface="+mn-cs"/>
                              </a:rPr>
                            </m:ctrlPr>
                          </m:fPr>
                          <m:num>
                            <m:r>
                              <a:rPr lang="es-ES" sz="2400" i="1" kern="1200">
                                <a:solidFill>
                                  <a:schemeClr val="tx1"/>
                                </a:solidFill>
                                <a:effectLst/>
                                <a:latin typeface="Cambria Math" panose="02040503050406030204" pitchFamily="18" charset="0"/>
                                <a:ea typeface="+mn-ea"/>
                                <a:cs typeface="+mn-cs"/>
                              </a:rPr>
                              <m:t>𝛼</m:t>
                            </m:r>
                          </m:num>
                          <m:den>
                            <m:r>
                              <a:rPr lang="es-ES" sz="2400" i="1" kern="1200">
                                <a:solidFill>
                                  <a:schemeClr val="tx1"/>
                                </a:solidFill>
                                <a:effectLst/>
                                <a:latin typeface="Cambria Math" panose="02040503050406030204" pitchFamily="18" charset="0"/>
                                <a:ea typeface="+mn-ea"/>
                                <a:cs typeface="+mn-cs"/>
                              </a:rPr>
                              <m:t>2</m:t>
                            </m:r>
                          </m:den>
                        </m:f>
                      </m:sub>
                    </m:sSub>
                    <m:rad>
                      <m:radPr>
                        <m:degHide m:val="on"/>
                        <m:ctrlPr>
                          <a:rPr lang="es-ES" sz="2400" i="1" kern="1200">
                            <a:solidFill>
                              <a:schemeClr val="tx1"/>
                            </a:solidFill>
                            <a:effectLst/>
                            <a:latin typeface="Cambria Math" panose="02040503050406030204" pitchFamily="18" charset="0"/>
                            <a:ea typeface="+mn-ea"/>
                            <a:cs typeface="+mn-cs"/>
                          </a:rPr>
                        </m:ctrlPr>
                      </m:radPr>
                      <m:deg/>
                      <m:e>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2400" b="0" i="1" kern="1200" smtClean="0">
                                    <a:solidFill>
                                      <a:schemeClr val="tx1"/>
                                    </a:solidFill>
                                    <a:effectLst/>
                                    <a:latin typeface="Cambria Math" panose="02040503050406030204" pitchFamily="18" charset="0"/>
                                    <a:ea typeface="+mn-ea"/>
                                    <a:cs typeface="+mn-cs"/>
                                  </a:rPr>
                                  <m:t>𝑋</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𝑛</m:t>
                            </m:r>
                          </m:den>
                        </m:f>
                        <m:r>
                          <a:rPr lang="es-ES" sz="2400" i="1" kern="1200">
                            <a:solidFill>
                              <a:schemeClr val="tx1"/>
                            </a:solidFill>
                            <a:effectLst/>
                            <a:latin typeface="Cambria Math" panose="02040503050406030204" pitchFamily="18" charset="0"/>
                            <a:ea typeface="+mn-ea"/>
                            <a:cs typeface="+mn-cs"/>
                          </a:rPr>
                          <m:t>+</m:t>
                        </m:r>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i="1" kern="1200" smtClean="0">
                                    <a:solidFill>
                                      <a:schemeClr val="tx1"/>
                                    </a:solidFill>
                                    <a:effectLst/>
                                    <a:latin typeface="Cambria Math" panose="02040503050406030204" pitchFamily="18" charset="0"/>
                                    <a:ea typeface="Cambria Math" panose="02040503050406030204" pitchFamily="18" charset="0"/>
                                    <a:cs typeface="+mn-cs"/>
                                  </a:rPr>
                                  <m:t>𝜎</m:t>
                                </m:r>
                              </m:e>
                              <m:sub>
                                <m:r>
                                  <a:rPr lang="es-ES" sz="2400" b="0" i="1" kern="1200" smtClean="0">
                                    <a:solidFill>
                                      <a:schemeClr val="tx1"/>
                                    </a:solidFill>
                                    <a:effectLst/>
                                    <a:latin typeface="Cambria Math" panose="02040503050406030204" pitchFamily="18" charset="0"/>
                                    <a:ea typeface="+mn-ea"/>
                                    <a:cs typeface="+mn-cs"/>
                                  </a:rPr>
                                  <m:t>𝑌</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𝑚</m:t>
                            </m:r>
                          </m:den>
                        </m:f>
                      </m:e>
                    </m:rad>
                    <m:r>
                      <a:rPr lang="es-ES" sz="2400" b="0" i="0" kern="1200" smtClean="0">
                        <a:solidFill>
                          <a:schemeClr val="tx1"/>
                        </a:solidFill>
                        <a:effectLst/>
                        <a:latin typeface="Cambria Math" panose="02040503050406030204" pitchFamily="18" charset="0"/>
                        <a:ea typeface="+mn-ea"/>
                        <a:cs typeface="+mn-cs"/>
                      </a:rPr>
                      <m:t>=8.5+7.2+</m:t>
                    </m:r>
                  </m:oMath>
                </a14:m>
                <a:r>
                  <a:rPr lang="es-ES" dirty="0"/>
                  <a:t> </a:t>
                </a:r>
                <a14:m>
                  <m:oMath xmlns:m="http://schemas.openxmlformats.org/officeDocument/2006/math">
                    <m:r>
                      <a:rPr lang="es-ES" b="0" i="1" smtClean="0">
                        <a:latin typeface="Cambria Math" panose="02040503050406030204" pitchFamily="18" charset="0"/>
                      </a:rPr>
                      <m:t>1.64</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p>
                              <m:sSupPr>
                                <m:ctrlPr>
                                  <a:rPr lang="es-ES" i="1" smtClean="0">
                                    <a:latin typeface="Cambria Math" panose="02040503050406030204" pitchFamily="18" charset="0"/>
                                  </a:rPr>
                                </m:ctrlPr>
                              </m:sSupPr>
                              <m:e>
                                <m:r>
                                  <a:rPr lang="es-ES" b="0" i="1" smtClean="0">
                                    <a:latin typeface="Cambria Math" panose="02040503050406030204" pitchFamily="18" charset="0"/>
                                  </a:rPr>
                                  <m:t>1.8</m:t>
                                </m:r>
                              </m:e>
                              <m:sup>
                                <m:r>
                                  <a:rPr lang="es-ES" b="0" i="1" smtClean="0">
                                    <a:latin typeface="Cambria Math" panose="02040503050406030204" pitchFamily="18" charset="0"/>
                                  </a:rPr>
                                  <m:t>2</m:t>
                                </m:r>
                              </m:sup>
                            </m:sSup>
                          </m:num>
                          <m:den>
                            <m:r>
                              <a:rPr lang="es-ES" b="0" i="1" smtClean="0">
                                <a:latin typeface="Cambria Math" panose="02040503050406030204" pitchFamily="18" charset="0"/>
                              </a:rPr>
                              <m:t>50</m:t>
                            </m:r>
                          </m:den>
                        </m:f>
                        <m:r>
                          <a:rPr lang="es-ES" i="1">
                            <a:latin typeface="Cambria Math" panose="02040503050406030204" pitchFamily="18" charset="0"/>
                          </a:rPr>
                          <m:t>+</m:t>
                        </m:r>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1.8</m:t>
                                </m:r>
                              </m:e>
                              <m:sup>
                                <m:r>
                                  <a:rPr lang="es-ES" i="1">
                                    <a:latin typeface="Cambria Math" panose="02040503050406030204" pitchFamily="18" charset="0"/>
                                  </a:rPr>
                                  <m:t>2</m:t>
                                </m:r>
                              </m:sup>
                            </m:sSup>
                          </m:num>
                          <m:den>
                            <m:r>
                              <a:rPr lang="es-ES" i="1">
                                <a:latin typeface="Cambria Math" panose="02040503050406030204" pitchFamily="18" charset="0"/>
                              </a:rPr>
                              <m:t>50</m:t>
                            </m:r>
                          </m:den>
                        </m:f>
                      </m:e>
                    </m:rad>
                    <m:r>
                      <a:rPr lang="es-ES" b="0" i="1" smtClean="0">
                        <a:latin typeface="Cambria Math" panose="02040503050406030204" pitchFamily="18" charset="0"/>
                      </a:rPr>
                      <m:t>=1.3+0.6=1.9</m:t>
                    </m:r>
                  </m:oMath>
                </a14:m>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4079C3BD-0AF9-5F98-48BA-17CA272E22DC}"/>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2"/>
                <a:stretch>
                  <a:fillRect l="-174" t="-1368"/>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57</a:t>
            </a:fld>
            <a:endParaRPr lang="es-ES" dirty="0"/>
          </a:p>
        </p:txBody>
      </p:sp>
      <p:pic>
        <p:nvPicPr>
          <p:cNvPr id="18" name="Imagen 17">
            <a:extLst>
              <a:ext uri="{FF2B5EF4-FFF2-40B4-BE49-F238E27FC236}">
                <a16:creationId xmlns:a16="http://schemas.microsoft.com/office/drawing/2014/main" id="{C1E09FAC-992C-9092-7892-747F15CFF176}"/>
              </a:ext>
            </a:extLst>
          </p:cNvPr>
          <p:cNvPicPr>
            <a:picLocks noChangeAspect="1"/>
          </p:cNvPicPr>
          <p:nvPr/>
        </p:nvPicPr>
        <p:blipFill>
          <a:blip r:embed="rId3"/>
          <a:stretch>
            <a:fillRect/>
          </a:stretch>
        </p:blipFill>
        <p:spPr>
          <a:xfrm>
            <a:off x="9819695" y="2001198"/>
            <a:ext cx="2057400" cy="2272352"/>
          </a:xfrm>
          <a:prstGeom prst="rect">
            <a:avLst/>
          </a:prstGeom>
        </p:spPr>
      </p:pic>
      <p:sp>
        <p:nvSpPr>
          <p:cNvPr id="19" name="Elipse 18">
            <a:extLst>
              <a:ext uri="{FF2B5EF4-FFF2-40B4-BE49-F238E27FC236}">
                <a16:creationId xmlns:a16="http://schemas.microsoft.com/office/drawing/2014/main" id="{203D8BBB-C93C-EE61-4459-D1FBFACA1D43}"/>
              </a:ext>
            </a:extLst>
          </p:cNvPr>
          <p:cNvSpPr/>
          <p:nvPr/>
        </p:nvSpPr>
        <p:spPr>
          <a:xfrm>
            <a:off x="11476698" y="4077755"/>
            <a:ext cx="379141" cy="278781"/>
          </a:xfrm>
          <a:prstGeom prst="ellipse">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ángulo: esquinas redondeadas 19">
            <a:extLst>
              <a:ext uri="{FF2B5EF4-FFF2-40B4-BE49-F238E27FC236}">
                <a16:creationId xmlns:a16="http://schemas.microsoft.com/office/drawing/2014/main" id="{A79CEA57-E174-98D6-818A-DA40CF49CFAD}"/>
              </a:ext>
            </a:extLst>
          </p:cNvPr>
          <p:cNvSpPr/>
          <p:nvPr/>
        </p:nvSpPr>
        <p:spPr>
          <a:xfrm>
            <a:off x="11542181" y="2001198"/>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esquinas redondeadas 20">
            <a:extLst>
              <a:ext uri="{FF2B5EF4-FFF2-40B4-BE49-F238E27FC236}">
                <a16:creationId xmlns:a16="http://schemas.microsoft.com/office/drawing/2014/main" id="{CD60C388-7DFD-45FA-AFEE-3A7640EBC6C3}"/>
              </a:ext>
            </a:extLst>
          </p:cNvPr>
          <p:cNvSpPr/>
          <p:nvPr/>
        </p:nvSpPr>
        <p:spPr>
          <a:xfrm>
            <a:off x="9854295" y="4082769"/>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011417416"/>
      </p:ext>
    </p:extLst>
  </p:cSld>
  <p:clrMapOvr>
    <a:masterClrMapping/>
  </p:clrMapOvr>
  <mc:AlternateContent xmlns:mc="http://schemas.openxmlformats.org/markup-compatibility/2006" xmlns:p14="http://schemas.microsoft.com/office/powerpoint/2010/main">
    <mc:Choice Requires="p14">
      <p:transition spd="slow" p14:dur="2000" advTm="217034"/>
    </mc:Choice>
    <mc:Fallback xmlns="">
      <p:transition spd="slow" advTm="217034"/>
    </mc:Fallback>
  </mc:AlternateContent>
  <p:extLst>
    <p:ext uri="{3A86A75C-4F4B-4683-9AE1-C65F6400EC91}">
      <p14:laserTraceLst xmlns:p14="http://schemas.microsoft.com/office/powerpoint/2010/main">
        <p14:tracePtLst>
          <p14:tracePt t="3076" x="4584700" y="2324100"/>
          <p14:tracePt t="3080" x="4594225" y="2324100"/>
          <p14:tracePt t="3104" x="4602163" y="2324100"/>
          <p14:tracePt t="3112" x="4611688" y="2332038"/>
          <p14:tracePt t="3128" x="4629150" y="2332038"/>
          <p14:tracePt t="3144" x="4646613" y="2332038"/>
          <p14:tracePt t="3161" x="4689475" y="2349500"/>
          <p14:tracePt t="3177" x="4724400" y="2366963"/>
          <p14:tracePt t="3194" x="4751388" y="2384425"/>
          <p14:tracePt t="3211" x="4768850" y="2384425"/>
          <p14:tracePt t="3227" x="4776788" y="2384425"/>
          <p14:tracePt t="3244" x="4786313" y="2384425"/>
          <p14:tracePt t="3261" x="4794250" y="2384425"/>
          <p14:tracePt t="3277" x="4803775" y="2384425"/>
          <p14:tracePt t="3294" x="4821238" y="2384425"/>
          <p14:tracePt t="3311" x="4846638" y="2384425"/>
          <p14:tracePt t="3327" x="4873625" y="2376488"/>
          <p14:tracePt t="3329" x="4891088" y="2376488"/>
          <p14:tracePt t="3344" x="4933950" y="2366963"/>
          <p14:tracePt t="3361" x="4968875" y="2366963"/>
          <p14:tracePt t="3377" x="4995863" y="2341563"/>
          <p14:tracePt t="3394" x="4995863" y="2332038"/>
          <p14:tracePt t="3411" x="5013325" y="2314575"/>
          <p14:tracePt t="3427" x="5013325" y="2297113"/>
          <p14:tracePt t="3444" x="5013325" y="2279650"/>
          <p14:tracePt t="3461" x="5013325" y="2236788"/>
          <p14:tracePt t="3477" x="5013325" y="2219325"/>
          <p14:tracePt t="3494" x="5003800" y="2192338"/>
          <p14:tracePt t="3511" x="4978400" y="2184400"/>
          <p14:tracePt t="3527" x="4960938" y="2157413"/>
          <p14:tracePt t="3529" x="4951413" y="2157413"/>
          <p14:tracePt t="3544" x="4933950" y="2139950"/>
          <p14:tracePt t="3561" x="4916488" y="2132013"/>
          <p14:tracePt t="3577" x="4899025" y="2122488"/>
          <p14:tracePt t="3594" x="4881563" y="2105025"/>
          <p14:tracePt t="3611" x="4856163" y="2087563"/>
          <p14:tracePt t="3627" x="4838700" y="2079625"/>
          <p14:tracePt t="3644" x="4829175" y="2079625"/>
          <p14:tracePt t="3661" x="4829175" y="2070100"/>
          <p14:tracePt t="3677" x="4821238" y="2070100"/>
          <p14:tracePt t="3705" x="4811713" y="2070100"/>
          <p14:tracePt t="3729" x="4803775" y="2070100"/>
          <p14:tracePt t="3776" x="4794250" y="2070100"/>
          <p14:tracePt t="3801" x="4786313" y="2070100"/>
          <p14:tracePt t="3825" x="4776788" y="2070100"/>
          <p14:tracePt t="3832" x="4768850" y="2070100"/>
          <p14:tracePt t="3844" x="4759325" y="2070100"/>
          <p14:tracePt t="3861" x="4733925" y="2070100"/>
          <p14:tracePt t="3877" x="4706938" y="2070100"/>
          <p14:tracePt t="3894" x="4689475" y="2079625"/>
          <p14:tracePt t="3911" x="4637088" y="2087563"/>
          <p14:tracePt t="3927" x="4611688" y="2097088"/>
          <p14:tracePt t="3929" x="4602163" y="2097088"/>
          <p14:tracePt t="3944" x="4584700" y="2097088"/>
          <p14:tracePt t="3961" x="4576763" y="2105025"/>
          <p14:tracePt t="3977" x="4567238" y="2105025"/>
          <p14:tracePt t="3994" x="4559300" y="2114550"/>
          <p14:tracePt t="4040" x="4549775" y="2122488"/>
          <p14:tracePt t="4064" x="4549775" y="2139950"/>
          <p14:tracePt t="4072" x="4549775" y="2149475"/>
          <p14:tracePt t="4081" x="4549775" y="2166938"/>
          <p14:tracePt t="4094" x="4549775" y="2184400"/>
          <p14:tracePt t="4110" x="4549775" y="2201863"/>
          <p14:tracePt t="4113" x="4549775" y="2209800"/>
          <p14:tracePt t="4127" x="4549775" y="2219325"/>
          <p14:tracePt t="4128" x="4549775" y="2236788"/>
          <p14:tracePt t="4144" x="4549775" y="2244725"/>
          <p14:tracePt t="4161" x="4567238" y="2254250"/>
          <p14:tracePt t="4192" x="4576763" y="2254250"/>
          <p14:tracePt t="4256" x="4584700" y="2262188"/>
          <p14:tracePt t="4297" x="4594225" y="2262188"/>
          <p14:tracePt t="4305" x="4594225" y="2271713"/>
          <p14:tracePt t="4377" x="0" y="0"/>
        </p14:tracePtLst>
        <p14:tracePtLst>
          <p14:tracePt t="6692" x="3965575" y="2000250"/>
          <p14:tracePt t="6720" x="3973513" y="2000250"/>
          <p14:tracePt t="6729" x="3983038" y="2000250"/>
          <p14:tracePt t="6736" x="3990975" y="2000250"/>
          <p14:tracePt t="6744" x="4000500" y="2000250"/>
          <p14:tracePt t="6761" x="4017963" y="2000250"/>
          <p14:tracePt t="6777" x="4043363" y="2000250"/>
          <p14:tracePt t="6793" x="4087813" y="2000250"/>
          <p14:tracePt t="6810" x="4235450" y="2027238"/>
          <p14:tracePt t="6827" x="4402138" y="2062163"/>
          <p14:tracePt t="6844" x="4706938" y="2087563"/>
          <p14:tracePt t="6860" x="5048250" y="2122488"/>
          <p14:tracePt t="6878" x="5370513" y="2149475"/>
          <p14:tracePt t="6893" x="5589588" y="2149475"/>
          <p14:tracePt t="6910" x="5649913" y="2149475"/>
          <p14:tracePt t="6927" x="5676900" y="2149475"/>
          <p14:tracePt t="7921" x="0" y="0"/>
        </p14:tracePtLst>
        <p14:tracePtLst>
          <p14:tracePt t="10324" x="1885950" y="3311525"/>
          <p14:tracePt t="10344" x="1895475" y="3311525"/>
          <p14:tracePt t="10384" x="1903413" y="3311525"/>
          <p14:tracePt t="10424" x="1912938" y="3311525"/>
          <p14:tracePt t="10432" x="1930400" y="3319463"/>
          <p14:tracePt t="10444" x="1930400" y="3328988"/>
          <p14:tracePt t="10460" x="1965325" y="3346450"/>
          <p14:tracePt t="10476" x="2000250" y="3346450"/>
          <p14:tracePt t="10493" x="2043113" y="3354388"/>
          <p14:tracePt t="10510" x="2078038" y="3363913"/>
          <p14:tracePt t="10526" x="2095500" y="3363913"/>
          <p14:tracePt t="10544" x="2095500" y="3371850"/>
          <p14:tracePt t="10592" x="2105025" y="3371850"/>
          <p14:tracePt t="10624" x="2112963" y="3371850"/>
          <p14:tracePt t="10649" x="2122488" y="3381375"/>
          <p14:tracePt t="10673" x="2130425" y="3381375"/>
          <p14:tracePt t="10713" x="2139950" y="3381375"/>
          <p14:tracePt t="10760" x="2147888" y="3381375"/>
          <p14:tracePt t="10785" x="2157413" y="3381375"/>
          <p14:tracePt t="10792" x="2174875" y="3381375"/>
          <p14:tracePt t="10808" x="2182813" y="3381375"/>
          <p14:tracePt t="10816" x="2209800" y="3381375"/>
          <p14:tracePt t="10826" x="2217738" y="3381375"/>
          <p14:tracePt t="10843" x="2270125" y="3381375"/>
          <p14:tracePt t="10860" x="2305050" y="3381375"/>
          <p14:tracePt t="10876" x="2332038" y="3381375"/>
          <p14:tracePt t="10893" x="2366963" y="3389313"/>
          <p14:tracePt t="10921" x="2374900" y="3389313"/>
          <p14:tracePt t="11032" x="2384425" y="3389313"/>
          <p14:tracePt t="11049" x="2392363" y="3389313"/>
          <p14:tracePt t="11056" x="2401888" y="3389313"/>
          <p14:tracePt t="11064" x="2409825" y="3389313"/>
          <p14:tracePt t="11077" x="2419350" y="3389313"/>
          <p14:tracePt t="11093" x="2436813" y="3389313"/>
          <p14:tracePt t="11109" x="2471738" y="3389313"/>
          <p14:tracePt t="11126" x="2506663" y="3389313"/>
          <p14:tracePt t="11143" x="2532063" y="3389313"/>
          <p14:tracePt t="11160" x="2559050" y="3389313"/>
          <p14:tracePt t="11161" x="2566988" y="3389313"/>
          <p14:tracePt t="11177" x="2576513" y="3381375"/>
          <p14:tracePt t="11193" x="2584450" y="3381375"/>
          <p14:tracePt t="11210" x="2593975" y="3381375"/>
          <p14:tracePt t="11226" x="2593975" y="3371850"/>
          <p14:tracePt t="11243" x="2601913" y="3371850"/>
          <p14:tracePt t="11273" x="2611438" y="3371850"/>
          <p14:tracePt t="11296" x="2619375" y="3371850"/>
          <p14:tracePt t="11304" x="2628900" y="3363913"/>
          <p14:tracePt t="11321" x="2636838" y="3354388"/>
          <p14:tracePt t="11329" x="2646363" y="3346450"/>
          <p14:tracePt t="11344" x="2654300" y="3346450"/>
          <p14:tracePt t="11360" x="2654300" y="3336925"/>
          <p14:tracePt t="11361" x="2663825" y="3328988"/>
          <p14:tracePt t="11376" x="2671763" y="3319463"/>
          <p14:tracePt t="11393" x="2671763" y="3302000"/>
          <p14:tracePt t="11409" x="2671763" y="3284538"/>
          <p14:tracePt t="11426" x="2681288" y="3259138"/>
          <p14:tracePt t="11443" x="2681288" y="3249613"/>
          <p14:tracePt t="11459" x="2671763" y="3224213"/>
          <p14:tracePt t="11476" x="2654300" y="3197225"/>
          <p14:tracePt t="11493" x="2646363" y="3179763"/>
          <p14:tracePt t="11509" x="2619375" y="3144838"/>
          <p14:tracePt t="11526" x="2611438" y="3136900"/>
          <p14:tracePt t="11543" x="2593975" y="3119438"/>
          <p14:tracePt t="11545" x="2576513" y="3119438"/>
          <p14:tracePt t="11559" x="2576513" y="3109913"/>
          <p14:tracePt t="11561" x="2576513" y="3101975"/>
          <p14:tracePt t="11576" x="2559050" y="3101975"/>
          <p14:tracePt t="11592" x="2549525" y="3092450"/>
          <p14:tracePt t="11609" x="2532063" y="3084513"/>
          <p14:tracePt t="11626" x="2497138" y="3074988"/>
          <p14:tracePt t="11643" x="2479675" y="3067050"/>
          <p14:tracePt t="11660" x="2454275" y="3057525"/>
          <p14:tracePt t="11676" x="2436813" y="3049588"/>
          <p14:tracePt t="11693" x="2409825" y="3040063"/>
          <p14:tracePt t="11709" x="2392363" y="3040063"/>
          <p14:tracePt t="11726" x="2366963" y="3022600"/>
          <p14:tracePt t="11743" x="2339975" y="3014663"/>
          <p14:tracePt t="11745" x="2332038" y="3014663"/>
          <p14:tracePt t="11760" x="2314575" y="3014663"/>
          <p14:tracePt t="11761" x="2279650" y="3005138"/>
          <p14:tracePt t="11777" x="2262188" y="3005138"/>
          <p14:tracePt t="11793" x="2217738" y="3005138"/>
          <p14:tracePt t="11809" x="2192338" y="3005138"/>
          <p14:tracePt t="11826" x="2174875" y="2997200"/>
          <p14:tracePt t="11843" x="2165350" y="2997200"/>
          <p14:tracePt t="11859" x="2147888" y="3005138"/>
          <p14:tracePt t="11876" x="2139950" y="3014663"/>
          <p14:tracePt t="11893" x="2112963" y="3040063"/>
          <p14:tracePt t="11910" x="2087563" y="3067050"/>
          <p14:tracePt t="11926" x="2052638" y="3127375"/>
          <p14:tracePt t="11943" x="2017713" y="3154363"/>
          <p14:tracePt t="11944" x="2017713" y="3171825"/>
          <p14:tracePt t="11959" x="2017713" y="3189288"/>
          <p14:tracePt t="11961" x="2017713" y="3197225"/>
          <p14:tracePt t="11976" x="2017713" y="3241675"/>
          <p14:tracePt t="11993" x="2017713" y="3267075"/>
          <p14:tracePt t="12009" x="2035175" y="3284538"/>
          <p14:tracePt t="12026" x="2052638" y="3311525"/>
          <p14:tracePt t="12043" x="2087563" y="3311525"/>
          <p14:tracePt t="12059" x="2139950" y="3328988"/>
          <p14:tracePt t="12076" x="2147888" y="3328988"/>
          <p14:tracePt t="12093" x="2157413" y="3328988"/>
          <p14:tracePt t="12304" x="2165350" y="3328988"/>
          <p14:tracePt t="12313" x="2174875" y="3328988"/>
          <p14:tracePt t="12336" x="2182813" y="3328988"/>
          <p14:tracePt t="12345" x="2192338" y="3328988"/>
          <p14:tracePt t="12392" x="2200275" y="3328988"/>
          <p14:tracePt t="12441" x="2209800" y="3328988"/>
          <p14:tracePt t="12464" x="2217738" y="3328988"/>
          <p14:tracePt t="12473" x="2217738" y="3319463"/>
          <p14:tracePt t="12592" x="2217738" y="3311525"/>
          <p14:tracePt t="12929" x="2227263" y="3311525"/>
          <p14:tracePt t="13024" x="2235200" y="3311525"/>
          <p14:tracePt t="13032" x="2252663" y="3311525"/>
          <p14:tracePt t="13043" x="2262188" y="3311525"/>
          <p14:tracePt t="13059" x="2287588" y="3302000"/>
          <p14:tracePt t="13076" x="2305050" y="3302000"/>
          <p14:tracePt t="13092" x="2305050" y="3294063"/>
          <p14:tracePt t="13109" x="2322513" y="3284538"/>
          <p14:tracePt t="13126" x="2349500" y="3284538"/>
          <p14:tracePt t="13153" x="2349500" y="3276600"/>
          <p14:tracePt t="13160" x="2357438" y="3276600"/>
          <p14:tracePt t="13176" x="2366963" y="3276600"/>
          <p14:tracePt t="13200" x="2374900" y="3276600"/>
          <p14:tracePt t="13232" x="2384425" y="3276600"/>
          <p14:tracePt t="13241" x="2392363" y="3267075"/>
          <p14:tracePt t="13273" x="2401888" y="3267075"/>
          <p14:tracePt t="13281" x="2401888" y="3259138"/>
          <p14:tracePt t="13313" x="2409825" y="3259138"/>
          <p14:tracePt t="13666" x="0" y="0"/>
        </p14:tracePtLst>
        <p14:tracePtLst>
          <p14:tracePt t="15141" x="1309688" y="2184400"/>
          <p14:tracePt t="15152" x="1309688" y="2174875"/>
          <p14:tracePt t="15200" x="1309688" y="2166938"/>
          <p14:tracePt t="15225" x="1309688" y="2157413"/>
          <p14:tracePt t="15273" x="1309688" y="2139950"/>
          <p14:tracePt t="15280" x="1301750" y="2122488"/>
          <p14:tracePt t="15288" x="1292225" y="2114550"/>
          <p14:tracePt t="15296" x="1292225" y="2105025"/>
          <p14:tracePt t="15309" x="1284288" y="2087563"/>
          <p14:tracePt t="15326" x="1257300" y="2070100"/>
          <p14:tracePt t="15342" x="1239838" y="2052638"/>
          <p14:tracePt t="15359" x="1231900" y="2035175"/>
          <p14:tracePt t="15376" x="1204913" y="2017713"/>
          <p14:tracePt t="15377" x="1196975" y="2017713"/>
          <p14:tracePt t="15392" x="1187450" y="2009775"/>
          <p14:tracePt t="15409" x="1179513" y="2009775"/>
          <p14:tracePt t="15426" x="1144588" y="2009775"/>
          <p14:tracePt t="15442" x="1117600" y="2009775"/>
          <p14:tracePt t="15459" x="1100138" y="2009775"/>
          <p14:tracePt t="15476" x="1074738" y="2017713"/>
          <p14:tracePt t="15493" x="1047750" y="2017713"/>
          <p14:tracePt t="15509" x="1047750" y="2027238"/>
          <p14:tracePt t="15526" x="1039813" y="2035175"/>
          <p14:tracePt t="15542" x="1030288" y="2035175"/>
          <p14:tracePt t="15559" x="1022350" y="2052638"/>
          <p14:tracePt t="15576" x="1012825" y="2062163"/>
          <p14:tracePt t="15577" x="1004888" y="2070100"/>
          <p14:tracePt t="15593" x="995363" y="2087563"/>
          <p14:tracePt t="15609" x="977900" y="2122488"/>
          <p14:tracePt t="15625" x="969963" y="2139950"/>
          <p14:tracePt t="15642" x="960438" y="2149475"/>
          <p14:tracePt t="15659" x="952500" y="2174875"/>
          <p14:tracePt t="15676" x="942975" y="2201863"/>
          <p14:tracePt t="15692" x="942975" y="2219325"/>
          <p14:tracePt t="15709" x="942975" y="2236788"/>
          <p14:tracePt t="15726" x="942975" y="2254250"/>
          <p14:tracePt t="15742" x="952500" y="2262188"/>
          <p14:tracePt t="15744" x="960438" y="2271713"/>
          <p14:tracePt t="15759" x="969963" y="2279650"/>
          <p14:tracePt t="15760" x="977900" y="2297113"/>
          <p14:tracePt t="15776" x="987425" y="2306638"/>
          <p14:tracePt t="15777" x="1004888" y="2324100"/>
          <p14:tracePt t="15793" x="1030288" y="2341563"/>
          <p14:tracePt t="15809" x="1065213" y="2366963"/>
          <p14:tracePt t="15825" x="1082675" y="2384425"/>
          <p14:tracePt t="15842" x="1100138" y="2393950"/>
          <p14:tracePt t="15859" x="1127125" y="2401888"/>
          <p14:tracePt t="15876" x="1135063" y="2419350"/>
          <p14:tracePt t="15892" x="1144588" y="2428875"/>
          <p14:tracePt t="15909" x="1169988" y="2428875"/>
          <p14:tracePt t="15926" x="1169988" y="2436813"/>
          <p14:tracePt t="15942" x="1179513" y="2436813"/>
          <p14:tracePt t="15959" x="1187450" y="2436813"/>
          <p14:tracePt t="15976" x="1196975" y="2446338"/>
          <p14:tracePt t="15977" x="1204913" y="2446338"/>
          <p14:tracePt t="15992" x="1214438" y="2446338"/>
          <p14:tracePt t="16024" x="1222375" y="2446338"/>
          <p14:tracePt t="16033" x="1231900" y="2436813"/>
          <p14:tracePt t="16042" x="1239838" y="2436813"/>
          <p14:tracePt t="16059" x="1249363" y="2411413"/>
          <p14:tracePt t="16076" x="1266825" y="2401888"/>
          <p14:tracePt t="16092" x="1284288" y="2366963"/>
          <p14:tracePt t="16109" x="1309688" y="2349500"/>
          <p14:tracePt t="16126" x="1319213" y="2332038"/>
          <p14:tracePt t="16142" x="1327150" y="2324100"/>
          <p14:tracePt t="16144" x="1327150" y="2314575"/>
          <p14:tracePt t="16159" x="1327150" y="2306638"/>
          <p14:tracePt t="16177" x="1327150" y="2297113"/>
          <p14:tracePt t="16192" x="1327150" y="2289175"/>
          <p14:tracePt t="16209" x="1327150" y="2279650"/>
          <p14:tracePt t="16226" x="1327150" y="2262188"/>
          <p14:tracePt t="16249" x="1327150" y="2254250"/>
          <p14:tracePt t="16297" x="1327150" y="2244725"/>
          <p14:tracePt t="16385" x="1327150" y="2236788"/>
          <p14:tracePt t="16634" x="0" y="0"/>
        </p14:tracePtLst>
        <p14:tracePtLst>
          <p14:tracePt t="20957" x="995363" y="2663825"/>
          <p14:tracePt t="20960" x="1012825" y="2673350"/>
          <p14:tracePt t="20974" x="1022350" y="2681288"/>
          <p14:tracePt t="20991" x="1065213" y="2698750"/>
          <p14:tracePt t="20993" x="1074738" y="2708275"/>
          <p14:tracePt t="21008" x="1127125" y="2708275"/>
          <p14:tracePt t="21025" x="1162050" y="2716213"/>
          <p14:tracePt t="21041" x="1214438" y="2725738"/>
          <p14:tracePt t="21058" x="1231900" y="2733675"/>
          <p14:tracePt t="21074" x="1301750" y="2743200"/>
          <p14:tracePt t="21091" x="1336675" y="2752725"/>
          <p14:tracePt t="21108" x="1379538" y="2752725"/>
          <p14:tracePt t="21125" x="1414463" y="2752725"/>
          <p14:tracePt t="21141" x="1449388" y="2752725"/>
          <p14:tracePt t="21158" x="1501775" y="2743200"/>
          <p14:tracePt t="21174" x="1536700" y="2716213"/>
          <p14:tracePt t="21176" x="1554163" y="2708275"/>
          <p14:tracePt t="21191" x="1571625" y="2690813"/>
          <p14:tracePt t="21192" x="1581150" y="2673350"/>
          <p14:tracePt t="21208" x="1581150" y="2663825"/>
          <p14:tracePt t="21224" x="1589088" y="2646363"/>
          <p14:tracePt t="21241" x="1589088" y="2628900"/>
          <p14:tracePt t="21258" x="1589088" y="2586038"/>
          <p14:tracePt t="21275" x="1581150" y="2568575"/>
          <p14:tracePt t="21291" x="1571625" y="2541588"/>
          <p14:tracePt t="21308" x="1546225" y="2506663"/>
          <p14:tracePt t="21324" x="1519238" y="2471738"/>
          <p14:tracePt t="21341" x="1493838" y="2446338"/>
          <p14:tracePt t="21358" x="1458913" y="2411413"/>
          <p14:tracePt t="21375" x="1431925" y="2393950"/>
          <p14:tracePt t="21377" x="1423988" y="2384425"/>
          <p14:tracePt t="21391" x="1414463" y="2366963"/>
          <p14:tracePt t="21393" x="1397000" y="2349500"/>
          <p14:tracePt t="21408" x="1362075" y="2324100"/>
          <p14:tracePt t="21425" x="1336675" y="2306638"/>
          <p14:tracePt t="21441" x="1319213" y="2297113"/>
          <p14:tracePt t="21458" x="1309688" y="2289175"/>
          <p14:tracePt t="21475" x="1292225" y="2289175"/>
          <p14:tracePt t="21491" x="1284288" y="2289175"/>
          <p14:tracePt t="21508" x="1274763" y="2289175"/>
          <p14:tracePt t="21524" x="1257300" y="2289175"/>
          <p14:tracePt t="21541" x="1249363" y="2289175"/>
          <p14:tracePt t="21558" x="1222375" y="2306638"/>
          <p14:tracePt t="21575" x="1204913" y="2324100"/>
          <p14:tracePt t="21576" x="1187450" y="2332038"/>
          <p14:tracePt t="21592" x="1162050" y="2349500"/>
          <p14:tracePt t="21593" x="1152525" y="2366963"/>
          <p14:tracePt t="21608" x="1117600" y="2411413"/>
          <p14:tracePt t="21625" x="1100138" y="2446338"/>
          <p14:tracePt t="21641" x="1082675" y="2471738"/>
          <p14:tracePt t="21658" x="1057275" y="2506663"/>
          <p14:tracePt t="21675" x="1047750" y="2524125"/>
          <p14:tracePt t="21691" x="1039813" y="2533650"/>
          <p14:tracePt t="21708" x="1039813" y="2541588"/>
          <p14:tracePt t="21725" x="1047750" y="2551113"/>
          <p14:tracePt t="21741" x="1057275" y="2551113"/>
          <p14:tracePt t="21758" x="1092200" y="2559050"/>
          <p14:tracePt t="21775" x="1127125" y="2568575"/>
          <p14:tracePt t="21777" x="1135063" y="2576513"/>
          <p14:tracePt t="21791" x="1152525" y="2586038"/>
          <p14:tracePt t="21793" x="1162050" y="2586038"/>
          <p14:tracePt t="21808" x="1169988" y="2593975"/>
          <p14:tracePt t="21825" x="1179513" y="2593975"/>
          <p14:tracePt t="21841" x="1187450" y="2593975"/>
          <p14:tracePt t="21858" x="1196975" y="2593975"/>
          <p14:tracePt t="21896" x="1204913" y="2593975"/>
          <p14:tracePt t="21920" x="1214438" y="2593975"/>
          <p14:tracePt t="21928" x="1222375" y="2593975"/>
          <p14:tracePt t="22009" x="0" y="0"/>
        </p14:tracePtLst>
        <p14:tracePtLst>
          <p14:tracePt t="22460" x="1528763" y="2576513"/>
          <p14:tracePt t="22489" x="1536700" y="2576513"/>
          <p14:tracePt t="22496" x="1546225" y="2576513"/>
          <p14:tracePt t="22513" x="1554163" y="2576513"/>
          <p14:tracePt t="22528" x="1563688" y="2576513"/>
          <p14:tracePt t="22541" x="1589088" y="2576513"/>
          <p14:tracePt t="22558" x="1703388" y="2593975"/>
          <p14:tracePt t="22574" x="1920875" y="2611438"/>
          <p14:tracePt t="22591" x="2112963" y="2628900"/>
          <p14:tracePt t="22593" x="2270125" y="2638425"/>
          <p14:tracePt t="22608" x="2506663" y="2655888"/>
          <p14:tracePt t="22624" x="2794000" y="2663825"/>
          <p14:tracePt t="22641" x="2968625" y="2663825"/>
          <p14:tracePt t="22658" x="3117850" y="2663825"/>
          <p14:tracePt t="22674" x="3170238" y="2663825"/>
          <p14:tracePt t="22691" x="3222625" y="2663825"/>
          <p14:tracePt t="22708" x="3249613" y="2663825"/>
          <p14:tracePt t="22724" x="3292475" y="2663825"/>
          <p14:tracePt t="22741" x="3354388" y="2663825"/>
          <p14:tracePt t="22758" x="3424238" y="2663825"/>
          <p14:tracePt t="22774" x="3563938" y="2663825"/>
          <p14:tracePt t="22791" x="3738563" y="2673350"/>
          <p14:tracePt t="22792" x="3756025" y="2673350"/>
          <p14:tracePt t="22808" x="3886200" y="2673350"/>
          <p14:tracePt t="22809" x="4000500" y="2673350"/>
          <p14:tracePt t="22825" x="4148138" y="2673350"/>
          <p14:tracePt t="22841" x="4244975" y="2681288"/>
          <p14:tracePt t="22858" x="4279900" y="2681288"/>
          <p14:tracePt t="22874" x="4297363" y="2681288"/>
          <p14:tracePt t="22891" x="4305300" y="2681288"/>
          <p14:tracePt t="23073" x="4314825" y="2681288"/>
          <p14:tracePt t="23609" x="4322763" y="2681288"/>
          <p14:tracePt t="23616" x="4445000" y="2663825"/>
          <p14:tracePt t="23624" x="4462463" y="2646363"/>
          <p14:tracePt t="23641" x="4532313" y="2638425"/>
          <p14:tracePt t="23658" x="4541838" y="2628900"/>
          <p14:tracePt t="23675" x="4559300" y="2620963"/>
          <p14:tracePt t="23691" x="4576763" y="2620963"/>
          <p14:tracePt t="23880" x="4584700" y="2620963"/>
          <p14:tracePt t="23896" x="4594225" y="2620963"/>
          <p14:tracePt t="23920" x="4602163" y="2620963"/>
          <p14:tracePt t="23936" x="4611688" y="2620963"/>
          <p14:tracePt t="23944" x="4619625" y="2620963"/>
          <p14:tracePt t="23969" x="4629150" y="2620963"/>
          <p14:tracePt t="23984" x="4637088" y="2620963"/>
          <p14:tracePt t="23992" x="4646613" y="2620963"/>
          <p14:tracePt t="24008" x="4654550" y="2620963"/>
          <p14:tracePt t="24016" x="4664075" y="2620963"/>
          <p14:tracePt t="24040" x="4681538" y="2620963"/>
          <p14:tracePt t="24048" x="4689475" y="2620963"/>
          <p14:tracePt t="24057" x="4699000" y="2620963"/>
          <p14:tracePt t="24074" x="4716463" y="2620963"/>
          <p14:tracePt t="24091" x="4751388" y="2628900"/>
          <p14:tracePt t="24108" x="4829175" y="2628900"/>
          <p14:tracePt t="24124" x="4864100" y="2638425"/>
          <p14:tracePt t="24141" x="4916488" y="2646363"/>
          <p14:tracePt t="24158" x="4986338" y="2646363"/>
          <p14:tracePt t="24174" x="5030788" y="2646363"/>
          <p14:tracePt t="24191" x="5056188" y="2655888"/>
          <p14:tracePt t="24193" x="5065713" y="2655888"/>
          <p14:tracePt t="24209" x="5083175" y="2655888"/>
          <p14:tracePt t="24224" x="5108575" y="2655888"/>
          <p14:tracePt t="24241" x="5118100" y="2655888"/>
          <p14:tracePt t="24258" x="5143500" y="2655888"/>
          <p14:tracePt t="24274" x="5170488" y="2655888"/>
          <p14:tracePt t="24291" x="5222875" y="2663825"/>
          <p14:tracePt t="24308" x="5335588" y="2663825"/>
          <p14:tracePt t="24324" x="5457825" y="2663825"/>
          <p14:tracePt t="24341" x="5527675" y="2663825"/>
          <p14:tracePt t="24358" x="5641975" y="2673350"/>
          <p14:tracePt t="24374" x="5772150" y="2673350"/>
          <p14:tracePt t="24391" x="5807075" y="2673350"/>
          <p14:tracePt t="24392" x="5842000" y="2673350"/>
          <p14:tracePt t="24408" x="5859463" y="2673350"/>
          <p14:tracePt t="24409" x="5868988" y="2673350"/>
          <p14:tracePt t="24424" x="5903913" y="2681288"/>
          <p14:tracePt t="24441" x="5946775" y="2681288"/>
          <p14:tracePt t="24457" x="5981700" y="2681288"/>
          <p14:tracePt t="24474" x="6043613" y="2690813"/>
          <p14:tracePt t="24491" x="6165850" y="2690813"/>
          <p14:tracePt t="24507" x="6280150" y="2690813"/>
          <p14:tracePt t="24524" x="6375400" y="2690813"/>
          <p14:tracePt t="24541" x="6507163" y="2698750"/>
          <p14:tracePt t="24557" x="6619875" y="2698750"/>
          <p14:tracePt t="24574" x="6716713" y="2698750"/>
          <p14:tracePt t="24591" x="6846888" y="2708275"/>
          <p14:tracePt t="24592" x="6899275" y="2708275"/>
          <p14:tracePt t="24608" x="6951663" y="2708275"/>
          <p14:tracePt t="24610" x="7118350" y="2725738"/>
          <p14:tracePt t="24625" x="7345363" y="2733675"/>
          <p14:tracePt t="24641" x="7632700" y="2752725"/>
          <p14:tracePt t="24657" x="7939088" y="2752725"/>
          <p14:tracePt t="24674" x="8051800" y="2752725"/>
          <p14:tracePt t="24691" x="8131175" y="2752725"/>
          <p14:tracePt t="24707" x="8156575" y="2752725"/>
          <p14:tracePt t="24724" x="8174038" y="2752725"/>
          <p14:tracePt t="24937" x="0" y="0"/>
        </p14:tracePtLst>
        <p14:tracePtLst>
          <p14:tracePt t="26252" x="1152525" y="2909888"/>
          <p14:tracePt t="26281" x="1162050" y="2909888"/>
          <p14:tracePt t="26297" x="1179513" y="2909888"/>
          <p14:tracePt t="26305" x="1179513" y="2900363"/>
          <p14:tracePt t="26312" x="1187450" y="2900363"/>
          <p14:tracePt t="26324" x="1204913" y="2892425"/>
          <p14:tracePt t="26341" x="1222375" y="2892425"/>
          <p14:tracePt t="26361" x="1231900" y="2882900"/>
          <p14:tracePt t="26374" x="1239838" y="2882900"/>
          <p14:tracePt t="26390" x="1266825" y="2892425"/>
          <p14:tracePt t="26407" x="1327150" y="2892425"/>
          <p14:tracePt t="26408" x="1389063" y="2900363"/>
          <p14:tracePt t="26424" x="1458913" y="2909888"/>
          <p14:tracePt t="26440" x="1641475" y="2917825"/>
          <p14:tracePt t="26457" x="1825625" y="2917825"/>
          <p14:tracePt t="26474" x="2035175" y="2935288"/>
          <p14:tracePt t="26490" x="2165350" y="2944813"/>
          <p14:tracePt t="26507" x="2200275" y="2944813"/>
          <p14:tracePt t="26524" x="2209800" y="2944813"/>
          <p14:tracePt t="26921" x="0" y="0"/>
        </p14:tracePtLst>
        <p14:tracePtLst>
          <p14:tracePt t="27941" x="1965325" y="2900363"/>
          <p14:tracePt t="27976" x="1973263" y="2900363"/>
          <p14:tracePt t="28025" x="1990725" y="2909888"/>
          <p14:tracePt t="28032" x="2008188" y="2917825"/>
          <p14:tracePt t="28041" x="2017713" y="2917825"/>
          <p14:tracePt t="28057" x="2060575" y="2927350"/>
          <p14:tracePt t="28074" x="2095500" y="2944813"/>
          <p14:tracePt t="28091" x="2147888" y="2944813"/>
          <p14:tracePt t="28107" x="2165350" y="2944813"/>
          <p14:tracePt t="28124" x="2182813" y="2935288"/>
          <p14:tracePt t="28140" x="2200275" y="2917825"/>
          <p14:tracePt t="28157" x="2209800" y="2917825"/>
          <p14:tracePt t="28173" x="2235200" y="2882900"/>
          <p14:tracePt t="28190" x="2244725" y="2865438"/>
          <p14:tracePt t="28207" x="2262188" y="2847975"/>
          <p14:tracePt t="28208" x="2262188" y="2830513"/>
          <p14:tracePt t="28224" x="2270125" y="2813050"/>
          <p14:tracePt t="28225" x="2279650" y="2813050"/>
          <p14:tracePt t="28241" x="2279650" y="2770188"/>
          <p14:tracePt t="28257" x="2279650" y="2725738"/>
          <p14:tracePt t="28273" x="2279650" y="2708275"/>
          <p14:tracePt t="28290" x="2270125" y="2690813"/>
          <p14:tracePt t="28307" x="2252663" y="2673350"/>
          <p14:tracePt t="28324" x="2235200" y="2663825"/>
          <p14:tracePt t="28340" x="2217738" y="2646363"/>
          <p14:tracePt t="28357" x="2200275" y="2646363"/>
          <p14:tracePt t="28374" x="2192338" y="2646363"/>
          <p14:tracePt t="28390" x="2174875" y="2646363"/>
          <p14:tracePt t="28393" x="2165350" y="2646363"/>
          <p14:tracePt t="28407" x="2157413" y="2646363"/>
          <p14:tracePt t="28408" x="2139950" y="2646363"/>
          <p14:tracePt t="28423" x="2130425" y="2646363"/>
          <p14:tracePt t="28424" x="2112963" y="2646363"/>
          <p14:tracePt t="28440" x="2087563" y="2655888"/>
          <p14:tracePt t="28457" x="2052638" y="2681288"/>
          <p14:tracePt t="28473" x="2035175" y="2708275"/>
          <p14:tracePt t="28490" x="2017713" y="2716213"/>
          <p14:tracePt t="28507" x="2008188" y="2725738"/>
          <p14:tracePt t="28524" x="2000250" y="2743200"/>
          <p14:tracePt t="28540" x="1990725" y="2752725"/>
          <p14:tracePt t="28557" x="1982788" y="2770188"/>
          <p14:tracePt t="28574" x="1965325" y="2795588"/>
          <p14:tracePt t="28590" x="1965325" y="2822575"/>
          <p14:tracePt t="28607" x="1965325" y="2840038"/>
          <p14:tracePt t="28608" x="1965325" y="2847975"/>
          <p14:tracePt t="28633" x="1982788" y="2847975"/>
          <p14:tracePt t="28648" x="2000250" y="2857500"/>
          <p14:tracePt t="28657" x="2008188" y="2865438"/>
          <p14:tracePt t="28674" x="2035175" y="2874963"/>
          <p14:tracePt t="28690" x="2052638" y="2874963"/>
          <p14:tracePt t="28707" x="2060575" y="2874963"/>
          <p14:tracePt t="28905" x="0" y="0"/>
        </p14:tracePtLst>
        <p14:tracePtLst>
          <p14:tracePt t="34668" x="1187450" y="3311525"/>
          <p14:tracePt t="34729" x="1214438" y="3319463"/>
          <p14:tracePt t="34736" x="1222375" y="3319463"/>
          <p14:tracePt t="34745" x="1231900" y="3319463"/>
          <p14:tracePt t="34756" x="1239838" y="3319463"/>
          <p14:tracePt t="34773" x="1257300" y="3319463"/>
          <p14:tracePt t="34789" x="1292225" y="3319463"/>
          <p14:tracePt t="34806" x="1319213" y="3319463"/>
          <p14:tracePt t="34822" x="1344613" y="3319463"/>
          <p14:tracePt t="34839" x="1371600" y="3319463"/>
          <p14:tracePt t="34841" x="1389063" y="3328988"/>
          <p14:tracePt t="34856" x="1449388" y="3346450"/>
          <p14:tracePt t="34872" x="1571625" y="3363913"/>
          <p14:tracePt t="34889" x="1720850" y="3381375"/>
          <p14:tracePt t="34906" x="1833563" y="3381375"/>
          <p14:tracePt t="34922" x="1930400" y="3398838"/>
          <p14:tracePt t="34939" x="1965325" y="3398838"/>
          <p14:tracePt t="34956" x="1982788" y="3398838"/>
          <p14:tracePt t="35201" x="2000250" y="3398838"/>
          <p14:tracePt t="35209" x="2060575" y="3398838"/>
          <p14:tracePt t="35216" x="2087563" y="3389313"/>
          <p14:tracePt t="35225" x="2112963" y="3389313"/>
          <p14:tracePt t="35239" x="2147888" y="3389313"/>
          <p14:tracePt t="35240" x="2165350" y="3389313"/>
          <p14:tracePt t="35256" x="2217738" y="3389313"/>
          <p14:tracePt t="35273" x="2235200" y="3381375"/>
          <p14:tracePt t="35465" x="2227263" y="3381375"/>
          <p14:tracePt t="35468" x="0" y="0"/>
        </p14:tracePtLst>
        <p14:tracePtLst>
          <p14:tracePt t="36693" x="1162050" y="3563938"/>
          <p14:tracePt t="36720" x="1196975" y="3563938"/>
          <p14:tracePt t="36728" x="1222375" y="3563938"/>
          <p14:tracePt t="36739" x="1239838" y="3573463"/>
          <p14:tracePt t="36755" x="1274763" y="3581400"/>
          <p14:tracePt t="36772" x="1309688" y="3590925"/>
          <p14:tracePt t="36789" x="1336675" y="3598863"/>
          <p14:tracePt t="36806" x="1354138" y="3598863"/>
          <p14:tracePt t="36822" x="1362075" y="3598863"/>
          <p14:tracePt t="36839" x="1379538" y="3598863"/>
          <p14:tracePt t="36897" x="1389063" y="3598863"/>
          <p14:tracePt t="36936" x="1389063" y="3590925"/>
          <p14:tracePt t="36952" x="1389063" y="3581400"/>
          <p14:tracePt t="36961" x="1397000" y="3581400"/>
          <p14:tracePt t="36972" x="1406525" y="3563938"/>
          <p14:tracePt t="36989" x="1423988" y="3556000"/>
          <p14:tracePt t="37005" x="1423988" y="3529013"/>
          <p14:tracePt t="37022" x="1441450" y="3511550"/>
          <p14:tracePt t="37040" x="1449388" y="3486150"/>
          <p14:tracePt t="37056" x="1449388" y="3468688"/>
          <p14:tracePt t="37072" x="1449388" y="3441700"/>
          <p14:tracePt t="37089" x="1441450" y="3416300"/>
          <p14:tracePt t="37105" x="1423988" y="3398838"/>
          <p14:tracePt t="37122" x="1406525" y="3381375"/>
          <p14:tracePt t="37139" x="1397000" y="3363913"/>
          <p14:tracePt t="37156" x="1389063" y="3354388"/>
          <p14:tracePt t="37172" x="1379538" y="3346450"/>
          <p14:tracePt t="37189" x="1379538" y="3336925"/>
          <p14:tracePt t="37206" x="1371600" y="3336925"/>
          <p14:tracePt t="37222" x="1362075" y="3336925"/>
          <p14:tracePt t="37239" x="1336675" y="3328988"/>
          <p14:tracePt t="37256" x="1309688" y="3319463"/>
          <p14:tracePt t="37257" x="1301750" y="3319463"/>
          <p14:tracePt t="37272" x="1284288" y="3319463"/>
          <p14:tracePt t="37289" x="1274763" y="3319463"/>
          <p14:tracePt t="37306" x="1266825" y="3319463"/>
          <p14:tracePt t="37328" x="1257300" y="3319463"/>
          <p14:tracePt t="37352" x="1249363" y="3319463"/>
          <p14:tracePt t="37416" x="1239838" y="3319463"/>
          <p14:tracePt t="37697" x="1231900" y="3319463"/>
          <p14:tracePt t="37704" x="1214438" y="3336925"/>
          <p14:tracePt t="37712" x="1196975" y="3346450"/>
          <p14:tracePt t="37722" x="1179513" y="3363913"/>
          <p14:tracePt t="37739" x="1152525" y="3371850"/>
          <p14:tracePt t="37755" x="1109663" y="3398838"/>
          <p14:tracePt t="37772" x="1092200" y="3406775"/>
          <p14:tracePt t="37789" x="1082675" y="3433763"/>
          <p14:tracePt t="37806" x="1074738" y="3441700"/>
          <p14:tracePt t="37825" x="1065213" y="3441700"/>
          <p14:tracePt t="37857" x="1057275" y="3451225"/>
          <p14:tracePt t="37865" x="1057275" y="3459163"/>
          <p14:tracePt t="37880" x="1057275" y="3476625"/>
          <p14:tracePt t="37889" x="1057275" y="3486150"/>
          <p14:tracePt t="37905" x="1047750" y="3494088"/>
          <p14:tracePt t="37922" x="1047750" y="3511550"/>
          <p14:tracePt t="37939" x="1047750" y="3529013"/>
          <p14:tracePt t="37955" x="1047750" y="3538538"/>
          <p14:tracePt t="37972" x="1057275" y="3556000"/>
          <p14:tracePt t="37989" x="1074738" y="3556000"/>
          <p14:tracePt t="38006" x="1082675" y="3563938"/>
          <p14:tracePt t="38022" x="1109663" y="3581400"/>
          <p14:tracePt t="38039" x="1135063" y="3581400"/>
          <p14:tracePt t="38041" x="1144588" y="3581400"/>
          <p14:tracePt t="38056" x="1152525" y="3590925"/>
          <p14:tracePt t="38057" x="1162050" y="3590925"/>
          <p14:tracePt t="38072" x="1187450" y="3598863"/>
          <p14:tracePt t="38089" x="1196975" y="3608388"/>
          <p14:tracePt t="38105" x="1214438" y="3608388"/>
          <p14:tracePt t="38144" x="1222375" y="3608388"/>
          <p14:tracePt t="38155" x="1231900" y="3608388"/>
          <p14:tracePt t="38172" x="1239838" y="3608388"/>
          <p14:tracePt t="38193" x="1249363" y="3608388"/>
          <p14:tracePt t="38205" x="1257300" y="3608388"/>
          <p14:tracePt t="38232" x="1257300" y="3598863"/>
          <p14:tracePt t="38721" x="1266825" y="3598863"/>
          <p14:tracePt t="38777" x="1274763" y="3598863"/>
          <p14:tracePt t="38832" x="1284288" y="3598863"/>
          <p14:tracePt t="39265" x="0" y="0"/>
        </p14:tracePtLst>
        <p14:tracePtLst>
          <p14:tracePt t="41500" x="1536700" y="3625850"/>
          <p14:tracePt t="41561" x="1554163" y="3616325"/>
          <p14:tracePt t="41576" x="1563688" y="3616325"/>
          <p14:tracePt t="41585" x="1571625" y="3616325"/>
          <p14:tracePt t="41593" x="1571625" y="3608388"/>
          <p14:tracePt t="41605" x="1581150" y="3608388"/>
          <p14:tracePt t="41621" x="1598613" y="3598863"/>
          <p14:tracePt t="41638" x="1606550" y="3598863"/>
          <p14:tracePt t="41654" x="1616075" y="3598863"/>
          <p14:tracePt t="41671" x="1624013" y="3598863"/>
          <p14:tracePt t="41672" x="1641475" y="3598863"/>
          <p14:tracePt t="41688" x="1685925" y="3598863"/>
          <p14:tracePt t="41705" x="1720850" y="3616325"/>
          <p14:tracePt t="41721" x="1851025" y="3633788"/>
          <p14:tracePt t="41738" x="1920875" y="3643313"/>
          <p14:tracePt t="41755" x="1973263" y="3643313"/>
          <p14:tracePt t="41772" x="2008188" y="3651250"/>
          <p14:tracePt t="41788" x="2017713" y="3651250"/>
          <p14:tracePt t="41805" x="2025650" y="3651250"/>
          <p14:tracePt t="42281" x="0" y="0"/>
        </p14:tracePtLst>
        <p14:tracePtLst>
          <p14:tracePt t="42844" x="1414463" y="3913188"/>
          <p14:tracePt t="42864" x="1423988" y="3913188"/>
          <p14:tracePt t="42872" x="1431925" y="3913188"/>
          <p14:tracePt t="42888" x="1441450" y="3905250"/>
          <p14:tracePt t="42896" x="1449388" y="3905250"/>
          <p14:tracePt t="42920" x="1458913" y="3887788"/>
          <p14:tracePt t="42928" x="1458913" y="3870325"/>
          <p14:tracePt t="42945" x="1458913" y="3852863"/>
          <p14:tracePt t="42955" x="1458913" y="3843338"/>
          <p14:tracePt t="42971" x="1458913" y="3808413"/>
          <p14:tracePt t="42988" x="1458913" y="3748088"/>
          <p14:tracePt t="43005" x="1441450" y="3713163"/>
          <p14:tracePt t="43021" x="1431925" y="3686175"/>
          <p14:tracePt t="43038" x="1414463" y="3678238"/>
          <p14:tracePt t="43054" x="1414463" y="3668713"/>
          <p14:tracePt t="43056" x="1406525" y="3668713"/>
          <p14:tracePt t="43072" x="1397000" y="3668713"/>
          <p14:tracePt t="43089" x="1389063" y="3668713"/>
          <p14:tracePt t="43104" x="1379538" y="3668713"/>
          <p14:tracePt t="43121" x="1362075" y="3660775"/>
          <p14:tracePt t="43138" x="1336675" y="3660775"/>
          <p14:tracePt t="43155" x="1327150" y="3651250"/>
          <p14:tracePt t="43171" x="1301750" y="3651250"/>
          <p14:tracePt t="43188" x="1284288" y="3651250"/>
          <p14:tracePt t="43205" x="1266825" y="3651250"/>
          <p14:tracePt t="43221" x="1257300" y="3651250"/>
          <p14:tracePt t="43238" x="1239838" y="3651250"/>
          <p14:tracePt t="43255" x="1222375" y="3651250"/>
          <p14:tracePt t="43256" x="1214438" y="3651250"/>
          <p14:tracePt t="43271" x="1179513" y="3651250"/>
          <p14:tracePt t="43273" x="1162050" y="3651250"/>
          <p14:tracePt t="43288" x="1127125" y="3651250"/>
          <p14:tracePt t="43304" x="1074738" y="3660775"/>
          <p14:tracePt t="43321" x="1057275" y="3668713"/>
          <p14:tracePt t="43338" x="1039813" y="3668713"/>
          <p14:tracePt t="43355" x="1030288" y="3668713"/>
          <p14:tracePt t="43371" x="1022350" y="3678238"/>
          <p14:tracePt t="43388" x="1022350" y="3686175"/>
          <p14:tracePt t="43408" x="1022350" y="3695700"/>
          <p14:tracePt t="43433" x="1012825" y="3695700"/>
          <p14:tracePt t="43449" x="1004888" y="3703638"/>
          <p14:tracePt t="43464" x="995363" y="3713163"/>
          <p14:tracePt t="43472" x="987425" y="3721100"/>
          <p14:tracePt t="43488" x="969963" y="3738563"/>
          <p14:tracePt t="43505" x="952500" y="3765550"/>
          <p14:tracePt t="43521" x="942975" y="3790950"/>
          <p14:tracePt t="43538" x="917575" y="3817938"/>
          <p14:tracePt t="43555" x="908050" y="3835400"/>
          <p14:tracePt t="43571" x="908050" y="3852863"/>
          <p14:tracePt t="43588" x="908050" y="3860800"/>
          <p14:tracePt t="43604" x="908050" y="3870325"/>
          <p14:tracePt t="43621" x="917575" y="3878263"/>
          <p14:tracePt t="43638" x="935038" y="3887788"/>
          <p14:tracePt t="43654" x="952500" y="3895725"/>
          <p14:tracePt t="43671" x="960438" y="3905250"/>
          <p14:tracePt t="43672" x="969963" y="3905250"/>
          <p14:tracePt t="43696" x="987425" y="3913188"/>
          <p14:tracePt t="43704" x="995363" y="3913188"/>
          <p14:tracePt t="43721" x="1012825" y="3930650"/>
          <p14:tracePt t="43738" x="1022350" y="3940175"/>
          <p14:tracePt t="43755" x="1030288" y="3948113"/>
          <p14:tracePt t="43771" x="1047750" y="3957638"/>
          <p14:tracePt t="43792" x="1057275" y="3957638"/>
          <p14:tracePt t="43805" x="1065213" y="3957638"/>
          <p14:tracePt t="43821" x="1074738" y="3965575"/>
          <p14:tracePt t="43838" x="1082675" y="3975100"/>
          <p14:tracePt t="43855" x="1092200" y="3975100"/>
          <p14:tracePt t="43856" x="1100138" y="3983038"/>
          <p14:tracePt t="43873" x="1109663" y="3983038"/>
          <p14:tracePt t="43896" x="1117600" y="3983038"/>
          <p14:tracePt t="43913" x="1127125" y="3983038"/>
          <p14:tracePt t="43921" x="1135063" y="3992563"/>
          <p14:tracePt t="43944" x="1144588" y="3992563"/>
          <p14:tracePt t="43961" x="1152525" y="3992563"/>
          <p14:tracePt t="44000" x="1162050" y="3992563"/>
          <p14:tracePt t="44024" x="1169988" y="3992563"/>
          <p14:tracePt t="44041" x="1179513" y="3992563"/>
          <p14:tracePt t="44057" x="1187450" y="3992563"/>
          <p14:tracePt t="44065" x="1196975" y="3992563"/>
          <p14:tracePt t="44081" x="1204913" y="3992563"/>
          <p14:tracePt t="44089" x="1222375" y="3983038"/>
          <p14:tracePt t="44105" x="1249363" y="3983038"/>
          <p14:tracePt t="44121" x="1274763" y="3965575"/>
          <p14:tracePt t="44138" x="1301750" y="3957638"/>
          <p14:tracePt t="44154" x="1319213" y="3948113"/>
          <p14:tracePt t="44171" x="1344613" y="3930650"/>
          <p14:tracePt t="44188" x="1362075" y="3922713"/>
          <p14:tracePt t="44204" x="1371600" y="3895725"/>
          <p14:tracePt t="44221" x="1389063" y="3852863"/>
          <p14:tracePt t="44238" x="1389063" y="3835400"/>
          <p14:tracePt t="44254" x="1389063" y="3825875"/>
          <p14:tracePt t="44272" x="1389063" y="3817938"/>
          <p14:tracePt t="44288" x="1379538" y="3817938"/>
          <p14:tracePt t="44305" x="1379538" y="3808413"/>
          <p14:tracePt t="44321" x="1354138" y="3808413"/>
          <p14:tracePt t="44338" x="1309688" y="3790950"/>
          <p14:tracePt t="44354" x="1249363" y="3756025"/>
          <p14:tracePt t="44371" x="1214438" y="3748088"/>
          <p14:tracePt t="44388" x="1196975" y="3738563"/>
          <p14:tracePt t="44456" x="1187450" y="3738563"/>
          <p14:tracePt t="44464" x="1179513" y="3738563"/>
          <p14:tracePt t="44472" x="1169988" y="3738563"/>
          <p14:tracePt t="44496" x="1162050" y="3738563"/>
          <p14:tracePt t="44505" x="1152525" y="3738563"/>
          <p14:tracePt t="44553" x="0" y="0"/>
        </p14:tracePtLst>
        <p14:tracePtLst>
          <p14:tracePt t="50437" x="1546225" y="3895725"/>
          <p14:tracePt t="50488" x="1554163" y="3895725"/>
          <p14:tracePt t="50496" x="1571625" y="3895725"/>
          <p14:tracePt t="50504" x="1589088" y="3895725"/>
          <p14:tracePt t="50520" x="1598613" y="3887788"/>
          <p14:tracePt t="50537" x="1616075" y="3878263"/>
          <p14:tracePt t="50553" x="1633538" y="3878263"/>
          <p14:tracePt t="50570" x="1641475" y="3870325"/>
          <p14:tracePt t="50587" x="1658938" y="3870325"/>
          <p14:tracePt t="50604" x="1676400" y="3870325"/>
          <p14:tracePt t="50620" x="1685925" y="3870325"/>
          <p14:tracePt t="50637" x="1703388" y="3870325"/>
          <p14:tracePt t="50653" x="1711325" y="3870325"/>
          <p14:tracePt t="50670" x="1720850" y="3870325"/>
          <p14:tracePt t="50687" x="1728788" y="3870325"/>
          <p14:tracePt t="50704" x="1738313" y="3870325"/>
          <p14:tracePt t="50721" x="1746250" y="3870325"/>
          <p14:tracePt t="50737" x="1755775" y="3870325"/>
          <p14:tracePt t="50753" x="1763713" y="3870325"/>
          <p14:tracePt t="50770" x="1773238" y="3870325"/>
          <p14:tracePt t="50787" x="1790700" y="3870325"/>
          <p14:tracePt t="50804" x="1808163" y="3878263"/>
          <p14:tracePt t="50820" x="1816100" y="3878263"/>
          <p14:tracePt t="50864" x="1825625" y="3878263"/>
          <p14:tracePt t="51018" x="0" y="0"/>
        </p14:tracePtLst>
        <p14:tracePtLst>
          <p14:tracePt t="51733" x="1476375" y="4306888"/>
          <p14:tracePt t="51785" x="1484313" y="4306888"/>
          <p14:tracePt t="51793" x="1493838" y="4306888"/>
          <p14:tracePt t="51803" x="1501775" y="4306888"/>
          <p14:tracePt t="51820" x="1519238" y="4306888"/>
          <p14:tracePt t="51836" x="1536700" y="4306888"/>
          <p14:tracePt t="51853" x="1554163" y="4306888"/>
          <p14:tracePt t="51870" x="1581150" y="4306888"/>
          <p14:tracePt t="51886" x="1589088" y="4306888"/>
          <p14:tracePt t="51903" x="1598613" y="4306888"/>
          <p14:tracePt t="51920" x="1616075" y="4306888"/>
          <p14:tracePt t="51937" x="1624013" y="4306888"/>
          <p14:tracePt t="51953" x="1651000" y="4306888"/>
          <p14:tracePt t="51970" x="1676400" y="4306888"/>
          <p14:tracePt t="51986" x="1693863" y="4306888"/>
          <p14:tracePt t="52003" x="1703388" y="4306888"/>
          <p14:tracePt t="52073" x="1711325" y="4306888"/>
          <p14:tracePt t="52097" x="1720850" y="4306888"/>
          <p14:tracePt t="52121" x="1728788" y="4298950"/>
          <p14:tracePt t="52128" x="1738313" y="4289425"/>
          <p14:tracePt t="52144" x="1746250" y="4289425"/>
          <p14:tracePt t="52153" x="1746250" y="4281488"/>
          <p14:tracePt t="52170" x="1755775" y="4264025"/>
          <p14:tracePt t="52186" x="1763713" y="4264025"/>
          <p14:tracePt t="52203" x="1763713" y="4246563"/>
          <p14:tracePt t="52225" x="1763713" y="4237038"/>
          <p14:tracePt t="52249" x="1755775" y="4229100"/>
          <p14:tracePt t="52266" x="1755775" y="4219575"/>
          <p14:tracePt t="52297" x="1755775" y="4211638"/>
          <p14:tracePt t="52305" x="1755775" y="4202113"/>
          <p14:tracePt t="52312" x="1746250" y="4194175"/>
          <p14:tracePt t="52320" x="1738313" y="4194175"/>
          <p14:tracePt t="52337" x="1720850" y="4159250"/>
          <p14:tracePt t="52353" x="1711325" y="4159250"/>
          <p14:tracePt t="52370" x="1703388" y="4141788"/>
          <p14:tracePt t="52386" x="1703388" y="4132263"/>
          <p14:tracePt t="52403" x="1693863" y="4132263"/>
          <p14:tracePt t="52420" x="1685925" y="4114800"/>
          <p14:tracePt t="52437" x="1676400" y="4114800"/>
          <p14:tracePt t="52453" x="1658938" y="4079875"/>
          <p14:tracePt t="52470" x="1651000" y="4062413"/>
          <p14:tracePt t="52486" x="1633538" y="4052888"/>
          <p14:tracePt t="52503" x="1633538" y="4044950"/>
          <p14:tracePt t="52504" x="1624013" y="4027488"/>
          <p14:tracePt t="52520" x="1606550" y="4017963"/>
          <p14:tracePt t="52537" x="1598613" y="3992563"/>
          <p14:tracePt t="52553" x="1581150" y="3992563"/>
          <p14:tracePt t="52570" x="1571625" y="3975100"/>
          <p14:tracePt t="52587" x="1563688" y="3975100"/>
          <p14:tracePt t="52603" x="1563688" y="3965575"/>
          <p14:tracePt t="52620" x="1554163" y="3957638"/>
          <p14:tracePt t="52636" x="1546225" y="3957638"/>
          <p14:tracePt t="52653" x="1536700" y="3948113"/>
          <p14:tracePt t="52681" x="1528763" y="3948113"/>
          <p14:tracePt t="52688" x="1519238" y="3948113"/>
          <p14:tracePt t="52720" x="1511300" y="3948113"/>
          <p14:tracePt t="52728" x="1493838" y="3948113"/>
          <p14:tracePt t="52745" x="1484313" y="3948113"/>
          <p14:tracePt t="52753" x="1476375" y="3948113"/>
          <p14:tracePt t="52776" x="1466850" y="3948113"/>
          <p14:tracePt t="52792" x="1458913" y="3948113"/>
          <p14:tracePt t="52803" x="1449388" y="3948113"/>
          <p14:tracePt t="52825" x="1441450" y="3948113"/>
          <p14:tracePt t="52836" x="1431925" y="3948113"/>
          <p14:tracePt t="52857" x="1423988" y="3948113"/>
          <p14:tracePt t="52870" x="1414463" y="3948113"/>
          <p14:tracePt t="52886" x="1406525" y="3948113"/>
          <p14:tracePt t="52903" x="1389063" y="3948113"/>
          <p14:tracePt t="52904" x="1379538" y="3948113"/>
          <p14:tracePt t="52920" x="1354138" y="3948113"/>
          <p14:tracePt t="52936" x="1327150" y="3948113"/>
          <p14:tracePt t="52953" x="1309688" y="3948113"/>
          <p14:tracePt t="52970" x="1292225" y="3948113"/>
          <p14:tracePt t="52986" x="1266825" y="3948113"/>
          <p14:tracePt t="53003" x="1257300" y="3948113"/>
          <p14:tracePt t="53020" x="1249363" y="3957638"/>
          <p14:tracePt t="53036" x="1222375" y="3957638"/>
          <p14:tracePt t="53053" x="1196975" y="3965575"/>
          <p14:tracePt t="53070" x="1169988" y="3965575"/>
          <p14:tracePt t="53087" x="1152525" y="3965575"/>
          <p14:tracePt t="53104" x="1144588" y="3965575"/>
          <p14:tracePt t="53120" x="1135063" y="3975100"/>
          <p14:tracePt t="53145" x="1127125" y="3975100"/>
          <p14:tracePt t="53153" x="1127125" y="3983038"/>
          <p14:tracePt t="53170" x="1109663" y="3992563"/>
          <p14:tracePt t="53192" x="1092200" y="3992563"/>
          <p14:tracePt t="53203" x="1074738" y="4000500"/>
          <p14:tracePt t="53220" x="1065213" y="4017963"/>
          <p14:tracePt t="53236" x="1047750" y="4035425"/>
          <p14:tracePt t="53253" x="1022350" y="4044950"/>
          <p14:tracePt t="53270" x="1022350" y="4062413"/>
          <p14:tracePt t="53286" x="1004888" y="4070350"/>
          <p14:tracePt t="53303" x="995363" y="4097338"/>
          <p14:tracePt t="53320" x="987425" y="4114800"/>
          <p14:tracePt t="53336" x="977900" y="4124325"/>
          <p14:tracePt t="53353" x="977900" y="4149725"/>
          <p14:tracePt t="53370" x="977900" y="4176713"/>
          <p14:tracePt t="53386" x="995363" y="4184650"/>
          <p14:tracePt t="53403" x="1047750" y="4194175"/>
          <p14:tracePt t="53420" x="1117600" y="4211638"/>
          <p14:tracePt t="53436" x="1179513" y="4219575"/>
          <p14:tracePt t="53453" x="1266825" y="4229100"/>
          <p14:tracePt t="53470" x="1284288" y="4246563"/>
          <p14:tracePt t="53486" x="1301750" y="4246563"/>
          <p14:tracePt t="53503" x="1327150" y="4264025"/>
          <p14:tracePt t="53520" x="1362075" y="4271963"/>
          <p14:tracePt t="53537" x="1371600" y="4271963"/>
          <p14:tracePt t="53553" x="1406525" y="4281488"/>
          <p14:tracePt t="53570" x="1449388" y="4289425"/>
          <p14:tracePt t="53586" x="1493838" y="4289425"/>
          <p14:tracePt t="53603" x="1519238" y="4298950"/>
          <p14:tracePt t="53620" x="1546225" y="4306888"/>
          <p14:tracePt t="53636" x="1563688" y="4306888"/>
          <p14:tracePt t="53657" x="1571625" y="4306888"/>
          <p14:tracePt t="53670" x="1571625" y="4316413"/>
          <p14:tracePt t="53769" x="1563688" y="4316413"/>
          <p14:tracePt t="54185" x="0" y="0"/>
        </p14:tracePtLst>
        <p14:tracePtLst>
          <p14:tracePt t="56716" x="2384425" y="4298950"/>
          <p14:tracePt t="56720" x="2392363" y="4298950"/>
          <p14:tracePt t="56753" x="2401888" y="4298950"/>
          <p14:tracePt t="56776" x="2409825" y="4306888"/>
          <p14:tracePt t="56784" x="2419350" y="4306888"/>
          <p14:tracePt t="56792" x="2419350" y="4316413"/>
          <p14:tracePt t="56808" x="2427288" y="4316413"/>
          <p14:tracePt t="56824" x="2436813" y="4324350"/>
          <p14:tracePt t="56836" x="2444750" y="4324350"/>
          <p14:tracePt t="56852" x="2454275" y="4324350"/>
          <p14:tracePt t="56869" x="2462213" y="4324350"/>
          <p14:tracePt t="56886" x="2479675" y="4324350"/>
          <p14:tracePt t="56905" x="2489200" y="4324350"/>
          <p14:tracePt t="56928" x="2497138" y="4324350"/>
          <p14:tracePt t="56936" x="2506663" y="4324350"/>
          <p14:tracePt t="56952" x="2514600" y="4316413"/>
          <p14:tracePt t="56969" x="2524125" y="4306888"/>
          <p14:tracePt t="57000" x="2532063" y="4306888"/>
          <p14:tracePt t="57008" x="2532063" y="4298950"/>
          <p14:tracePt t="57032" x="2541588" y="4298950"/>
          <p14:tracePt t="57041" x="2549525" y="4289425"/>
          <p14:tracePt t="57064" x="2549525" y="4281488"/>
          <p14:tracePt t="57073" x="2559050" y="4281488"/>
          <p14:tracePt t="57086" x="2566988" y="4271963"/>
          <p14:tracePt t="57102" x="2584450" y="4264025"/>
          <p14:tracePt t="57119" x="2601913" y="4254500"/>
          <p14:tracePt t="57121" x="2601913" y="4246563"/>
          <p14:tracePt t="57136" x="2611438" y="4229100"/>
          <p14:tracePt t="57152" x="2619375" y="4211638"/>
          <p14:tracePt t="57169" x="2619375" y="4184650"/>
          <p14:tracePt t="57186" x="2619375" y="4149725"/>
          <p14:tracePt t="57202" x="2611438" y="4132263"/>
          <p14:tracePt t="57219" x="2611438" y="4124325"/>
          <p14:tracePt t="57236" x="2593975" y="4097338"/>
          <p14:tracePt t="57252" x="2584450" y="4087813"/>
          <p14:tracePt t="57269" x="2576513" y="4079875"/>
          <p14:tracePt t="57286" x="2566988" y="4079875"/>
          <p14:tracePt t="57302" x="2549525" y="4079875"/>
          <p14:tracePt t="57319" x="2532063" y="4079875"/>
          <p14:tracePt t="57320" x="2524125" y="4070350"/>
          <p14:tracePt t="57336" x="2514600" y="4070350"/>
          <p14:tracePt t="57352" x="2497138" y="4070350"/>
          <p14:tracePt t="57369" x="2489200" y="4070350"/>
          <p14:tracePt t="57386" x="2471738" y="4070350"/>
          <p14:tracePt t="57403" x="2462213" y="4070350"/>
          <p14:tracePt t="57433" x="2454275" y="4070350"/>
          <p14:tracePt t="57440" x="2454275" y="4079875"/>
          <p14:tracePt t="57456" x="2436813" y="4087813"/>
          <p14:tracePt t="57469" x="2427288" y="4097338"/>
          <p14:tracePt t="57486" x="2419350" y="4114800"/>
          <p14:tracePt t="57502" x="2384425" y="4132263"/>
          <p14:tracePt t="57505" x="2366963" y="4149725"/>
          <p14:tracePt t="57519" x="2349500" y="4167188"/>
          <p14:tracePt t="57520" x="2339975" y="4176713"/>
          <p14:tracePt t="57536" x="2305050" y="4202113"/>
          <p14:tracePt t="57552" x="2287588" y="4229100"/>
          <p14:tracePt t="57569" x="2279650" y="4237038"/>
          <p14:tracePt t="57586" x="2270125" y="4254500"/>
          <p14:tracePt t="57602" x="2270125" y="4281488"/>
          <p14:tracePt t="57619" x="2270125" y="4289425"/>
          <p14:tracePt t="57636" x="2279650" y="4298950"/>
          <p14:tracePt t="57652" x="2305050" y="4306888"/>
          <p14:tracePt t="57669" x="2314575" y="4324350"/>
          <p14:tracePt t="57686" x="2339975" y="4324350"/>
          <p14:tracePt t="57702" x="2384425" y="4333875"/>
          <p14:tracePt t="57719" x="2401888" y="4333875"/>
          <p14:tracePt t="57720" x="2409825" y="4333875"/>
          <p14:tracePt t="57736" x="2427288" y="4333875"/>
          <p14:tracePt t="57752" x="2436813" y="4333875"/>
          <p14:tracePt t="58217" x="0" y="0"/>
        </p14:tracePtLst>
        <p14:tracePtLst>
          <p14:tracePt t="63517" x="2820988" y="4281488"/>
          <p14:tracePt t="63528" x="2820988" y="4289425"/>
          <p14:tracePt t="63537" x="2828925" y="4289425"/>
          <p14:tracePt t="63551" x="2846388" y="4289425"/>
          <p14:tracePt t="63569" x="2863850" y="4289425"/>
          <p14:tracePt t="63593" x="2863850" y="4298950"/>
          <p14:tracePt t="63601" x="2873375" y="4298950"/>
          <p14:tracePt t="63618" x="2873375" y="4306888"/>
          <p14:tracePt t="63635" x="2890838" y="4306888"/>
          <p14:tracePt t="63656" x="2908300" y="4306888"/>
          <p14:tracePt t="63669" x="2916238" y="4306888"/>
          <p14:tracePt t="63685" x="2925763" y="4306888"/>
          <p14:tracePt t="63701" x="2933700" y="4306888"/>
          <p14:tracePt t="63718" x="2951163" y="4306888"/>
          <p14:tracePt t="63735" x="2960688" y="4298950"/>
          <p14:tracePt t="63752" x="2968625" y="4281488"/>
          <p14:tracePt t="63753" x="2986088" y="4264025"/>
          <p14:tracePt t="63769" x="2995613" y="4254500"/>
          <p14:tracePt t="63785" x="3003550" y="4246563"/>
          <p14:tracePt t="63801" x="3003550" y="4229100"/>
          <p14:tracePt t="63818" x="3013075" y="4219575"/>
          <p14:tracePt t="63835" x="3013075" y="4202113"/>
          <p14:tracePt t="63851" x="3003550" y="4184650"/>
          <p14:tracePt t="63868" x="2986088" y="4132263"/>
          <p14:tracePt t="63885" x="2978150" y="4124325"/>
          <p14:tracePt t="63902" x="2960688" y="4124325"/>
          <p14:tracePt t="63918" x="2943225" y="4114800"/>
          <p14:tracePt t="63935" x="2925763" y="4114800"/>
          <p14:tracePt t="63951" x="2908300" y="4097338"/>
          <p14:tracePt t="63953" x="2890838" y="4097338"/>
          <p14:tracePt t="63969" x="2881313" y="4087813"/>
          <p14:tracePt t="63985" x="2855913" y="4087813"/>
          <p14:tracePt t="64001" x="2838450" y="4087813"/>
          <p14:tracePt t="64018" x="2820988" y="4087813"/>
          <p14:tracePt t="64035" x="2803525" y="4087813"/>
          <p14:tracePt t="64051" x="2776538" y="4097338"/>
          <p14:tracePt t="64068" x="2759075" y="4105275"/>
          <p14:tracePt t="64085" x="2741613" y="4105275"/>
          <p14:tracePt t="64102" x="2716213" y="4124325"/>
          <p14:tracePt t="64118" x="2689225" y="4149725"/>
          <p14:tracePt t="64135" x="2654300" y="4184650"/>
          <p14:tracePt t="64151" x="2628900" y="4211638"/>
          <p14:tracePt t="64153" x="2619375" y="4219575"/>
          <p14:tracePt t="64168" x="2611438" y="4229100"/>
          <p14:tracePt t="64280" x="2619375" y="4229100"/>
          <p14:tracePt t="64288" x="2628900" y="4229100"/>
          <p14:tracePt t="64296" x="2636838" y="4229100"/>
          <p14:tracePt t="64304" x="2646363" y="4229100"/>
          <p14:tracePt t="64319" x="0" y="0"/>
        </p14:tracePtLst>
        <p14:tracePtLst>
          <p14:tracePt t="64909" x="3362325" y="3992563"/>
          <p14:tracePt t="64920" x="3354388" y="3992563"/>
          <p14:tracePt t="64928" x="3344863" y="3992563"/>
          <p14:tracePt t="64945" x="3336925" y="3992563"/>
          <p14:tracePt t="64952" x="3327400" y="3992563"/>
          <p14:tracePt t="64968" x="3309938" y="3992563"/>
          <p14:tracePt t="64984" x="3292475" y="3992563"/>
          <p14:tracePt t="65001" x="3284538" y="3992563"/>
          <p14:tracePt t="65018" x="3275013" y="3992563"/>
          <p14:tracePt t="65035" x="3267075" y="3992563"/>
          <p14:tracePt t="65057" x="3257550" y="4000500"/>
          <p14:tracePt t="65068" x="3249613" y="4000500"/>
          <p14:tracePt t="65084" x="3240088" y="4017963"/>
          <p14:tracePt t="65101" x="3222625" y="4027488"/>
          <p14:tracePt t="65118" x="3205163" y="4052888"/>
          <p14:tracePt t="65135" x="3187700" y="4070350"/>
          <p14:tracePt t="65136" x="3179763" y="4087813"/>
          <p14:tracePt t="65151" x="3170238" y="4097338"/>
          <p14:tracePt t="65152" x="3170238" y="4114800"/>
          <p14:tracePt t="65168" x="3162300" y="4132263"/>
          <p14:tracePt t="65184" x="3162300" y="4176713"/>
          <p14:tracePt t="65201" x="3162300" y="4219575"/>
          <p14:tracePt t="65218" x="3162300" y="4264025"/>
          <p14:tracePt t="65235" x="3162300" y="4316413"/>
          <p14:tracePt t="65251" x="3162300" y="4368800"/>
          <p14:tracePt t="65268" x="3170238" y="4403725"/>
          <p14:tracePt t="65284" x="3187700" y="4429125"/>
          <p14:tracePt t="65301" x="3197225" y="4438650"/>
          <p14:tracePt t="65318" x="3214688" y="4446588"/>
          <p14:tracePt t="65335" x="3222625" y="4456113"/>
          <p14:tracePt t="65336" x="3232150" y="4456113"/>
          <p14:tracePt t="65351" x="3240088" y="4456113"/>
          <p14:tracePt t="65369" x="3249613" y="4456113"/>
          <p14:tracePt t="65384" x="3257550" y="4464050"/>
          <p14:tracePt t="65480" x="3275013" y="4456113"/>
          <p14:tracePt t="65488" x="3275013" y="4446588"/>
          <p14:tracePt t="65497" x="3284538" y="4438650"/>
          <p14:tracePt t="65504" x="3292475" y="4438650"/>
          <p14:tracePt t="65518" x="3292475" y="4421188"/>
          <p14:tracePt t="65535" x="3302000" y="4421188"/>
          <p14:tracePt t="65537" x="3309938" y="4403725"/>
          <p14:tracePt t="65551" x="3309938" y="4394200"/>
          <p14:tracePt t="65568" x="3327400" y="4368800"/>
          <p14:tracePt t="65585" x="3336925" y="4333875"/>
          <p14:tracePt t="65601" x="3344863" y="4306888"/>
          <p14:tracePt t="65618" x="3354388" y="4271963"/>
          <p14:tracePt t="65634" x="3354388" y="4246563"/>
          <p14:tracePt t="65651" x="3354388" y="4219575"/>
          <p14:tracePt t="65668" x="3354388" y="4194175"/>
          <p14:tracePt t="65684" x="3354388" y="4159250"/>
          <p14:tracePt t="65704" x="3354388" y="4149725"/>
          <p14:tracePt t="65718" x="3354388" y="4141788"/>
          <p14:tracePt t="65737" x="3344863" y="4141788"/>
          <p14:tracePt t="65937" x="0" y="0"/>
        </p14:tracePtLst>
        <p14:tracePtLst>
          <p14:tracePt t="68812" x="2706688" y="5284788"/>
          <p14:tracePt t="68904" x="2698750" y="5284788"/>
          <p14:tracePt t="68929" x="2689225" y="5284788"/>
          <p14:tracePt t="68976" x="2681288" y="5284788"/>
          <p14:tracePt t="68984" x="2671763" y="5284788"/>
          <p14:tracePt t="69001" x="2654300" y="5284788"/>
          <p14:tracePt t="69009" x="2636838" y="5284788"/>
          <p14:tracePt t="69017" x="2619375" y="5276850"/>
          <p14:tracePt t="69034" x="2584450" y="5276850"/>
          <p14:tracePt t="69050" x="2549525" y="5267325"/>
          <p14:tracePt t="69067" x="2524125" y="5267325"/>
          <p14:tracePt t="69084" x="2489200" y="5259388"/>
          <p14:tracePt t="69101" x="2444750" y="5259388"/>
          <p14:tracePt t="69117" x="2392363" y="5259388"/>
          <p14:tracePt t="69134" x="2357438" y="5259388"/>
          <p14:tracePt t="69150" x="2332038" y="5259388"/>
          <p14:tracePt t="69167" x="2287588" y="5259388"/>
          <p14:tracePt t="69168" x="2279650" y="5259388"/>
          <p14:tracePt t="69184" x="2262188" y="5259388"/>
          <p14:tracePt t="69185" x="2235200" y="5259388"/>
          <p14:tracePt t="69201" x="2192338" y="5259388"/>
          <p14:tracePt t="69217" x="2147888" y="5259388"/>
          <p14:tracePt t="69234" x="2070100" y="5259388"/>
          <p14:tracePt t="69250" x="2017713" y="5259388"/>
          <p14:tracePt t="69267" x="1947863" y="5259388"/>
          <p14:tracePt t="69284" x="1903413" y="5259388"/>
          <p14:tracePt t="69301" x="1868488" y="5267325"/>
          <p14:tracePt t="69317" x="1851025" y="5267325"/>
          <p14:tracePt t="69334" x="1833563" y="5267325"/>
          <p14:tracePt t="69350" x="1816100" y="5267325"/>
          <p14:tracePt t="69367" x="1790700" y="5276850"/>
          <p14:tracePt t="69369" x="1781175" y="5276850"/>
          <p14:tracePt t="69384" x="1763713" y="5276850"/>
          <p14:tracePt t="69384" x="1746250" y="5276850"/>
          <p14:tracePt t="69400" x="1720850" y="5276850"/>
          <p14:tracePt t="69417" x="1693863" y="5284788"/>
          <p14:tracePt t="69434" x="1676400" y="5294313"/>
          <p14:tracePt t="69450" x="1668463" y="5302250"/>
          <p14:tracePt t="69467" x="1658938" y="5302250"/>
          <p14:tracePt t="69484" x="1641475" y="5302250"/>
          <p14:tracePt t="69500" x="1633538" y="5319713"/>
          <p14:tracePt t="69517" x="1616075" y="5329238"/>
          <p14:tracePt t="69534" x="1606550" y="5329238"/>
          <p14:tracePt t="69551" x="1589088" y="5354638"/>
          <p14:tracePt t="69567" x="1554163" y="5372100"/>
          <p14:tracePt t="69569" x="1546225" y="5389563"/>
          <p14:tracePt t="69584" x="1511300" y="5407025"/>
          <p14:tracePt t="69601" x="1493838" y="5441950"/>
          <p14:tracePt t="69617" x="1466850" y="5459413"/>
          <p14:tracePt t="69634" x="1441450" y="5486400"/>
          <p14:tracePt t="69650" x="1414463" y="5503863"/>
          <p14:tracePt t="69667" x="1389063" y="5530850"/>
          <p14:tracePt t="69684" x="1354138" y="5556250"/>
          <p14:tracePt t="69701" x="1336675" y="5591175"/>
          <p14:tracePt t="69717" x="1319213" y="5608638"/>
          <p14:tracePt t="69734" x="1309688" y="5635625"/>
          <p14:tracePt t="69750" x="1292225" y="5643563"/>
          <p14:tracePt t="69753" x="1284288" y="5661025"/>
          <p14:tracePt t="69768" x="1274763" y="5670550"/>
          <p14:tracePt t="69784" x="1266825" y="5688013"/>
          <p14:tracePt t="69801" x="1266825" y="5705475"/>
          <p14:tracePt t="69817" x="1266825" y="5722938"/>
          <p14:tracePt t="69834" x="1257300" y="5740400"/>
          <p14:tracePt t="69850" x="1249363" y="5748338"/>
          <p14:tracePt t="69867" x="1249363" y="5765800"/>
          <p14:tracePt t="69884" x="1249363" y="5783263"/>
          <p14:tracePt t="69900" x="1249363" y="5800725"/>
          <p14:tracePt t="69917" x="1239838" y="5810250"/>
          <p14:tracePt t="69934" x="1239838" y="5818188"/>
          <p14:tracePt t="69950" x="1239838" y="5835650"/>
          <p14:tracePt t="69967" x="1239838" y="5853113"/>
          <p14:tracePt t="69968" x="1239838" y="5862638"/>
          <p14:tracePt t="69984" x="1239838" y="5880100"/>
          <p14:tracePt t="70000" x="1239838" y="5897563"/>
          <p14:tracePt t="70017" x="1249363" y="5915025"/>
          <p14:tracePt t="70034" x="1257300" y="5922963"/>
          <p14:tracePt t="70050" x="1266825" y="5932488"/>
          <p14:tracePt t="70067" x="1274763" y="5940425"/>
          <p14:tracePt t="70084" x="1274763" y="5957888"/>
          <p14:tracePt t="70100" x="1284288" y="5957888"/>
          <p14:tracePt t="70117" x="1292225" y="5967413"/>
          <p14:tracePt t="70134" x="1301750" y="5975350"/>
          <p14:tracePt t="70153" x="1309688" y="5975350"/>
          <p14:tracePt t="70168" x="1319213" y="5975350"/>
          <p14:tracePt t="70184" x="1319213" y="5984875"/>
          <p14:tracePt t="70201" x="1344613" y="5984875"/>
          <p14:tracePt t="70217" x="1354138" y="5984875"/>
          <p14:tracePt t="70234" x="1362075" y="5992813"/>
          <p14:tracePt t="70251" x="1371600" y="5992813"/>
          <p14:tracePt t="70267" x="1379538" y="5992813"/>
          <p14:tracePt t="70284" x="1389063" y="6002338"/>
          <p14:tracePt t="70300" x="1397000" y="6002338"/>
          <p14:tracePt t="70317" x="1414463" y="6010275"/>
          <p14:tracePt t="70334" x="1414463" y="6019800"/>
          <p14:tracePt t="70350" x="1431925" y="6019800"/>
          <p14:tracePt t="70367" x="1441450" y="6019800"/>
          <p14:tracePt t="70368" x="1449388" y="6019800"/>
          <p14:tracePt t="70392" x="1458913" y="6019800"/>
          <p14:tracePt t="70401" x="1466850" y="6027738"/>
          <p14:tracePt t="70417" x="1476375" y="6027738"/>
          <p14:tracePt t="70434" x="1493838" y="6037263"/>
          <p14:tracePt t="70450" x="1501775" y="6037263"/>
          <p14:tracePt t="70473" x="1511300" y="6037263"/>
          <p14:tracePt t="70484" x="1519238" y="6037263"/>
          <p14:tracePt t="70500" x="1536700" y="6037263"/>
          <p14:tracePt t="70517" x="1546225" y="6045200"/>
          <p14:tracePt t="70534" x="1571625" y="6045200"/>
          <p14:tracePt t="70550" x="1616075" y="6045200"/>
          <p14:tracePt t="70567" x="1658938" y="6045200"/>
          <p14:tracePt t="70568" x="1711325" y="6045200"/>
          <p14:tracePt t="70584" x="1773238" y="6045200"/>
          <p14:tracePt t="70601" x="1860550" y="6054725"/>
          <p14:tracePt t="70617" x="1938338" y="6054725"/>
          <p14:tracePt t="70634" x="1990725" y="6054725"/>
          <p14:tracePt t="70650" x="2052638" y="6054725"/>
          <p14:tracePt t="70667" x="2087563" y="6054725"/>
          <p14:tracePt t="70684" x="2130425" y="6054725"/>
          <p14:tracePt t="70700" x="2182813" y="6054725"/>
          <p14:tracePt t="70717" x="2209800" y="6054725"/>
          <p14:tracePt t="70734" x="2262188" y="6054725"/>
          <p14:tracePt t="70750" x="2314575" y="6054725"/>
          <p14:tracePt t="70767" x="2339975" y="6054725"/>
          <p14:tracePt t="70768" x="2409825" y="6054725"/>
          <p14:tracePt t="70784" x="2436813" y="6054725"/>
          <p14:tracePt t="70800" x="2489200" y="6054725"/>
          <p14:tracePt t="70817" x="2576513" y="6054725"/>
          <p14:tracePt t="70834" x="2654300" y="6054725"/>
          <p14:tracePt t="70850" x="2724150" y="6054725"/>
          <p14:tracePt t="70867" x="2803525" y="6054725"/>
          <p14:tracePt t="70884" x="2828925" y="6054725"/>
          <p14:tracePt t="70900" x="2855913" y="6054725"/>
          <p14:tracePt t="70917" x="2881313" y="6054725"/>
          <p14:tracePt t="70934" x="2908300" y="6054725"/>
          <p14:tracePt t="70950" x="2925763" y="6054725"/>
          <p14:tracePt t="70967" x="2951163" y="6054725"/>
          <p14:tracePt t="70968" x="2978150" y="6054725"/>
          <p14:tracePt t="70984" x="3021013" y="6054725"/>
          <p14:tracePt t="71000" x="3057525" y="6062663"/>
          <p14:tracePt t="71017" x="3100388" y="6062663"/>
          <p14:tracePt t="71033" x="3144838" y="6062663"/>
          <p14:tracePt t="71050" x="3170238" y="6062663"/>
          <p14:tracePt t="71067" x="3205163" y="6054725"/>
          <p14:tracePt t="71084" x="3240088" y="6045200"/>
          <p14:tracePt t="71100" x="3275013" y="6045200"/>
          <p14:tracePt t="71117" x="3302000" y="6037263"/>
          <p14:tracePt t="71133" x="3327400" y="6027738"/>
          <p14:tracePt t="71150" x="3344863" y="6019800"/>
          <p14:tracePt t="71167" x="3362325" y="6010275"/>
          <p14:tracePt t="71169" x="3371850" y="6010275"/>
          <p14:tracePt t="71184" x="3389313" y="5992813"/>
          <p14:tracePt t="71201" x="3414713" y="5975350"/>
          <p14:tracePt t="71217" x="3432175" y="5967413"/>
          <p14:tracePt t="71233" x="3441700" y="5949950"/>
          <p14:tracePt t="71250" x="3449638" y="5932488"/>
          <p14:tracePt t="71267" x="3467100" y="5915025"/>
          <p14:tracePt t="71284" x="3467100" y="5897563"/>
          <p14:tracePt t="71300" x="3467100" y="5862638"/>
          <p14:tracePt t="71317" x="3467100" y="5810250"/>
          <p14:tracePt t="71333" x="3467100" y="5775325"/>
          <p14:tracePt t="71350" x="3467100" y="5757863"/>
          <p14:tracePt t="71367" x="3467100" y="5730875"/>
          <p14:tracePt t="71384" x="3467100" y="5713413"/>
          <p14:tracePt t="71385" x="3467100" y="5705475"/>
          <p14:tracePt t="71401" x="3467100" y="5688013"/>
          <p14:tracePt t="71417" x="3467100" y="5643563"/>
          <p14:tracePt t="71434" x="3467100" y="5608638"/>
          <p14:tracePt t="71450" x="3467100" y="5548313"/>
          <p14:tracePt t="71467" x="3449638" y="5521325"/>
          <p14:tracePt t="71483" x="3432175" y="5476875"/>
          <p14:tracePt t="71500" x="3432175" y="5468938"/>
          <p14:tracePt t="71517" x="3424238" y="5459413"/>
          <p14:tracePt t="71537" x="3414713" y="5459413"/>
          <p14:tracePt t="71550" x="3406775" y="5451475"/>
          <p14:tracePt t="71567" x="3389313" y="5441950"/>
          <p14:tracePt t="71569" x="3371850" y="5424488"/>
          <p14:tracePt t="71585" x="3362325" y="5416550"/>
          <p14:tracePt t="71600" x="3344863" y="5407025"/>
          <p14:tracePt t="71617" x="3327400" y="5399088"/>
          <p14:tracePt t="71634" x="3309938" y="5381625"/>
          <p14:tracePt t="71650" x="3284538" y="5364163"/>
          <p14:tracePt t="71667" x="3249613" y="5354638"/>
          <p14:tracePt t="71683" x="3214688" y="5329238"/>
          <p14:tracePt t="71700" x="3179763" y="5311775"/>
          <p14:tracePt t="71717" x="3135313" y="5294313"/>
          <p14:tracePt t="71734" x="3100388" y="5284788"/>
          <p14:tracePt t="71750" x="3057525" y="5276850"/>
          <p14:tracePt t="71767" x="3003550" y="5259388"/>
          <p14:tracePt t="71768" x="2995613" y="5249863"/>
          <p14:tracePt t="71783" x="2960688" y="5249863"/>
          <p14:tracePt t="71785" x="2933700" y="5241925"/>
          <p14:tracePt t="71800" x="2846388" y="5232400"/>
          <p14:tracePt t="71817" x="2794000" y="5224463"/>
          <p14:tracePt t="71833" x="2751138" y="5207000"/>
          <p14:tracePt t="71850" x="2706688" y="5197475"/>
          <p14:tracePt t="71867" x="2681288" y="5189538"/>
          <p14:tracePt t="71883" x="2663825" y="5189538"/>
          <p14:tracePt t="71900" x="2646363" y="5180013"/>
          <p14:tracePt t="71917" x="2619375" y="5180013"/>
          <p14:tracePt t="71934" x="2576513" y="5172075"/>
          <p14:tracePt t="71950" x="2514600" y="5172075"/>
          <p14:tracePt t="71967" x="2436813" y="5172075"/>
          <p14:tracePt t="71968" x="2401888" y="5172075"/>
          <p14:tracePt t="71984" x="2357438" y="5172075"/>
          <p14:tracePt t="71985" x="2349500" y="5172075"/>
          <p14:tracePt t="72000" x="2297113" y="5180013"/>
          <p14:tracePt t="72017" x="2270125" y="5180013"/>
          <p14:tracePt t="72033" x="2252663" y="5180013"/>
          <p14:tracePt t="72050" x="2235200" y="5180013"/>
          <p14:tracePt t="72067" x="2200275" y="5197475"/>
          <p14:tracePt t="72083" x="2165350" y="5197475"/>
          <p14:tracePt t="72100" x="2139950" y="5207000"/>
          <p14:tracePt t="72117" x="2078038" y="5214938"/>
          <p14:tracePt t="72133" x="2052638" y="5214938"/>
          <p14:tracePt t="72150" x="2035175" y="5214938"/>
          <p14:tracePt t="72167" x="2008188" y="5214938"/>
          <p14:tracePt t="72183" x="1990725" y="5214938"/>
          <p14:tracePt t="72184" x="1982788" y="5214938"/>
          <p14:tracePt t="72200" x="1955800" y="5224463"/>
          <p14:tracePt t="72217" x="1930400" y="5224463"/>
          <p14:tracePt t="72234" x="1903413" y="5232400"/>
          <p14:tracePt t="72250" x="1878013" y="5232400"/>
          <p14:tracePt t="72267" x="1851025" y="5241925"/>
          <p14:tracePt t="72283" x="1833563" y="5249863"/>
          <p14:tracePt t="72300" x="1816100" y="5249863"/>
          <p14:tracePt t="72317" x="1816100" y="5259388"/>
          <p14:tracePt t="72333" x="1798638" y="5267325"/>
          <p14:tracePt t="72354" x="1790700" y="5276850"/>
          <p14:tracePt t="72367" x="1781175" y="5294313"/>
          <p14:tracePt t="72383" x="1763713" y="5311775"/>
          <p14:tracePt t="72385" x="1746250" y="5329238"/>
          <p14:tracePt t="72400" x="1720850" y="5354638"/>
          <p14:tracePt t="72417" x="1703388" y="5381625"/>
          <p14:tracePt t="72433" x="1685925" y="5399088"/>
          <p14:tracePt t="72450" x="1658938" y="5424488"/>
          <p14:tracePt t="72467" x="1641475" y="5451475"/>
          <p14:tracePt t="72484" x="1641475" y="5468938"/>
          <p14:tracePt t="72500" x="1624013" y="5503863"/>
          <p14:tracePt t="72517" x="1624013" y="5530850"/>
          <p14:tracePt t="72533" x="1624013" y="5565775"/>
          <p14:tracePt t="72550" x="1624013" y="5583238"/>
          <p14:tracePt t="72553" x="1624013" y="5608638"/>
          <p14:tracePt t="72567" x="1624013" y="5618163"/>
          <p14:tracePt t="72584" x="1624013" y="5653088"/>
          <p14:tracePt t="72600" x="1624013" y="5670550"/>
          <p14:tracePt t="72617" x="1624013" y="5678488"/>
          <p14:tracePt t="72633" x="1641475" y="5695950"/>
          <p14:tracePt t="72650" x="1651000" y="5722938"/>
          <p14:tracePt t="72667" x="1676400" y="5748338"/>
          <p14:tracePt t="72684" x="1693863" y="5757863"/>
          <p14:tracePt t="72700" x="1720850" y="5775325"/>
          <p14:tracePt t="72717" x="1755775" y="5792788"/>
          <p14:tracePt t="72733" x="1816100" y="5818188"/>
          <p14:tracePt t="72750" x="1920875" y="5845175"/>
          <p14:tracePt t="72767" x="2252663" y="5888038"/>
          <p14:tracePt t="72768" x="2401888" y="5905500"/>
          <p14:tracePt t="72784" x="2514600" y="5915025"/>
          <p14:tracePt t="72785" x="2566988" y="5932488"/>
          <p14:tracePt t="72800" x="2611438" y="5940425"/>
          <p14:tracePt t="72816" x="2654300" y="5957888"/>
          <p14:tracePt t="72833" x="2671763" y="5967413"/>
          <p14:tracePt t="72850" x="2689225" y="5967413"/>
          <p14:tracePt t="72867" x="2716213" y="5975350"/>
          <p14:tracePt t="72883" x="2751138" y="5975350"/>
          <p14:tracePt t="72900" x="2803525" y="5984875"/>
          <p14:tracePt t="72917" x="2855913" y="5992813"/>
          <p14:tracePt t="72933" x="2908300" y="5992813"/>
          <p14:tracePt t="72950" x="2960688" y="5992813"/>
          <p14:tracePt t="72967" x="3013075" y="6002338"/>
          <p14:tracePt t="72969" x="3030538" y="6002338"/>
          <p14:tracePt t="72983" x="3038475" y="6002338"/>
          <p14:tracePt t="72986" x="3057525" y="6002338"/>
          <p14:tracePt t="73000" x="3065463" y="6002338"/>
          <p14:tracePt t="73017" x="3074988" y="6002338"/>
          <p14:tracePt t="73033" x="3082925" y="6002338"/>
          <p14:tracePt t="73050" x="3092450" y="5992813"/>
          <p14:tracePt t="73067" x="3100388" y="5984875"/>
          <p14:tracePt t="73083" x="3127375" y="5975350"/>
          <p14:tracePt t="73100" x="3144838" y="5967413"/>
          <p14:tracePt t="73117" x="3162300" y="5957888"/>
          <p14:tracePt t="73133" x="3187700" y="5940425"/>
          <p14:tracePt t="73150" x="3205163" y="5922963"/>
          <p14:tracePt t="73167" x="3232150" y="5915025"/>
          <p14:tracePt t="73168" x="3240088" y="5905500"/>
          <p14:tracePt t="73183" x="3249613" y="5897563"/>
          <p14:tracePt t="73184" x="3257550" y="5897563"/>
          <p14:tracePt t="73200" x="3284538" y="5880100"/>
          <p14:tracePt t="73217" x="3292475" y="5870575"/>
          <p14:tracePt t="73233" x="3327400" y="5835650"/>
          <p14:tracePt t="73250" x="3344863" y="5818188"/>
          <p14:tracePt t="73267" x="3362325" y="5792788"/>
          <p14:tracePt t="73283" x="3371850" y="5783263"/>
          <p14:tracePt t="73305" x="3371850" y="5775325"/>
          <p14:tracePt t="73317" x="3379788" y="5775325"/>
          <p14:tracePt t="73333" x="3379788" y="5765800"/>
          <p14:tracePt t="73350" x="3379788" y="5748338"/>
          <p14:tracePt t="73367" x="3379788" y="5713413"/>
          <p14:tracePt t="73368" x="3379788" y="5695950"/>
          <p14:tracePt t="73383" x="3379788" y="5688013"/>
          <p14:tracePt t="73385" x="3371850" y="5670550"/>
          <p14:tracePt t="73401" x="3362325" y="5653088"/>
          <p14:tracePt t="73417" x="3344863" y="5618163"/>
          <p14:tracePt t="73433" x="3327400" y="5591175"/>
          <p14:tracePt t="73450" x="3292475" y="5556250"/>
          <p14:tracePt t="73467" x="3240088" y="5503863"/>
          <p14:tracePt t="73483" x="3179763" y="5451475"/>
          <p14:tracePt t="73500" x="3100388" y="5399088"/>
          <p14:tracePt t="73517" x="2978150" y="5364163"/>
          <p14:tracePt t="73533" x="2916238" y="5329238"/>
          <p14:tracePt t="73550" x="2881313" y="5319713"/>
          <p14:tracePt t="73566" x="2863850" y="5302250"/>
          <p14:tracePt t="73583" x="2828925" y="5294313"/>
          <p14:tracePt t="73585" x="2811463" y="5284788"/>
          <p14:tracePt t="73600" x="2759075" y="5267325"/>
          <p14:tracePt t="73617" x="2716213" y="5259388"/>
          <p14:tracePt t="73633" x="2654300" y="5241925"/>
          <p14:tracePt t="73650" x="2566988" y="5232400"/>
          <p14:tracePt t="73666" x="2532063" y="5232400"/>
          <p14:tracePt t="73683" x="2489200" y="5232400"/>
          <p14:tracePt t="73700" x="2462213" y="5224463"/>
          <p14:tracePt t="73717" x="2444750" y="5224463"/>
          <p14:tracePt t="73733" x="2419350" y="5224463"/>
          <p14:tracePt t="73750" x="2357438" y="5224463"/>
          <p14:tracePt t="73766" x="2297113" y="5224463"/>
          <p14:tracePt t="73783" x="2139950" y="5224463"/>
          <p14:tracePt t="73785" x="2078038" y="5224463"/>
          <p14:tracePt t="73800" x="1955800" y="5224463"/>
          <p14:tracePt t="73817" x="1903413" y="5224463"/>
          <p14:tracePt t="73833" x="1860550" y="5224463"/>
          <p14:tracePt t="73850" x="1833563" y="5232400"/>
          <p14:tracePt t="73867" x="1825625" y="5232400"/>
          <p14:tracePt t="73883" x="1798638" y="5241925"/>
          <p14:tracePt t="73900" x="1781175" y="5249863"/>
          <p14:tracePt t="73917" x="1763713" y="5276850"/>
          <p14:tracePt t="73933" x="1728788" y="5302250"/>
          <p14:tracePt t="73950" x="1693863" y="5346700"/>
          <p14:tracePt t="73966" x="1676400" y="5364163"/>
          <p14:tracePt t="73983" x="1651000" y="5399088"/>
          <p14:tracePt t="73985" x="1633538" y="5407025"/>
          <p14:tracePt t="74000" x="1606550" y="5434013"/>
          <p14:tracePt t="74017" x="1598613" y="5451475"/>
          <p14:tracePt t="74033" x="1598613" y="5459413"/>
          <p14:tracePt t="74050" x="1589088" y="5495925"/>
          <p14:tracePt t="74066" x="1589088" y="5530850"/>
          <p14:tracePt t="74083" x="1589088" y="5556250"/>
          <p14:tracePt t="74100" x="1616075" y="5591175"/>
          <p14:tracePt t="74117" x="1633538" y="5618163"/>
          <p14:tracePt t="74133" x="1633538" y="5653088"/>
          <p14:tracePt t="74150" x="1641475" y="5670550"/>
          <p14:tracePt t="74166" x="1658938" y="5688013"/>
          <p14:tracePt t="74183" x="1668463" y="5705475"/>
          <p14:tracePt t="74185" x="1685925" y="5713413"/>
          <p14:tracePt t="74200" x="1711325" y="5740400"/>
          <p14:tracePt t="74217" x="1746250" y="5757863"/>
          <p14:tracePt t="74233" x="1781175" y="5775325"/>
          <p14:tracePt t="74250" x="1825625" y="5783263"/>
          <p14:tracePt t="74266" x="1843088" y="5800725"/>
          <p14:tracePt t="74283" x="1860550" y="5810250"/>
          <p14:tracePt t="74300" x="1895475" y="5835650"/>
          <p14:tracePt t="74317" x="1920875" y="5853113"/>
          <p14:tracePt t="74333" x="1965325" y="5862638"/>
          <p14:tracePt t="74350" x="2052638" y="5870575"/>
          <p14:tracePt t="74367" x="2095500" y="5870575"/>
          <p14:tracePt t="74383" x="2244725" y="5870575"/>
          <p14:tracePt t="74385" x="2270125" y="5870575"/>
          <p14:tracePt t="74400" x="2506663" y="5870575"/>
          <p14:tracePt t="74416" x="2681288" y="5870575"/>
          <p14:tracePt t="74433" x="2820988" y="5870575"/>
          <p14:tracePt t="74450" x="2986088" y="5870575"/>
          <p14:tracePt t="74466" x="3117850" y="5870575"/>
          <p14:tracePt t="74483" x="3222625" y="5870575"/>
          <p14:tracePt t="74500" x="3267075" y="5870575"/>
          <p14:tracePt t="74517" x="3319463" y="5870575"/>
          <p14:tracePt t="74533" x="3362325" y="5870575"/>
          <p14:tracePt t="74550" x="3397250" y="5870575"/>
          <p14:tracePt t="74566" x="3449638" y="5870575"/>
          <p14:tracePt t="74583" x="3494088" y="5870575"/>
          <p14:tracePt t="74586" x="3502025" y="5870575"/>
          <p14:tracePt t="74600" x="3529013" y="5870575"/>
          <p14:tracePt t="74617" x="3536950" y="5862638"/>
          <p14:tracePt t="74656" x="3536950" y="5853113"/>
          <p14:tracePt t="74713" x="3536950" y="5845175"/>
          <p14:tracePt t="74721" x="3536950" y="5827713"/>
          <p14:tracePt t="74729" x="3536950" y="5818188"/>
          <p14:tracePt t="74737" x="3536950" y="5783263"/>
          <p14:tracePt t="74750" x="3536950" y="5765800"/>
          <p14:tracePt t="74766" x="3529013" y="5635625"/>
          <p14:tracePt t="74769" x="3519488" y="5591175"/>
          <p14:tracePt t="74783" x="3519488" y="5486400"/>
          <p14:tracePt t="74784" x="3511550" y="5416550"/>
          <p14:tracePt t="74800" x="3511550" y="5389563"/>
          <p14:tracePt t="74801" x="3511550" y="5372100"/>
          <p14:tracePt t="74817" x="3511550" y="5346700"/>
          <p14:tracePt t="74833" x="3511550" y="5329238"/>
          <p14:tracePt t="74850" x="3511550" y="5319713"/>
          <p14:tracePt t="75105" x="0" y="0"/>
        </p14:tracePtLst>
        <p14:tracePtLst>
          <p14:tracePt t="77468" x="2698750" y="5775325"/>
          <p14:tracePt t="77528" x="2698750" y="5765800"/>
          <p14:tracePt t="77552" x="2706688" y="5765800"/>
          <p14:tracePt t="77592" x="2716213" y="5765800"/>
          <p14:tracePt t="77617" x="2724150" y="5765800"/>
          <p14:tracePt t="77640" x="2733675" y="5765800"/>
          <p14:tracePt t="77649" x="2741613" y="5757863"/>
          <p14:tracePt t="77673" x="2751138" y="5757863"/>
          <p14:tracePt t="77689" x="2751138" y="5748338"/>
          <p14:tracePt t="77705" x="2759075" y="5748338"/>
          <p14:tracePt t="77712" x="2759075" y="5740400"/>
          <p14:tracePt t="77721" x="2768600" y="5722938"/>
          <p14:tracePt t="77733" x="2776538" y="5722938"/>
          <p14:tracePt t="77749" x="2776538" y="5705475"/>
          <p14:tracePt t="77766" x="2776538" y="5688013"/>
          <p14:tracePt t="77783" x="2776538" y="5670550"/>
          <p14:tracePt t="77784" x="2776538" y="5661025"/>
          <p14:tracePt t="77799" x="2776538" y="5643563"/>
          <p14:tracePt t="77801" x="2776538" y="5635625"/>
          <p14:tracePt t="77816" x="2776538" y="5608638"/>
          <p14:tracePt t="77833" x="2786063" y="5583238"/>
          <p14:tracePt t="77849" x="2786063" y="5573713"/>
          <p14:tracePt t="77866" x="2776538" y="5556250"/>
          <p14:tracePt t="77883" x="2759075" y="5521325"/>
          <p14:tracePt t="77905" x="2759075" y="5513388"/>
          <p14:tracePt t="77916" x="2741613" y="5495925"/>
          <p14:tracePt t="77933" x="2724150" y="5486400"/>
          <p14:tracePt t="77949" x="2724150" y="5476875"/>
          <p14:tracePt t="77966" x="2706688" y="5468938"/>
          <p14:tracePt t="78001" x="2698750" y="5468938"/>
          <p14:tracePt t="78040" x="2689225" y="5468938"/>
          <p14:tracePt t="78064" x="2681288" y="5468938"/>
          <p14:tracePt t="78090" x="2671763" y="5468938"/>
          <p14:tracePt t="78144" x="2663825" y="5476875"/>
          <p14:tracePt t="78153" x="2663825" y="5486400"/>
          <p14:tracePt t="78160" x="2654300" y="5486400"/>
          <p14:tracePt t="78169" x="2646363" y="5495925"/>
          <p14:tracePt t="78183" x="2646363" y="5503863"/>
          <p14:tracePt t="78184" x="2636838" y="5503863"/>
          <p14:tracePt t="78199" x="2628900" y="5513388"/>
          <p14:tracePt t="78200" x="2619375" y="5521325"/>
          <p14:tracePt t="78216" x="2611438" y="5530850"/>
          <p14:tracePt t="78232" x="2593975" y="5548313"/>
          <p14:tracePt t="78249" x="2584450" y="5556250"/>
          <p14:tracePt t="78266" x="2566988" y="5573713"/>
          <p14:tracePt t="78296" x="2566988" y="5583238"/>
          <p14:tracePt t="78312" x="2559050" y="5591175"/>
          <p14:tracePt t="78320" x="2549525" y="5600700"/>
          <p14:tracePt t="78337" x="2549525" y="5608638"/>
          <p14:tracePt t="78349" x="2541588" y="5608638"/>
          <p14:tracePt t="78366" x="2532063" y="5618163"/>
          <p14:tracePt t="78382" x="2524125" y="5635625"/>
          <p14:tracePt t="78399" x="2514600" y="5643563"/>
          <p14:tracePt t="78401" x="2506663" y="5643563"/>
          <p14:tracePt t="78416" x="2506663" y="5653088"/>
          <p14:tracePt t="78432" x="2506663" y="5661025"/>
          <p14:tracePt t="78449" x="2489200" y="5670550"/>
          <p14:tracePt t="78466" x="2479675" y="5670550"/>
          <p14:tracePt t="78483" x="2479675" y="5678488"/>
          <p14:tracePt t="78499" x="2479675" y="5688013"/>
          <p14:tracePt t="78516" x="2479675" y="5705475"/>
          <p14:tracePt t="78533" x="2479675" y="5722938"/>
          <p14:tracePt t="78549" x="2479675" y="5730875"/>
          <p14:tracePt t="78566" x="2497138" y="5757863"/>
          <p14:tracePt t="78582" x="2497138" y="5765800"/>
          <p14:tracePt t="78599" x="2506663" y="5775325"/>
          <p14:tracePt t="78601" x="2514600" y="5775325"/>
          <p14:tracePt t="78616" x="2524125" y="5783263"/>
          <p14:tracePt t="78632" x="2541588" y="5792788"/>
          <p14:tracePt t="78649" x="2549525" y="5800725"/>
          <p14:tracePt t="78666" x="2566988" y="5810250"/>
          <p14:tracePt t="78682" x="2593975" y="5818188"/>
          <p14:tracePt t="78705" x="2601913" y="5818188"/>
          <p14:tracePt t="78716" x="2611438" y="5818188"/>
          <p14:tracePt t="78744" x="2619375" y="5818188"/>
          <p14:tracePt t="78833" x="2628900" y="5818188"/>
          <p14:tracePt t="78888" x="2636838" y="5818188"/>
          <p14:tracePt t="78937" x="2646363" y="5818188"/>
          <p14:tracePt t="78944" x="2654300" y="5818188"/>
          <p14:tracePt t="78961" x="2663825" y="5818188"/>
          <p14:tracePt t="78969" x="2671763" y="5827713"/>
          <p14:tracePt t="78982" x="2681288" y="5827713"/>
          <p14:tracePt t="78999" x="2698750" y="5845175"/>
          <p14:tracePt t="79016" x="2706688" y="5853113"/>
          <p14:tracePt t="79032" x="2716213" y="5853113"/>
          <p14:tracePt t="79137" x="2716213" y="5862638"/>
          <p14:tracePt t="79185" x="2716213" y="5880100"/>
          <p14:tracePt t="79200" x="2716213" y="5888038"/>
          <p14:tracePt t="79209" x="2724150" y="5897563"/>
          <p14:tracePt t="79216" x="2724150" y="5905500"/>
          <p14:tracePt t="79233" x="2733675" y="5922963"/>
          <p14:tracePt t="79249" x="2741613" y="5940425"/>
          <p14:tracePt t="79266" x="2751138" y="5949950"/>
          <p14:tracePt t="79288" x="2751138" y="5957888"/>
          <p14:tracePt t="79600" x="2751138" y="5949950"/>
          <p14:tracePt t="79616" x="2751138" y="5940425"/>
          <p14:tracePt t="79625" x="2751138" y="5932488"/>
          <p14:tracePt t="79649" x="2751138" y="5922963"/>
          <p14:tracePt t="79665" x="2751138" y="5915025"/>
          <p14:tracePt t="79681" x="2751138" y="5905500"/>
          <p14:tracePt t="79713" x="2751138" y="5897563"/>
          <p14:tracePt t="79753" x="2751138" y="5888038"/>
          <p14:tracePt t="79776" x="2751138" y="5880100"/>
          <p14:tracePt t="79785" x="2751138" y="5870575"/>
          <p14:tracePt t="79792" x="2751138" y="5862638"/>
          <p14:tracePt t="79809" x="2751138" y="5853113"/>
          <p14:tracePt t="79816" x="2741613" y="5853113"/>
          <p14:tracePt t="79840" x="2741613" y="5845175"/>
          <p14:tracePt t="80353" x="0" y="0"/>
        </p14:tracePtLst>
        <p14:tracePtLst>
          <p14:tracePt t="85492" x="2654300" y="5862638"/>
          <p14:tracePt t="85529" x="2663825" y="5862638"/>
          <p14:tracePt t="85568" x="2671763" y="5862638"/>
          <p14:tracePt t="85608" x="2681288" y="5862638"/>
          <p14:tracePt t="85656" x="2698750" y="5862638"/>
          <p14:tracePt t="85664" x="2698750" y="5853113"/>
          <p14:tracePt t="85673" x="2706688" y="5845175"/>
          <p14:tracePt t="85681" x="2716213" y="5845175"/>
          <p14:tracePt t="85698" x="2724150" y="5835650"/>
          <p14:tracePt t="85715" x="2751138" y="5810250"/>
          <p14:tracePt t="85731" x="2759075" y="5800725"/>
          <p14:tracePt t="85748" x="2776538" y="5783263"/>
          <p14:tracePt t="85765" x="2776538" y="5765800"/>
          <p14:tracePt t="85781" x="2776538" y="5740400"/>
          <p14:tracePt t="85798" x="2776538" y="5722938"/>
          <p14:tracePt t="85815" x="2776538" y="5688013"/>
          <p14:tracePt t="85817" x="2776538" y="5678488"/>
          <p14:tracePt t="85831" x="2776538" y="5661025"/>
          <p14:tracePt t="85833" x="2776538" y="5653088"/>
          <p14:tracePt t="85848" x="2776538" y="5618163"/>
          <p14:tracePt t="85865" x="2768600" y="5600700"/>
          <p14:tracePt t="85881" x="2741613" y="5573713"/>
          <p14:tracePt t="85898" x="2733675" y="5548313"/>
          <p14:tracePt t="85915" x="2716213" y="5538788"/>
          <p14:tracePt t="85932" x="2706688" y="5538788"/>
          <p14:tracePt t="85948" x="2706688" y="5530850"/>
          <p14:tracePt t="85964" x="2689225" y="5530850"/>
          <p14:tracePt t="85981" x="2671763" y="5530850"/>
          <p14:tracePt t="85998" x="2663825" y="5530850"/>
          <p14:tracePt t="86015" x="2646363" y="5530850"/>
          <p14:tracePt t="86032" x="2636838" y="5530850"/>
          <p14:tracePt t="86049" x="2628900" y="5530850"/>
          <p14:tracePt t="86065" x="2619375" y="5530850"/>
          <p14:tracePt t="86081" x="2619375" y="5538788"/>
          <p14:tracePt t="86098" x="2611438" y="5548313"/>
          <p14:tracePt t="86115" x="2593975" y="5556250"/>
          <p14:tracePt t="86131" x="2584450" y="5583238"/>
          <p14:tracePt t="86149" x="2566988" y="5608638"/>
          <p14:tracePt t="86165" x="2541588" y="5661025"/>
          <p14:tracePt t="86181" x="2541588" y="5695950"/>
          <p14:tracePt t="86198" x="2541588" y="5722938"/>
          <p14:tracePt t="86215" x="2532063" y="5748338"/>
          <p14:tracePt t="86232" x="2524125" y="5775325"/>
          <p14:tracePt t="86233" x="2524125" y="5783263"/>
          <p14:tracePt t="86249" x="2524125" y="5800725"/>
          <p14:tracePt t="86265" x="2524125" y="5810250"/>
          <p14:tracePt t="86281" x="2541588" y="5827713"/>
          <p14:tracePt t="86298" x="2559050" y="5827713"/>
          <p14:tracePt t="86315" x="2576513" y="5835650"/>
          <p14:tracePt t="86331" x="2601913" y="5835650"/>
          <p14:tracePt t="86348" x="2611438" y="5845175"/>
          <p14:tracePt t="86364" x="2619375" y="5845175"/>
          <p14:tracePt t="86381" x="2628900" y="5845175"/>
          <p14:tracePt t="86416" x="2636838" y="5845175"/>
          <p14:tracePt t="86424" x="2646363" y="5845175"/>
          <p14:tracePt t="86433" x="2654300" y="5845175"/>
          <p14:tracePt t="86448" x="2671763" y="5845175"/>
          <p14:tracePt t="86465" x="2681288" y="5853113"/>
          <p14:tracePt t="86521" x="0" y="0"/>
        </p14:tracePtLst>
        <p14:tracePtLst>
          <p14:tracePt t="88405" x="2716213" y="5573713"/>
          <p14:tracePt t="88408" x="2716213" y="5565775"/>
          <p14:tracePt t="88425" x="2706688" y="5565775"/>
          <p14:tracePt t="88440" x="2698750" y="5565775"/>
          <p14:tracePt t="88448" x="2689225" y="5565775"/>
          <p14:tracePt t="88464" x="2689225" y="5548313"/>
          <p14:tracePt t="88481" x="2671763" y="5548313"/>
          <p14:tracePt t="88498" x="2671763" y="5538788"/>
          <p14:tracePt t="88529" x="2663825" y="5538788"/>
          <p14:tracePt t="88536" x="2654300" y="5530850"/>
          <p14:tracePt t="88548" x="2646363" y="5530850"/>
          <p14:tracePt t="88564" x="2611438" y="5521325"/>
          <p14:tracePt t="88581" x="2593975" y="5521325"/>
          <p14:tracePt t="88598" x="2584450" y="5521325"/>
          <p14:tracePt t="88614" x="2576513" y="5521325"/>
          <p14:tracePt t="88631" x="2566988" y="5521325"/>
          <p14:tracePt t="88647" x="2559050" y="5530850"/>
          <p14:tracePt t="88648" x="2549525" y="5530850"/>
          <p14:tracePt t="88664" x="2524125" y="5565775"/>
          <p14:tracePt t="88681" x="2489200" y="5591175"/>
          <p14:tracePt t="88698" x="2462213" y="5626100"/>
          <p14:tracePt t="88714" x="2427288" y="5670550"/>
          <p14:tracePt t="88731" x="2401888" y="5695950"/>
          <p14:tracePt t="88748" x="2392363" y="5730875"/>
          <p14:tracePt t="88764" x="2392363" y="5757863"/>
          <p14:tracePt t="88781" x="2392363" y="5783263"/>
          <p14:tracePt t="88797" x="2409825" y="5800725"/>
          <p14:tracePt t="88814" x="2427288" y="5818188"/>
          <p14:tracePt t="88831" x="2462213" y="5835650"/>
          <p14:tracePt t="88832" x="2479675" y="5845175"/>
          <p14:tracePt t="88848" x="2489200" y="5853113"/>
          <p14:tracePt t="88865" x="2506663" y="5862638"/>
          <p14:tracePt t="88881" x="2532063" y="5870575"/>
          <p14:tracePt t="88897" x="2541588" y="5870575"/>
          <p14:tracePt t="88914" x="2549525" y="5870575"/>
          <p14:tracePt t="88931" x="2559050" y="5870575"/>
          <p14:tracePt t="88968" x="2566988" y="5870575"/>
          <p14:tracePt t="89001" x="2584450" y="5870575"/>
          <p14:tracePt t="89009" x="2601913" y="5870575"/>
          <p14:tracePt t="89025" x="2611438" y="5870575"/>
          <p14:tracePt t="89032" x="2628900" y="5870575"/>
          <p14:tracePt t="89048" x="2636838" y="5870575"/>
          <p14:tracePt t="89064" x="2654300" y="5862638"/>
          <p14:tracePt t="89081" x="2663825" y="5853113"/>
          <p14:tracePt t="89098" x="2671763" y="5853113"/>
          <p14:tracePt t="89114" x="2671763" y="5845175"/>
          <p14:tracePt t="89131" x="2681288" y="5845175"/>
          <p14:tracePt t="89201" x="2681288" y="5835650"/>
          <p14:tracePt t="89216" x="2681288" y="5827713"/>
          <p14:tracePt t="89233" x="2681288" y="5818188"/>
          <p14:tracePt t="89240" x="2689225" y="5810250"/>
          <p14:tracePt t="89248" x="2698750" y="5810250"/>
          <p14:tracePt t="89265" x="0" y="0"/>
        </p14:tracePtLst>
        <p14:tracePtLst>
          <p14:tracePt t="93814" x="2654300" y="4456113"/>
          <p14:tracePt t="93817" x="2671763" y="4446588"/>
          <p14:tracePt t="93848" x="2671763" y="4438650"/>
          <p14:tracePt t="93864" x="2671763" y="4429125"/>
          <p14:tracePt t="93905" x="2654300" y="4421188"/>
          <p14:tracePt t="93912" x="2646363" y="4411663"/>
          <p14:tracePt t="93920" x="2636838" y="4403725"/>
          <p14:tracePt t="93930" x="2619375" y="4403725"/>
          <p14:tracePt t="93947" x="2601913" y="4394200"/>
          <p14:tracePt t="93968" x="2593975" y="4394200"/>
          <p14:tracePt t="93984" x="2584450" y="4394200"/>
          <p14:tracePt t="93997" x="2576513" y="4394200"/>
          <p14:tracePt t="94013" x="2566988" y="4394200"/>
          <p14:tracePt t="94030" x="2549525" y="4394200"/>
          <p14:tracePt t="94047" x="2524125" y="4421188"/>
          <p14:tracePt t="94063" x="2497138" y="4446588"/>
          <p14:tracePt t="94064" x="2479675" y="4464050"/>
          <p14:tracePt t="94080" x="2454275" y="4491038"/>
          <p14:tracePt t="94097" x="2436813" y="4525963"/>
          <p14:tracePt t="94113" x="2436813" y="4551363"/>
          <p14:tracePt t="94131" x="2436813" y="4568825"/>
          <p14:tracePt t="94147" x="2454275" y="4595813"/>
          <p14:tracePt t="94163" x="2479675" y="4613275"/>
          <p14:tracePt t="94180" x="2514600" y="4621213"/>
          <p14:tracePt t="94197" x="2549525" y="4630738"/>
          <p14:tracePt t="94214" x="2628900" y="4648200"/>
          <p14:tracePt t="94230" x="2716213" y="4665663"/>
          <p14:tracePt t="94233" x="2724150" y="4665663"/>
          <p14:tracePt t="94247" x="2733675" y="4665663"/>
          <p14:tracePt t="94352" x="2733675" y="4630738"/>
          <p14:tracePt t="94369" x="2733675" y="4621213"/>
          <p14:tracePt t="94376" x="2733675" y="4613275"/>
          <p14:tracePt t="94400" x="2733675" y="4603750"/>
          <p14:tracePt t="94417" x="2733675" y="4595813"/>
          <p14:tracePt t="94696" x="2794000" y="4621213"/>
          <p14:tracePt t="94704" x="2803525" y="4630738"/>
          <p14:tracePt t="94713" x="2828925" y="4638675"/>
          <p14:tracePt t="94730" x="2846388" y="4665663"/>
          <p14:tracePt t="94747" x="2863850" y="4683125"/>
          <p14:tracePt t="94763" x="2863850" y="4691063"/>
          <p14:tracePt t="94793" x="0" y="0"/>
        </p14:tracePtLst>
        <p14:tracePtLst>
          <p14:tracePt t="101253" x="2873375" y="4648200"/>
          <p14:tracePt t="101337" x="2881313" y="4648200"/>
          <p14:tracePt t="101360" x="2890838" y="4656138"/>
          <p14:tracePt t="101368" x="2898775" y="4665663"/>
          <p14:tracePt t="101379" x="2908300" y="4673600"/>
          <p14:tracePt t="101396" x="2916238" y="4683125"/>
          <p14:tracePt t="101412" x="2933700" y="4691063"/>
          <p14:tracePt t="101429" x="2968625" y="4700588"/>
          <p14:tracePt t="101446" x="2995613" y="4700588"/>
          <p14:tracePt t="101462" x="3013075" y="4708525"/>
          <p14:tracePt t="101479" x="3021013" y="4708525"/>
          <p14:tracePt t="101480" x="3030538" y="4708525"/>
          <p14:tracePt t="101496" x="3048000" y="4718050"/>
          <p14:tracePt t="101512" x="3065463" y="4725988"/>
          <p14:tracePt t="101529" x="3092450" y="4735513"/>
          <p14:tracePt t="101546" x="3100388" y="4743450"/>
          <p14:tracePt t="101562" x="3117850" y="4743450"/>
          <p14:tracePt t="101579" x="3135313" y="4752975"/>
          <p14:tracePt t="101596" x="3152775" y="4752975"/>
          <p14:tracePt t="101612" x="3170238" y="4752975"/>
          <p14:tracePt t="101629" x="3197225" y="4752975"/>
          <p14:tracePt t="101645" x="3232150" y="4752975"/>
          <p14:tracePt t="101662" x="3257550" y="4752975"/>
          <p14:tracePt t="101679" x="3292475" y="4752975"/>
          <p14:tracePt t="101696" x="3319463" y="4752975"/>
          <p14:tracePt t="101697" x="3336925" y="4752975"/>
          <p14:tracePt t="101712" x="3371850" y="4752975"/>
          <p14:tracePt t="101729" x="3389313" y="4752975"/>
          <p14:tracePt t="101745" x="3406775" y="4752975"/>
          <p14:tracePt t="101762" x="3424238" y="4752975"/>
          <p14:tracePt t="101779" x="3432175" y="4752975"/>
          <p14:tracePt t="101796" x="3449638" y="4743450"/>
          <p14:tracePt t="101812" x="3467100" y="4725988"/>
          <p14:tracePt t="101829" x="3484563" y="4718050"/>
          <p14:tracePt t="101845" x="3502025" y="4700588"/>
          <p14:tracePt t="101862" x="3511550" y="4683125"/>
          <p14:tracePt t="101879" x="3519488" y="4665663"/>
          <p14:tracePt t="101896" x="3529013" y="4638675"/>
          <p14:tracePt t="101897" x="3529013" y="4630738"/>
          <p14:tracePt t="101912" x="3529013" y="4595813"/>
          <p14:tracePt t="101929" x="3529013" y="4578350"/>
          <p14:tracePt t="101945" x="3529013" y="4560888"/>
          <p14:tracePt t="101962" x="3529013" y="4543425"/>
          <p14:tracePt t="101979" x="3529013" y="4525963"/>
          <p14:tracePt t="101996" x="3529013" y="4498975"/>
          <p14:tracePt t="102012" x="3511550" y="4481513"/>
          <p14:tracePt t="102029" x="3502025" y="4473575"/>
          <p14:tracePt t="102045" x="3494088" y="4446588"/>
          <p14:tracePt t="102062" x="3476625" y="4446588"/>
          <p14:tracePt t="102079" x="3467100" y="4429125"/>
          <p14:tracePt t="102096" x="3449638" y="4421188"/>
          <p14:tracePt t="102112" x="3432175" y="4411663"/>
          <p14:tracePt t="102129" x="3424238" y="4403725"/>
          <p14:tracePt t="102145" x="3414713" y="4403725"/>
          <p14:tracePt t="102162" x="3397250" y="4394200"/>
          <p14:tracePt t="102179" x="3379788" y="4386263"/>
          <p14:tracePt t="102195" x="3371850" y="4376738"/>
          <p14:tracePt t="102212" x="3354388" y="4359275"/>
          <p14:tracePt t="102229" x="3336925" y="4359275"/>
          <p14:tracePt t="102245" x="3327400" y="4351338"/>
          <p14:tracePt t="102262" x="3309938" y="4351338"/>
          <p14:tracePt t="102279" x="3302000" y="4351338"/>
          <p14:tracePt t="102295" x="3275013" y="4341813"/>
          <p14:tracePt t="102297" x="3267075" y="4341813"/>
          <p14:tracePt t="102312" x="3232150" y="4333875"/>
          <p14:tracePt t="102329" x="3187700" y="4333875"/>
          <p14:tracePt t="102345" x="3162300" y="4333875"/>
          <p14:tracePt t="102362" x="3135313" y="4333875"/>
          <p14:tracePt t="102379" x="3109913" y="4333875"/>
          <p14:tracePt t="102396" x="3092450" y="4333875"/>
          <p14:tracePt t="102412" x="3082925" y="4333875"/>
          <p14:tracePt t="102429" x="3065463" y="4341813"/>
          <p14:tracePt t="102446" x="3048000" y="4341813"/>
          <p14:tracePt t="102462" x="3030538" y="4359275"/>
          <p14:tracePt t="102479" x="2978150" y="4368800"/>
          <p14:tracePt t="102496" x="2960688" y="4368800"/>
          <p14:tracePt t="102497" x="2951163" y="4368800"/>
          <p14:tracePt t="102512" x="2943225" y="4368800"/>
          <p14:tracePt t="102529" x="2943225" y="4376738"/>
          <p14:tracePt t="102546" x="2933700" y="4376738"/>
          <p14:tracePt t="102562" x="2925763" y="4386263"/>
          <p14:tracePt t="102579" x="2908300" y="4394200"/>
          <p14:tracePt t="102595" x="2881313" y="4446588"/>
          <p14:tracePt t="102612" x="2863850" y="4473575"/>
          <p14:tracePt t="102629" x="2855913" y="4498975"/>
          <p14:tracePt t="102646" x="2846388" y="4508500"/>
          <p14:tracePt t="102662" x="2846388" y="4525963"/>
          <p14:tracePt t="102679" x="2846388" y="4551363"/>
          <p14:tracePt t="102680" x="2855913" y="4560888"/>
          <p14:tracePt t="102696" x="2855913" y="4568825"/>
          <p14:tracePt t="102696" x="2873375" y="4578350"/>
          <p14:tracePt t="102712" x="2908300" y="4603750"/>
          <p14:tracePt t="102729" x="2943225" y="4638675"/>
          <p14:tracePt t="102745" x="2978150" y="4673600"/>
          <p14:tracePt t="102762" x="2995613" y="4691063"/>
          <p14:tracePt t="102779" x="3003550" y="4708525"/>
          <p14:tracePt t="102795" x="3021013" y="4725988"/>
          <p14:tracePt t="102812" x="3030538" y="4735513"/>
          <p14:tracePt t="102829" x="3048000" y="4743450"/>
          <p14:tracePt t="102846" x="3065463" y="4743450"/>
          <p14:tracePt t="102862" x="3082925" y="4743450"/>
          <p14:tracePt t="102879" x="3109913" y="4752975"/>
          <p14:tracePt t="102895" x="3127375" y="4770438"/>
          <p14:tracePt t="102993" x="3135313" y="4770438"/>
          <p14:tracePt t="103041" x="3144838" y="4770438"/>
          <p14:tracePt t="103049" x="3152775" y="4770438"/>
          <p14:tracePt t="103056" x="3162300" y="4770438"/>
          <p14:tracePt t="103064" x="3179763" y="4770438"/>
          <p14:tracePt t="103078" x="3187700" y="4770438"/>
          <p14:tracePt t="103095" x="3284538" y="4778375"/>
          <p14:tracePt t="103096" x="3292475" y="4778375"/>
          <p14:tracePt t="103112" x="3424238" y="4778375"/>
          <p14:tracePt t="103128" x="3467100" y="4778375"/>
          <p14:tracePt t="103145" x="3484563" y="4778375"/>
          <p14:tracePt t="103162" x="3502025" y="4778375"/>
          <p14:tracePt t="103179" x="3511550" y="4770438"/>
          <p14:tracePt t="103195" x="3519488" y="4770438"/>
          <p14:tracePt t="103225" x="3529013" y="4770438"/>
          <p14:tracePt t="103233" x="3529013" y="4760913"/>
          <p14:tracePt t="103245" x="3536950" y="4760913"/>
          <p14:tracePt t="103262" x="3546475" y="4743450"/>
          <p14:tracePt t="103279" x="3563938" y="4743450"/>
          <p14:tracePt t="103280" x="3571875" y="4735513"/>
          <p14:tracePt t="103295" x="3581400" y="4718050"/>
          <p14:tracePt t="103296" x="3589338" y="4708525"/>
          <p14:tracePt t="103312" x="3598863" y="4691063"/>
          <p14:tracePt t="103329" x="3606800" y="4683125"/>
          <p14:tracePt t="103345" x="3616325" y="4665663"/>
          <p14:tracePt t="103368" x="3616325" y="4656138"/>
          <p14:tracePt t="103379" x="3606800" y="4656138"/>
          <p14:tracePt t="103395" x="3598863" y="4648200"/>
          <p14:tracePt t="103412" x="3589338" y="4638675"/>
          <p14:tracePt t="103429" x="3571875" y="4621213"/>
          <p14:tracePt t="103445" x="3546475" y="4603750"/>
          <p14:tracePt t="103462" x="3511550" y="4578350"/>
          <p14:tracePt t="103479" x="3484563" y="4543425"/>
          <p14:tracePt t="103481" x="3467100" y="4533900"/>
          <p14:tracePt t="103495" x="3449638" y="4516438"/>
          <p14:tracePt t="103497" x="3441700" y="4508500"/>
          <p14:tracePt t="103512" x="3414713" y="4491038"/>
          <p14:tracePt t="103529" x="3397250" y="4464050"/>
          <p14:tracePt t="103545" x="3371850" y="4464050"/>
          <p14:tracePt t="103562" x="3344863" y="4446588"/>
          <p14:tracePt t="103579" x="3336925" y="4429125"/>
          <p14:tracePt t="103595" x="3309938" y="4421188"/>
          <p14:tracePt t="103616" x="3302000" y="4403725"/>
          <p14:tracePt t="103629" x="3292475" y="4386263"/>
          <p14:tracePt t="103645" x="3275013" y="4386263"/>
          <p14:tracePt t="103662" x="3249613" y="4368800"/>
          <p14:tracePt t="103679" x="3232150" y="4359275"/>
          <p14:tracePt t="103696" x="3214688" y="4341813"/>
          <p14:tracePt t="103697" x="3205163" y="4333875"/>
          <p14:tracePt t="103712" x="3187700" y="4333875"/>
          <p14:tracePt t="103728" x="3162300" y="4324350"/>
          <p14:tracePt t="103745" x="3144838" y="4316413"/>
          <p14:tracePt t="103762" x="3127375" y="4316413"/>
          <p14:tracePt t="103779" x="3109913" y="4316413"/>
          <p14:tracePt t="103795" x="3082925" y="4316413"/>
          <p14:tracePt t="103812" x="3074988" y="4316413"/>
          <p14:tracePt t="103828" x="3065463" y="4316413"/>
          <p14:tracePt t="103845" x="3038475" y="4324350"/>
          <p14:tracePt t="103866" x="3030538" y="4324350"/>
          <p14:tracePt t="103878" x="3030538" y="4333875"/>
          <p14:tracePt t="103895" x="3021013" y="4341813"/>
          <p14:tracePt t="103896" x="3013075" y="4341813"/>
          <p14:tracePt t="103912" x="2995613" y="4341813"/>
          <p14:tracePt t="103928" x="2995613" y="4351338"/>
          <p14:tracePt t="103945" x="2995613" y="4359275"/>
          <p14:tracePt t="103962" x="2978150" y="4359275"/>
          <p14:tracePt t="103979" x="2968625" y="4368800"/>
          <p14:tracePt t="103995" x="2968625" y="4376738"/>
          <p14:tracePt t="104012" x="2960688" y="4394200"/>
          <p14:tracePt t="104029" x="2960688" y="4429125"/>
          <p14:tracePt t="104045" x="2960688" y="4464050"/>
          <p14:tracePt t="104062" x="2968625" y="4481513"/>
          <p14:tracePt t="104078" x="2995613" y="4516438"/>
          <p14:tracePt t="104081" x="3013075" y="4525963"/>
          <p14:tracePt t="104095" x="3013075" y="4533900"/>
          <p14:tracePt t="104098" x="3021013" y="4551363"/>
          <p14:tracePt t="104112" x="3038475" y="4560888"/>
          <p14:tracePt t="104129" x="3057525" y="4568825"/>
          <p14:tracePt t="104145" x="3065463" y="4568825"/>
          <p14:tracePt t="104162" x="3082925" y="4568825"/>
          <p14:tracePt t="104179" x="3092450" y="4568825"/>
          <p14:tracePt t="104195" x="3117850" y="4578350"/>
          <p14:tracePt t="104212" x="3162300" y="4578350"/>
          <p14:tracePt t="104229" x="3214688" y="4595813"/>
          <p14:tracePt t="104245" x="3249613" y="4595813"/>
          <p14:tracePt t="104262" x="3257550" y="4595813"/>
          <p14:tracePt t="104279" x="3275013" y="4595813"/>
          <p14:tracePt t="104296" x="3284538" y="4595813"/>
          <p14:tracePt t="104313" x="3292475" y="4595813"/>
          <p14:tracePt t="104384" x="3302000" y="4595813"/>
          <p14:tracePt t="104401" x="3309938" y="4595813"/>
          <p14:tracePt t="104409" x="3319463" y="4595813"/>
          <p14:tracePt t="104417" x="3327400" y="4595813"/>
          <p14:tracePt t="104429" x="3336925" y="4595813"/>
          <p14:tracePt t="104445" x="3362325" y="4595813"/>
          <p14:tracePt t="104462" x="3379788" y="4595813"/>
          <p14:tracePt t="104479" x="3397250" y="4595813"/>
          <p14:tracePt t="104495" x="3424238" y="4595813"/>
          <p14:tracePt t="104512" x="3441700" y="4595813"/>
          <p14:tracePt t="104690" x="0" y="0"/>
        </p14:tracePtLst>
        <p14:tracePtLst>
          <p14:tracePt t="111309" x="2995613" y="4281488"/>
          <p14:tracePt t="111312" x="3003550" y="4281488"/>
          <p14:tracePt t="111328" x="3013075" y="4281488"/>
          <p14:tracePt t="111344" x="3038475" y="4281488"/>
          <p14:tracePt t="111361" x="3057525" y="4281488"/>
          <p14:tracePt t="111378" x="3074988" y="4281488"/>
          <p14:tracePt t="111394" x="3092450" y="4281488"/>
          <p14:tracePt t="111411" x="3100388" y="4281488"/>
          <p14:tracePt t="111440" x="3109913" y="4281488"/>
          <p14:tracePt t="111448" x="3117850" y="4281488"/>
          <p14:tracePt t="111461" x="3117850" y="4271963"/>
          <p14:tracePt t="111477" x="3135313" y="4254500"/>
          <p14:tracePt t="111494" x="3152775" y="4246563"/>
          <p14:tracePt t="111511" x="3152775" y="4219575"/>
          <p14:tracePt t="111527" x="3152775" y="4194175"/>
          <p14:tracePt t="111529" x="3152775" y="4184650"/>
          <p14:tracePt t="111544" x="3152775" y="4141788"/>
          <p14:tracePt t="111561" x="3117850" y="4097338"/>
          <p14:tracePt t="111577" x="3074988" y="4070350"/>
          <p14:tracePt t="111594" x="3057525" y="4052888"/>
          <p14:tracePt t="111611" x="3030538" y="4044950"/>
          <p14:tracePt t="111627" x="3003550" y="4044950"/>
          <p14:tracePt t="111644" x="2986088" y="4035425"/>
          <p14:tracePt t="111661" x="2978150" y="4035425"/>
          <p14:tracePt t="111677" x="2968625" y="4035425"/>
          <p14:tracePt t="111695" x="2960688" y="4035425"/>
          <p14:tracePt t="111711" x="2951163" y="4044950"/>
          <p14:tracePt t="111727" x="2898775" y="4087813"/>
          <p14:tracePt t="111729" x="2881313" y="4105275"/>
          <p14:tracePt t="111744" x="2820988" y="4149725"/>
          <p14:tracePt t="111761" x="2794000" y="4184650"/>
          <p14:tracePt t="111777" x="2786063" y="4194175"/>
          <p14:tracePt t="111795" x="2786063" y="4202113"/>
          <p14:tracePt t="111810" x="2786063" y="4211638"/>
          <p14:tracePt t="111841" x="2794000" y="4202113"/>
          <p14:tracePt t="111858" x="2803525" y="4202113"/>
          <p14:tracePt t="111881" x="2811463" y="4202113"/>
          <p14:tracePt t="111897" x="2820988" y="4202113"/>
          <p14:tracePt t="111913" x="2820988" y="4194175"/>
          <p14:tracePt t="111915" x="0" y="0"/>
        </p14:tracePtLst>
        <p14:tracePtLst>
          <p14:tracePt t="119892" x="3021013" y="4648200"/>
          <p14:tracePt t="119904" x="3030538" y="4648200"/>
          <p14:tracePt t="119961" x="3038475" y="4648200"/>
          <p14:tracePt t="120000" x="3057525" y="4648200"/>
          <p14:tracePt t="120008" x="3065463" y="4648200"/>
          <p14:tracePt t="120016" x="3082925" y="4648200"/>
          <p14:tracePt t="120026" x="3092450" y="4648200"/>
          <p14:tracePt t="120043" x="3117850" y="4656138"/>
          <p14:tracePt t="120059" x="3144838" y="4673600"/>
          <p14:tracePt t="120076" x="3162300" y="4673600"/>
          <p14:tracePt t="120093" x="3179763" y="4683125"/>
          <p14:tracePt t="120110" x="3187700" y="4683125"/>
          <p14:tracePt t="120126" x="3197225" y="4691063"/>
          <p14:tracePt t="120142" x="3205163" y="4691063"/>
          <p14:tracePt t="120159" x="3222625" y="4691063"/>
          <p14:tracePt t="120161" x="3232150" y="4691063"/>
          <p14:tracePt t="120177" x="3249613" y="4691063"/>
          <p14:tracePt t="120193" x="3267075" y="4691063"/>
          <p14:tracePt t="120209" x="3284538" y="4691063"/>
          <p14:tracePt t="120226" x="3302000" y="4691063"/>
          <p14:tracePt t="120243" x="3319463" y="4691063"/>
          <p14:tracePt t="120259" x="3327400" y="4691063"/>
          <p14:tracePt t="120276" x="3354388" y="4700588"/>
          <p14:tracePt t="120293" x="3379788" y="4700588"/>
          <p14:tracePt t="120310" x="3389313" y="4700588"/>
          <p14:tracePt t="120326" x="3414713" y="4691063"/>
          <p14:tracePt t="120343" x="3432175" y="4683125"/>
          <p14:tracePt t="120345" x="3441700" y="4673600"/>
          <p14:tracePt t="120360" x="3441700" y="4665663"/>
          <p14:tracePt t="120361" x="3449638" y="4665663"/>
          <p14:tracePt t="120376" x="3467100" y="4665663"/>
          <p14:tracePt t="120393" x="3484563" y="4648200"/>
          <p14:tracePt t="120409" x="3502025" y="4638675"/>
          <p14:tracePt t="120426" x="3511550" y="4638675"/>
          <p14:tracePt t="120443" x="3519488" y="4613275"/>
          <p14:tracePt t="120459" x="3529013" y="4595813"/>
          <p14:tracePt t="120476" x="3536950" y="4578350"/>
          <p14:tracePt t="120493" x="3536950" y="4560888"/>
          <p14:tracePt t="120510" x="3536950" y="4551363"/>
          <p14:tracePt t="120526" x="3536950" y="4543425"/>
          <p14:tracePt t="120545" x="3529013" y="4533900"/>
          <p14:tracePt t="120560" x="3519488" y="4533900"/>
          <p14:tracePt t="120561" x="3511550" y="4533900"/>
          <p14:tracePt t="120577" x="3494088" y="4516438"/>
          <p14:tracePt t="120593" x="3467100" y="4508500"/>
          <p14:tracePt t="120609" x="3441700" y="4508500"/>
          <p14:tracePt t="120626" x="3424238" y="4508500"/>
          <p14:tracePt t="120643" x="3414713" y="4508500"/>
          <p14:tracePt t="120659" x="3397250" y="4498975"/>
          <p14:tracePt t="120676" x="3371850" y="4498975"/>
          <p14:tracePt t="120692" x="3354388" y="4491038"/>
          <p14:tracePt t="120709" x="3336925" y="4491038"/>
          <p14:tracePt t="120726" x="3302000" y="4481513"/>
          <p14:tracePt t="120743" x="3292475" y="4481513"/>
          <p14:tracePt t="120744" x="3284538" y="4481513"/>
          <p14:tracePt t="120761" x="3275013" y="4481513"/>
          <p14:tracePt t="120777" x="3267075" y="4481513"/>
          <p14:tracePt t="120793" x="3249613" y="4481513"/>
          <p14:tracePt t="120809" x="3240088" y="4473575"/>
          <p14:tracePt t="120826" x="3205163" y="4464050"/>
          <p14:tracePt t="120843" x="3197225" y="4464050"/>
          <p14:tracePt t="120859" x="3187700" y="4446588"/>
          <p14:tracePt t="120876" x="3170238" y="4446588"/>
          <p14:tracePt t="120893" x="3162300" y="4438650"/>
          <p14:tracePt t="120909" x="3152775" y="4438650"/>
          <p14:tracePt t="120926" x="3144838" y="4438650"/>
          <p14:tracePt t="120953" x="3135313" y="4438650"/>
          <p14:tracePt t="120969" x="3127375" y="4438650"/>
          <p14:tracePt t="120976" x="3117850" y="4438650"/>
          <p14:tracePt t="120993" x="3109913" y="4438650"/>
          <p14:tracePt t="121009" x="3082925" y="4438650"/>
          <p14:tracePt t="121026" x="3038475" y="4446588"/>
          <p14:tracePt t="121043" x="2995613" y="4464050"/>
          <p14:tracePt t="121059" x="2960688" y="4481513"/>
          <p14:tracePt t="121076" x="2943225" y="4498975"/>
          <p14:tracePt t="121092" x="2933700" y="4525963"/>
          <p14:tracePt t="121109" x="2925763" y="4551363"/>
          <p14:tracePt t="121126" x="2925763" y="4578350"/>
          <p14:tracePt t="121143" x="2943225" y="4595813"/>
          <p14:tracePt t="121144" x="2960688" y="4603750"/>
          <p14:tracePt t="121159" x="2968625" y="4621213"/>
          <p14:tracePt t="121161" x="2986088" y="4630738"/>
          <p14:tracePt t="121176" x="3013075" y="4638675"/>
          <p14:tracePt t="121193" x="3048000" y="4648200"/>
          <p14:tracePt t="121209" x="3065463" y="4648200"/>
          <p14:tracePt t="121226" x="3074988" y="4648200"/>
          <p14:tracePt t="121242" x="3109913" y="4656138"/>
          <p14:tracePt t="121259" x="3117850" y="4656138"/>
          <p14:tracePt t="121276" x="3135313" y="4656138"/>
          <p14:tracePt t="121293" x="3152775" y="4656138"/>
          <p14:tracePt t="121309" x="3162300" y="4656138"/>
          <p14:tracePt t="121326" x="3179763" y="4656138"/>
          <p14:tracePt t="121342" x="3187700" y="4656138"/>
          <p14:tracePt t="121359" x="3205163" y="4656138"/>
          <p14:tracePt t="121457" x="3214688" y="4656138"/>
          <p14:tracePt t="121473" x="3222625" y="4656138"/>
          <p14:tracePt t="121576" x="3232150" y="4656138"/>
          <p14:tracePt t="121585" x="3249613" y="4648200"/>
          <p14:tracePt t="121633" x="0" y="0"/>
        </p14:tracePtLst>
        <p14:tracePtLst>
          <p14:tracePt t="128972" x="2794000" y="4613275"/>
          <p14:tracePt t="129096" x="2803525" y="4613275"/>
          <p14:tracePt t="129129" x="2811463" y="4613275"/>
          <p14:tracePt t="129193" x="2811463" y="4603750"/>
          <p14:tracePt t="129208" x="2811463" y="4595813"/>
          <p14:tracePt t="129217" x="2811463" y="4586288"/>
          <p14:tracePt t="129225" x="2811463" y="4578350"/>
          <p14:tracePt t="129241" x="2811463" y="4568825"/>
          <p14:tracePt t="129258" x="2811463" y="4551363"/>
          <p14:tracePt t="129275" x="2811463" y="4533900"/>
          <p14:tracePt t="129297" x="2811463" y="4525963"/>
          <p14:tracePt t="129308" x="2811463" y="4516438"/>
          <p14:tracePt t="129324" x="2803525" y="4491038"/>
          <p14:tracePt t="129341" x="2794000" y="4481513"/>
          <p14:tracePt t="129358" x="2794000" y="4464050"/>
          <p14:tracePt t="129375" x="2786063" y="4456113"/>
          <p14:tracePt t="129377" x="2776538" y="4456113"/>
          <p14:tracePt t="129391" x="2776538" y="4446588"/>
          <p14:tracePt t="129393" x="2776538" y="4438650"/>
          <p14:tracePt t="129408" x="2768600" y="4429125"/>
          <p14:tracePt t="129425" x="2759075" y="4421188"/>
          <p14:tracePt t="129441" x="2751138" y="4421188"/>
          <p14:tracePt t="129458" x="2741613" y="4411663"/>
          <p14:tracePt t="129475" x="2733675" y="4411663"/>
          <p14:tracePt t="129491" x="2724150" y="4403725"/>
          <p14:tracePt t="129508" x="2716213" y="4403725"/>
          <p14:tracePt t="129524" x="2706688" y="4403725"/>
          <p14:tracePt t="129541" x="2698750" y="4403725"/>
          <p14:tracePt t="129558" x="2689225" y="4394200"/>
          <p14:tracePt t="129575" x="2681288" y="4394200"/>
          <p14:tracePt t="129592" x="2671763" y="4394200"/>
          <p14:tracePt t="129608" x="2646363" y="4394200"/>
          <p14:tracePt t="129625" x="2636838" y="4394200"/>
          <p14:tracePt t="129641" x="2628900" y="4394200"/>
          <p14:tracePt t="129658" x="2619375" y="4394200"/>
          <p14:tracePt t="129674" x="2601913" y="4403725"/>
          <p14:tracePt t="129705" x="2593975" y="4403725"/>
          <p14:tracePt t="129712" x="2584450" y="4403725"/>
          <p14:tracePt t="129728" x="2576513" y="4403725"/>
          <p14:tracePt t="129761" x="2566988" y="4403725"/>
          <p14:tracePt t="129778" x="2559050" y="4403725"/>
          <p14:tracePt t="129792" x="2559050" y="4411663"/>
          <p14:tracePt t="129801" x="2549525" y="4411663"/>
          <p14:tracePt t="129809" x="2541588" y="4411663"/>
          <p14:tracePt t="129824" x="2532063" y="4421188"/>
          <p14:tracePt t="129857" x="2524125" y="4429125"/>
          <p14:tracePt t="129889" x="2514600" y="4429125"/>
          <p14:tracePt t="129912" x="2506663" y="4438650"/>
          <p14:tracePt t="129929" x="2506663" y="4446588"/>
          <p14:tracePt t="129945" x="2489200" y="4456113"/>
          <p14:tracePt t="129952" x="2489200" y="4464050"/>
          <p14:tracePt t="129961" x="2479675" y="4473575"/>
          <p14:tracePt t="129975" x="2479675" y="4481513"/>
          <p14:tracePt t="129991" x="2471738" y="4498975"/>
          <p14:tracePt t="129993" x="2462213" y="4498975"/>
          <p14:tracePt t="130008" x="2462213" y="4516438"/>
          <p14:tracePt t="130024" x="2462213" y="4533900"/>
          <p14:tracePt t="130041" x="2462213" y="4543425"/>
          <p14:tracePt t="130058" x="2454275" y="4560888"/>
          <p14:tracePt t="130075" x="2454275" y="4568825"/>
          <p14:tracePt t="130091" x="2454275" y="4595813"/>
          <p14:tracePt t="130108" x="2454275" y="4613275"/>
          <p14:tracePt t="130125" x="2454275" y="4630738"/>
          <p14:tracePt t="130141" x="2454275" y="4648200"/>
          <p14:tracePt t="130158" x="2454275" y="4656138"/>
          <p14:tracePt t="130174" x="2454275" y="4665663"/>
          <p14:tracePt t="130191" x="2454275" y="4673600"/>
          <p14:tracePt t="130192" x="2454275" y="4683125"/>
          <p14:tracePt t="130208" x="2471738" y="4691063"/>
          <p14:tracePt t="130225" x="2479675" y="4708525"/>
          <p14:tracePt t="130241" x="2497138" y="4708525"/>
          <p14:tracePt t="130258" x="2506663" y="4718050"/>
          <p14:tracePt t="130274" x="2514600" y="4725988"/>
          <p14:tracePt t="130291" x="2532063" y="4735513"/>
          <p14:tracePt t="130308" x="2549525" y="4743450"/>
          <p14:tracePt t="130324" x="2576513" y="4752975"/>
          <p14:tracePt t="130341" x="2601913" y="4760913"/>
          <p14:tracePt t="130358" x="2619375" y="4770438"/>
          <p14:tracePt t="130374" x="2628900" y="4778375"/>
          <p14:tracePt t="130391" x="2636838" y="4778375"/>
          <p14:tracePt t="130408" x="2646363" y="4778375"/>
          <p14:tracePt t="130408" x="2654300" y="4778375"/>
          <p14:tracePt t="130424" x="2689225" y="4778375"/>
          <p14:tracePt t="130441" x="2716213" y="4787900"/>
          <p14:tracePt t="130458" x="2803525" y="4795838"/>
          <p14:tracePt t="130474" x="2828925" y="4795838"/>
          <p14:tracePt t="130491" x="2838450" y="4795838"/>
          <p14:tracePt t="130508" x="2846388" y="4795838"/>
          <p14:tracePt t="130524" x="2855913" y="4795838"/>
          <p14:tracePt t="130665" x="2863850" y="4795838"/>
          <p14:tracePt t="130672" x="2863850" y="4787900"/>
          <p14:tracePt t="130680" x="2873375" y="4778375"/>
          <p14:tracePt t="130691" x="2881313" y="4778375"/>
          <p14:tracePt t="130708" x="2881313" y="4770438"/>
          <p14:tracePt t="130724" x="2898775" y="4760913"/>
          <p14:tracePt t="130741" x="2898775" y="4752975"/>
          <p14:tracePt t="131025" x="0" y="0"/>
        </p14:tracePtLst>
        <p14:tracePtLst>
          <p14:tracePt t="146693" x="3082925" y="4621213"/>
          <p14:tracePt t="146753" x="3092450" y="4613275"/>
          <p14:tracePt t="146760" x="3117850" y="4613275"/>
          <p14:tracePt t="146772" x="3135313" y="4613275"/>
          <p14:tracePt t="146789" x="3152775" y="4603750"/>
          <p14:tracePt t="146805" x="3232150" y="4613275"/>
          <p14:tracePt t="146822" x="3275013" y="4613275"/>
          <p14:tracePt t="146839" x="3319463" y="4613275"/>
          <p14:tracePt t="146856" x="3344863" y="4613275"/>
          <p14:tracePt t="146857" x="3354388" y="4613275"/>
          <p14:tracePt t="146873" x="3379788" y="4613275"/>
          <p14:tracePt t="146889" x="3389313" y="4613275"/>
          <p14:tracePt t="146905" x="3397250" y="4613275"/>
          <p14:tracePt t="146922" x="3406775" y="4613275"/>
          <p14:tracePt t="146945" x="3414713" y="4613275"/>
          <p14:tracePt t="146993" x="3424238" y="4613275"/>
          <p14:tracePt t="147025" x="3432175" y="4613275"/>
          <p14:tracePt t="147033" x="3441700" y="4603750"/>
          <p14:tracePt t="147049" x="3449638" y="4586288"/>
          <p14:tracePt t="147056" x="3449638" y="4578350"/>
          <p14:tracePt t="147073" x="3449638" y="4543425"/>
          <p14:tracePt t="147089" x="3449638" y="4516438"/>
          <p14:tracePt t="147105" x="3449638" y="4481513"/>
          <p14:tracePt t="147122" x="3449638" y="4464050"/>
          <p14:tracePt t="147139" x="3441700" y="4456113"/>
          <p14:tracePt t="147161" x="3424238" y="4456113"/>
          <p14:tracePt t="147172" x="3406775" y="4456113"/>
          <p14:tracePt t="147189" x="3379788" y="4456113"/>
          <p14:tracePt t="147205" x="3344863" y="4456113"/>
          <p14:tracePt t="147222" x="3232150" y="4429125"/>
          <p14:tracePt t="147238" x="3187700" y="4429125"/>
          <p14:tracePt t="147241" x="3179763" y="4429125"/>
          <p14:tracePt t="147255" x="3162300" y="4429125"/>
          <p14:tracePt t="147256" x="3152775" y="4429125"/>
          <p14:tracePt t="147272" x="3135313" y="4421188"/>
          <p14:tracePt t="147288" x="3117850" y="4411663"/>
          <p14:tracePt t="147305" x="3082925" y="4411663"/>
          <p14:tracePt t="147322" x="3057525" y="4411663"/>
          <p14:tracePt t="147339" x="3013075" y="4403725"/>
          <p14:tracePt t="147355" x="2960688" y="4394200"/>
          <p14:tracePt t="147372" x="2925763" y="4394200"/>
          <p14:tracePt t="147389" x="2890838" y="4394200"/>
          <p14:tracePt t="147405" x="2881313" y="4394200"/>
          <p14:tracePt t="147422" x="2873375" y="4403725"/>
          <p14:tracePt t="147439" x="2863850" y="4421188"/>
          <p14:tracePt t="147441" x="2846388" y="4429125"/>
          <p14:tracePt t="147455" x="2838450" y="4446588"/>
          <p14:tracePt t="147472" x="2838450" y="4464050"/>
          <p14:tracePt t="147488" x="2838450" y="4473575"/>
          <p14:tracePt t="147505" x="2828925" y="4491038"/>
          <p14:tracePt t="147522" x="2828925" y="4516438"/>
          <p14:tracePt t="147539" x="2838450" y="4525963"/>
          <p14:tracePt t="147555" x="2855913" y="4543425"/>
          <p14:tracePt t="147572" x="2863850" y="4568825"/>
          <p14:tracePt t="147588" x="2890838" y="4578350"/>
          <p14:tracePt t="147605" x="2908300" y="4578350"/>
          <p14:tracePt t="147622" x="2933700" y="4578350"/>
          <p14:tracePt t="147639" x="2951163" y="4578350"/>
          <p14:tracePt t="147655" x="2960688" y="4578350"/>
          <p14:tracePt t="147672" x="2968625" y="4578350"/>
          <p14:tracePt t="147689" x="0" y="0"/>
        </p14:tracePtLst>
        <p14:tracePtLst>
          <p14:tracePt t="151309" x="2951163" y="4638675"/>
          <p14:tracePt t="151312" x="2960688" y="4630738"/>
          <p14:tracePt t="151321" x="2968625" y="4630738"/>
          <p14:tracePt t="151338" x="2978150" y="4630738"/>
          <p14:tracePt t="151355" x="2995613" y="4630738"/>
          <p14:tracePt t="151371" x="3013075" y="4630738"/>
          <p14:tracePt t="151388" x="3030538" y="4638675"/>
          <p14:tracePt t="151405" x="3038475" y="4638675"/>
          <p14:tracePt t="151421" x="3057525" y="4638675"/>
          <p14:tracePt t="151438" x="3065463" y="4648200"/>
          <p14:tracePt t="151454" x="3074988" y="4648200"/>
          <p14:tracePt t="151471" x="3082925" y="4648200"/>
          <p14:tracePt t="151473" x="3092450" y="4656138"/>
          <p14:tracePt t="151489" x="3109913" y="4656138"/>
          <p14:tracePt t="151505" x="3135313" y="4656138"/>
          <p14:tracePt t="151521" x="3144838" y="4665663"/>
          <p14:tracePt t="151538" x="3162300" y="4665663"/>
          <p14:tracePt t="151554" x="3187700" y="4665663"/>
          <p14:tracePt t="151571" x="3205163" y="4673600"/>
          <p14:tracePt t="151588" x="3240088" y="4673600"/>
          <p14:tracePt t="151605" x="3267075" y="4673600"/>
          <p14:tracePt t="151621" x="3319463" y="4673600"/>
          <p14:tracePt t="151638" x="3362325" y="4673600"/>
          <p14:tracePt t="151654" x="3379788" y="4673600"/>
          <p14:tracePt t="151671" x="3389313" y="4673600"/>
          <p14:tracePt t="151673" x="3406775" y="4673600"/>
          <p14:tracePt t="151688" x="3414713" y="4673600"/>
          <p14:tracePt t="151705" x="3424238" y="4673600"/>
          <p14:tracePt t="151721" x="3432175" y="4665663"/>
          <p14:tracePt t="151738" x="3441700" y="4656138"/>
          <p14:tracePt t="151754" x="3459163" y="4648200"/>
          <p14:tracePt t="151771" x="3459163" y="4621213"/>
          <p14:tracePt t="151788" x="3459163" y="4603750"/>
          <p14:tracePt t="151804" x="3459163" y="4568825"/>
          <p14:tracePt t="151821" x="3449638" y="4525963"/>
          <p14:tracePt t="151838" x="3441700" y="4491038"/>
          <p14:tracePt t="151855" x="3424238" y="4456113"/>
          <p14:tracePt t="151871" x="3414713" y="4421188"/>
          <p14:tracePt t="151873" x="3389313" y="4421188"/>
          <p14:tracePt t="151888" x="3379788" y="4411663"/>
          <p14:tracePt t="151905" x="3354388" y="4403725"/>
          <p14:tracePt t="151921" x="3344863" y="4394200"/>
          <p14:tracePt t="151938" x="3327400" y="4386263"/>
          <p14:tracePt t="151954" x="3309938" y="4376738"/>
          <p14:tracePt t="151971" x="3302000" y="4376738"/>
          <p14:tracePt t="151988" x="3284538" y="4376738"/>
          <p14:tracePt t="152009" x="3275013" y="4376738"/>
          <p14:tracePt t="152049" x="3267075" y="4376738"/>
          <p14:tracePt t="152065" x="3257550" y="4376738"/>
          <p14:tracePt t="152073" x="3240088" y="4376738"/>
          <p14:tracePt t="152080" x="3222625" y="4386263"/>
          <p14:tracePt t="152088" x="3197225" y="4394200"/>
          <p14:tracePt t="152105" x="3162300" y="4411663"/>
          <p14:tracePt t="152121" x="3117850" y="4421188"/>
          <p14:tracePt t="152138" x="3082925" y="4438650"/>
          <p14:tracePt t="152154" x="3065463" y="4464050"/>
          <p14:tracePt t="152171" x="3057525" y="4464050"/>
          <p14:tracePt t="152193" x="3057525" y="4473575"/>
          <p14:tracePt t="152204" x="3038475" y="4491038"/>
          <p14:tracePt t="152221" x="3038475" y="4508500"/>
          <p14:tracePt t="152238" x="3021013" y="4525963"/>
          <p14:tracePt t="152254" x="3013075" y="4551363"/>
          <p14:tracePt t="152256" x="3013075" y="4560888"/>
          <p14:tracePt t="152271" x="3013075" y="4578350"/>
          <p14:tracePt t="152272" x="3013075" y="4586288"/>
          <p14:tracePt t="152288" x="3013075" y="4613275"/>
          <p14:tracePt t="152289" x="3021013" y="4630738"/>
          <p14:tracePt t="152304" x="3048000" y="4648200"/>
          <p14:tracePt t="152321" x="3048000" y="4656138"/>
          <p14:tracePt t="152338" x="3065463" y="4665663"/>
          <p14:tracePt t="152355" x="3074988" y="4665663"/>
          <p14:tracePt t="152371" x="3082925" y="4665663"/>
          <p14:tracePt t="152388" x="3100388" y="4656138"/>
          <p14:tracePt t="152404" x="3117850" y="4656138"/>
          <p14:tracePt t="152425" x="3117850" y="4648200"/>
          <p14:tracePt t="152438" x="3127375" y="4648200"/>
          <p14:tracePt t="152457" x="3127375" y="4638675"/>
          <p14:tracePt t="152521" x="0" y="0"/>
        </p14:tracePtLst>
        <p14:tracePtLst>
          <p14:tracePt t="159365" x="5702300" y="5792788"/>
          <p14:tracePt t="159465" x="5711825" y="5792788"/>
          <p14:tracePt t="159474" x="5719763" y="5792788"/>
          <p14:tracePt t="159480" x="5729288" y="5792788"/>
          <p14:tracePt t="159488" x="5737225" y="5792788"/>
          <p14:tracePt t="159504" x="5754688" y="5792788"/>
          <p14:tracePt t="159520" x="5772150" y="5792788"/>
          <p14:tracePt t="159537" x="5789613" y="5792788"/>
          <p14:tracePt t="159553" x="5807075" y="5792788"/>
          <p14:tracePt t="159570" x="5824538" y="5792788"/>
          <p14:tracePt t="159587" x="5834063" y="5792788"/>
          <p14:tracePt t="159609" x="5842000" y="5792788"/>
          <p14:tracePt t="159620" x="5851525" y="5792788"/>
          <p14:tracePt t="159640" x="5859463" y="5792788"/>
          <p14:tracePt t="159744" x="5868988" y="5792788"/>
          <p14:tracePt t="159769" x="5876925" y="5792788"/>
          <p14:tracePt t="159793" x="5894388" y="5792788"/>
          <p14:tracePt t="159801" x="5903913" y="5792788"/>
          <p14:tracePt t="159817" x="5911850" y="5792788"/>
          <p14:tracePt t="159824" x="5921375" y="5792788"/>
          <p14:tracePt t="159836" x="5929313" y="5792788"/>
          <p14:tracePt t="159853" x="5946775" y="5783263"/>
          <p14:tracePt t="159873" x="5956300" y="5783263"/>
          <p14:tracePt t="159897" x="5973763" y="5783263"/>
          <p14:tracePt t="159921" x="5981700" y="5783263"/>
          <p14:tracePt t="159937" x="5991225" y="5775325"/>
          <p14:tracePt t="159945" x="5991225" y="5765800"/>
          <p14:tracePt t="159961" x="5999163" y="5765800"/>
          <p14:tracePt t="159977" x="6008688" y="5765800"/>
          <p14:tracePt t="159987" x="6016625" y="5757863"/>
          <p14:tracePt t="160008" x="6034088" y="5748338"/>
          <p14:tracePt t="160020" x="6043613" y="5748338"/>
          <p14:tracePt t="160037" x="6061075" y="5730875"/>
          <p14:tracePt t="160053" x="6078538" y="5722938"/>
          <p14:tracePt t="160070" x="6096000" y="5705475"/>
          <p14:tracePt t="160087" x="6096000" y="5695950"/>
          <p14:tracePt t="160088" x="6096000" y="5688013"/>
          <p14:tracePt t="160103" x="6096000" y="5678488"/>
          <p14:tracePt t="160104" x="6096000" y="5661025"/>
          <p14:tracePt t="160121" x="6096000" y="5653088"/>
          <p14:tracePt t="160138" x="6096000" y="5635625"/>
          <p14:tracePt t="160153" x="6086475" y="5635625"/>
          <p14:tracePt t="160170" x="6078538" y="5626100"/>
          <p14:tracePt t="160187" x="6051550" y="5608638"/>
          <p14:tracePt t="160203" x="6034088" y="5583238"/>
          <p14:tracePt t="160220" x="6008688" y="5565775"/>
          <p14:tracePt t="160237" x="5964238" y="5538788"/>
          <p14:tracePt t="160253" x="5946775" y="5521325"/>
          <p14:tracePt t="160270" x="5921375" y="5521325"/>
          <p14:tracePt t="160287" x="5903913" y="5503863"/>
          <p14:tracePt t="160288" x="5903913" y="5495925"/>
          <p14:tracePt t="160303" x="5886450" y="5486400"/>
          <p14:tracePt t="160304" x="5876925" y="5486400"/>
          <p14:tracePt t="160320" x="5868988" y="5459413"/>
          <p14:tracePt t="160337" x="5842000" y="5441950"/>
          <p14:tracePt t="160353" x="5824538" y="5434013"/>
          <p14:tracePt t="160370" x="5816600" y="5434013"/>
          <p14:tracePt t="160387" x="5816600" y="5424488"/>
          <p14:tracePt t="160403" x="5807075" y="5424488"/>
          <p14:tracePt t="160425" x="5799138" y="5424488"/>
          <p14:tracePt t="160448" x="5789613" y="5424488"/>
          <p14:tracePt t="160465" x="5772150" y="5424488"/>
          <p14:tracePt t="160472" x="5754688" y="5441950"/>
          <p14:tracePt t="160486" x="5737225" y="5451475"/>
          <p14:tracePt t="160503" x="5702300" y="5468938"/>
          <p14:tracePt t="160504" x="5694363" y="5476875"/>
          <p14:tracePt t="160520" x="5667375" y="5503863"/>
          <p14:tracePt t="160536" x="5659438" y="5521325"/>
          <p14:tracePt t="160553" x="5632450" y="5565775"/>
          <p14:tracePt t="160570" x="5624513" y="5608638"/>
          <p14:tracePt t="160586" x="5614988" y="5626100"/>
          <p14:tracePt t="160603" x="5614988" y="5643563"/>
          <p14:tracePt t="160620" x="5614988" y="5688013"/>
          <p14:tracePt t="160637" x="5614988" y="5713413"/>
          <p14:tracePt t="160653" x="5624513" y="5748338"/>
          <p14:tracePt t="160670" x="5632450" y="5765800"/>
          <p14:tracePt t="160686" x="5641975" y="5775325"/>
          <p14:tracePt t="160703" x="5649913" y="5783263"/>
          <p14:tracePt t="160720" x="5659438" y="5783263"/>
          <p14:tracePt t="160736" x="5676900" y="5783263"/>
          <p14:tracePt t="160761" x="5684838" y="5783263"/>
          <p14:tracePt t="160770" x="5694363" y="5783263"/>
          <p14:tracePt t="160786" x="5702300" y="5775325"/>
          <p14:tracePt t="160803" x="5711825" y="5775325"/>
          <p14:tracePt t="160820" x="5719763" y="5765800"/>
          <p14:tracePt t="161018" x="0" y="0"/>
        </p14:tracePtLst>
        <p14:tracePtLst>
          <p14:tracePt t="162180" x="5868988" y="6369050"/>
          <p14:tracePt t="162248" x="5868988" y="6376988"/>
          <p14:tracePt t="162264" x="5859463" y="6376988"/>
          <p14:tracePt t="162273" x="5859463" y="6386513"/>
          <p14:tracePt t="162280" x="5851525" y="6386513"/>
          <p14:tracePt t="162289" x="5842000" y="6386513"/>
          <p14:tracePt t="162303" x="5834063" y="6386513"/>
          <p14:tracePt t="162304" x="5816600" y="6386513"/>
          <p14:tracePt t="162320" x="5781675" y="6386513"/>
          <p14:tracePt t="162321" x="5764213" y="6394450"/>
          <p14:tracePt t="162336" x="5711825" y="6394450"/>
          <p14:tracePt t="162353" x="5684838" y="6394450"/>
          <p14:tracePt t="162369" x="5659438" y="6394450"/>
          <p14:tracePt t="162392" x="5649913" y="6394450"/>
          <p14:tracePt t="162408" x="5641975" y="6394450"/>
          <p14:tracePt t="162420" x="5641975" y="6386513"/>
          <p14:tracePt t="162436" x="5624513" y="6386513"/>
          <p14:tracePt t="162453" x="5607050" y="6369050"/>
          <p14:tracePt t="162469" x="5580063" y="6351588"/>
          <p14:tracePt t="162486" x="5562600" y="6342063"/>
          <p14:tracePt t="162503" x="5537200" y="6316663"/>
          <p14:tracePt t="162520" x="5510213" y="6307138"/>
          <p14:tracePt t="162521" x="5502275" y="6289675"/>
          <p14:tracePt t="162536" x="5467350" y="6246813"/>
          <p14:tracePt t="162553" x="5440363" y="6219825"/>
          <p14:tracePt t="162569" x="5440363" y="6194425"/>
          <p14:tracePt t="162586" x="5440363" y="6159500"/>
          <p14:tracePt t="162603" x="5440363" y="6142038"/>
          <p14:tracePt t="162620" x="5440363" y="6115050"/>
          <p14:tracePt t="162636" x="5457825" y="6072188"/>
          <p14:tracePt t="162653" x="5467350" y="6045200"/>
          <p14:tracePt t="162669" x="5475288" y="6010275"/>
          <p14:tracePt t="162686" x="5484813" y="5984875"/>
          <p14:tracePt t="162703" x="5502275" y="5967413"/>
          <p14:tracePt t="162720" x="5519738" y="5949950"/>
          <p14:tracePt t="162721" x="5527675" y="5932488"/>
          <p14:tracePt t="162736" x="5537200" y="5915025"/>
          <p14:tracePt t="162753" x="5572125" y="5870575"/>
          <p14:tracePt t="162769" x="5589588" y="5853113"/>
          <p14:tracePt t="162786" x="5624513" y="5835650"/>
          <p14:tracePt t="162803" x="5641975" y="5827713"/>
          <p14:tracePt t="162820" x="5659438" y="5818188"/>
          <p14:tracePt t="162836" x="5684838" y="5810250"/>
          <p14:tracePt t="162853" x="5702300" y="5810250"/>
          <p14:tracePt t="162869" x="5729288" y="5810250"/>
          <p14:tracePt t="162886" x="5772150" y="5810250"/>
          <p14:tracePt t="162903" x="5834063" y="5835650"/>
          <p14:tracePt t="162920" x="5956300" y="5862638"/>
          <p14:tracePt t="162921" x="5981700" y="5880100"/>
          <p14:tracePt t="162936" x="6026150" y="5915025"/>
          <p14:tracePt t="162953" x="6078538" y="5967413"/>
          <p14:tracePt t="162969" x="6122988" y="6019800"/>
          <p14:tracePt t="162986" x="6175375" y="6054725"/>
          <p14:tracePt t="163003" x="6192838" y="6072188"/>
          <p14:tracePt t="163019" x="6200775" y="6089650"/>
          <p14:tracePt t="163040" x="6200775" y="6097588"/>
          <p14:tracePt t="163057" x="6200775" y="6115050"/>
          <p14:tracePt t="163073" x="6200775" y="6124575"/>
          <p14:tracePt t="163086" x="6200775" y="6132513"/>
          <p14:tracePt t="163103" x="6175375" y="6176963"/>
          <p14:tracePt t="163120" x="6148388" y="6229350"/>
          <p14:tracePt t="163120" x="6140450" y="6237288"/>
          <p14:tracePt t="163136" x="6105525" y="6264275"/>
          <p14:tracePt t="163153" x="6078538" y="6307138"/>
          <p14:tracePt t="163170" x="6043613" y="6324600"/>
          <p14:tracePt t="163186" x="6016625" y="6359525"/>
          <p14:tracePt t="163203" x="5981700" y="6386513"/>
          <p14:tracePt t="163219" x="5973763" y="6386513"/>
          <p14:tracePt t="163236" x="5964238" y="6394450"/>
          <p14:tracePt t="163265" x="5956300" y="6394450"/>
          <p14:tracePt t="163417" x="5956300" y="6403975"/>
          <p14:tracePt t="163424" x="5946775" y="6403975"/>
          <p14:tracePt t="163456" x="5938838" y="6403975"/>
          <p14:tracePt t="163464" x="5929313" y="6403975"/>
          <p14:tracePt t="163481" x="5921375" y="6403975"/>
          <p14:tracePt t="163489" x="5911850" y="6411913"/>
          <p14:tracePt t="163503" x="5911850" y="6421438"/>
          <p14:tracePt t="163553" x="5911850" y="6429375"/>
          <p14:tracePt t="163569" x="5903913" y="6429375"/>
          <p14:tracePt t="163617" x="5894388" y="6429375"/>
          <p14:tracePt t="163770" x="0" y="0"/>
        </p14:tracePtLst>
        <p14:tracePtLst>
          <p14:tracePt t="165565" x="5667375" y="5915025"/>
          <p14:tracePt t="165593" x="5676900" y="5915025"/>
          <p14:tracePt t="165600" x="5684838" y="5915025"/>
          <p14:tracePt t="165625" x="5684838" y="5922963"/>
          <p14:tracePt t="165641" x="5694363" y="5922963"/>
          <p14:tracePt t="165648" x="5694363" y="5932488"/>
          <p14:tracePt t="165673" x="5711825" y="5940425"/>
          <p14:tracePt t="165689" x="5729288" y="5940425"/>
          <p14:tracePt t="165696" x="5737225" y="5949950"/>
          <p14:tracePt t="165712" x="5754688" y="5957888"/>
          <p14:tracePt t="165720" x="5772150" y="5957888"/>
          <p14:tracePt t="165736" x="5772150" y="5967413"/>
          <p14:tracePt t="165737" x="5789613" y="5967413"/>
          <p14:tracePt t="165753" x="5807075" y="5967413"/>
          <p14:tracePt t="165769" x="5824538" y="5984875"/>
          <p14:tracePt t="165786" x="5834063" y="5984875"/>
          <p14:tracePt t="165802" x="5842000" y="5992813"/>
          <p14:tracePt t="165819" x="5842000" y="6002338"/>
          <p14:tracePt t="165836" x="5851525" y="6010275"/>
          <p14:tracePt t="165852" x="5876925" y="6019800"/>
          <p14:tracePt t="165869" x="5903913" y="6037263"/>
          <p14:tracePt t="165886" x="5911850" y="6045200"/>
          <p14:tracePt t="165902" x="5929313" y="6054725"/>
          <p14:tracePt t="165919" x="5938838" y="6062663"/>
          <p14:tracePt t="165977" x="5929313" y="6062663"/>
          <p14:tracePt t="165984" x="5921375" y="6072188"/>
          <p14:tracePt t="165992" x="5911850" y="6072188"/>
          <p14:tracePt t="166002" x="5911850" y="6080125"/>
          <p14:tracePt t="166019" x="5894388" y="6080125"/>
          <p14:tracePt t="166036" x="5894388" y="6089650"/>
          <p14:tracePt t="166052" x="5886450" y="6097588"/>
          <p14:tracePt t="166069" x="5886450" y="6107113"/>
          <p14:tracePt t="166144" x="5894388" y="6107113"/>
          <p14:tracePt t="166152" x="5911850" y="6107113"/>
          <p14:tracePt t="166161" x="5946775" y="6115050"/>
          <p14:tracePt t="166169" x="5964238" y="6124575"/>
          <p14:tracePt t="166185" x="6051550" y="6132513"/>
          <p14:tracePt t="166202" x="6086475" y="6149975"/>
          <p14:tracePt t="166219" x="6113463" y="6159500"/>
          <p14:tracePt t="166433" x="0" y="0"/>
        </p14:tracePtLst>
        <p14:tracePtLst>
          <p14:tracePt t="169621" x="5537200" y="5897563"/>
          <p14:tracePt t="169705" x="5545138" y="5897563"/>
          <p14:tracePt t="169721" x="5554663" y="5897563"/>
          <p14:tracePt t="169736" x="5572125" y="5897563"/>
          <p14:tracePt t="169744" x="5589588" y="5897563"/>
          <p14:tracePt t="169753" x="5614988" y="5897563"/>
          <p14:tracePt t="169769" x="5694363" y="5897563"/>
          <p14:tracePt t="169785" x="5781675" y="5922963"/>
          <p14:tracePt t="169802" x="5868988" y="5932488"/>
          <p14:tracePt t="169818" x="5929313" y="5940425"/>
          <p14:tracePt t="169835" x="5973763" y="5940425"/>
          <p14:tracePt t="169889" x="5981700" y="5940425"/>
          <p14:tracePt t="169977" x="5981700" y="5932488"/>
          <p14:tracePt t="169985" x="5981700" y="5922963"/>
          <p14:tracePt t="169992" x="5991225" y="5915025"/>
          <p14:tracePt t="170002" x="6008688" y="5897563"/>
          <p14:tracePt t="170019" x="6034088" y="5835650"/>
          <p14:tracePt t="170035" x="6078538" y="5722938"/>
          <p14:tracePt t="170052" x="6122988" y="5600700"/>
          <p14:tracePt t="170068" x="6140450" y="5503863"/>
          <p14:tracePt t="170085" x="6140450" y="5476875"/>
          <p14:tracePt t="170102" x="6140450" y="5459413"/>
          <p14:tracePt t="170118" x="6130925" y="5459413"/>
          <p14:tracePt t="170135" x="6122988" y="5451475"/>
          <p14:tracePt t="170136" x="6113463" y="5451475"/>
          <p14:tracePt t="170152" x="6096000" y="5441950"/>
          <p14:tracePt t="170169" x="6078538" y="5434013"/>
          <p14:tracePt t="170185" x="6034088" y="5434013"/>
          <p14:tracePt t="170202" x="5991225" y="5416550"/>
          <p14:tracePt t="170219" x="5929313" y="5407025"/>
          <p14:tracePt t="170235" x="5903913" y="5389563"/>
          <p14:tracePt t="170252" x="5876925" y="5381625"/>
          <p14:tracePt t="170268" x="5851525" y="5364163"/>
          <p14:tracePt t="170285" x="5807075" y="5354638"/>
          <p14:tracePt t="170302" x="5764213" y="5337175"/>
          <p14:tracePt t="170318" x="5702300" y="5319713"/>
          <p14:tracePt t="170320" x="5684838" y="5319713"/>
          <p14:tracePt t="170335" x="5667375" y="5319713"/>
          <p14:tracePt t="170336" x="5641975" y="5319713"/>
          <p14:tracePt t="170352" x="5624513" y="5319713"/>
          <p14:tracePt t="170353" x="5607050" y="5319713"/>
          <p14:tracePt t="170368" x="5562600" y="5319713"/>
          <p14:tracePt t="170385" x="5537200" y="5319713"/>
          <p14:tracePt t="170402" x="5492750" y="5319713"/>
          <p14:tracePt t="170418" x="5467350" y="5319713"/>
          <p14:tracePt t="170435" x="5440363" y="5337175"/>
          <p14:tracePt t="170452" x="5405438" y="5354638"/>
          <p14:tracePt t="170468" x="5387975" y="5364163"/>
          <p14:tracePt t="170485" x="5370513" y="5381625"/>
          <p14:tracePt t="170501" x="5345113" y="5407025"/>
          <p14:tracePt t="170518" x="5335588" y="5424488"/>
          <p14:tracePt t="170535" x="5318125" y="5451475"/>
          <p14:tracePt t="170552" x="5310188" y="5468938"/>
          <p14:tracePt t="170569" x="5300663" y="5495925"/>
          <p14:tracePt t="170585" x="5283200" y="5548313"/>
          <p14:tracePt t="170602" x="5275263" y="5600700"/>
          <p14:tracePt t="170618" x="5265738" y="5653088"/>
          <p14:tracePt t="170635" x="5248275" y="5740400"/>
          <p14:tracePt t="170652" x="5240338" y="5835650"/>
          <p14:tracePt t="170668" x="5213350" y="5870575"/>
          <p14:tracePt t="170685" x="5205413" y="5922963"/>
          <p14:tracePt t="170701" x="5205413" y="5967413"/>
          <p14:tracePt t="170718" x="5195888" y="6010275"/>
          <p14:tracePt t="170735" x="5187950" y="6062663"/>
          <p14:tracePt t="170752" x="5170488" y="6124575"/>
          <p14:tracePt t="170753" x="5170488" y="6142038"/>
          <p14:tracePt t="170768" x="5170488" y="6237288"/>
          <p14:tracePt t="170785" x="5170488" y="6316663"/>
          <p14:tracePt t="170802" x="5170488" y="6394450"/>
          <p14:tracePt t="170818" x="5195888" y="6464300"/>
          <p14:tracePt t="170835" x="5222875" y="6508750"/>
          <p14:tracePt t="170852" x="5240338" y="6534150"/>
          <p14:tracePt t="170868" x="5265738" y="6561138"/>
          <p14:tracePt t="170885" x="5283200" y="6569075"/>
          <p14:tracePt t="170901" x="5310188" y="6578600"/>
          <p14:tracePt t="170918" x="5327650" y="6578600"/>
          <p14:tracePt t="170935" x="5362575" y="6586538"/>
          <p14:tracePt t="170952" x="5380038" y="6596063"/>
          <p14:tracePt t="170968" x="5387975" y="6596063"/>
          <p14:tracePt t="170985" x="5405438" y="6596063"/>
          <p14:tracePt t="171002" x="5422900" y="6596063"/>
          <p14:tracePt t="171018" x="5457825" y="6596063"/>
          <p14:tracePt t="171035" x="5554663" y="6596063"/>
          <p14:tracePt t="171052" x="5676900" y="6596063"/>
          <p14:tracePt t="171068" x="5754688" y="6596063"/>
          <p14:tracePt t="171085" x="5842000" y="6596063"/>
          <p14:tracePt t="171101" x="5894388" y="6596063"/>
          <p14:tracePt t="171118" x="5929313" y="6596063"/>
          <p14:tracePt t="171135" x="5938838" y="6596063"/>
          <p14:tracePt t="171136" x="5946775" y="6596063"/>
          <p14:tracePt t="171152" x="5956300" y="6596063"/>
          <p14:tracePt t="171168" x="5973763" y="6586538"/>
          <p14:tracePt t="171185" x="5999163" y="6578600"/>
          <p14:tracePt t="171201" x="6026150" y="6561138"/>
          <p14:tracePt t="171218" x="6051550" y="6543675"/>
          <p14:tracePt t="171235" x="6105525" y="6534150"/>
          <p14:tracePt t="171251" x="6130925" y="6526213"/>
          <p14:tracePt t="171268" x="6165850" y="6499225"/>
          <p14:tracePt t="171285" x="6192838" y="6456363"/>
          <p14:tracePt t="171302" x="6210300" y="6429375"/>
          <p14:tracePt t="171318" x="6227763" y="6369050"/>
          <p14:tracePt t="171335" x="6235700" y="6342063"/>
          <p14:tracePt t="171336" x="6245225" y="6324600"/>
          <p14:tracePt t="171352" x="6245225" y="6316663"/>
          <p14:tracePt t="171353" x="6245225" y="6299200"/>
          <p14:tracePt t="171368" x="6245225" y="6264275"/>
          <p14:tracePt t="171385" x="6245225" y="6229350"/>
          <p14:tracePt t="171401" x="6235700" y="6142038"/>
          <p14:tracePt t="171418" x="6218238" y="6097588"/>
          <p14:tracePt t="171435" x="6183313" y="6037263"/>
          <p14:tracePt t="171451" x="6140450" y="5957888"/>
          <p14:tracePt t="171468" x="6105525" y="5922963"/>
          <p14:tracePt t="171485" x="6078538" y="5870575"/>
          <p14:tracePt t="171501" x="6061075" y="5853113"/>
          <p14:tracePt t="171518" x="6016625" y="5810250"/>
          <p14:tracePt t="171535" x="5973763" y="5748338"/>
          <p14:tracePt t="171536" x="5956300" y="5722938"/>
          <p14:tracePt t="171551" x="5938838" y="5713413"/>
          <p14:tracePt t="171553" x="5921375" y="5695950"/>
          <p14:tracePt t="171569" x="5903913" y="5670550"/>
          <p14:tracePt t="171585" x="5886450" y="5653088"/>
          <p14:tracePt t="171602" x="5859463" y="5635625"/>
          <p14:tracePt t="171625" x="5851525" y="5635625"/>
          <p14:tracePt t="171635" x="5842000" y="5626100"/>
          <p14:tracePt t="171652" x="5824538" y="5626100"/>
          <p14:tracePt t="171668" x="5807075" y="5618163"/>
          <p14:tracePt t="171685" x="5799138" y="5618163"/>
          <p14:tracePt t="171702" x="5781675" y="5608638"/>
          <p14:tracePt t="171718" x="5764213" y="5608638"/>
          <p14:tracePt t="171735" x="5729288" y="5608638"/>
          <p14:tracePt t="171737" x="5719763" y="5608638"/>
          <p14:tracePt t="171752" x="5702300" y="5608638"/>
          <p14:tracePt t="171752" x="5694363" y="5608638"/>
          <p14:tracePt t="171768" x="5649913" y="5608638"/>
          <p14:tracePt t="171785" x="5614988" y="5618163"/>
          <p14:tracePt t="171802" x="5589588" y="5635625"/>
          <p14:tracePt t="171818" x="5537200" y="5661025"/>
          <p14:tracePt t="171835" x="5475288" y="5678488"/>
          <p14:tracePt t="171851" x="5440363" y="5705475"/>
          <p14:tracePt t="171868" x="5414963" y="5722938"/>
          <p14:tracePt t="171885" x="5414963" y="5730875"/>
          <p14:tracePt t="171902" x="5414963" y="5740400"/>
          <p14:tracePt t="171918" x="5414963" y="5748338"/>
          <p14:tracePt t="171968" x="5414963" y="5757863"/>
          <p14:tracePt t="171977" x="5414963" y="5765800"/>
          <p14:tracePt t="171992" x="5414963" y="5775325"/>
          <p14:tracePt t="172008" x="5414963" y="5792788"/>
          <p14:tracePt t="172025" x="5414963" y="5810250"/>
          <p14:tracePt t="172035" x="5414963" y="5827713"/>
          <p14:tracePt t="172051" x="5422900" y="5853113"/>
          <p14:tracePt t="172068" x="5422900" y="5880100"/>
          <p14:tracePt t="172085" x="5422900" y="5905500"/>
          <p14:tracePt t="172101" x="5432425" y="5957888"/>
          <p14:tracePt t="172118" x="5432425" y="5984875"/>
          <p14:tracePt t="172134" x="5449888" y="6037263"/>
          <p14:tracePt t="172151" x="5449888" y="6124575"/>
          <p14:tracePt t="172153" x="5449888" y="6132513"/>
          <p14:tracePt t="172168" x="5449888" y="6229350"/>
          <p14:tracePt t="172185" x="5457825" y="6264275"/>
          <p14:tracePt t="172201" x="5467350" y="6289675"/>
          <p14:tracePt t="172218" x="5475288" y="6324600"/>
          <p14:tracePt t="172235" x="5475288" y="6351588"/>
          <p14:tracePt t="172251" x="5475288" y="6369050"/>
          <p14:tracePt t="172268" x="5475288" y="6394450"/>
          <p14:tracePt t="172285" x="5475288" y="6411913"/>
          <p14:tracePt t="172301" x="5484813" y="6429375"/>
          <p14:tracePt t="172319" x="5484813" y="6438900"/>
          <p14:tracePt t="172321" x="5492750" y="6446838"/>
          <p14:tracePt t="172335" x="5502275" y="6464300"/>
          <p14:tracePt t="172351" x="5519738" y="6473825"/>
          <p14:tracePt t="172352" x="5527675" y="6491288"/>
          <p14:tracePt t="172369" x="5537200" y="6491288"/>
          <p14:tracePt t="172385" x="5562600" y="6508750"/>
          <p14:tracePt t="172401" x="5580063" y="6516688"/>
          <p14:tracePt t="172418" x="5607050" y="6534150"/>
          <p14:tracePt t="172435" x="5614988" y="6543675"/>
          <p14:tracePt t="172451" x="5632450" y="6543675"/>
          <p14:tracePt t="172473" x="5641975" y="6551613"/>
          <p14:tracePt t="172484" x="5649913" y="6551613"/>
          <p14:tracePt t="172501" x="5667375" y="6569075"/>
          <p14:tracePt t="172518" x="5684838" y="6569075"/>
          <p14:tracePt t="172521" x="5702300" y="6569075"/>
          <p14:tracePt t="172535" x="5719763" y="6569075"/>
          <p14:tracePt t="172551" x="5746750" y="6569075"/>
          <p14:tracePt t="172552" x="5781675" y="6569075"/>
          <p14:tracePt t="172568" x="5859463" y="6569075"/>
          <p14:tracePt t="172585" x="5956300" y="6578600"/>
          <p14:tracePt t="172601" x="6086475" y="6569075"/>
          <p14:tracePt t="172618" x="6157913" y="6551613"/>
          <p14:tracePt t="172635" x="6210300" y="6526213"/>
          <p14:tracePt t="172651" x="6245225" y="6499225"/>
          <p14:tracePt t="172668" x="6262688" y="6491288"/>
          <p14:tracePt t="172685" x="6280150" y="6456363"/>
          <p14:tracePt t="172701" x="6315075" y="6411913"/>
          <p14:tracePt t="172718" x="6340475" y="6386513"/>
          <p14:tracePt t="172735" x="6357938" y="6359525"/>
          <p14:tracePt t="172736" x="6357938" y="6351588"/>
          <p14:tracePt t="172752" x="6357938" y="6334125"/>
          <p14:tracePt t="172753" x="6367463" y="6316663"/>
          <p14:tracePt t="172768" x="6367463" y="6289675"/>
          <p14:tracePt t="172785" x="6367463" y="6211888"/>
          <p14:tracePt t="172801" x="6340475" y="6080125"/>
          <p14:tracePt t="172818" x="6315075" y="5922963"/>
          <p14:tracePt t="172835" x="6253163" y="5757863"/>
          <p14:tracePt t="172852" x="6235700" y="5722938"/>
          <p14:tracePt t="172868" x="6218238" y="5678488"/>
          <p14:tracePt t="172885" x="6200775" y="5618163"/>
          <p14:tracePt t="172901" x="6175375" y="5591175"/>
          <p14:tracePt t="172918" x="6157913" y="5548313"/>
          <p14:tracePt t="172935" x="6122988" y="5530850"/>
          <p14:tracePt t="172936" x="6105525" y="5513388"/>
          <p14:tracePt t="172952" x="6069013" y="5476875"/>
          <p14:tracePt t="172968" x="6034088" y="5459413"/>
          <p14:tracePt t="172969" x="6016625" y="5441950"/>
          <p14:tracePt t="172985" x="6008688" y="5434013"/>
          <p14:tracePt t="173001" x="5981700" y="5416550"/>
          <p14:tracePt t="173025" x="5973763" y="5407025"/>
          <p14:tracePt t="173089" x="5964238" y="5407025"/>
          <p14:tracePt t="173097" x="5956300" y="5407025"/>
          <p14:tracePt t="173113" x="5938838" y="5407025"/>
          <p14:tracePt t="173122" x="5921375" y="5416550"/>
          <p14:tracePt t="173134" x="5911850" y="5416550"/>
          <p14:tracePt t="173151" x="5851525" y="5441950"/>
          <p14:tracePt t="173153" x="5834063" y="5459413"/>
          <p14:tracePt t="173168" x="5816600" y="5476875"/>
          <p14:tracePt t="173169" x="5807075" y="5486400"/>
          <p14:tracePt t="173184" x="5772150" y="5513388"/>
          <p14:tracePt t="173201" x="5746750" y="5548313"/>
          <p14:tracePt t="173218" x="5719763" y="5573713"/>
          <p14:tracePt t="173234" x="5684838" y="5608638"/>
          <p14:tracePt t="173251" x="5659438" y="5643563"/>
          <p14:tracePt t="173268" x="5614988" y="5678488"/>
          <p14:tracePt t="173284" x="5580063" y="5730875"/>
          <p14:tracePt t="173301" x="5562600" y="5757863"/>
          <p14:tracePt t="173318" x="5554663" y="5783263"/>
          <p14:tracePt t="173335" x="5545138" y="5818188"/>
          <p14:tracePt t="173337" x="5537200" y="5835650"/>
          <p14:tracePt t="173354" x="5537200" y="5862638"/>
          <p14:tracePt t="173368" x="5537200" y="5888038"/>
          <p14:tracePt t="173385" x="5537200" y="5940425"/>
          <p14:tracePt t="173401" x="5537200" y="5984875"/>
          <p14:tracePt t="173418" x="5537200" y="6132513"/>
          <p14:tracePt t="173435" x="5545138" y="6229350"/>
          <p14:tracePt t="173451" x="5562600" y="6272213"/>
          <p14:tracePt t="173468" x="5597525" y="6324600"/>
          <p14:tracePt t="173485" x="5624513" y="6359525"/>
          <p14:tracePt t="173501" x="5649913" y="6369050"/>
          <p14:tracePt t="173518" x="5659438" y="6369050"/>
          <p14:tracePt t="173534" x="5667375" y="6369050"/>
          <p14:tracePt t="173551" x="5676900" y="6369050"/>
          <p14:tracePt t="173553" x="5684838" y="6369050"/>
          <p14:tracePt t="173568" x="5694363" y="6369050"/>
          <p14:tracePt t="173585" x="5702300" y="6369050"/>
          <p14:tracePt t="173608" x="5719763" y="6369050"/>
          <p14:tracePt t="173624" x="5729288" y="6369050"/>
          <p14:tracePt t="173649" x="5737225" y="6359525"/>
          <p14:tracePt t="173656" x="5737225" y="6351588"/>
          <p14:tracePt t="173668" x="5746750" y="6351588"/>
          <p14:tracePt t="173685" x="5754688" y="6342063"/>
          <p14:tracePt t="173701" x="5764213" y="6342063"/>
          <p14:tracePt t="173718" x="5772150" y="6334125"/>
          <p14:tracePt t="173734" x="5799138" y="6324600"/>
          <p14:tracePt t="173751" x="5816600" y="6307138"/>
          <p14:tracePt t="173753" x="5834063" y="6307138"/>
          <p14:tracePt t="173768" x="5851525" y="6289675"/>
          <p14:tracePt t="173769" x="5868988" y="6289675"/>
          <p14:tracePt t="173785" x="5903913" y="6281738"/>
          <p14:tracePt t="173801" x="5964238" y="6281738"/>
          <p14:tracePt t="173818" x="6034088" y="6281738"/>
          <p14:tracePt t="173834" x="6069013" y="6272213"/>
          <p14:tracePt t="173851" x="6105525" y="6264275"/>
          <p14:tracePt t="173868" x="6113463" y="6264275"/>
          <p14:tracePt t="173977" x="0" y="0"/>
        </p14:tracePtLst>
        <p14:tracePtLst>
          <p14:tracePt t="180004" x="5781675" y="5880100"/>
          <p14:tracePt t="180040" x="5789613" y="5880100"/>
          <p14:tracePt t="180049" x="5799138" y="5888038"/>
          <p14:tracePt t="180056" x="5807075" y="5888038"/>
          <p14:tracePt t="180067" x="5816600" y="5888038"/>
          <p14:tracePt t="180084" x="5834063" y="5897563"/>
          <p14:tracePt t="180100" x="5859463" y="5897563"/>
          <p14:tracePt t="180120" x="5868988" y="5897563"/>
          <p14:tracePt t="180134" x="5886450" y="5897563"/>
          <p14:tracePt t="180150" x="5894388" y="5897563"/>
          <p14:tracePt t="180167" x="5903913" y="5897563"/>
          <p14:tracePt t="180183" x="5921375" y="5897563"/>
          <p14:tracePt t="180201" x="5929313" y="5897563"/>
          <p14:tracePt t="180217" x="5938838" y="5897563"/>
          <p14:tracePt t="180233" x="5956300" y="5888038"/>
          <p14:tracePt t="180250" x="5964238" y="5880100"/>
          <p14:tracePt t="180267" x="5981700" y="5870575"/>
          <p14:tracePt t="180283" x="5999163" y="5862638"/>
          <p14:tracePt t="180300" x="6016625" y="5853113"/>
          <p14:tracePt t="180317" x="6026150" y="5845175"/>
          <p14:tracePt t="180333" x="6034088" y="5845175"/>
          <p14:tracePt t="180350" x="6043613" y="5835650"/>
          <p14:tracePt t="180367" x="6043613" y="5827713"/>
          <p14:tracePt t="180384" x="6061075" y="5827713"/>
          <p14:tracePt t="180385" x="6069013" y="5827713"/>
          <p14:tracePt t="180400" x="6078538" y="5810250"/>
          <p14:tracePt t="180417" x="6096000" y="5800725"/>
          <p14:tracePt t="180433" x="6130925" y="5792788"/>
          <p14:tracePt t="180450" x="6140450" y="5765800"/>
          <p14:tracePt t="180467" x="6157913" y="5748338"/>
          <p14:tracePt t="180483" x="6157913" y="5730875"/>
          <p14:tracePt t="180500" x="6157913" y="5705475"/>
          <p14:tracePt t="180517" x="6157913" y="5695950"/>
          <p14:tracePt t="180533" x="6157913" y="5678488"/>
          <p14:tracePt t="180550" x="6140450" y="5670550"/>
          <p14:tracePt t="180567" x="6122988" y="5653088"/>
          <p14:tracePt t="180584" x="6096000" y="5635625"/>
          <p14:tracePt t="180601" x="6078538" y="5626100"/>
          <p14:tracePt t="180617" x="6078538" y="5618163"/>
          <p14:tracePt t="180633" x="6061075" y="5600700"/>
          <p14:tracePt t="180650" x="6043613" y="5600700"/>
          <p14:tracePt t="180667" x="6026150" y="5573713"/>
          <p14:tracePt t="180683" x="6016625" y="5565775"/>
          <p14:tracePt t="180700" x="5999163" y="5548313"/>
          <p14:tracePt t="180717" x="5991225" y="5530850"/>
          <p14:tracePt t="180733" x="5981700" y="5521325"/>
          <p14:tracePt t="180750" x="5973763" y="5513388"/>
          <p14:tracePt t="180767" x="5964238" y="5503863"/>
          <p14:tracePt t="180783" x="5956300" y="5486400"/>
          <p14:tracePt t="180785" x="5956300" y="5476875"/>
          <p14:tracePt t="180800" x="5946775" y="5468938"/>
          <p14:tracePt t="180817" x="5938838" y="5459413"/>
          <p14:tracePt t="180833" x="5938838" y="5451475"/>
          <p14:tracePt t="180850" x="5929313" y="5451475"/>
          <p14:tracePt t="180867" x="5911850" y="5441950"/>
          <p14:tracePt t="180883" x="5903913" y="5434013"/>
          <p14:tracePt t="180900" x="5886450" y="5424488"/>
          <p14:tracePt t="180917" x="5834063" y="5424488"/>
          <p14:tracePt t="180933" x="5799138" y="5424488"/>
          <p14:tracePt t="180950" x="5711825" y="5416550"/>
          <p14:tracePt t="180967" x="5659438" y="5416550"/>
          <p14:tracePt t="180983" x="5641975" y="5416550"/>
          <p14:tracePt t="180984" x="5632450" y="5416550"/>
          <p14:tracePt t="181009" x="5624513" y="5416550"/>
          <p14:tracePt t="181025" x="5614988" y="5416550"/>
          <p14:tracePt t="181033" x="5607050" y="5424488"/>
          <p14:tracePt t="181050" x="5607050" y="5434013"/>
          <p14:tracePt t="181067" x="5589588" y="5451475"/>
          <p14:tracePt t="181083" x="5580063" y="5459413"/>
          <p14:tracePt t="181100" x="5562600" y="5476875"/>
          <p14:tracePt t="181117" x="5545138" y="5503863"/>
          <p14:tracePt t="181133" x="5537200" y="5530850"/>
          <p14:tracePt t="181150" x="5537200" y="5556250"/>
          <p14:tracePt t="181167" x="5527675" y="5573713"/>
          <p14:tracePt t="181183" x="5519738" y="5591175"/>
          <p14:tracePt t="181185" x="5519738" y="5600700"/>
          <p14:tracePt t="181200" x="5519738" y="5608638"/>
          <p14:tracePt t="181201" x="5519738" y="5626100"/>
          <p14:tracePt t="181217" x="5519738" y="5653088"/>
          <p14:tracePt t="181234" x="5519738" y="5688013"/>
          <p14:tracePt t="181250" x="5527675" y="5713413"/>
          <p14:tracePt t="181266" x="5537200" y="5722938"/>
          <p14:tracePt t="181283" x="5545138" y="5740400"/>
          <p14:tracePt t="181300" x="5554663" y="5748338"/>
          <p14:tracePt t="181317" x="5562600" y="5748338"/>
          <p14:tracePt t="181334" x="5580063" y="5748338"/>
          <p14:tracePt t="181350" x="5597525" y="5748338"/>
          <p14:tracePt t="181367" x="5624513" y="5748338"/>
          <p14:tracePt t="181383" x="5649913" y="5748338"/>
          <p14:tracePt t="181384" x="5659438" y="5748338"/>
          <p14:tracePt t="181400" x="5676900" y="5748338"/>
          <p14:tracePt t="181425" x="5676900" y="5757863"/>
          <p14:tracePt t="181434" x="5684838" y="5757863"/>
          <p14:tracePt t="181450" x="5684838" y="5765800"/>
          <p14:tracePt t="181466" x="5694363" y="5765800"/>
          <p14:tracePt t="181483" x="5702300" y="5765800"/>
          <p14:tracePt t="181505" x="5711825" y="5765800"/>
          <p14:tracePt t="181529" x="5711825" y="5775325"/>
          <p14:tracePt t="181537" x="5719763" y="5775325"/>
          <p14:tracePt t="181552" x="5729288" y="5775325"/>
          <p14:tracePt t="181566" x="5737225" y="5775325"/>
          <p14:tracePt t="181583" x="5754688" y="5775325"/>
          <p14:tracePt t="181584" x="5764213" y="5775325"/>
          <p14:tracePt t="181600" x="5789613" y="5775325"/>
          <p14:tracePt t="181617" x="5807075" y="5775325"/>
          <p14:tracePt t="181633" x="5824538" y="5775325"/>
          <p14:tracePt t="181650" x="5842000" y="5775325"/>
          <p14:tracePt t="181769" x="0" y="0"/>
        </p14:tracePtLst>
        <p14:tracePtLst>
          <p14:tracePt t="182355" x="5816600" y="5783263"/>
          <p14:tracePt t="182417" x="5824538" y="5783263"/>
          <p14:tracePt t="182440" x="5834063" y="5783263"/>
          <p14:tracePt t="182448" x="5842000" y="5783263"/>
          <p14:tracePt t="182464" x="5851525" y="5783263"/>
          <p14:tracePt t="182472" x="5859463" y="5783263"/>
          <p14:tracePt t="182483" x="5868988" y="5783263"/>
          <p14:tracePt t="182499" x="5894388" y="5783263"/>
          <p14:tracePt t="182516" x="5911850" y="5783263"/>
          <p14:tracePt t="182533" x="5929313" y="5783263"/>
          <p14:tracePt t="182550" x="5946775" y="5783263"/>
          <p14:tracePt t="182566" x="5973763" y="5783263"/>
          <p14:tracePt t="182583" x="5981700" y="5783263"/>
          <p14:tracePt t="182584" x="5991225" y="5775325"/>
          <p14:tracePt t="182600" x="5999163" y="5775325"/>
          <p14:tracePt t="182616" x="5999163" y="5765800"/>
          <p14:tracePt t="182664" x="5999163" y="5757863"/>
          <p14:tracePt t="182856" x="5991225" y="5757863"/>
          <p14:tracePt t="182864" x="5981700" y="5757863"/>
          <p14:tracePt t="182880" x="5973763" y="5757863"/>
          <p14:tracePt t="182889" x="5964238" y="5757863"/>
          <p14:tracePt t="182905" x="0" y="0"/>
        </p14:tracePtLst>
        <p14:tracePtLst>
          <p14:tracePt t="183285" x="5964238" y="6167438"/>
          <p14:tracePt t="183457" x="0" y="0"/>
        </p14:tracePtLst>
        <p14:tracePtLst>
          <p14:tracePt t="183956" x="5834063" y="5600700"/>
          <p14:tracePt t="184138" x="0" y="0"/>
        </p14:tracePtLst>
        <p14:tracePtLst>
          <p14:tracePt t="185213" x="5851525" y="6202363"/>
          <p14:tracePt t="185369" x="0" y="0"/>
        </p14:tracePtLst>
        <p14:tracePtLst>
          <p14:tracePt t="186285" x="2139950" y="5783263"/>
          <p14:tracePt t="186321" x="2147888" y="5783263"/>
          <p14:tracePt t="186345" x="2157413" y="5783263"/>
          <p14:tracePt t="186368" x="2165350" y="5783263"/>
          <p14:tracePt t="186377" x="2174875" y="5783263"/>
          <p14:tracePt t="186401" x="2182813" y="5783263"/>
          <p14:tracePt t="186409" x="2200275" y="5783263"/>
          <p14:tracePt t="186425" x="2209800" y="5783263"/>
          <p14:tracePt t="186433" x="2217738" y="5783263"/>
          <p14:tracePt t="186449" x="2227263" y="5792788"/>
          <p14:tracePt t="186466" x="2244725" y="5792788"/>
          <p14:tracePt t="186483" x="2252663" y="5792788"/>
          <p14:tracePt t="186499" x="2270125" y="5792788"/>
          <p14:tracePt t="186649" x="2270125" y="5800725"/>
          <p14:tracePt t="186665" x="2262188" y="5810250"/>
          <p14:tracePt t="186673" x="2252663" y="5810250"/>
          <p14:tracePt t="186688" x="2244725" y="5818188"/>
          <p14:tracePt t="186700" x="0" y="0"/>
        </p14:tracePtLst>
        <p14:tracePtLst>
          <p14:tracePt t="187117" x="2130425" y="5695950"/>
          <p14:tracePt t="187145" x="2130425" y="5688013"/>
          <p14:tracePt t="187161" x="2130425" y="5678488"/>
          <p14:tracePt t="187193" x="2130425" y="5670550"/>
          <p14:tracePt t="187209" x="2130425" y="5661025"/>
          <p14:tracePt t="187241" x="2130425" y="5653088"/>
          <p14:tracePt t="187249" x="2130425" y="5635625"/>
          <p14:tracePt t="187264" x="2130425" y="5626100"/>
          <p14:tracePt t="187272" x="2130425" y="5608638"/>
          <p14:tracePt t="187288" x="2130425" y="5591175"/>
          <p14:tracePt t="187305" x="2130425" y="5583238"/>
          <p14:tracePt t="187316" x="2130425" y="5573713"/>
          <p14:tracePt t="187333" x="2130425" y="5565775"/>
          <p14:tracePt t="187349" x="2130425" y="5556250"/>
          <p14:tracePt t="187366" x="2130425" y="5548313"/>
          <p14:tracePt t="187382" x="2130425" y="5538788"/>
          <p14:tracePt t="187384" x="2130425" y="5530850"/>
          <p14:tracePt t="187401" x="2130425" y="5521325"/>
          <p14:tracePt t="187416" x="2122488" y="5521325"/>
          <p14:tracePt t="187434" x="2112963" y="5503863"/>
          <p14:tracePt t="187449" x="2105025" y="5503863"/>
          <p14:tracePt t="187473" x="2095500" y="5495925"/>
          <p14:tracePt t="187482" x="2078038" y="5486400"/>
          <p14:tracePt t="187499" x="2060575" y="5476875"/>
          <p14:tracePt t="187516" x="2052638" y="5476875"/>
          <p14:tracePt t="187533" x="2043113" y="5476875"/>
          <p14:tracePt t="187549" x="2043113" y="5468938"/>
          <p14:tracePt t="187566" x="2035175" y="5468938"/>
          <p14:tracePt t="187601" x="2035175" y="5459413"/>
          <p14:tracePt t="187608" x="2025650" y="5459413"/>
          <p14:tracePt t="187624" x="2017713" y="5459413"/>
          <p14:tracePt t="187632" x="2008188" y="5459413"/>
          <p14:tracePt t="187665" x="2000250" y="5459413"/>
          <p14:tracePt t="187680" x="1990725" y="5459413"/>
          <p14:tracePt t="187688" x="1982788" y="5459413"/>
          <p14:tracePt t="187705" x="1973263" y="5459413"/>
          <p14:tracePt t="187716" x="1955800" y="5459413"/>
          <p14:tracePt t="187732" x="1930400" y="5468938"/>
          <p14:tracePt t="187749" x="1903413" y="5468938"/>
          <p14:tracePt t="187766" x="1895475" y="5476875"/>
          <p14:tracePt t="187782" x="1885950" y="5486400"/>
          <p14:tracePt t="187799" x="1878013" y="5495925"/>
          <p14:tracePt t="187825" x="1868488" y="5495925"/>
          <p14:tracePt t="187832" x="1860550" y="5503863"/>
          <p14:tracePt t="187857" x="1851025" y="5513388"/>
          <p14:tracePt t="187889" x="1843088" y="5513388"/>
          <p14:tracePt t="187905" x="1843088" y="5521325"/>
          <p14:tracePt t="187928" x="1833563" y="5530850"/>
          <p14:tracePt t="187937" x="1833563" y="5538788"/>
          <p14:tracePt t="187944" x="1825625" y="5538788"/>
          <p14:tracePt t="187953" x="1825625" y="5548313"/>
          <p14:tracePt t="187966" x="1816100" y="5556250"/>
          <p14:tracePt t="187985" x="1808163" y="5565775"/>
          <p14:tracePt t="187999" x="1808163" y="5573713"/>
          <p14:tracePt t="188016" x="1808163" y="5583238"/>
          <p14:tracePt t="188017" x="1808163" y="5591175"/>
          <p14:tracePt t="188032" x="1798638" y="5600700"/>
          <p14:tracePt t="188049" x="1798638" y="5608638"/>
          <p14:tracePt t="188066" x="1798638" y="5618163"/>
          <p14:tracePt t="188089" x="1798638" y="5626100"/>
          <p14:tracePt t="188105" x="1798638" y="5635625"/>
          <p14:tracePt t="188120" x="1798638" y="5643563"/>
          <p14:tracePt t="188137" x="1798638" y="5653088"/>
          <p14:tracePt t="188149" x="1798638" y="5661025"/>
          <p14:tracePt t="188169" x="1798638" y="5670550"/>
          <p14:tracePt t="188182" x="1798638" y="5678488"/>
          <p14:tracePt t="188199" x="1798638" y="5688013"/>
          <p14:tracePt t="188216" x="1798638" y="5705475"/>
          <p14:tracePt t="188232" x="1798638" y="5713413"/>
          <p14:tracePt t="188249" x="1798638" y="5730875"/>
          <p14:tracePt t="188273" x="1798638" y="5740400"/>
          <p14:tracePt t="188289" x="1798638" y="5748338"/>
          <p14:tracePt t="188306" x="1798638" y="5757863"/>
          <p14:tracePt t="188315" x="1808163" y="5757863"/>
          <p14:tracePt t="188332" x="1816100" y="5775325"/>
          <p14:tracePt t="188349" x="1825625" y="5775325"/>
          <p14:tracePt t="188369" x="1833563" y="5775325"/>
          <p14:tracePt t="188382" x="1843088" y="5783263"/>
          <p14:tracePt t="188399" x="1843088" y="5792788"/>
          <p14:tracePt t="188401" x="1851025" y="5792788"/>
          <p14:tracePt t="188415" x="1860550" y="5792788"/>
          <p14:tracePt t="188417" x="1868488" y="5792788"/>
          <p14:tracePt t="188432" x="1878013" y="5800725"/>
          <p14:tracePt t="188449" x="1885950" y="5810250"/>
          <p14:tracePt t="188472" x="1895475" y="5810250"/>
          <p14:tracePt t="188482" x="1903413" y="5810250"/>
          <p14:tracePt t="188499" x="1912938" y="5818188"/>
          <p14:tracePt t="188515" x="1920875" y="5818188"/>
          <p14:tracePt t="188532" x="1930400" y="5818188"/>
          <p14:tracePt t="188549" x="1947863" y="5818188"/>
          <p14:tracePt t="188566" x="1955800" y="5818188"/>
          <p14:tracePt t="188582" x="1965325" y="5818188"/>
          <p14:tracePt t="188599" x="1973263" y="5818188"/>
          <p14:tracePt t="188649" x="1982788" y="5818188"/>
          <p14:tracePt t="188673" x="1990725" y="5818188"/>
          <p14:tracePt t="188688" x="2000250" y="5818188"/>
          <p14:tracePt t="188729" x="2008188" y="5818188"/>
          <p14:tracePt t="188745" x="2017713" y="5818188"/>
          <p14:tracePt t="188785" x="2025650" y="5818188"/>
          <p14:tracePt t="188793" x="2035175" y="5818188"/>
          <p14:tracePt t="188808" x="2043113" y="5818188"/>
          <p14:tracePt t="188817" x="2043113" y="5810250"/>
          <p14:tracePt t="188833" x="2052638" y="5800725"/>
          <p14:tracePt t="188849" x="2060575" y="5800725"/>
          <p14:tracePt t="188865" x="2087563" y="5792788"/>
          <p14:tracePt t="188882" x="2087563" y="5783263"/>
          <p14:tracePt t="188899" x="2105025" y="5775325"/>
          <p14:tracePt t="188915" x="2112963" y="5765800"/>
          <p14:tracePt t="188932" x="2130425" y="5757863"/>
          <p14:tracePt t="188949" x="2130425" y="5740400"/>
          <p14:tracePt t="188965" x="2147888" y="5730875"/>
          <p14:tracePt t="188982" x="2157413" y="5722938"/>
          <p14:tracePt t="189001" x="2165350" y="5713413"/>
          <p14:tracePt t="189016" x="2174875" y="5713413"/>
          <p14:tracePt t="189017" x="2174875" y="5705475"/>
          <p14:tracePt t="189033" x="2174875" y="5695950"/>
          <p14:tracePt t="189049" x="2182813" y="5688013"/>
          <p14:tracePt t="189073" x="2182813" y="5678488"/>
          <p14:tracePt t="189082" x="2182813" y="5661025"/>
          <p14:tracePt t="189099" x="2182813" y="5653088"/>
          <p14:tracePt t="189115" x="2182813" y="5643563"/>
          <p14:tracePt t="189132" x="2182813" y="5626100"/>
          <p14:tracePt t="189149" x="2182813" y="5608638"/>
          <p14:tracePt t="189166" x="2182813" y="5600700"/>
          <p14:tracePt t="189182" x="2174875" y="5583238"/>
          <p14:tracePt t="189199" x="2165350" y="5573713"/>
          <p14:tracePt t="189215" x="2157413" y="5565775"/>
          <p14:tracePt t="189217" x="2147888" y="5556250"/>
          <p14:tracePt t="189232" x="2139950" y="5548313"/>
          <p14:tracePt t="189249" x="2130425" y="5530850"/>
          <p14:tracePt t="189265" x="2112963" y="5530850"/>
          <p14:tracePt t="189282" x="2105025" y="5521325"/>
          <p14:tracePt t="189299" x="2095500" y="5513388"/>
          <p14:tracePt t="189315" x="2095500" y="5503863"/>
          <p14:tracePt t="189332" x="2078038" y="5503863"/>
          <p14:tracePt t="189365" x="2070100" y="5503863"/>
          <p14:tracePt t="189385" x="2060575" y="5503863"/>
          <p14:tracePt t="189399" x="2052638" y="5495925"/>
          <p14:tracePt t="189497" x="2043113" y="5495925"/>
          <p14:tracePt t="189512" x="2035175" y="5495925"/>
          <p14:tracePt t="189544" x="2025650" y="5503863"/>
          <p14:tracePt t="189561" x="2017713" y="5513388"/>
          <p14:tracePt t="189577" x="2008188" y="5521325"/>
          <p14:tracePt t="189609" x="2008188" y="5530850"/>
          <p14:tracePt t="189616" x="2008188" y="5538788"/>
          <p14:tracePt t="189625" x="1990725" y="5548313"/>
          <p14:tracePt t="189632" x="1990725" y="5556250"/>
          <p14:tracePt t="189649" x="1982788" y="5573713"/>
          <p14:tracePt t="189665" x="1973263" y="5591175"/>
          <p14:tracePt t="189682" x="1955800" y="5600700"/>
          <p14:tracePt t="189699" x="1947863" y="5618163"/>
          <p14:tracePt t="189715" x="1938338" y="5626100"/>
          <p14:tracePt t="189732" x="1938338" y="5635625"/>
          <p14:tracePt t="189748" x="1930400" y="5643563"/>
          <p14:tracePt t="189765" x="1930400" y="5653088"/>
          <p14:tracePt t="189782" x="1930400" y="5661025"/>
          <p14:tracePt t="189809" x="1930400" y="5670550"/>
          <p14:tracePt t="189816" x="1930400" y="5678488"/>
          <p14:tracePt t="189832" x="1930400" y="5688013"/>
          <p14:tracePt t="189848" x="1938338" y="5705475"/>
          <p14:tracePt t="189865" x="1947863" y="5713413"/>
          <p14:tracePt t="189882" x="1947863" y="5730875"/>
          <p14:tracePt t="189899" x="1955800" y="5740400"/>
          <p14:tracePt t="189915" x="1965325" y="5748338"/>
          <p14:tracePt t="189932" x="1982788" y="5748338"/>
          <p14:tracePt t="189949" x="1990725" y="5757863"/>
          <p14:tracePt t="189977" x="2000250" y="5757863"/>
          <p14:tracePt t="190001" x="2008188" y="5757863"/>
          <p14:tracePt t="190009" x="2008188" y="5765800"/>
          <p14:tracePt t="190025" x="2017713" y="5765800"/>
          <p14:tracePt t="190041" x="2025650" y="5765800"/>
          <p14:tracePt t="190049" x="2035175" y="5765800"/>
          <p14:tracePt t="190073" x="2043113" y="5765800"/>
          <p14:tracePt t="190088" x="2052638" y="5765800"/>
          <p14:tracePt t="190120" x="2060575" y="5765800"/>
          <p14:tracePt t="190673" x="0" y="0"/>
        </p14:tracePtLst>
        <p14:tracePtLst>
          <p14:tracePt t="191309" x="2297113" y="5757863"/>
          <p14:tracePt t="191312" x="2287588" y="5757863"/>
          <p14:tracePt t="191320" x="2279650" y="5757863"/>
          <p14:tracePt t="191369" x="2270125" y="5757863"/>
          <p14:tracePt t="191401" x="2262188" y="5748338"/>
          <p14:tracePt t="191424" x="2262188" y="5740400"/>
          <p14:tracePt t="191432" x="2244725" y="5730875"/>
          <p14:tracePt t="191440" x="2235200" y="5730875"/>
          <p14:tracePt t="191448" x="2235200" y="5713413"/>
          <p14:tracePt t="191465" x="2209800" y="5695950"/>
          <p14:tracePt t="191482" x="2192338" y="5661025"/>
          <p14:tracePt t="191498" x="2192338" y="5643563"/>
          <p14:tracePt t="191515" x="2182813" y="5635625"/>
          <p14:tracePt t="191532" x="2182813" y="5626100"/>
          <p14:tracePt t="191548" x="2182813" y="5618163"/>
          <p14:tracePt t="191641" x="2192338" y="5618163"/>
          <p14:tracePt t="191656" x="2200275" y="5618163"/>
          <p14:tracePt t="191689" x="2209800" y="5618163"/>
          <p14:tracePt t="191697" x="2217738" y="5618163"/>
          <p14:tracePt t="191713" x="2227263" y="5618163"/>
          <p14:tracePt t="191753" x="2235200" y="5608638"/>
          <p14:tracePt t="191769" x="2244725" y="5608638"/>
          <p14:tracePt t="191809" x="2252663" y="5608638"/>
          <p14:tracePt t="191914" x="0" y="0"/>
        </p14:tracePtLst>
        <p14:tracePtLst>
          <p14:tracePt t="195596" x="5729288" y="5730875"/>
          <p14:tracePt t="195664" x="5737225" y="5730875"/>
          <p14:tracePt t="195712" x="5746750" y="5730875"/>
          <p14:tracePt t="195720" x="5754688" y="5730875"/>
          <p14:tracePt t="195731" x="5764213" y="5730875"/>
          <p14:tracePt t="195748" x="5781675" y="5740400"/>
          <p14:tracePt t="195764" x="5789613" y="5748338"/>
          <p14:tracePt t="195781" x="5807075" y="5748338"/>
          <p14:tracePt t="195873" x="5816600" y="5748338"/>
          <p14:tracePt t="195889" x="5824538" y="5748338"/>
          <p14:tracePt t="195905" x="5824538" y="5757863"/>
          <p14:tracePt t="195912" x="5834063" y="5765800"/>
          <p14:tracePt t="195920" x="5842000" y="5765800"/>
          <p14:tracePt t="195931" x="5851525" y="5765800"/>
          <p14:tracePt t="195948" x="5868988" y="5775325"/>
          <p14:tracePt t="195964" x="5886450" y="5783263"/>
          <p14:tracePt t="195981" x="5903913" y="5800725"/>
          <p14:tracePt t="195998" x="5929313" y="5800725"/>
          <p14:tracePt t="196014" x="5938838" y="5810250"/>
          <p14:tracePt t="196031" x="5956300" y="5818188"/>
          <p14:tracePt t="196056" x="5964238" y="5818188"/>
          <p14:tracePt t="196128" x="5973763" y="5818188"/>
          <p14:tracePt t="196137" x="5981700" y="5810250"/>
          <p14:tracePt t="196152" x="5991225" y="5810250"/>
          <p14:tracePt t="196164" x="5999163" y="5800725"/>
          <p14:tracePt t="196181" x="6008688" y="5792788"/>
          <p14:tracePt t="196198" x="6016625" y="5783263"/>
          <p14:tracePt t="196214" x="6026150" y="5765800"/>
          <p14:tracePt t="196233" x="6026150" y="5757863"/>
          <p14:tracePt t="196248" x="6026150" y="5748338"/>
          <p14:tracePt t="196265" x="6026150" y="5730875"/>
          <p14:tracePt t="196281" x="6026150" y="5713413"/>
          <p14:tracePt t="196298" x="6026150" y="5695950"/>
          <p14:tracePt t="196321" x="6016625" y="5695950"/>
          <p14:tracePt t="196331" x="6016625" y="5678488"/>
          <p14:tracePt t="196348" x="6008688" y="5678488"/>
          <p14:tracePt t="196365" x="6008688" y="5670550"/>
          <p14:tracePt t="196381" x="5991225" y="5653088"/>
          <p14:tracePt t="196398" x="5973763" y="5635625"/>
          <p14:tracePt t="196414" x="5956300" y="5608638"/>
          <p14:tracePt t="196431" x="5938838" y="5591175"/>
          <p14:tracePt t="196433" x="5929313" y="5591175"/>
          <p14:tracePt t="196448" x="5921375" y="5583238"/>
          <p14:tracePt t="196465" x="5911850" y="5573713"/>
          <p14:tracePt t="196481" x="5894388" y="5565775"/>
          <p14:tracePt t="196497" x="5886450" y="5556250"/>
          <p14:tracePt t="196514" x="5876925" y="5548313"/>
          <p14:tracePt t="196531" x="5859463" y="5548313"/>
          <p14:tracePt t="196548" x="5842000" y="5538788"/>
          <p14:tracePt t="196564" x="5807075" y="5530850"/>
          <p14:tracePt t="196581" x="5789613" y="5530850"/>
          <p14:tracePt t="196598" x="5789613" y="5521325"/>
          <p14:tracePt t="196617" x="5781675" y="5521325"/>
          <p14:tracePt t="196737" x="5772150" y="5521325"/>
          <p14:tracePt t="196785" x="5764213" y="5521325"/>
          <p14:tracePt t="196801" x="5746750" y="5530850"/>
          <p14:tracePt t="196808" x="5737225" y="5538788"/>
          <p14:tracePt t="196817" x="5729288" y="5548313"/>
          <p14:tracePt t="196831" x="5711825" y="5556250"/>
          <p14:tracePt t="196832" x="5694363" y="5565775"/>
          <p14:tracePt t="196847" x="5684838" y="5573713"/>
          <p14:tracePt t="196849" x="5659438" y="5583238"/>
          <p14:tracePt t="196865" x="5597525" y="5591175"/>
          <p14:tracePt t="196881" x="5562600" y="5600700"/>
          <p14:tracePt t="196898" x="5545138" y="5608638"/>
          <p14:tracePt t="196914" x="5519738" y="5608638"/>
          <p14:tracePt t="196937" x="5510213" y="5608638"/>
          <p14:tracePt t="196952" x="5502275" y="5600700"/>
          <p14:tracePt t="196964" x="5484813" y="5591175"/>
          <p14:tracePt t="196981" x="5387975" y="5573713"/>
          <p14:tracePt t="196998" x="5083175" y="5565775"/>
          <p14:tracePt t="197001" x="0" y="0"/>
        </p14:tracePtLst>
        <p14:tracePtLst>
          <p14:tracePt t="198045" x="1947863" y="5748338"/>
          <p14:tracePt t="198112" x="1955800" y="5748338"/>
          <p14:tracePt t="198129" x="1965325" y="5748338"/>
          <p14:tracePt t="198145" x="1973263" y="5748338"/>
          <p14:tracePt t="198241" x="1982788" y="5748338"/>
          <p14:tracePt t="198265" x="1990725" y="5748338"/>
          <p14:tracePt t="198337" x="2000250" y="5748338"/>
          <p14:tracePt t="198369" x="2008188" y="5748338"/>
          <p14:tracePt t="198393" x="2017713" y="5748338"/>
          <p14:tracePt t="198449" x="2025650" y="5748338"/>
          <p14:tracePt t="198457" x="2035175" y="5748338"/>
          <p14:tracePt t="198464" x="2052638" y="5748338"/>
          <p14:tracePt t="198480" x="2070100" y="5748338"/>
          <p14:tracePt t="198497" x="2087563" y="5748338"/>
          <p14:tracePt t="198520" x="2095500" y="5748338"/>
          <p14:tracePt t="198531" x="2105025" y="5748338"/>
          <p14:tracePt t="198547" x="2105025" y="5740400"/>
          <p14:tracePt t="198568" x="2105025" y="5730875"/>
          <p14:tracePt t="198581" x="2112963" y="5722938"/>
          <p14:tracePt t="198597" x="2112963" y="5713413"/>
          <p14:tracePt t="198614" x="2112963" y="5705475"/>
          <p14:tracePt t="198631" x="2112963" y="5695950"/>
          <p14:tracePt t="198647" x="2122488" y="5695950"/>
          <p14:tracePt t="198648" x="2130425" y="5688013"/>
          <p14:tracePt t="198665" x="2130425" y="5678488"/>
          <p14:tracePt t="198680" x="2139950" y="5670550"/>
          <p14:tracePt t="198697" x="2139950" y="5653088"/>
          <p14:tracePt t="198714" x="2139950" y="5626100"/>
          <p14:tracePt t="198731" x="2147888" y="5608638"/>
          <p14:tracePt t="198747" x="2157413" y="5600700"/>
          <p14:tracePt t="198764" x="2157413" y="5591175"/>
          <p14:tracePt t="198781" x="2157413" y="5573713"/>
          <p14:tracePt t="198797" x="2139950" y="5565775"/>
          <p14:tracePt t="198814" x="2139950" y="5556250"/>
          <p14:tracePt t="198831" x="2112963" y="5538788"/>
          <p14:tracePt t="198847" x="2087563" y="5513388"/>
          <p14:tracePt t="198848" x="2078038" y="5503863"/>
          <p14:tracePt t="198864" x="2052638" y="5476875"/>
          <p14:tracePt t="198880" x="2035175" y="5468938"/>
          <p14:tracePt t="198897" x="2025650" y="5459413"/>
          <p14:tracePt t="198921" x="2017713" y="5459413"/>
          <p14:tracePt t="198937" x="2008188" y="5459413"/>
          <p14:tracePt t="198961" x="2000250" y="5459413"/>
          <p14:tracePt t="198969" x="1990725" y="5459413"/>
          <p14:tracePt t="198981" x="1982788" y="5459413"/>
          <p14:tracePt t="198997" x="1965325" y="5459413"/>
          <p14:tracePt t="199014" x="1955800" y="5459413"/>
          <p14:tracePt t="199057" x="1947863" y="5468938"/>
          <p14:tracePt t="199064" x="1930400" y="5476875"/>
          <p14:tracePt t="199072" x="1930400" y="5495925"/>
          <p14:tracePt t="199081" x="1912938" y="5503863"/>
          <p14:tracePt t="199098" x="1885950" y="5548313"/>
          <p14:tracePt t="199114" x="1851025" y="5583238"/>
          <p14:tracePt t="199131" x="1843088" y="5608638"/>
          <p14:tracePt t="199147" x="1825625" y="5626100"/>
          <p14:tracePt t="199164" x="1825625" y="5643563"/>
          <p14:tracePt t="199180" x="1816100" y="5653088"/>
          <p14:tracePt t="199198" x="1816100" y="5661025"/>
          <p14:tracePt t="199214" x="1816100" y="5670550"/>
          <p14:tracePt t="199230" x="1816100" y="5688013"/>
          <p14:tracePt t="199247" x="1825625" y="5722938"/>
          <p14:tracePt t="199248" x="1833563" y="5730875"/>
          <p14:tracePt t="199264" x="1851025" y="5757863"/>
          <p14:tracePt t="199281" x="1868488" y="5775325"/>
          <p14:tracePt t="199298" x="1878013" y="5783263"/>
          <p14:tracePt t="199314" x="1885950" y="5792788"/>
          <p14:tracePt t="199331" x="1903413" y="5792788"/>
          <p14:tracePt t="199347" x="1920875" y="5800725"/>
          <p14:tracePt t="199364" x="1930400" y="5800725"/>
          <p14:tracePt t="199380" x="1930400" y="5810250"/>
          <p14:tracePt t="199398" x="1947863" y="5810250"/>
          <p14:tracePt t="199414" x="1965325" y="5810250"/>
          <p14:tracePt t="199431" x="1973263" y="5810250"/>
          <p14:tracePt t="199447" x="2000250" y="5818188"/>
          <p14:tracePt t="199449" x="2008188" y="5818188"/>
          <p14:tracePt t="199464" x="2017713" y="5818188"/>
          <p14:tracePt t="199465" x="2025650" y="5818188"/>
          <p14:tracePt t="199481" x="2035175" y="5818188"/>
          <p14:tracePt t="199545" x="2043113" y="5818188"/>
          <p14:tracePt t="200001" x="0" y="0"/>
        </p14:tracePtLst>
        <p14:tracePtLst>
          <p14:tracePt t="201269" x="5694363" y="5730875"/>
          <p14:tracePt t="201289" x="5702300" y="5730875"/>
          <p14:tracePt t="201306" x="5711825" y="5722938"/>
          <p14:tracePt t="201313" x="5719763" y="5722938"/>
          <p14:tracePt t="201337" x="5729288" y="5722938"/>
          <p14:tracePt t="201345" x="5737225" y="5722938"/>
          <p14:tracePt t="201360" x="5746750" y="5722938"/>
          <p14:tracePt t="201377" x="5754688" y="5722938"/>
          <p14:tracePt t="201401" x="5764213" y="5722938"/>
          <p14:tracePt t="201409" x="5781675" y="5722938"/>
          <p14:tracePt t="201417" x="5816600" y="5722938"/>
          <p14:tracePt t="201430" x="5824538" y="5730875"/>
          <p14:tracePt t="201447" x="5859463" y="5748338"/>
          <p14:tracePt t="201448" x="5868988" y="5757863"/>
          <p14:tracePt t="201463" x="5886450" y="5765800"/>
          <p14:tracePt t="201465" x="5921375" y="5775325"/>
          <p14:tracePt t="201480" x="5946775" y="5783263"/>
          <p14:tracePt t="201497" x="5964238" y="5792788"/>
          <p14:tracePt t="201514" x="5973763" y="5792788"/>
          <p14:tracePt t="201617" x="5964238" y="5792788"/>
          <p14:tracePt t="201624" x="5956300" y="5792788"/>
          <p14:tracePt t="201633" x="5956300" y="5800725"/>
          <p14:tracePt t="201647" x="5946775" y="5800725"/>
          <p14:tracePt t="201663" x="5938838" y="5800725"/>
          <p14:tracePt t="201680" x="5921375" y="5810250"/>
          <p14:tracePt t="201697" x="5911850" y="5810250"/>
          <p14:tracePt t="201729" x="5903913" y="5810250"/>
          <p14:tracePt t="201736" x="5894388" y="5810250"/>
          <p14:tracePt t="201753" x="5886450" y="5810250"/>
          <p14:tracePt t="201763" x="5859463" y="5810250"/>
          <p14:tracePt t="201780" x="5834063" y="5810250"/>
          <p14:tracePt t="201797" x="5799138" y="5810250"/>
          <p14:tracePt t="201813" x="5781675" y="5810250"/>
          <p14:tracePt t="201830" x="5764213" y="5810250"/>
          <p14:tracePt t="201847" x="5754688" y="5810250"/>
          <p14:tracePt t="201881" x="5746750" y="5810250"/>
          <p14:tracePt t="202129" x="5737225" y="5810250"/>
          <p14:tracePt t="202137" x="5729288" y="5810250"/>
          <p14:tracePt t="202160" x="5729288" y="5818188"/>
          <p14:tracePt t="202169" x="5719763" y="5818188"/>
          <p14:tracePt t="202297" x="5719763" y="5827713"/>
          <p14:tracePt t="202328" x="5729288" y="5827713"/>
          <p14:tracePt t="202344" x="5737225" y="5827713"/>
          <p14:tracePt t="202377" x="5746750" y="5827713"/>
          <p14:tracePt t="202496" x="5737225" y="5827713"/>
          <p14:tracePt t="202561" x="5729288" y="5827713"/>
          <p14:tracePt t="202657" x="5737225" y="5827713"/>
          <p14:tracePt t="202665" x="5746750" y="5827713"/>
          <p14:tracePt t="202697" x="5754688" y="5827713"/>
          <p14:tracePt t="202720" x="5764213" y="5827713"/>
          <p14:tracePt t="202768" x="5772150" y="5827713"/>
          <p14:tracePt t="202793" x="5781675" y="5827713"/>
          <p14:tracePt t="202801" x="5789613" y="5818188"/>
          <p14:tracePt t="202817" x="5799138" y="5818188"/>
          <p14:tracePt t="202833" x="5807075" y="5810250"/>
          <p14:tracePt t="202858" x="5816600" y="5810250"/>
          <p14:tracePt t="202881" x="5824538" y="5810250"/>
          <p14:tracePt t="202889" x="5834063" y="5810250"/>
          <p14:tracePt t="202904" x="5842000" y="5810250"/>
          <p14:tracePt t="202913" x="5851525" y="5810250"/>
          <p14:tracePt t="202937" x="5859463" y="5810250"/>
          <p14:tracePt t="202947" x="5859463" y="5800725"/>
          <p14:tracePt t="202963" x="5868988" y="5800725"/>
          <p14:tracePt t="203610" x="0" y="0"/>
        </p14:tracePtLst>
      </p14:laserTraceLst>
    </p:ext>
  </p:extLs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fontScale="90000"/>
          </a:bodyPr>
          <a:lstStyle/>
          <a:p>
            <a:r>
              <a:rPr lang="es-ES" dirty="0"/>
              <a:t>10. Intervalo de confianza para la diferencia de las medias de dos poblaciones. Ejemplo 9.16</a:t>
            </a:r>
          </a:p>
        </p:txBody>
      </p:sp>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p:txBody>
          <a:bodyPr>
            <a:normAutofit fontScale="92500" lnSpcReduction="20000"/>
          </a:bodyPr>
          <a:lstStyle/>
          <a:p>
            <a:r>
              <a:rPr lang="es-ES" dirty="0"/>
              <a:t>Las conexiones a Internet a menudo se ralentizan por retrasos en los nodos</a:t>
            </a:r>
          </a:p>
          <a:p>
            <a:r>
              <a:rPr lang="es-ES" dirty="0"/>
              <a:t>Hay que comprobar si el tiempo de retardo aumenta durante los tiempos de volumen pesado</a:t>
            </a:r>
          </a:p>
          <a:p>
            <a:r>
              <a:rPr lang="es-ES" dirty="0"/>
              <a:t>Quinientos paquetes se envían a través de la misma red entre las 5 pm y las 6 pm</a:t>
            </a:r>
          </a:p>
          <a:p>
            <a:r>
              <a:rPr lang="es-ES" dirty="0"/>
              <a:t>Trescientos paquetes se envían entre las 10 pm y las 11 pm </a:t>
            </a:r>
          </a:p>
          <a:p>
            <a:r>
              <a:rPr lang="es-ES" dirty="0"/>
              <a:t>La muestra temprana tiene un tiempo de retardo medio de 0,8 segundos con una desviación estándar de 0,1 </a:t>
            </a:r>
            <a:r>
              <a:rPr lang="es-ES" dirty="0" err="1"/>
              <a:t>seg</a:t>
            </a:r>
            <a:endParaRPr lang="es-ES" dirty="0"/>
          </a:p>
          <a:p>
            <a:r>
              <a:rPr lang="es-ES" dirty="0"/>
              <a:t>La segunda muestra tiene un tiempo de retardo medio de 0,5 </a:t>
            </a:r>
            <a:r>
              <a:rPr lang="es-ES" dirty="0" err="1"/>
              <a:t>seg</a:t>
            </a:r>
            <a:r>
              <a:rPr lang="es-ES" dirty="0"/>
              <a:t> con una desviación estándar de 0,08 </a:t>
            </a:r>
            <a:r>
              <a:rPr lang="es-ES" dirty="0" err="1"/>
              <a:t>seg</a:t>
            </a:r>
            <a:endParaRPr lang="es-ES" dirty="0"/>
          </a:p>
          <a:p>
            <a:r>
              <a:rPr lang="es-ES" dirty="0"/>
              <a:t>Construir un intervalo de confianza del 99,5 % para la diferencia entre los tiempos de retardo medios</a:t>
            </a:r>
          </a:p>
        </p:txBody>
      </p:sp>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58</a:t>
            </a:fld>
            <a:endParaRPr lang="es-ES" dirty="0"/>
          </a:p>
        </p:txBody>
      </p:sp>
    </p:spTree>
    <p:extLst>
      <p:ext uri="{BB962C8B-B14F-4D97-AF65-F5344CB8AC3E}">
        <p14:creationId xmlns:p14="http://schemas.microsoft.com/office/powerpoint/2010/main" val="3018985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a:bodyPr>
          <a:lstStyle/>
          <a:p>
            <a:r>
              <a:rPr lang="es-ES" sz="3600" dirty="0"/>
              <a:t>10. Intervalo de confianza para la diferencia de las medias de dos poblaciones. Ejemplo 9.16 (Solución)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a:xfrm>
                <a:off x="838200" y="1825625"/>
                <a:ext cx="8558868" cy="4667250"/>
              </a:xfrm>
            </p:spPr>
            <p:txBody>
              <a:bodyPr>
                <a:normAutofit fontScale="47500" lnSpcReduction="20000"/>
              </a:bodyPr>
              <a:lstStyle/>
              <a:p>
                <a:r>
                  <a:rPr lang="es-ES" dirty="0"/>
                  <a:t>Es un caso de muestras grandes con varianzas desconocidas</a:t>
                </a:r>
              </a:p>
              <a:p>
                <a:r>
                  <a:rPr lang="es-ES" dirty="0"/>
                  <a:t>X = tiempo de retado en una muestra de 500 paquetes que se envían entre las 5 pm y las 6 pm </a:t>
                </a:r>
              </a:p>
              <a:p>
                <a:r>
                  <a:rPr lang="es-ES" dirty="0"/>
                  <a:t>Y = tiempo de retardo en una muestra de 300 paquetes se envían entre las 10 pm y las 11 pm </a:t>
                </a:r>
              </a:p>
              <a:p>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=500</m:t>
                    </m:r>
                  </m:oMath>
                </a14:m>
                <a:r>
                  <a:rPr lang="es-ES" dirty="0"/>
                  <a:t>      m</a:t>
                </a:r>
                <a14:m>
                  <m:oMath xmlns:m="http://schemas.openxmlformats.org/officeDocument/2006/math">
                    <m:r>
                      <a:rPr lang="es-ES" i="1">
                        <a:latin typeface="Cambria Math" panose="02040503050406030204" pitchFamily="18" charset="0"/>
                      </a:rPr>
                      <m:t>=</m:t>
                    </m:r>
                    <m:r>
                      <a:rPr lang="es-ES" b="0" i="1" smtClean="0">
                        <a:latin typeface="Cambria Math" panose="02040503050406030204" pitchFamily="18" charset="0"/>
                      </a:rPr>
                      <m:t>3</m:t>
                    </m:r>
                    <m:r>
                      <a:rPr lang="es-ES" i="1">
                        <a:latin typeface="Cambria Math" panose="02040503050406030204" pitchFamily="18" charset="0"/>
                      </a:rPr>
                      <m:t>00</m:t>
                    </m:r>
                  </m:oMath>
                </a14:m>
                <a:endParaRPr lang="es-ES" b="0" dirty="0"/>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=0.8 </m:t>
                    </m:r>
                    <m:r>
                      <m:rPr>
                        <m:nor/>
                      </m:rPr>
                      <a:rPr lang="es-ES">
                        <a:latin typeface="Cambria Math" panose="02040503050406030204" pitchFamily="18" charset="0"/>
                      </a:rPr>
                      <m:t>seg</m:t>
                    </m:r>
                  </m:oMath>
                </a14:m>
                <a:endParaRPr lang="es-ES" dirty="0"/>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=0.5 </m:t>
                    </m:r>
                    <m:r>
                      <m:rPr>
                        <m:nor/>
                      </m:rPr>
                      <a:rPr lang="es-ES">
                        <a:latin typeface="Cambria Math" panose="02040503050406030204" pitchFamily="18" charset="0"/>
                      </a:rPr>
                      <m:t>seg</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𝑋</m:t>
                        </m:r>
                      </m:sub>
                    </m:sSub>
                    <m:r>
                      <a:rPr lang="es-ES" b="0" i="1" smtClean="0">
                        <a:latin typeface="Cambria Math" panose="02040503050406030204" pitchFamily="18" charset="0"/>
                      </a:rPr>
                      <m:t>=0.1 </m:t>
                    </m:r>
                    <m:r>
                      <m:rPr>
                        <m:nor/>
                      </m:rPr>
                      <a:rPr lang="es-ES" b="0" i="0" smtClean="0">
                        <a:latin typeface="Cambria Math" panose="02040503050406030204" pitchFamily="18" charset="0"/>
                      </a:rPr>
                      <m:t>seg</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𝑌</m:t>
                        </m:r>
                      </m:sub>
                    </m:sSub>
                    <m:r>
                      <a:rPr lang="es-ES" b="0" i="1" smtClean="0">
                        <a:latin typeface="Cambria Math" panose="02040503050406030204" pitchFamily="18" charset="0"/>
                      </a:rPr>
                      <m:t>=0.08 </m:t>
                    </m:r>
                    <m:r>
                      <m:rPr>
                        <m:nor/>
                      </m:rPr>
                      <a:rPr lang="es-ES" b="0" i="0" smtClean="0">
                        <a:latin typeface="Cambria Math" panose="02040503050406030204" pitchFamily="18" charset="0"/>
                      </a:rPr>
                      <m:t>seg</m:t>
                    </m:r>
                  </m:oMath>
                </a14:m>
                <a:endParaRPr lang="es-ES"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=0.995→</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=0.005→</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=0.0025</m:t>
                    </m:r>
                  </m:oMath>
                </a14:m>
                <a:endParaRPr lang="es-ES" dirty="0"/>
              </a:p>
              <a:p>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r>
                      <a:rPr lang="es-ES" i="1">
                        <a:latin typeface="Cambria Math" panose="02040503050406030204" pitchFamily="18" charset="0"/>
                      </a:rPr>
                      <m:t>=</m:t>
                    </m:r>
                    <m:r>
                      <a:rPr lang="es-ES" i="1">
                        <a:latin typeface="Cambria Math" panose="02040503050406030204" pitchFamily="18" charset="0"/>
                      </a:rPr>
                      <m:t>𝑐𝑢𝑎𝑛𝑡𝑖𝑙</m:t>
                    </m:r>
                    <m:d>
                      <m:dPr>
                        <m:ctrlPr>
                          <a:rPr lang="es-ES" i="1">
                            <a:latin typeface="Cambria Math" panose="02040503050406030204" pitchFamily="18" charset="0"/>
                          </a:rPr>
                        </m:ctrlPr>
                      </m:dPr>
                      <m:e>
                        <m:r>
                          <a:rPr lang="es-ES" i="1">
                            <a:latin typeface="Cambria Math" panose="02040503050406030204" pitchFamily="18" charset="0"/>
                          </a:rPr>
                          <m:t>1−</m:t>
                        </m:r>
                        <m:f>
                          <m:fPr>
                            <m:ctrlPr>
                              <a:rPr lang="es-ES" i="1">
                                <a:latin typeface="Cambria Math" panose="02040503050406030204" pitchFamily="18" charset="0"/>
                              </a:rPr>
                            </m:ctrlPr>
                          </m:fPr>
                          <m:num>
                            <m:r>
                              <a:rPr lang="el-GR" i="1">
                                <a:latin typeface="Cambria Math" panose="02040503050406030204" pitchFamily="18" charset="0"/>
                              </a:rPr>
                              <m:t>𝛼</m:t>
                            </m:r>
                          </m:num>
                          <m:den>
                            <m:r>
                              <a:rPr lang="es-ES" i="1">
                                <a:latin typeface="Cambria Math" panose="02040503050406030204" pitchFamily="18" charset="0"/>
                              </a:rPr>
                              <m:t>2</m:t>
                            </m:r>
                          </m:den>
                        </m:f>
                      </m:e>
                    </m:d>
                    <m:r>
                      <m:rPr>
                        <m:nor/>
                      </m:rPr>
                      <a:rPr lang="es-ES"/>
                      <m:t>de</m:t>
                    </m:r>
                    <m:r>
                      <m:rPr>
                        <m:nor/>
                      </m:rPr>
                      <a:rPr lang="es-ES"/>
                      <m:t> </m:t>
                    </m:r>
                    <m:r>
                      <m:rPr>
                        <m:nor/>
                      </m:rPr>
                      <a:rPr lang="es-ES"/>
                      <m:t>Z</m:t>
                    </m:r>
                    <m:r>
                      <m:rPr>
                        <m:nor/>
                      </m:rPr>
                      <a:rPr lang="es-ES"/>
                      <m:t>:</m:t>
                    </m:r>
                    <m:r>
                      <m:rPr>
                        <m:nor/>
                      </m:rPr>
                      <a:rPr lang="es-ES"/>
                      <m:t>N</m:t>
                    </m:r>
                    <m:d>
                      <m:dPr>
                        <m:ctrlPr>
                          <a:rPr lang="es-ES" i="1">
                            <a:latin typeface="Cambria Math" panose="02040503050406030204" pitchFamily="18" charset="0"/>
                          </a:rPr>
                        </m:ctrlPr>
                      </m:dPr>
                      <m:e>
                        <m:r>
                          <m:rPr>
                            <m:nor/>
                          </m:rPr>
                          <a:rPr lang="es-ES"/>
                          <m:t>0,1</m:t>
                        </m:r>
                      </m:e>
                    </m:d>
                    <m:r>
                      <a:rPr lang="es-ES" i="1">
                        <a:latin typeface="Cambria Math" panose="02040503050406030204" pitchFamily="18" charset="0"/>
                      </a:rPr>
                      <m:t>→</m:t>
                    </m:r>
                    <m:r>
                      <a:rPr lang="es-ES" i="1">
                        <a:latin typeface="Cambria Math" panose="020405030504060302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rPr>
                          <m:t>𝑍</m:t>
                        </m:r>
                        <m:r>
                          <a:rPr lang="es-ES" i="1">
                            <a:latin typeface="Cambria Math" panose="020405030504060302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e>
                    </m:d>
                    <m:r>
                      <a:rPr lang="es-ES" i="1">
                        <a:latin typeface="Cambria Math" panose="02040503050406030204" pitchFamily="18" charset="0"/>
                      </a:rPr>
                      <m:t>=1−</m:t>
                    </m:r>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=1−0.0</m:t>
                    </m:r>
                    <m:r>
                      <a:rPr lang="es-ES" b="0" i="1" smtClean="0">
                        <a:latin typeface="Cambria Math" panose="02040503050406030204" pitchFamily="18" charset="0"/>
                      </a:rPr>
                      <m:t>02</m:t>
                    </m:r>
                    <m:r>
                      <a:rPr lang="es-ES" i="1">
                        <a:latin typeface="Cambria Math" panose="02040503050406030204" pitchFamily="18" charset="0"/>
                      </a:rPr>
                      <m:t>5=0.9</m:t>
                    </m:r>
                    <m:r>
                      <a:rPr lang="es-ES" b="0" i="1" smtClean="0">
                        <a:latin typeface="Cambria Math" panose="02040503050406030204" pitchFamily="18" charset="0"/>
                      </a:rPr>
                      <m:t>97</m:t>
                    </m:r>
                    <m:r>
                      <a:rPr lang="es-ES" i="1">
                        <a:latin typeface="Cambria Math" panose="02040503050406030204" pitchFamily="18" charset="0"/>
                      </a:rPr>
                      <m:t>5</m:t>
                    </m:r>
                  </m:oMath>
                </a14:m>
                <a:r>
                  <a:rPr lang="es-ES" dirty="0"/>
                  <a:t> Según la tabla A4: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
                      <a:rPr lang="es-ES" b="0" i="1" smtClean="0">
                        <a:latin typeface="Cambria Math" panose="02040503050406030204" pitchFamily="18" charset="0"/>
                      </a:rPr>
                      <m:t>=2.81</m:t>
                    </m:r>
                  </m:oMath>
                </a14:m>
                <a:endParaRPr lang="es-ES" dirty="0"/>
              </a:p>
              <a:p>
                <a:r>
                  <a:rPr lang="es-ES" dirty="0"/>
                  <a:t>Intervalo de confianza</a:t>
                </a:r>
                <a:r>
                  <a:rPr lang="es-ES" dirty="0">
                    <a:sym typeface="Wingdings" panose="05000000000000000000" pitchFamily="2" charset="2"/>
                  </a:rPr>
                  <a:t> C</a:t>
                </a:r>
                <a:r>
                  <a:rPr lang="es-ES" dirty="0"/>
                  <a:t>omo no contiene el valor 0, la diferencia de medias SÍ es significativa, siendo mayor la media de la primera población, por ser los extremos positivos</a:t>
                </a:r>
              </a:p>
              <a:p>
                <a:endParaRPr lang="es-ES" dirty="0"/>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𝑋</m:t>
                        </m:r>
                      </m:e>
                    </m:acc>
                    <m:r>
                      <a:rPr lang="es-ES" sz="2400" i="1" kern="1200">
                        <a:solidFill>
                          <a:schemeClr val="tx1"/>
                        </a:solidFill>
                        <a:effectLst/>
                        <a:latin typeface="Cambria Math" panose="02040503050406030204" pitchFamily="18" charset="0"/>
                        <a:ea typeface="+mn-ea"/>
                        <a:cs typeface="+mn-cs"/>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𝑌</m:t>
                        </m:r>
                      </m:e>
                    </m:acc>
                    <m:r>
                      <a:rPr lang="es-ES" sz="2400" i="1" kern="1200">
                        <a:solidFill>
                          <a:schemeClr val="tx1"/>
                        </a:solidFill>
                        <a:effectLst/>
                        <a:latin typeface="Cambria Math" panose="02040503050406030204" pitchFamily="18" charset="0"/>
                        <a:ea typeface="+mn-ea"/>
                        <a:cs typeface="+mn-cs"/>
                      </a:rPr>
                      <m:t>−</m:t>
                    </m:r>
                    <m:sSub>
                      <m:sSubPr>
                        <m:ctrlPr>
                          <a:rPr lang="es-ES" sz="2400" i="1" kern="1200">
                            <a:solidFill>
                              <a:schemeClr val="tx1"/>
                            </a:solidFill>
                            <a:effectLst/>
                            <a:latin typeface="Cambria Math" panose="02040503050406030204" pitchFamily="18" charset="0"/>
                            <a:ea typeface="+mn-ea"/>
                            <a:cs typeface="+mn-cs"/>
                          </a:rPr>
                        </m:ctrlPr>
                      </m:sSubPr>
                      <m:e>
                        <m:r>
                          <a:rPr lang="es-ES" sz="2400" i="1" kern="1200">
                            <a:solidFill>
                              <a:schemeClr val="tx1"/>
                            </a:solidFill>
                            <a:effectLst/>
                            <a:latin typeface="Cambria Math" panose="02040503050406030204" pitchFamily="18" charset="0"/>
                            <a:ea typeface="+mn-ea"/>
                            <a:cs typeface="+mn-cs"/>
                          </a:rPr>
                          <m:t>𝑧</m:t>
                        </m:r>
                      </m:e>
                      <m:sub>
                        <m:f>
                          <m:fPr>
                            <m:ctrlPr>
                              <a:rPr lang="es-ES" sz="2400" i="1" kern="1200">
                                <a:solidFill>
                                  <a:schemeClr val="tx1"/>
                                </a:solidFill>
                                <a:effectLst/>
                                <a:latin typeface="Cambria Math" panose="02040503050406030204" pitchFamily="18" charset="0"/>
                                <a:ea typeface="+mn-ea"/>
                                <a:cs typeface="+mn-cs"/>
                              </a:rPr>
                            </m:ctrlPr>
                          </m:fPr>
                          <m:num>
                            <m:r>
                              <a:rPr lang="es-ES" sz="2400" i="1" kern="1200">
                                <a:solidFill>
                                  <a:schemeClr val="tx1"/>
                                </a:solidFill>
                                <a:effectLst/>
                                <a:latin typeface="Cambria Math" panose="02040503050406030204" pitchFamily="18" charset="0"/>
                                <a:ea typeface="+mn-ea"/>
                                <a:cs typeface="+mn-cs"/>
                              </a:rPr>
                              <m:t>𝛼</m:t>
                            </m:r>
                          </m:num>
                          <m:den>
                            <m:r>
                              <a:rPr lang="es-ES" sz="2400" i="1" kern="1200">
                                <a:solidFill>
                                  <a:schemeClr val="tx1"/>
                                </a:solidFill>
                                <a:effectLst/>
                                <a:latin typeface="Cambria Math" panose="02040503050406030204" pitchFamily="18" charset="0"/>
                                <a:ea typeface="+mn-ea"/>
                                <a:cs typeface="+mn-cs"/>
                              </a:rPr>
                              <m:t>2</m:t>
                            </m:r>
                          </m:den>
                        </m:f>
                      </m:sub>
                    </m:sSub>
                    <m:rad>
                      <m:radPr>
                        <m:degHide m:val="on"/>
                        <m:ctrlPr>
                          <a:rPr lang="es-ES" sz="2400" i="1" kern="1200">
                            <a:solidFill>
                              <a:schemeClr val="tx1"/>
                            </a:solidFill>
                            <a:effectLst/>
                            <a:latin typeface="Cambria Math" panose="02040503050406030204" pitchFamily="18" charset="0"/>
                            <a:ea typeface="+mn-ea"/>
                            <a:cs typeface="+mn-cs"/>
                          </a:rPr>
                        </m:ctrlPr>
                      </m:radPr>
                      <m:deg/>
                      <m:e>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b="0" i="1" kern="1200" smtClean="0">
                                    <a:solidFill>
                                      <a:schemeClr val="tx1"/>
                                    </a:solidFill>
                                    <a:effectLst/>
                                    <a:latin typeface="Cambria Math" panose="02040503050406030204" pitchFamily="18" charset="0"/>
                                    <a:ea typeface="+mn-ea"/>
                                    <a:cs typeface="+mn-cs"/>
                                  </a:rPr>
                                  <m:t>𝑠</m:t>
                                </m:r>
                              </m:e>
                              <m:sub>
                                <m:r>
                                  <a:rPr lang="es-ES" sz="2400" b="0" i="1" kern="1200" smtClean="0">
                                    <a:solidFill>
                                      <a:schemeClr val="tx1"/>
                                    </a:solidFill>
                                    <a:effectLst/>
                                    <a:latin typeface="Cambria Math" panose="02040503050406030204" pitchFamily="18" charset="0"/>
                                    <a:ea typeface="+mn-ea"/>
                                    <a:cs typeface="+mn-cs"/>
                                  </a:rPr>
                                  <m:t>𝑋</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𝑛</m:t>
                            </m:r>
                          </m:den>
                        </m:f>
                        <m:r>
                          <a:rPr lang="es-ES" sz="2400" i="1" kern="1200">
                            <a:solidFill>
                              <a:schemeClr val="tx1"/>
                            </a:solidFill>
                            <a:effectLst/>
                            <a:latin typeface="Cambria Math" panose="02040503050406030204" pitchFamily="18" charset="0"/>
                            <a:ea typeface="+mn-ea"/>
                            <a:cs typeface="+mn-cs"/>
                          </a:rPr>
                          <m:t>+</m:t>
                        </m:r>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b="0" i="1" kern="1200" smtClean="0">
                                    <a:solidFill>
                                      <a:schemeClr val="tx1"/>
                                    </a:solidFill>
                                    <a:effectLst/>
                                    <a:latin typeface="Cambria Math" panose="02040503050406030204" pitchFamily="18" charset="0"/>
                                    <a:ea typeface="+mn-ea"/>
                                    <a:cs typeface="+mn-cs"/>
                                  </a:rPr>
                                  <m:t>𝑠</m:t>
                                </m:r>
                              </m:e>
                              <m:sub>
                                <m:r>
                                  <a:rPr lang="es-ES" sz="2400" b="0" i="1" kern="1200" smtClean="0">
                                    <a:solidFill>
                                      <a:schemeClr val="tx1"/>
                                    </a:solidFill>
                                    <a:effectLst/>
                                    <a:latin typeface="Cambria Math" panose="02040503050406030204" pitchFamily="18" charset="0"/>
                                    <a:ea typeface="+mn-ea"/>
                                    <a:cs typeface="+mn-cs"/>
                                  </a:rPr>
                                  <m:t>𝑌</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𝑚</m:t>
                            </m:r>
                          </m:den>
                        </m:f>
                      </m:e>
                    </m:rad>
                    <m:r>
                      <a:rPr lang="es-ES" sz="2400" b="0" i="0" kern="1200" smtClean="0">
                        <a:solidFill>
                          <a:schemeClr val="tx1"/>
                        </a:solidFill>
                        <a:effectLst/>
                        <a:latin typeface="Cambria Math" panose="02040503050406030204" pitchFamily="18" charset="0"/>
                        <a:ea typeface="+mn-ea"/>
                        <a:cs typeface="+mn-cs"/>
                      </a:rPr>
                      <m:t>=0.8−0.5−2.81</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p>
                              <m:sSupPr>
                                <m:ctrlPr>
                                  <a:rPr lang="es-ES" i="1" smtClean="0">
                                    <a:latin typeface="Cambria Math" panose="02040503050406030204" pitchFamily="18" charset="0"/>
                                  </a:rPr>
                                </m:ctrlPr>
                              </m:sSupPr>
                              <m:e>
                                <m:r>
                                  <a:rPr lang="es-ES" b="0" i="1" smtClean="0">
                                    <a:latin typeface="Cambria Math" panose="02040503050406030204" pitchFamily="18" charset="0"/>
                                  </a:rPr>
                                  <m:t>0.1</m:t>
                                </m:r>
                              </m:e>
                              <m:sup>
                                <m:r>
                                  <a:rPr lang="es-ES" b="0" i="1" smtClean="0">
                                    <a:latin typeface="Cambria Math" panose="02040503050406030204" pitchFamily="18" charset="0"/>
                                  </a:rPr>
                                  <m:t>2</m:t>
                                </m:r>
                              </m:sup>
                            </m:sSup>
                          </m:num>
                          <m:den>
                            <m:r>
                              <a:rPr lang="es-ES" b="0" i="1" smtClean="0">
                                <a:latin typeface="Cambria Math" panose="02040503050406030204" pitchFamily="18" charset="0"/>
                              </a:rPr>
                              <m:t>500</m:t>
                            </m:r>
                          </m:den>
                        </m:f>
                        <m:r>
                          <a:rPr lang="es-ES" i="1">
                            <a:latin typeface="Cambria Math" panose="02040503050406030204" pitchFamily="18" charset="0"/>
                          </a:rPr>
                          <m:t>+</m:t>
                        </m:r>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b="0" i="1" smtClean="0">
                                    <a:latin typeface="Cambria Math" panose="02040503050406030204" pitchFamily="18" charset="0"/>
                                  </a:rPr>
                                  <m:t>0</m:t>
                                </m:r>
                                <m:r>
                                  <a:rPr lang="es-ES" i="1">
                                    <a:latin typeface="Cambria Math" panose="02040503050406030204" pitchFamily="18" charset="0"/>
                                  </a:rPr>
                                  <m:t>.</m:t>
                                </m:r>
                                <m:r>
                                  <a:rPr lang="es-ES" b="0" i="1" smtClean="0">
                                    <a:latin typeface="Cambria Math" panose="02040503050406030204" pitchFamily="18" charset="0"/>
                                  </a:rPr>
                                  <m:t>0</m:t>
                                </m:r>
                                <m:r>
                                  <a:rPr lang="es-ES" i="1">
                                    <a:latin typeface="Cambria Math" panose="02040503050406030204" pitchFamily="18" charset="0"/>
                                  </a:rPr>
                                  <m:t>8</m:t>
                                </m:r>
                              </m:e>
                              <m:sup>
                                <m:r>
                                  <a:rPr lang="es-ES" i="1">
                                    <a:latin typeface="Cambria Math" panose="02040503050406030204" pitchFamily="18" charset="0"/>
                                  </a:rPr>
                                  <m:t>2</m:t>
                                </m:r>
                              </m:sup>
                            </m:sSup>
                          </m:num>
                          <m:den>
                            <m:r>
                              <a:rPr lang="es-ES" b="0" i="1" smtClean="0">
                                <a:latin typeface="Cambria Math" panose="02040503050406030204" pitchFamily="18" charset="0"/>
                              </a:rPr>
                              <m:t>30</m:t>
                            </m:r>
                            <m:r>
                              <a:rPr lang="es-ES" i="1">
                                <a:latin typeface="Cambria Math" panose="02040503050406030204" pitchFamily="18" charset="0"/>
                              </a:rPr>
                              <m:t>0</m:t>
                            </m:r>
                          </m:den>
                        </m:f>
                      </m:e>
                    </m:rad>
                    <m:r>
                      <a:rPr lang="es-ES" b="0" i="1" smtClean="0">
                        <a:latin typeface="Cambria Math" panose="02040503050406030204" pitchFamily="18" charset="0"/>
                      </a:rPr>
                      <m:t>=0.28 </m:t>
                    </m:r>
                    <m:r>
                      <m:rPr>
                        <m:nor/>
                      </m:rPr>
                      <a:rPr lang="es-ES" b="0" i="0" smtClean="0">
                        <a:latin typeface="Cambria Math" panose="02040503050406030204" pitchFamily="18" charset="0"/>
                      </a:rPr>
                      <m:t>seg</m:t>
                    </m:r>
                  </m:oMath>
                </a14:m>
                <a:endParaRPr lang="es-ES" dirty="0"/>
              </a:p>
              <a:p>
                <a:pPr lvl="1"/>
                <a:endParaRPr lang="es-ES" i="1" dirty="0">
                  <a:latin typeface="Cambria Math" panose="02040503050406030204" pitchFamily="18" charset="0"/>
                </a:endParaRPr>
              </a:p>
              <a:p>
                <a:pPr lvl="1"/>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𝑋</m:t>
                        </m:r>
                      </m:e>
                    </m:acc>
                    <m:r>
                      <a:rPr lang="es-ES" sz="2400" i="1" kern="1200">
                        <a:solidFill>
                          <a:schemeClr val="tx1"/>
                        </a:solidFill>
                        <a:effectLst/>
                        <a:latin typeface="Cambria Math" panose="02040503050406030204" pitchFamily="18" charset="0"/>
                        <a:ea typeface="+mn-ea"/>
                        <a:cs typeface="+mn-cs"/>
                      </a:rPr>
                      <m:t>−</m:t>
                    </m:r>
                    <m:acc>
                      <m:accPr>
                        <m:chr m:val="̅"/>
                        <m:ctrlPr>
                          <a:rPr lang="es-ES" sz="2400" i="1" kern="1200" smtClean="0">
                            <a:solidFill>
                              <a:schemeClr val="tx1"/>
                            </a:solidFill>
                            <a:effectLst/>
                            <a:latin typeface="Cambria Math" panose="02040503050406030204" pitchFamily="18" charset="0"/>
                            <a:ea typeface="+mn-ea"/>
                            <a:cs typeface="+mn-cs"/>
                          </a:rPr>
                        </m:ctrlPr>
                      </m:accPr>
                      <m:e>
                        <m:r>
                          <a:rPr lang="es-ES" sz="2400" b="0" i="1" kern="1200" smtClean="0">
                            <a:solidFill>
                              <a:schemeClr val="tx1"/>
                            </a:solidFill>
                            <a:effectLst/>
                            <a:latin typeface="Cambria Math" panose="02040503050406030204" pitchFamily="18" charset="0"/>
                            <a:ea typeface="+mn-ea"/>
                            <a:cs typeface="+mn-cs"/>
                          </a:rPr>
                          <m:t>𝑌</m:t>
                        </m:r>
                      </m:e>
                    </m:acc>
                    <m:r>
                      <a:rPr lang="es-ES" sz="2400" b="0" i="1" kern="1200" smtClean="0">
                        <a:solidFill>
                          <a:schemeClr val="tx1"/>
                        </a:solidFill>
                        <a:effectLst/>
                        <a:latin typeface="Cambria Math" panose="02040503050406030204" pitchFamily="18" charset="0"/>
                        <a:ea typeface="+mn-ea"/>
                        <a:cs typeface="+mn-cs"/>
                      </a:rPr>
                      <m:t>+</m:t>
                    </m:r>
                    <m:sSub>
                      <m:sSubPr>
                        <m:ctrlPr>
                          <a:rPr lang="es-ES" sz="2400" i="1" kern="1200">
                            <a:solidFill>
                              <a:schemeClr val="tx1"/>
                            </a:solidFill>
                            <a:effectLst/>
                            <a:latin typeface="Cambria Math" panose="02040503050406030204" pitchFamily="18" charset="0"/>
                            <a:ea typeface="+mn-ea"/>
                            <a:cs typeface="+mn-cs"/>
                          </a:rPr>
                        </m:ctrlPr>
                      </m:sSubPr>
                      <m:e>
                        <m:r>
                          <a:rPr lang="es-ES" sz="2400" i="1" kern="1200">
                            <a:solidFill>
                              <a:schemeClr val="tx1"/>
                            </a:solidFill>
                            <a:effectLst/>
                            <a:latin typeface="Cambria Math" panose="02040503050406030204" pitchFamily="18" charset="0"/>
                            <a:ea typeface="+mn-ea"/>
                            <a:cs typeface="+mn-cs"/>
                          </a:rPr>
                          <m:t>𝑧</m:t>
                        </m:r>
                      </m:e>
                      <m:sub>
                        <m:f>
                          <m:fPr>
                            <m:ctrlPr>
                              <a:rPr lang="es-ES" sz="2400" i="1" kern="1200">
                                <a:solidFill>
                                  <a:schemeClr val="tx1"/>
                                </a:solidFill>
                                <a:effectLst/>
                                <a:latin typeface="Cambria Math" panose="02040503050406030204" pitchFamily="18" charset="0"/>
                                <a:ea typeface="+mn-ea"/>
                                <a:cs typeface="+mn-cs"/>
                              </a:rPr>
                            </m:ctrlPr>
                          </m:fPr>
                          <m:num>
                            <m:r>
                              <a:rPr lang="es-ES" sz="2400" i="1" kern="1200">
                                <a:solidFill>
                                  <a:schemeClr val="tx1"/>
                                </a:solidFill>
                                <a:effectLst/>
                                <a:latin typeface="Cambria Math" panose="02040503050406030204" pitchFamily="18" charset="0"/>
                                <a:ea typeface="+mn-ea"/>
                                <a:cs typeface="+mn-cs"/>
                              </a:rPr>
                              <m:t>𝛼</m:t>
                            </m:r>
                          </m:num>
                          <m:den>
                            <m:r>
                              <a:rPr lang="es-ES" sz="2400" i="1" kern="1200">
                                <a:solidFill>
                                  <a:schemeClr val="tx1"/>
                                </a:solidFill>
                                <a:effectLst/>
                                <a:latin typeface="Cambria Math" panose="02040503050406030204" pitchFamily="18" charset="0"/>
                                <a:ea typeface="+mn-ea"/>
                                <a:cs typeface="+mn-cs"/>
                              </a:rPr>
                              <m:t>2</m:t>
                            </m:r>
                          </m:den>
                        </m:f>
                      </m:sub>
                    </m:sSub>
                    <m:rad>
                      <m:radPr>
                        <m:degHide m:val="on"/>
                        <m:ctrlPr>
                          <a:rPr lang="es-ES" sz="2400" i="1" kern="1200">
                            <a:solidFill>
                              <a:schemeClr val="tx1"/>
                            </a:solidFill>
                            <a:effectLst/>
                            <a:latin typeface="Cambria Math" panose="02040503050406030204" pitchFamily="18" charset="0"/>
                            <a:ea typeface="+mn-ea"/>
                            <a:cs typeface="+mn-cs"/>
                          </a:rPr>
                        </m:ctrlPr>
                      </m:radPr>
                      <m:deg/>
                      <m:e>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a:solidFill>
                                      <a:schemeClr val="tx1"/>
                                    </a:solidFill>
                                    <a:effectLst/>
                                    <a:latin typeface="Cambria Math" panose="02040503050406030204" pitchFamily="18" charset="0"/>
                                    <a:ea typeface="+mn-ea"/>
                                    <a:cs typeface="+mn-cs"/>
                                  </a:rPr>
                                </m:ctrlPr>
                              </m:sSubSupPr>
                              <m:e>
                                <m:r>
                                  <a:rPr lang="es-ES" sz="2400" b="0" i="1" kern="1200" smtClean="0">
                                    <a:solidFill>
                                      <a:schemeClr val="tx1"/>
                                    </a:solidFill>
                                    <a:effectLst/>
                                    <a:latin typeface="Cambria Math" panose="02040503050406030204" pitchFamily="18" charset="0"/>
                                    <a:ea typeface="+mn-ea"/>
                                    <a:cs typeface="+mn-cs"/>
                                  </a:rPr>
                                  <m:t>𝑠</m:t>
                                </m:r>
                              </m:e>
                              <m:sub>
                                <m:r>
                                  <a:rPr lang="es-ES" sz="2400" b="0" i="1" kern="1200" smtClean="0">
                                    <a:solidFill>
                                      <a:schemeClr val="tx1"/>
                                    </a:solidFill>
                                    <a:effectLst/>
                                    <a:latin typeface="Cambria Math" panose="02040503050406030204" pitchFamily="18" charset="0"/>
                                    <a:ea typeface="+mn-ea"/>
                                    <a:cs typeface="+mn-cs"/>
                                  </a:rPr>
                                  <m:t>𝑋</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𝑛</m:t>
                            </m:r>
                          </m:den>
                        </m:f>
                        <m:r>
                          <a:rPr lang="es-ES" sz="2400" i="1" kern="1200">
                            <a:solidFill>
                              <a:schemeClr val="tx1"/>
                            </a:solidFill>
                            <a:effectLst/>
                            <a:latin typeface="Cambria Math" panose="02040503050406030204" pitchFamily="18" charset="0"/>
                            <a:ea typeface="+mn-ea"/>
                            <a:cs typeface="+mn-cs"/>
                          </a:rPr>
                          <m:t>+</m:t>
                        </m:r>
                        <m:f>
                          <m:fPr>
                            <m:ctrlPr>
                              <a:rPr lang="es-ES" sz="2400" i="1" kern="1200">
                                <a:solidFill>
                                  <a:schemeClr val="tx1"/>
                                </a:solidFill>
                                <a:effectLst/>
                                <a:latin typeface="Cambria Math" panose="02040503050406030204" pitchFamily="18" charset="0"/>
                                <a:ea typeface="+mn-ea"/>
                                <a:cs typeface="+mn-cs"/>
                              </a:rPr>
                            </m:ctrlPr>
                          </m:fPr>
                          <m:num>
                            <m:sSubSup>
                              <m:sSubSupPr>
                                <m:ctrlPr>
                                  <a:rPr lang="es-ES" sz="2400" i="1" kern="1200" smtClean="0">
                                    <a:solidFill>
                                      <a:schemeClr val="tx1"/>
                                    </a:solidFill>
                                    <a:effectLst/>
                                    <a:latin typeface="Cambria Math" panose="02040503050406030204" pitchFamily="18" charset="0"/>
                                    <a:ea typeface="+mn-ea"/>
                                    <a:cs typeface="+mn-cs"/>
                                  </a:rPr>
                                </m:ctrlPr>
                              </m:sSubSupPr>
                              <m:e>
                                <m:r>
                                  <a:rPr lang="es-ES" sz="2400" b="0" i="1" kern="1200" smtClean="0">
                                    <a:solidFill>
                                      <a:schemeClr val="tx1"/>
                                    </a:solidFill>
                                    <a:effectLst/>
                                    <a:latin typeface="Cambria Math" panose="02040503050406030204" pitchFamily="18" charset="0"/>
                                    <a:ea typeface="+mn-ea"/>
                                    <a:cs typeface="+mn-cs"/>
                                  </a:rPr>
                                  <m:t>𝑠</m:t>
                                </m:r>
                              </m:e>
                              <m:sub>
                                <m:r>
                                  <a:rPr lang="es-ES" sz="2400" b="0" i="1" kern="1200" smtClean="0">
                                    <a:solidFill>
                                      <a:schemeClr val="tx1"/>
                                    </a:solidFill>
                                    <a:effectLst/>
                                    <a:latin typeface="Cambria Math" panose="02040503050406030204" pitchFamily="18" charset="0"/>
                                    <a:ea typeface="+mn-ea"/>
                                    <a:cs typeface="+mn-cs"/>
                                  </a:rPr>
                                  <m:t>𝑌</m:t>
                                </m:r>
                              </m:sub>
                              <m:sup>
                                <m:r>
                                  <a:rPr lang="es-ES" sz="2400" i="1" kern="1200">
                                    <a:solidFill>
                                      <a:schemeClr val="tx1"/>
                                    </a:solidFill>
                                    <a:effectLst/>
                                    <a:latin typeface="Cambria Math" panose="02040503050406030204" pitchFamily="18" charset="0"/>
                                    <a:ea typeface="+mn-ea"/>
                                    <a:cs typeface="+mn-cs"/>
                                  </a:rPr>
                                  <m:t>2</m:t>
                                </m:r>
                              </m:sup>
                            </m:sSubSup>
                          </m:num>
                          <m:den>
                            <m:r>
                              <a:rPr lang="es-ES" sz="2400" b="0" i="1" kern="1200" smtClean="0">
                                <a:solidFill>
                                  <a:schemeClr val="tx1"/>
                                </a:solidFill>
                                <a:effectLst/>
                                <a:latin typeface="Cambria Math" panose="02040503050406030204" pitchFamily="18" charset="0"/>
                                <a:ea typeface="+mn-ea"/>
                                <a:cs typeface="+mn-cs"/>
                              </a:rPr>
                              <m:t>𝑚</m:t>
                            </m:r>
                          </m:den>
                        </m:f>
                      </m:e>
                    </m:rad>
                    <m:r>
                      <a:rPr lang="es-ES" sz="2400" b="0" i="0" kern="1200" smtClean="0">
                        <a:solidFill>
                          <a:schemeClr val="tx1"/>
                        </a:solidFill>
                        <a:effectLst/>
                        <a:latin typeface="Cambria Math" panose="02040503050406030204" pitchFamily="18" charset="0"/>
                        <a:ea typeface="+mn-ea"/>
                        <a:cs typeface="+mn-cs"/>
                      </a:rPr>
                      <m:t>=</m:t>
                    </m:r>
                    <m:r>
                      <a:rPr lang="es-ES" sz="2000">
                        <a:latin typeface="Cambria Math" panose="02040503050406030204" pitchFamily="18" charset="0"/>
                      </a:rPr>
                      <m:t>0.8</m:t>
                    </m:r>
                    <m:r>
                      <a:rPr lang="es-ES" sz="2000" b="0" i="0" smtClean="0">
                        <a:latin typeface="Cambria Math" panose="02040503050406030204" pitchFamily="18" charset="0"/>
                      </a:rPr>
                      <m:t>−</m:t>
                    </m:r>
                    <m:r>
                      <a:rPr lang="es-ES" sz="2000">
                        <a:latin typeface="Cambria Math" panose="02040503050406030204" pitchFamily="18" charset="0"/>
                      </a:rPr>
                      <m:t>0.5</m:t>
                    </m:r>
                    <m:r>
                      <a:rPr lang="es-ES" sz="2000" b="0" i="0" smtClean="0">
                        <a:latin typeface="Cambria Math" panose="02040503050406030204" pitchFamily="18" charset="0"/>
                      </a:rPr>
                      <m:t>+</m:t>
                    </m:r>
                    <m:r>
                      <a:rPr lang="es-ES" sz="2000">
                        <a:latin typeface="Cambria Math" panose="02040503050406030204" pitchFamily="18" charset="0"/>
                      </a:rPr>
                      <m:t>2.81</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0.1</m:t>
                                </m:r>
                              </m:e>
                              <m:sup>
                                <m:r>
                                  <a:rPr lang="es-ES" i="1">
                                    <a:latin typeface="Cambria Math" panose="02040503050406030204" pitchFamily="18" charset="0"/>
                                  </a:rPr>
                                  <m:t>2</m:t>
                                </m:r>
                              </m:sup>
                            </m:sSup>
                          </m:num>
                          <m:den>
                            <m:r>
                              <a:rPr lang="es-ES" i="1">
                                <a:latin typeface="Cambria Math" panose="02040503050406030204" pitchFamily="18" charset="0"/>
                              </a:rPr>
                              <m:t>500</m:t>
                            </m:r>
                          </m:den>
                        </m:f>
                        <m:r>
                          <a:rPr lang="es-ES" i="1">
                            <a:latin typeface="Cambria Math" panose="02040503050406030204" pitchFamily="18" charset="0"/>
                          </a:rPr>
                          <m:t>+</m:t>
                        </m:r>
                        <m:f>
                          <m:fPr>
                            <m:ctrlPr>
                              <a:rPr lang="es-ES" i="1">
                                <a:latin typeface="Cambria Math" panose="02040503050406030204" pitchFamily="18" charset="0"/>
                              </a:rPr>
                            </m:ctrlPr>
                          </m:fPr>
                          <m:num>
                            <m:sSup>
                              <m:sSupPr>
                                <m:ctrlPr>
                                  <a:rPr lang="es-ES" i="1">
                                    <a:latin typeface="Cambria Math" panose="02040503050406030204" pitchFamily="18" charset="0"/>
                                  </a:rPr>
                                </m:ctrlPr>
                              </m:sSupPr>
                              <m:e>
                                <m:r>
                                  <a:rPr lang="es-ES" i="1">
                                    <a:latin typeface="Cambria Math" panose="02040503050406030204" pitchFamily="18" charset="0"/>
                                  </a:rPr>
                                  <m:t>0.08</m:t>
                                </m:r>
                              </m:e>
                              <m:sup>
                                <m:r>
                                  <a:rPr lang="es-ES" i="1">
                                    <a:latin typeface="Cambria Math" panose="02040503050406030204" pitchFamily="18" charset="0"/>
                                  </a:rPr>
                                  <m:t>2</m:t>
                                </m:r>
                              </m:sup>
                            </m:sSup>
                          </m:num>
                          <m:den>
                            <m:r>
                              <a:rPr lang="es-ES" i="1">
                                <a:latin typeface="Cambria Math" panose="02040503050406030204" pitchFamily="18" charset="0"/>
                              </a:rPr>
                              <m:t>300</m:t>
                            </m:r>
                          </m:den>
                        </m:f>
                      </m:e>
                    </m:rad>
                    <m:r>
                      <a:rPr lang="es-ES" i="1">
                        <a:latin typeface="Cambria Math" panose="02040503050406030204" pitchFamily="18" charset="0"/>
                      </a:rPr>
                      <m:t>=0.</m:t>
                    </m:r>
                    <m:r>
                      <a:rPr lang="es-ES" b="0" i="1" smtClean="0">
                        <a:latin typeface="Cambria Math" panose="02040503050406030204" pitchFamily="18" charset="0"/>
                      </a:rPr>
                      <m:t>32</m:t>
                    </m:r>
                    <m:r>
                      <m:rPr>
                        <m:nor/>
                      </m:rPr>
                      <a:rPr lang="es-ES" b="0" i="0" smtClean="0">
                        <a:latin typeface="Cambria Math" panose="02040503050406030204" pitchFamily="18" charset="0"/>
                      </a:rPr>
                      <m:t> </m:t>
                    </m:r>
                    <m:r>
                      <m:rPr>
                        <m:nor/>
                      </m:rPr>
                      <a:rPr lang="es-ES" b="0" i="0" smtClean="0">
                        <a:latin typeface="Cambria Math" panose="02040503050406030204" pitchFamily="18" charset="0"/>
                      </a:rPr>
                      <m:t>seg</m:t>
                    </m:r>
                  </m:oMath>
                </a14:m>
                <a:r>
                  <a:rPr lang="es-ES" dirty="0"/>
                  <a:t> </a:t>
                </a:r>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4079C3BD-0AF9-5F98-48BA-17CA272E22DC}"/>
                  </a:ext>
                </a:extLst>
              </p:cNvPr>
              <p:cNvSpPr>
                <a:spLocks noGrp="1" noRot="1" noChangeAspect="1" noMove="1" noResize="1" noEditPoints="1" noAdjustHandles="1" noChangeArrowheads="1" noChangeShapeType="1" noTextEdit="1"/>
              </p:cNvSpPr>
              <p:nvPr>
                <p:ph idx="1"/>
              </p:nvPr>
            </p:nvSpPr>
            <p:spPr>
              <a:xfrm>
                <a:off x="838200" y="1825625"/>
                <a:ext cx="8558868" cy="4667250"/>
              </a:xfrm>
              <a:blipFill>
                <a:blip r:embed="rId2"/>
                <a:stretch>
                  <a:fillRect l="-71" t="-1175"/>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59</a:t>
            </a:fld>
            <a:endParaRPr lang="es-ES" dirty="0"/>
          </a:p>
        </p:txBody>
      </p:sp>
      <p:pic>
        <p:nvPicPr>
          <p:cNvPr id="7" name="Imagen 6">
            <a:extLst>
              <a:ext uri="{FF2B5EF4-FFF2-40B4-BE49-F238E27FC236}">
                <a16:creationId xmlns:a16="http://schemas.microsoft.com/office/drawing/2014/main" id="{25278550-65C1-F83D-5C90-63B80944DAB1}"/>
              </a:ext>
            </a:extLst>
          </p:cNvPr>
          <p:cNvPicPr>
            <a:picLocks noChangeAspect="1"/>
          </p:cNvPicPr>
          <p:nvPr/>
        </p:nvPicPr>
        <p:blipFill>
          <a:blip r:embed="rId3"/>
          <a:stretch>
            <a:fillRect/>
          </a:stretch>
        </p:blipFill>
        <p:spPr>
          <a:xfrm>
            <a:off x="9664158" y="1757363"/>
            <a:ext cx="1422552" cy="4667250"/>
          </a:xfrm>
          <a:prstGeom prst="rect">
            <a:avLst/>
          </a:prstGeom>
        </p:spPr>
      </p:pic>
      <p:sp>
        <p:nvSpPr>
          <p:cNvPr id="8" name="Elipse 7">
            <a:extLst>
              <a:ext uri="{FF2B5EF4-FFF2-40B4-BE49-F238E27FC236}">
                <a16:creationId xmlns:a16="http://schemas.microsoft.com/office/drawing/2014/main" id="{F6310EE9-379D-4BA8-4775-94E66CDE8316}"/>
              </a:ext>
            </a:extLst>
          </p:cNvPr>
          <p:cNvSpPr/>
          <p:nvPr/>
        </p:nvSpPr>
        <p:spPr>
          <a:xfrm>
            <a:off x="10697737" y="6150284"/>
            <a:ext cx="379141" cy="278781"/>
          </a:xfrm>
          <a:prstGeom prst="ellipse">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esquinas redondeadas 8">
            <a:extLst>
              <a:ext uri="{FF2B5EF4-FFF2-40B4-BE49-F238E27FC236}">
                <a16:creationId xmlns:a16="http://schemas.microsoft.com/office/drawing/2014/main" id="{55337034-EAEF-B5DA-0CDE-211054839C49}"/>
              </a:ext>
            </a:extLst>
          </p:cNvPr>
          <p:cNvSpPr/>
          <p:nvPr/>
        </p:nvSpPr>
        <p:spPr>
          <a:xfrm>
            <a:off x="10728142" y="1836777"/>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esquinas redondeadas 9">
            <a:extLst>
              <a:ext uri="{FF2B5EF4-FFF2-40B4-BE49-F238E27FC236}">
                <a16:creationId xmlns:a16="http://schemas.microsoft.com/office/drawing/2014/main" id="{3436FC23-A425-3C72-1010-C0F3E1970CDE}"/>
              </a:ext>
            </a:extLst>
          </p:cNvPr>
          <p:cNvSpPr/>
          <p:nvPr/>
        </p:nvSpPr>
        <p:spPr>
          <a:xfrm>
            <a:off x="9854295" y="6191860"/>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2218681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fontScale="90000"/>
          </a:bodyPr>
          <a:lstStyle/>
          <a:p>
            <a:r>
              <a:rPr lang="es-ES" dirty="0"/>
              <a:t>10. Intervalo de confianza para la diferencia de las medias de dos poblaciones. Ejemplo 9.20</a:t>
            </a:r>
          </a:p>
        </p:txBody>
      </p:sp>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p:txBody>
          <a:bodyPr>
            <a:normAutofit fontScale="92500" lnSpcReduction="20000"/>
          </a:bodyPr>
          <a:lstStyle/>
          <a:p>
            <a:r>
              <a:rPr lang="es-ES" dirty="0"/>
              <a:t>La grabación de CD (Compact Disc) consume energía y afecta a la vida útil de la batería en los ordenadores portátiles. </a:t>
            </a:r>
          </a:p>
          <a:p>
            <a:r>
              <a:rPr lang="es-ES" dirty="0"/>
              <a:t>Para estimar el efecto de la escritura en CD, se pide a 30 usuarios que trabajen en sus ordenadores portátiles hasta que aparezca el signo de “baja batería”.</a:t>
            </a:r>
          </a:p>
          <a:p>
            <a:r>
              <a:rPr lang="es-ES" dirty="0"/>
              <a:t>Dieciocho usuarios sin CD trabajaron un promedio de 5,3 horas con una desviación estándar de 1,4 horas. </a:t>
            </a:r>
          </a:p>
          <a:p>
            <a:r>
              <a:rPr lang="es-ES" dirty="0"/>
              <a:t>Los otros doce, que utilizaron su grabador de CD, trabajaron un promedio de 4,8 horas con una desviación estándar de 1,6 horas. </a:t>
            </a:r>
          </a:p>
          <a:p>
            <a:r>
              <a:rPr lang="es-ES" dirty="0"/>
              <a:t>Suponiendo distribuciones Normales con las mismas varianzas poblacionales, construir un intervalo de confianza del 95 % para la reducción de la vida útil de la batería causada por la grabación de CD.</a:t>
            </a:r>
          </a:p>
          <a:p>
            <a:endParaRPr lang="es-ES" dirty="0"/>
          </a:p>
        </p:txBody>
      </p:sp>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60</a:t>
            </a:fld>
            <a:endParaRPr lang="es-ES" dirty="0"/>
          </a:p>
        </p:txBody>
      </p:sp>
    </p:spTree>
    <p:extLst>
      <p:ext uri="{BB962C8B-B14F-4D97-AF65-F5344CB8AC3E}">
        <p14:creationId xmlns:p14="http://schemas.microsoft.com/office/powerpoint/2010/main" val="6824978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38A2292-B6B8-5E50-6EC6-DA9097D4B02F}"/>
              </a:ext>
            </a:extLst>
          </p:cNvPr>
          <p:cNvPicPr>
            <a:picLocks noChangeAspect="1"/>
          </p:cNvPicPr>
          <p:nvPr/>
        </p:nvPicPr>
        <p:blipFill>
          <a:blip r:embed="rId2"/>
          <a:stretch>
            <a:fillRect/>
          </a:stretch>
        </p:blipFill>
        <p:spPr>
          <a:xfrm>
            <a:off x="7259443" y="3052479"/>
            <a:ext cx="4566324" cy="1251891"/>
          </a:xfrm>
          <a:prstGeom prst="rect">
            <a:avLst/>
          </a:prstGeom>
        </p:spPr>
      </p:pic>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a:bodyPr>
          <a:lstStyle/>
          <a:p>
            <a:r>
              <a:rPr lang="es-ES" sz="3600" dirty="0"/>
              <a:t>10. Intervalo de confianza para la diferencia de las medias de dos poblaciones. Ejemplo 9.20 (Solución)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a:xfrm>
                <a:off x="838200" y="1825624"/>
                <a:ext cx="11060152" cy="5032375"/>
              </a:xfrm>
            </p:spPr>
            <p:txBody>
              <a:bodyPr>
                <a:normAutofit fontScale="47500" lnSpcReduction="20000"/>
              </a:bodyPr>
              <a:lstStyle/>
              <a:p>
                <a:r>
                  <a:rPr lang="es-ES" dirty="0"/>
                  <a:t>Es un caso de muestras pequeñas (&lt;30) con varianzas desconocidas pero iguales</a:t>
                </a:r>
              </a:p>
              <a:p>
                <a:r>
                  <a:rPr lang="es-ES" dirty="0"/>
                  <a:t>X = tiempo de uso en una muestra de 12 usuarios con CD </a:t>
                </a:r>
              </a:p>
              <a:p>
                <a:r>
                  <a:rPr lang="es-ES" dirty="0"/>
                  <a:t>Y = tiempo de uso en una muestra de 18 usuarios sin CD</a:t>
                </a:r>
              </a:p>
              <a:p>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=12</m:t>
                    </m:r>
                  </m:oMath>
                </a14:m>
                <a:r>
                  <a:rPr lang="es-ES" dirty="0"/>
                  <a:t>      </a:t>
                </a:r>
                <a14:m>
                  <m:oMath xmlns:m="http://schemas.openxmlformats.org/officeDocument/2006/math">
                    <m:r>
                      <a:rPr lang="es-ES" i="1" dirty="0" smtClean="0">
                        <a:latin typeface="Cambria Math" panose="02040503050406030204" pitchFamily="18" charset="0"/>
                      </a:rPr>
                      <m:t>𝑚</m:t>
                    </m:r>
                    <m:r>
                      <a:rPr lang="es-ES" i="1">
                        <a:latin typeface="Cambria Math" panose="02040503050406030204" pitchFamily="18" charset="0"/>
                      </a:rPr>
                      <m:t>=</m:t>
                    </m:r>
                    <m:r>
                      <a:rPr lang="es-ES" b="0" i="1" smtClean="0">
                        <a:latin typeface="Cambria Math" panose="02040503050406030204" pitchFamily="18" charset="0"/>
                      </a:rPr>
                      <m:t>18</m:t>
                    </m:r>
                    <m:r>
                      <a:rPr lang="es-ES" b="0" i="1" dirty="0" smtClean="0">
                        <a:latin typeface="Cambria Math" panose="02040503050406030204" pitchFamily="18" charset="0"/>
                      </a:rPr>
                      <m:t>        </m:t>
                    </m:r>
                    <m:r>
                      <a:rPr lang="es-ES" b="0" i="1" dirty="0" smtClean="0">
                        <a:latin typeface="Cambria Math" panose="02040503050406030204" pitchFamily="18" charset="0"/>
                      </a:rPr>
                      <m:t>𝑛</m:t>
                    </m:r>
                    <m:r>
                      <a:rPr lang="es-ES" b="0" i="1" dirty="0" smtClean="0">
                        <a:latin typeface="Cambria Math" panose="02040503050406030204" pitchFamily="18" charset="0"/>
                      </a:rPr>
                      <m:t>+</m:t>
                    </m:r>
                    <m:r>
                      <a:rPr lang="es-ES" b="0" i="1" dirty="0" smtClean="0">
                        <a:latin typeface="Cambria Math" panose="02040503050406030204" pitchFamily="18" charset="0"/>
                      </a:rPr>
                      <m:t>𝑚</m:t>
                    </m:r>
                    <m:r>
                      <a:rPr lang="es-ES" b="0" i="1" dirty="0" smtClean="0">
                        <a:latin typeface="Cambria Math" panose="02040503050406030204" pitchFamily="18" charset="0"/>
                      </a:rPr>
                      <m:t>−2=28</m:t>
                    </m:r>
                  </m:oMath>
                </a14:m>
                <a:endParaRPr lang="es-ES" b="0" dirty="0"/>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r>
                      <a:rPr lang="es-ES" b="0" i="1" smtClean="0">
                        <a:latin typeface="Cambria Math" panose="02040503050406030204" pitchFamily="18" charset="0"/>
                      </a:rPr>
                      <m:t>4</m:t>
                    </m:r>
                    <m:r>
                      <a:rPr lang="es-ES" i="1">
                        <a:latin typeface="Cambria Math" panose="02040503050406030204" pitchFamily="18" charset="0"/>
                      </a:rPr>
                      <m:t>.8 </m:t>
                    </m:r>
                    <m:r>
                      <m:rPr>
                        <m:nor/>
                      </m:rPr>
                      <a:rPr lang="es-ES" b="0" i="0" smtClean="0">
                        <a:latin typeface="Cambria Math" panose="02040503050406030204" pitchFamily="18" charset="0"/>
                      </a:rPr>
                      <m:t>horas</m:t>
                    </m:r>
                  </m:oMath>
                </a14:m>
                <a:endParaRPr lang="es-ES" dirty="0"/>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r>
                      <a:rPr lang="es-ES" b="0" i="1" smtClean="0">
                        <a:latin typeface="Cambria Math" panose="02040503050406030204" pitchFamily="18" charset="0"/>
                      </a:rPr>
                      <m:t>5.3</m:t>
                    </m:r>
                    <m:r>
                      <a:rPr lang="es-ES" i="1">
                        <a:latin typeface="Cambria Math" panose="02040503050406030204" pitchFamily="18" charset="0"/>
                      </a:rPr>
                      <m:t> </m:t>
                    </m:r>
                    <m:r>
                      <m:rPr>
                        <m:nor/>
                      </m:rPr>
                      <a:rPr lang="es-ES" b="0" i="0" smtClean="0">
                        <a:latin typeface="Cambria Math" panose="02040503050406030204" pitchFamily="18" charset="0"/>
                      </a:rPr>
                      <m:t>horas</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𝑋</m:t>
                        </m:r>
                      </m:sub>
                    </m:sSub>
                    <m:r>
                      <a:rPr lang="es-ES" b="0" i="1" smtClean="0">
                        <a:latin typeface="Cambria Math" panose="02040503050406030204" pitchFamily="18" charset="0"/>
                      </a:rPr>
                      <m:t>=1.6 </m:t>
                    </m:r>
                    <m:r>
                      <m:rPr>
                        <m:nor/>
                      </m:rPr>
                      <a:rPr lang="es-ES" b="0" i="0" smtClean="0">
                        <a:latin typeface="Cambria Math" panose="02040503050406030204" pitchFamily="18" charset="0"/>
                      </a:rPr>
                      <m:t>horas</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𝑌</m:t>
                        </m:r>
                      </m:sub>
                    </m:sSub>
                    <m:r>
                      <a:rPr lang="es-ES" b="0" i="1" smtClean="0">
                        <a:latin typeface="Cambria Math" panose="02040503050406030204" pitchFamily="18" charset="0"/>
                      </a:rPr>
                      <m:t>=1.4 </m:t>
                    </m:r>
                    <m:r>
                      <m:rPr>
                        <m:nor/>
                      </m:rPr>
                      <a:rPr lang="es-ES" b="0" i="0" smtClean="0">
                        <a:latin typeface="Cambria Math" panose="02040503050406030204" pitchFamily="18" charset="0"/>
                      </a:rPr>
                      <m:t>horas</m:t>
                    </m:r>
                  </m:oMath>
                </a14:m>
                <a:endParaRPr lang="es-ES"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=0.95→</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=0.05→</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=0.025</m:t>
                    </m:r>
                  </m:oMath>
                </a14:m>
                <a:endParaRPr lang="es-ES" dirty="0"/>
              </a:p>
              <a:p>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𝑛</m:t>
                        </m:r>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𝑚</m:t>
                        </m:r>
                        <m:r>
                          <a:rPr lang="es-ES" i="1">
                            <a:latin typeface="Cambria Math" panose="02040503050406030204" pitchFamily="18" charset="0"/>
                            <a:ea typeface="Calibri" panose="020F0502020204030204" pitchFamily="34" charset="0"/>
                            <a:cs typeface="Times New Roman" panose="02020603050405020304" pitchFamily="18" charset="0"/>
                          </a:rPr>
                          <m:t>−2</m:t>
                        </m:r>
                      </m:sub>
                    </m:sSub>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𝑐𝑢𝑎𝑛𝑡𝑖𝑙</m:t>
                    </m:r>
                    <m:d>
                      <m:dPr>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1−</m:t>
                        </m:r>
                        <m:f>
                          <m:fPr>
                            <m:ctrlPr>
                              <a:rPr lang="es-ES" i="1">
                                <a:latin typeface="Cambria Math" panose="02040503050406030204" pitchFamily="18" charset="0"/>
                              </a:rPr>
                            </m:ctrlPr>
                          </m:fPr>
                          <m:num>
                            <m:r>
                              <a:rPr lang="el-GR"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e>
                    </m:d>
                    <m:r>
                      <m:rPr>
                        <m:nor/>
                      </m:rPr>
                      <a:rPr lang="es-ES">
                        <a:latin typeface="Cambria Math" panose="02040503050406030204" pitchFamily="18" charset="0"/>
                        <a:ea typeface="Calibri" panose="020F0502020204030204" pitchFamily="34" charset="0"/>
                        <a:cs typeface="Times New Roman" panose="02020603050405020304" pitchFamily="18" charset="0"/>
                      </a:rPr>
                      <m:t>de</m:t>
                    </m:r>
                    <m:r>
                      <m:rPr>
                        <m:nor/>
                      </m:rPr>
                      <a:rPr lang="es-ES">
                        <a:latin typeface="Cambria Math" panose="02040503050406030204" pitchFamily="18" charset="0"/>
                        <a:ea typeface="Calibri" panose="020F0502020204030204" pitchFamily="34" charset="0"/>
                        <a:cs typeface="Times New Roman" panose="02020603050405020304" pitchFamily="18" charset="0"/>
                      </a:rPr>
                      <m:t> </m:t>
                    </m:r>
                    <m:r>
                      <m:rPr>
                        <m:nor/>
                      </m:rPr>
                      <a:rPr lang="es-ES">
                        <a:latin typeface="Cambria Math" panose="02040503050406030204" pitchFamily="18" charset="0"/>
                        <a:ea typeface="Calibri" panose="020F0502020204030204" pitchFamily="34" charset="0"/>
                        <a:cs typeface="Times New Roman" panose="02020603050405020304" pitchFamily="18" charset="0"/>
                      </a:rPr>
                      <m:t>T</m:t>
                    </m:r>
                    <m:r>
                      <m:rPr>
                        <m:nor/>
                      </m:rPr>
                      <a:rPr lang="es-ES">
                        <a:latin typeface="Cambria Math" panose="02040503050406030204" pitchFamily="18" charset="0"/>
                        <a:ea typeface="Calibri" panose="020F0502020204030204" pitchFamily="34" charset="0"/>
                        <a:cs typeface="Times New Roman" panose="02020603050405020304" pitchFamily="18" charset="0"/>
                      </a:rPr>
                      <m:t>: </m:t>
                    </m:r>
                    <m:r>
                      <m:rPr>
                        <m:nor/>
                      </m:rPr>
                      <a:rPr lang="es-ES">
                        <a:latin typeface="Cambria Math" panose="02040503050406030204" pitchFamily="18" charset="0"/>
                        <a:ea typeface="Calibri" panose="020F0502020204030204" pitchFamily="34" charset="0"/>
                        <a:cs typeface="Times New Roman" panose="02020603050405020304" pitchFamily="18" charset="0"/>
                      </a:rPr>
                      <m:t>Student</m:t>
                    </m:r>
                    <m:r>
                      <m:rPr>
                        <m:nor/>
                      </m:rPr>
                      <a:rPr lang="es-ES">
                        <a:latin typeface="Cambria Math" panose="02040503050406030204" pitchFamily="18" charset="0"/>
                        <a:ea typeface="Calibri" panose="020F0502020204030204" pitchFamily="34" charset="0"/>
                        <a:cs typeface="Times New Roman" panose="02020603050405020304" pitchFamily="18" charset="0"/>
                      </a:rPr>
                      <m:t>(</m:t>
                    </m:r>
                    <m:r>
                      <m:rPr>
                        <m:nor/>
                      </m:rPr>
                      <a:rPr lang="es-ES" b="0" i="0" smtClean="0">
                        <a:latin typeface="Cambria Math" panose="02040503050406030204" pitchFamily="18" charset="0"/>
                        <a:ea typeface="Calibri" panose="020F0502020204030204" pitchFamily="34" charset="0"/>
                        <a:cs typeface="Times New Roman" panose="02020603050405020304" pitchFamily="18" charset="0"/>
                      </a:rPr>
                      <m:t>m</m:t>
                    </m:r>
                    <m:r>
                      <m:rPr>
                        <m:nor/>
                      </m:rPr>
                      <a:rPr lang="es-ES" b="0" i="0" smtClean="0">
                        <a:latin typeface="Cambria Math" panose="02040503050406030204" pitchFamily="18" charset="0"/>
                        <a:ea typeface="Calibri" panose="020F0502020204030204" pitchFamily="34" charset="0"/>
                        <a:cs typeface="Times New Roman" panose="02020603050405020304" pitchFamily="18" charset="0"/>
                      </a:rPr>
                      <m:t>+</m:t>
                    </m:r>
                    <m:r>
                      <m:rPr>
                        <m:nor/>
                      </m:rPr>
                      <a:rPr lang="es-ES" b="0" i="0" smtClean="0">
                        <a:latin typeface="Cambria Math" panose="02040503050406030204" pitchFamily="18" charset="0"/>
                        <a:ea typeface="Calibri" panose="020F0502020204030204" pitchFamily="34" charset="0"/>
                        <a:cs typeface="Times New Roman" panose="02020603050405020304" pitchFamily="18" charset="0"/>
                      </a:rPr>
                      <m:t>n</m:t>
                    </m:r>
                    <m:r>
                      <m:rPr>
                        <m:nor/>
                      </m:rPr>
                      <a:rPr lang="es-ES" b="0" i="0" smtClean="0">
                        <a:latin typeface="Cambria Math" panose="02040503050406030204" pitchFamily="18" charset="0"/>
                        <a:ea typeface="Calibri" panose="020F0502020204030204" pitchFamily="34" charset="0"/>
                        <a:cs typeface="Times New Roman" panose="02020603050405020304" pitchFamily="18" charset="0"/>
                      </a:rPr>
                      <m:t>−2)</m:t>
                    </m:r>
                    <m:r>
                      <m:rPr>
                        <m:nor/>
                      </m:rPr>
                      <a:rPr lang="es-ES" i="1">
                        <a:latin typeface="Calibri" panose="020F0502020204030204" pitchFamily="34" charset="0"/>
                        <a:ea typeface="Calibri" panose="020F0502020204030204" pitchFamily="34" charset="0"/>
                        <a:cs typeface="Times New Roman" panose="02020603050405020304" pitchFamily="18" charset="0"/>
                      </a:rPr>
                      <m:t> </m:t>
                    </m:r>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𝑇</m:t>
                        </m:r>
                        <m:r>
                          <a:rPr lang="es-ES" i="1">
                            <a:latin typeface="Cambria Math" panose="02040503050406030204" pitchFamily="18" charset="0"/>
                            <a:ea typeface="Calibri" panose="020F0502020204030204" pitchFamily="34" charset="0"/>
                            <a:cs typeface="Times New Roman" panose="020206030504050203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r>
                              <a:rPr lang="es-ES" b="0" i="1" smtClean="0">
                                <a:latin typeface="Cambria Math" panose="02040503050406030204" pitchFamily="18" charset="0"/>
                              </a:rPr>
                              <m:t>0.025,</m:t>
                            </m:r>
                            <m:r>
                              <a:rPr lang="es-ES" b="0" i="1" smtClean="0">
                                <a:latin typeface="Cambria Math" panose="02040503050406030204" pitchFamily="18" charset="0"/>
                                <a:ea typeface="Calibri" panose="020F0502020204030204" pitchFamily="34" charset="0"/>
                                <a:cs typeface="Times New Roman" panose="02020603050405020304" pitchFamily="18" charset="0"/>
                              </a:rPr>
                              <m:t>28</m:t>
                            </m:r>
                          </m:sub>
                        </m:sSub>
                      </m:e>
                    </m:d>
                    <m:r>
                      <a:rPr lang="es-ES" i="1">
                        <a:latin typeface="Cambria Math" panose="02040503050406030204" pitchFamily="18" charset="0"/>
                        <a:ea typeface="Calibri" panose="020F0502020204030204" pitchFamily="34" charset="0"/>
                        <a:cs typeface="Times New Roman" panose="02020603050405020304" pitchFamily="18" charset="0"/>
                      </a:rPr>
                      <m:t>=1−</m:t>
                    </m:r>
                    <m:f>
                      <m:fPr>
                        <m:ctrlPr>
                          <a:rPr lang="es-ES" i="1">
                            <a:latin typeface="Cambria Math" panose="02040503050406030204" pitchFamily="18" charset="0"/>
                          </a:rPr>
                        </m:ctrlPr>
                      </m:fPr>
                      <m:num>
                        <m:r>
                          <a:rPr lang="es-ES"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r>
                      <a:rPr lang="es-ES" i="1">
                        <a:latin typeface="Cambria Math" panose="02040503050406030204" pitchFamily="18" charset="0"/>
                        <a:ea typeface="Times New Roman" panose="02020603050405020304" pitchFamily="18" charset="0"/>
                        <a:cs typeface="Times New Roman" panose="02020603050405020304" pitchFamily="18" charset="0"/>
                      </a:rPr>
                      <m:t>   →   </m:t>
                    </m:r>
                    <m:r>
                      <a:rPr lang="es-ES" i="1">
                        <a:latin typeface="Cambria Math" panose="02040503050406030204" pitchFamily="18" charset="0"/>
                        <a:ea typeface="Times New Roman" panose="02020603050405020304" pitchFamily="18" charset="0"/>
                        <a:cs typeface="Times New Roman" panose="020206030504050203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𝑇</m:t>
                        </m:r>
                        <m:r>
                          <a:rPr lang="es-ES" i="1">
                            <a:latin typeface="Cambria Math" panose="02040503050406030204" pitchFamily="18" charset="0"/>
                            <a:ea typeface="Calibri" panose="020F0502020204030204" pitchFamily="34" charset="0"/>
                            <a:cs typeface="Times New Roman" panose="02020603050405020304" pitchFamily="18" charset="0"/>
                          </a:rPr>
                          <m:t>&gt;</m:t>
                        </m:r>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r>
                              <a:rPr lang="es-ES" b="0" i="1" smtClean="0">
                                <a:latin typeface="Cambria Math" panose="02040503050406030204" pitchFamily="18" charset="0"/>
                              </a:rPr>
                              <m:t>0.025,28</m:t>
                            </m:r>
                          </m:sub>
                        </m:sSub>
                      </m:e>
                    </m:d>
                    <m:r>
                      <a:rPr lang="es-ES" i="1">
                        <a:latin typeface="Cambria Math" panose="02040503050406030204" pitchFamily="18" charset="0"/>
                        <a:ea typeface="Calibri" panose="020F0502020204030204" pitchFamily="34" charset="0"/>
                        <a:cs typeface="Times New Roman" panose="02020603050405020304" pitchFamily="18" charset="0"/>
                      </a:rPr>
                      <m:t>=</m:t>
                    </m:r>
                    <m:f>
                      <m:fPr>
                        <m:ctrlPr>
                          <a:rPr lang="es-ES" i="1">
                            <a:latin typeface="Cambria Math" panose="02040503050406030204" pitchFamily="18" charset="0"/>
                          </a:rPr>
                        </m:ctrlPr>
                      </m:fPr>
                      <m:num>
                        <m:r>
                          <a:rPr lang="es-ES"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r>
                      <a:rPr lang="es-ES" b="0" i="1" smtClean="0">
                        <a:latin typeface="Cambria Math" panose="02040503050406030204" pitchFamily="18" charset="0"/>
                        <a:ea typeface="Calibri" panose="020F0502020204030204" pitchFamily="34" charset="0"/>
                        <a:cs typeface="Times New Roman" panose="02020603050405020304" pitchFamily="18" charset="0"/>
                      </a:rPr>
                      <m:t>=0.025 </m:t>
                    </m:r>
                  </m:oMath>
                </a14:m>
                <a:r>
                  <a:rPr lang="es-ES" dirty="0">
                    <a:latin typeface="Calibri" panose="020F0502020204030204" pitchFamily="34" charset="0"/>
                    <a:ea typeface="Times New Roman" panose="02020603050405020304" pitchFamily="18" charset="0"/>
                    <a:cs typeface="Times New Roman" panose="02020603050405020304" pitchFamily="18" charset="0"/>
                  </a:rPr>
                  <a:t>      </a:t>
                </a:r>
                <a:r>
                  <a:rPr lang="es-ES" dirty="0"/>
                  <a:t>Según la tabla A5: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𝑡</m:t>
                        </m:r>
                      </m:e>
                      <m:sub>
                        <m:r>
                          <a:rPr lang="es-ES" b="0" i="1" smtClean="0">
                            <a:latin typeface="Cambria Math" panose="02040503050406030204" pitchFamily="18" charset="0"/>
                            <a:ea typeface="Cambria Math" panose="02040503050406030204" pitchFamily="18" charset="0"/>
                          </a:rPr>
                          <m:t>0.025,   28</m:t>
                        </m:r>
                      </m:sub>
                    </m:sSub>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2.05</m:t>
                    </m:r>
                  </m:oMath>
                </a14:m>
                <a:endParaRPr lang="es-ES" dirty="0"/>
              </a:p>
              <a:p>
                <a14:m>
                  <m:oMath xmlns:m="http://schemas.openxmlformats.org/officeDocument/2006/math">
                    <m:sSub>
                      <m:sSubPr>
                        <m:ctrlPr>
                          <a:rPr lang="es-ES" sz="2800" i="1" kern="1200" smtClean="0">
                            <a:solidFill>
                              <a:schemeClr val="tx1"/>
                            </a:solidFill>
                            <a:effectLst/>
                            <a:latin typeface="Cambria Math" panose="02040503050406030204" pitchFamily="18" charset="0"/>
                            <a:ea typeface="+mn-ea"/>
                            <a:cs typeface="+mn-cs"/>
                          </a:rPr>
                        </m:ctrlPr>
                      </m:sSubPr>
                      <m:e>
                        <m:r>
                          <a:rPr lang="es-ES" sz="2800" b="0" i="1" kern="1200" smtClean="0">
                            <a:solidFill>
                              <a:schemeClr val="tx1"/>
                            </a:solidFill>
                            <a:effectLst/>
                            <a:latin typeface="Cambria Math" panose="02040503050406030204" pitchFamily="18" charset="0"/>
                            <a:ea typeface="+mn-ea"/>
                            <a:cs typeface="+mn-cs"/>
                          </a:rPr>
                          <m:t>𝑠</m:t>
                        </m:r>
                      </m:e>
                      <m:sub>
                        <m:r>
                          <a:rPr lang="es-ES" sz="2800" b="0" i="1" kern="1200" smtClean="0">
                            <a:solidFill>
                              <a:schemeClr val="tx1"/>
                            </a:solidFill>
                            <a:effectLst/>
                            <a:latin typeface="Cambria Math" panose="02040503050406030204" pitchFamily="18" charset="0"/>
                            <a:ea typeface="+mn-ea"/>
                            <a:cs typeface="+mn-cs"/>
                          </a:rPr>
                          <m:t>𝑝</m:t>
                        </m:r>
                      </m:sub>
                    </m:sSub>
                    <m:r>
                      <a:rPr lang="es-ES" sz="2800" b="0" i="1" kern="1200" smtClean="0">
                        <a:solidFill>
                          <a:schemeClr val="tx1"/>
                        </a:solidFill>
                        <a:effectLst/>
                        <a:latin typeface="Cambria Math" panose="02040503050406030204" pitchFamily="18" charset="0"/>
                        <a:ea typeface="+mn-ea"/>
                        <a:cs typeface="+mn-cs"/>
                      </a:rPr>
                      <m:t>=</m:t>
                    </m:r>
                    <m:rad>
                      <m:radPr>
                        <m:degHide m:val="on"/>
                        <m:ctrlPr>
                          <a:rPr lang="es-ES" sz="2800" b="0" i="1" kern="1200" smtClean="0">
                            <a:solidFill>
                              <a:schemeClr val="tx1"/>
                            </a:solidFill>
                            <a:effectLst/>
                            <a:latin typeface="Cambria Math" panose="02040503050406030204" pitchFamily="18" charset="0"/>
                            <a:ea typeface="+mn-ea"/>
                            <a:cs typeface="+mn-cs"/>
                          </a:rPr>
                        </m:ctrlPr>
                      </m:radPr>
                      <m:deg/>
                      <m:e>
                        <m:f>
                          <m:fPr>
                            <m:ctrlPr>
                              <a:rPr lang="es-ES" sz="2800" b="0" i="1" kern="1200" smtClean="0">
                                <a:solidFill>
                                  <a:schemeClr val="tx1"/>
                                </a:solidFill>
                                <a:effectLst/>
                                <a:latin typeface="Cambria Math" panose="02040503050406030204" pitchFamily="18" charset="0"/>
                                <a:ea typeface="+mn-ea"/>
                                <a:cs typeface="+mn-cs"/>
                              </a:rPr>
                            </m:ctrlPr>
                          </m:fPr>
                          <m:num>
                            <m:d>
                              <m:dPr>
                                <m:ctrlPr>
                                  <a:rPr lang="es-ES" sz="2800" b="0" i="1" kern="1200" smtClean="0">
                                    <a:solidFill>
                                      <a:schemeClr val="tx1"/>
                                    </a:solidFill>
                                    <a:effectLst/>
                                    <a:latin typeface="Cambria Math" panose="02040503050406030204" pitchFamily="18" charset="0"/>
                                    <a:ea typeface="+mn-ea"/>
                                    <a:cs typeface="+mn-cs"/>
                                  </a:rPr>
                                </m:ctrlPr>
                              </m:dPr>
                              <m:e>
                                <m:r>
                                  <a:rPr lang="es-ES" sz="2800" b="0" i="1" kern="1200" smtClean="0">
                                    <a:solidFill>
                                      <a:schemeClr val="tx1"/>
                                    </a:solidFill>
                                    <a:effectLst/>
                                    <a:latin typeface="Cambria Math" panose="02040503050406030204" pitchFamily="18" charset="0"/>
                                    <a:ea typeface="+mn-ea"/>
                                    <a:cs typeface="+mn-cs"/>
                                  </a:rPr>
                                  <m:t>𝑛</m:t>
                                </m:r>
                                <m:r>
                                  <a:rPr lang="es-ES" sz="2800" b="0" i="1" kern="1200" smtClean="0">
                                    <a:solidFill>
                                      <a:schemeClr val="tx1"/>
                                    </a:solidFill>
                                    <a:effectLst/>
                                    <a:latin typeface="Cambria Math" panose="02040503050406030204" pitchFamily="18" charset="0"/>
                                    <a:ea typeface="+mn-ea"/>
                                    <a:cs typeface="+mn-cs"/>
                                  </a:rPr>
                                  <m:t>−1</m:t>
                                </m:r>
                              </m:e>
                            </m:d>
                            <m:sSubSup>
                              <m:sSubSupPr>
                                <m:ctrlPr>
                                  <a:rPr lang="es-ES" sz="2800" i="1" kern="1200" smtClean="0">
                                    <a:solidFill>
                                      <a:schemeClr val="tx1"/>
                                    </a:solidFill>
                                    <a:effectLst/>
                                    <a:latin typeface="Cambria Math" panose="02040503050406030204" pitchFamily="18" charset="0"/>
                                    <a:ea typeface="+mn-ea"/>
                                    <a:cs typeface="+mn-cs"/>
                                  </a:rPr>
                                </m:ctrlPr>
                              </m:sSubSupPr>
                              <m:e>
                                <m:r>
                                  <a:rPr lang="es-ES" sz="2800" i="1" kern="1200">
                                    <a:solidFill>
                                      <a:schemeClr val="tx1"/>
                                    </a:solidFill>
                                    <a:effectLst/>
                                    <a:latin typeface="Cambria Math" panose="02040503050406030204" pitchFamily="18" charset="0"/>
                                    <a:ea typeface="+mn-ea"/>
                                    <a:cs typeface="+mn-cs"/>
                                  </a:rPr>
                                  <m:t>𝑠</m:t>
                                </m:r>
                              </m:e>
                              <m:sub>
                                <m:r>
                                  <a:rPr lang="es-ES" sz="2800" b="0" i="1" kern="1200" smtClean="0">
                                    <a:solidFill>
                                      <a:schemeClr val="tx1"/>
                                    </a:solidFill>
                                    <a:effectLst/>
                                    <a:latin typeface="Cambria Math" panose="02040503050406030204" pitchFamily="18" charset="0"/>
                                    <a:ea typeface="+mn-ea"/>
                                    <a:cs typeface="+mn-cs"/>
                                  </a:rPr>
                                  <m:t>𝑋</m:t>
                                </m:r>
                              </m:sub>
                              <m:sup>
                                <m:r>
                                  <a:rPr lang="es-ES" sz="2800" i="1" kern="1200">
                                    <a:solidFill>
                                      <a:schemeClr val="tx1"/>
                                    </a:solidFill>
                                    <a:effectLst/>
                                    <a:latin typeface="Cambria Math" panose="02040503050406030204" pitchFamily="18" charset="0"/>
                                    <a:ea typeface="+mn-ea"/>
                                    <a:cs typeface="+mn-cs"/>
                                  </a:rPr>
                                  <m:t>2</m:t>
                                </m:r>
                              </m:sup>
                            </m:sSubSup>
                            <m:r>
                              <a:rPr lang="es-ES" sz="2800" b="0" i="1" kern="1200" smtClean="0">
                                <a:solidFill>
                                  <a:schemeClr val="tx1"/>
                                </a:solidFill>
                                <a:effectLst/>
                                <a:latin typeface="Cambria Math" panose="02040503050406030204" pitchFamily="18" charset="0"/>
                                <a:ea typeface="+mn-ea"/>
                                <a:cs typeface="+mn-cs"/>
                              </a:rPr>
                              <m:t>+</m:t>
                            </m:r>
                            <m:d>
                              <m:dPr>
                                <m:ctrlPr>
                                  <a:rPr lang="es-ES" sz="2800" b="0" i="1" kern="1200" smtClean="0">
                                    <a:solidFill>
                                      <a:schemeClr val="tx1"/>
                                    </a:solidFill>
                                    <a:effectLst/>
                                    <a:latin typeface="Cambria Math" panose="02040503050406030204" pitchFamily="18" charset="0"/>
                                    <a:ea typeface="+mn-ea"/>
                                    <a:cs typeface="+mn-cs"/>
                                  </a:rPr>
                                </m:ctrlPr>
                              </m:dPr>
                              <m:e>
                                <m:r>
                                  <a:rPr lang="es-ES" sz="2800" b="0" i="1" kern="1200" smtClean="0">
                                    <a:solidFill>
                                      <a:schemeClr val="tx1"/>
                                    </a:solidFill>
                                    <a:effectLst/>
                                    <a:latin typeface="Cambria Math" panose="02040503050406030204" pitchFamily="18" charset="0"/>
                                    <a:ea typeface="+mn-ea"/>
                                    <a:cs typeface="+mn-cs"/>
                                  </a:rPr>
                                  <m:t>𝑚</m:t>
                                </m:r>
                                <m:r>
                                  <a:rPr lang="es-ES" sz="2800" b="0" i="1" kern="1200" smtClean="0">
                                    <a:solidFill>
                                      <a:schemeClr val="tx1"/>
                                    </a:solidFill>
                                    <a:effectLst/>
                                    <a:latin typeface="Cambria Math" panose="02040503050406030204" pitchFamily="18" charset="0"/>
                                    <a:ea typeface="+mn-ea"/>
                                    <a:cs typeface="+mn-cs"/>
                                  </a:rPr>
                                  <m:t>−1</m:t>
                                </m:r>
                              </m:e>
                            </m:d>
                            <m:sSubSup>
                              <m:sSubSupPr>
                                <m:ctrlPr>
                                  <a:rPr lang="es-ES" sz="2800" i="1" kern="1200" smtClean="0">
                                    <a:solidFill>
                                      <a:schemeClr val="tx1"/>
                                    </a:solidFill>
                                    <a:effectLst/>
                                    <a:latin typeface="Cambria Math" panose="02040503050406030204" pitchFamily="18" charset="0"/>
                                    <a:ea typeface="+mn-ea"/>
                                    <a:cs typeface="+mn-cs"/>
                                  </a:rPr>
                                </m:ctrlPr>
                              </m:sSubSupPr>
                              <m:e>
                                <m:r>
                                  <a:rPr lang="es-ES" sz="2800" i="1" kern="1200">
                                    <a:solidFill>
                                      <a:schemeClr val="tx1"/>
                                    </a:solidFill>
                                    <a:effectLst/>
                                    <a:latin typeface="Cambria Math" panose="02040503050406030204" pitchFamily="18" charset="0"/>
                                    <a:ea typeface="+mn-ea"/>
                                    <a:cs typeface="+mn-cs"/>
                                  </a:rPr>
                                  <m:t>𝑠</m:t>
                                </m:r>
                              </m:e>
                              <m:sub>
                                <m:r>
                                  <a:rPr lang="es-ES" sz="2800" b="0" i="1" kern="1200" smtClean="0">
                                    <a:solidFill>
                                      <a:schemeClr val="tx1"/>
                                    </a:solidFill>
                                    <a:effectLst/>
                                    <a:latin typeface="Cambria Math" panose="02040503050406030204" pitchFamily="18" charset="0"/>
                                    <a:ea typeface="+mn-ea"/>
                                    <a:cs typeface="+mn-cs"/>
                                  </a:rPr>
                                  <m:t>𝑌</m:t>
                                </m:r>
                              </m:sub>
                              <m:sup>
                                <m:r>
                                  <a:rPr lang="es-ES" sz="2800" i="1" kern="1200">
                                    <a:solidFill>
                                      <a:schemeClr val="tx1"/>
                                    </a:solidFill>
                                    <a:effectLst/>
                                    <a:latin typeface="Cambria Math" panose="02040503050406030204" pitchFamily="18" charset="0"/>
                                    <a:ea typeface="+mn-ea"/>
                                    <a:cs typeface="+mn-cs"/>
                                  </a:rPr>
                                  <m:t>2</m:t>
                                </m:r>
                              </m:sup>
                            </m:sSubSup>
                          </m:num>
                          <m:den>
                            <m:r>
                              <a:rPr lang="es-ES" sz="2800" b="0" i="1" kern="1200" smtClean="0">
                                <a:solidFill>
                                  <a:schemeClr val="tx1"/>
                                </a:solidFill>
                                <a:effectLst/>
                                <a:latin typeface="Cambria Math" panose="02040503050406030204" pitchFamily="18" charset="0"/>
                                <a:ea typeface="+mn-ea"/>
                                <a:cs typeface="+mn-cs"/>
                              </a:rPr>
                              <m:t>𝑛</m:t>
                            </m:r>
                            <m:r>
                              <a:rPr lang="es-ES" sz="2800" b="0" i="1" kern="1200" smtClean="0">
                                <a:solidFill>
                                  <a:schemeClr val="tx1"/>
                                </a:solidFill>
                                <a:effectLst/>
                                <a:latin typeface="Cambria Math" panose="02040503050406030204" pitchFamily="18" charset="0"/>
                                <a:ea typeface="+mn-ea"/>
                                <a:cs typeface="+mn-cs"/>
                              </a:rPr>
                              <m:t>+</m:t>
                            </m:r>
                            <m:r>
                              <a:rPr lang="es-ES" sz="2800" b="0" i="1" kern="1200" smtClean="0">
                                <a:solidFill>
                                  <a:schemeClr val="tx1"/>
                                </a:solidFill>
                                <a:effectLst/>
                                <a:latin typeface="Cambria Math" panose="02040503050406030204" pitchFamily="18" charset="0"/>
                                <a:ea typeface="+mn-ea"/>
                                <a:cs typeface="+mn-cs"/>
                              </a:rPr>
                              <m:t>𝑚</m:t>
                            </m:r>
                            <m:r>
                              <a:rPr lang="es-ES" sz="2800" b="0" i="1" kern="1200" smtClean="0">
                                <a:solidFill>
                                  <a:schemeClr val="tx1"/>
                                </a:solidFill>
                                <a:effectLst/>
                                <a:latin typeface="Cambria Math" panose="02040503050406030204" pitchFamily="18" charset="0"/>
                                <a:ea typeface="+mn-ea"/>
                                <a:cs typeface="+mn-cs"/>
                              </a:rPr>
                              <m:t>−2</m:t>
                            </m:r>
                          </m:den>
                        </m:f>
                      </m:e>
                    </m:rad>
                    <m:r>
                      <a:rPr lang="es-ES" sz="2800" b="0" i="1" kern="1200" smtClean="0">
                        <a:solidFill>
                          <a:schemeClr val="tx1"/>
                        </a:solidFill>
                        <a:effectLst/>
                        <a:latin typeface="Cambria Math" panose="02040503050406030204" pitchFamily="18" charset="0"/>
                        <a:ea typeface="+mn-ea"/>
                        <a:cs typeface="+mn-cs"/>
                      </a:rPr>
                      <m:t>=</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b="0" i="1" smtClean="0">
                                    <a:latin typeface="Cambria Math" panose="02040503050406030204" pitchFamily="18" charset="0"/>
                                  </a:rPr>
                                  <m:t>11</m:t>
                                </m:r>
                              </m:e>
                            </m:d>
                            <m:sSup>
                              <m:sSupPr>
                                <m:ctrlPr>
                                  <a:rPr lang="es-ES" i="1" smtClean="0">
                                    <a:latin typeface="Cambria Math" panose="02040503050406030204" pitchFamily="18" charset="0"/>
                                  </a:rPr>
                                </m:ctrlPr>
                              </m:sSupPr>
                              <m:e>
                                <m:r>
                                  <a:rPr lang="es-ES" b="0" i="1" smtClean="0">
                                    <a:latin typeface="Cambria Math" panose="02040503050406030204" pitchFamily="18" charset="0"/>
                                  </a:rPr>
                                  <m:t>(1.6)</m:t>
                                </m:r>
                              </m:e>
                              <m:sup>
                                <m:r>
                                  <a:rPr lang="es-ES" b="0" i="1" smtClean="0">
                                    <a:latin typeface="Cambria Math" panose="02040503050406030204" pitchFamily="18" charset="0"/>
                                  </a:rPr>
                                  <m:t>2</m:t>
                                </m:r>
                              </m:sup>
                            </m:sSup>
                            <m:r>
                              <a:rPr lang="es-ES" i="1">
                                <a:latin typeface="Cambria Math" panose="02040503050406030204" pitchFamily="18" charset="0"/>
                              </a:rPr>
                              <m:t>+</m:t>
                            </m:r>
                            <m:d>
                              <m:dPr>
                                <m:ctrlPr>
                                  <a:rPr lang="es-ES" i="1">
                                    <a:latin typeface="Cambria Math" panose="02040503050406030204" pitchFamily="18" charset="0"/>
                                  </a:rPr>
                                </m:ctrlPr>
                              </m:dPr>
                              <m:e>
                                <m:r>
                                  <a:rPr lang="es-ES" b="0" i="1" smtClean="0">
                                    <a:latin typeface="Cambria Math" panose="02040503050406030204" pitchFamily="18" charset="0"/>
                                  </a:rPr>
                                  <m:t>17</m:t>
                                </m:r>
                              </m:e>
                            </m:d>
                            <m:sSup>
                              <m:sSupPr>
                                <m:ctrlPr>
                                  <a:rPr lang="es-ES" i="1">
                                    <a:latin typeface="Cambria Math" panose="02040503050406030204" pitchFamily="18" charset="0"/>
                                  </a:rPr>
                                </m:ctrlPr>
                              </m:sSupPr>
                              <m:e>
                                <m:r>
                                  <a:rPr lang="es-ES" i="1">
                                    <a:latin typeface="Cambria Math" panose="02040503050406030204" pitchFamily="18" charset="0"/>
                                  </a:rPr>
                                  <m:t>(1.</m:t>
                                </m:r>
                                <m:r>
                                  <a:rPr lang="es-ES" b="0" i="1" smtClean="0">
                                    <a:latin typeface="Cambria Math" panose="02040503050406030204" pitchFamily="18" charset="0"/>
                                  </a:rPr>
                                  <m:t>4</m:t>
                                </m:r>
                                <m:r>
                                  <a:rPr lang="es-ES" i="1">
                                    <a:latin typeface="Cambria Math" panose="02040503050406030204" pitchFamily="18" charset="0"/>
                                  </a:rPr>
                                  <m:t>)</m:t>
                                </m:r>
                              </m:e>
                              <m:sup>
                                <m:r>
                                  <a:rPr lang="es-ES" i="1">
                                    <a:latin typeface="Cambria Math" panose="02040503050406030204" pitchFamily="18" charset="0"/>
                                  </a:rPr>
                                  <m:t>2</m:t>
                                </m:r>
                              </m:sup>
                            </m:sSup>
                          </m:num>
                          <m:den>
                            <m:r>
                              <a:rPr lang="es-ES" b="0" i="1" smtClean="0">
                                <a:latin typeface="Cambria Math" panose="02040503050406030204" pitchFamily="18" charset="0"/>
                              </a:rPr>
                              <m:t>12+18</m:t>
                            </m:r>
                            <m:r>
                              <a:rPr lang="es-ES" i="1">
                                <a:latin typeface="Cambria Math" panose="02040503050406030204" pitchFamily="18" charset="0"/>
                              </a:rPr>
                              <m:t>−2</m:t>
                            </m:r>
                          </m:den>
                        </m:f>
                      </m:e>
                    </m:rad>
                    <m:r>
                      <a:rPr lang="es-ES" b="0" i="1" smtClean="0">
                        <a:latin typeface="Cambria Math" panose="02040503050406030204" pitchFamily="18" charset="0"/>
                      </a:rPr>
                      <m:t>=1.48</m:t>
                    </m:r>
                  </m:oMath>
                </a14:m>
                <a:endParaRPr lang="es-ES" dirty="0"/>
              </a:p>
              <a:p>
                <a:r>
                  <a:rPr lang="es-ES" dirty="0"/>
                  <a:t>Intervalo de confianza </a:t>
                </a:r>
                <a:r>
                  <a:rPr lang="es-ES" dirty="0">
                    <a:sym typeface="Wingdings" panose="05000000000000000000" pitchFamily="2" charset="2"/>
                  </a:rPr>
                  <a:t> C</a:t>
                </a:r>
                <a:r>
                  <a:rPr lang="es-ES" dirty="0"/>
                  <a:t>omo contiene el valor 0, la diferencia de medias NO es significativa</a:t>
                </a: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m:t>
                            </m:r>
                            <m:r>
                              <a:rPr lang="es-ES" i="1">
                                <a:latin typeface="Cambria Math" panose="02040503050406030204" pitchFamily="18" charset="0"/>
                              </a:rPr>
                              <m:t>𝑚</m:t>
                            </m:r>
                            <m:r>
                              <a:rPr lang="es-ES" i="1">
                                <a:latin typeface="Cambria Math" panose="02040503050406030204" pitchFamily="18" charset="0"/>
                              </a:rPr>
                              <m:t>−2</m:t>
                            </m:r>
                          </m:sub>
                        </m:sSub>
                      </m:e>
                    </m:d>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𝑠</m:t>
                            </m:r>
                          </m:e>
                          <m:sub>
                            <m:r>
                              <a:rPr lang="es-ES" i="1">
                                <a:latin typeface="Cambria Math" panose="02040503050406030204" pitchFamily="18" charset="0"/>
                              </a:rPr>
                              <m:t>𝑝</m:t>
                            </m:r>
                          </m:sub>
                        </m:sSub>
                      </m:e>
                    </m:d>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den>
                        </m:f>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𝑚</m:t>
                            </m:r>
                          </m:den>
                        </m:f>
                      </m:e>
                    </m:rad>
                    <m:r>
                      <a:rPr lang="es-ES" b="0" i="1" smtClean="0">
                        <a:latin typeface="Cambria Math" panose="02040503050406030204" pitchFamily="18" charset="0"/>
                      </a:rPr>
                      <m:t>=4.8</m:t>
                    </m:r>
                    <m:r>
                      <a:rPr lang="es-ES" i="1">
                        <a:latin typeface="Cambria Math" panose="02040503050406030204" pitchFamily="18" charset="0"/>
                      </a:rPr>
                      <m:t>−</m:t>
                    </m:r>
                    <m:r>
                      <a:rPr lang="es-ES" b="0" i="1" smtClean="0">
                        <a:latin typeface="Cambria Math" panose="02040503050406030204" pitchFamily="18" charset="0"/>
                      </a:rPr>
                      <m:t>5.3</m:t>
                    </m:r>
                    <m:r>
                      <a:rPr lang="es-ES" i="1">
                        <a:latin typeface="Cambria Math" panose="02040503050406030204" pitchFamily="18" charset="0"/>
                      </a:rPr>
                      <m:t>−</m:t>
                    </m:r>
                    <m:d>
                      <m:dPr>
                        <m:ctrlPr>
                          <a:rPr lang="es-ES" b="0" i="1">
                            <a:latin typeface="Cambria Math" panose="02040503050406030204" pitchFamily="18" charset="0"/>
                          </a:rPr>
                        </m:ctrlPr>
                      </m:dPr>
                      <m:e>
                        <m:r>
                          <a:rPr lang="es-ES" b="0" i="1" smtClean="0">
                            <a:latin typeface="Cambria Math" panose="02040503050406030204" pitchFamily="18" charset="0"/>
                          </a:rPr>
                          <m:t>2.05</m:t>
                        </m:r>
                      </m:e>
                    </m:d>
                    <m:d>
                      <m:dPr>
                        <m:ctrlPr>
                          <a:rPr lang="es-ES" i="1">
                            <a:latin typeface="Cambria Math" panose="02040503050406030204" pitchFamily="18" charset="0"/>
                          </a:rPr>
                        </m:ctrlPr>
                      </m:dPr>
                      <m:e>
                        <m:r>
                          <a:rPr lang="es-ES" b="0" i="1" smtClean="0">
                            <a:latin typeface="Cambria Math" panose="02040503050406030204" pitchFamily="18" charset="0"/>
                          </a:rPr>
                          <m:t>1.48</m:t>
                        </m:r>
                      </m:e>
                    </m:d>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1</m:t>
                            </m:r>
                          </m:num>
                          <m:den>
                            <m:r>
                              <a:rPr lang="es-ES" b="0" i="1" smtClean="0">
                                <a:latin typeface="Cambria Math" panose="02040503050406030204" pitchFamily="18" charset="0"/>
                              </a:rPr>
                              <m:t>12</m:t>
                            </m:r>
                          </m:den>
                        </m:f>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b="0" i="1" smtClean="0">
                                <a:latin typeface="Cambria Math" panose="02040503050406030204" pitchFamily="18" charset="0"/>
                              </a:rPr>
                              <m:t>18</m:t>
                            </m:r>
                          </m:den>
                        </m:f>
                      </m:e>
                    </m:rad>
                    <m:r>
                      <a:rPr lang="es-ES" b="0" i="1" smtClean="0">
                        <a:latin typeface="Cambria Math" panose="02040503050406030204" pitchFamily="18" charset="0"/>
                      </a:rPr>
                      <m:t>=−1.63 </m:t>
                    </m:r>
                    <m:r>
                      <m:rPr>
                        <m:nor/>
                      </m:rPr>
                      <a:rPr lang="es-ES" b="0" i="0" smtClean="0">
                        <a:latin typeface="Cambria Math" panose="02040503050406030204" pitchFamily="18" charset="0"/>
                      </a:rPr>
                      <m:t>horas</m:t>
                    </m:r>
                  </m:oMath>
                </a14:m>
                <a:endParaRPr lang="es-ES" dirty="0"/>
              </a:p>
              <a:p>
                <a:pPr lvl="1"/>
                <a:endParaRPr lang="es-ES" i="1" dirty="0">
                  <a:latin typeface="Cambria Math" panose="02040503050406030204" pitchFamily="18" charset="0"/>
                </a:endParaRP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b="0" i="1" smtClean="0">
                            <a:latin typeface="Cambria Math" panose="02040503050406030204" pitchFamily="18" charset="0"/>
                          </a:rPr>
                          <m:t>𝑠</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m:t>
                            </m:r>
                            <m:r>
                              <a:rPr lang="es-ES" i="1">
                                <a:latin typeface="Cambria Math" panose="02040503050406030204" pitchFamily="18" charset="0"/>
                              </a:rPr>
                              <m:t>𝑛</m:t>
                            </m:r>
                            <m:r>
                              <a:rPr lang="es-ES" i="1">
                                <a:latin typeface="Cambria Math" panose="02040503050406030204" pitchFamily="18" charset="0"/>
                              </a:rPr>
                              <m:t>+</m:t>
                            </m:r>
                            <m:r>
                              <a:rPr lang="es-ES" i="1">
                                <a:latin typeface="Cambria Math" panose="02040503050406030204" pitchFamily="18" charset="0"/>
                              </a:rPr>
                              <m:t>𝑚</m:t>
                            </m:r>
                            <m:r>
                              <a:rPr lang="es-ES" i="1">
                                <a:latin typeface="Cambria Math" panose="02040503050406030204" pitchFamily="18" charset="0"/>
                              </a:rPr>
                              <m:t>−2</m:t>
                            </m:r>
                          </m:sub>
                        </m:sSub>
                      </m:e>
                    </m:d>
                    <m:d>
                      <m:dPr>
                        <m:ctrlPr>
                          <a:rPr lang="es-ES" i="1">
                            <a:latin typeface="Cambria Math" panose="02040503050406030204" pitchFamily="18" charset="0"/>
                          </a:rPr>
                        </m:ctrlPr>
                      </m:dPr>
                      <m:e>
                        <m:sSub>
                          <m:sSubPr>
                            <m:ctrlPr>
                              <a:rPr lang="es-ES" i="1">
                                <a:latin typeface="Cambria Math" panose="02040503050406030204" pitchFamily="18" charset="0"/>
                              </a:rPr>
                            </m:ctrlPr>
                          </m:sSubPr>
                          <m:e>
                            <m:r>
                              <a:rPr lang="es-ES" i="1">
                                <a:latin typeface="Cambria Math" panose="02040503050406030204" pitchFamily="18" charset="0"/>
                              </a:rPr>
                              <m:t>𝑠</m:t>
                            </m:r>
                          </m:e>
                          <m:sub>
                            <m:r>
                              <a:rPr lang="es-ES" i="1">
                                <a:latin typeface="Cambria Math" panose="02040503050406030204" pitchFamily="18" charset="0"/>
                              </a:rPr>
                              <m:t>𝑝</m:t>
                            </m:r>
                          </m:sub>
                        </m:sSub>
                      </m:e>
                    </m:d>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𝑛</m:t>
                            </m:r>
                          </m:den>
                        </m:f>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𝑚</m:t>
                            </m:r>
                          </m:den>
                        </m:f>
                      </m:e>
                    </m:rad>
                    <m:r>
                      <a:rPr lang="es-ES" i="1">
                        <a:latin typeface="Cambria Math" panose="02040503050406030204" pitchFamily="18" charset="0"/>
                      </a:rPr>
                      <m:t>=4.8</m:t>
                    </m:r>
                    <m:r>
                      <a:rPr lang="es-ES" b="0" i="1" smtClean="0">
                        <a:latin typeface="Cambria Math" panose="02040503050406030204" pitchFamily="18" charset="0"/>
                      </a:rPr>
                      <m:t>+</m:t>
                    </m:r>
                    <m:r>
                      <a:rPr lang="es-ES" i="1">
                        <a:latin typeface="Cambria Math" panose="02040503050406030204" pitchFamily="18" charset="0"/>
                      </a:rPr>
                      <m:t>5.3−</m:t>
                    </m:r>
                    <m:d>
                      <m:dPr>
                        <m:ctrlPr>
                          <a:rPr lang="es-ES" i="1">
                            <a:latin typeface="Cambria Math" panose="02040503050406030204" pitchFamily="18" charset="0"/>
                          </a:rPr>
                        </m:ctrlPr>
                      </m:dPr>
                      <m:e>
                        <m:r>
                          <a:rPr lang="es-ES" i="1">
                            <a:latin typeface="Cambria Math" panose="02040503050406030204" pitchFamily="18" charset="0"/>
                          </a:rPr>
                          <m:t>2.05</m:t>
                        </m:r>
                      </m:e>
                    </m:d>
                    <m:d>
                      <m:dPr>
                        <m:ctrlPr>
                          <a:rPr lang="es-ES" i="1">
                            <a:latin typeface="Cambria Math" panose="02040503050406030204" pitchFamily="18" charset="0"/>
                          </a:rPr>
                        </m:ctrlPr>
                      </m:dPr>
                      <m:e>
                        <m:r>
                          <a:rPr lang="es-ES" i="1">
                            <a:latin typeface="Cambria Math" panose="02040503050406030204" pitchFamily="18" charset="0"/>
                          </a:rPr>
                          <m:t>1.48</m:t>
                        </m:r>
                      </m:e>
                    </m:d>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12</m:t>
                            </m:r>
                          </m:den>
                        </m:f>
                        <m:r>
                          <a:rPr lang="es-ES" i="1">
                            <a:latin typeface="Cambria Math" panose="02040503050406030204" pitchFamily="18" charset="0"/>
                          </a:rPr>
                          <m:t>+</m:t>
                        </m:r>
                        <m:f>
                          <m:fPr>
                            <m:ctrlPr>
                              <a:rPr lang="es-ES" i="1">
                                <a:latin typeface="Cambria Math" panose="02040503050406030204" pitchFamily="18" charset="0"/>
                              </a:rPr>
                            </m:ctrlPr>
                          </m:fPr>
                          <m:num>
                            <m:r>
                              <a:rPr lang="es-ES" i="1">
                                <a:latin typeface="Cambria Math" panose="02040503050406030204" pitchFamily="18" charset="0"/>
                              </a:rPr>
                              <m:t>1</m:t>
                            </m:r>
                          </m:num>
                          <m:den>
                            <m:r>
                              <a:rPr lang="es-ES" i="1">
                                <a:latin typeface="Cambria Math" panose="02040503050406030204" pitchFamily="18" charset="0"/>
                              </a:rPr>
                              <m:t>18</m:t>
                            </m:r>
                          </m:den>
                        </m:f>
                      </m:e>
                    </m:rad>
                    <m:r>
                      <a:rPr lang="es-ES" i="1">
                        <a:latin typeface="Cambria Math" panose="02040503050406030204" pitchFamily="18" charset="0"/>
                      </a:rPr>
                      <m:t>=</m:t>
                    </m:r>
                    <m:r>
                      <a:rPr lang="es-ES" b="0" i="1" smtClean="0">
                        <a:latin typeface="Cambria Math" panose="02040503050406030204" pitchFamily="18" charset="0"/>
                      </a:rPr>
                      <m:t>0.</m:t>
                    </m:r>
                    <m:r>
                      <a:rPr lang="es-ES" i="1">
                        <a:latin typeface="Cambria Math" panose="02040503050406030204" pitchFamily="18" charset="0"/>
                      </a:rPr>
                      <m:t>63 </m:t>
                    </m:r>
                    <m:r>
                      <m:rPr>
                        <m:nor/>
                      </m:rPr>
                      <a:rPr lang="es-ES">
                        <a:latin typeface="Cambria Math" panose="02040503050406030204" pitchFamily="18" charset="0"/>
                      </a:rPr>
                      <m:t>horas</m:t>
                    </m:r>
                  </m:oMath>
                </a14:m>
                <a:endParaRPr lang="es-ES" dirty="0"/>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4079C3BD-0AF9-5F98-48BA-17CA272E22DC}"/>
                  </a:ext>
                </a:extLst>
              </p:cNvPr>
              <p:cNvSpPr>
                <a:spLocks noGrp="1" noRot="1" noChangeAspect="1" noMove="1" noResize="1" noEditPoints="1" noAdjustHandles="1" noChangeArrowheads="1" noChangeShapeType="1" noTextEdit="1"/>
              </p:cNvSpPr>
              <p:nvPr>
                <p:ph idx="1"/>
              </p:nvPr>
            </p:nvSpPr>
            <p:spPr>
              <a:xfrm>
                <a:off x="838200" y="1825624"/>
                <a:ext cx="11060152" cy="5032375"/>
              </a:xfrm>
              <a:blipFill>
                <a:blip r:embed="rId3"/>
                <a:stretch>
                  <a:fillRect l="-55" t="-109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61</a:t>
            </a:fld>
            <a:endParaRPr lang="es-ES" dirty="0"/>
          </a:p>
        </p:txBody>
      </p:sp>
      <p:pic>
        <p:nvPicPr>
          <p:cNvPr id="6" name="Imagen 5">
            <a:extLst>
              <a:ext uri="{FF2B5EF4-FFF2-40B4-BE49-F238E27FC236}">
                <a16:creationId xmlns:a16="http://schemas.microsoft.com/office/drawing/2014/main" id="{31D1F7DE-7407-C9F9-D66E-08F282ED2928}"/>
              </a:ext>
            </a:extLst>
          </p:cNvPr>
          <p:cNvPicPr>
            <a:picLocks noChangeAspect="1"/>
          </p:cNvPicPr>
          <p:nvPr/>
        </p:nvPicPr>
        <p:blipFill>
          <a:blip r:embed="rId4"/>
          <a:stretch>
            <a:fillRect/>
          </a:stretch>
        </p:blipFill>
        <p:spPr>
          <a:xfrm>
            <a:off x="6961209" y="1929161"/>
            <a:ext cx="4937143" cy="1043204"/>
          </a:xfrm>
          <a:prstGeom prst="rect">
            <a:avLst/>
          </a:prstGeom>
        </p:spPr>
      </p:pic>
      <p:sp>
        <p:nvSpPr>
          <p:cNvPr id="9" name="Elipse 8">
            <a:extLst>
              <a:ext uri="{FF2B5EF4-FFF2-40B4-BE49-F238E27FC236}">
                <a16:creationId xmlns:a16="http://schemas.microsoft.com/office/drawing/2014/main" id="{52FD253D-DD01-8BD6-FC07-058D6289AD2A}"/>
              </a:ext>
            </a:extLst>
          </p:cNvPr>
          <p:cNvSpPr/>
          <p:nvPr/>
        </p:nvSpPr>
        <p:spPr>
          <a:xfrm>
            <a:off x="8998359" y="3666951"/>
            <a:ext cx="435573" cy="302198"/>
          </a:xfrm>
          <a:prstGeom prst="ellipse">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esquinas redondeadas 9">
            <a:extLst>
              <a:ext uri="{FF2B5EF4-FFF2-40B4-BE49-F238E27FC236}">
                <a16:creationId xmlns:a16="http://schemas.microsoft.com/office/drawing/2014/main" id="{E755F740-B214-04EA-CE39-6917132B9FE3}"/>
              </a:ext>
            </a:extLst>
          </p:cNvPr>
          <p:cNvSpPr/>
          <p:nvPr/>
        </p:nvSpPr>
        <p:spPr>
          <a:xfrm flipV="1">
            <a:off x="8932123" y="2518984"/>
            <a:ext cx="490658" cy="302383"/>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esquinas redondeadas 10">
            <a:extLst>
              <a:ext uri="{FF2B5EF4-FFF2-40B4-BE49-F238E27FC236}">
                <a16:creationId xmlns:a16="http://schemas.microsoft.com/office/drawing/2014/main" id="{C45B7144-9AAB-C54B-6A92-97DC570C5C66}"/>
              </a:ext>
            </a:extLst>
          </p:cNvPr>
          <p:cNvSpPr/>
          <p:nvPr/>
        </p:nvSpPr>
        <p:spPr>
          <a:xfrm>
            <a:off x="7326351" y="3735855"/>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709219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fontScale="90000"/>
          </a:bodyPr>
          <a:lstStyle/>
          <a:p>
            <a:r>
              <a:rPr lang="es-ES" dirty="0"/>
              <a:t>10. Intervalo de confianza para la diferencia de las medias de dos poblaciones. Ejemplo 9.21</a:t>
            </a:r>
          </a:p>
        </p:txBody>
      </p:sp>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p:txBody>
          <a:bodyPr>
            <a:normAutofit fontScale="77500" lnSpcReduction="20000"/>
          </a:bodyPr>
          <a:lstStyle/>
          <a:p>
            <a:r>
              <a:rPr lang="es-ES" dirty="0"/>
              <a:t>Una cuenta en el servidor A es más cara que una cuenta en el servidor B. </a:t>
            </a:r>
          </a:p>
          <a:p>
            <a:r>
              <a:rPr lang="es-ES" dirty="0"/>
              <a:t>Sin embargo, el servidor A es más rápido. </a:t>
            </a:r>
          </a:p>
          <a:p>
            <a:r>
              <a:rPr lang="es-ES" dirty="0"/>
              <a:t>Para ver si es óptimo comprar el servidor más rápido, pero más caro, un administrador necesita saber cuánto más rápido es. </a:t>
            </a:r>
          </a:p>
          <a:p>
            <a:r>
              <a:rPr lang="es-ES" dirty="0"/>
              <a:t>Un determinado algoritmo informático se ejecuta 30 veces en el servidor A y 20 veces en el servidor B con los siguientes resultados:</a:t>
            </a:r>
          </a:p>
          <a:p>
            <a:endParaRPr lang="es-ES" dirty="0"/>
          </a:p>
          <a:p>
            <a:endParaRPr lang="es-ES" dirty="0"/>
          </a:p>
          <a:p>
            <a:endParaRPr lang="es-ES" dirty="0"/>
          </a:p>
          <a:p>
            <a:endParaRPr lang="es-ES" dirty="0"/>
          </a:p>
          <a:p>
            <a:r>
              <a:rPr lang="es-ES" dirty="0"/>
              <a:t>Construir un intervalo de confianza del 95 % para la diferencia entre los tiempos de ejecución promedio en el servidor A y el servidor B, asumiendo que los tiempos observados son aproximadamente normales.</a:t>
            </a:r>
          </a:p>
          <a:p>
            <a:endParaRPr lang="es-ES" dirty="0"/>
          </a:p>
        </p:txBody>
      </p:sp>
      <p:graphicFrame>
        <p:nvGraphicFramePr>
          <p:cNvPr id="5" name="Tabla 5">
            <a:extLst>
              <a:ext uri="{FF2B5EF4-FFF2-40B4-BE49-F238E27FC236}">
                <a16:creationId xmlns:a16="http://schemas.microsoft.com/office/drawing/2014/main" id="{0E8589DE-0407-20A1-CC5F-1E69587E2F82}"/>
              </a:ext>
            </a:extLst>
          </p:cNvPr>
          <p:cNvGraphicFramePr>
            <a:graphicFrameLocks noGrp="1"/>
          </p:cNvGraphicFramePr>
          <p:nvPr>
            <p:extLst>
              <p:ext uri="{D42A27DB-BD31-4B8C-83A1-F6EECF244321}">
                <p14:modId xmlns:p14="http://schemas.microsoft.com/office/powerpoint/2010/main" val="2431619948"/>
              </p:ext>
            </p:extLst>
          </p:nvPr>
        </p:nvGraphicFramePr>
        <p:xfrm>
          <a:off x="1812090" y="3879555"/>
          <a:ext cx="7667584" cy="1112520"/>
        </p:xfrm>
        <a:graphic>
          <a:graphicData uri="http://schemas.openxmlformats.org/drawingml/2006/table">
            <a:tbl>
              <a:tblPr firstRow="1" bandRow="1">
                <a:tableStyleId>{5940675A-B579-460E-94D1-54222C63F5DA}</a:tableStyleId>
              </a:tblPr>
              <a:tblGrid>
                <a:gridCol w="3105857">
                  <a:extLst>
                    <a:ext uri="{9D8B030D-6E8A-4147-A177-3AD203B41FA5}">
                      <a16:colId xmlns:a16="http://schemas.microsoft.com/office/drawing/2014/main" val="3651044924"/>
                    </a:ext>
                  </a:extLst>
                </a:gridCol>
                <a:gridCol w="2212066">
                  <a:extLst>
                    <a:ext uri="{9D8B030D-6E8A-4147-A177-3AD203B41FA5}">
                      <a16:colId xmlns:a16="http://schemas.microsoft.com/office/drawing/2014/main" val="1959872862"/>
                    </a:ext>
                  </a:extLst>
                </a:gridCol>
                <a:gridCol w="2349661">
                  <a:extLst>
                    <a:ext uri="{9D8B030D-6E8A-4147-A177-3AD203B41FA5}">
                      <a16:colId xmlns:a16="http://schemas.microsoft.com/office/drawing/2014/main" val="89636617"/>
                    </a:ext>
                  </a:extLst>
                </a:gridCol>
              </a:tblGrid>
              <a:tr h="370840">
                <a:tc>
                  <a:txBody>
                    <a:bodyPr/>
                    <a:lstStyle/>
                    <a:p>
                      <a:endParaRPr lang="es-ES"/>
                    </a:p>
                  </a:txBody>
                  <a:tcPr/>
                </a:tc>
                <a:tc>
                  <a:txBody>
                    <a:bodyPr/>
                    <a:lstStyle/>
                    <a:p>
                      <a:pPr algn="ctr"/>
                      <a:r>
                        <a:rPr lang="es-ES" b="1" dirty="0"/>
                        <a:t>Servidor A</a:t>
                      </a:r>
                    </a:p>
                  </a:txBody>
                  <a:tcPr/>
                </a:tc>
                <a:tc>
                  <a:txBody>
                    <a:bodyPr/>
                    <a:lstStyle/>
                    <a:p>
                      <a:pPr algn="ctr"/>
                      <a:r>
                        <a:rPr lang="es-ES" b="1" dirty="0"/>
                        <a:t>Servidor B</a:t>
                      </a:r>
                    </a:p>
                  </a:txBody>
                  <a:tcPr/>
                </a:tc>
                <a:extLst>
                  <a:ext uri="{0D108BD9-81ED-4DB2-BD59-A6C34878D82A}">
                    <a16:rowId xmlns:a16="http://schemas.microsoft.com/office/drawing/2014/main" val="861807862"/>
                  </a:ext>
                </a:extLst>
              </a:tr>
              <a:tr h="370840">
                <a:tc>
                  <a:txBody>
                    <a:bodyPr/>
                    <a:lstStyle/>
                    <a:p>
                      <a:r>
                        <a:rPr lang="es-ES" b="1" dirty="0"/>
                        <a:t>Media muestral</a:t>
                      </a:r>
                    </a:p>
                  </a:txBody>
                  <a:tcPr/>
                </a:tc>
                <a:tc>
                  <a:txBody>
                    <a:bodyPr/>
                    <a:lstStyle/>
                    <a:p>
                      <a:pPr algn="ctr"/>
                      <a:r>
                        <a:rPr lang="es-ES" dirty="0"/>
                        <a:t>6.7 min</a:t>
                      </a:r>
                    </a:p>
                  </a:txBody>
                  <a:tcPr/>
                </a:tc>
                <a:tc>
                  <a:txBody>
                    <a:bodyPr/>
                    <a:lstStyle/>
                    <a:p>
                      <a:pPr algn="ctr"/>
                      <a:r>
                        <a:rPr lang="es-ES" dirty="0"/>
                        <a:t>7.5 min</a:t>
                      </a:r>
                    </a:p>
                  </a:txBody>
                  <a:tcPr/>
                </a:tc>
                <a:extLst>
                  <a:ext uri="{0D108BD9-81ED-4DB2-BD59-A6C34878D82A}">
                    <a16:rowId xmlns:a16="http://schemas.microsoft.com/office/drawing/2014/main" val="3660876675"/>
                  </a:ext>
                </a:extLst>
              </a:tr>
              <a:tr h="370840">
                <a:tc>
                  <a:txBody>
                    <a:bodyPr/>
                    <a:lstStyle/>
                    <a:p>
                      <a:r>
                        <a:rPr lang="es-ES" b="1" dirty="0"/>
                        <a:t>Deviación estándar muestral</a:t>
                      </a:r>
                    </a:p>
                  </a:txBody>
                  <a:tcPr/>
                </a:tc>
                <a:tc>
                  <a:txBody>
                    <a:bodyPr/>
                    <a:lstStyle/>
                    <a:p>
                      <a:pPr algn="ctr"/>
                      <a:r>
                        <a:rPr lang="es-ES" dirty="0"/>
                        <a:t>0.6 min</a:t>
                      </a:r>
                    </a:p>
                  </a:txBody>
                  <a:tcPr/>
                </a:tc>
                <a:tc>
                  <a:txBody>
                    <a:bodyPr/>
                    <a:lstStyle/>
                    <a:p>
                      <a:pPr algn="ctr"/>
                      <a:r>
                        <a:rPr lang="es-ES" dirty="0"/>
                        <a:t>1.2 min</a:t>
                      </a:r>
                    </a:p>
                  </a:txBody>
                  <a:tcPr/>
                </a:tc>
                <a:extLst>
                  <a:ext uri="{0D108BD9-81ED-4DB2-BD59-A6C34878D82A}">
                    <a16:rowId xmlns:a16="http://schemas.microsoft.com/office/drawing/2014/main" val="2359799763"/>
                  </a:ext>
                </a:extLst>
              </a:tr>
            </a:tbl>
          </a:graphicData>
        </a:graphic>
      </p:graphicFrame>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62</a:t>
            </a:fld>
            <a:endParaRPr lang="es-ES" dirty="0"/>
          </a:p>
        </p:txBody>
      </p:sp>
    </p:spTree>
    <p:extLst>
      <p:ext uri="{BB962C8B-B14F-4D97-AF65-F5344CB8AC3E}">
        <p14:creationId xmlns:p14="http://schemas.microsoft.com/office/powerpoint/2010/main" val="33104811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a:bodyPr>
          <a:lstStyle/>
          <a:p>
            <a:r>
              <a:rPr lang="es-ES" sz="3600" dirty="0"/>
              <a:t>10. Intervalo de confianza para la diferencia de las medias de dos poblaciones. Ejemplo 9.21 (Solución)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a:xfrm>
                <a:off x="838200" y="1825624"/>
                <a:ext cx="10515600" cy="5032375"/>
              </a:xfrm>
            </p:spPr>
            <p:txBody>
              <a:bodyPr>
                <a:normAutofit fontScale="47500" lnSpcReduction="20000"/>
              </a:bodyPr>
              <a:lstStyle/>
              <a:p>
                <a:r>
                  <a:rPr lang="es-ES" dirty="0"/>
                  <a:t>Es un caso de muestras pequeñas (porque hay una &lt;30) pero con distribución Normal, con varianzas desconocidas y diferentes</a:t>
                </a:r>
              </a:p>
              <a:p>
                <a:r>
                  <a:rPr lang="es-ES" dirty="0"/>
                  <a:t>X = tiempo de ejecución del algoritmo en una muestra de 30 ejecuciones </a:t>
                </a:r>
              </a:p>
              <a:p>
                <a:r>
                  <a:rPr lang="es-ES" dirty="0"/>
                  <a:t>Y = tiempo de ejecución del algoritmo en una muestra de 20 ejecuciones</a:t>
                </a:r>
              </a:p>
              <a:p>
                <a14:m>
                  <m:oMath xmlns:m="http://schemas.openxmlformats.org/officeDocument/2006/math">
                    <m:r>
                      <a:rPr lang="es-ES" b="0" i="1" smtClean="0">
                        <a:latin typeface="Cambria Math" panose="02040503050406030204" pitchFamily="18" charset="0"/>
                      </a:rPr>
                      <m:t>𝑛</m:t>
                    </m:r>
                    <m:r>
                      <a:rPr lang="es-ES" b="0" i="1" smtClean="0">
                        <a:latin typeface="Cambria Math" panose="02040503050406030204" pitchFamily="18" charset="0"/>
                      </a:rPr>
                      <m:t>=30</m:t>
                    </m:r>
                  </m:oMath>
                </a14:m>
                <a:r>
                  <a:rPr lang="es-ES" dirty="0"/>
                  <a:t>      m</a:t>
                </a:r>
                <a14:m>
                  <m:oMath xmlns:m="http://schemas.openxmlformats.org/officeDocument/2006/math">
                    <m:r>
                      <a:rPr lang="es-ES" i="1">
                        <a:latin typeface="Cambria Math" panose="02040503050406030204" pitchFamily="18" charset="0"/>
                      </a:rPr>
                      <m:t>=</m:t>
                    </m:r>
                    <m:r>
                      <a:rPr lang="es-ES" b="0" i="1" smtClean="0">
                        <a:latin typeface="Cambria Math" panose="02040503050406030204" pitchFamily="18" charset="0"/>
                      </a:rPr>
                      <m:t>20</m:t>
                    </m:r>
                  </m:oMath>
                </a14:m>
                <a:r>
                  <a:rPr lang="es-ES" b="0" dirty="0"/>
                  <a:t>   </a:t>
                </a:r>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r>
                      <a:rPr lang="es-ES" b="0" i="1" smtClean="0">
                        <a:latin typeface="Cambria Math" panose="02040503050406030204" pitchFamily="18" charset="0"/>
                      </a:rPr>
                      <m:t>6.7</m:t>
                    </m:r>
                    <m:r>
                      <a:rPr lang="es-ES" i="1">
                        <a:latin typeface="Cambria Math" panose="02040503050406030204" pitchFamily="18" charset="0"/>
                      </a:rPr>
                      <m:t> </m:t>
                    </m:r>
                    <m:r>
                      <m:rPr>
                        <m:nor/>
                      </m:rPr>
                      <a:rPr lang="es-ES" b="0" i="0" smtClean="0">
                        <a:latin typeface="Cambria Math" panose="02040503050406030204" pitchFamily="18" charset="0"/>
                      </a:rPr>
                      <m:t>min</m:t>
                    </m:r>
                  </m:oMath>
                </a14:m>
                <a:endParaRPr lang="es-ES" dirty="0"/>
              </a:p>
              <a:p>
                <a14:m>
                  <m:oMath xmlns:m="http://schemas.openxmlformats.org/officeDocument/2006/math">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r>
                      <a:rPr lang="es-ES" b="0" i="1" smtClean="0">
                        <a:latin typeface="Cambria Math" panose="02040503050406030204" pitchFamily="18" charset="0"/>
                      </a:rPr>
                      <m:t>7.5</m:t>
                    </m:r>
                    <m:r>
                      <m:rPr>
                        <m:nor/>
                      </m:rPr>
                      <a:rPr lang="es-ES" b="0" i="0" smtClean="0">
                        <a:latin typeface="Cambria Math" panose="02040503050406030204" pitchFamily="18" charset="0"/>
                      </a:rPr>
                      <m:t> </m:t>
                    </m:r>
                    <m:r>
                      <m:rPr>
                        <m:nor/>
                      </m:rPr>
                      <a:rPr lang="es-ES">
                        <a:latin typeface="Cambria Math" panose="02040503050406030204" pitchFamily="18" charset="0"/>
                      </a:rPr>
                      <m:t>min</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𝑋</m:t>
                        </m:r>
                      </m:sub>
                    </m:sSub>
                    <m:r>
                      <a:rPr lang="es-ES" b="0" i="1" smtClean="0">
                        <a:latin typeface="Cambria Math" panose="02040503050406030204" pitchFamily="18" charset="0"/>
                      </a:rPr>
                      <m:t>=0.6 </m:t>
                    </m:r>
                    <m:r>
                      <m:rPr>
                        <m:nor/>
                      </m:rPr>
                      <a:rPr lang="es-ES">
                        <a:latin typeface="Cambria Math" panose="02040503050406030204" pitchFamily="18" charset="0"/>
                      </a:rPr>
                      <m:t>min</m:t>
                    </m:r>
                  </m:oMath>
                </a14:m>
                <a:endParaRPr lang="es-ES" dirty="0"/>
              </a:p>
              <a:p>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𝑌</m:t>
                        </m:r>
                      </m:sub>
                    </m:sSub>
                    <m:r>
                      <a:rPr lang="es-ES" b="0" i="1" smtClean="0">
                        <a:latin typeface="Cambria Math" panose="02040503050406030204" pitchFamily="18" charset="0"/>
                      </a:rPr>
                      <m:t>=1.2</m:t>
                    </m:r>
                    <m:r>
                      <m:rPr>
                        <m:nor/>
                      </m:rPr>
                      <a:rPr lang="es-ES" b="0" i="0" smtClean="0">
                        <a:latin typeface="Cambria Math" panose="02040503050406030204" pitchFamily="18" charset="0"/>
                      </a:rPr>
                      <m:t> </m:t>
                    </m:r>
                    <m:r>
                      <m:rPr>
                        <m:nor/>
                      </m:rPr>
                      <a:rPr lang="es-ES">
                        <a:latin typeface="Cambria Math" panose="02040503050406030204" pitchFamily="18" charset="0"/>
                      </a:rPr>
                      <m:t>min</m:t>
                    </m:r>
                  </m:oMath>
                </a14:m>
                <a:endParaRPr lang="es-ES"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=0.95→</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=0.05→</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=0.025</m:t>
                    </m:r>
                  </m:oMath>
                </a14:m>
                <a:endParaRPr lang="es-ES" dirty="0"/>
              </a:p>
              <a:p>
                <a14:m>
                  <m:oMath xmlns:m="http://schemas.openxmlformats.org/officeDocument/2006/math">
                    <m:r>
                      <a:rPr lang="es-ES" sz="2800" i="1" kern="1200" smtClean="0">
                        <a:solidFill>
                          <a:schemeClr val="tx1"/>
                        </a:solidFill>
                        <a:effectLst/>
                        <a:latin typeface="Cambria Math" panose="02040503050406030204" pitchFamily="18" charset="0"/>
                        <a:ea typeface="Cambria Math" panose="02040503050406030204" pitchFamily="18" charset="0"/>
                        <a:cs typeface="+mn-cs"/>
                      </a:rPr>
                      <m:t>𝜈</m:t>
                    </m:r>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fPr>
                      <m:num>
                        <m:sSup>
                          <m:s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pPr>
                          <m:e>
                            <m:d>
                              <m:d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dPr>
                              <m:e>
                                <m:f>
                                  <m:f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𝑋</m:t>
                                        </m:r>
                                      </m:sub>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2</m:t>
                                        </m:r>
                                      </m:sup>
                                    </m:sSubSup>
                                  </m:num>
                                  <m:den>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𝑛</m:t>
                                    </m:r>
                                  </m:den>
                                </m:f>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𝑌</m:t>
                                        </m:r>
                                      </m:sub>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2</m:t>
                                        </m:r>
                                      </m:sup>
                                    </m:sSubSup>
                                  </m:num>
                                  <m:den>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𝑚</m:t>
                                    </m:r>
                                  </m:den>
                                </m:f>
                              </m:e>
                            </m:d>
                          </m:e>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2</m:t>
                            </m:r>
                          </m:sup>
                        </m:sSup>
                      </m:num>
                      <m:den>
                        <m:f>
                          <m:f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𝑋</m:t>
                                </m:r>
                              </m:sub>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4</m:t>
                                </m:r>
                              </m:sup>
                            </m:sSubSup>
                          </m:num>
                          <m:den>
                            <m:sSup>
                              <m:s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𝑛</m:t>
                                </m:r>
                              </m:e>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2</m:t>
                                </m:r>
                              </m:sup>
                            </m:s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𝑛</m:t>
                            </m:r>
                            <m:r>
                              <a:rPr lang="es-ES" sz="2800" b="0" i="1" kern="1200" smtClean="0">
                                <a:solidFill>
                                  <a:schemeClr val="tx1"/>
                                </a:solidFill>
                                <a:effectLst/>
                                <a:latin typeface="Cambria Math" panose="02040503050406030204" pitchFamily="18" charset="0"/>
                                <a:ea typeface="Cambria Math" panose="02040503050406030204" pitchFamily="18" charset="0"/>
                                <a:cs typeface="+mn-cs"/>
                              </a:rPr>
                              <m:t>−1)</m:t>
                            </m:r>
                          </m:den>
                        </m:f>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fPr>
                          <m:num>
                            <m:sSubSup>
                              <m:sSub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b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𝑠</m:t>
                                </m:r>
                              </m:e>
                              <m:sub>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𝑌</m:t>
                                </m:r>
                              </m:sub>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4</m:t>
                                </m:r>
                              </m:sup>
                            </m:sSubSup>
                          </m:num>
                          <m:den>
                            <m:sSup>
                              <m:sSupPr>
                                <m:ctrlPr>
                                  <a:rPr lang="es-ES" sz="2800" b="0" i="1" kern="1200" smtClean="0">
                                    <a:solidFill>
                                      <a:schemeClr val="tx1"/>
                                    </a:solidFill>
                                    <a:effectLst/>
                                    <a:latin typeface="Cambria Math" panose="02040503050406030204" pitchFamily="18" charset="0"/>
                                    <a:ea typeface="Cambria Math" panose="02040503050406030204" pitchFamily="18" charset="0"/>
                                    <a:cs typeface="+mn-cs"/>
                                  </a:rPr>
                                </m:ctrlPr>
                              </m:sSupPr>
                              <m:e>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𝑚</m:t>
                                </m:r>
                              </m:e>
                              <m: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2</m:t>
                                </m:r>
                              </m:sup>
                            </m:sSup>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r>
                              <a:rPr lang="es-ES" sz="2800" b="0" i="1" kern="1200" smtClean="0">
                                <a:solidFill>
                                  <a:schemeClr val="tx1"/>
                                </a:solidFill>
                                <a:effectLst/>
                                <a:latin typeface="Cambria Math" panose="02040503050406030204" pitchFamily="18" charset="0"/>
                                <a:ea typeface="Cambria Math" panose="02040503050406030204" pitchFamily="18" charset="0"/>
                                <a:cs typeface="+mn-cs"/>
                              </a:rPr>
                              <m:t>𝑚</m:t>
                            </m:r>
                            <m:r>
                              <a:rPr lang="es-ES" sz="2800" b="0" i="1" kern="1200" smtClean="0">
                                <a:solidFill>
                                  <a:schemeClr val="tx1"/>
                                </a:solidFill>
                                <a:effectLst/>
                                <a:latin typeface="Cambria Math" panose="02040503050406030204" pitchFamily="18" charset="0"/>
                                <a:ea typeface="Cambria Math" panose="02040503050406030204" pitchFamily="18" charset="0"/>
                                <a:cs typeface="+mn-cs"/>
                              </a:rPr>
                              <m:t>−1)</m:t>
                            </m:r>
                          </m:den>
                        </m:f>
                      </m:den>
                    </m:f>
                    <m:r>
                      <a:rPr lang="es-ES" sz="2800" b="0" i="1" kern="1200" smtClean="0">
                        <a:solidFill>
                          <a:schemeClr val="tx1"/>
                        </a:solidFill>
                        <a:effectLst/>
                        <a:latin typeface="Cambria Math" panose="02040503050406030204" pitchFamily="18" charset="0"/>
                        <a:ea typeface="Cambria Math" panose="02040503050406030204" pitchFamily="18" charset="0"/>
                        <a:cs typeface="+mn-cs"/>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d>
                              <m:dPr>
                                <m:ctrlPr>
                                  <a:rPr lang="es-ES" i="1">
                                    <a:latin typeface="Cambria Math" panose="02040503050406030204" pitchFamily="18" charset="0"/>
                                    <a:ea typeface="Cambria Math" panose="02040503050406030204" pitchFamily="18" charset="0"/>
                                  </a:rPr>
                                </m:ctrlPr>
                              </m:dPr>
                              <m:e>
                                <m:f>
                                  <m:fPr>
                                    <m:ctrlPr>
                                      <a:rPr lang="es-ES" i="1">
                                        <a:latin typeface="Cambria Math" panose="02040503050406030204" pitchFamily="18" charset="0"/>
                                        <a:ea typeface="Cambria Math" panose="02040503050406030204" pitchFamily="18" charset="0"/>
                                      </a:rPr>
                                    </m:ctrlPr>
                                  </m:fPr>
                                  <m:num>
                                    <m:sSup>
                                      <m:sSupPr>
                                        <m:ctrlPr>
                                          <a:rPr lang="es-ES"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0.6</m:t>
                                        </m:r>
                                      </m:e>
                                      <m:sup>
                                        <m:r>
                                          <a:rPr lang="es-ES" b="0" i="1" smtClean="0">
                                            <a:latin typeface="Cambria Math" panose="02040503050406030204" pitchFamily="18" charset="0"/>
                                            <a:ea typeface="Cambria Math" panose="02040503050406030204" pitchFamily="18" charset="0"/>
                                          </a:rPr>
                                          <m:t>2</m:t>
                                        </m:r>
                                      </m:sup>
                                    </m:sSup>
                                  </m:num>
                                  <m:den>
                                    <m:r>
                                      <a:rPr lang="es-ES" b="0" i="1" smtClean="0">
                                        <a:latin typeface="Cambria Math" panose="02040503050406030204" pitchFamily="18" charset="0"/>
                                        <a:ea typeface="Cambria Math" panose="02040503050406030204" pitchFamily="18" charset="0"/>
                                      </a:rPr>
                                      <m:t>30</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1.2</m:t>
                                        </m:r>
                                      </m:e>
                                      <m:sup>
                                        <m:r>
                                          <a:rPr lang="es-ES" i="1">
                                            <a:latin typeface="Cambria Math" panose="02040503050406030204" pitchFamily="18" charset="0"/>
                                            <a:ea typeface="Cambria Math" panose="02040503050406030204" pitchFamily="18" charset="0"/>
                                          </a:rPr>
                                          <m:t>2</m:t>
                                        </m:r>
                                      </m:sup>
                                    </m:sSup>
                                  </m:num>
                                  <m:den>
                                    <m:r>
                                      <a:rPr lang="es-ES" b="0" i="1" smtClean="0">
                                        <a:latin typeface="Cambria Math" panose="02040503050406030204" pitchFamily="18" charset="0"/>
                                        <a:ea typeface="Cambria Math" panose="02040503050406030204" pitchFamily="18" charset="0"/>
                                      </a:rPr>
                                      <m:t>2</m:t>
                                    </m:r>
                                    <m:r>
                                      <a:rPr lang="es-ES" i="1">
                                        <a:latin typeface="Cambria Math" panose="02040503050406030204" pitchFamily="18" charset="0"/>
                                        <a:ea typeface="Cambria Math" panose="02040503050406030204" pitchFamily="18" charset="0"/>
                                      </a:rPr>
                                      <m:t>0</m:t>
                                    </m:r>
                                  </m:den>
                                </m:f>
                              </m:e>
                            </m:d>
                          </m:e>
                          <m:sup>
                            <m:r>
                              <a:rPr lang="es-ES" i="1">
                                <a:latin typeface="Cambria Math" panose="02040503050406030204" pitchFamily="18" charset="0"/>
                                <a:ea typeface="Cambria Math" panose="02040503050406030204" pitchFamily="18" charset="0"/>
                              </a:rPr>
                              <m:t>2</m:t>
                            </m:r>
                          </m:sup>
                        </m:sSup>
                      </m:num>
                      <m:den>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0.6</m:t>
                                </m:r>
                              </m:e>
                              <m:sup>
                                <m:r>
                                  <a:rPr lang="es-ES" b="0" i="1" smtClean="0">
                                    <a:latin typeface="Cambria Math" panose="02040503050406030204" pitchFamily="18" charset="0"/>
                                    <a:ea typeface="Cambria Math" panose="02040503050406030204" pitchFamily="18" charset="0"/>
                                  </a:rPr>
                                  <m:t>4</m:t>
                                </m:r>
                              </m:sup>
                            </m:sSup>
                          </m:num>
                          <m:den>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30</m:t>
                                </m:r>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30</m:t>
                            </m:r>
                            <m:r>
                              <a:rPr lang="es-ES" i="1">
                                <a:latin typeface="Cambria Math" panose="02040503050406030204" pitchFamily="18" charset="0"/>
                                <a:ea typeface="Cambria Math" panose="02040503050406030204" pitchFamily="18" charset="0"/>
                              </a:rPr>
                              <m:t>−1)</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1.2</m:t>
                                </m:r>
                              </m:e>
                              <m:sup>
                                <m:r>
                                  <a:rPr lang="es-ES" i="1">
                                    <a:latin typeface="Cambria Math" panose="02040503050406030204" pitchFamily="18" charset="0"/>
                                    <a:ea typeface="Cambria Math" panose="02040503050406030204" pitchFamily="18" charset="0"/>
                                  </a:rPr>
                                  <m:t>4</m:t>
                                </m:r>
                              </m:sup>
                            </m:sSup>
                          </m:num>
                          <m:den>
                            <m:sSup>
                              <m:sSupPr>
                                <m:ctrlPr>
                                  <a:rPr lang="es-ES" i="1">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20</m:t>
                                </m:r>
                              </m:e>
                              <m:sup>
                                <m:r>
                                  <a:rPr lang="es-ES" i="1">
                                    <a:latin typeface="Cambria Math" panose="02040503050406030204" pitchFamily="18" charset="0"/>
                                    <a:ea typeface="Cambria Math" panose="02040503050406030204" pitchFamily="18" charset="0"/>
                                  </a:rPr>
                                  <m:t>2</m:t>
                                </m:r>
                              </m:sup>
                            </m:sSup>
                            <m:r>
                              <a:rPr lang="es-ES" i="1">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20</m:t>
                            </m:r>
                            <m:r>
                              <a:rPr lang="es-ES" i="1">
                                <a:latin typeface="Cambria Math" panose="02040503050406030204" pitchFamily="18" charset="0"/>
                                <a:ea typeface="Cambria Math" panose="02040503050406030204" pitchFamily="18" charset="0"/>
                              </a:rPr>
                              <m:t>−1)</m:t>
                            </m:r>
                          </m:den>
                        </m:f>
                      </m:den>
                    </m:f>
                    <m:r>
                      <a:rPr lang="es-ES" b="0" i="1" smtClean="0">
                        <a:latin typeface="Cambria Math" panose="02040503050406030204" pitchFamily="18" charset="0"/>
                        <a:ea typeface="Cambria Math" panose="02040503050406030204" pitchFamily="18" charset="0"/>
                      </a:rPr>
                      <m:t>=25.4≈25</m:t>
                    </m:r>
                  </m:oMath>
                </a14:m>
                <a:endParaRPr lang="es-ES" dirty="0"/>
              </a:p>
              <a:p>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r>
                          <a:rPr lang="es-ES" i="1">
                            <a:latin typeface="Cambria Math" panose="02040503050406030204" pitchFamily="18" charset="0"/>
                            <a:ea typeface="Cambria Math" panose="02040503050406030204" pitchFamily="18" charset="0"/>
                          </a:rPr>
                          <m:t>𝜈</m:t>
                        </m:r>
                      </m:sub>
                    </m:sSub>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𝑐𝑢𝑎𝑛𝑡𝑖𝑙</m:t>
                    </m:r>
                    <m:d>
                      <m:dPr>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1−</m:t>
                        </m:r>
                        <m:f>
                          <m:fPr>
                            <m:ctrlPr>
                              <a:rPr lang="es-ES" i="1">
                                <a:latin typeface="Cambria Math" panose="02040503050406030204" pitchFamily="18" charset="0"/>
                              </a:rPr>
                            </m:ctrlPr>
                          </m:fPr>
                          <m:num>
                            <m:r>
                              <a:rPr lang="el-GR"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e>
                    </m:d>
                    <m:r>
                      <m:rPr>
                        <m:nor/>
                      </m:rPr>
                      <a:rPr lang="es-ES">
                        <a:latin typeface="Cambria Math" panose="02040503050406030204" pitchFamily="18" charset="0"/>
                        <a:ea typeface="Calibri" panose="020F0502020204030204" pitchFamily="34" charset="0"/>
                        <a:cs typeface="Times New Roman" panose="02020603050405020304" pitchFamily="18" charset="0"/>
                      </a:rPr>
                      <m:t>de</m:t>
                    </m:r>
                    <m:r>
                      <m:rPr>
                        <m:nor/>
                      </m:rPr>
                      <a:rPr lang="es-ES">
                        <a:latin typeface="Cambria Math" panose="02040503050406030204" pitchFamily="18" charset="0"/>
                        <a:ea typeface="Calibri" panose="020F0502020204030204" pitchFamily="34" charset="0"/>
                        <a:cs typeface="Times New Roman" panose="02020603050405020304" pitchFamily="18" charset="0"/>
                      </a:rPr>
                      <m:t> </m:t>
                    </m:r>
                    <m:r>
                      <m:rPr>
                        <m:nor/>
                      </m:rPr>
                      <a:rPr lang="es-ES">
                        <a:latin typeface="Cambria Math" panose="02040503050406030204" pitchFamily="18" charset="0"/>
                        <a:ea typeface="Calibri" panose="020F0502020204030204" pitchFamily="34" charset="0"/>
                        <a:cs typeface="Times New Roman" panose="02020603050405020304" pitchFamily="18" charset="0"/>
                      </a:rPr>
                      <m:t>T</m:t>
                    </m:r>
                    <m:r>
                      <m:rPr>
                        <m:nor/>
                      </m:rPr>
                      <a:rPr lang="es-ES">
                        <a:latin typeface="Cambria Math" panose="02040503050406030204" pitchFamily="18" charset="0"/>
                        <a:ea typeface="Calibri" panose="020F0502020204030204" pitchFamily="34" charset="0"/>
                        <a:cs typeface="Times New Roman" panose="02020603050405020304" pitchFamily="18" charset="0"/>
                      </a:rPr>
                      <m:t>: </m:t>
                    </m:r>
                    <m:r>
                      <m:rPr>
                        <m:nor/>
                      </m:rPr>
                      <a:rPr lang="es-ES">
                        <a:latin typeface="Cambria Math" panose="02040503050406030204" pitchFamily="18" charset="0"/>
                        <a:ea typeface="Calibri" panose="020F0502020204030204" pitchFamily="34" charset="0"/>
                        <a:cs typeface="Times New Roman" panose="02020603050405020304" pitchFamily="18" charset="0"/>
                      </a:rPr>
                      <m:t>Student</m:t>
                    </m:r>
                    <m:r>
                      <m:rPr>
                        <m:nor/>
                      </m:rPr>
                      <a:rPr lang="es-ES">
                        <a:latin typeface="Cambria Math" panose="02040503050406030204" pitchFamily="18" charset="0"/>
                        <a:ea typeface="Calibri" panose="020F0502020204030204" pitchFamily="34" charset="0"/>
                        <a:cs typeface="Times New Roman" panose="02020603050405020304" pitchFamily="18" charset="0"/>
                      </a:rPr>
                      <m:t>(</m:t>
                    </m:r>
                    <m:r>
                      <a:rPr lang="es-ES" i="1" smtClean="0">
                        <a:latin typeface="Cambria Math" panose="02040503050406030204" pitchFamily="18" charset="0"/>
                        <a:ea typeface="Cambria Math" panose="02040503050406030204" pitchFamily="18" charset="0"/>
                      </a:rPr>
                      <m:t>𝜈</m:t>
                    </m:r>
                    <m:r>
                      <m:rPr>
                        <m:nor/>
                      </m:rPr>
                      <a:rPr lang="es-ES">
                        <a:latin typeface="Cambria Math" panose="02040503050406030204" pitchFamily="18" charset="0"/>
                        <a:ea typeface="Calibri" panose="020F0502020204030204" pitchFamily="34" charset="0"/>
                        <a:cs typeface="Times New Roman" panose="02020603050405020304" pitchFamily="18" charset="0"/>
                      </a:rPr>
                      <m:t>)</m:t>
                    </m:r>
                    <m:r>
                      <m:rPr>
                        <m:nor/>
                      </m:rPr>
                      <a:rPr lang="es-ES" i="1">
                        <a:latin typeface="Calibri" panose="020F0502020204030204" pitchFamily="34" charset="0"/>
                        <a:ea typeface="Calibri" panose="020F0502020204030204" pitchFamily="34" charset="0"/>
                        <a:cs typeface="Times New Roman" panose="02020603050405020304" pitchFamily="18" charset="0"/>
                      </a:rPr>
                      <m:t> </m:t>
                    </m:r>
                    <m:r>
                      <a:rPr lang="es-ES" i="1">
                        <a:latin typeface="Cambria Math" panose="02040503050406030204" pitchFamily="18" charset="0"/>
                        <a:ea typeface="Calibri" panose="020F0502020204030204" pitchFamily="34" charset="0"/>
                        <a:cs typeface="Times New Roman" panose="02020603050405020304" pitchFamily="18" charset="0"/>
                      </a:rPr>
                      <m:t>→</m:t>
                    </m:r>
                    <m:r>
                      <a:rPr lang="es-ES" i="1">
                        <a:latin typeface="Cambria Math" panose="02040503050406030204" pitchFamily="18" charset="0"/>
                        <a:ea typeface="Calibri" panose="020F0502020204030204" pitchFamily="34" charset="0"/>
                        <a:cs typeface="Times New Roman" panose="020206030504050203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𝑇</m:t>
                        </m:r>
                        <m:r>
                          <a:rPr lang="es-ES" i="1">
                            <a:latin typeface="Cambria Math" panose="02040503050406030204" pitchFamily="18" charset="0"/>
                            <a:ea typeface="Calibri" panose="020F0502020204030204" pitchFamily="34" charset="0"/>
                            <a:cs typeface="Times New Roman" panose="02020603050405020304" pitchFamily="18" charset="0"/>
                          </a:rPr>
                          <m:t>&lt;</m:t>
                        </m:r>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r>
                              <a:rPr lang="es-ES" i="1">
                                <a:latin typeface="Cambria Math" panose="02040503050406030204" pitchFamily="18" charset="0"/>
                              </a:rPr>
                              <m:t>0.025,</m:t>
                            </m:r>
                            <m:r>
                              <a:rPr lang="es-ES" i="1">
                                <a:latin typeface="Cambria Math" panose="02040503050406030204" pitchFamily="18" charset="0"/>
                                <a:ea typeface="Calibri" panose="020F0502020204030204" pitchFamily="34" charset="0"/>
                                <a:cs typeface="Times New Roman" panose="02020603050405020304" pitchFamily="18" charset="0"/>
                              </a:rPr>
                              <m:t>2</m:t>
                            </m:r>
                            <m:r>
                              <a:rPr lang="es-ES" b="0" i="1" smtClean="0">
                                <a:latin typeface="Cambria Math" panose="02040503050406030204" pitchFamily="18" charset="0"/>
                                <a:ea typeface="Calibri" panose="020F0502020204030204" pitchFamily="34" charset="0"/>
                                <a:cs typeface="Times New Roman" panose="02020603050405020304" pitchFamily="18" charset="0"/>
                              </a:rPr>
                              <m:t>5</m:t>
                            </m:r>
                          </m:sub>
                        </m:sSub>
                      </m:e>
                    </m:d>
                    <m:r>
                      <a:rPr lang="es-ES" i="1">
                        <a:latin typeface="Cambria Math" panose="02040503050406030204" pitchFamily="18" charset="0"/>
                        <a:ea typeface="Calibri" panose="020F0502020204030204" pitchFamily="34" charset="0"/>
                        <a:cs typeface="Times New Roman" panose="02020603050405020304" pitchFamily="18" charset="0"/>
                      </a:rPr>
                      <m:t>=1−</m:t>
                    </m:r>
                    <m:f>
                      <m:fPr>
                        <m:ctrlPr>
                          <a:rPr lang="es-ES" i="1">
                            <a:latin typeface="Cambria Math" panose="02040503050406030204" pitchFamily="18" charset="0"/>
                          </a:rPr>
                        </m:ctrlPr>
                      </m:fPr>
                      <m:num>
                        <m:r>
                          <a:rPr lang="es-ES" i="1">
                            <a:latin typeface="Cambria Math" panose="02040503050406030204" pitchFamily="18" charset="0"/>
                            <a:ea typeface="Calibri" panose="020F0502020204030204" pitchFamily="34" charset="0"/>
                            <a:cs typeface="Times New Roman" panose="02020603050405020304" pitchFamily="18" charset="0"/>
                          </a:rPr>
                          <m:t>𝛼</m:t>
                        </m:r>
                      </m:num>
                      <m:den>
                        <m:r>
                          <a:rPr lang="es-ES" i="1">
                            <a:latin typeface="Cambria Math" panose="02040503050406030204" pitchFamily="18" charset="0"/>
                            <a:ea typeface="Calibri" panose="020F0502020204030204" pitchFamily="34" charset="0"/>
                            <a:cs typeface="Times New Roman" panose="02020603050405020304" pitchFamily="18" charset="0"/>
                          </a:rPr>
                          <m:t>2</m:t>
                        </m:r>
                      </m:den>
                    </m:f>
                    <m:r>
                      <a:rPr lang="es-ES" i="1">
                        <a:latin typeface="Cambria Math" panose="02040503050406030204" pitchFamily="18" charset="0"/>
                        <a:ea typeface="Times New Roman" panose="02020603050405020304" pitchFamily="18" charset="0"/>
                        <a:cs typeface="Times New Roman" panose="02020603050405020304" pitchFamily="18" charset="0"/>
                      </a:rPr>
                      <m:t>   →   </m:t>
                    </m:r>
                    <m:r>
                      <a:rPr lang="es-ES" i="1">
                        <a:latin typeface="Cambria Math" panose="02040503050406030204" pitchFamily="18" charset="0"/>
                        <a:ea typeface="Times New Roman" panose="02020603050405020304" pitchFamily="18" charset="0"/>
                        <a:cs typeface="Times New Roman" panose="02020603050405020304" pitchFamily="18" charset="0"/>
                      </a:rPr>
                      <m:t>𝑃</m:t>
                    </m:r>
                    <m:d>
                      <m:dPr>
                        <m:begChr m:val="{"/>
                        <m:endChr m:val="}"/>
                        <m:ctrlPr>
                          <a:rPr lang="es-ES" i="1">
                            <a:latin typeface="Cambria Math" panose="02040503050406030204" pitchFamily="18" charset="0"/>
                          </a:rPr>
                        </m:ctrlPr>
                      </m:dPr>
                      <m:e>
                        <m:r>
                          <a:rPr lang="es-ES" i="1">
                            <a:latin typeface="Cambria Math" panose="02040503050406030204" pitchFamily="18" charset="0"/>
                            <a:ea typeface="Calibri" panose="020F0502020204030204" pitchFamily="34" charset="0"/>
                            <a:cs typeface="Times New Roman" panose="02020603050405020304" pitchFamily="18" charset="0"/>
                          </a:rPr>
                          <m:t>𝑇</m:t>
                        </m:r>
                        <m:r>
                          <a:rPr lang="es-ES" i="1">
                            <a:latin typeface="Cambria Math" panose="02040503050406030204" pitchFamily="18" charset="0"/>
                            <a:ea typeface="Calibri" panose="020F0502020204030204" pitchFamily="34" charset="0"/>
                            <a:cs typeface="Times New Roman" panose="02020603050405020304" pitchFamily="18" charset="0"/>
                          </a:rPr>
                          <m:t>&gt;</m:t>
                        </m:r>
                        <m:sSub>
                          <m:sSubPr>
                            <m:ctrlPr>
                              <a:rPr lang="es-ES" i="1">
                                <a:latin typeface="Cambria Math" panose="02040503050406030204" pitchFamily="18" charset="0"/>
                              </a:rPr>
                            </m:ctrlPr>
                          </m:sSubPr>
                          <m:e>
                            <m:r>
                              <a:rPr lang="es-ES" i="1">
                                <a:latin typeface="Cambria Math" panose="02040503050406030204" pitchFamily="18" charset="0"/>
                                <a:ea typeface="Calibri" panose="020F0502020204030204" pitchFamily="34" charset="0"/>
                                <a:cs typeface="Times New Roman" panose="02020603050405020304" pitchFamily="18" charset="0"/>
                              </a:rPr>
                              <m:t>𝑡</m:t>
                            </m:r>
                          </m:e>
                          <m:sub>
                            <m:r>
                              <a:rPr lang="es-ES" i="1">
                                <a:latin typeface="Cambria Math" panose="02040503050406030204" pitchFamily="18" charset="0"/>
                              </a:rPr>
                              <m:t>0.025,2</m:t>
                            </m:r>
                            <m:r>
                              <a:rPr lang="es-ES" b="0" i="1" smtClean="0">
                                <a:latin typeface="Cambria Math" panose="02040503050406030204" pitchFamily="18" charset="0"/>
                              </a:rPr>
                              <m:t>5</m:t>
                            </m:r>
                          </m:sub>
                        </m:sSub>
                      </m:e>
                    </m:d>
                    <m:r>
                      <a:rPr lang="es-ES" i="1">
                        <a:latin typeface="Cambria Math" panose="02040503050406030204" pitchFamily="18" charset="0"/>
                        <a:ea typeface="Calibri" panose="020F0502020204030204" pitchFamily="34" charset="0"/>
                        <a:cs typeface="Times New Roman" panose="02020603050405020304" pitchFamily="18" charset="0"/>
                      </a:rPr>
                      <m:t>=0.025 </m:t>
                    </m:r>
                  </m:oMath>
                </a14:m>
                <a:r>
                  <a:rPr lang="es-ES" dirty="0"/>
                  <a:t>   Según la tabla A5: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𝑡</m:t>
                        </m:r>
                      </m:e>
                      <m:sub>
                        <m:r>
                          <a:rPr lang="es-ES" b="0" i="1" smtClean="0">
                            <a:latin typeface="Cambria Math" panose="02040503050406030204" pitchFamily="18" charset="0"/>
                            <a:ea typeface="Cambria Math" panose="02040503050406030204" pitchFamily="18" charset="0"/>
                          </a:rPr>
                          <m:t>0.025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25</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2.06</m:t>
                    </m:r>
                  </m:oMath>
                </a14:m>
                <a:endParaRPr lang="es-ES" dirty="0"/>
              </a:p>
              <a:p>
                <a:r>
                  <a:rPr lang="es-ES" dirty="0"/>
                  <a:t>Intervalo de confianza </a:t>
                </a:r>
                <a:r>
                  <a:rPr lang="es-ES" dirty="0">
                    <a:sym typeface="Wingdings" panose="05000000000000000000" pitchFamily="2" charset="2"/>
                  </a:rPr>
                  <a:t> C</a:t>
                </a:r>
                <a:r>
                  <a:rPr lang="es-ES" dirty="0"/>
                  <a:t>omo no contiene el valor 0, la diferencia de medias SÍ es significativa, siendo mayor la de la segunda población</a:t>
                </a: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 </m:t>
                        </m:r>
                        <m:r>
                          <a:rPr lang="es-ES" i="1">
                            <a:latin typeface="Cambria Math" panose="02040503050406030204" pitchFamily="18" charset="0"/>
                            <a:ea typeface="Cambria Math" panose="02040503050406030204" pitchFamily="18" charset="0"/>
                          </a:rPr>
                          <m:t>𝜈</m:t>
                        </m:r>
                      </m:sub>
                    </m:sSub>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bSup>
                              <m:sSubSupPr>
                                <m:ctrlPr>
                                  <a:rPr lang="es-ES"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𝑋</m:t>
                                </m:r>
                              </m:sub>
                              <m:sup>
                                <m:r>
                                  <a:rPr lang="es-ES" i="1">
                                    <a:latin typeface="Cambria Math" panose="02040503050406030204" pitchFamily="18" charset="0"/>
                                  </a:rPr>
                                  <m:t>2</m:t>
                                </m:r>
                              </m:sup>
                            </m:sSubSup>
                          </m:num>
                          <m:den>
                            <m:r>
                              <a:rPr lang="es-ES" i="1">
                                <a:latin typeface="Cambria Math" panose="02040503050406030204" pitchFamily="18" charset="0"/>
                              </a:rPr>
                              <m:t>𝑛</m:t>
                            </m:r>
                          </m:den>
                        </m:f>
                        <m:r>
                          <a:rPr lang="es-ES" i="1">
                            <a:latin typeface="Cambria Math" panose="02040503050406030204" pitchFamily="18" charset="0"/>
                          </a:rPr>
                          <m:t>+</m:t>
                        </m:r>
                        <m:f>
                          <m:fPr>
                            <m:ctrlPr>
                              <a:rPr lang="es-ES" i="1">
                                <a:latin typeface="Cambria Math" panose="02040503050406030204" pitchFamily="18" charset="0"/>
                              </a:rPr>
                            </m:ctrlPr>
                          </m:fPr>
                          <m:num>
                            <m:sSubSup>
                              <m:sSubSupPr>
                                <m:ctrlPr>
                                  <a:rPr lang="es-ES"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𝑌</m:t>
                                </m:r>
                              </m:sub>
                              <m:sup>
                                <m:r>
                                  <a:rPr lang="es-ES" i="1">
                                    <a:latin typeface="Cambria Math" panose="02040503050406030204" pitchFamily="18" charset="0"/>
                                  </a:rPr>
                                  <m:t>2</m:t>
                                </m:r>
                              </m:sup>
                            </m:sSubSup>
                          </m:num>
                          <m:den>
                            <m:r>
                              <a:rPr lang="es-ES" i="1">
                                <a:latin typeface="Cambria Math" panose="02040503050406030204" pitchFamily="18" charset="0"/>
                              </a:rPr>
                              <m:t>𝑚</m:t>
                            </m:r>
                          </m:den>
                        </m:f>
                      </m:e>
                    </m:rad>
                    <m:r>
                      <a:rPr lang="es-ES" b="0" i="1" smtClean="0">
                        <a:latin typeface="Cambria Math" panose="02040503050406030204" pitchFamily="18" charset="0"/>
                      </a:rPr>
                      <m:t>=6.7−7.5−2.06</m:t>
                    </m:r>
                  </m:oMath>
                </a14:m>
                <a:r>
                  <a:rPr lang="es-ES" dirty="0"/>
                  <a:t> </a:t>
                </a:r>
                <a14:m>
                  <m:oMath xmlns:m="http://schemas.openxmlformats.org/officeDocument/2006/math">
                    <m:rad>
                      <m:radPr>
                        <m:degHide m:val="on"/>
                        <m:ctrlPr>
                          <a:rPr lang="es-ES" i="1">
                            <a:latin typeface="Cambria Math" panose="02040503050406030204" pitchFamily="18" charset="0"/>
                          </a:rPr>
                        </m:ctrlPr>
                      </m:radPr>
                      <m:deg/>
                      <m:e>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0.6</m:t>
                                </m:r>
                              </m:e>
                              <m:sup>
                                <m:r>
                                  <a:rPr lang="es-ES" i="1">
                                    <a:latin typeface="Cambria Math" panose="02040503050406030204" pitchFamily="18" charset="0"/>
                                    <a:ea typeface="Cambria Math" panose="02040503050406030204" pitchFamily="18" charset="0"/>
                                  </a:rPr>
                                  <m:t>2</m:t>
                                </m:r>
                              </m:sup>
                            </m:sSup>
                          </m:num>
                          <m:den>
                            <m:r>
                              <a:rPr lang="es-ES" i="1">
                                <a:latin typeface="Cambria Math" panose="02040503050406030204" pitchFamily="18" charset="0"/>
                                <a:ea typeface="Cambria Math" panose="02040503050406030204" pitchFamily="18" charset="0"/>
                              </a:rPr>
                              <m:t>30</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1.2</m:t>
                                </m:r>
                              </m:e>
                              <m:sup>
                                <m:r>
                                  <a:rPr lang="es-ES" i="1">
                                    <a:latin typeface="Cambria Math" panose="02040503050406030204" pitchFamily="18" charset="0"/>
                                    <a:ea typeface="Cambria Math" panose="02040503050406030204" pitchFamily="18" charset="0"/>
                                  </a:rPr>
                                  <m:t>2</m:t>
                                </m:r>
                              </m:sup>
                            </m:sSup>
                          </m:num>
                          <m:den>
                            <m:r>
                              <a:rPr lang="es-ES" i="1">
                                <a:latin typeface="Cambria Math" panose="02040503050406030204" pitchFamily="18" charset="0"/>
                                <a:ea typeface="Cambria Math" panose="02040503050406030204" pitchFamily="18" charset="0"/>
                              </a:rPr>
                              <m:t>20</m:t>
                            </m:r>
                          </m:den>
                        </m:f>
                      </m:e>
                    </m:rad>
                    <m:r>
                      <a:rPr lang="es-ES" b="0" i="1" smtClean="0">
                        <a:latin typeface="Cambria Math" panose="02040503050406030204" pitchFamily="18" charset="0"/>
                      </a:rPr>
                      <m:t>=−1.4 </m:t>
                    </m:r>
                    <m:r>
                      <m:rPr>
                        <m:nor/>
                      </m:rPr>
                      <a:rPr lang="es-ES" b="0" i="0" smtClean="0">
                        <a:latin typeface="Cambria Math" panose="02040503050406030204" pitchFamily="18" charset="0"/>
                      </a:rPr>
                      <m:t>min</m:t>
                    </m:r>
                  </m:oMath>
                </a14:m>
                <a:endParaRPr lang="es-ES" i="1" dirty="0">
                  <a:latin typeface="Cambria Math" panose="02040503050406030204" pitchFamily="18" charset="0"/>
                </a:endParaRPr>
              </a:p>
              <a:p>
                <a:pPr lvl="1"/>
                <a14:m>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rPr>
                          <m:t>𝐿</m:t>
                        </m:r>
                      </m:e>
                      <m:sub>
                        <m:r>
                          <a:rPr lang="es-ES" b="0" i="1" smtClean="0">
                            <a:latin typeface="Cambria Math" panose="02040503050406030204" pitchFamily="18" charset="0"/>
                          </a:rPr>
                          <m:t>𝑠</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𝑋</m:t>
                        </m:r>
                      </m:e>
                    </m:acc>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𝑌</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r>
                          <a:rPr lang="es-ES" i="1">
                            <a:latin typeface="Cambria Math" panose="02040503050406030204" pitchFamily="18" charset="0"/>
                          </a:rPr>
                          <m:t>, </m:t>
                        </m:r>
                        <m:r>
                          <a:rPr lang="es-ES" i="1">
                            <a:latin typeface="Cambria Math" panose="02040503050406030204" pitchFamily="18" charset="0"/>
                            <a:ea typeface="Cambria Math" panose="02040503050406030204" pitchFamily="18" charset="0"/>
                          </a:rPr>
                          <m:t>𝜈</m:t>
                        </m:r>
                      </m:sub>
                    </m:sSub>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sSubSup>
                              <m:sSubSupPr>
                                <m:ctrlPr>
                                  <a:rPr lang="es-ES"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𝑋</m:t>
                                </m:r>
                              </m:sub>
                              <m:sup>
                                <m:r>
                                  <a:rPr lang="es-ES" i="1">
                                    <a:latin typeface="Cambria Math" panose="02040503050406030204" pitchFamily="18" charset="0"/>
                                  </a:rPr>
                                  <m:t>2</m:t>
                                </m:r>
                              </m:sup>
                            </m:sSubSup>
                          </m:num>
                          <m:den>
                            <m:r>
                              <a:rPr lang="es-ES" i="1">
                                <a:latin typeface="Cambria Math" panose="02040503050406030204" pitchFamily="18" charset="0"/>
                              </a:rPr>
                              <m:t>𝑛</m:t>
                            </m:r>
                          </m:den>
                        </m:f>
                        <m:r>
                          <a:rPr lang="es-ES" i="1">
                            <a:latin typeface="Cambria Math" panose="02040503050406030204" pitchFamily="18" charset="0"/>
                          </a:rPr>
                          <m:t>+</m:t>
                        </m:r>
                        <m:f>
                          <m:fPr>
                            <m:ctrlPr>
                              <a:rPr lang="es-ES" i="1">
                                <a:latin typeface="Cambria Math" panose="02040503050406030204" pitchFamily="18" charset="0"/>
                              </a:rPr>
                            </m:ctrlPr>
                          </m:fPr>
                          <m:num>
                            <m:sSubSup>
                              <m:sSubSupPr>
                                <m:ctrlPr>
                                  <a:rPr lang="es-ES" i="1">
                                    <a:latin typeface="Cambria Math" panose="02040503050406030204" pitchFamily="18" charset="0"/>
                                  </a:rPr>
                                </m:ctrlPr>
                              </m:sSubSupPr>
                              <m:e>
                                <m:r>
                                  <a:rPr lang="es-ES" i="1">
                                    <a:latin typeface="Cambria Math" panose="02040503050406030204" pitchFamily="18" charset="0"/>
                                  </a:rPr>
                                  <m:t>𝑠</m:t>
                                </m:r>
                              </m:e>
                              <m:sub>
                                <m:r>
                                  <a:rPr lang="es-ES" i="1">
                                    <a:latin typeface="Cambria Math" panose="02040503050406030204" pitchFamily="18" charset="0"/>
                                  </a:rPr>
                                  <m:t>𝑌</m:t>
                                </m:r>
                              </m:sub>
                              <m:sup>
                                <m:r>
                                  <a:rPr lang="es-ES" i="1">
                                    <a:latin typeface="Cambria Math" panose="02040503050406030204" pitchFamily="18" charset="0"/>
                                  </a:rPr>
                                  <m:t>2</m:t>
                                </m:r>
                              </m:sup>
                            </m:sSubSup>
                          </m:num>
                          <m:den>
                            <m:r>
                              <a:rPr lang="es-ES" i="1">
                                <a:latin typeface="Cambria Math" panose="02040503050406030204" pitchFamily="18" charset="0"/>
                              </a:rPr>
                              <m:t>𝑚</m:t>
                            </m:r>
                          </m:den>
                        </m:f>
                      </m:e>
                    </m:rad>
                    <m:r>
                      <a:rPr lang="es-ES" b="0" i="1" smtClean="0">
                        <a:latin typeface="Cambria Math" panose="02040503050406030204" pitchFamily="18" charset="0"/>
                      </a:rPr>
                      <m:t>=6.7−7.5+2.06</m:t>
                    </m:r>
                  </m:oMath>
                </a14:m>
                <a:r>
                  <a:rPr lang="es-ES" dirty="0"/>
                  <a:t> </a:t>
                </a:r>
                <a14:m>
                  <m:oMath xmlns:m="http://schemas.openxmlformats.org/officeDocument/2006/math">
                    <m:rad>
                      <m:radPr>
                        <m:degHide m:val="on"/>
                        <m:ctrlPr>
                          <a:rPr lang="es-ES" i="1">
                            <a:latin typeface="Cambria Math" panose="02040503050406030204" pitchFamily="18" charset="0"/>
                          </a:rPr>
                        </m:ctrlPr>
                      </m:radPr>
                      <m:deg/>
                      <m:e>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0.6</m:t>
                                </m:r>
                              </m:e>
                              <m:sup>
                                <m:r>
                                  <a:rPr lang="es-ES" i="1">
                                    <a:latin typeface="Cambria Math" panose="02040503050406030204" pitchFamily="18" charset="0"/>
                                    <a:ea typeface="Cambria Math" panose="02040503050406030204" pitchFamily="18" charset="0"/>
                                  </a:rPr>
                                  <m:t>2</m:t>
                                </m:r>
                              </m:sup>
                            </m:sSup>
                          </m:num>
                          <m:den>
                            <m:r>
                              <a:rPr lang="es-ES" i="1">
                                <a:latin typeface="Cambria Math" panose="02040503050406030204" pitchFamily="18" charset="0"/>
                                <a:ea typeface="Cambria Math" panose="02040503050406030204" pitchFamily="18" charset="0"/>
                              </a:rPr>
                              <m:t>30</m:t>
                            </m:r>
                          </m:den>
                        </m:f>
                        <m:r>
                          <a:rPr lang="es-ES" i="1">
                            <a:latin typeface="Cambria Math" panose="02040503050406030204" pitchFamily="18" charset="0"/>
                            <a:ea typeface="Cambria Math" panose="02040503050406030204" pitchFamily="18" charset="0"/>
                          </a:rPr>
                          <m:t>+</m:t>
                        </m:r>
                        <m:f>
                          <m:fPr>
                            <m:ctrlPr>
                              <a:rPr lang="es-ES" i="1">
                                <a:latin typeface="Cambria Math" panose="02040503050406030204" pitchFamily="18" charset="0"/>
                                <a:ea typeface="Cambria Math" panose="02040503050406030204" pitchFamily="18" charset="0"/>
                              </a:rPr>
                            </m:ctrlPr>
                          </m:fPr>
                          <m:num>
                            <m:sSup>
                              <m:sSupPr>
                                <m:ctrlPr>
                                  <a:rPr lang="es-ES" i="1">
                                    <a:latin typeface="Cambria Math" panose="02040503050406030204" pitchFamily="18" charset="0"/>
                                    <a:ea typeface="Cambria Math" panose="02040503050406030204" pitchFamily="18" charset="0"/>
                                  </a:rPr>
                                </m:ctrlPr>
                              </m:sSupPr>
                              <m:e>
                                <m:r>
                                  <a:rPr lang="es-ES" i="1">
                                    <a:latin typeface="Cambria Math" panose="02040503050406030204" pitchFamily="18" charset="0"/>
                                    <a:ea typeface="Cambria Math" panose="02040503050406030204" pitchFamily="18" charset="0"/>
                                  </a:rPr>
                                  <m:t>1.2</m:t>
                                </m:r>
                              </m:e>
                              <m:sup>
                                <m:r>
                                  <a:rPr lang="es-ES" i="1">
                                    <a:latin typeface="Cambria Math" panose="02040503050406030204" pitchFamily="18" charset="0"/>
                                    <a:ea typeface="Cambria Math" panose="02040503050406030204" pitchFamily="18" charset="0"/>
                                  </a:rPr>
                                  <m:t>2</m:t>
                                </m:r>
                              </m:sup>
                            </m:sSup>
                          </m:num>
                          <m:den>
                            <m:r>
                              <a:rPr lang="es-ES" i="1">
                                <a:latin typeface="Cambria Math" panose="02040503050406030204" pitchFamily="18" charset="0"/>
                                <a:ea typeface="Cambria Math" panose="02040503050406030204" pitchFamily="18" charset="0"/>
                              </a:rPr>
                              <m:t>20</m:t>
                            </m:r>
                          </m:den>
                        </m:f>
                      </m:e>
                    </m:rad>
                    <m:r>
                      <a:rPr lang="es-ES" b="0" i="1" smtClean="0">
                        <a:latin typeface="Cambria Math" panose="02040503050406030204" pitchFamily="18" charset="0"/>
                      </a:rPr>
                      <m:t>=−0.24 </m:t>
                    </m:r>
                    <m:r>
                      <m:rPr>
                        <m:nor/>
                      </m:rPr>
                      <a:rPr lang="es-ES" b="0" i="0" smtClean="0">
                        <a:latin typeface="Cambria Math" panose="02040503050406030204" pitchFamily="18" charset="0"/>
                      </a:rPr>
                      <m:t>min</m:t>
                    </m:r>
                  </m:oMath>
                </a14:m>
                <a:endParaRPr lang="es-ES" i="1" dirty="0">
                  <a:latin typeface="Cambria Math" panose="02040503050406030204" pitchFamily="18" charset="0"/>
                </a:endParaRPr>
              </a:p>
              <a:p>
                <a:pPr lvl="1"/>
                <a:endParaRPr lang="es-ES" i="1" dirty="0">
                  <a:latin typeface="Cambria Math" panose="02040503050406030204" pitchFamily="18" charset="0"/>
                </a:endParaRPr>
              </a:p>
              <a:p>
                <a:pPr lvl="1"/>
                <a:endParaRPr lang="es-ES" dirty="0"/>
              </a:p>
              <a:p>
                <a:pPr lvl="1"/>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4079C3BD-0AF9-5F98-48BA-17CA272E22D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58" t="-1090"/>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63</a:t>
            </a:fld>
            <a:endParaRPr lang="es-ES" dirty="0"/>
          </a:p>
        </p:txBody>
      </p:sp>
      <p:pic>
        <p:nvPicPr>
          <p:cNvPr id="5" name="Imagen 4">
            <a:extLst>
              <a:ext uri="{FF2B5EF4-FFF2-40B4-BE49-F238E27FC236}">
                <a16:creationId xmlns:a16="http://schemas.microsoft.com/office/drawing/2014/main" id="{59D3EC12-F943-76EF-26BB-3E96606CF59E}"/>
              </a:ext>
            </a:extLst>
          </p:cNvPr>
          <p:cNvPicPr>
            <a:picLocks noChangeAspect="1"/>
          </p:cNvPicPr>
          <p:nvPr/>
        </p:nvPicPr>
        <p:blipFill>
          <a:blip r:embed="rId3"/>
          <a:stretch>
            <a:fillRect/>
          </a:stretch>
        </p:blipFill>
        <p:spPr>
          <a:xfrm>
            <a:off x="7114477" y="3308957"/>
            <a:ext cx="4566324" cy="1251891"/>
          </a:xfrm>
          <a:prstGeom prst="rect">
            <a:avLst/>
          </a:prstGeom>
        </p:spPr>
      </p:pic>
      <p:pic>
        <p:nvPicPr>
          <p:cNvPr id="6" name="Imagen 5">
            <a:extLst>
              <a:ext uri="{FF2B5EF4-FFF2-40B4-BE49-F238E27FC236}">
                <a16:creationId xmlns:a16="http://schemas.microsoft.com/office/drawing/2014/main" id="{9E2C9A2D-EA78-7022-CF9A-32DDEDEDD77C}"/>
              </a:ext>
            </a:extLst>
          </p:cNvPr>
          <p:cNvPicPr>
            <a:picLocks noChangeAspect="1"/>
          </p:cNvPicPr>
          <p:nvPr/>
        </p:nvPicPr>
        <p:blipFill>
          <a:blip r:embed="rId4"/>
          <a:stretch>
            <a:fillRect/>
          </a:stretch>
        </p:blipFill>
        <p:spPr>
          <a:xfrm>
            <a:off x="6816243" y="2185639"/>
            <a:ext cx="4937143" cy="1043204"/>
          </a:xfrm>
          <a:prstGeom prst="rect">
            <a:avLst/>
          </a:prstGeom>
        </p:spPr>
      </p:pic>
      <p:sp>
        <p:nvSpPr>
          <p:cNvPr id="7" name="Elipse 6">
            <a:extLst>
              <a:ext uri="{FF2B5EF4-FFF2-40B4-BE49-F238E27FC236}">
                <a16:creationId xmlns:a16="http://schemas.microsoft.com/office/drawing/2014/main" id="{142D0A2B-DB7C-B4CD-328B-7DB928BA2BFC}"/>
              </a:ext>
            </a:extLst>
          </p:cNvPr>
          <p:cNvSpPr/>
          <p:nvPr/>
        </p:nvSpPr>
        <p:spPr>
          <a:xfrm>
            <a:off x="8853393" y="3332423"/>
            <a:ext cx="435573" cy="302198"/>
          </a:xfrm>
          <a:prstGeom prst="ellipse">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esquinas redondeadas 7">
            <a:extLst>
              <a:ext uri="{FF2B5EF4-FFF2-40B4-BE49-F238E27FC236}">
                <a16:creationId xmlns:a16="http://schemas.microsoft.com/office/drawing/2014/main" id="{01C85986-0962-ED44-A591-2444886157C3}"/>
              </a:ext>
            </a:extLst>
          </p:cNvPr>
          <p:cNvSpPr/>
          <p:nvPr/>
        </p:nvSpPr>
        <p:spPr>
          <a:xfrm flipV="1">
            <a:off x="8787157" y="2775462"/>
            <a:ext cx="490658" cy="302383"/>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esquinas redondeadas 8">
            <a:extLst>
              <a:ext uri="{FF2B5EF4-FFF2-40B4-BE49-F238E27FC236}">
                <a16:creationId xmlns:a16="http://schemas.microsoft.com/office/drawing/2014/main" id="{82F23B29-6301-CAC1-39F6-859D7C0C1127}"/>
              </a:ext>
            </a:extLst>
          </p:cNvPr>
          <p:cNvSpPr/>
          <p:nvPr/>
        </p:nvSpPr>
        <p:spPr>
          <a:xfrm>
            <a:off x="7181385" y="3356718"/>
            <a:ext cx="255809" cy="262500"/>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7866835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5782CD-5344-821C-3D70-7BB1ED138B8C}"/>
              </a:ext>
            </a:extLst>
          </p:cNvPr>
          <p:cNvSpPr>
            <a:spLocks noGrp="1"/>
          </p:cNvSpPr>
          <p:nvPr>
            <p:ph type="title"/>
          </p:nvPr>
        </p:nvSpPr>
        <p:spPr/>
        <p:txBody>
          <a:bodyPr>
            <a:normAutofit fontScale="90000"/>
          </a:bodyPr>
          <a:lstStyle/>
          <a:p>
            <a:r>
              <a:rPr lang="es-ES" dirty="0"/>
              <a:t>10. Intervalo de confianza para la diferencia de las medias de dos poblaciones. Muestras pareadas (1)</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4780039-C802-97B8-9475-3652D93DF7D0}"/>
                  </a:ext>
                </a:extLst>
              </p:cNvPr>
              <p:cNvSpPr>
                <a:spLocks noGrp="1"/>
              </p:cNvSpPr>
              <p:nvPr>
                <p:ph idx="1"/>
              </p:nvPr>
            </p:nvSpPr>
            <p:spPr/>
            <p:txBody>
              <a:bodyPr>
                <a:normAutofit fontScale="85000" lnSpcReduction="20000"/>
              </a:bodyPr>
              <a:lstStyle/>
              <a:p>
                <a:r>
                  <a:rPr lang="es-ES" dirty="0"/>
                  <a:t>Si las muestras no son independientes, se dice que son dependientes o pareadas</a:t>
                </a:r>
              </a:p>
              <a:p>
                <a:r>
                  <a:rPr lang="es-ES" dirty="0"/>
                  <a:t>En las dos muestras se tienen los valores de una propiedad de la población para los mismos elementos de la población, en dos situaciones diferentes</a:t>
                </a:r>
              </a:p>
              <a:p>
                <a:r>
                  <a:rPr lang="es-ES" dirty="0"/>
                  <a:t>Ejemplo</a:t>
                </a:r>
              </a:p>
              <a:p>
                <a:pPr lvl="1"/>
                <a:r>
                  <a:rPr lang="es-ES" dirty="0"/>
                  <a:t>Una muestra puede ser el peso de unas personas antes de una dieta, y la otra muestra el peso de las mismas personas antes de la dieta</a:t>
                </a:r>
              </a:p>
              <a:p>
                <a:r>
                  <a:rPr lang="es-ES" dirty="0"/>
                  <a:t>En este caso se restan uno a uno los valores de las dos muestras correspondientes al mismo elemento, y se aplican las fórmulas del intervalo de confianza para la media de una población sobre la variable aleatoria (D) que se crea como diferencia entre los valores de las dos muestras</a:t>
                </a:r>
              </a:p>
              <a:p>
                <a:pPr lvl="1"/>
                <a14:m>
                  <m:oMath xmlns:m="http://schemas.openxmlformats.org/officeDocument/2006/math">
                    <m:r>
                      <a:rPr lang="es-ES" b="0" i="1" smtClean="0">
                        <a:latin typeface="Cambria Math" panose="02040503050406030204" pitchFamily="18" charset="0"/>
                      </a:rPr>
                      <m:t>𝑋</m:t>
                    </m:r>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𝑋</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2</m:t>
                            </m:r>
                          </m:sub>
                        </m:sSub>
                        <m:r>
                          <a:rPr lang="es-ES" b="0" i="1" smtClean="0">
                            <a:latin typeface="Cambria Math" panose="02040503050406030204" pitchFamily="18" charset="0"/>
                          </a:rPr>
                          <m:t>, …,</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𝑛</m:t>
                            </m:r>
                          </m:sub>
                        </m:sSub>
                      </m:e>
                    </m:d>
                  </m:oMath>
                </a14:m>
                <a:endParaRPr lang="es-ES" dirty="0"/>
              </a:p>
              <a:p>
                <a:pPr lvl="1"/>
                <a14:m>
                  <m:oMath xmlns:m="http://schemas.openxmlformats.org/officeDocument/2006/math">
                    <m:r>
                      <a:rPr lang="es-ES" b="0" i="1" smtClean="0">
                        <a:latin typeface="Cambria Math" panose="02040503050406030204" pitchFamily="18" charset="0"/>
                      </a:rPr>
                      <m:t>𝑌</m:t>
                    </m:r>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𝑌</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𝑌</m:t>
                            </m:r>
                          </m:e>
                          <m:sub>
                            <m:r>
                              <a:rPr lang="es-ES" i="1">
                                <a:latin typeface="Cambria Math" panose="02040503050406030204" pitchFamily="18" charset="0"/>
                              </a:rPr>
                              <m:t>2</m:t>
                            </m:r>
                          </m:sub>
                        </m:sSub>
                        <m:r>
                          <a:rPr lang="es-ES" b="0" i="1" smtClean="0">
                            <a:latin typeface="Cambria Math" panose="02040503050406030204" pitchFamily="18" charset="0"/>
                          </a:rPr>
                          <m:t>, …,</m:t>
                        </m:r>
                        <m:sSub>
                          <m:sSubPr>
                            <m:ctrlPr>
                              <a:rPr lang="es-ES" i="1">
                                <a:latin typeface="Cambria Math" panose="02040503050406030204" pitchFamily="18" charset="0"/>
                              </a:rPr>
                            </m:ctrlPr>
                          </m:sSubPr>
                          <m:e>
                            <m:r>
                              <a:rPr lang="es-ES" b="0" i="1" smtClean="0">
                                <a:latin typeface="Cambria Math" panose="02040503050406030204" pitchFamily="18" charset="0"/>
                              </a:rPr>
                              <m:t>𝑌</m:t>
                            </m:r>
                          </m:e>
                          <m:sub>
                            <m:r>
                              <a:rPr lang="es-ES" b="0" i="1" smtClean="0">
                                <a:latin typeface="Cambria Math" panose="02040503050406030204" pitchFamily="18" charset="0"/>
                              </a:rPr>
                              <m:t>𝑛</m:t>
                            </m:r>
                          </m:sub>
                        </m:sSub>
                      </m:e>
                    </m:d>
                  </m:oMath>
                </a14:m>
                <a:endParaRPr lang="es-ES" dirty="0"/>
              </a:p>
              <a:p>
                <a:pPr lvl="1"/>
                <a14:m>
                  <m:oMath xmlns:m="http://schemas.openxmlformats.org/officeDocument/2006/math">
                    <m:r>
                      <a:rPr lang="es-ES" b="0" i="1" smtClean="0">
                        <a:latin typeface="Cambria Math" panose="02040503050406030204" pitchFamily="18" charset="0"/>
                      </a:rPr>
                      <m:t>𝐷</m:t>
                    </m:r>
                    <m:r>
                      <a:rPr lang="es-ES" b="0" i="1" smtClean="0">
                        <a:latin typeface="Cambria Math" panose="02040503050406030204" pitchFamily="18" charset="0"/>
                      </a:rPr>
                      <m:t>=</m:t>
                    </m:r>
                    <m:d>
                      <m:dPr>
                        <m:begChr m:val="{"/>
                        <m:endChr m:val="}"/>
                        <m:ctrlPr>
                          <a:rPr lang="es-ES" b="0" i="1" smtClean="0">
                            <a:latin typeface="Cambria Math" panose="02040503050406030204" pitchFamily="18" charset="0"/>
                          </a:rPr>
                        </m:ctrlPr>
                      </m:dPr>
                      <m:e>
                        <m:sSub>
                          <m:sSubPr>
                            <m:ctrlPr>
                              <a:rPr lang="es-ES" b="0" i="1" smtClean="0">
                                <a:latin typeface="Cambria Math" panose="02040503050406030204" pitchFamily="18" charset="0"/>
                              </a:rPr>
                            </m:ctrlPr>
                          </m:sSubPr>
                          <m:e>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i="1">
                                    <a:latin typeface="Cambria Math" panose="02040503050406030204" pitchFamily="18" charset="0"/>
                                  </a:rPr>
                                  <m:t>1</m:t>
                                </m:r>
                              </m:sub>
                            </m:sSub>
                            <m:r>
                              <a:rPr lang="es-ES" b="0" i="1" smtClean="0">
                                <a:latin typeface="Cambria Math" panose="02040503050406030204" pitchFamily="18" charset="0"/>
                              </a:rPr>
                              <m:t>−</m:t>
                            </m:r>
                            <m:r>
                              <a:rPr lang="es-ES" b="0" i="1" smtClean="0">
                                <a:latin typeface="Cambria Math" panose="02040503050406030204" pitchFamily="18" charset="0"/>
                              </a:rPr>
                              <m:t>𝑌</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2</m:t>
                                </m:r>
                              </m:sub>
                            </m:sSub>
                            <m:r>
                              <a:rPr lang="es-ES" i="1">
                                <a:latin typeface="Cambria Math" panose="02040503050406030204" pitchFamily="18" charset="0"/>
                              </a:rPr>
                              <m:t>−</m:t>
                            </m:r>
                            <m:r>
                              <a:rPr lang="es-ES" i="1">
                                <a:latin typeface="Cambria Math" panose="02040503050406030204" pitchFamily="18" charset="0"/>
                              </a:rPr>
                              <m:t>𝑌</m:t>
                            </m:r>
                          </m:e>
                          <m:sub>
                            <m:r>
                              <a:rPr lang="es-ES" b="0" i="1" smtClean="0">
                                <a:latin typeface="Cambria Math" panose="02040503050406030204" pitchFamily="18" charset="0"/>
                              </a:rPr>
                              <m:t>2</m:t>
                            </m:r>
                          </m:sub>
                        </m:sSub>
                        <m:r>
                          <a:rPr lang="es-ES" i="1">
                            <a:latin typeface="Cambria Math" panose="02040503050406030204" pitchFamily="18" charset="0"/>
                          </a:rPr>
                          <m:t>),</m:t>
                        </m:r>
                        <m:r>
                          <a:rPr lang="es-ES" b="0" i="1" smtClean="0">
                            <a:latin typeface="Cambria Math" panose="02040503050406030204" pitchFamily="18" charset="0"/>
                          </a:rPr>
                          <m:t> …,</m:t>
                        </m:r>
                        <m:sSub>
                          <m:sSubPr>
                            <m:ctrlPr>
                              <a:rPr lang="es-ES" i="1">
                                <a:latin typeface="Cambria Math" panose="02040503050406030204" pitchFamily="18" charset="0"/>
                              </a:rPr>
                            </m:ctrlPr>
                          </m:sSubPr>
                          <m:e>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𝑋</m:t>
                                </m:r>
                              </m:e>
                              <m:sub>
                                <m:r>
                                  <a:rPr lang="es-ES" b="0" i="1" smtClean="0">
                                    <a:latin typeface="Cambria Math" panose="02040503050406030204" pitchFamily="18" charset="0"/>
                                  </a:rPr>
                                  <m:t>𝑛</m:t>
                                </m:r>
                              </m:sub>
                            </m:sSub>
                            <m:r>
                              <a:rPr lang="es-ES" i="1">
                                <a:latin typeface="Cambria Math" panose="02040503050406030204" pitchFamily="18" charset="0"/>
                              </a:rPr>
                              <m:t>−</m:t>
                            </m:r>
                            <m:r>
                              <a:rPr lang="es-ES" i="1">
                                <a:latin typeface="Cambria Math" panose="02040503050406030204" pitchFamily="18" charset="0"/>
                              </a:rPr>
                              <m:t>𝑌</m:t>
                            </m:r>
                          </m:e>
                          <m:sub>
                            <m:r>
                              <a:rPr lang="es-ES" b="0" i="1" smtClean="0">
                                <a:latin typeface="Cambria Math" panose="02040503050406030204" pitchFamily="18" charset="0"/>
                              </a:rPr>
                              <m:t>𝑛</m:t>
                            </m:r>
                          </m:sub>
                        </m:sSub>
                        <m:r>
                          <a:rPr lang="es-ES" i="1">
                            <a:latin typeface="Cambria Math" panose="02040503050406030204" pitchFamily="18" charset="0"/>
                          </a:rPr>
                          <m:t>)</m:t>
                        </m:r>
                      </m:e>
                    </m:d>
                  </m:oMath>
                </a14:m>
                <a:endParaRPr lang="es-ES" dirty="0"/>
              </a:p>
              <a:p>
                <a:pPr lvl="1"/>
                <a:endParaRPr lang="es-ES" dirty="0"/>
              </a:p>
              <a:p>
                <a:pPr lvl="1"/>
                <a:endParaRPr lang="es-ES" dirty="0"/>
              </a:p>
              <a:p>
                <a:pPr lvl="1"/>
                <a:endParaRPr lang="es-ES" dirty="0"/>
              </a:p>
            </p:txBody>
          </p:sp>
        </mc:Choice>
        <mc:Fallback xmlns="">
          <p:sp>
            <p:nvSpPr>
              <p:cNvPr id="3" name="Marcador de contenido 2">
                <a:extLst>
                  <a:ext uri="{FF2B5EF4-FFF2-40B4-BE49-F238E27FC236}">
                    <a16:creationId xmlns:a16="http://schemas.microsoft.com/office/drawing/2014/main" id="{A4780039-C802-97B8-9475-3652D93DF7D0}"/>
                  </a:ext>
                </a:extLst>
              </p:cNvPr>
              <p:cNvSpPr>
                <a:spLocks noGrp="1" noRot="1" noChangeAspect="1" noMove="1" noResize="1" noEditPoints="1" noAdjustHandles="1" noChangeArrowheads="1" noChangeShapeType="1" noTextEdit="1"/>
              </p:cNvSpPr>
              <p:nvPr>
                <p:ph idx="1"/>
              </p:nvPr>
            </p:nvSpPr>
            <p:spPr>
              <a:blipFill>
                <a:blip r:embed="rId2"/>
                <a:stretch>
                  <a:fillRect l="-812" t="-322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58E00750-25A7-9E31-B7D6-271A75587ACA}"/>
              </a:ext>
            </a:extLst>
          </p:cNvPr>
          <p:cNvSpPr>
            <a:spLocks noGrp="1"/>
          </p:cNvSpPr>
          <p:nvPr>
            <p:ph type="sldNum" sz="quarter" idx="12"/>
          </p:nvPr>
        </p:nvSpPr>
        <p:spPr/>
        <p:txBody>
          <a:bodyPr/>
          <a:lstStyle/>
          <a:p>
            <a:fld id="{336CAFD0-1F6E-4E11-9822-836563A02839}" type="slidenum">
              <a:rPr lang="es-ES" smtClean="0"/>
              <a:pPr/>
              <a:t>64</a:t>
            </a:fld>
            <a:endParaRPr lang="es-ES" dirty="0"/>
          </a:p>
        </p:txBody>
      </p:sp>
    </p:spTree>
    <p:extLst>
      <p:ext uri="{BB962C8B-B14F-4D97-AF65-F5344CB8AC3E}">
        <p14:creationId xmlns:p14="http://schemas.microsoft.com/office/powerpoint/2010/main" val="37170199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7CE99-314E-E488-6849-91EB1AE31190}"/>
              </a:ext>
            </a:extLst>
          </p:cNvPr>
          <p:cNvSpPr>
            <a:spLocks noGrp="1"/>
          </p:cNvSpPr>
          <p:nvPr>
            <p:ph type="title"/>
          </p:nvPr>
        </p:nvSpPr>
        <p:spPr/>
        <p:txBody>
          <a:bodyPr>
            <a:normAutofit fontScale="90000"/>
          </a:bodyPr>
          <a:lstStyle/>
          <a:p>
            <a:r>
              <a:rPr lang="es-ES" dirty="0"/>
              <a:t>10. Intervalo de confianza para la diferencia de las medias de dos poblaciones. Muestras pareadas (2)</a:t>
            </a: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3659541371"/>
                  </p:ext>
                </p:extLst>
              </p:nvPr>
            </p:nvGraphicFramePr>
            <p:xfrm>
              <a:off x="1955800" y="2219960"/>
              <a:ext cx="8102597" cy="3455924"/>
            </p:xfrm>
            <a:graphic>
              <a:graphicData uri="http://schemas.openxmlformats.org/drawingml/2006/table">
                <a:tbl>
                  <a:tblPr firstRow="1" bandRow="1">
                    <a:tableStyleId>{5940675A-B579-460E-94D1-54222C63F5DA}</a:tableStyleId>
                  </a:tblPr>
                  <a:tblGrid>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210312">
                    <a:tc>
                      <a:txBody>
                        <a:bodyPr/>
                        <a:lstStyle/>
                        <a:p>
                          <a:pPr algn="ctr"/>
                          <a:r>
                            <a:rPr lang="es-ES" b="1" dirty="0"/>
                            <a:t>Tamaño de las muestras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dirty="0"/>
                            <a:t>Grande</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𝐷</m:t>
                                        </m:r>
                                      </m:sub>
                                    </m:sSub>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𝐷</m:t>
                                        </m:r>
                                      </m:sub>
                                    </m:sSub>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txBody>
                      <a:tcPr anchor="ctr"/>
                    </a:tc>
                    <a:extLst>
                      <a:ext uri="{0D108BD9-81ED-4DB2-BD59-A6C34878D82A}">
                        <a16:rowId xmlns:a16="http://schemas.microsoft.com/office/drawing/2014/main" val="176150309"/>
                      </a:ext>
                    </a:extLst>
                  </a:tr>
                  <a:tr h="370840">
                    <a:tc>
                      <a:txBody>
                        <a:bodyPr/>
                        <a:lstStyle/>
                        <a:p>
                          <a:pPr algn="ctr"/>
                          <a:r>
                            <a:rPr lang="es-ES" dirty="0"/>
                            <a:t>Pequeña con distribución Normal</a:t>
                          </a:r>
                        </a:p>
                      </a:txBody>
                      <a:tcPr anchor="ctr"/>
                    </a:tc>
                    <a:tc>
                      <a:txBody>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𝑖</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𝐷</m:t>
                                        </m:r>
                                      </m:sub>
                                    </m:sSub>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p>
                          <a:endParaRPr lang="es-ES" dirty="0"/>
                        </a:p>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𝑠</m:t>
                                    </m:r>
                                  </m:sub>
                                </m:sSub>
                                <m:r>
                                  <a:rPr lang="es-ES" b="0" i="1" smtClean="0">
                                    <a:latin typeface="Cambria Math" panose="02040503050406030204" pitchFamily="18" charset="0"/>
                                  </a:rPr>
                                  <m:t>=</m:t>
                                </m:r>
                                <m:acc>
                                  <m:accPr>
                                    <m:chr m:val="̅"/>
                                    <m:ctrlPr>
                                      <a:rPr lang="es-ES" b="0" i="1" smtClean="0">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f>
                                  <m:fPr>
                                    <m:ctrlPr>
                                      <a:rPr lang="es-ES" b="0" i="1" smtClean="0">
                                        <a:latin typeface="Cambria Math" panose="02040503050406030204" pitchFamily="18" charset="0"/>
                                      </a:rPr>
                                    </m:ctrlPr>
                                  </m:fPr>
                                  <m:num>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𝐷</m:t>
                                        </m:r>
                                      </m:sub>
                                    </m:sSub>
                                  </m:num>
                                  <m:den>
                                    <m:rad>
                                      <m:radPr>
                                        <m:degHide m:val="on"/>
                                        <m:ctrlPr>
                                          <a:rPr lang="es-ES" b="0" i="1" smtClean="0">
                                            <a:latin typeface="Cambria Math" panose="02040503050406030204" pitchFamily="18" charset="0"/>
                                          </a:rPr>
                                        </m:ctrlPr>
                                      </m:radPr>
                                      <m:deg/>
                                      <m:e>
                                        <m:r>
                                          <a:rPr lang="es-ES" b="0" i="1" smtClean="0">
                                            <a:latin typeface="Cambria Math" panose="02040503050406030204" pitchFamily="18" charset="0"/>
                                          </a:rPr>
                                          <m:t>𝑛</m:t>
                                        </m:r>
                                      </m:e>
                                    </m:rad>
                                  </m:den>
                                </m:f>
                              </m:oMath>
                            </m:oMathPara>
                          </a14:m>
                          <a:endParaRPr lang="es-ES" dirty="0"/>
                        </a:p>
                      </a:txBody>
                      <a:tcPr anchor="ctr"/>
                    </a:tc>
                    <a:extLst>
                      <a:ext uri="{0D108BD9-81ED-4DB2-BD59-A6C34878D82A}">
                        <a16:rowId xmlns:a16="http://schemas.microsoft.com/office/drawing/2014/main" val="2866538668"/>
                      </a:ext>
                    </a:extLst>
                  </a:tr>
                </a:tbl>
              </a:graphicData>
            </a:graphic>
          </p:graphicFrame>
        </mc:Choice>
        <mc:Fallback xmlns="">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3659541371"/>
                  </p:ext>
                </p:extLst>
              </p:nvPr>
            </p:nvGraphicFramePr>
            <p:xfrm>
              <a:off x="1955800" y="2219960"/>
              <a:ext cx="8102597" cy="3455924"/>
            </p:xfrm>
            <a:graphic>
              <a:graphicData uri="http://schemas.openxmlformats.org/drawingml/2006/table">
                <a:tbl>
                  <a:tblPr firstRow="1" bandRow="1">
                    <a:tableStyleId>{5940675A-B579-460E-94D1-54222C63F5DA}</a:tableStyleId>
                  </a:tblPr>
                  <a:tblGrid>
                    <a:gridCol w="1706880">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640080">
                    <a:tc>
                      <a:txBody>
                        <a:bodyPr/>
                        <a:lstStyle/>
                        <a:p>
                          <a:pPr algn="ctr"/>
                          <a:r>
                            <a:rPr lang="es-ES" b="1" dirty="0"/>
                            <a:t>Tamaño de las muestras (n)</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1407922">
                    <a:tc>
                      <a:txBody>
                        <a:bodyPr/>
                        <a:lstStyle/>
                        <a:p>
                          <a:pPr algn="ctr"/>
                          <a:r>
                            <a:rPr lang="es-ES" dirty="0"/>
                            <a:t>Grande</a:t>
                          </a:r>
                        </a:p>
                      </a:txBody>
                      <a:tcPr anchor="ctr"/>
                    </a:tc>
                    <a:tc>
                      <a:txBody>
                        <a:bodyPr/>
                        <a:lstStyle/>
                        <a:p>
                          <a:endParaRPr lang="es-ES"/>
                        </a:p>
                      </a:txBody>
                      <a:tcPr anchor="ctr">
                        <a:blipFill>
                          <a:blip r:embed="rId2"/>
                          <a:stretch>
                            <a:fillRect l="-26762" t="-47414" r="-286" b="-100431"/>
                          </a:stretch>
                        </a:blipFill>
                      </a:tcPr>
                    </a:tc>
                    <a:extLst>
                      <a:ext uri="{0D108BD9-81ED-4DB2-BD59-A6C34878D82A}">
                        <a16:rowId xmlns:a16="http://schemas.microsoft.com/office/drawing/2014/main" val="176150309"/>
                      </a:ext>
                    </a:extLst>
                  </a:tr>
                  <a:tr h="1407922">
                    <a:tc>
                      <a:txBody>
                        <a:bodyPr/>
                        <a:lstStyle/>
                        <a:p>
                          <a:pPr algn="ctr"/>
                          <a:r>
                            <a:rPr lang="es-ES" dirty="0"/>
                            <a:t>Pequeña con distribución Normal</a:t>
                          </a:r>
                        </a:p>
                      </a:txBody>
                      <a:tcPr anchor="ctr"/>
                    </a:tc>
                    <a:tc>
                      <a:txBody>
                        <a:bodyPr/>
                        <a:lstStyle/>
                        <a:p>
                          <a:endParaRPr lang="es-ES"/>
                        </a:p>
                      </a:txBody>
                      <a:tcPr anchor="ctr">
                        <a:blipFill>
                          <a:blip r:embed="rId2"/>
                          <a:stretch>
                            <a:fillRect l="-26762" t="-148052" r="-286" b="-866"/>
                          </a:stretch>
                        </a:blipFill>
                      </a:tcPr>
                    </a:tc>
                    <a:extLst>
                      <a:ext uri="{0D108BD9-81ED-4DB2-BD59-A6C34878D82A}">
                        <a16:rowId xmlns:a16="http://schemas.microsoft.com/office/drawing/2014/main" val="2866538668"/>
                      </a:ext>
                    </a:extLst>
                  </a:tr>
                </a:tbl>
              </a:graphicData>
            </a:graphic>
          </p:graphicFrame>
        </mc:Fallback>
      </mc:AlternateContent>
      <p:sp>
        <p:nvSpPr>
          <p:cNvPr id="4" name="Marcador de número de diapositiva 3">
            <a:extLst>
              <a:ext uri="{FF2B5EF4-FFF2-40B4-BE49-F238E27FC236}">
                <a16:creationId xmlns:a16="http://schemas.microsoft.com/office/drawing/2014/main" id="{631FCE57-DC4F-5256-4E73-1E8DB5867327}"/>
              </a:ext>
            </a:extLst>
          </p:cNvPr>
          <p:cNvSpPr>
            <a:spLocks noGrp="1"/>
          </p:cNvSpPr>
          <p:nvPr>
            <p:ph type="sldNum" sz="quarter" idx="12"/>
          </p:nvPr>
        </p:nvSpPr>
        <p:spPr/>
        <p:txBody>
          <a:bodyPr/>
          <a:lstStyle/>
          <a:p>
            <a:fld id="{336CAFD0-1F6E-4E11-9822-836563A02839}" type="slidenum">
              <a:rPr lang="es-ES" smtClean="0"/>
              <a:pPr/>
              <a:t>65</a:t>
            </a:fld>
            <a:endParaRPr lang="es-ES" dirty="0"/>
          </a:p>
        </p:txBody>
      </p:sp>
    </p:spTree>
    <p:extLst>
      <p:ext uri="{BB962C8B-B14F-4D97-AF65-F5344CB8AC3E}">
        <p14:creationId xmlns:p14="http://schemas.microsoft.com/office/powerpoint/2010/main" val="4749106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C49AE3-CF00-A0DF-6E19-9301D85A8CC0}"/>
              </a:ext>
            </a:extLst>
          </p:cNvPr>
          <p:cNvSpPr>
            <a:spLocks noGrp="1"/>
          </p:cNvSpPr>
          <p:nvPr>
            <p:ph type="title"/>
          </p:nvPr>
        </p:nvSpPr>
        <p:spPr/>
        <p:txBody>
          <a:bodyPr>
            <a:normAutofit fontScale="90000"/>
          </a:bodyPr>
          <a:lstStyle/>
          <a:p>
            <a:r>
              <a:rPr lang="es-ES" sz="3600" dirty="0"/>
              <a:t>10. Intervalo de confianza para la diferencia de las medias de dos poblaciones. Muestras pareadas. Ejemplo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83312CD-6DF4-FAA7-5540-E2C2790BFB8E}"/>
                  </a:ext>
                </a:extLst>
              </p:cNvPr>
              <p:cNvSpPr>
                <a:spLocks noGrp="1"/>
              </p:cNvSpPr>
              <p:nvPr>
                <p:ph idx="1"/>
              </p:nvPr>
            </p:nvSpPr>
            <p:spPr/>
            <p:txBody>
              <a:bodyPr/>
              <a:lstStyle/>
              <a:p>
                <a:r>
                  <a:rPr lang="es-ES" dirty="0"/>
                  <a:t>Ocho personas realizan una dieta, los pesos antes y después de la dieta son las siguientes muestras, en el mismo orden de personas en cada una</a:t>
                </a:r>
              </a:p>
              <a:p>
                <a:pPr lvl="1"/>
                <a14:m>
                  <m:oMath xmlns:m="http://schemas.openxmlformats.org/officeDocument/2006/math">
                    <m:r>
                      <a:rPr lang="es-ES" b="0" i="1" smtClean="0">
                        <a:latin typeface="Cambria Math" panose="02040503050406030204" pitchFamily="18" charset="0"/>
                      </a:rPr>
                      <m:t>𝑥</m:t>
                    </m:r>
                    <m:r>
                      <a:rPr lang="es-ES" i="1">
                        <a:latin typeface="Cambria Math" panose="02040503050406030204" pitchFamily="18" charset="0"/>
                      </a:rPr>
                      <m:t>=</m:t>
                    </m:r>
                    <m:r>
                      <a:rPr lang="es-ES" b="0" i="1" smtClean="0">
                        <a:latin typeface="Cambria Math" panose="02040503050406030204" pitchFamily="18" charset="0"/>
                      </a:rPr>
                      <m:t>(</m:t>
                    </m:r>
                    <m:r>
                      <a:rPr lang="es-ES" i="1">
                        <a:latin typeface="Cambria Math" panose="02040503050406030204" pitchFamily="18" charset="0"/>
                      </a:rPr>
                      <m:t>65.4</m:t>
                    </m:r>
                    <m:r>
                      <a:rPr lang="es-ES" b="0" i="1" smtClean="0">
                        <a:latin typeface="Cambria Math" panose="02040503050406030204" pitchFamily="18" charset="0"/>
                      </a:rPr>
                      <m:t>,</m:t>
                    </m:r>
                    <m:r>
                      <a:rPr lang="es-ES" i="1">
                        <a:latin typeface="Cambria Math" panose="02040503050406030204" pitchFamily="18" charset="0"/>
                      </a:rPr>
                      <m:t> 68.0</m:t>
                    </m:r>
                    <m:r>
                      <a:rPr lang="es-ES" b="0" i="1" smtClean="0">
                        <a:latin typeface="Cambria Math" panose="02040503050406030204" pitchFamily="18" charset="0"/>
                      </a:rPr>
                      <m:t>,</m:t>
                    </m:r>
                    <m:r>
                      <a:rPr lang="es-ES" i="1">
                        <a:latin typeface="Cambria Math" panose="02040503050406030204" pitchFamily="18" charset="0"/>
                      </a:rPr>
                      <m:t> 68.5</m:t>
                    </m:r>
                    <m:r>
                      <a:rPr lang="es-ES" b="0" i="1" smtClean="0">
                        <a:latin typeface="Cambria Math" panose="02040503050406030204" pitchFamily="18" charset="0"/>
                      </a:rPr>
                      <m:t>,</m:t>
                    </m:r>
                    <m:r>
                      <a:rPr lang="es-ES" i="1">
                        <a:latin typeface="Cambria Math" panose="02040503050406030204" pitchFamily="18" charset="0"/>
                      </a:rPr>
                      <m:t> 68.6</m:t>
                    </m:r>
                    <m:r>
                      <a:rPr lang="es-ES" b="0" i="1" smtClean="0">
                        <a:latin typeface="Cambria Math" panose="02040503050406030204" pitchFamily="18" charset="0"/>
                      </a:rPr>
                      <m:t>,</m:t>
                    </m:r>
                    <m:r>
                      <a:rPr lang="es-ES" i="1">
                        <a:latin typeface="Cambria Math" panose="02040503050406030204" pitchFamily="18" charset="0"/>
                      </a:rPr>
                      <m:t> 69.0</m:t>
                    </m:r>
                    <m:r>
                      <a:rPr lang="es-ES" b="0" i="1" smtClean="0">
                        <a:latin typeface="Cambria Math" panose="02040503050406030204" pitchFamily="18" charset="0"/>
                      </a:rPr>
                      <m:t>,</m:t>
                    </m:r>
                    <m:r>
                      <a:rPr lang="es-ES" i="1">
                        <a:latin typeface="Cambria Math" panose="02040503050406030204" pitchFamily="18" charset="0"/>
                      </a:rPr>
                      <m:t> 69.1</m:t>
                    </m:r>
                    <m:r>
                      <a:rPr lang="es-ES" b="0" i="1" smtClean="0">
                        <a:latin typeface="Cambria Math" panose="02040503050406030204" pitchFamily="18" charset="0"/>
                      </a:rPr>
                      <m:t>,</m:t>
                    </m:r>
                    <m:r>
                      <a:rPr lang="es-ES" i="1">
                        <a:latin typeface="Cambria Math" panose="02040503050406030204" pitchFamily="18" charset="0"/>
                      </a:rPr>
                      <m:t> 71.0</m:t>
                    </m:r>
                    <m:r>
                      <a:rPr lang="es-ES" b="0" i="1" smtClean="0">
                        <a:latin typeface="Cambria Math" panose="02040503050406030204" pitchFamily="18" charset="0"/>
                      </a:rPr>
                      <m:t>,</m:t>
                    </m:r>
                    <m:r>
                      <a:rPr lang="es-ES" i="1">
                        <a:latin typeface="Cambria Math" panose="02040503050406030204" pitchFamily="18" charset="0"/>
                      </a:rPr>
                      <m:t> 71.5</m:t>
                    </m:r>
                    <m:r>
                      <a:rPr lang="es-ES" b="0" i="1" smtClean="0">
                        <a:latin typeface="Cambria Math" panose="02040503050406030204" pitchFamily="18" charset="0"/>
                      </a:rPr>
                      <m:t>)</m:t>
                    </m:r>
                  </m:oMath>
                </a14:m>
                <a:endParaRPr lang="es-ES" dirty="0"/>
              </a:p>
              <a:p>
                <a:pPr lvl="1"/>
                <a14:m>
                  <m:oMath xmlns:m="http://schemas.openxmlformats.org/officeDocument/2006/math">
                    <m:r>
                      <a:rPr lang="es-ES" b="0" i="1" smtClean="0">
                        <a:latin typeface="Cambria Math" panose="02040503050406030204" pitchFamily="18" charset="0"/>
                      </a:rPr>
                      <m:t>𝑦</m:t>
                    </m:r>
                    <m:r>
                      <a:rPr lang="es-ES" i="1">
                        <a:latin typeface="Cambria Math" panose="02040503050406030204" pitchFamily="18" charset="0"/>
                      </a:rPr>
                      <m:t>=</m:t>
                    </m:r>
                    <m:r>
                      <a:rPr lang="es-ES" b="0" i="1" smtClean="0">
                        <a:latin typeface="Cambria Math" panose="02040503050406030204" pitchFamily="18" charset="0"/>
                      </a:rPr>
                      <m:t>(</m:t>
                    </m:r>
                    <m:r>
                      <a:rPr lang="es-ES" i="1">
                        <a:latin typeface="Cambria Math" panose="02040503050406030204" pitchFamily="18" charset="0"/>
                      </a:rPr>
                      <m:t>65.0</m:t>
                    </m:r>
                    <m:r>
                      <a:rPr lang="es-ES" b="0" i="1" smtClean="0">
                        <a:latin typeface="Cambria Math" panose="02040503050406030204" pitchFamily="18" charset="0"/>
                      </a:rPr>
                      <m:t>,</m:t>
                    </m:r>
                    <m:r>
                      <a:rPr lang="es-ES" i="1">
                        <a:latin typeface="Cambria Math" panose="02040503050406030204" pitchFamily="18" charset="0"/>
                      </a:rPr>
                      <m:t> 65.4</m:t>
                    </m:r>
                    <m:r>
                      <a:rPr lang="es-ES" b="0" i="1" smtClean="0">
                        <a:latin typeface="Cambria Math" panose="02040503050406030204" pitchFamily="18" charset="0"/>
                      </a:rPr>
                      <m:t>,</m:t>
                    </m:r>
                    <m:r>
                      <a:rPr lang="es-ES" i="1">
                        <a:latin typeface="Cambria Math" panose="02040503050406030204" pitchFamily="18" charset="0"/>
                      </a:rPr>
                      <m:t> 66.2</m:t>
                    </m:r>
                    <m:r>
                      <a:rPr lang="es-ES" b="0" i="1" smtClean="0">
                        <a:latin typeface="Cambria Math" panose="02040503050406030204" pitchFamily="18" charset="0"/>
                      </a:rPr>
                      <m:t>,</m:t>
                    </m:r>
                    <m:r>
                      <a:rPr lang="es-ES" i="1">
                        <a:latin typeface="Cambria Math" panose="02040503050406030204" pitchFamily="18" charset="0"/>
                      </a:rPr>
                      <m:t> 66.7</m:t>
                    </m:r>
                    <m:r>
                      <a:rPr lang="es-ES" b="0" i="1" smtClean="0">
                        <a:latin typeface="Cambria Math" panose="02040503050406030204" pitchFamily="18" charset="0"/>
                      </a:rPr>
                      <m:t>,</m:t>
                    </m:r>
                    <m:r>
                      <a:rPr lang="es-ES" i="1">
                        <a:latin typeface="Cambria Math" panose="02040503050406030204" pitchFamily="18" charset="0"/>
                      </a:rPr>
                      <m:t> 68.1</m:t>
                    </m:r>
                    <m:r>
                      <a:rPr lang="es-ES" b="0" i="1" smtClean="0">
                        <a:latin typeface="Cambria Math" panose="02040503050406030204" pitchFamily="18" charset="0"/>
                      </a:rPr>
                      <m:t>,</m:t>
                    </m:r>
                    <m:r>
                      <a:rPr lang="es-ES" i="1">
                        <a:latin typeface="Cambria Math" panose="02040503050406030204" pitchFamily="18" charset="0"/>
                      </a:rPr>
                      <m:t> 70.3</m:t>
                    </m:r>
                    <m:r>
                      <a:rPr lang="es-ES" b="0" i="1" smtClean="0">
                        <a:latin typeface="Cambria Math" panose="02040503050406030204" pitchFamily="18" charset="0"/>
                      </a:rPr>
                      <m:t>,</m:t>
                    </m:r>
                    <m:r>
                      <a:rPr lang="es-ES" i="1">
                        <a:latin typeface="Cambria Math" panose="02040503050406030204" pitchFamily="18" charset="0"/>
                      </a:rPr>
                      <m:t> 72.8</m:t>
                    </m:r>
                    <m:r>
                      <a:rPr lang="es-ES" b="0" i="1" smtClean="0">
                        <a:latin typeface="Cambria Math" panose="02040503050406030204" pitchFamily="18" charset="0"/>
                      </a:rPr>
                      <m:t>,</m:t>
                    </m:r>
                    <m:r>
                      <a:rPr lang="es-ES" i="1">
                        <a:latin typeface="Cambria Math" panose="02040503050406030204" pitchFamily="18" charset="0"/>
                      </a:rPr>
                      <m:t> 75.4</m:t>
                    </m:r>
                    <m:r>
                      <a:rPr lang="es-ES" b="0" i="1" smtClean="0">
                        <a:latin typeface="Cambria Math" panose="02040503050406030204" pitchFamily="18" charset="0"/>
                      </a:rPr>
                      <m:t>)</m:t>
                    </m:r>
                  </m:oMath>
                </a14:m>
                <a:endParaRPr lang="es-ES" dirty="0"/>
              </a:p>
              <a:p>
                <a:r>
                  <a:rPr lang="es-ES" dirty="0"/>
                  <a:t>Construir un intervalo de confianza, con un nivel de confianza del 95%</a:t>
                </a:r>
              </a:p>
            </p:txBody>
          </p:sp>
        </mc:Choice>
        <mc:Fallback xmlns="">
          <p:sp>
            <p:nvSpPr>
              <p:cNvPr id="3" name="Marcador de contenido 2">
                <a:extLst>
                  <a:ext uri="{FF2B5EF4-FFF2-40B4-BE49-F238E27FC236}">
                    <a16:creationId xmlns:a16="http://schemas.microsoft.com/office/drawing/2014/main" id="{483312CD-6DF4-FAA7-5540-E2C2790BFB8E}"/>
                  </a:ext>
                </a:extLst>
              </p:cNvPr>
              <p:cNvSpPr>
                <a:spLocks noGrp="1" noRot="1" noChangeAspect="1" noMove="1" noResize="1" noEditPoints="1" noAdjustHandles="1" noChangeArrowheads="1" noChangeShapeType="1" noTextEdit="1"/>
              </p:cNvSpPr>
              <p:nvPr>
                <p:ph idx="1"/>
              </p:nvPr>
            </p:nvSpPr>
            <p:spPr>
              <a:blipFill>
                <a:blip r:embed="rId2"/>
                <a:stretch>
                  <a:fillRect l="-1043" t="-2241" r="-754"/>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59182ECA-7D49-7AF5-628B-1E4C2B4C0206}"/>
              </a:ext>
            </a:extLst>
          </p:cNvPr>
          <p:cNvSpPr>
            <a:spLocks noGrp="1"/>
          </p:cNvSpPr>
          <p:nvPr>
            <p:ph type="sldNum" sz="quarter" idx="12"/>
          </p:nvPr>
        </p:nvSpPr>
        <p:spPr/>
        <p:txBody>
          <a:bodyPr/>
          <a:lstStyle/>
          <a:p>
            <a:fld id="{336CAFD0-1F6E-4E11-9822-836563A02839}" type="slidenum">
              <a:rPr lang="es-ES" smtClean="0"/>
              <a:pPr/>
              <a:t>66</a:t>
            </a:fld>
            <a:endParaRPr lang="es-ES" dirty="0"/>
          </a:p>
        </p:txBody>
      </p:sp>
    </p:spTree>
    <p:extLst>
      <p:ext uri="{BB962C8B-B14F-4D97-AF65-F5344CB8AC3E}">
        <p14:creationId xmlns:p14="http://schemas.microsoft.com/office/powerpoint/2010/main" val="22009560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CB3B5E-D643-3E1B-3E9F-B533FC0540F3}"/>
              </a:ext>
            </a:extLst>
          </p:cNvPr>
          <p:cNvSpPr>
            <a:spLocks noGrp="1"/>
          </p:cNvSpPr>
          <p:nvPr>
            <p:ph type="title"/>
          </p:nvPr>
        </p:nvSpPr>
        <p:spPr/>
        <p:txBody>
          <a:bodyPr>
            <a:normAutofit fontScale="90000"/>
          </a:bodyPr>
          <a:lstStyle/>
          <a:p>
            <a:r>
              <a:rPr lang="es-ES" sz="3600" dirty="0"/>
              <a:t>10. Intervalo de confianza para la diferencia de las medias de dos poblaciones. Muestras pareadas. Ejemplo (Solución)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079C3BD-0AF9-5F98-48BA-17CA272E22DC}"/>
                  </a:ext>
                </a:extLst>
              </p:cNvPr>
              <p:cNvSpPr>
                <a:spLocks noGrp="1"/>
              </p:cNvSpPr>
              <p:nvPr>
                <p:ph idx="1"/>
              </p:nvPr>
            </p:nvSpPr>
            <p:spPr>
              <a:xfrm>
                <a:off x="838200" y="1825624"/>
                <a:ext cx="10515600" cy="5032375"/>
              </a:xfrm>
            </p:spPr>
            <p:txBody>
              <a:bodyPr>
                <a:normAutofit fontScale="70000" lnSpcReduction="20000"/>
              </a:bodyPr>
              <a:lstStyle/>
              <a:p>
                <a:r>
                  <a:rPr lang="es-ES" dirty="0"/>
                  <a:t>Es un caso de muestras pareadas pequeñas, pero con distribución Normal</a:t>
                </a:r>
              </a:p>
              <a:p>
                <a:r>
                  <a:rPr lang="es-ES" dirty="0"/>
                  <a:t>X = peso de una persona antes de una dieta </a:t>
                </a:r>
              </a:p>
              <a:p>
                <a:r>
                  <a:rPr lang="es-ES" dirty="0"/>
                  <a:t>Y = peso de una persona después de la dieta</a:t>
                </a:r>
              </a:p>
              <a:p>
                <a14:m>
                  <m:oMath xmlns:m="http://schemas.openxmlformats.org/officeDocument/2006/math">
                    <m:r>
                      <a:rPr lang="es-ES" b="0" i="1" smtClean="0">
                        <a:latin typeface="Cambria Math" panose="02040503050406030204" pitchFamily="18" charset="0"/>
                      </a:rPr>
                      <m:t>𝑑</m:t>
                    </m:r>
                    <m:r>
                      <a:rPr lang="es-ES" i="1">
                        <a:latin typeface="Cambria Math" panose="02040503050406030204" pitchFamily="18" charset="0"/>
                      </a:rPr>
                      <m:t>=</m:t>
                    </m:r>
                    <m:d>
                      <m:dPr>
                        <m:begChr m:val="{"/>
                        <m:endChr m:val="}"/>
                        <m:ctrlPr>
                          <a:rPr lang="es-ES" i="1">
                            <a:latin typeface="Cambria Math" panose="02040503050406030204" pitchFamily="18" charset="0"/>
                          </a:rPr>
                        </m:ctrlPr>
                      </m:dPr>
                      <m:e>
                        <m:r>
                          <a:rPr lang="es-ES" b="0" i="1" smtClean="0">
                            <a:latin typeface="Cambria Math" panose="02040503050406030204" pitchFamily="18" charset="0"/>
                          </a:rPr>
                          <m:t>(65.4−65.0</m:t>
                        </m:r>
                        <m:r>
                          <a:rPr lang="es-ES" i="1">
                            <a:latin typeface="Cambria Math" panose="02040503050406030204" pitchFamily="18" charset="0"/>
                          </a:rPr>
                          <m:t>),</m:t>
                        </m:r>
                        <m:r>
                          <a:rPr lang="es-ES" b="0" i="1" smtClean="0">
                            <a:latin typeface="Cambria Math" panose="02040503050406030204" pitchFamily="18" charset="0"/>
                          </a:rPr>
                          <m:t>(68.0−65.4</m:t>
                        </m:r>
                        <m:r>
                          <a:rPr lang="es-ES" i="1">
                            <a:latin typeface="Cambria Math" panose="02040503050406030204" pitchFamily="18" charset="0"/>
                          </a:rPr>
                          <m:t>), …,</m:t>
                        </m:r>
                        <m:r>
                          <a:rPr lang="es-ES" b="0" i="1" smtClean="0">
                            <a:latin typeface="Cambria Math" panose="02040503050406030204" pitchFamily="18" charset="0"/>
                          </a:rPr>
                          <m:t>(71.5−75.4</m:t>
                        </m:r>
                        <m:r>
                          <a:rPr lang="es-ES" i="1">
                            <a:latin typeface="Cambria Math" panose="02040503050406030204" pitchFamily="18" charset="0"/>
                          </a:rPr>
                          <m:t>)</m:t>
                        </m:r>
                      </m:e>
                    </m:d>
                    <m:r>
                      <a:rPr lang="es-ES" i="1">
                        <a:latin typeface="Cambria Math" panose="02040503050406030204" pitchFamily="18" charset="0"/>
                      </a:rPr>
                      <m:t>={0.4</m:t>
                    </m:r>
                    <m:r>
                      <a:rPr lang="es-ES" b="0" i="1" smtClean="0">
                        <a:latin typeface="Cambria Math" panose="02040503050406030204" pitchFamily="18" charset="0"/>
                      </a:rPr>
                      <m:t>,</m:t>
                    </m:r>
                    <m:r>
                      <a:rPr lang="es-ES" i="1">
                        <a:latin typeface="Cambria Math" panose="02040503050406030204" pitchFamily="18" charset="0"/>
                      </a:rPr>
                      <m:t>  2.6</m:t>
                    </m:r>
                    <m:r>
                      <a:rPr lang="es-ES" b="0" i="1" smtClean="0">
                        <a:latin typeface="Cambria Math" panose="02040503050406030204" pitchFamily="18" charset="0"/>
                      </a:rPr>
                      <m:t>,</m:t>
                    </m:r>
                    <m:r>
                      <a:rPr lang="es-ES" i="1">
                        <a:latin typeface="Cambria Math" panose="02040503050406030204" pitchFamily="18" charset="0"/>
                      </a:rPr>
                      <m:t>  2.3</m:t>
                    </m:r>
                    <m:r>
                      <a:rPr lang="es-ES" b="0" i="1" smtClean="0">
                        <a:latin typeface="Cambria Math" panose="02040503050406030204" pitchFamily="18" charset="0"/>
                      </a:rPr>
                      <m:t>,</m:t>
                    </m:r>
                    <m:r>
                      <a:rPr lang="es-ES" i="1">
                        <a:latin typeface="Cambria Math" panose="02040503050406030204" pitchFamily="18" charset="0"/>
                      </a:rPr>
                      <m:t>  1.9</m:t>
                    </m:r>
                    <m:r>
                      <a:rPr lang="es-ES" b="0" i="1" smtClean="0">
                        <a:latin typeface="Cambria Math" panose="02040503050406030204" pitchFamily="18" charset="0"/>
                      </a:rPr>
                      <m:t>,</m:t>
                    </m:r>
                    <m:r>
                      <a:rPr lang="es-ES" i="1">
                        <a:latin typeface="Cambria Math" panose="02040503050406030204" pitchFamily="18" charset="0"/>
                      </a:rPr>
                      <m:t>  0.9</m:t>
                    </m:r>
                    <m:r>
                      <a:rPr lang="es-ES" b="0" i="1" smtClean="0">
                        <a:latin typeface="Cambria Math" panose="02040503050406030204" pitchFamily="18" charset="0"/>
                      </a:rPr>
                      <m:t>,</m:t>
                    </m:r>
                    <m:r>
                      <a:rPr lang="es-ES" i="1">
                        <a:latin typeface="Cambria Math" panose="02040503050406030204" pitchFamily="18" charset="0"/>
                      </a:rPr>
                      <m:t> −1.2</m:t>
                    </m:r>
                    <m:r>
                      <a:rPr lang="es-ES" b="0" i="1" smtClean="0">
                        <a:latin typeface="Cambria Math" panose="02040503050406030204" pitchFamily="18" charset="0"/>
                      </a:rPr>
                      <m:t>,</m:t>
                    </m:r>
                    <m:r>
                      <a:rPr lang="es-ES" i="1">
                        <a:latin typeface="Cambria Math" panose="02040503050406030204" pitchFamily="18" charset="0"/>
                      </a:rPr>
                      <m:t> −1.8</m:t>
                    </m:r>
                    <m:r>
                      <a:rPr lang="es-ES" b="0" i="1" smtClean="0">
                        <a:latin typeface="Cambria Math" panose="02040503050406030204" pitchFamily="18" charset="0"/>
                      </a:rPr>
                      <m:t>,</m:t>
                    </m:r>
                    <m:r>
                      <a:rPr lang="es-ES" i="1">
                        <a:latin typeface="Cambria Math" panose="02040503050406030204" pitchFamily="18" charset="0"/>
                      </a:rPr>
                      <m:t> −3.9}</m:t>
                    </m:r>
                  </m:oMath>
                </a14:m>
                <a:endParaRPr lang="es-ES" dirty="0"/>
              </a:p>
              <a:p>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𝑠</m:t>
                        </m:r>
                      </m:e>
                      <m:sub>
                        <m:r>
                          <a:rPr lang="es-ES" b="0" i="1" smtClean="0">
                            <a:latin typeface="Cambria Math" panose="02040503050406030204" pitchFamily="18" charset="0"/>
                          </a:rPr>
                          <m:t>𝐷</m:t>
                        </m:r>
                      </m:sub>
                    </m:sSub>
                    <m:r>
                      <a:rPr lang="es-ES" b="0" i="1" smtClean="0">
                        <a:latin typeface="Cambria Math" panose="02040503050406030204" pitchFamily="18" charset="0"/>
                      </a:rPr>
                      <m:t>=2.28 </m:t>
                    </m:r>
                    <m:r>
                      <m:rPr>
                        <m:nor/>
                      </m:rPr>
                      <a:rPr lang="es-ES" b="0" i="0" smtClean="0">
                        <a:latin typeface="Cambria Math" panose="02040503050406030204" pitchFamily="18" charset="0"/>
                      </a:rPr>
                      <m:t>kg</m:t>
                    </m:r>
                  </m:oMath>
                </a14:m>
                <a:endParaRPr lang="es-ES" dirty="0"/>
              </a:p>
              <a:p>
                <a14:m>
                  <m:oMath xmlns:m="http://schemas.openxmlformats.org/officeDocument/2006/math">
                    <m:acc>
                      <m:accPr>
                        <m:chr m:val="̅"/>
                        <m:ctrlPr>
                          <a:rPr lang="es-ES" i="1" smtClean="0">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=0.15</m:t>
                    </m:r>
                    <m:r>
                      <m:rPr>
                        <m:nor/>
                      </m:rPr>
                      <a:rPr lang="es-ES" b="0" i="0" smtClean="0">
                        <a:latin typeface="Cambria Math" panose="02040503050406030204" pitchFamily="18" charset="0"/>
                      </a:rPr>
                      <m:t> </m:t>
                    </m:r>
                    <m:r>
                      <m:rPr>
                        <m:nor/>
                      </m:rPr>
                      <a:rPr lang="es-ES" b="0" i="0" smtClean="0">
                        <a:latin typeface="Cambria Math" panose="02040503050406030204" pitchFamily="18" charset="0"/>
                      </a:rPr>
                      <m:t>kg</m:t>
                    </m:r>
                  </m:oMath>
                </a14:m>
                <a:endParaRPr lang="es-ES"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=0.95→</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=0.05→</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=0.025</m:t>
                    </m:r>
                  </m:oMath>
                </a14:m>
                <a:endParaRPr lang="es-ES" dirty="0"/>
              </a:p>
              <a:p>
                <a:r>
                  <a:rPr lang="es-ES" dirty="0"/>
                  <a:t>Según la tabla A5: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𝑡</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𝑛</m:t>
                        </m:r>
                        <m:r>
                          <a:rPr lang="es-ES" b="0" i="1" smtClean="0">
                            <a:latin typeface="Cambria Math" panose="02040503050406030204" pitchFamily="18" charset="0"/>
                            <a:ea typeface="Cambria Math" panose="02040503050406030204" pitchFamily="18" charset="0"/>
                          </a:rPr>
                          <m:t>−1</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r>
                          <a:rPr lang="es-ES" b="0" i="1" smtClean="0">
                            <a:latin typeface="Cambria Math" panose="02040503050406030204" pitchFamily="18" charset="0"/>
                            <a:ea typeface="Cambria Math" panose="02040503050406030204" pitchFamily="18" charset="0"/>
                          </a:rPr>
                          <m:t>0.025</m:t>
                        </m:r>
                        <m:r>
                          <a:rPr lang="es-ES" i="1">
                            <a:latin typeface="Cambria Math" panose="02040503050406030204" pitchFamily="18" charset="0"/>
                            <a:ea typeface="Cambria Math" panose="02040503050406030204" pitchFamily="18" charset="0"/>
                          </a:rPr>
                          <m:t>, </m:t>
                        </m:r>
                        <m:r>
                          <a:rPr lang="es-ES" b="0" i="1" smtClean="0">
                            <a:latin typeface="Cambria Math" panose="02040503050406030204" pitchFamily="18" charset="0"/>
                            <a:ea typeface="Cambria Math" panose="02040503050406030204" pitchFamily="18" charset="0"/>
                          </a:rPr>
                          <m:t> 7</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rPr>
                      <m:t>2.36</m:t>
                    </m:r>
                  </m:oMath>
                </a14:m>
                <a:endParaRPr lang="es-ES" dirty="0"/>
              </a:p>
              <a:p>
                <a:r>
                  <a:rPr lang="es-ES" dirty="0"/>
                  <a:t>Intervalo de confianza </a:t>
                </a:r>
                <a:r>
                  <a:rPr lang="es-ES" dirty="0">
                    <a:sym typeface="Wingdings" panose="05000000000000000000" pitchFamily="2" charset="2"/>
                  </a:rPr>
                  <a:t> C</a:t>
                </a:r>
                <a:r>
                  <a:rPr lang="es-ES" dirty="0"/>
                  <a:t>omo contiene el valor 0, la diferencia de medias NO es significativa</a:t>
                </a: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𝑖</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𝑑</m:t>
                        </m:r>
                      </m:e>
                    </m:acc>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rPr>
                              <m:t>𝑠</m:t>
                            </m:r>
                          </m:e>
                          <m:sub>
                            <m:r>
                              <a:rPr lang="es-ES" i="1">
                                <a:latin typeface="Cambria Math" panose="02040503050406030204" pitchFamily="18" charset="0"/>
                              </a:rPr>
                              <m:t>𝐷</m:t>
                            </m:r>
                          </m:sub>
                        </m:sSub>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a:rPr lang="es-ES" b="0" i="1" smtClean="0">
                        <a:latin typeface="Cambria Math" panose="02040503050406030204" pitchFamily="18" charset="0"/>
                      </a:rPr>
                      <m:t>=0.15</m:t>
                    </m:r>
                    <m:r>
                      <a:rPr lang="es-ES" i="1">
                        <a:latin typeface="Cambria Math" panose="02040503050406030204" pitchFamily="18" charset="0"/>
                      </a:rPr>
                      <m:t>−</m:t>
                    </m:r>
                    <m:r>
                      <a:rPr lang="es-ES" b="0" i="1" smtClean="0">
                        <a:latin typeface="Cambria Math" panose="02040503050406030204" pitchFamily="18" charset="0"/>
                      </a:rPr>
                      <m:t>2.36</m:t>
                    </m:r>
                    <m:f>
                      <m:fPr>
                        <m:ctrlPr>
                          <a:rPr lang="es-ES" i="1">
                            <a:latin typeface="Cambria Math" panose="02040503050406030204" pitchFamily="18" charset="0"/>
                          </a:rPr>
                        </m:ctrlPr>
                      </m:fPr>
                      <m:num>
                        <m:r>
                          <a:rPr lang="es-ES" b="0" i="1" smtClean="0">
                            <a:latin typeface="Cambria Math" panose="02040503050406030204" pitchFamily="18" charset="0"/>
                          </a:rPr>
                          <m:t>2.28</m:t>
                        </m:r>
                      </m:num>
                      <m:den>
                        <m:rad>
                          <m:radPr>
                            <m:degHide m:val="on"/>
                            <m:ctrlPr>
                              <a:rPr lang="es-ES" i="1">
                                <a:latin typeface="Cambria Math" panose="02040503050406030204" pitchFamily="18" charset="0"/>
                              </a:rPr>
                            </m:ctrlPr>
                          </m:radPr>
                          <m:deg/>
                          <m:e>
                            <m:r>
                              <a:rPr lang="es-ES" b="0" i="1" smtClean="0">
                                <a:latin typeface="Cambria Math" panose="02040503050406030204" pitchFamily="18" charset="0"/>
                              </a:rPr>
                              <m:t>8</m:t>
                            </m:r>
                          </m:e>
                        </m:rad>
                      </m:den>
                    </m:f>
                    <m:r>
                      <a:rPr lang="es-ES" b="0" i="1" smtClean="0">
                        <a:latin typeface="Cambria Math" panose="02040503050406030204" pitchFamily="18" charset="0"/>
                      </a:rPr>
                      <m:t>=−1.75 </m:t>
                    </m:r>
                    <m:r>
                      <m:rPr>
                        <m:nor/>
                      </m:rPr>
                      <a:rPr lang="es-ES" b="0" i="0" smtClean="0">
                        <a:latin typeface="Cambria Math" panose="02040503050406030204" pitchFamily="18" charset="0"/>
                      </a:rPr>
                      <m:t>kg</m:t>
                    </m:r>
                  </m:oMath>
                </a14:m>
                <a:endParaRPr lang="es-ES" i="1" dirty="0">
                  <a:latin typeface="Cambria Math" panose="02040503050406030204" pitchFamily="18" charset="0"/>
                </a:endParaRP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b="0" i="1" smtClean="0">
                            <a:latin typeface="Cambria Math" panose="02040503050406030204" pitchFamily="18" charset="0"/>
                          </a:rPr>
                          <m:t>𝑠</m:t>
                        </m:r>
                      </m:sub>
                    </m:sSub>
                    <m:r>
                      <a:rPr lang="es-ES" i="1">
                        <a:latin typeface="Cambria Math" panose="02040503050406030204" pitchFamily="18" charset="0"/>
                      </a:rPr>
                      <m:t>=</m:t>
                    </m:r>
                    <m:acc>
                      <m:accPr>
                        <m:chr m:val="̅"/>
                        <m:ctrlPr>
                          <a:rPr lang="es-ES" i="1">
                            <a:latin typeface="Cambria Math" panose="02040503050406030204" pitchFamily="18" charset="0"/>
                          </a:rPr>
                        </m:ctrlPr>
                      </m:accPr>
                      <m:e>
                        <m:r>
                          <a:rPr lang="es-ES" b="0" i="1" smtClean="0">
                            <a:latin typeface="Cambria Math" panose="02040503050406030204" pitchFamily="18" charset="0"/>
                          </a:rPr>
                          <m:t>𝑑</m:t>
                        </m:r>
                      </m:e>
                    </m:acc>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𝑡</m:t>
                        </m:r>
                      </m:e>
                      <m:sub>
                        <m:f>
                          <m:fPr>
                            <m:ctrlPr>
                              <a:rPr lang="es-ES" i="1">
                                <a:latin typeface="Cambria Math" panose="02040503050406030204" pitchFamily="18" charset="0"/>
                                <a:ea typeface="Cambria Math" panose="02040503050406030204" pitchFamily="18" charset="0"/>
                              </a:rPr>
                            </m:ctrlPr>
                          </m:fPr>
                          <m:num>
                            <m:r>
                              <a:rPr lang="es-ES" i="1">
                                <a:latin typeface="Cambria Math" panose="02040503050406030204" pitchFamily="18" charset="0"/>
                                <a:ea typeface="Cambria Math" panose="02040503050406030204" pitchFamily="18" charset="0"/>
                              </a:rPr>
                              <m:t>𝛼</m:t>
                            </m:r>
                          </m:num>
                          <m:den>
                            <m:r>
                              <a:rPr lang="es-ES" i="1">
                                <a:latin typeface="Cambria Math" panose="02040503050406030204" pitchFamily="18" charset="0"/>
                                <a:ea typeface="Cambria Math" panose="02040503050406030204" pitchFamily="18" charset="0"/>
                              </a:rPr>
                              <m:t>2</m:t>
                            </m:r>
                          </m:den>
                        </m:f>
                        <m:r>
                          <a:rPr lang="es-ES" i="1">
                            <a:latin typeface="Cambria Math" panose="02040503050406030204" pitchFamily="18" charset="0"/>
                            <a:ea typeface="Cambria Math" panose="02040503050406030204" pitchFamily="18" charset="0"/>
                          </a:rPr>
                          <m:t>,</m:t>
                        </m:r>
                        <m:r>
                          <a:rPr lang="es-ES" i="1">
                            <a:latin typeface="Cambria Math" panose="02040503050406030204" pitchFamily="18" charset="0"/>
                            <a:ea typeface="Cambria Math" panose="02040503050406030204" pitchFamily="18" charset="0"/>
                          </a:rPr>
                          <m:t>𝑛</m:t>
                        </m:r>
                        <m:r>
                          <a:rPr lang="es-ES" i="1">
                            <a:latin typeface="Cambria Math" panose="02040503050406030204" pitchFamily="18" charset="0"/>
                            <a:ea typeface="Cambria Math" panose="02040503050406030204" pitchFamily="18" charset="0"/>
                          </a:rPr>
                          <m:t>−1</m:t>
                        </m:r>
                      </m:sub>
                    </m:sSub>
                    <m:f>
                      <m:fPr>
                        <m:ctrlPr>
                          <a:rPr lang="es-ES" i="1">
                            <a:latin typeface="Cambria Math" panose="02040503050406030204" pitchFamily="18" charset="0"/>
                          </a:rPr>
                        </m:ctrlPr>
                      </m:fPr>
                      <m:num>
                        <m:sSub>
                          <m:sSubPr>
                            <m:ctrlPr>
                              <a:rPr lang="es-ES" i="1">
                                <a:latin typeface="Cambria Math" panose="02040503050406030204" pitchFamily="18" charset="0"/>
                              </a:rPr>
                            </m:ctrlPr>
                          </m:sSubPr>
                          <m:e>
                            <m:r>
                              <a:rPr lang="es-ES" i="1">
                                <a:latin typeface="Cambria Math" panose="02040503050406030204" pitchFamily="18" charset="0"/>
                              </a:rPr>
                              <m:t>𝑠</m:t>
                            </m:r>
                          </m:e>
                          <m:sub>
                            <m:r>
                              <a:rPr lang="es-ES" i="1">
                                <a:latin typeface="Cambria Math" panose="02040503050406030204" pitchFamily="18" charset="0"/>
                              </a:rPr>
                              <m:t>𝐷</m:t>
                            </m:r>
                          </m:sub>
                        </m:sSub>
                      </m:num>
                      <m:den>
                        <m:rad>
                          <m:radPr>
                            <m:degHide m:val="on"/>
                            <m:ctrlPr>
                              <a:rPr lang="es-ES" i="1">
                                <a:latin typeface="Cambria Math" panose="02040503050406030204" pitchFamily="18" charset="0"/>
                              </a:rPr>
                            </m:ctrlPr>
                          </m:radPr>
                          <m:deg/>
                          <m:e>
                            <m:r>
                              <a:rPr lang="es-ES" i="1">
                                <a:latin typeface="Cambria Math" panose="02040503050406030204" pitchFamily="18" charset="0"/>
                              </a:rPr>
                              <m:t>𝑛</m:t>
                            </m:r>
                          </m:e>
                        </m:rad>
                      </m:den>
                    </m:f>
                    <m:r>
                      <a:rPr lang="es-ES" b="0" i="1" smtClean="0">
                        <a:latin typeface="Cambria Math" panose="02040503050406030204" pitchFamily="18" charset="0"/>
                      </a:rPr>
                      <m:t>=0.15+2.36</m:t>
                    </m:r>
                    <m:f>
                      <m:fPr>
                        <m:ctrlPr>
                          <a:rPr lang="es-ES" i="1">
                            <a:latin typeface="Cambria Math" panose="02040503050406030204" pitchFamily="18" charset="0"/>
                          </a:rPr>
                        </m:ctrlPr>
                      </m:fPr>
                      <m:num>
                        <m:r>
                          <a:rPr lang="es-ES" b="0" i="1" smtClean="0">
                            <a:latin typeface="Cambria Math" panose="02040503050406030204" pitchFamily="18" charset="0"/>
                          </a:rPr>
                          <m:t>2.28</m:t>
                        </m:r>
                      </m:num>
                      <m:den>
                        <m:rad>
                          <m:radPr>
                            <m:degHide m:val="on"/>
                            <m:ctrlPr>
                              <a:rPr lang="es-ES" i="1">
                                <a:latin typeface="Cambria Math" panose="02040503050406030204" pitchFamily="18" charset="0"/>
                              </a:rPr>
                            </m:ctrlPr>
                          </m:radPr>
                          <m:deg/>
                          <m:e>
                            <m:r>
                              <a:rPr lang="es-ES" b="0" i="1" smtClean="0">
                                <a:latin typeface="Cambria Math" panose="02040503050406030204" pitchFamily="18" charset="0"/>
                              </a:rPr>
                              <m:t>8</m:t>
                            </m:r>
                          </m:e>
                        </m:rad>
                      </m:den>
                    </m:f>
                    <m:r>
                      <a:rPr lang="es-ES" b="0" i="1" smtClean="0">
                        <a:latin typeface="Cambria Math" panose="02040503050406030204" pitchFamily="18" charset="0"/>
                      </a:rPr>
                      <m:t>=2.05 </m:t>
                    </m:r>
                    <m:r>
                      <m:rPr>
                        <m:nor/>
                      </m:rPr>
                      <a:rPr lang="es-ES" b="0" i="0" smtClean="0">
                        <a:latin typeface="Cambria Math" panose="02040503050406030204" pitchFamily="18" charset="0"/>
                      </a:rPr>
                      <m:t>kg</m:t>
                    </m:r>
                  </m:oMath>
                </a14:m>
                <a:endParaRPr lang="es-ES" dirty="0"/>
              </a:p>
              <a:p>
                <a:pPr lvl="1"/>
                <a:endParaRPr lang="es-ES" dirty="0"/>
              </a:p>
              <a:p>
                <a:endParaRPr lang="es-ES" dirty="0"/>
              </a:p>
            </p:txBody>
          </p:sp>
        </mc:Choice>
        <mc:Fallback xmlns="">
          <p:sp>
            <p:nvSpPr>
              <p:cNvPr id="3" name="Marcador de contenido 2">
                <a:extLst>
                  <a:ext uri="{FF2B5EF4-FFF2-40B4-BE49-F238E27FC236}">
                    <a16:creationId xmlns:a16="http://schemas.microsoft.com/office/drawing/2014/main" id="{4079C3BD-0AF9-5F98-48BA-17CA272E22DC}"/>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522" t="-2179"/>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0CF601A5-5F8D-B1EC-4C41-BCE6E7DC2D9B}"/>
              </a:ext>
            </a:extLst>
          </p:cNvPr>
          <p:cNvSpPr>
            <a:spLocks noGrp="1"/>
          </p:cNvSpPr>
          <p:nvPr>
            <p:ph type="sldNum" sz="quarter" idx="12"/>
          </p:nvPr>
        </p:nvSpPr>
        <p:spPr/>
        <p:txBody>
          <a:bodyPr/>
          <a:lstStyle/>
          <a:p>
            <a:fld id="{336CAFD0-1F6E-4E11-9822-836563A02839}" type="slidenum">
              <a:rPr lang="es-ES" smtClean="0"/>
              <a:pPr/>
              <a:t>67</a:t>
            </a:fld>
            <a:endParaRPr lang="es-ES" dirty="0"/>
          </a:p>
        </p:txBody>
      </p:sp>
    </p:spTree>
    <p:extLst>
      <p:ext uri="{BB962C8B-B14F-4D97-AF65-F5344CB8AC3E}">
        <p14:creationId xmlns:p14="http://schemas.microsoft.com/office/powerpoint/2010/main" val="10597189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fontScale="90000"/>
          </a:bodyPr>
          <a:lstStyle/>
          <a:p>
            <a:r>
              <a:rPr lang="es-ES" dirty="0"/>
              <a:t>10. Intervalo de confianza para la diferencia de las medias de dos poblaciones. Ejercicios propuestos</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pPr eaLnBrk="1" hangingPunct="1">
              <a:lnSpc>
                <a:spcPct val="90000"/>
              </a:lnSpc>
              <a:spcBef>
                <a:spcPts val="1000"/>
              </a:spcBef>
              <a:buFont typeface="Arial" panose="020B0604020202020204" pitchFamily="34" charset="0"/>
              <a:buChar char="•"/>
            </a:pPr>
            <a:r>
              <a:rPr lang="en-US" altLang="es-ES" sz="2800" dirty="0" err="1"/>
              <a:t>Ejercicios</a:t>
            </a:r>
            <a:r>
              <a:rPr lang="en-US" altLang="es-ES" sz="2800" dirty="0"/>
              <a:t> 9.18(a) y 9.24(b) del </a:t>
            </a:r>
            <a:r>
              <a:rPr lang="en-US" altLang="es-ES" sz="2800" dirty="0" err="1"/>
              <a:t>libro</a:t>
            </a:r>
            <a:endParaRPr lang="en-US" altLang="es-ES" sz="2800" dirty="0"/>
          </a:p>
          <a:p>
            <a:pPr lvl="1" eaLnBrk="1" hangingPunct="1">
              <a:lnSpc>
                <a:spcPct val="90000"/>
              </a:lnSpc>
              <a:spcBef>
                <a:spcPts val="500"/>
              </a:spcBef>
              <a:buFont typeface="Arial" panose="020B0604020202020204" pitchFamily="34" charset="0"/>
              <a:buChar char="•"/>
            </a:pPr>
            <a:r>
              <a:rPr lang="en-US" altLang="es-ES" sz="2400" dirty="0"/>
              <a:t>La </a:t>
            </a:r>
            <a:r>
              <a:rPr lang="en-US" altLang="es-ES" sz="2400" dirty="0" err="1"/>
              <a:t>respuesta</a:t>
            </a:r>
            <a:r>
              <a:rPr lang="en-US" altLang="es-ES" sz="2400" dirty="0"/>
              <a:t> de 9.18 </a:t>
            </a:r>
            <a:r>
              <a:rPr lang="en-US" altLang="es-ES" sz="2400" dirty="0" err="1"/>
              <a:t>está</a:t>
            </a:r>
            <a:r>
              <a:rPr lang="en-US" altLang="es-ES" sz="2400" dirty="0"/>
              <a:t> disponible en </a:t>
            </a:r>
            <a:r>
              <a:rPr lang="en-US" altLang="es-ES" sz="2400" dirty="0" err="1"/>
              <a:t>el</a:t>
            </a:r>
            <a:r>
              <a:rPr lang="en-US" altLang="es-ES" sz="2400" dirty="0"/>
              <a:t> </a:t>
            </a:r>
            <a:r>
              <a:rPr lang="en-US" altLang="es-ES" sz="2400" dirty="0" err="1"/>
              <a:t>libro</a:t>
            </a:r>
            <a:endParaRPr lang="en-US" altLang="es-ES" sz="24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68</a:t>
            </a:fld>
            <a:endParaRPr lang="es-ES"/>
          </a:p>
        </p:txBody>
      </p:sp>
    </p:spTree>
    <p:extLst>
      <p:ext uri="{BB962C8B-B14F-4D97-AF65-F5344CB8AC3E}">
        <p14:creationId xmlns:p14="http://schemas.microsoft.com/office/powerpoint/2010/main" val="22450042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798367-4FCF-A143-4E5E-CD3668C48594}"/>
              </a:ext>
            </a:extLst>
          </p:cNvPr>
          <p:cNvSpPr>
            <a:spLocks noGrp="1"/>
          </p:cNvSpPr>
          <p:nvPr>
            <p:ph type="title"/>
          </p:nvPr>
        </p:nvSpPr>
        <p:spPr/>
        <p:txBody>
          <a:bodyPr/>
          <a:lstStyle/>
          <a:p>
            <a:r>
              <a:rPr lang="es-ES" dirty="0"/>
              <a:t>11. Intervalo de confianza para la diferencia de proporciones en dos poblaciones</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F428B688-6181-62BB-ADF8-A57F30B789D6}"/>
                  </a:ext>
                </a:extLst>
              </p:cNvPr>
              <p:cNvSpPr>
                <a:spLocks noGrp="1"/>
              </p:cNvSpPr>
              <p:nvPr>
                <p:ph idx="1"/>
              </p:nvPr>
            </p:nvSpPr>
            <p:spPr/>
            <p:txBody>
              <a:bodyPr/>
              <a:lstStyle/>
              <a:p>
                <a:r>
                  <a:rPr lang="es-ES" dirty="0"/>
                  <a:t>Parámetros</a:t>
                </a:r>
              </a:p>
              <a:p>
                <a:pPr lvl="1"/>
                <a:r>
                  <a:rPr lang="es-ES" dirty="0"/>
                  <a:t>Proporción poblacional en la primera población: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𝑝</m:t>
                        </m:r>
                      </m:e>
                      <m:sub>
                        <m:r>
                          <a:rPr lang="es-ES" b="0" i="1" smtClean="0">
                            <a:latin typeface="Cambria Math" panose="02040503050406030204" pitchFamily="18" charset="0"/>
                          </a:rPr>
                          <m:t>1</m:t>
                        </m:r>
                      </m:sub>
                    </m:sSub>
                  </m:oMath>
                </a14:m>
                <a:endParaRPr lang="es-ES" dirty="0"/>
              </a:p>
              <a:p>
                <a:pPr lvl="1"/>
                <a:r>
                  <a:rPr lang="es-ES" dirty="0"/>
                  <a:t>Proporción poblacional en la segunda población: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𝑝</m:t>
                        </m:r>
                      </m:e>
                      <m:sub>
                        <m:r>
                          <a:rPr lang="es-ES" b="0" i="1" smtClean="0">
                            <a:latin typeface="Cambria Math" panose="02040503050406030204" pitchFamily="18" charset="0"/>
                          </a:rPr>
                          <m:t>2</m:t>
                        </m:r>
                      </m:sub>
                    </m:sSub>
                  </m:oMath>
                </a14:m>
                <a:endParaRPr lang="es-ES" dirty="0"/>
              </a:p>
              <a:p>
                <a:r>
                  <a:rPr lang="es-ES" dirty="0"/>
                  <a:t>Muestras</a:t>
                </a:r>
              </a:p>
              <a:p>
                <a:pPr lvl="1"/>
                <a:r>
                  <a:rPr lang="es-ES" dirty="0"/>
                  <a:t>Tamaño de la muestra de la primera población: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1</m:t>
                        </m:r>
                      </m:sub>
                    </m:sSub>
                  </m:oMath>
                </a14:m>
                <a:endParaRPr lang="es-ES" dirty="0"/>
              </a:p>
              <a:p>
                <a:pPr lvl="1"/>
                <a:r>
                  <a:rPr lang="es-ES" dirty="0"/>
                  <a:t>Tamaño de la muestra de la segunda población: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𝑛</m:t>
                        </m:r>
                      </m:e>
                      <m:sub>
                        <m:r>
                          <a:rPr lang="es-ES" b="0" i="1" smtClean="0">
                            <a:latin typeface="Cambria Math" panose="02040503050406030204" pitchFamily="18" charset="0"/>
                          </a:rPr>
                          <m:t>2</m:t>
                        </m:r>
                      </m:sub>
                    </m:sSub>
                  </m:oMath>
                </a14:m>
                <a:endParaRPr lang="es-ES" dirty="0"/>
              </a:p>
              <a:p>
                <a:r>
                  <a:rPr lang="es-ES" dirty="0"/>
                  <a:t>Estimadores</a:t>
                </a:r>
              </a:p>
              <a:p>
                <a:pPr lvl="1"/>
                <a:r>
                  <a:rPr lang="es-ES" dirty="0"/>
                  <a:t>Proporción muestral de la primera población: </a:t>
                </a:r>
                <a14:m>
                  <m:oMath xmlns:m="http://schemas.openxmlformats.org/officeDocument/2006/math">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e>
                      <m:sub>
                        <m:r>
                          <a:rPr lang="es-ES" i="1">
                            <a:latin typeface="Cambria Math" panose="02040503050406030204" pitchFamily="18" charset="0"/>
                          </a:rPr>
                          <m:t>1</m:t>
                        </m:r>
                      </m:sub>
                    </m:sSub>
                  </m:oMath>
                </a14:m>
                <a:endParaRPr lang="es-ES" dirty="0"/>
              </a:p>
              <a:p>
                <a:pPr lvl="1"/>
                <a:r>
                  <a:rPr lang="es-ES" dirty="0"/>
                  <a:t>Proporción muestral de la segunda población: </a:t>
                </a:r>
                <a14:m>
                  <m:oMath xmlns:m="http://schemas.openxmlformats.org/officeDocument/2006/math">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b="0" i="1" smtClean="0">
                                <a:latin typeface="Cambria Math" panose="02040503050406030204" pitchFamily="18" charset="0"/>
                              </a:rPr>
                              <m:t>𝑃</m:t>
                            </m:r>
                          </m:e>
                        </m:acc>
                      </m:e>
                      <m:sub>
                        <m:r>
                          <a:rPr lang="es-ES" b="0" i="1" smtClean="0">
                            <a:latin typeface="Cambria Math" panose="02040503050406030204" pitchFamily="18" charset="0"/>
                          </a:rPr>
                          <m:t>2</m:t>
                        </m:r>
                      </m:sub>
                    </m:sSub>
                  </m:oMath>
                </a14:m>
                <a:endParaRPr lang="es-ES" dirty="0"/>
              </a:p>
              <a:p>
                <a:pPr marL="457200" lvl="1" indent="0">
                  <a:buNone/>
                </a:pPr>
                <a:endParaRPr lang="es-ES" dirty="0"/>
              </a:p>
            </p:txBody>
          </p:sp>
        </mc:Choice>
        <mc:Fallback xmlns="">
          <p:sp>
            <p:nvSpPr>
              <p:cNvPr id="3" name="Marcador de contenido 2">
                <a:extLst>
                  <a:ext uri="{FF2B5EF4-FFF2-40B4-BE49-F238E27FC236}">
                    <a16:creationId xmlns:a16="http://schemas.microsoft.com/office/drawing/2014/main" id="{F428B688-6181-62BB-ADF8-A57F30B789D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14BDD813-9D37-AA89-7019-A47BE8422D28}"/>
              </a:ext>
            </a:extLst>
          </p:cNvPr>
          <p:cNvSpPr>
            <a:spLocks noGrp="1"/>
          </p:cNvSpPr>
          <p:nvPr>
            <p:ph type="sldNum" sz="quarter" idx="12"/>
          </p:nvPr>
        </p:nvSpPr>
        <p:spPr/>
        <p:txBody>
          <a:bodyPr/>
          <a:lstStyle/>
          <a:p>
            <a:fld id="{336CAFD0-1F6E-4E11-9822-836563A02839}" type="slidenum">
              <a:rPr lang="es-ES" smtClean="0"/>
              <a:pPr/>
              <a:t>69</a:t>
            </a:fld>
            <a:endParaRPr lang="es-ES" dirty="0"/>
          </a:p>
        </p:txBody>
      </p:sp>
    </p:spTree>
    <p:extLst>
      <p:ext uri="{BB962C8B-B14F-4D97-AF65-F5344CB8AC3E}">
        <p14:creationId xmlns:p14="http://schemas.microsoft.com/office/powerpoint/2010/main" val="41890473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A7CE99-314E-E488-6849-91EB1AE31190}"/>
              </a:ext>
            </a:extLst>
          </p:cNvPr>
          <p:cNvSpPr>
            <a:spLocks noGrp="1"/>
          </p:cNvSpPr>
          <p:nvPr>
            <p:ph type="title"/>
          </p:nvPr>
        </p:nvSpPr>
        <p:spPr/>
        <p:txBody>
          <a:bodyPr>
            <a:normAutofit fontScale="90000"/>
          </a:bodyPr>
          <a:lstStyle/>
          <a:p>
            <a:r>
              <a:rPr lang="es-ES" dirty="0"/>
              <a:t>11. Intervalo de confianza para la diferencia de proporciones en dos poblaciones. Fórmulas</a:t>
            </a: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939268921"/>
                  </p:ext>
                </p:extLst>
              </p:nvPr>
            </p:nvGraphicFramePr>
            <p:xfrm>
              <a:off x="1493134" y="2219960"/>
              <a:ext cx="8565263" cy="3175381"/>
            </p:xfrm>
            <a:graphic>
              <a:graphicData uri="http://schemas.openxmlformats.org/drawingml/2006/table">
                <a:tbl>
                  <a:tblPr firstRow="1" bandRow="1">
                    <a:tableStyleId>{5940675A-B579-460E-94D1-54222C63F5DA}</a:tableStyleId>
                  </a:tblPr>
                  <a:tblGrid>
                    <a:gridCol w="2169546">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210312">
                    <a:tc>
                      <a:txBody>
                        <a:bodyPr/>
                        <a:lstStyle/>
                        <a:p>
                          <a:pPr algn="ctr"/>
                          <a:r>
                            <a:rPr lang="es-ES" b="1" dirty="0"/>
                            <a:t>Tamaño de las muestras (n1,n2)</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370840">
                    <a:tc>
                      <a:txBody>
                        <a:bodyPr/>
                        <a:lstStyle/>
                        <a:p>
                          <a:pPr algn="ctr"/>
                          <a:r>
                            <a:rPr lang="es-ES" dirty="0"/>
                            <a:t>Grande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ES" sz="1800" i="1"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s-ES" sz="1800" i="1" kern="1200" smtClean="0">
                                        <a:solidFill>
                                          <a:schemeClr val="tx1"/>
                                        </a:solidFill>
                                        <a:effectLst/>
                                        <a:latin typeface="Cambria Math" panose="02040503050406030204" pitchFamily="18" charset="0"/>
                                        <a:ea typeface="+mn-ea"/>
                                        <a:cs typeface="+mn-cs"/>
                                      </a:rPr>
                                    </m:ctrlPr>
                                  </m:sSubPr>
                                  <m:e>
                                    <m:r>
                                      <a:rPr lang="es-ES" sz="1800" b="0" i="1" kern="1200" smtClean="0">
                                        <a:solidFill>
                                          <a:schemeClr val="tx1"/>
                                        </a:solidFill>
                                        <a:effectLst/>
                                        <a:latin typeface="Cambria Math" panose="02040503050406030204" pitchFamily="18" charset="0"/>
                                        <a:ea typeface="+mn-ea"/>
                                        <a:cs typeface="+mn-cs"/>
                                      </a:rPr>
                                      <m:t>𝐿</m:t>
                                    </m:r>
                                  </m:e>
                                  <m:sub>
                                    <m:r>
                                      <a:rPr lang="es-ES" sz="1800" b="0" i="1" kern="1200" smtClean="0">
                                        <a:solidFill>
                                          <a:schemeClr val="tx1"/>
                                        </a:solidFill>
                                        <a:effectLst/>
                                        <a:latin typeface="Cambria Math" panose="02040503050406030204" pitchFamily="18" charset="0"/>
                                        <a:ea typeface="+mn-ea"/>
                                        <a:cs typeface="+mn-cs"/>
                                      </a:rPr>
                                      <m:t>𝑖</m:t>
                                    </m:r>
                                  </m:sub>
                                </m:sSub>
                                <m:r>
                                  <a:rPr lang="es-ES" sz="1800" i="1" kern="1200" smtClean="0">
                                    <a:solidFill>
                                      <a:schemeClr val="tx1"/>
                                    </a:solidFill>
                                    <a:effectLst/>
                                    <a:latin typeface="Cambria Math" panose="02040503050406030204" pitchFamily="18" charset="0"/>
                                    <a:ea typeface="+mn-ea"/>
                                    <a:cs typeface="+mn-cs"/>
                                  </a:rPr>
                                  <m:t>=</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b="0" i="1" kern="1200" smtClean="0">
                                    <a:solidFill>
                                      <a:schemeClr val="tx1"/>
                                    </a:solidFill>
                                    <a:effectLst/>
                                    <a:latin typeface="Cambria Math" panose="02040503050406030204" pitchFamily="18" charset="0"/>
                                    <a:ea typeface="+mn-ea"/>
                                    <a:cs typeface="+mn-cs"/>
                                  </a:rPr>
                                  <m:t>−</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m:t>
                                </m:r>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𝑧</m:t>
                                    </m:r>
                                  </m:e>
                                  <m:sub>
                                    <m:f>
                                      <m:fPr>
                                        <m:ctrlPr>
                                          <a:rPr lang="es-ES" sz="1800" i="1" kern="1200">
                                            <a:solidFill>
                                              <a:schemeClr val="tx1"/>
                                            </a:solidFill>
                                            <a:effectLst/>
                                            <a:latin typeface="Cambria Math" panose="02040503050406030204" pitchFamily="18" charset="0"/>
                                            <a:ea typeface="+mn-ea"/>
                                            <a:cs typeface="+mn-cs"/>
                                          </a:rPr>
                                        </m:ctrlPr>
                                      </m:fPr>
                                      <m:num>
                                        <m:r>
                                          <a:rPr lang="es-ES" sz="1800" i="1" kern="1200">
                                            <a:solidFill>
                                              <a:schemeClr val="tx1"/>
                                            </a:solidFill>
                                            <a:effectLst/>
                                            <a:latin typeface="Cambria Math" panose="02040503050406030204" pitchFamily="18" charset="0"/>
                                            <a:ea typeface="+mn-ea"/>
                                            <a:cs typeface="+mn-cs"/>
                                          </a:rPr>
                                          <m:t>𝛼</m:t>
                                        </m:r>
                                      </m:num>
                                      <m:den>
                                        <m:r>
                                          <a:rPr lang="es-ES" sz="1800" i="1" kern="1200">
                                            <a:solidFill>
                                              <a:schemeClr val="tx1"/>
                                            </a:solidFill>
                                            <a:effectLst/>
                                            <a:latin typeface="Cambria Math" panose="02040503050406030204" pitchFamily="18" charset="0"/>
                                            <a:ea typeface="+mn-ea"/>
                                            <a:cs typeface="+mn-cs"/>
                                          </a:rPr>
                                          <m:t>2</m:t>
                                        </m:r>
                                      </m:den>
                                    </m:f>
                                  </m:sub>
                                </m:sSub>
                                <m:rad>
                                  <m:radPr>
                                    <m:degHide m:val="on"/>
                                    <m:ctrlPr>
                                      <a:rPr lang="es-ES" sz="1800" i="1" kern="1200">
                                        <a:solidFill>
                                          <a:schemeClr val="tx1"/>
                                        </a:solidFill>
                                        <a:effectLst/>
                                        <a:latin typeface="Cambria Math" panose="02040503050406030204" pitchFamily="18" charset="0"/>
                                        <a:ea typeface="+mn-ea"/>
                                        <a:cs typeface="+mn-cs"/>
                                      </a:rPr>
                                    </m:ctrlPr>
                                  </m:radPr>
                                  <m:deg/>
                                  <m:e>
                                    <m:f>
                                      <m:fPr>
                                        <m:ctrlPr>
                                          <a:rPr lang="es-ES" sz="1800" i="1" kern="1200">
                                            <a:solidFill>
                                              <a:schemeClr val="tx1"/>
                                            </a:solidFill>
                                            <a:effectLst/>
                                            <a:latin typeface="Cambria Math" panose="02040503050406030204" pitchFamily="18" charset="0"/>
                                            <a:ea typeface="+mn-ea"/>
                                            <a:cs typeface="+mn-cs"/>
                                          </a:rPr>
                                        </m:ctrlPr>
                                      </m:fPr>
                                      <m:num>
                                        <m:r>
                                          <a:rPr lang="es-ES" sz="1800" i="1" kern="1200" smtClean="0">
                                            <a:solidFill>
                                              <a:schemeClr val="tx1"/>
                                            </a:solidFill>
                                            <a:effectLst/>
                                            <a:latin typeface="Cambria Math" panose="02040503050406030204" pitchFamily="18" charset="0"/>
                                            <a:ea typeface="+mn-ea"/>
                                            <a:cs typeface="+mn-cs"/>
                                          </a:rPr>
                                          <m:t> </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i="1" kern="1200">
                                            <a:solidFill>
                                              <a:schemeClr val="tx1"/>
                                            </a:solidFill>
                                            <a:effectLst/>
                                            <a:latin typeface="Cambria Math" panose="02040503050406030204" pitchFamily="18" charset="0"/>
                                            <a:ea typeface="+mn-ea"/>
                                            <a:cs typeface="+mn-cs"/>
                                          </a:rPr>
                                          <m:t>(1−</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i="1" kern="1200">
                                            <a:solidFill>
                                              <a:schemeClr val="tx1"/>
                                            </a:solidFill>
                                            <a:effectLst/>
                                            <a:latin typeface="Cambria Math" panose="02040503050406030204" pitchFamily="18" charset="0"/>
                                            <a:ea typeface="+mn-ea"/>
                                            <a:cs typeface="+mn-cs"/>
                                          </a:rPr>
                                          <m:t>)</m:t>
                                        </m:r>
                                      </m:num>
                                      <m:den>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𝑛</m:t>
                                            </m:r>
                                          </m:e>
                                          <m:sub>
                                            <m:r>
                                              <a:rPr lang="es-ES" sz="1800" i="1" kern="1200">
                                                <a:solidFill>
                                                  <a:schemeClr val="tx1"/>
                                                </a:solidFill>
                                                <a:effectLst/>
                                                <a:latin typeface="Cambria Math" panose="02040503050406030204" pitchFamily="18" charset="0"/>
                                                <a:ea typeface="+mn-ea"/>
                                                <a:cs typeface="+mn-cs"/>
                                              </a:rPr>
                                              <m:t>1</m:t>
                                            </m:r>
                                          </m:sub>
                                        </m:sSub>
                                      </m:den>
                                    </m:f>
                                    <m:r>
                                      <a:rPr lang="es-ES" sz="1800" i="1" kern="1200">
                                        <a:solidFill>
                                          <a:schemeClr val="tx1"/>
                                        </a:solidFill>
                                        <a:effectLst/>
                                        <a:latin typeface="Cambria Math" panose="02040503050406030204" pitchFamily="18" charset="0"/>
                                        <a:ea typeface="+mn-ea"/>
                                        <a:cs typeface="+mn-cs"/>
                                      </a:rPr>
                                      <m:t>+</m:t>
                                    </m:r>
                                    <m:f>
                                      <m:fPr>
                                        <m:ctrlPr>
                                          <a:rPr lang="es-ES" sz="1800" i="1" kern="1200">
                                            <a:solidFill>
                                              <a:schemeClr val="tx1"/>
                                            </a:solidFill>
                                            <a:effectLst/>
                                            <a:latin typeface="Cambria Math" panose="02040503050406030204" pitchFamily="18" charset="0"/>
                                            <a:ea typeface="+mn-ea"/>
                                            <a:cs typeface="+mn-cs"/>
                                          </a:rPr>
                                        </m:ctrlPr>
                                      </m:fPr>
                                      <m:num>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(1−</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m:t>
                                        </m:r>
                                      </m:num>
                                      <m:den>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𝑛</m:t>
                                            </m:r>
                                          </m:e>
                                          <m:sub>
                                            <m:r>
                                              <a:rPr lang="es-ES" sz="1800" i="1" kern="1200">
                                                <a:solidFill>
                                                  <a:schemeClr val="tx1"/>
                                                </a:solidFill>
                                                <a:effectLst/>
                                                <a:latin typeface="Cambria Math" panose="02040503050406030204" pitchFamily="18" charset="0"/>
                                                <a:ea typeface="+mn-ea"/>
                                                <a:cs typeface="+mn-cs"/>
                                              </a:rPr>
                                              <m:t>2</m:t>
                                            </m:r>
                                          </m:sub>
                                        </m:sSub>
                                      </m:den>
                                    </m:f>
                                  </m:e>
                                </m:rad>
                              </m:oMath>
                            </m:oMathPara>
                          </a14:m>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ES" dirty="0"/>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s-ES" sz="1800" i="1" kern="1200" smtClean="0">
                                        <a:solidFill>
                                          <a:schemeClr val="tx1"/>
                                        </a:solidFill>
                                        <a:effectLst/>
                                        <a:latin typeface="Cambria Math" panose="02040503050406030204" pitchFamily="18" charset="0"/>
                                        <a:ea typeface="+mn-ea"/>
                                        <a:cs typeface="+mn-cs"/>
                                      </a:rPr>
                                    </m:ctrlPr>
                                  </m:sSubPr>
                                  <m:e>
                                    <m:r>
                                      <a:rPr lang="es-ES" sz="1800" b="0" i="1" kern="1200" smtClean="0">
                                        <a:solidFill>
                                          <a:schemeClr val="tx1"/>
                                        </a:solidFill>
                                        <a:effectLst/>
                                        <a:latin typeface="Cambria Math" panose="02040503050406030204" pitchFamily="18" charset="0"/>
                                        <a:ea typeface="+mn-ea"/>
                                        <a:cs typeface="+mn-cs"/>
                                      </a:rPr>
                                      <m:t>𝐿</m:t>
                                    </m:r>
                                  </m:e>
                                  <m:sub>
                                    <m:r>
                                      <a:rPr lang="es-ES" sz="1800" b="0" i="1" kern="1200" smtClean="0">
                                        <a:solidFill>
                                          <a:schemeClr val="tx1"/>
                                        </a:solidFill>
                                        <a:effectLst/>
                                        <a:latin typeface="Cambria Math" panose="02040503050406030204" pitchFamily="18" charset="0"/>
                                        <a:ea typeface="+mn-ea"/>
                                        <a:cs typeface="+mn-cs"/>
                                      </a:rPr>
                                      <m:t>𝑠</m:t>
                                    </m:r>
                                  </m:sub>
                                </m:sSub>
                                <m:r>
                                  <a:rPr lang="es-ES" sz="1800" i="1" kern="1200" smtClean="0">
                                    <a:solidFill>
                                      <a:schemeClr val="tx1"/>
                                    </a:solidFill>
                                    <a:effectLst/>
                                    <a:latin typeface="Cambria Math" panose="02040503050406030204" pitchFamily="18" charset="0"/>
                                    <a:ea typeface="+mn-ea"/>
                                    <a:cs typeface="+mn-cs"/>
                                  </a:rPr>
                                  <m:t>=</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b="0" i="1" kern="1200" smtClean="0">
                                    <a:solidFill>
                                      <a:schemeClr val="tx1"/>
                                    </a:solidFill>
                                    <a:effectLst/>
                                    <a:latin typeface="Cambria Math" panose="02040503050406030204" pitchFamily="18" charset="0"/>
                                    <a:ea typeface="+mn-ea"/>
                                    <a:cs typeface="+mn-cs"/>
                                  </a:rPr>
                                  <m:t>−</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m:t>
                                </m:r>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𝑧</m:t>
                                    </m:r>
                                  </m:e>
                                  <m:sub>
                                    <m:f>
                                      <m:fPr>
                                        <m:ctrlPr>
                                          <a:rPr lang="es-ES" sz="1800" i="1" kern="1200">
                                            <a:solidFill>
                                              <a:schemeClr val="tx1"/>
                                            </a:solidFill>
                                            <a:effectLst/>
                                            <a:latin typeface="Cambria Math" panose="02040503050406030204" pitchFamily="18" charset="0"/>
                                            <a:ea typeface="+mn-ea"/>
                                            <a:cs typeface="+mn-cs"/>
                                          </a:rPr>
                                        </m:ctrlPr>
                                      </m:fPr>
                                      <m:num>
                                        <m:r>
                                          <a:rPr lang="es-ES" sz="1800" i="1" kern="1200">
                                            <a:solidFill>
                                              <a:schemeClr val="tx1"/>
                                            </a:solidFill>
                                            <a:effectLst/>
                                            <a:latin typeface="Cambria Math" panose="02040503050406030204" pitchFamily="18" charset="0"/>
                                            <a:ea typeface="+mn-ea"/>
                                            <a:cs typeface="+mn-cs"/>
                                          </a:rPr>
                                          <m:t>𝛼</m:t>
                                        </m:r>
                                      </m:num>
                                      <m:den>
                                        <m:r>
                                          <a:rPr lang="es-ES" sz="1800" i="1" kern="1200">
                                            <a:solidFill>
                                              <a:schemeClr val="tx1"/>
                                            </a:solidFill>
                                            <a:effectLst/>
                                            <a:latin typeface="Cambria Math" panose="02040503050406030204" pitchFamily="18" charset="0"/>
                                            <a:ea typeface="+mn-ea"/>
                                            <a:cs typeface="+mn-cs"/>
                                          </a:rPr>
                                          <m:t>2</m:t>
                                        </m:r>
                                      </m:den>
                                    </m:f>
                                  </m:sub>
                                </m:sSub>
                                <m:rad>
                                  <m:radPr>
                                    <m:degHide m:val="on"/>
                                    <m:ctrlPr>
                                      <a:rPr lang="es-ES" sz="1800" i="1" kern="1200">
                                        <a:solidFill>
                                          <a:schemeClr val="tx1"/>
                                        </a:solidFill>
                                        <a:effectLst/>
                                        <a:latin typeface="Cambria Math" panose="02040503050406030204" pitchFamily="18" charset="0"/>
                                        <a:ea typeface="+mn-ea"/>
                                        <a:cs typeface="+mn-cs"/>
                                      </a:rPr>
                                    </m:ctrlPr>
                                  </m:radPr>
                                  <m:deg/>
                                  <m:e>
                                    <m:f>
                                      <m:fPr>
                                        <m:ctrlPr>
                                          <a:rPr lang="es-ES" sz="1800" i="1" kern="1200">
                                            <a:solidFill>
                                              <a:schemeClr val="tx1"/>
                                            </a:solidFill>
                                            <a:effectLst/>
                                            <a:latin typeface="Cambria Math" panose="02040503050406030204" pitchFamily="18" charset="0"/>
                                            <a:ea typeface="+mn-ea"/>
                                            <a:cs typeface="+mn-cs"/>
                                          </a:rPr>
                                        </m:ctrlPr>
                                      </m:fPr>
                                      <m:num>
                                        <m:r>
                                          <a:rPr lang="es-ES" sz="1800" i="1" kern="1200" smtClean="0">
                                            <a:solidFill>
                                              <a:schemeClr val="tx1"/>
                                            </a:solidFill>
                                            <a:effectLst/>
                                            <a:latin typeface="Cambria Math" panose="02040503050406030204" pitchFamily="18" charset="0"/>
                                            <a:ea typeface="+mn-ea"/>
                                            <a:cs typeface="+mn-cs"/>
                                          </a:rPr>
                                          <m:t> </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i="1" kern="1200">
                                            <a:solidFill>
                                              <a:schemeClr val="tx1"/>
                                            </a:solidFill>
                                            <a:effectLst/>
                                            <a:latin typeface="Cambria Math" panose="02040503050406030204" pitchFamily="18" charset="0"/>
                                            <a:ea typeface="+mn-ea"/>
                                            <a:cs typeface="+mn-cs"/>
                                          </a:rPr>
                                          <m:t>(1−</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1</m:t>
                                            </m:r>
                                          </m:sub>
                                        </m:sSub>
                                        <m:r>
                                          <a:rPr lang="es-ES" sz="1800" i="1" kern="1200">
                                            <a:solidFill>
                                              <a:schemeClr val="tx1"/>
                                            </a:solidFill>
                                            <a:effectLst/>
                                            <a:latin typeface="Cambria Math" panose="02040503050406030204" pitchFamily="18" charset="0"/>
                                            <a:ea typeface="+mn-ea"/>
                                            <a:cs typeface="+mn-cs"/>
                                          </a:rPr>
                                          <m:t>)</m:t>
                                        </m:r>
                                      </m:num>
                                      <m:den>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𝑛</m:t>
                                            </m:r>
                                          </m:e>
                                          <m:sub>
                                            <m:r>
                                              <a:rPr lang="es-ES" sz="1800" i="1" kern="1200">
                                                <a:solidFill>
                                                  <a:schemeClr val="tx1"/>
                                                </a:solidFill>
                                                <a:effectLst/>
                                                <a:latin typeface="Cambria Math" panose="02040503050406030204" pitchFamily="18" charset="0"/>
                                                <a:ea typeface="+mn-ea"/>
                                                <a:cs typeface="+mn-cs"/>
                                              </a:rPr>
                                              <m:t>1</m:t>
                                            </m:r>
                                          </m:sub>
                                        </m:sSub>
                                      </m:den>
                                    </m:f>
                                    <m:r>
                                      <a:rPr lang="es-ES" sz="1800" i="1" kern="1200">
                                        <a:solidFill>
                                          <a:schemeClr val="tx1"/>
                                        </a:solidFill>
                                        <a:effectLst/>
                                        <a:latin typeface="Cambria Math" panose="02040503050406030204" pitchFamily="18" charset="0"/>
                                        <a:ea typeface="+mn-ea"/>
                                        <a:cs typeface="+mn-cs"/>
                                      </a:rPr>
                                      <m:t>+</m:t>
                                    </m:r>
                                    <m:f>
                                      <m:fPr>
                                        <m:ctrlPr>
                                          <a:rPr lang="es-ES" sz="1800" i="1" kern="1200">
                                            <a:solidFill>
                                              <a:schemeClr val="tx1"/>
                                            </a:solidFill>
                                            <a:effectLst/>
                                            <a:latin typeface="Cambria Math" panose="02040503050406030204" pitchFamily="18" charset="0"/>
                                            <a:ea typeface="+mn-ea"/>
                                            <a:cs typeface="+mn-cs"/>
                                          </a:rPr>
                                        </m:ctrlPr>
                                      </m:fPr>
                                      <m:num>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(1−</m:t>
                                        </m:r>
                                        <m:sSub>
                                          <m:sSubPr>
                                            <m:ctrlPr>
                                              <a:rPr lang="es-ES" sz="1800" i="1" kern="1200" smtClean="0">
                                                <a:solidFill>
                                                  <a:schemeClr val="tx1"/>
                                                </a:solidFill>
                                                <a:effectLst/>
                                                <a:latin typeface="Cambria Math" panose="02040503050406030204" pitchFamily="18" charset="0"/>
                                                <a:ea typeface="+mn-ea"/>
                                                <a:cs typeface="+mn-cs"/>
                                              </a:rPr>
                                            </m:ctrlPr>
                                          </m:sSubPr>
                                          <m:e>
                                            <m:acc>
                                              <m:accPr>
                                                <m:chr m:val="̂"/>
                                                <m:ctrlPr>
                                                  <a:rPr lang="es-ES" sz="1800" i="1" kern="1200" smtClean="0">
                                                    <a:solidFill>
                                                      <a:schemeClr val="tx1"/>
                                                    </a:solidFill>
                                                    <a:effectLst/>
                                                    <a:latin typeface="Cambria Math" panose="02040503050406030204" pitchFamily="18" charset="0"/>
                                                    <a:ea typeface="+mn-ea"/>
                                                    <a:cs typeface="+mn-cs"/>
                                                  </a:rPr>
                                                </m:ctrlPr>
                                              </m:accPr>
                                              <m:e>
                                                <m:r>
                                                  <a:rPr lang="es-ES" sz="1800" b="0" i="1" kern="1200" smtClean="0">
                                                    <a:solidFill>
                                                      <a:schemeClr val="tx1"/>
                                                    </a:solidFill>
                                                    <a:effectLst/>
                                                    <a:latin typeface="Cambria Math" panose="02040503050406030204" pitchFamily="18" charset="0"/>
                                                    <a:ea typeface="+mn-ea"/>
                                                    <a:cs typeface="+mn-cs"/>
                                                  </a:rPr>
                                                  <m:t>𝑝</m:t>
                                                </m:r>
                                              </m:e>
                                            </m:acc>
                                          </m:e>
                                          <m:sub>
                                            <m:r>
                                              <a:rPr lang="es-ES" sz="1800" b="0" i="1" kern="1200" smtClean="0">
                                                <a:solidFill>
                                                  <a:schemeClr val="tx1"/>
                                                </a:solidFill>
                                                <a:effectLst/>
                                                <a:latin typeface="Cambria Math" panose="02040503050406030204" pitchFamily="18" charset="0"/>
                                                <a:ea typeface="+mn-ea"/>
                                                <a:cs typeface="+mn-cs"/>
                                              </a:rPr>
                                              <m:t>2</m:t>
                                            </m:r>
                                          </m:sub>
                                        </m:sSub>
                                        <m:r>
                                          <a:rPr lang="es-ES" sz="1800" i="1" kern="1200">
                                            <a:solidFill>
                                              <a:schemeClr val="tx1"/>
                                            </a:solidFill>
                                            <a:effectLst/>
                                            <a:latin typeface="Cambria Math" panose="02040503050406030204" pitchFamily="18" charset="0"/>
                                            <a:ea typeface="+mn-ea"/>
                                            <a:cs typeface="+mn-cs"/>
                                          </a:rPr>
                                          <m:t>)</m:t>
                                        </m:r>
                                      </m:num>
                                      <m:den>
                                        <m:sSub>
                                          <m:sSubPr>
                                            <m:ctrlPr>
                                              <a:rPr lang="es-ES" sz="1800" i="1" kern="1200">
                                                <a:solidFill>
                                                  <a:schemeClr val="tx1"/>
                                                </a:solidFill>
                                                <a:effectLst/>
                                                <a:latin typeface="Cambria Math" panose="02040503050406030204" pitchFamily="18" charset="0"/>
                                                <a:ea typeface="+mn-ea"/>
                                                <a:cs typeface="+mn-cs"/>
                                              </a:rPr>
                                            </m:ctrlPr>
                                          </m:sSubPr>
                                          <m:e>
                                            <m:r>
                                              <a:rPr lang="es-ES" sz="1800" i="1" kern="1200">
                                                <a:solidFill>
                                                  <a:schemeClr val="tx1"/>
                                                </a:solidFill>
                                                <a:effectLst/>
                                                <a:latin typeface="Cambria Math" panose="02040503050406030204" pitchFamily="18" charset="0"/>
                                                <a:ea typeface="+mn-ea"/>
                                                <a:cs typeface="+mn-cs"/>
                                              </a:rPr>
                                              <m:t>𝑛</m:t>
                                            </m:r>
                                          </m:e>
                                          <m:sub>
                                            <m:r>
                                              <a:rPr lang="es-ES" sz="1800" i="1" kern="1200">
                                                <a:solidFill>
                                                  <a:schemeClr val="tx1"/>
                                                </a:solidFill>
                                                <a:effectLst/>
                                                <a:latin typeface="Cambria Math" panose="02040503050406030204" pitchFamily="18" charset="0"/>
                                                <a:ea typeface="+mn-ea"/>
                                                <a:cs typeface="+mn-cs"/>
                                              </a:rPr>
                                              <m:t>2</m:t>
                                            </m:r>
                                          </m:sub>
                                        </m:sSub>
                                      </m:den>
                                    </m:f>
                                  </m:e>
                                </m:rad>
                              </m:oMath>
                            </m:oMathPara>
                          </a14:m>
                          <a:endParaRPr lang="es-ES" dirty="0"/>
                        </a:p>
                        <a:p>
                          <a:endParaRPr lang="es-ES" dirty="0"/>
                        </a:p>
                      </a:txBody>
                      <a:tcPr anchor="ctr"/>
                    </a:tc>
                    <a:extLst>
                      <a:ext uri="{0D108BD9-81ED-4DB2-BD59-A6C34878D82A}">
                        <a16:rowId xmlns:a16="http://schemas.microsoft.com/office/drawing/2014/main" val="176150309"/>
                      </a:ext>
                    </a:extLst>
                  </a:tr>
                </a:tbl>
              </a:graphicData>
            </a:graphic>
          </p:graphicFrame>
        </mc:Choice>
        <mc:Fallback xmlns="">
          <p:graphicFrame>
            <p:nvGraphicFramePr>
              <p:cNvPr id="5" name="Tabla 5">
                <a:extLst>
                  <a:ext uri="{FF2B5EF4-FFF2-40B4-BE49-F238E27FC236}">
                    <a16:creationId xmlns:a16="http://schemas.microsoft.com/office/drawing/2014/main" id="{907B5D15-E7B8-951E-349B-4D3ACC2384CB}"/>
                  </a:ext>
                </a:extLst>
              </p:cNvPr>
              <p:cNvGraphicFramePr>
                <a:graphicFrameLocks noGrp="1"/>
              </p:cNvGraphicFramePr>
              <p:nvPr>
                <p:ph idx="1"/>
                <p:extLst>
                  <p:ext uri="{D42A27DB-BD31-4B8C-83A1-F6EECF244321}">
                    <p14:modId xmlns:p14="http://schemas.microsoft.com/office/powerpoint/2010/main" val="939268921"/>
                  </p:ext>
                </p:extLst>
              </p:nvPr>
            </p:nvGraphicFramePr>
            <p:xfrm>
              <a:off x="1493134" y="2219960"/>
              <a:ext cx="8565263" cy="3175381"/>
            </p:xfrm>
            <a:graphic>
              <a:graphicData uri="http://schemas.openxmlformats.org/drawingml/2006/table">
                <a:tbl>
                  <a:tblPr firstRow="1" bandRow="1">
                    <a:tableStyleId>{5940675A-B579-460E-94D1-54222C63F5DA}</a:tableStyleId>
                  </a:tblPr>
                  <a:tblGrid>
                    <a:gridCol w="2169546">
                      <a:extLst>
                        <a:ext uri="{9D8B030D-6E8A-4147-A177-3AD203B41FA5}">
                          <a16:colId xmlns:a16="http://schemas.microsoft.com/office/drawing/2014/main" val="1544234520"/>
                        </a:ext>
                      </a:extLst>
                    </a:gridCol>
                    <a:gridCol w="6395717">
                      <a:extLst>
                        <a:ext uri="{9D8B030D-6E8A-4147-A177-3AD203B41FA5}">
                          <a16:colId xmlns:a16="http://schemas.microsoft.com/office/drawing/2014/main" val="906517329"/>
                        </a:ext>
                      </a:extLst>
                    </a:gridCol>
                  </a:tblGrid>
                  <a:tr h="640080">
                    <a:tc>
                      <a:txBody>
                        <a:bodyPr/>
                        <a:lstStyle/>
                        <a:p>
                          <a:pPr algn="ctr"/>
                          <a:r>
                            <a:rPr lang="es-ES" b="1" dirty="0"/>
                            <a:t>Tamaño de las muestras (n1,n2)</a:t>
                          </a:r>
                        </a:p>
                      </a:txBody>
                      <a:tcPr>
                        <a:solidFill>
                          <a:schemeClr val="bg1">
                            <a:lumMod val="85000"/>
                          </a:schemeClr>
                        </a:solidFill>
                      </a:tcPr>
                    </a:tc>
                    <a:tc>
                      <a:txBody>
                        <a:bodyPr/>
                        <a:lstStyle/>
                        <a:p>
                          <a:pPr algn="ctr"/>
                          <a:r>
                            <a:rPr lang="es-ES" b="1" dirty="0"/>
                            <a:t>Intervalo de confianza</a:t>
                          </a:r>
                        </a:p>
                      </a:txBody>
                      <a:tcPr>
                        <a:solidFill>
                          <a:schemeClr val="bg1">
                            <a:lumMod val="85000"/>
                          </a:schemeClr>
                        </a:solidFill>
                      </a:tcPr>
                    </a:tc>
                    <a:extLst>
                      <a:ext uri="{0D108BD9-81ED-4DB2-BD59-A6C34878D82A}">
                        <a16:rowId xmlns:a16="http://schemas.microsoft.com/office/drawing/2014/main" val="3620868640"/>
                      </a:ext>
                    </a:extLst>
                  </a:tr>
                  <a:tr h="2535301">
                    <a:tc>
                      <a:txBody>
                        <a:bodyPr/>
                        <a:lstStyle/>
                        <a:p>
                          <a:pPr algn="ctr"/>
                          <a:r>
                            <a:rPr lang="es-ES" dirty="0"/>
                            <a:t>Grande</a:t>
                          </a:r>
                        </a:p>
                      </a:txBody>
                      <a:tcPr anchor="ctr"/>
                    </a:tc>
                    <a:tc>
                      <a:txBody>
                        <a:bodyPr/>
                        <a:lstStyle/>
                        <a:p>
                          <a:endParaRPr lang="es-ES"/>
                        </a:p>
                      </a:txBody>
                      <a:tcPr anchor="ctr">
                        <a:blipFill>
                          <a:blip r:embed="rId2"/>
                          <a:stretch>
                            <a:fillRect l="-34000" t="-26379" r="-286" b="-480"/>
                          </a:stretch>
                        </a:blipFill>
                      </a:tcPr>
                    </a:tc>
                    <a:extLst>
                      <a:ext uri="{0D108BD9-81ED-4DB2-BD59-A6C34878D82A}">
                        <a16:rowId xmlns:a16="http://schemas.microsoft.com/office/drawing/2014/main" val="176150309"/>
                      </a:ext>
                    </a:extLst>
                  </a:tr>
                </a:tbl>
              </a:graphicData>
            </a:graphic>
          </p:graphicFrame>
        </mc:Fallback>
      </mc:AlternateContent>
      <p:sp>
        <p:nvSpPr>
          <p:cNvPr id="4" name="Marcador de número de diapositiva 3">
            <a:extLst>
              <a:ext uri="{FF2B5EF4-FFF2-40B4-BE49-F238E27FC236}">
                <a16:creationId xmlns:a16="http://schemas.microsoft.com/office/drawing/2014/main" id="{631FCE57-DC4F-5256-4E73-1E8DB5867327}"/>
              </a:ext>
            </a:extLst>
          </p:cNvPr>
          <p:cNvSpPr>
            <a:spLocks noGrp="1"/>
          </p:cNvSpPr>
          <p:nvPr>
            <p:ph type="sldNum" sz="quarter" idx="12"/>
          </p:nvPr>
        </p:nvSpPr>
        <p:spPr/>
        <p:txBody>
          <a:bodyPr/>
          <a:lstStyle/>
          <a:p>
            <a:fld id="{336CAFD0-1F6E-4E11-9822-836563A02839}" type="slidenum">
              <a:rPr lang="es-ES" smtClean="0"/>
              <a:pPr/>
              <a:t>70</a:t>
            </a:fld>
            <a:endParaRPr lang="es-ES" dirty="0"/>
          </a:p>
        </p:txBody>
      </p:sp>
    </p:spTree>
    <p:extLst>
      <p:ext uri="{BB962C8B-B14F-4D97-AF65-F5344CB8AC3E}">
        <p14:creationId xmlns:p14="http://schemas.microsoft.com/office/powerpoint/2010/main" val="32646038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ED810B-9096-76F2-99E4-A854279F1D81}"/>
              </a:ext>
            </a:extLst>
          </p:cNvPr>
          <p:cNvSpPr>
            <a:spLocks noGrp="1"/>
          </p:cNvSpPr>
          <p:nvPr>
            <p:ph type="title"/>
          </p:nvPr>
        </p:nvSpPr>
        <p:spPr/>
        <p:txBody>
          <a:bodyPr>
            <a:normAutofit fontScale="90000"/>
          </a:bodyPr>
          <a:lstStyle/>
          <a:p>
            <a:r>
              <a:rPr lang="es-ES" dirty="0"/>
              <a:t>11. Intervalo de confianza para la diferencia de proporciones en dos poblaciones. Ejemplo 9.17</a:t>
            </a:r>
          </a:p>
        </p:txBody>
      </p:sp>
      <p:sp>
        <p:nvSpPr>
          <p:cNvPr id="3" name="Marcador de contenido 2">
            <a:extLst>
              <a:ext uri="{FF2B5EF4-FFF2-40B4-BE49-F238E27FC236}">
                <a16:creationId xmlns:a16="http://schemas.microsoft.com/office/drawing/2014/main" id="{BE890199-2954-09C6-A12E-C6AA403889DE}"/>
              </a:ext>
            </a:extLst>
          </p:cNvPr>
          <p:cNvSpPr>
            <a:spLocks noGrp="1"/>
          </p:cNvSpPr>
          <p:nvPr>
            <p:ph idx="1"/>
          </p:nvPr>
        </p:nvSpPr>
        <p:spPr/>
        <p:txBody>
          <a:bodyPr/>
          <a:lstStyle/>
          <a:p>
            <a:r>
              <a:rPr lang="es-ES" dirty="0"/>
              <a:t>Un candidato se prepara para las elecciones locales. </a:t>
            </a:r>
          </a:p>
          <a:p>
            <a:r>
              <a:rPr lang="es-ES" dirty="0"/>
              <a:t>En su campaña, 42 de 70 personas seleccionadas al azar en la ciudad A y 59 de las 100 personas seleccionadas al azar en la ciudad B mostraron que votarían por este candidato. </a:t>
            </a:r>
          </a:p>
          <a:p>
            <a:r>
              <a:rPr lang="es-ES" dirty="0"/>
              <a:t>Estimar la diferencia de apoyo que este candidato está recibiendo en las ciudades A y B con un 95 % de confianza. </a:t>
            </a:r>
          </a:p>
        </p:txBody>
      </p:sp>
      <p:sp>
        <p:nvSpPr>
          <p:cNvPr id="4" name="Marcador de número de diapositiva 3">
            <a:extLst>
              <a:ext uri="{FF2B5EF4-FFF2-40B4-BE49-F238E27FC236}">
                <a16:creationId xmlns:a16="http://schemas.microsoft.com/office/drawing/2014/main" id="{DF6F4F10-0679-3119-E53B-AFC2525CE398}"/>
              </a:ext>
            </a:extLst>
          </p:cNvPr>
          <p:cNvSpPr>
            <a:spLocks noGrp="1"/>
          </p:cNvSpPr>
          <p:nvPr>
            <p:ph type="sldNum" sz="quarter" idx="12"/>
          </p:nvPr>
        </p:nvSpPr>
        <p:spPr/>
        <p:txBody>
          <a:bodyPr/>
          <a:lstStyle/>
          <a:p>
            <a:fld id="{336CAFD0-1F6E-4E11-9822-836563A02839}" type="slidenum">
              <a:rPr lang="es-ES" smtClean="0"/>
              <a:pPr/>
              <a:t>71</a:t>
            </a:fld>
            <a:endParaRPr lang="es-ES" dirty="0"/>
          </a:p>
        </p:txBody>
      </p:sp>
    </p:spTree>
    <p:extLst>
      <p:ext uri="{BB962C8B-B14F-4D97-AF65-F5344CB8AC3E}">
        <p14:creationId xmlns:p14="http://schemas.microsoft.com/office/powerpoint/2010/main" val="27063392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ED810B-9096-76F2-99E4-A854279F1D81}"/>
              </a:ext>
            </a:extLst>
          </p:cNvPr>
          <p:cNvSpPr>
            <a:spLocks noGrp="1"/>
          </p:cNvSpPr>
          <p:nvPr>
            <p:ph type="title"/>
          </p:nvPr>
        </p:nvSpPr>
        <p:spPr/>
        <p:txBody>
          <a:bodyPr>
            <a:noAutofit/>
          </a:bodyPr>
          <a:lstStyle/>
          <a:p>
            <a:r>
              <a:rPr lang="es-ES" sz="3200" dirty="0"/>
              <a:t>11. Intervalo de confianza para la diferencia de proporciones en dos poblaciones. Ejemplo 9.17 (Solución)</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E890199-2954-09C6-A12E-C6AA403889DE}"/>
                  </a:ext>
                </a:extLst>
              </p:cNvPr>
              <p:cNvSpPr>
                <a:spLocks noGrp="1"/>
              </p:cNvSpPr>
              <p:nvPr>
                <p:ph idx="1"/>
              </p:nvPr>
            </p:nvSpPr>
            <p:spPr>
              <a:xfrm>
                <a:off x="838200" y="1825625"/>
                <a:ext cx="10515600" cy="4895850"/>
              </a:xfrm>
            </p:spPr>
            <p:txBody>
              <a:bodyPr>
                <a:normAutofit fontScale="77500" lnSpcReduction="20000"/>
              </a:bodyPr>
              <a:lstStyle/>
              <a:p>
                <a:r>
                  <a:rPr lang="es-ES" dirty="0"/>
                  <a:t>Son muestras grandes: </a:t>
                </a:r>
                <a14:m>
                  <m:oMath xmlns:m="http://schemas.openxmlformats.org/officeDocument/2006/math">
                    <m:sSub>
                      <m:sSubPr>
                        <m:ctrlPr>
                          <a:rPr lang="es-ES" sz="2800" i="1" kern="1200" smtClean="0">
                            <a:solidFill>
                              <a:schemeClr val="tx1"/>
                            </a:solidFill>
                            <a:effectLst/>
                            <a:latin typeface="Cambria Math" panose="02040503050406030204" pitchFamily="18" charset="0"/>
                            <a:ea typeface="+mn-ea"/>
                            <a:cs typeface="+mn-cs"/>
                          </a:rPr>
                        </m:ctrlPr>
                      </m:sSubPr>
                      <m:e>
                        <m:r>
                          <a:rPr lang="es-ES" sz="2800" i="1" kern="1200">
                            <a:solidFill>
                              <a:schemeClr val="tx1"/>
                            </a:solidFill>
                            <a:effectLst/>
                            <a:latin typeface="Cambria Math" panose="02040503050406030204" pitchFamily="18" charset="0"/>
                            <a:ea typeface="+mn-ea"/>
                            <a:cs typeface="+mn-cs"/>
                          </a:rPr>
                          <m:t>𝑛</m:t>
                        </m:r>
                      </m:e>
                      <m:sub>
                        <m:r>
                          <a:rPr lang="es-ES" sz="2800" i="1" kern="1200">
                            <a:solidFill>
                              <a:schemeClr val="tx1"/>
                            </a:solidFill>
                            <a:effectLst/>
                            <a:latin typeface="Cambria Math" panose="02040503050406030204" pitchFamily="18" charset="0"/>
                            <a:ea typeface="+mn-ea"/>
                            <a:cs typeface="+mn-cs"/>
                          </a:rPr>
                          <m:t>1</m:t>
                        </m:r>
                      </m:sub>
                    </m:sSub>
                    <m:r>
                      <a:rPr lang="es-ES" sz="2800" b="0" i="1" kern="1200" smtClean="0">
                        <a:solidFill>
                          <a:schemeClr val="tx1"/>
                        </a:solidFill>
                        <a:effectLst/>
                        <a:latin typeface="Cambria Math" panose="02040503050406030204" pitchFamily="18" charset="0"/>
                        <a:ea typeface="+mn-ea"/>
                        <a:cs typeface="+mn-cs"/>
                      </a:rPr>
                      <m:t>=70,</m:t>
                    </m:r>
                    <m:sSub>
                      <m:sSubPr>
                        <m:ctrlPr>
                          <a:rPr lang="es-ES" i="1">
                            <a:latin typeface="Cambria Math" panose="02040503050406030204" pitchFamily="18" charset="0"/>
                          </a:rPr>
                        </m:ctrlPr>
                      </m:sSubPr>
                      <m:e>
                        <m:r>
                          <a:rPr lang="es-ES" b="0" i="1" smtClean="0">
                            <a:latin typeface="Cambria Math" panose="02040503050406030204" pitchFamily="18" charset="0"/>
                          </a:rPr>
                          <m:t>   </m:t>
                        </m:r>
                        <m:r>
                          <a:rPr lang="es-ES" i="1">
                            <a:latin typeface="Cambria Math" panose="02040503050406030204" pitchFamily="18" charset="0"/>
                          </a:rPr>
                          <m:t>𝑛</m:t>
                        </m:r>
                      </m:e>
                      <m:sub>
                        <m:r>
                          <a:rPr lang="es-ES" b="0" i="1" smtClean="0">
                            <a:latin typeface="Cambria Math" panose="02040503050406030204" pitchFamily="18" charset="0"/>
                          </a:rPr>
                          <m:t>2</m:t>
                        </m:r>
                      </m:sub>
                    </m:sSub>
                    <m:r>
                      <a:rPr lang="es-ES" i="1">
                        <a:latin typeface="Cambria Math" panose="02040503050406030204" pitchFamily="18" charset="0"/>
                      </a:rPr>
                      <m:t>=</m:t>
                    </m:r>
                    <m:r>
                      <a:rPr lang="es-ES" b="0" i="1" smtClean="0">
                        <a:latin typeface="Cambria Math" panose="02040503050406030204" pitchFamily="18" charset="0"/>
                      </a:rPr>
                      <m:t>10</m:t>
                    </m:r>
                    <m:r>
                      <a:rPr lang="es-ES" i="1">
                        <a:latin typeface="Cambria Math" panose="02040503050406030204" pitchFamily="18" charset="0"/>
                      </a:rPr>
                      <m:t>0</m:t>
                    </m:r>
                  </m:oMath>
                </a14:m>
                <a:endParaRPr lang="es-ES" dirty="0"/>
              </a:p>
              <a:p>
                <a14:m>
                  <m:oMath xmlns:m="http://schemas.openxmlformats.org/officeDocument/2006/math">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42</m:t>
                        </m:r>
                      </m:num>
                      <m:den>
                        <m:r>
                          <a:rPr lang="es-ES" b="0" i="1" smtClean="0">
                            <a:latin typeface="Cambria Math" panose="02040503050406030204" pitchFamily="18" charset="0"/>
                          </a:rPr>
                          <m:t>70</m:t>
                        </m:r>
                      </m:den>
                    </m:f>
                    <m:r>
                      <a:rPr lang="es-ES" b="0" i="1" smtClean="0">
                        <a:latin typeface="Cambria Math" panose="02040503050406030204" pitchFamily="18" charset="0"/>
                      </a:rPr>
                      <m:t>=0.6</m:t>
                    </m:r>
                  </m:oMath>
                </a14:m>
                <a:endParaRPr lang="es-ES" b="0" dirty="0"/>
              </a:p>
              <a:p>
                <a14:m>
                  <m:oMath xmlns:m="http://schemas.openxmlformats.org/officeDocument/2006/math">
                    <m:sSub>
                      <m:sSubPr>
                        <m:ctrlPr>
                          <a:rPr lang="es-ES" i="1" smtClean="0">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b="0" i="1" smtClean="0">
                            <a:latin typeface="Cambria Math" panose="02040503050406030204" pitchFamily="18" charset="0"/>
                          </a:rPr>
                          <m:t>2</m:t>
                        </m:r>
                      </m:sub>
                    </m:sSub>
                    <m:r>
                      <a:rPr lang="es-ES" b="0" i="1" smtClean="0">
                        <a:latin typeface="Cambria Math" panose="02040503050406030204" pitchFamily="18" charset="0"/>
                      </a:rPr>
                      <m:t>=</m:t>
                    </m:r>
                    <m:f>
                      <m:fPr>
                        <m:ctrlPr>
                          <a:rPr lang="es-ES" b="0" i="1" smtClean="0">
                            <a:latin typeface="Cambria Math" panose="02040503050406030204" pitchFamily="18" charset="0"/>
                          </a:rPr>
                        </m:ctrlPr>
                      </m:fPr>
                      <m:num>
                        <m:r>
                          <a:rPr lang="es-ES" b="0" i="1" smtClean="0">
                            <a:latin typeface="Cambria Math" panose="02040503050406030204" pitchFamily="18" charset="0"/>
                          </a:rPr>
                          <m:t>59</m:t>
                        </m:r>
                      </m:num>
                      <m:den>
                        <m:r>
                          <a:rPr lang="es-ES" b="0" i="1" smtClean="0">
                            <a:latin typeface="Cambria Math" panose="02040503050406030204" pitchFamily="18" charset="0"/>
                          </a:rPr>
                          <m:t>100</m:t>
                        </m:r>
                      </m:den>
                    </m:f>
                    <m:r>
                      <a:rPr lang="es-ES" b="0" i="1" smtClean="0">
                        <a:latin typeface="Cambria Math" panose="02040503050406030204" pitchFamily="18" charset="0"/>
                      </a:rPr>
                      <m:t>=0.59</m:t>
                    </m:r>
                  </m:oMath>
                </a14:m>
                <a:endParaRPr lang="es-ES" b="0" dirty="0"/>
              </a:p>
              <a:p>
                <a14:m>
                  <m:oMath xmlns:m="http://schemas.openxmlformats.org/officeDocument/2006/math">
                    <m:r>
                      <a:rPr lang="es-ES" b="0" i="1" smtClean="0">
                        <a:latin typeface="Cambria Math" panose="02040503050406030204" pitchFamily="18" charset="0"/>
                      </a:rPr>
                      <m:t>1−</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=0.95→</m:t>
                    </m:r>
                    <m:r>
                      <a:rPr lang="es-ES" b="0" i="1" smtClean="0">
                        <a:latin typeface="Cambria Math" panose="02040503050406030204" pitchFamily="18" charset="0"/>
                        <a:ea typeface="Cambria Math" panose="02040503050406030204" pitchFamily="18" charset="0"/>
                      </a:rPr>
                      <m:t>𝛼</m:t>
                    </m:r>
                    <m:r>
                      <a:rPr lang="es-ES" b="0" i="1" smtClean="0">
                        <a:latin typeface="Cambria Math" panose="02040503050406030204" pitchFamily="18" charset="0"/>
                        <a:ea typeface="Cambria Math" panose="02040503050406030204" pitchFamily="18" charset="0"/>
                      </a:rPr>
                      <m:t>=0.05→</m:t>
                    </m:r>
                    <m:f>
                      <m:fPr>
                        <m:ctrlPr>
                          <a:rPr lang="es-ES" b="0" i="1" smtClean="0">
                            <a:latin typeface="Cambria Math" panose="02040503050406030204" pitchFamily="18" charset="0"/>
                            <a:ea typeface="Cambria Math" panose="02040503050406030204" pitchFamily="18" charset="0"/>
                          </a:rPr>
                        </m:ctrlPr>
                      </m:fPr>
                      <m:num>
                        <m:r>
                          <a:rPr lang="es-ES" b="0"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r>
                      <a:rPr lang="es-ES" b="0" i="1" smtClean="0">
                        <a:latin typeface="Cambria Math" panose="02040503050406030204" pitchFamily="18" charset="0"/>
                        <a:ea typeface="Cambria Math" panose="02040503050406030204" pitchFamily="18" charset="0"/>
                      </a:rPr>
                      <m:t>=0.025</m:t>
                    </m:r>
                  </m:oMath>
                </a14:m>
                <a:endParaRPr lang="es-ES" dirty="0"/>
              </a:p>
              <a:p>
                <a:r>
                  <a:rPr lang="es-ES" dirty="0"/>
                  <a:t>Según la tabla A4: </a:t>
                </a:r>
                <a14:m>
                  <m:oMath xmlns:m="http://schemas.openxmlformats.org/officeDocument/2006/math">
                    <m:sSub>
                      <m:sSubPr>
                        <m:ctrlPr>
                          <a:rPr lang="es-ES" i="1" smtClean="0">
                            <a:latin typeface="Cambria Math" panose="02040503050406030204" pitchFamily="18" charset="0"/>
                          </a:rPr>
                        </m:ctrlPr>
                      </m:sSubPr>
                      <m:e>
                        <m:r>
                          <a:rPr lang="es-ES" b="0" i="1" smtClean="0">
                            <a:latin typeface="Cambria Math" panose="02040503050406030204" pitchFamily="18" charset="0"/>
                          </a:rPr>
                          <m:t>𝑧</m:t>
                        </m:r>
                      </m:e>
                      <m:sub>
                        <m:f>
                          <m:fPr>
                            <m:ctrlPr>
                              <a:rPr lang="es-ES" b="0" i="1" smtClean="0">
                                <a:latin typeface="Cambria Math" panose="02040503050406030204" pitchFamily="18" charset="0"/>
                                <a:ea typeface="Cambria Math" panose="02040503050406030204" pitchFamily="18" charset="0"/>
                              </a:rPr>
                            </m:ctrlPr>
                          </m:fPr>
                          <m:num>
                            <m:r>
                              <a:rPr lang="es-ES" i="1" smtClean="0">
                                <a:latin typeface="Cambria Math" panose="02040503050406030204" pitchFamily="18" charset="0"/>
                                <a:ea typeface="Cambria Math" panose="02040503050406030204" pitchFamily="18" charset="0"/>
                              </a:rPr>
                              <m:t>𝛼</m:t>
                            </m:r>
                          </m:num>
                          <m:den>
                            <m:r>
                              <a:rPr lang="es-ES" b="0" i="1" smtClean="0">
                                <a:latin typeface="Cambria Math" panose="02040503050406030204" pitchFamily="18" charset="0"/>
                                <a:ea typeface="Cambria Math" panose="02040503050406030204" pitchFamily="18" charset="0"/>
                              </a:rPr>
                              <m:t>2</m:t>
                            </m:r>
                          </m:den>
                        </m:f>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b="0" i="1" smtClean="0">
                            <a:latin typeface="Cambria Math" panose="02040503050406030204" pitchFamily="18" charset="0"/>
                          </a:rPr>
                          <m:t>𝑧</m:t>
                        </m:r>
                      </m:e>
                      <m:sub>
                        <m:r>
                          <a:rPr lang="es-ES" b="0" i="1" smtClean="0">
                            <a:latin typeface="Cambria Math" panose="02040503050406030204" pitchFamily="18" charset="0"/>
                            <a:ea typeface="Cambria Math" panose="02040503050406030204" pitchFamily="18" charset="0"/>
                          </a:rPr>
                          <m:t>0.025</m:t>
                        </m:r>
                      </m:sub>
                    </m:sSub>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d>
                      <m:dPr>
                        <m:ctrlPr>
                          <a:rPr lang="es-ES" b="0" i="1" smtClean="0">
                            <a:latin typeface="Cambria Math" panose="02040503050406030204" pitchFamily="18" charset="0"/>
                            <a:ea typeface="Cambria Math" panose="02040503050406030204" pitchFamily="18" charset="0"/>
                          </a:rPr>
                        </m:ctrlPr>
                      </m:dPr>
                      <m:e>
                        <m:r>
                          <a:rPr lang="es-ES" b="0" i="1" smtClean="0">
                            <a:latin typeface="Cambria Math" panose="02040503050406030204" pitchFamily="18" charset="0"/>
                            <a:ea typeface="Cambria Math" panose="02040503050406030204" pitchFamily="18" charset="0"/>
                          </a:rPr>
                          <m:t>1−0.025</m:t>
                        </m:r>
                      </m:e>
                    </m:d>
                    <m:r>
                      <a:rPr lang="es-ES" b="0"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𝑞</m:t>
                    </m:r>
                    <m:r>
                      <a:rPr lang="es-ES" b="0" i="1" smtClean="0">
                        <a:latin typeface="Cambria Math" panose="02040503050406030204" pitchFamily="18" charset="0"/>
                        <a:ea typeface="Cambria Math" panose="02040503050406030204" pitchFamily="18" charset="0"/>
                      </a:rPr>
                      <m:t>(0.975)=1.96</m:t>
                    </m:r>
                  </m:oMath>
                </a14:m>
                <a:endParaRPr lang="es-ES" dirty="0"/>
              </a:p>
              <a:p>
                <a:r>
                  <a:rPr lang="es-ES" dirty="0"/>
                  <a:t>Intervalo de confianza </a:t>
                </a:r>
                <a:r>
                  <a:rPr lang="es-ES" dirty="0">
                    <a:sym typeface="Wingdings" panose="05000000000000000000" pitchFamily="2" charset="2"/>
                  </a:rPr>
                  <a:t> C</a:t>
                </a:r>
                <a:r>
                  <a:rPr lang="es-ES" dirty="0"/>
                  <a:t>omo contiene el valor 0, la diferencia NO es significativa</a:t>
                </a:r>
              </a:p>
              <a:p>
                <a:pPr lvl="1"/>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𝑖</m:t>
                        </m:r>
                      </m:sub>
                    </m:sSub>
                    <m:r>
                      <a:rPr lang="es-ES" i="1">
                        <a:latin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r>
                      <a:rPr lang="es-ES" i="1">
                        <a:latin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r>
                      <a:rPr lang="es-ES" i="1">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 </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d>
                              <m:dPr>
                                <m:ctrlPr>
                                  <a:rPr lang="es-ES" i="1">
                                    <a:latin typeface="Cambria Math" panose="02040503050406030204" pitchFamily="18" charset="0"/>
                                  </a:rPr>
                                </m:ctrlPr>
                              </m:dPr>
                              <m:e>
                                <m:r>
                                  <a:rPr lang="es-ES" i="1">
                                    <a:latin typeface="Cambria Math" panose="02040503050406030204" pitchFamily="18" charset="0"/>
                                  </a:rPr>
                                  <m:t>1−</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e>
                            </m:d>
                          </m:num>
                          <m:den>
                            <m:sSub>
                              <m:sSubPr>
                                <m:ctrlPr>
                                  <a:rPr lang="es-ES" i="1">
                                    <a:latin typeface="Cambria Math" panose="02040503050406030204" pitchFamily="18" charset="0"/>
                                  </a:rPr>
                                </m:ctrlPr>
                              </m:sSubPr>
                              <m:e>
                                <m:r>
                                  <a:rPr lang="es-ES" i="1">
                                    <a:latin typeface="Cambria Math" panose="02040503050406030204" pitchFamily="18" charset="0"/>
                                  </a:rPr>
                                  <m:t>𝑛</m:t>
                                </m:r>
                              </m:e>
                              <m:sub>
                                <m:r>
                                  <a:rPr lang="es-ES" i="1">
                                    <a:latin typeface="Cambria Math" panose="02040503050406030204" pitchFamily="18" charset="0"/>
                                  </a:rPr>
                                  <m:t>1</m:t>
                                </m:r>
                              </m:sub>
                            </m:sSub>
                          </m:den>
                        </m:f>
                        <m:r>
                          <a:rPr lang="es-ES" i="1">
                            <a:latin typeface="Cambria Math" panose="02040503050406030204" pitchFamily="18" charset="0"/>
                          </a:rPr>
                          <m:t>+</m:t>
                        </m:r>
                        <m:f>
                          <m:fPr>
                            <m:ctrlPr>
                              <a:rPr lang="es-ES" i="1">
                                <a:latin typeface="Cambria Math" panose="02040503050406030204" pitchFamily="18" charset="0"/>
                              </a:rPr>
                            </m:ctrlPr>
                          </m:fPr>
                          <m:num>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d>
                              <m:dPr>
                                <m:ctrlPr>
                                  <a:rPr lang="es-ES" i="1">
                                    <a:latin typeface="Cambria Math" panose="02040503050406030204" pitchFamily="18" charset="0"/>
                                  </a:rPr>
                                </m:ctrlPr>
                              </m:dPr>
                              <m:e>
                                <m:r>
                                  <a:rPr lang="es-ES" i="1">
                                    <a:latin typeface="Cambria Math" panose="02040503050406030204" pitchFamily="18" charset="0"/>
                                  </a:rPr>
                                  <m:t>1−</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e>
                            </m:d>
                          </m:num>
                          <m:den>
                            <m:sSub>
                              <m:sSubPr>
                                <m:ctrlPr>
                                  <a:rPr lang="es-ES" i="1">
                                    <a:latin typeface="Cambria Math" panose="02040503050406030204" pitchFamily="18" charset="0"/>
                                  </a:rPr>
                                </m:ctrlPr>
                              </m:sSubPr>
                              <m:e>
                                <m:r>
                                  <a:rPr lang="es-ES" i="1">
                                    <a:latin typeface="Cambria Math" panose="02040503050406030204" pitchFamily="18" charset="0"/>
                                  </a:rPr>
                                  <m:t>𝑛</m:t>
                                </m:r>
                              </m:e>
                              <m:sub>
                                <m:r>
                                  <a:rPr lang="es-ES" i="1">
                                    <a:latin typeface="Cambria Math" panose="02040503050406030204" pitchFamily="18" charset="0"/>
                                  </a:rPr>
                                  <m:t>2</m:t>
                                </m:r>
                              </m:sub>
                            </m:sSub>
                          </m:den>
                        </m:f>
                      </m:e>
                    </m:rad>
                    <m:r>
                      <a:rPr lang="es-ES" b="0" i="1" smtClean="0">
                        <a:latin typeface="Cambria Math" panose="02040503050406030204" pitchFamily="18" charset="0"/>
                      </a:rPr>
                      <m:t>=0.6−0.59−1.96</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 </m:t>
                            </m:r>
                            <m:r>
                              <a:rPr lang="es-ES" i="1" smtClean="0">
                                <a:latin typeface="Cambria Math" panose="02040503050406030204" pitchFamily="18" charset="0"/>
                              </a:rPr>
                              <m:t>0</m:t>
                            </m:r>
                            <m:r>
                              <a:rPr lang="es-ES" b="0" i="1" smtClean="0">
                                <a:latin typeface="Cambria Math" panose="02040503050406030204" pitchFamily="18" charset="0"/>
                              </a:rPr>
                              <m:t>.6</m:t>
                            </m:r>
                            <m:d>
                              <m:dPr>
                                <m:ctrlPr>
                                  <a:rPr lang="es-ES" i="1">
                                    <a:latin typeface="Cambria Math" panose="02040503050406030204" pitchFamily="18" charset="0"/>
                                  </a:rPr>
                                </m:ctrlPr>
                              </m:dPr>
                              <m:e>
                                <m:r>
                                  <a:rPr lang="es-ES" i="1">
                                    <a:latin typeface="Cambria Math" panose="02040503050406030204" pitchFamily="18" charset="0"/>
                                  </a:rPr>
                                  <m:t>1−</m:t>
                                </m:r>
                                <m:r>
                                  <a:rPr lang="es-ES" b="0" i="1" smtClean="0">
                                    <a:latin typeface="Cambria Math" panose="02040503050406030204" pitchFamily="18" charset="0"/>
                                  </a:rPr>
                                  <m:t>0.6</m:t>
                                </m:r>
                              </m:e>
                            </m:d>
                          </m:num>
                          <m:den>
                            <m:r>
                              <a:rPr lang="es-ES" b="0" i="1" smtClean="0">
                                <a:latin typeface="Cambria Math" panose="02040503050406030204" pitchFamily="18" charset="0"/>
                              </a:rPr>
                              <m:t>70</m:t>
                            </m:r>
                          </m:den>
                        </m:f>
                        <m:r>
                          <a:rPr lang="es-ES" i="1">
                            <a:latin typeface="Cambria Math" panose="02040503050406030204" pitchFamily="18" charset="0"/>
                          </a:rPr>
                          <m:t>+</m:t>
                        </m:r>
                        <m:f>
                          <m:fPr>
                            <m:ctrlPr>
                              <a:rPr lang="es-ES" i="1">
                                <a:latin typeface="Cambria Math" panose="02040503050406030204" pitchFamily="18" charset="0"/>
                              </a:rPr>
                            </m:ctrlPr>
                          </m:fPr>
                          <m:num>
                            <m:r>
                              <a:rPr lang="es-ES" b="0" i="1" smtClean="0">
                                <a:latin typeface="Cambria Math" panose="02040503050406030204" pitchFamily="18" charset="0"/>
                              </a:rPr>
                              <m:t>0.59</m:t>
                            </m:r>
                            <m:d>
                              <m:dPr>
                                <m:ctrlPr>
                                  <a:rPr lang="es-ES" i="1">
                                    <a:latin typeface="Cambria Math" panose="02040503050406030204" pitchFamily="18" charset="0"/>
                                  </a:rPr>
                                </m:ctrlPr>
                              </m:dPr>
                              <m:e>
                                <m:r>
                                  <a:rPr lang="es-ES" i="1">
                                    <a:latin typeface="Cambria Math" panose="02040503050406030204" pitchFamily="18" charset="0"/>
                                  </a:rPr>
                                  <m:t>1−</m:t>
                                </m:r>
                                <m:r>
                                  <a:rPr lang="es-ES" b="0" i="1" smtClean="0">
                                    <a:latin typeface="Cambria Math" panose="02040503050406030204" pitchFamily="18" charset="0"/>
                                  </a:rPr>
                                  <m:t>0.59</m:t>
                                </m:r>
                              </m:e>
                            </m:d>
                          </m:num>
                          <m:den>
                            <m:r>
                              <a:rPr lang="es-ES" b="0" i="1" smtClean="0">
                                <a:latin typeface="Cambria Math" panose="02040503050406030204" pitchFamily="18" charset="0"/>
                              </a:rPr>
                              <m:t>100</m:t>
                            </m:r>
                          </m:den>
                        </m:f>
                      </m:e>
                    </m:rad>
                    <m:r>
                      <a:rPr lang="es-ES" b="0" i="1" smtClean="0">
                        <a:latin typeface="Cambria Math" panose="02040503050406030204" pitchFamily="18" charset="0"/>
                      </a:rPr>
                      <m:t>=−0.14</m:t>
                    </m:r>
                  </m:oMath>
                </a14:m>
                <a:endParaRPr lang="es-ES" i="1" dirty="0">
                  <a:latin typeface="Cambria Math" panose="02040503050406030204" pitchFamily="18" charset="0"/>
                </a:endParaRPr>
              </a:p>
              <a:p>
                <a:pPr lvl="1"/>
                <a14:m>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rPr>
                          <m:t>𝐿</m:t>
                        </m:r>
                      </m:e>
                      <m:sub>
                        <m:r>
                          <a:rPr lang="es-ES" b="0" i="1" smtClean="0">
                            <a:latin typeface="Cambria Math" panose="02040503050406030204" pitchFamily="18" charset="0"/>
                          </a:rPr>
                          <m:t>𝑠</m:t>
                        </m:r>
                      </m:sub>
                    </m:sSub>
                    <m:r>
                      <a:rPr lang="es-ES" i="1">
                        <a:latin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r>
                      <a:rPr lang="es-ES" i="1">
                        <a:latin typeface="Cambria Math" panose="02040503050406030204" pitchFamily="18" charset="0"/>
                      </a:rPr>
                      <m:t>−</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𝑧</m:t>
                        </m:r>
                      </m:e>
                      <m:sub>
                        <m:f>
                          <m:fPr>
                            <m:ctrlPr>
                              <a:rPr lang="es-ES" i="1">
                                <a:latin typeface="Cambria Math" panose="02040503050406030204" pitchFamily="18" charset="0"/>
                              </a:rPr>
                            </m:ctrlPr>
                          </m:fPr>
                          <m:num>
                            <m:r>
                              <a:rPr lang="es-ES" i="1">
                                <a:latin typeface="Cambria Math" panose="02040503050406030204" pitchFamily="18" charset="0"/>
                              </a:rPr>
                              <m:t>𝛼</m:t>
                            </m:r>
                          </m:num>
                          <m:den>
                            <m:r>
                              <a:rPr lang="es-ES" i="1">
                                <a:latin typeface="Cambria Math" panose="02040503050406030204" pitchFamily="18" charset="0"/>
                              </a:rPr>
                              <m:t>2</m:t>
                            </m:r>
                          </m:den>
                        </m:f>
                      </m:sub>
                    </m:sSub>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 </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d>
                              <m:dPr>
                                <m:ctrlPr>
                                  <a:rPr lang="es-ES" i="1">
                                    <a:latin typeface="Cambria Math" panose="02040503050406030204" pitchFamily="18" charset="0"/>
                                  </a:rPr>
                                </m:ctrlPr>
                              </m:dPr>
                              <m:e>
                                <m:r>
                                  <a:rPr lang="es-ES" i="1">
                                    <a:latin typeface="Cambria Math" panose="02040503050406030204" pitchFamily="18" charset="0"/>
                                  </a:rPr>
                                  <m:t>1−</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1</m:t>
                                    </m:r>
                                  </m:sub>
                                </m:sSub>
                              </m:e>
                            </m:d>
                          </m:num>
                          <m:den>
                            <m:sSub>
                              <m:sSubPr>
                                <m:ctrlPr>
                                  <a:rPr lang="es-ES" i="1">
                                    <a:latin typeface="Cambria Math" panose="02040503050406030204" pitchFamily="18" charset="0"/>
                                  </a:rPr>
                                </m:ctrlPr>
                              </m:sSubPr>
                              <m:e>
                                <m:r>
                                  <a:rPr lang="es-ES" i="1">
                                    <a:latin typeface="Cambria Math" panose="02040503050406030204" pitchFamily="18" charset="0"/>
                                  </a:rPr>
                                  <m:t>𝑛</m:t>
                                </m:r>
                              </m:e>
                              <m:sub>
                                <m:r>
                                  <a:rPr lang="es-ES" i="1">
                                    <a:latin typeface="Cambria Math" panose="02040503050406030204" pitchFamily="18" charset="0"/>
                                  </a:rPr>
                                  <m:t>1</m:t>
                                </m:r>
                              </m:sub>
                            </m:sSub>
                          </m:den>
                        </m:f>
                        <m:r>
                          <a:rPr lang="es-ES" i="1">
                            <a:latin typeface="Cambria Math" panose="02040503050406030204" pitchFamily="18" charset="0"/>
                          </a:rPr>
                          <m:t>+</m:t>
                        </m:r>
                        <m:f>
                          <m:fPr>
                            <m:ctrlPr>
                              <a:rPr lang="es-ES" i="1">
                                <a:latin typeface="Cambria Math" panose="02040503050406030204" pitchFamily="18" charset="0"/>
                              </a:rPr>
                            </m:ctrlPr>
                          </m:fPr>
                          <m:num>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d>
                              <m:dPr>
                                <m:ctrlPr>
                                  <a:rPr lang="es-ES" i="1">
                                    <a:latin typeface="Cambria Math" panose="02040503050406030204" pitchFamily="18" charset="0"/>
                                  </a:rPr>
                                </m:ctrlPr>
                              </m:dPr>
                              <m:e>
                                <m:r>
                                  <a:rPr lang="es-ES" i="1">
                                    <a:latin typeface="Cambria Math" panose="02040503050406030204" pitchFamily="18" charset="0"/>
                                  </a:rPr>
                                  <m:t>1−</m:t>
                                </m:r>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𝑝</m:t>
                                        </m:r>
                                      </m:e>
                                    </m:acc>
                                  </m:e>
                                  <m:sub>
                                    <m:r>
                                      <a:rPr lang="es-ES" i="1">
                                        <a:latin typeface="Cambria Math" panose="02040503050406030204" pitchFamily="18" charset="0"/>
                                      </a:rPr>
                                      <m:t>2</m:t>
                                    </m:r>
                                  </m:sub>
                                </m:sSub>
                              </m:e>
                            </m:d>
                          </m:num>
                          <m:den>
                            <m:sSub>
                              <m:sSubPr>
                                <m:ctrlPr>
                                  <a:rPr lang="es-ES" i="1">
                                    <a:latin typeface="Cambria Math" panose="02040503050406030204" pitchFamily="18" charset="0"/>
                                  </a:rPr>
                                </m:ctrlPr>
                              </m:sSubPr>
                              <m:e>
                                <m:r>
                                  <a:rPr lang="es-ES" i="1">
                                    <a:latin typeface="Cambria Math" panose="02040503050406030204" pitchFamily="18" charset="0"/>
                                  </a:rPr>
                                  <m:t>𝑛</m:t>
                                </m:r>
                              </m:e>
                              <m:sub>
                                <m:r>
                                  <a:rPr lang="es-ES" i="1">
                                    <a:latin typeface="Cambria Math" panose="02040503050406030204" pitchFamily="18" charset="0"/>
                                  </a:rPr>
                                  <m:t>2</m:t>
                                </m:r>
                              </m:sub>
                            </m:sSub>
                          </m:den>
                        </m:f>
                      </m:e>
                    </m:rad>
                    <m:r>
                      <a:rPr lang="es-ES" b="0" i="1" smtClean="0">
                        <a:latin typeface="Cambria Math" panose="02040503050406030204" pitchFamily="18" charset="0"/>
                      </a:rPr>
                      <m:t>=0.6−0.59+1.96</m:t>
                    </m:r>
                    <m:rad>
                      <m:radPr>
                        <m:degHide m:val="on"/>
                        <m:ctrlPr>
                          <a:rPr lang="es-ES" i="1">
                            <a:latin typeface="Cambria Math" panose="02040503050406030204" pitchFamily="18" charset="0"/>
                          </a:rPr>
                        </m:ctrlPr>
                      </m:radPr>
                      <m:deg/>
                      <m:e>
                        <m:f>
                          <m:fPr>
                            <m:ctrlPr>
                              <a:rPr lang="es-ES" i="1">
                                <a:latin typeface="Cambria Math" panose="02040503050406030204" pitchFamily="18" charset="0"/>
                              </a:rPr>
                            </m:ctrlPr>
                          </m:fPr>
                          <m:num>
                            <m:r>
                              <a:rPr lang="es-ES" i="1">
                                <a:latin typeface="Cambria Math" panose="02040503050406030204" pitchFamily="18" charset="0"/>
                              </a:rPr>
                              <m:t> </m:t>
                            </m:r>
                            <m:r>
                              <a:rPr lang="es-ES" i="1" smtClean="0">
                                <a:latin typeface="Cambria Math" panose="02040503050406030204" pitchFamily="18" charset="0"/>
                              </a:rPr>
                              <m:t>0</m:t>
                            </m:r>
                            <m:r>
                              <a:rPr lang="es-ES" b="0" i="1" smtClean="0">
                                <a:latin typeface="Cambria Math" panose="02040503050406030204" pitchFamily="18" charset="0"/>
                              </a:rPr>
                              <m:t>.6</m:t>
                            </m:r>
                            <m:d>
                              <m:dPr>
                                <m:ctrlPr>
                                  <a:rPr lang="es-ES" i="1">
                                    <a:latin typeface="Cambria Math" panose="02040503050406030204" pitchFamily="18" charset="0"/>
                                  </a:rPr>
                                </m:ctrlPr>
                              </m:dPr>
                              <m:e>
                                <m:r>
                                  <a:rPr lang="es-ES" i="1">
                                    <a:latin typeface="Cambria Math" panose="02040503050406030204" pitchFamily="18" charset="0"/>
                                  </a:rPr>
                                  <m:t>1−</m:t>
                                </m:r>
                                <m:r>
                                  <a:rPr lang="es-ES" b="0" i="1" smtClean="0">
                                    <a:latin typeface="Cambria Math" panose="02040503050406030204" pitchFamily="18" charset="0"/>
                                  </a:rPr>
                                  <m:t>0.6</m:t>
                                </m:r>
                              </m:e>
                            </m:d>
                          </m:num>
                          <m:den>
                            <m:r>
                              <a:rPr lang="es-ES" b="0" i="1" smtClean="0">
                                <a:latin typeface="Cambria Math" panose="02040503050406030204" pitchFamily="18" charset="0"/>
                              </a:rPr>
                              <m:t>70</m:t>
                            </m:r>
                          </m:den>
                        </m:f>
                        <m:r>
                          <a:rPr lang="es-ES" i="1">
                            <a:latin typeface="Cambria Math" panose="02040503050406030204" pitchFamily="18" charset="0"/>
                          </a:rPr>
                          <m:t>+</m:t>
                        </m:r>
                        <m:f>
                          <m:fPr>
                            <m:ctrlPr>
                              <a:rPr lang="es-ES" i="1">
                                <a:latin typeface="Cambria Math" panose="02040503050406030204" pitchFamily="18" charset="0"/>
                              </a:rPr>
                            </m:ctrlPr>
                          </m:fPr>
                          <m:num>
                            <m:r>
                              <a:rPr lang="es-ES" b="0" i="1" smtClean="0">
                                <a:latin typeface="Cambria Math" panose="02040503050406030204" pitchFamily="18" charset="0"/>
                              </a:rPr>
                              <m:t>0.59</m:t>
                            </m:r>
                            <m:d>
                              <m:dPr>
                                <m:ctrlPr>
                                  <a:rPr lang="es-ES" i="1">
                                    <a:latin typeface="Cambria Math" panose="02040503050406030204" pitchFamily="18" charset="0"/>
                                  </a:rPr>
                                </m:ctrlPr>
                              </m:dPr>
                              <m:e>
                                <m:r>
                                  <a:rPr lang="es-ES" i="1">
                                    <a:latin typeface="Cambria Math" panose="02040503050406030204" pitchFamily="18" charset="0"/>
                                  </a:rPr>
                                  <m:t>1−</m:t>
                                </m:r>
                                <m:r>
                                  <a:rPr lang="es-ES" b="0" i="1" smtClean="0">
                                    <a:latin typeface="Cambria Math" panose="02040503050406030204" pitchFamily="18" charset="0"/>
                                  </a:rPr>
                                  <m:t>0.59</m:t>
                                </m:r>
                              </m:e>
                            </m:d>
                          </m:num>
                          <m:den>
                            <m:r>
                              <a:rPr lang="es-ES" b="0" i="1" smtClean="0">
                                <a:latin typeface="Cambria Math" panose="02040503050406030204" pitchFamily="18" charset="0"/>
                              </a:rPr>
                              <m:t>100</m:t>
                            </m:r>
                          </m:den>
                        </m:f>
                      </m:e>
                    </m:rad>
                    <m:r>
                      <a:rPr lang="es-ES" b="0" i="1" smtClean="0">
                        <a:latin typeface="Cambria Math" panose="02040503050406030204" pitchFamily="18" charset="0"/>
                      </a:rPr>
                      <m:t>=0.16</m:t>
                    </m:r>
                  </m:oMath>
                </a14:m>
                <a:endParaRPr lang="es-ES" i="1" dirty="0">
                  <a:latin typeface="Cambria Math" panose="02040503050406030204" pitchFamily="18" charset="0"/>
                </a:endParaRPr>
              </a:p>
              <a:p>
                <a:pPr lvl="1"/>
                <a:endParaRPr lang="es-ES" i="1" dirty="0">
                  <a:latin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BE890199-2954-09C6-A12E-C6AA403889DE}"/>
                  </a:ext>
                </a:extLst>
              </p:cNvPr>
              <p:cNvSpPr>
                <a:spLocks noGrp="1" noRot="1" noChangeAspect="1" noMove="1" noResize="1" noEditPoints="1" noAdjustHandles="1" noChangeArrowheads="1" noChangeShapeType="1" noTextEdit="1"/>
              </p:cNvSpPr>
              <p:nvPr>
                <p:ph idx="1"/>
              </p:nvPr>
            </p:nvSpPr>
            <p:spPr>
              <a:xfrm>
                <a:off x="838200" y="1825625"/>
                <a:ext cx="10515600" cy="4895850"/>
              </a:xfrm>
              <a:blipFill>
                <a:blip r:embed="rId2"/>
                <a:stretch>
                  <a:fillRect l="-696" t="-2488"/>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DF6F4F10-0679-3119-E53B-AFC2525CE398}"/>
              </a:ext>
            </a:extLst>
          </p:cNvPr>
          <p:cNvSpPr>
            <a:spLocks noGrp="1"/>
          </p:cNvSpPr>
          <p:nvPr>
            <p:ph type="sldNum" sz="quarter" idx="12"/>
          </p:nvPr>
        </p:nvSpPr>
        <p:spPr/>
        <p:txBody>
          <a:bodyPr/>
          <a:lstStyle/>
          <a:p>
            <a:fld id="{336CAFD0-1F6E-4E11-9822-836563A02839}" type="slidenum">
              <a:rPr lang="es-ES" smtClean="0"/>
              <a:pPr/>
              <a:t>72</a:t>
            </a:fld>
            <a:endParaRPr lang="es-ES" dirty="0"/>
          </a:p>
        </p:txBody>
      </p:sp>
    </p:spTree>
    <p:extLst>
      <p:ext uri="{BB962C8B-B14F-4D97-AF65-F5344CB8AC3E}">
        <p14:creationId xmlns:p14="http://schemas.microsoft.com/office/powerpoint/2010/main" val="31207644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761FE9-C3AE-6FC7-C4A9-C1FF0B2C6A7F}"/>
              </a:ext>
            </a:extLst>
          </p:cNvPr>
          <p:cNvSpPr>
            <a:spLocks noGrp="1"/>
          </p:cNvSpPr>
          <p:nvPr>
            <p:ph type="title"/>
          </p:nvPr>
        </p:nvSpPr>
        <p:spPr/>
        <p:txBody>
          <a:bodyPr>
            <a:normAutofit/>
          </a:bodyPr>
          <a:lstStyle/>
          <a:p>
            <a:r>
              <a:rPr lang="es-ES" dirty="0"/>
              <a:t>11. Intervalo de confianza para la diferencia de proporciones. Ejercicios propuestos</a:t>
            </a:r>
          </a:p>
        </p:txBody>
      </p:sp>
      <p:sp>
        <p:nvSpPr>
          <p:cNvPr id="3" name="Marcador de contenido 2">
            <a:extLst>
              <a:ext uri="{FF2B5EF4-FFF2-40B4-BE49-F238E27FC236}">
                <a16:creationId xmlns:a16="http://schemas.microsoft.com/office/drawing/2014/main" id="{A8D761F8-90FE-5A56-8924-772DAE4E6CC1}"/>
              </a:ext>
            </a:extLst>
          </p:cNvPr>
          <p:cNvSpPr>
            <a:spLocks noGrp="1"/>
          </p:cNvSpPr>
          <p:nvPr>
            <p:ph idx="1"/>
          </p:nvPr>
        </p:nvSpPr>
        <p:spPr/>
        <p:txBody>
          <a:bodyPr>
            <a:normAutofit/>
          </a:bodyPr>
          <a:lstStyle/>
          <a:p>
            <a:pPr eaLnBrk="1" hangingPunct="1">
              <a:lnSpc>
                <a:spcPct val="90000"/>
              </a:lnSpc>
              <a:spcBef>
                <a:spcPts val="1000"/>
              </a:spcBef>
              <a:buFont typeface="Arial" panose="020B0604020202020204" pitchFamily="34" charset="0"/>
              <a:buChar char="•"/>
            </a:pPr>
            <a:r>
              <a:rPr lang="en-US" altLang="es-ES" sz="2800" dirty="0" err="1"/>
              <a:t>Ejercicio</a:t>
            </a:r>
            <a:r>
              <a:rPr lang="en-US" altLang="es-ES" sz="2800" dirty="0"/>
              <a:t> 9.16(a) y 9.17  del </a:t>
            </a:r>
            <a:r>
              <a:rPr lang="en-US" altLang="es-ES" sz="2800" dirty="0" err="1"/>
              <a:t>libro</a:t>
            </a:r>
            <a:endParaRPr lang="en-US" altLang="es-ES" sz="2800" dirty="0"/>
          </a:p>
          <a:p>
            <a:pPr lvl="1" eaLnBrk="1" hangingPunct="1">
              <a:lnSpc>
                <a:spcPct val="90000"/>
              </a:lnSpc>
              <a:spcBef>
                <a:spcPts val="500"/>
              </a:spcBef>
              <a:buFont typeface="Arial" panose="020B0604020202020204" pitchFamily="34" charset="0"/>
              <a:buChar char="•"/>
            </a:pPr>
            <a:r>
              <a:rPr lang="en-US" altLang="es-ES" sz="2400" dirty="0"/>
              <a:t>La </a:t>
            </a:r>
            <a:r>
              <a:rPr lang="en-US" altLang="es-ES" sz="2400" dirty="0" err="1"/>
              <a:t>respuesta</a:t>
            </a:r>
            <a:r>
              <a:rPr lang="en-US" altLang="es-ES" sz="2400" dirty="0"/>
              <a:t> de 9.17 </a:t>
            </a:r>
            <a:r>
              <a:rPr lang="en-US" altLang="es-ES" sz="2400" dirty="0" err="1"/>
              <a:t>está</a:t>
            </a:r>
            <a:r>
              <a:rPr lang="en-US" altLang="es-ES" sz="2400" dirty="0"/>
              <a:t> disponible en </a:t>
            </a:r>
            <a:r>
              <a:rPr lang="en-US" altLang="es-ES" sz="2400" dirty="0" err="1"/>
              <a:t>el</a:t>
            </a:r>
            <a:r>
              <a:rPr lang="en-US" altLang="es-ES" sz="2400" dirty="0"/>
              <a:t> </a:t>
            </a:r>
            <a:r>
              <a:rPr lang="en-US" altLang="es-ES" sz="2400" dirty="0" err="1"/>
              <a:t>libro</a:t>
            </a:r>
            <a:endParaRPr lang="en-US" altLang="es-ES" sz="2400" dirty="0"/>
          </a:p>
        </p:txBody>
      </p:sp>
      <p:sp>
        <p:nvSpPr>
          <p:cNvPr id="4" name="Marcador de número de diapositiva 3">
            <a:extLst>
              <a:ext uri="{FF2B5EF4-FFF2-40B4-BE49-F238E27FC236}">
                <a16:creationId xmlns:a16="http://schemas.microsoft.com/office/drawing/2014/main" id="{3EA86158-512B-60EF-6886-59F4BFB08DA5}"/>
              </a:ext>
            </a:extLst>
          </p:cNvPr>
          <p:cNvSpPr>
            <a:spLocks noGrp="1"/>
          </p:cNvSpPr>
          <p:nvPr>
            <p:ph type="sldNum" sz="quarter" idx="12"/>
          </p:nvPr>
        </p:nvSpPr>
        <p:spPr/>
        <p:txBody>
          <a:bodyPr/>
          <a:lstStyle/>
          <a:p>
            <a:fld id="{336CAFD0-1F6E-4E11-9822-836563A02839}" type="slidenum">
              <a:rPr lang="es-ES" smtClean="0"/>
              <a:t>73</a:t>
            </a:fld>
            <a:endParaRPr lang="es-ES"/>
          </a:p>
        </p:txBody>
      </p:sp>
    </p:spTree>
    <p:extLst>
      <p:ext uri="{BB962C8B-B14F-4D97-AF65-F5344CB8AC3E}">
        <p14:creationId xmlns:p14="http://schemas.microsoft.com/office/powerpoint/2010/main" val="24277244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609EF2-6D6E-4895-E083-AD018468717E}"/>
              </a:ext>
            </a:extLst>
          </p:cNvPr>
          <p:cNvSpPr>
            <a:spLocks noGrp="1"/>
          </p:cNvSpPr>
          <p:nvPr>
            <p:ph type="title"/>
          </p:nvPr>
        </p:nvSpPr>
        <p:spPr/>
        <p:txBody>
          <a:bodyPr/>
          <a:lstStyle/>
          <a:p>
            <a:r>
              <a:rPr lang="es-ES" dirty="0"/>
              <a:t>12. Resumen</a:t>
            </a:r>
          </a:p>
        </p:txBody>
      </p:sp>
      <p:sp>
        <p:nvSpPr>
          <p:cNvPr id="3" name="Marcador de contenido 2">
            <a:extLst>
              <a:ext uri="{FF2B5EF4-FFF2-40B4-BE49-F238E27FC236}">
                <a16:creationId xmlns:a16="http://schemas.microsoft.com/office/drawing/2014/main" id="{68A4C847-03F8-7FB1-38E5-73AA97574424}"/>
              </a:ext>
            </a:extLst>
          </p:cNvPr>
          <p:cNvSpPr>
            <a:spLocks noGrp="1"/>
          </p:cNvSpPr>
          <p:nvPr>
            <p:ph idx="1"/>
          </p:nvPr>
        </p:nvSpPr>
        <p:spPr>
          <a:xfrm>
            <a:off x="838200" y="1825624"/>
            <a:ext cx="10515600" cy="5145331"/>
          </a:xfrm>
        </p:spPr>
        <p:txBody>
          <a:bodyPr>
            <a:normAutofit fontScale="55000" lnSpcReduction="20000"/>
          </a:bodyPr>
          <a:lstStyle/>
          <a:p>
            <a:r>
              <a:rPr lang="es-ES" dirty="0"/>
              <a:t>La inferencia estadística permite encontrar proponer valores para los parámetros de una población, cuando no se pueden calcular directamente</a:t>
            </a:r>
          </a:p>
          <a:p>
            <a:r>
              <a:rPr lang="es-ES" dirty="0"/>
              <a:t>El resultado de la inferencia estadística puede ser un intervalo de confianza, la comprobación de una hipótesis, o un modelo de predicción</a:t>
            </a:r>
          </a:p>
          <a:p>
            <a:r>
              <a:rPr lang="es-ES" dirty="0"/>
              <a:t>La inferencia estadística se basa en el uso de estimadores para inferir el valor de los parámetros de una población</a:t>
            </a:r>
          </a:p>
          <a:p>
            <a:r>
              <a:rPr lang="es-ES" dirty="0"/>
              <a:t>Los estimadores se calculan sobre una muestra de la población</a:t>
            </a:r>
          </a:p>
          <a:p>
            <a:r>
              <a:rPr lang="es-ES" dirty="0"/>
              <a:t>Un parámetro no es una variable aleatoria, tiene un valor único desconocido, pero un estimador sí es una variable aleatoria, porque su valor puede ser diferente, en diferentes muestras de la misma población</a:t>
            </a:r>
          </a:p>
          <a:p>
            <a:r>
              <a:rPr lang="es-ES" dirty="0"/>
              <a:t>La estimación de un parámetro puede ser puntual o por intervalo</a:t>
            </a:r>
          </a:p>
          <a:p>
            <a:r>
              <a:rPr lang="es-ES" dirty="0"/>
              <a:t>Los estimadores más usados son los estadísticos de la muestra, especialmente la media muestral, la varianza muestral y la proporción muestral</a:t>
            </a:r>
          </a:p>
          <a:p>
            <a:r>
              <a:rPr lang="es-ES" dirty="0"/>
              <a:t>Un intervalo de confianza para un parámetro de una población contiene el valor del parámetro con una probabilidad igual a un nivel de confianza preestablecido</a:t>
            </a:r>
          </a:p>
          <a:p>
            <a:r>
              <a:rPr lang="es-ES" dirty="0"/>
              <a:t>Se pueden construir intervalos de confianza para los parámetros de una población, como la media, la varianza o las proporciones</a:t>
            </a:r>
          </a:p>
          <a:p>
            <a:r>
              <a:rPr lang="es-ES" dirty="0"/>
              <a:t>Y también se pueden construir intervalos de confianza para la diferencia entre dos mismos parámetros de dos poblaciones diferentes</a:t>
            </a:r>
          </a:p>
          <a:p>
            <a:r>
              <a:rPr lang="es-ES" dirty="0"/>
              <a:t>En el cálculo de intervalos de confianza se aplican distribuciones de probabilidad Normal, T de </a:t>
            </a:r>
            <a:r>
              <a:rPr lang="es-ES" dirty="0" err="1"/>
              <a:t>Student</a:t>
            </a:r>
            <a:r>
              <a:rPr lang="es-ES" dirty="0"/>
              <a:t> y Chi-cuadrado</a:t>
            </a:r>
          </a:p>
        </p:txBody>
      </p:sp>
      <p:sp>
        <p:nvSpPr>
          <p:cNvPr id="4" name="Marcador de número de diapositiva 3">
            <a:extLst>
              <a:ext uri="{FF2B5EF4-FFF2-40B4-BE49-F238E27FC236}">
                <a16:creationId xmlns:a16="http://schemas.microsoft.com/office/drawing/2014/main" id="{B98B7433-2CB8-D9F1-C703-714A75C876CC}"/>
              </a:ext>
            </a:extLst>
          </p:cNvPr>
          <p:cNvSpPr>
            <a:spLocks noGrp="1"/>
          </p:cNvSpPr>
          <p:nvPr>
            <p:ph type="sldNum" sz="quarter" idx="12"/>
          </p:nvPr>
        </p:nvSpPr>
        <p:spPr/>
        <p:txBody>
          <a:bodyPr/>
          <a:lstStyle/>
          <a:p>
            <a:fld id="{336CAFD0-1F6E-4E11-9822-836563A02839}" type="slidenum">
              <a:rPr lang="es-ES" smtClean="0"/>
              <a:pPr/>
              <a:t>74</a:t>
            </a:fld>
            <a:endParaRPr lang="es-ES" dirty="0"/>
          </a:p>
        </p:txBody>
      </p:sp>
    </p:spTree>
    <p:extLst>
      <p:ext uri="{BB962C8B-B14F-4D97-AF65-F5344CB8AC3E}">
        <p14:creationId xmlns:p14="http://schemas.microsoft.com/office/powerpoint/2010/main" val="1960948595"/>
      </p:ext>
    </p:extLst>
  </p:cSld>
  <p:clrMapOvr>
    <a:masterClrMapping/>
  </p:clrMapOvr>
</p:sld>
</file>

<file path=ppt/theme/theme1.xml><?xml version="1.0" encoding="utf-8"?>
<a:theme xmlns:a="http://schemas.openxmlformats.org/drawingml/2006/main" name="Tema de Office">
  <a:themeElements>
    <a:clrScheme name="Personalizado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5846</TotalTime>
  <Words>7691</Words>
  <Application>Microsoft Office PowerPoint</Application>
  <PresentationFormat>Panorámica</PresentationFormat>
  <Paragraphs>829</Paragraphs>
  <Slides>74</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74</vt:i4>
      </vt:variant>
    </vt:vector>
  </HeadingPairs>
  <TitlesOfParts>
    <vt:vector size="80" baseType="lpstr">
      <vt:lpstr>Arial</vt:lpstr>
      <vt:lpstr>Calibri</vt:lpstr>
      <vt:lpstr>Calibri Light</vt:lpstr>
      <vt:lpstr>Cambria Math</vt:lpstr>
      <vt:lpstr>Wingdings</vt:lpstr>
      <vt:lpstr>Tema de Office</vt:lpstr>
      <vt:lpstr>Intervalos de confianza</vt:lpstr>
      <vt:lpstr>Contenidos</vt:lpstr>
      <vt:lpstr>1. Objetivos</vt:lpstr>
      <vt:lpstr>2. Introducción a la inferencia estadística</vt:lpstr>
      <vt:lpstr>3. Muestreo Definiciones (I)</vt:lpstr>
      <vt:lpstr>3. Muestreo Definiciones (II)</vt:lpstr>
      <vt:lpstr>3. Muestreo Métodos de muestreo</vt:lpstr>
      <vt:lpstr>3. Muestreo Reemplazamiento</vt:lpstr>
      <vt:lpstr>4. Estimación de parámetros</vt:lpstr>
      <vt:lpstr>4. Estimación de parámetros Estimador insesgado (unbiased)</vt:lpstr>
      <vt:lpstr>4. Estimación de parámetros Estimador consistente</vt:lpstr>
      <vt:lpstr>4. Estimación de parámetros Estimador asintóticamente normal</vt:lpstr>
      <vt:lpstr>4. Estimación de parámetros Estimación puntual o por intervalo</vt:lpstr>
      <vt:lpstr>4. Estimación de parámetros Cálculo de los estimadores</vt:lpstr>
      <vt:lpstr>4. Estimación de parámetros Cálculo del estimador: media muestral</vt:lpstr>
      <vt:lpstr>4. Estimación de parámetros Cálculo del estimador: varianza muestral</vt:lpstr>
      <vt:lpstr>4. Estimación de parámetros Cálculo del estimador: proporción muestral</vt:lpstr>
      <vt:lpstr>5. Definición de Intervalo de Confianza</vt:lpstr>
      <vt:lpstr>5. Definición de Intervalo de Confianza Intervalos y muestras </vt:lpstr>
      <vt:lpstr>5. Definición de Intervalo de Confianza Ejemplo</vt:lpstr>
      <vt:lpstr>6. Método general de construcción de un intervalo de confianza</vt:lpstr>
      <vt:lpstr>6. Método general Interpretación gráfica sin estandarizar</vt:lpstr>
      <vt:lpstr>6. Método general Estandarización del estimador</vt:lpstr>
      <vt:lpstr>6. Método general Interpretación gráfica con estandarización</vt:lpstr>
      <vt:lpstr>6. Método general Estandarización del estimador. Valores típicos</vt:lpstr>
      <vt:lpstr>7. Intervalo de confianza para la media poblacional </vt:lpstr>
      <vt:lpstr>7. Intervalo de confianza para la media poblacional. Fórmulas</vt:lpstr>
      <vt:lpstr>7. Intervalo de confianza para la media poblacional. Valores para el cálculo </vt:lpstr>
      <vt:lpstr>7. Intervalo de confianza para la media poblacional Ejemplo 9.13a (Mediciones)</vt:lpstr>
      <vt:lpstr>7. Intervalo de confianza para la media poblacional Ejemplo 9.13 (Solución a)</vt:lpstr>
      <vt:lpstr>7. Intervalo de confianza para la media poblacional  Muestra grande y varianza desconocida</vt:lpstr>
      <vt:lpstr>7. Intervalo de confianza para la media poblacional  Muestra pequeña y varianza desconocida</vt:lpstr>
      <vt:lpstr>7. Intervalo de confianza para la media poblacional  Muestra pequeña y varianza desconocida (Tabla T de Student)</vt:lpstr>
      <vt:lpstr>7. Intervalo de confianza para la media poblacional Ejemplo 9.13b (Mediciones)</vt:lpstr>
      <vt:lpstr>7. Intervalo de confianza para la media poblacional Ejemplo 9.13 (Solución b)</vt:lpstr>
      <vt:lpstr>7. Intervalo de confianza para la media poblacional Ejemplo 9.13 (Interpretación gráfica)</vt:lpstr>
      <vt:lpstr>7. Intervalo de confianza para la media poblacional Ejercicios propuestos</vt:lpstr>
      <vt:lpstr>8. Intervalo de confianza para una proporción poblacional</vt:lpstr>
      <vt:lpstr>8. Intervalo de confianza para una proporción poblacional. Estimador</vt:lpstr>
      <vt:lpstr>8. Intervalo de confianza para una proporción poblacional. Fórmulas</vt:lpstr>
      <vt:lpstr>8. Intervalo de confianza para una proporción poblacional. Ejemplo</vt:lpstr>
      <vt:lpstr>8. Intervalo de confianza para una proporción poblacional. Ejercicios propuestos</vt:lpstr>
      <vt:lpstr>9. Intervalo de confianza para la varianza poblacional</vt:lpstr>
      <vt:lpstr>9. Intervalo de confianza para la varianza poblacional. Fórmulas</vt:lpstr>
      <vt:lpstr>9. Intervalo de confianza para la varianza poblacional. Cálculo</vt:lpstr>
      <vt:lpstr>9. Intervalo de confianza para la varianza poblacional. Tabla Chi-cuadrado</vt:lpstr>
      <vt:lpstr>9. Intervalo de confianza para la varianza poblacional. Ejemplo 9.40</vt:lpstr>
      <vt:lpstr>9. Intervalo de confianza para la varianza poblacional. Ejemplo 9.40 (Solución)</vt:lpstr>
      <vt:lpstr>9. Intervalo de confianza para la varianza poblacional. Ejercicios propuestos</vt:lpstr>
      <vt:lpstr>10. Intervalo de confianza para la diferencia de las medias de dos poblaciones </vt:lpstr>
      <vt:lpstr>10. Intervalo de confianza para la diferencia de las medias de dos poblaciones</vt:lpstr>
      <vt:lpstr>10. Intervalo de confianza para la diferencia de las medias de dos poblaciones. Interpretación</vt:lpstr>
      <vt:lpstr>10. Intervalo de confianza para la diferencia de las medias de dos poblaciones. Fórmulas (1)</vt:lpstr>
      <vt:lpstr>10. Intervalo de confianza para la diferencia de las medias de dos poblaciones. Fórmulas (2)</vt:lpstr>
      <vt:lpstr>10. Intervalo de confianza para la diferencia de las medias de dos poblaciones. Fórmulas (3)</vt:lpstr>
      <vt:lpstr>10. Intervalo de confianza para la diferencia de las medias de dos poblaciones. Ejemplo 9.14</vt:lpstr>
      <vt:lpstr>10. Intervalo de confianza para la diferencia de las medias de dos poblaciones. Ejemplo 9.14 (Solución)</vt:lpstr>
      <vt:lpstr>10. Intervalo de confianza para la diferencia de las medias de dos poblaciones. Ejemplo 9.16</vt:lpstr>
      <vt:lpstr>10. Intervalo de confianza para la diferencia de las medias de dos poblaciones. Ejemplo 9.16 (Solución)</vt:lpstr>
      <vt:lpstr>10. Intervalo de confianza para la diferencia de las medias de dos poblaciones. Ejemplo 9.20</vt:lpstr>
      <vt:lpstr>10. Intervalo de confianza para la diferencia de las medias de dos poblaciones. Ejemplo 9.20 (Solución)</vt:lpstr>
      <vt:lpstr>10. Intervalo de confianza para la diferencia de las medias de dos poblaciones. Ejemplo 9.21</vt:lpstr>
      <vt:lpstr>10. Intervalo de confianza para la diferencia de las medias de dos poblaciones. Ejemplo 9.21 (Solución)</vt:lpstr>
      <vt:lpstr>10. Intervalo de confianza para la diferencia de las medias de dos poblaciones. Muestras pareadas (1)</vt:lpstr>
      <vt:lpstr>10. Intervalo de confianza para la diferencia de las medias de dos poblaciones. Muestras pareadas (2)</vt:lpstr>
      <vt:lpstr>10. Intervalo de confianza para la diferencia de las medias de dos poblaciones. Muestras pareadas. Ejemplo</vt:lpstr>
      <vt:lpstr>10. Intervalo de confianza para la diferencia de las medias de dos poblaciones. Muestras pareadas. Ejemplo (Solución)</vt:lpstr>
      <vt:lpstr>10. Intervalo de confianza para la diferencia de las medias de dos poblaciones. Ejercicios propuestos</vt:lpstr>
      <vt:lpstr>11. Intervalo de confianza para la diferencia de proporciones en dos poblaciones</vt:lpstr>
      <vt:lpstr>11. Intervalo de confianza para la diferencia de proporciones en dos poblaciones. Fórmulas</vt:lpstr>
      <vt:lpstr>11. Intervalo de confianza para la diferencia de proporciones en dos poblaciones. Ejemplo 9.17</vt:lpstr>
      <vt:lpstr>11. Intervalo de confianza para la diferencia de proporciones en dos poblaciones. Ejemplo 9.17 (Solución)</vt:lpstr>
      <vt:lpstr>11. Intervalo de confianza para la diferencia de proporciones. Ejercicios propuestos</vt:lpstr>
      <vt:lpstr>12. Resumen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Intervalos de confianza</dc:title>
  <dc:creator/>
  <cp:lastModifiedBy>jose hilera</cp:lastModifiedBy>
  <cp:revision>128</cp:revision>
  <dcterms:created xsi:type="dcterms:W3CDTF">2022-12-26T19:51:11Z</dcterms:created>
  <dcterms:modified xsi:type="dcterms:W3CDTF">2025-09-08T16:38:18Z</dcterms:modified>
</cp:coreProperties>
</file>