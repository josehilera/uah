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9"/>
  </p:notesMasterIdLst>
  <p:sldIdLst>
    <p:sldId id="256" r:id="rId2"/>
    <p:sldId id="258" r:id="rId3"/>
    <p:sldId id="494" r:id="rId4"/>
    <p:sldId id="281" r:id="rId5"/>
    <p:sldId id="476" r:id="rId6"/>
    <p:sldId id="477" r:id="rId7"/>
    <p:sldId id="478" r:id="rId8"/>
    <p:sldId id="479" r:id="rId9"/>
    <p:sldId id="481" r:id="rId10"/>
    <p:sldId id="482" r:id="rId11"/>
    <p:sldId id="483" r:id="rId12"/>
    <p:sldId id="490" r:id="rId13"/>
    <p:sldId id="513" r:id="rId14"/>
    <p:sldId id="514" r:id="rId15"/>
    <p:sldId id="492" r:id="rId16"/>
    <p:sldId id="485" r:id="rId17"/>
    <p:sldId id="489" r:id="rId18"/>
    <p:sldId id="292" r:id="rId19"/>
    <p:sldId id="291" r:id="rId20"/>
    <p:sldId id="530" r:id="rId21"/>
    <p:sldId id="499" r:id="rId22"/>
    <p:sldId id="496" r:id="rId23"/>
    <p:sldId id="497" r:id="rId24"/>
    <p:sldId id="519" r:id="rId25"/>
    <p:sldId id="498" r:id="rId26"/>
    <p:sldId id="515" r:id="rId27"/>
    <p:sldId id="516" r:id="rId28"/>
    <p:sldId id="518" r:id="rId29"/>
    <p:sldId id="517" r:id="rId30"/>
    <p:sldId id="472" r:id="rId31"/>
    <p:sldId id="520" r:id="rId32"/>
    <p:sldId id="522" r:id="rId33"/>
    <p:sldId id="523" r:id="rId34"/>
    <p:sldId id="529" r:id="rId35"/>
    <p:sldId id="501" r:id="rId36"/>
    <p:sldId id="506" r:id="rId37"/>
    <p:sldId id="507" r:id="rId38"/>
    <p:sldId id="508" r:id="rId39"/>
    <p:sldId id="509" r:id="rId40"/>
    <p:sldId id="510" r:id="rId41"/>
    <p:sldId id="474" r:id="rId42"/>
    <p:sldId id="524" r:id="rId43"/>
    <p:sldId id="525" r:id="rId44"/>
    <p:sldId id="526" r:id="rId45"/>
    <p:sldId id="527" r:id="rId46"/>
    <p:sldId id="528" r:id="rId47"/>
    <p:sldId id="327" r:id="rId4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4809" autoAdjust="0"/>
  </p:normalViewPr>
  <p:slideViewPr>
    <p:cSldViewPr snapToGrid="0">
      <p:cViewPr varScale="1">
        <p:scale>
          <a:sx n="69" d="100"/>
          <a:sy n="69" d="100"/>
        </p:scale>
        <p:origin x="12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993FA-F4EB-4F5C-AC0E-D19D76C7FE18}" type="datetimeFigureOut">
              <a:rPr lang="es-ES" smtClean="0"/>
              <a:t>28/08/2024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7C101-15E4-4D70-A114-C89E83A70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435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70737A-30E0-41A2-B461-25A548C91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BE166C-5633-4873-B852-3A4F5546F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39014F-1DFE-4927-921F-4E53CB687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85FDD-93E9-4DED-94FB-E13CBFB13D77}" type="datetime1">
              <a:rPr lang="es-ES" smtClean="0"/>
              <a:t>28/08/2024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3D05DA-9B6F-44F8-A333-ABA84FFE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41CCAC-F1C7-439D-A1C6-148B192BE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829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E16EB7-D1A7-4CEF-B7B0-D69F5E52A25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2099EC-4D79-4FBE-A0F3-85058A8B9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9089A4-937F-4BD1-809E-44AE307B1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566B-D29A-48B5-AE66-02FE67909A5D}" type="datetime1">
              <a:rPr lang="es-ES" smtClean="0"/>
              <a:t>28/08/2024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626FFB-669E-4FEF-AAF4-FCBE8D204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3302B3-AB25-45B7-A138-5DD3F6FD0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336CAFD0-1F6E-4E11-9822-836563A0283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32818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BB67B-96F2-4E3B-AD4B-986D490B9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A24320-D7DC-4240-B4DF-339532FE9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2E11C2-AD04-4ED6-82A4-3FD71B6FB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50F2-204D-422E-A62C-8A2A95FE0EA0}" type="datetime1">
              <a:rPr lang="es-ES" smtClean="0"/>
              <a:t>28/08/2024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0448CB-E41F-4F50-8E08-202E8756D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4FAE15-CF45-4AED-8356-CE6C9EE83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093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246AD-7BE6-483F-96A3-541DAD4B8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3C3E4F-C907-4C22-B083-DDF5EDF27F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5065CB-41D1-4202-A34D-7BB99EB78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AE56AF-AE89-4D7B-A003-4931E6EA8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0192F-D937-48F6-B938-D4FF2285D339}" type="datetime1">
              <a:rPr lang="es-ES" smtClean="0"/>
              <a:t>28/08/2024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F7D8F9-491C-4103-A8F2-5F9F0FA5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04D832-55CC-4538-B057-CA9881D9A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3882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EF558-0175-4BD0-979F-D483F1A0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74E40B-3DF7-44C5-860B-A36DE85FE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06F954-C6D4-4723-8E03-55A1E79F0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C871A73-8828-4197-ADC1-0C21128F6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33081A4-0280-4B19-9B06-BA7D80769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9340A08-2899-40F7-B8EE-A496CBD88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58F57-2DA1-4DBA-AA33-8D93DD9494F9}" type="datetime1">
              <a:rPr lang="es-ES" smtClean="0"/>
              <a:t>28/08/2024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75E94AC-0958-41A7-A416-28A3791B2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7A743E3-167E-4DC6-AF9F-963C2A2C8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1594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0C0657-7B1A-442F-A5A8-F68C547D6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20B9629-5B37-4C68-BCAF-4F204AD59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AA46-ADD9-4633-900E-54294B546C39}" type="datetime1">
              <a:rPr lang="es-ES" smtClean="0"/>
              <a:t>28/08/2024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F496A21-694B-4235-9BDF-7FA776CD6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C769F2-5C78-4519-AE94-E67F0F38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5255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3476251-88E2-4CBD-95F9-95E8112B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AD164-930E-44E1-8AD6-DA81FFB2E87B}" type="datetime1">
              <a:rPr lang="es-ES" smtClean="0"/>
              <a:t>28/08/2024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49AE1B3-12A0-41E5-8708-38E7CDE67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8E5739-F16D-4ED7-934D-15DD6F3FD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149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05BC6A-6581-45ED-97B2-665F6CC3E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6E2A75-C11D-4D21-973A-6BD6B12AB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C2970D4-7A79-4101-849B-C528055754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24EC5D-1BA5-4E28-9CF2-850714ED1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9943-A7E6-4D67-A3E5-3CC6ADA523F1}" type="datetime1">
              <a:rPr lang="es-ES" smtClean="0"/>
              <a:t>28/08/2024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84FBFE-5582-479B-A6E8-8BD08A0B9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81D782-F740-4365-8C21-A299A8B5F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506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35E2E-4483-4902-9BE4-8F6FA962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E9D67D1-94DE-4CC9-85D5-7FFF88118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44DCF8-D22F-4389-B4E4-967056334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62798B-5681-4C69-BB09-2388DA3C2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12756-8293-4ED7-8C53-E15A36E0B819}" type="datetime1">
              <a:rPr lang="es-ES" smtClean="0"/>
              <a:t>28/08/2024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B9532C-97BB-441B-B506-C25F8CF28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D157D7-9A5A-414D-A0CA-96FAE873A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893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7A50E-F7F5-4C4D-8B77-79BAEF2E5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AFBB6D-17BE-4C49-BCCF-B5C5CFE9F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9176D5-891E-44BA-B401-E3A04EAFA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88EC-7283-4406-9DFD-E99FA692D75C}" type="datetime1">
              <a:rPr lang="es-ES" smtClean="0"/>
              <a:t>28/08/2024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934A99-FA15-4D15-97E2-3E17E0383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A8D24B-343C-4B37-A9F6-33CE51FE3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1468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F92B8F-BB2D-45E5-A81C-009359D306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9973B1-2492-45DB-BA9B-BD3B59B4B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7A9D75-FCEC-47C9-AA6E-4D2F6CFF6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9286-D927-4095-B743-3451D71D767F}" type="datetime1">
              <a:rPr lang="es-ES" smtClean="0"/>
              <a:t>28/08/2024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20CC3E-8F0C-4A5B-B192-6F292AE46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C7BE2D-24E9-4481-AEB9-697A2447A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3171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23CBADE-FD33-4AF1-9F6F-A44E4356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74D713-AFC9-4141-B355-05ABF7893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666BF8-72F7-4108-81B8-D74BF52FE0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AEDC6-F719-4D5C-BB7F-D599F6A812F4}" type="datetime1">
              <a:rPr lang="es-ES" smtClean="0"/>
              <a:t>28/08/2024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F725B7-4457-4323-8704-24025C493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1E65A2-2681-4AF8-8875-39AE9558A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6707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reilly.com/library-access/?next=/library/view/Probability-and-statistics/9781439875919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tatistics4u.com/fundstat_eng/cc_normality_test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5" Type="http://schemas.openxmlformats.org/officeDocument/2006/relationships/image" Target="../media/image200.png"/><Relationship Id="rId4" Type="http://schemas.openxmlformats.org/officeDocument/2006/relationships/image" Target="../media/image19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5024B-BC8C-4A3E-B772-46F3159760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Contrastes de hipótesis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6AD6E3-038F-4B94-A53F-314F158509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Contenidos adaptados del libro “</a:t>
            </a:r>
            <a:r>
              <a:rPr lang="en-US" dirty="0">
                <a:hlinkClick r:id="rId2"/>
              </a:rPr>
              <a:t>Probability and statistics for computer scientists, Second edition, M. Baron</a:t>
            </a:r>
            <a:r>
              <a:rPr lang="en-US" dirty="0"/>
              <a:t>” (</a:t>
            </a:r>
            <a:r>
              <a:rPr lang="en-US" dirty="0" err="1"/>
              <a:t>Capítulo</a:t>
            </a:r>
            <a:r>
              <a:rPr lang="en-US" dirty="0"/>
              <a:t> 9.4)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37515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4652C-29A9-89EF-39F2-1A8D69D4B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Contenido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76B585-B497-85A0-6FF6-C94DD5F1F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dirty="0"/>
              <a:t>Objetivos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Introducción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Métodos para realizar un contraste de hipótesis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Contraste de hipótesis para la media poblacional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Contraste de hipótesis para una proporción poblacional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Contraste de hipótesis para la diferencia de medias de dos poblaciones independientes 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Contraste de hipótesis para la diferencia de proporciones de dos poblaciones independientes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Resumen</a:t>
            </a:r>
          </a:p>
          <a:p>
            <a:pPr marL="514350" indent="-514350">
              <a:buFont typeface="+mj-lt"/>
              <a:buAutoNum type="arabicPeriod"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41137E5-86B4-304F-08CB-613284F83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67162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2D176C-CDC0-DF85-54F1-9708DFCA5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Objetivos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B6CFD2-C77B-DFF3-1B7B-8BECFB7A5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/>
              <a:t>Conocer el papel de los contrastes de hipótesis</a:t>
            </a:r>
          </a:p>
          <a:p>
            <a:r>
              <a:rPr lang="es-ES" dirty="0"/>
              <a:t>Determinar en qué situaciones hay que aplicar un contraste paramétrico o no paramétrico</a:t>
            </a:r>
          </a:p>
          <a:p>
            <a:r>
              <a:rPr lang="es-ES" dirty="0"/>
              <a:t>Realizar contrastes de hipótesis para la media poblacional y una proporción poblacional comprobando la región de aceptación</a:t>
            </a:r>
          </a:p>
          <a:p>
            <a:r>
              <a:rPr lang="es-ES" dirty="0"/>
              <a:t>Realizar contrastes de hipótesis para la media poblacional y una proporción poblacional calculando el p-valor</a:t>
            </a:r>
          </a:p>
          <a:p>
            <a:r>
              <a:rPr lang="es-ES" dirty="0"/>
              <a:t>Realizar contrastes de hipótesis para la diferencia de medias y de proporciones de dos poblaciones independientes comprobando la región de aceptación</a:t>
            </a:r>
          </a:p>
          <a:p>
            <a:r>
              <a:rPr lang="es-ES" dirty="0"/>
              <a:t>Realizar contrastes de hipótesis para la diferencia de medias y de proporciones de dos poblaciones independientes calculando el p-valor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15954C-E36C-21B4-C2F8-6D8A043D9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57470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680CEB-5CDA-51E5-519F-81316B43E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1AAADC-6D5A-3B33-A02F-A8CECC3D7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07560" cy="4351338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Uno de los posibles resultados de la inferencia estadística es la comprobación o contraste de una hipótesis sobre los valores para los parámetros estimados, junto con una probabilidad de error cometido.	 </a:t>
            </a:r>
          </a:p>
          <a:p>
            <a:r>
              <a:rPr lang="es-ES" dirty="0"/>
              <a:t>Se suelen utilizar sinónimos de “contraste de hipótesis”, como “prueba de hipótesis” o “test de hipótesis”.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6D72D4-D241-BE9E-70E6-03E92F6C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8F54FED-9C4D-FB39-F857-61D767464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022" y="2026126"/>
            <a:ext cx="6162675" cy="3629025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811A19D4-31D5-AE94-5D03-86AB239CA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60000" y="4582763"/>
            <a:ext cx="1656080" cy="1930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822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AB9E6C-EED0-7324-FA6C-4E870D9FB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Introducción</a:t>
            </a:r>
            <a:br>
              <a:rPr lang="es-ES" dirty="0"/>
            </a:br>
            <a:r>
              <a:rPr lang="es-ES" dirty="0"/>
              <a:t>Contrastes paramétricos y no paramétricos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2B3DD1-A44F-D4D9-23EC-A47965420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ES" dirty="0"/>
              <a:t>Un contraste de hipótesis puede ser</a:t>
            </a:r>
          </a:p>
          <a:p>
            <a:pPr lvl="1"/>
            <a:r>
              <a:rPr lang="es-ES" dirty="0"/>
              <a:t>Paramétrico: cuando los datos tienen una distribución de probabilidad Normal.</a:t>
            </a:r>
          </a:p>
          <a:p>
            <a:pPr lvl="1"/>
            <a:r>
              <a:rPr lang="es-ES" dirty="0"/>
              <a:t>No Paramétrico: Cuando no hay evidencias de que los datos tengan una distribución Normal. Por ejemplo, porque la muestra sea pequeña o tenga datos atípicos (</a:t>
            </a:r>
            <a:r>
              <a:rPr lang="es-ES" i="1" dirty="0" err="1"/>
              <a:t>outliers</a:t>
            </a:r>
            <a:r>
              <a:rPr lang="es-ES" dirty="0"/>
              <a:t>) </a:t>
            </a:r>
          </a:p>
          <a:p>
            <a:r>
              <a:rPr lang="es-ES" dirty="0"/>
              <a:t>Comprobación de la normalidad</a:t>
            </a:r>
          </a:p>
          <a:p>
            <a:pPr lvl="1"/>
            <a:r>
              <a:rPr lang="es-ES" dirty="0"/>
              <a:t>Hay diferentes </a:t>
            </a:r>
            <a:r>
              <a:rPr lang="es-ES" dirty="0">
                <a:hlinkClick r:id="rId2"/>
              </a:rPr>
              <a:t>métodos  para comprobar la normalidad de los datos</a:t>
            </a:r>
            <a:endParaRPr lang="es-ES" dirty="0"/>
          </a:p>
          <a:p>
            <a:pPr lvl="2"/>
            <a:r>
              <a:rPr lang="es-ES" dirty="0"/>
              <a:t>Chi-Square, </a:t>
            </a:r>
            <a:r>
              <a:rPr lang="es-ES" dirty="0" err="1"/>
              <a:t>Kolmogorov-Smirnov</a:t>
            </a:r>
            <a:r>
              <a:rPr lang="es-ES" dirty="0"/>
              <a:t>, </a:t>
            </a:r>
            <a:r>
              <a:rPr lang="es-ES" dirty="0" err="1"/>
              <a:t>Lilliefors</a:t>
            </a:r>
            <a:r>
              <a:rPr lang="es-ES" dirty="0"/>
              <a:t>, Anderson-Darling, Shapiro-Wilk, </a:t>
            </a:r>
            <a:r>
              <a:rPr lang="es-ES" dirty="0" err="1"/>
              <a:t>Cramér</a:t>
            </a:r>
            <a:r>
              <a:rPr lang="es-ES" dirty="0"/>
              <a:t>-</a:t>
            </a:r>
            <a:r>
              <a:rPr lang="es-ES" dirty="0" err="1"/>
              <a:t>von</a:t>
            </a:r>
            <a:r>
              <a:rPr lang="es-ES" dirty="0"/>
              <a:t>-Mises</a:t>
            </a:r>
          </a:p>
          <a:p>
            <a:pPr lvl="1"/>
            <a:r>
              <a:rPr lang="es-ES" dirty="0"/>
              <a:t>El software estadístico (R, SPSS, </a:t>
            </a:r>
            <a:r>
              <a:rPr lang="es-ES" dirty="0" err="1"/>
              <a:t>Statgraphics</a:t>
            </a:r>
            <a:r>
              <a:rPr lang="es-ES" dirty="0"/>
              <a:t>, Excel, …) </a:t>
            </a:r>
            <a:r>
              <a:rPr lang="es-ES"/>
              <a:t>ofrece funcionalidad </a:t>
            </a:r>
            <a:r>
              <a:rPr lang="es-ES" dirty="0"/>
              <a:t>para comprobar la normalidad </a:t>
            </a:r>
          </a:p>
          <a:p>
            <a:pPr lvl="1"/>
            <a:r>
              <a:rPr lang="es-ES" dirty="0"/>
              <a:t>En los ejercicios no será necesario comprobar la normalidad, ya que indicará si los datos de cada ejercicio son normales o no, pero es recomendable utilizar un programa estadístico para confirmarlo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Cuando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muestra</a:t>
            </a:r>
            <a:r>
              <a:rPr lang="en-US" dirty="0"/>
              <a:t> es </a:t>
            </a:r>
            <a:r>
              <a:rPr lang="en-US" dirty="0" err="1"/>
              <a:t>grande</a:t>
            </a:r>
            <a:r>
              <a:rPr lang="en-US" dirty="0"/>
              <a:t> (&gt;30), se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considerar</a:t>
            </a:r>
            <a:r>
              <a:rPr lang="en-US" dirty="0"/>
              <a:t> Normal, </a:t>
            </a:r>
            <a:r>
              <a:rPr lang="en-US" dirty="0" err="1"/>
              <a:t>aplicando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s-ES" dirty="0"/>
              <a:t>Teorema Central del Límite.</a:t>
            </a:r>
          </a:p>
          <a:p>
            <a:pPr lvl="1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BE88CE-C86E-E44F-51BB-82C8F6C87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77680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AB9E6C-EED0-7324-FA6C-4E870D9FB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2. Introducción</a:t>
            </a:r>
            <a:br>
              <a:rPr lang="es-ES" dirty="0"/>
            </a:br>
            <a:r>
              <a:rPr lang="es-ES" dirty="0"/>
              <a:t>Planteamiento de un contraste de dos hipótesis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62B3DD1-A44F-D4D9-23EC-A479654206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s-ES" dirty="0"/>
                  <a:t>En el contexto de la estadística inferencial, una hipótesis es una afirmación sobre el valor de un parámetro (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s-ES" dirty="0"/>
                  <a:t>) de una o varias poblaciones</a:t>
                </a:r>
              </a:p>
              <a:p>
                <a:r>
                  <a:rPr lang="es-ES" dirty="0"/>
                  <a:t>Cuando se plantea un contraste, se enfrentan dos hipótesis</a:t>
                </a:r>
              </a:p>
              <a:p>
                <a:pPr lvl="1"/>
                <a:r>
                  <a:rPr lang="es-ES" dirty="0"/>
                  <a:t>H</a:t>
                </a:r>
                <a:r>
                  <a:rPr lang="es-ES" baseline="-25000" dirty="0"/>
                  <a:t>0</a:t>
                </a:r>
                <a:r>
                  <a:rPr lang="es-ES" dirty="0"/>
                  <a:t> versus (contra) H</a:t>
                </a:r>
                <a:r>
                  <a:rPr lang="es-ES" baseline="-25000" dirty="0"/>
                  <a:t>A</a:t>
                </a:r>
              </a:p>
              <a:p>
                <a:pPr lvl="1"/>
                <a:r>
                  <a:rPr lang="es-ES" dirty="0"/>
                  <a:t>H</a:t>
                </a:r>
                <a:r>
                  <a:rPr lang="es-ES" baseline="-25000" dirty="0"/>
                  <a:t>0</a:t>
                </a:r>
                <a:r>
                  <a:rPr lang="es-ES" dirty="0"/>
                  <a:t>: Hipótesis, o Hipótesis nula (es la que se quiere comprobar)</a:t>
                </a:r>
              </a:p>
              <a:p>
                <a:pPr lvl="1"/>
                <a:r>
                  <a:rPr lang="es-ES" dirty="0"/>
                  <a:t>H</a:t>
                </a:r>
                <a:r>
                  <a:rPr lang="es-ES" baseline="-25000" dirty="0"/>
                  <a:t>A</a:t>
                </a:r>
                <a:r>
                  <a:rPr lang="es-ES" dirty="0"/>
                  <a:t>: Alternativa, o Hipótesis alternativa</a:t>
                </a:r>
              </a:p>
              <a:p>
                <a:r>
                  <a:rPr lang="es-ES" dirty="0"/>
                  <a:t>Ambas son declaraciones mutuamente excluyentes. </a:t>
                </a:r>
              </a:p>
              <a:p>
                <a:r>
                  <a:rPr lang="es-ES" dirty="0"/>
                  <a:t>El resultado de un contraste de hipótesis es la aceptación de H</a:t>
                </a:r>
                <a:r>
                  <a:rPr lang="es-ES" baseline="-25000" dirty="0"/>
                  <a:t>0</a:t>
                </a:r>
                <a:r>
                  <a:rPr lang="es-ES" dirty="0"/>
                  <a:t> o su rechazo en favor de H</a:t>
                </a:r>
                <a:r>
                  <a:rPr lang="es-ES" baseline="-25000" dirty="0"/>
                  <a:t>A</a:t>
                </a:r>
                <a:r>
                  <a:rPr lang="es-ES" dirty="0"/>
                  <a:t>.</a:t>
                </a:r>
              </a:p>
              <a:p>
                <a:r>
                  <a:rPr lang="es-ES" dirty="0"/>
                  <a:t>Al realizar el contraste con una muestra de datos, no con la población completa, nunca se podrá decir que H</a:t>
                </a:r>
                <a:r>
                  <a:rPr lang="es-ES" baseline="-25000" dirty="0"/>
                  <a:t>0 </a:t>
                </a:r>
                <a:r>
                  <a:rPr lang="es-ES" dirty="0"/>
                  <a:t>o H</a:t>
                </a:r>
                <a:r>
                  <a:rPr lang="es-ES" baseline="-25000" dirty="0"/>
                  <a:t>A</a:t>
                </a:r>
                <a:r>
                  <a:rPr lang="es-ES" dirty="0"/>
                  <a:t> sean ciertas, sólo se puede decir </a:t>
                </a:r>
              </a:p>
              <a:p>
                <a:pPr lvl="1"/>
                <a:r>
                  <a:rPr lang="es-ES" dirty="0"/>
                  <a:t>si hay suficientes evidencias como para rechazar H</a:t>
                </a:r>
                <a:r>
                  <a:rPr lang="es-ES" baseline="-25000" dirty="0"/>
                  <a:t>0</a:t>
                </a:r>
                <a:r>
                  <a:rPr lang="es-ES" dirty="0"/>
                  <a:t> en favor de H</a:t>
                </a:r>
                <a:r>
                  <a:rPr lang="es-ES" baseline="-25000" dirty="0"/>
                  <a:t>A</a:t>
                </a:r>
                <a:r>
                  <a:rPr lang="es-ES" dirty="0"/>
                  <a:t>, </a:t>
                </a:r>
              </a:p>
              <a:p>
                <a:pPr lvl="1"/>
                <a:r>
                  <a:rPr lang="es-ES" dirty="0"/>
                  <a:t>o si no hay suficientes evidencias como para rechazar H</a:t>
                </a:r>
                <a:r>
                  <a:rPr lang="es-ES" baseline="-25000" dirty="0"/>
                  <a:t>0</a:t>
                </a:r>
                <a:r>
                  <a:rPr lang="es-ES" dirty="0"/>
                  <a:t> en favor de H</a:t>
                </a:r>
                <a:r>
                  <a:rPr lang="es-ES" baseline="-25000" dirty="0"/>
                  <a:t>A</a:t>
                </a:r>
                <a:r>
                  <a:rPr lang="es-ES" dirty="0"/>
                  <a:t> </a:t>
                </a:r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62B3DD1-A44F-D4D9-23EC-A479654206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221" r="-23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BE88CE-C86E-E44F-51BB-82C8F6C87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27468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AB9E6C-EED0-7324-FA6C-4E870D9FB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2. Introducción</a:t>
            </a:r>
            <a:br>
              <a:rPr lang="es-ES" dirty="0"/>
            </a:br>
            <a:r>
              <a:rPr lang="es-ES" dirty="0"/>
              <a:t>Planteamiento de un contraste. Ejemplo 9.22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62B3DD1-A44F-D4D9-23EC-A479654206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Para verificar que la velocidad de conexión promedio en una población de hogares es de 54 Mbps, se puede plantear el siguiente contraste de hipótesis sobre el parámetro media poblacional (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ES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=54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𝑀𝑏𝑝𝑠</m:t>
                    </m:r>
                  </m:oMath>
                </a14:m>
                <a:r>
                  <a:rPr lang="es-ES" dirty="0">
                    <a:ea typeface="Cambria Math" panose="02040503050406030204" pitchFamily="18" charset="0"/>
                  </a:rPr>
                  <a:t>  vs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≠54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𝑀𝑏𝑝𝑠</m:t>
                    </m:r>
                  </m:oMath>
                </a14:m>
                <a:r>
                  <a:rPr lang="es-ES" dirty="0">
                    <a:ea typeface="Cambria Math" panose="02040503050406030204" pitchFamily="18" charset="0"/>
                  </a:rPr>
                  <a:t>    </a:t>
                </a:r>
              </a:p>
              <a:p>
                <a:r>
                  <a:rPr lang="es-ES" dirty="0"/>
                  <a:t>Pero si lo que nos interesa es comprobar si la conexión es inferior a ese valor medio, se puede plantear un contraste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=54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𝑀𝑏𝑝𝑠</m:t>
                    </m:r>
                  </m:oMath>
                </a14:m>
                <a:r>
                  <a:rPr lang="es-ES" dirty="0">
                    <a:ea typeface="Cambria Math" panose="02040503050406030204" pitchFamily="18" charset="0"/>
                  </a:rPr>
                  <a:t>  vs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&lt;54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𝑀𝑏𝑝𝑠</m:t>
                    </m:r>
                  </m:oMath>
                </a14:m>
                <a:r>
                  <a:rPr lang="es-ES" dirty="0">
                    <a:ea typeface="Cambria Math" panose="02040503050406030204" pitchFamily="18" charset="0"/>
                  </a:rPr>
                  <a:t>   </a:t>
                </a:r>
              </a:p>
              <a:p>
                <a:r>
                  <a:rPr lang="es-ES" dirty="0"/>
                  <a:t>En ambos casos, </a:t>
                </a:r>
              </a:p>
              <a:p>
                <a:pPr lvl="1"/>
                <a:r>
                  <a:rPr lang="es-ES" dirty="0"/>
                  <a:t>si no encontramos evidencias que respalden H</a:t>
                </a:r>
                <a:r>
                  <a:rPr lang="es-ES" baseline="-25000" dirty="0"/>
                  <a:t>0</a:t>
                </a:r>
                <a:r>
                  <a:rPr lang="es-ES" dirty="0"/>
                  <a:t>, entonces se rechazará H</a:t>
                </a:r>
                <a:r>
                  <a:rPr lang="es-ES" baseline="-25000" dirty="0"/>
                  <a:t>0</a:t>
                </a:r>
              </a:p>
              <a:p>
                <a:pPr lvl="1"/>
                <a:r>
                  <a:rPr lang="es-ES" dirty="0"/>
                  <a:t>si encontramos evidencias que respalden H</a:t>
                </a:r>
                <a:r>
                  <a:rPr lang="es-ES" baseline="-25000" dirty="0"/>
                  <a:t>0</a:t>
                </a:r>
                <a:r>
                  <a:rPr lang="es-ES" dirty="0"/>
                  <a:t>, entonces no se rechazará H</a:t>
                </a:r>
                <a:r>
                  <a:rPr lang="es-ES" baseline="-25000" dirty="0"/>
                  <a:t>0</a:t>
                </a:r>
              </a:p>
              <a:p>
                <a:endParaRPr lang="es-ES" baseline="-250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62B3DD1-A44F-D4D9-23EC-A479654206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14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BE88CE-C86E-E44F-51BB-82C8F6C87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87952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AB9E6C-EED0-7324-FA6C-4E870D9FB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2. Introducción</a:t>
            </a:r>
            <a:br>
              <a:rPr lang="es-ES" dirty="0"/>
            </a:br>
            <a:r>
              <a:rPr lang="es-ES" dirty="0"/>
              <a:t>Tipos de contrastes según la hipótesis alternativa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62B3DD1-A44F-D4D9-23EC-A479654206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Contraste bilateral o de dos colas (</a:t>
                </a:r>
                <a:r>
                  <a:rPr lang="es-ES" i="1" dirty="0" err="1"/>
                  <a:t>two-sided</a:t>
                </a:r>
                <a:r>
                  <a:rPr lang="es-ES" i="1" dirty="0"/>
                  <a:t> test</a:t>
                </a:r>
                <a:r>
                  <a:rPr lang="es-ES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𝑣𝑎𝑙𝑜𝑟</m:t>
                    </m:r>
                  </m:oMath>
                </a14:m>
                <a:r>
                  <a:rPr lang="es-ES" dirty="0"/>
                  <a:t>  vs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𝑣𝑎𝑙𝑜𝑟</m:t>
                    </m:r>
                  </m:oMath>
                </a14:m>
                <a:endParaRPr lang="es-ES" dirty="0"/>
              </a:p>
              <a:p>
                <a:r>
                  <a:rPr lang="es-ES" dirty="0"/>
                  <a:t>Contraste </a:t>
                </a:r>
                <a:r>
                  <a:rPr lang="es-ES" dirty="0" err="1"/>
                  <a:t>uni-lateral</a:t>
                </a:r>
                <a:r>
                  <a:rPr lang="es-ES" dirty="0"/>
                  <a:t> o de una cola, con cola izquierda (</a:t>
                </a:r>
                <a:r>
                  <a:rPr lang="es-ES" i="1" dirty="0" err="1"/>
                  <a:t>one-sided</a:t>
                </a:r>
                <a:r>
                  <a:rPr lang="es-ES" i="1" dirty="0"/>
                  <a:t> test, </a:t>
                </a:r>
                <a:r>
                  <a:rPr lang="es-ES" i="1" dirty="0" err="1"/>
                  <a:t>left-tail</a:t>
                </a:r>
                <a:r>
                  <a:rPr lang="es-ES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𝑣𝑎𝑙𝑜𝑟</m:t>
                    </m:r>
                  </m:oMath>
                </a14:m>
                <a:r>
                  <a:rPr lang="es-ES" dirty="0"/>
                  <a:t>  vs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𝑣𝑎𝑙𝑜𝑟</m:t>
                    </m:r>
                  </m:oMath>
                </a14:m>
                <a:endParaRPr lang="es-ES" dirty="0"/>
              </a:p>
              <a:p>
                <a:r>
                  <a:rPr lang="es-ES" dirty="0"/>
                  <a:t> Contraste </a:t>
                </a:r>
                <a:r>
                  <a:rPr lang="es-ES" dirty="0" err="1"/>
                  <a:t>uni-lateral</a:t>
                </a:r>
                <a:r>
                  <a:rPr lang="es-ES" dirty="0"/>
                  <a:t> o de una cola, con cola derecha (</a:t>
                </a:r>
                <a:r>
                  <a:rPr lang="es-ES" i="1" dirty="0" err="1"/>
                  <a:t>one-sided</a:t>
                </a:r>
                <a:r>
                  <a:rPr lang="es-ES" i="1" dirty="0"/>
                  <a:t>, </a:t>
                </a:r>
                <a:r>
                  <a:rPr lang="es-ES" i="1" dirty="0" err="1"/>
                  <a:t>right-tail</a:t>
                </a:r>
                <a:r>
                  <a:rPr lang="es-ES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𝑣𝑎𝑙𝑜𝑟</m:t>
                    </m:r>
                  </m:oMath>
                </a14:m>
                <a:r>
                  <a:rPr lang="es-ES" dirty="0"/>
                  <a:t> 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: </m:t>
                    </m:r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𝑣𝑎𝑙𝑜𝑟</m:t>
                    </m:r>
                  </m:oMath>
                </a14:m>
                <a:endParaRPr lang="es-ES" dirty="0"/>
              </a:p>
              <a:p>
                <a:endParaRPr lang="es-ES" dirty="0"/>
              </a:p>
              <a:p>
                <a:endParaRPr lang="es-ES" baseline="-250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62B3DD1-A44F-D4D9-23EC-A479654206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04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BE88CE-C86E-E44F-51BB-82C8F6C87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92147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AD1FCA-997D-F58D-0ADB-6D00ABC05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Introducción</a:t>
            </a:r>
            <a:br>
              <a:rPr lang="es-ES" dirty="0"/>
            </a:br>
            <a:r>
              <a:rPr lang="es-ES" dirty="0"/>
              <a:t>Tipos de errores en un contraste de hipótesis</a:t>
            </a:r>
          </a:p>
        </p:txBody>
      </p:sp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68312B8C-67AB-E078-CDD2-8CDEA44FF5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429708"/>
              </p:ext>
            </p:extLst>
          </p:nvPr>
        </p:nvGraphicFramePr>
        <p:xfrm>
          <a:off x="2152650" y="2148358"/>
          <a:ext cx="7886700" cy="23947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00035694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021675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489810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1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2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Decisión: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2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Rechazar H</a:t>
                      </a:r>
                      <a:r>
                        <a:rPr lang="es-ES" sz="2000" b="1" baseline="-25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2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Decisión: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2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 rechazar H</a:t>
                      </a:r>
                      <a:r>
                        <a:rPr lang="es-ES" sz="2000" b="1" baseline="-25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866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2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Realidad: 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2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Hipótesis H</a:t>
                      </a:r>
                      <a:r>
                        <a:rPr lang="es-ES" sz="2000" b="1" baseline="-25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s-ES" sz="2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CIERTA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FALLO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Error tipo I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18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ACIERTO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52091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2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Realidad: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2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Hipótesis H</a:t>
                      </a:r>
                      <a:r>
                        <a:rPr lang="es-ES" sz="2000" b="1" baseline="-25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s-ES" sz="2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FALSA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18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ACIERTO</a:t>
                      </a:r>
                      <a:endParaRPr lang="es-E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FALLO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Error tipo II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75339250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61C2036C-A38E-EE39-3FB3-06B321ADE45D}"/>
              </a:ext>
            </a:extLst>
          </p:cNvPr>
          <p:cNvSpPr txBox="1">
            <a:spLocks/>
          </p:cNvSpPr>
          <p:nvPr/>
        </p:nvSpPr>
        <p:spPr>
          <a:xfrm>
            <a:off x="838200" y="4923831"/>
            <a:ext cx="10515600" cy="156904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400" dirty="0"/>
              <a:t>El error de tipo I ocurre cuando rechazamos una hipótesis nula que es cierta</a:t>
            </a:r>
          </a:p>
          <a:p>
            <a:pPr lvl="1"/>
            <a:r>
              <a:rPr lang="es-ES" sz="2000" dirty="0"/>
              <a:t>Ejemplo: Decidimos que la altura media de los habitantes de una ciudad no es 1,6m a partir de una muestra de 100 personas, y posteriormente medimos a todos los habitantes y la media es 1,6m</a:t>
            </a:r>
          </a:p>
          <a:p>
            <a:r>
              <a:rPr lang="es-ES" sz="2400" dirty="0"/>
              <a:t>El error de tipo II ocurre cuando aceptamos una hipótesis nula que es falsa</a:t>
            </a:r>
          </a:p>
          <a:p>
            <a:pPr lvl="1"/>
            <a:r>
              <a:rPr lang="es-ES" sz="2000" dirty="0"/>
              <a:t>Ejemplo: Decidimos que la altura media de los habitantes de una ciudad es 1,6m a partir de una muestra de 100 personas, y posteriormente medimos a todos los habitantes y la media es 1,7m</a:t>
            </a:r>
          </a:p>
          <a:p>
            <a:pPr lvl="1"/>
            <a:endParaRPr lang="es-ES" sz="2000" dirty="0"/>
          </a:p>
          <a:p>
            <a:pPr lvl="1"/>
            <a:endParaRPr lang="es-ES" sz="2000" dirty="0"/>
          </a:p>
          <a:p>
            <a:endParaRPr lang="es-ES" sz="24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6638FD6-1620-7052-F397-B697D7569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4765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4EDBB5-9361-F50C-160A-7B4495490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2. Introducción</a:t>
            </a:r>
            <a:br>
              <a:rPr lang="es-ES" dirty="0"/>
            </a:br>
            <a:r>
              <a:rPr lang="es-ES" dirty="0"/>
              <a:t>Probabilidades en un contraste de hipótesis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3973491-3A4F-4965-029E-F8191B656D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b="1" dirty="0"/>
                  <a:t>Nivel de significación del contraste: α</a:t>
                </a:r>
                <a:r>
                  <a:rPr lang="es-ES" dirty="0"/>
                  <a:t>. Es la probabilidad de rechazar la hipótesis cuando dicha hipótesis es cierta. Error tipo I.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d>
                      <m:dPr>
                        <m:begChr m:val="{"/>
                        <m:endChr m:val="}"/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𝒓𝒆𝒄𝒉𝒂𝒛𝒂𝒓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s-E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s-E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d>
                          <m:dPr>
                            <m:begChr m:val="|"/>
                            <m:endChr m:val=""/>
                            <m:ctrlPr>
                              <a:rPr lang="es-E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𝑯</m:t>
                                </m:r>
                              </m:e>
                              <m:sub>
                                <m:r>
                                  <a:rPr lang="es-E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s-E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𝒆𝒔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E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𝒄𝒊𝒆𝒓𝒕𝒂</m:t>
                            </m:r>
                          </m:e>
                        </m:d>
                      </m:e>
                    </m:d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𝑷𝒓𝒐𝒃𝒂𝒃𝒊𝒍𝒊𝒅𝒂𝒅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𝒅𝒆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𝒄𝒐𝒎𝒆𝒕𝒆𝒓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𝒆𝒓𝒓𝒐𝒓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𝒕𝒊𝒑𝒐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𝑰</m:t>
                    </m:r>
                  </m:oMath>
                </a14:m>
                <a:endParaRPr lang="es-ES" sz="2000" b="1" dirty="0"/>
              </a:p>
              <a:p>
                <a:r>
                  <a:rPr lang="es-ES" b="1" dirty="0"/>
                  <a:t>Nivel de confianza del contraste: 1-α. </a:t>
                </a:r>
                <a:r>
                  <a:rPr lang="es-ES" dirty="0"/>
                  <a:t>Es la probabilidad de no rechazar la hipótesis cuando dicha hipótesis es cierta. </a:t>
                </a:r>
              </a:p>
              <a:p>
                <a:r>
                  <a:rPr lang="es-ES" b="1" dirty="0"/>
                  <a:t>Potencia del contraste</a:t>
                </a:r>
                <a:r>
                  <a:rPr lang="es-ES" dirty="0"/>
                  <a:t>: Es la probabilidad de rechazar la hipótesis cuando dicha hipótesis es falsa.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sz="2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𝑜𝑡𝑒𝑛𝑐𝑖𝑎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𝑟𝑒𝑐h𝑎𝑧𝑎𝑟</m:t>
                        </m:r>
                        <m:r>
                          <a:rPr lang="es-E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s-E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s-E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begChr m:val="|"/>
                            <m:endChr m:val=""/>
                            <m:ctrlPr>
                              <a:rPr lang="es-E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s-E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s-E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E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𝑒𝑠</m:t>
                            </m:r>
                            <m:r>
                              <a:rPr lang="es-E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E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𝑓𝑎𝑙𝑠𝑎</m:t>
                            </m:r>
                          </m:e>
                        </m:d>
                      </m:e>
                    </m:d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𝑃𝑟𝑜𝑏𝑎𝑏𝑖𝑙𝑖𝑑𝑎𝑑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𝑑𝑒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𝑛𝑜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𝑐𝑜𝑚𝑒𝑡𝑒𝑟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𝑒𝑟𝑟𝑜𝑟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𝑡𝑖𝑝𝑜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𝐼𝐼</m:t>
                    </m:r>
                  </m:oMath>
                </a14:m>
                <a:endParaRPr lang="es-ES" sz="2000" dirty="0"/>
              </a:p>
              <a:p>
                <a:r>
                  <a:rPr lang="es-ES" b="1" dirty="0"/>
                  <a:t>Debilidad del contraste</a:t>
                </a:r>
                <a:r>
                  <a:rPr lang="es-ES" dirty="0"/>
                  <a:t>: </a:t>
                </a:r>
                <a14:m>
                  <m:oMath xmlns:m="http://schemas.openxmlformats.org/officeDocument/2006/math">
                    <m:r>
                      <a:rPr lang="es-ES" b="0" i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𝑜𝑡𝑒𝑛𝑐𝑖𝑎</m:t>
                    </m:r>
                  </m:oMath>
                </a14:m>
                <a:r>
                  <a:rPr lang="es-ES" dirty="0"/>
                  <a:t>. Es la probabilidad de no rechazar la hipótesis cuando dicha hipótesis es falsa. Error tipo II.</a:t>
                </a:r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3973491-3A4F-4965-029E-F8191B656D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638" b="-98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4CD254-3B27-50AB-EF84-BC5BCD2D7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107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54183-743B-C02E-BAD0-086C2AC94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Métodos para realizar un contraste de hipótesis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62E9B8-3F3D-87B9-8E7F-2118CA9A3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Existen dos métodos para realizar el contraste de una hipótesis y decidir si se acepta H</a:t>
            </a:r>
            <a:r>
              <a:rPr lang="es-ES" baseline="-25000" dirty="0"/>
              <a:t>0</a:t>
            </a:r>
            <a:r>
              <a:rPr lang="es-ES" dirty="0"/>
              <a:t> o, por el contrario, si se acepta H</a:t>
            </a:r>
            <a:r>
              <a:rPr lang="es-ES" baseline="-25000" dirty="0"/>
              <a:t>A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Comprobando la región de aceptación (no rechazo)</a:t>
            </a:r>
          </a:p>
          <a:p>
            <a:pPr lvl="1"/>
            <a:r>
              <a:rPr lang="es-ES" dirty="0"/>
              <a:t>Calculando el p-valor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1BA6A3-2A5B-E5B9-57AF-AE06866B1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4508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99749B-228B-4D62-649D-A992373DB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3. Métodos para realizar un contraste de hipótesis</a:t>
            </a:r>
            <a:br>
              <a:rPr lang="es-ES" dirty="0"/>
            </a:br>
            <a:r>
              <a:rPr lang="es-ES" dirty="0"/>
              <a:t>Comprobando la región de aceptación. Paso 1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5EADBE-D459-9761-3BFA-12316CBFA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dirty="0"/>
              <a:t>Paso 1: Calcular un estadístico de contraste</a:t>
            </a:r>
          </a:p>
          <a:p>
            <a:r>
              <a:rPr lang="es-ES" dirty="0"/>
              <a:t>Un estadístico de contraste T, es una variable aleatoria que representa al estimador estandarizado (centrado en 0) del parámetro sobre el que se plantean las hipótesis</a:t>
            </a:r>
          </a:p>
          <a:p>
            <a:pPr lvl="1"/>
            <a:r>
              <a:rPr lang="es-ES" dirty="0"/>
              <a:t>Si la distribución de probabilidad del estadístico es Normal, el estadístico se denomina Z </a:t>
            </a:r>
            <a:r>
              <a:rPr lang="es-ES" dirty="0">
                <a:sym typeface="Wingdings" panose="05000000000000000000" pitchFamily="2" charset="2"/>
              </a:rPr>
              <a:t></a:t>
            </a:r>
            <a:r>
              <a:rPr lang="es-ES" dirty="0"/>
              <a:t> T=Z</a:t>
            </a:r>
          </a:p>
          <a:p>
            <a:pPr lvl="1"/>
            <a:r>
              <a:rPr lang="es-ES" dirty="0"/>
              <a:t>Si la distribución de probabilidad del estadístico es T de </a:t>
            </a:r>
            <a:r>
              <a:rPr lang="es-ES" dirty="0" err="1"/>
              <a:t>Student</a:t>
            </a:r>
            <a:r>
              <a:rPr lang="es-ES" dirty="0"/>
              <a:t>, el estadístico se denomina t </a:t>
            </a:r>
            <a:r>
              <a:rPr lang="es-ES" dirty="0">
                <a:sym typeface="Wingdings" panose="05000000000000000000" pitchFamily="2" charset="2"/>
              </a:rPr>
              <a:t></a:t>
            </a:r>
            <a:r>
              <a:rPr lang="es-ES" dirty="0"/>
              <a:t> T=t</a:t>
            </a:r>
          </a:p>
          <a:p>
            <a:pPr lvl="1"/>
            <a:r>
              <a:rPr lang="es-ES" dirty="0"/>
              <a:t>En los contrastes no paramétricos se utilizan otros estadísticos llamados S, W, U </a:t>
            </a:r>
          </a:p>
          <a:p>
            <a:r>
              <a:rPr lang="es-ES" dirty="0"/>
              <a:t>El estadístico de contraste se utiliza para discriminar entre la hipótesis nula y la alternativa. </a:t>
            </a:r>
          </a:p>
          <a:p>
            <a:pPr lvl="1"/>
            <a:r>
              <a:rPr lang="es-ES" dirty="0"/>
              <a:t>Primero se obtiene un valor “observado” del estadístico (</a:t>
            </a:r>
            <a:r>
              <a:rPr lang="es-ES" dirty="0" err="1"/>
              <a:t>T</a:t>
            </a:r>
            <a:r>
              <a:rPr lang="es-ES" baseline="-25000" dirty="0" err="1"/>
              <a:t>o</a:t>
            </a:r>
            <a:r>
              <a:rPr lang="es-ES" dirty="0"/>
              <a:t>) a partir de los datos (observados) de la muestra y del valor del parámetro que se quiere comprobar en las hipótesis del contraste, considerando que H</a:t>
            </a:r>
            <a:r>
              <a:rPr lang="es-ES" baseline="-25000" dirty="0"/>
              <a:t>0</a:t>
            </a:r>
            <a:r>
              <a:rPr lang="es-ES" dirty="0"/>
              <a:t> es cierta.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1813ED-4692-FCD1-9B65-F8EE825A8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4174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99749B-228B-4D62-649D-A992373DB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3. Métodos para realizar un contraste de hipótesis</a:t>
            </a:r>
            <a:br>
              <a:rPr lang="es-ES" dirty="0"/>
            </a:br>
            <a:r>
              <a:rPr lang="es-ES" dirty="0"/>
              <a:t>Comprobando la región de aceptación. Paso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D5EADBE-D459-9761-3BFA-12316CBFA4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14867"/>
                <a:ext cx="10515600" cy="419865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ES" dirty="0"/>
                  <a:t>Paso 2: Calcular la región de aceptación</a:t>
                </a:r>
              </a:p>
              <a:p>
                <a:r>
                  <a:rPr lang="es-ES" dirty="0"/>
                  <a:t>El intervalo de valores del estadístico de contraste T, debajo del cual en su función de densidad de probabilidad (</a:t>
                </a:r>
                <a:r>
                  <a:rPr lang="es-ES" dirty="0" err="1"/>
                  <a:t>pdf</a:t>
                </a:r>
                <a:r>
                  <a:rPr lang="es-ES" dirty="0"/>
                  <a:t>) hay un área de 1-α, se llama </a:t>
                </a:r>
                <a:r>
                  <a:rPr lang="es-ES" b="1" dirty="0"/>
                  <a:t>región de aceptación</a:t>
                </a:r>
                <a:r>
                  <a:rPr lang="es-ES" dirty="0"/>
                  <a:t>.</a:t>
                </a:r>
              </a:p>
              <a:p>
                <a:r>
                  <a:rPr lang="es-ES" dirty="0"/>
                  <a:t>La parte restante se llama región de rechazo, con área α.</a:t>
                </a:r>
              </a:p>
              <a:p>
                <a:r>
                  <a:rPr lang="es-ES" dirty="0"/>
                  <a:t>Entonces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𝑅𝑒𝑔𝑖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ó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𝑎𝑐𝑒𝑝𝑡𝑎𝑐𝑖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ó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𝑐𝑖𝑒𝑟𝑡𝑎</m:t>
                            </m:r>
                          </m:e>
                        </m:d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𝑁𝑖𝑣𝑒𝑙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𝑑𝑒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𝑐𝑜𝑛𝑓𝑖𝑎𝑛𝑧𝑎</m:t>
                    </m:r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𝑅𝑒𝑔𝑖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ó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𝑟𝑒𝑐h𝑎𝑧𝑜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𝑐𝑖𝑒𝑟𝑡𝑎</m:t>
                            </m:r>
                          </m:e>
                        </m:d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𝑁𝑖𝑣𝑒𝑙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𝑑𝑒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𝑠𝑖𝑔𝑛𝑖𝑓𝑖𝑐𝑎𝑐𝑖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ó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s-ES" i="1" dirty="0"/>
              </a:p>
              <a:p>
                <a:endParaRPr lang="es-ES" dirty="0"/>
              </a:p>
              <a:p>
                <a:endParaRPr lang="es-ES" dirty="0"/>
              </a:p>
              <a:p>
                <a:endParaRPr lang="es-ES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D5EADBE-D459-9761-3BFA-12316CBFA4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14867"/>
                <a:ext cx="10515600" cy="4198657"/>
              </a:xfrm>
              <a:blipFill>
                <a:blip r:embed="rId2"/>
                <a:stretch>
                  <a:fillRect l="-1217" t="-2471" b="-65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1813ED-4692-FCD1-9B65-F8EE825A8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74927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99749B-228B-4D62-649D-A992373DB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3. Métodos para realizar un contraste de hipótesis</a:t>
            </a:r>
            <a:br>
              <a:rPr lang="es-ES" dirty="0"/>
            </a:br>
            <a:r>
              <a:rPr lang="es-ES" dirty="0"/>
              <a:t>Comprobando la región de aceptación. Gráficos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271D6F0-3BAC-C7FB-EC76-A27E2C9CC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943" y="1841259"/>
            <a:ext cx="6574155" cy="4837974"/>
          </a:xfrm>
          <a:prstGeom prst="rect">
            <a:avLst/>
          </a:prstGeom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7455B8D8-FF51-9A1F-8712-B2252EA44E9E}"/>
              </a:ext>
            </a:extLst>
          </p:cNvPr>
          <p:cNvSpPr txBox="1"/>
          <p:nvPr/>
        </p:nvSpPr>
        <p:spPr>
          <a:xfrm>
            <a:off x="7406640" y="4979042"/>
            <a:ext cx="110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</a:t>
            </a:r>
            <a:r>
              <a:rPr lang="es-ES" sz="1400" dirty="0" err="1"/>
              <a:t>Area</a:t>
            </a:r>
            <a:r>
              <a:rPr lang="es-ES" sz="1400" dirty="0"/>
              <a:t>=α/2)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6571BA6-0071-E5A8-31B6-98BC5B722B10}"/>
              </a:ext>
            </a:extLst>
          </p:cNvPr>
          <p:cNvSpPr txBox="1"/>
          <p:nvPr/>
        </p:nvSpPr>
        <p:spPr>
          <a:xfrm>
            <a:off x="5526501" y="5183182"/>
            <a:ext cx="110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</a:t>
            </a:r>
            <a:r>
              <a:rPr lang="es-ES" sz="1400" dirty="0" err="1"/>
              <a:t>Area</a:t>
            </a:r>
            <a:r>
              <a:rPr lang="es-ES" sz="1400" dirty="0"/>
              <a:t>=1-α)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25EDA2B1-C77E-E966-5F30-7190685E85E6}"/>
              </a:ext>
            </a:extLst>
          </p:cNvPr>
          <p:cNvSpPr txBox="1"/>
          <p:nvPr/>
        </p:nvSpPr>
        <p:spPr>
          <a:xfrm>
            <a:off x="3775990" y="4990992"/>
            <a:ext cx="110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</a:t>
            </a:r>
            <a:r>
              <a:rPr lang="es-ES" sz="1400" dirty="0" err="1"/>
              <a:t>Area</a:t>
            </a:r>
            <a:r>
              <a:rPr lang="es-ES" sz="1400" dirty="0"/>
              <a:t>=α/2)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4E1F30EE-1256-EEE3-6B69-2CC13184B765}"/>
              </a:ext>
            </a:extLst>
          </p:cNvPr>
          <p:cNvSpPr txBox="1"/>
          <p:nvPr/>
        </p:nvSpPr>
        <p:spPr>
          <a:xfrm>
            <a:off x="4268239" y="2951809"/>
            <a:ext cx="110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</a:t>
            </a:r>
            <a:r>
              <a:rPr lang="es-ES" sz="1400" dirty="0" err="1"/>
              <a:t>Area</a:t>
            </a:r>
            <a:r>
              <a:rPr lang="es-ES" sz="1400" dirty="0"/>
              <a:t>=1-α)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8C2498BE-055D-554E-F6C9-61DCC0BCA253}"/>
              </a:ext>
            </a:extLst>
          </p:cNvPr>
          <p:cNvSpPr txBox="1"/>
          <p:nvPr/>
        </p:nvSpPr>
        <p:spPr>
          <a:xfrm>
            <a:off x="5585493" y="2552592"/>
            <a:ext cx="110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</a:t>
            </a:r>
            <a:r>
              <a:rPr lang="es-ES" sz="1400" dirty="0" err="1"/>
              <a:t>Area</a:t>
            </a:r>
            <a:r>
              <a:rPr lang="es-ES" sz="1400" dirty="0"/>
              <a:t>=α)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6D5A6A28-03B2-B326-9675-C8EDD2EC0041}"/>
              </a:ext>
            </a:extLst>
          </p:cNvPr>
          <p:cNvSpPr txBox="1"/>
          <p:nvPr/>
        </p:nvSpPr>
        <p:spPr>
          <a:xfrm>
            <a:off x="6960639" y="2948485"/>
            <a:ext cx="110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</a:t>
            </a:r>
            <a:r>
              <a:rPr lang="es-ES" sz="1400" dirty="0" err="1"/>
              <a:t>Area</a:t>
            </a:r>
            <a:r>
              <a:rPr lang="es-ES" sz="1400" dirty="0"/>
              <a:t>=1-α)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94D980E2-CFBA-DEF6-83C8-E49765B7FECA}"/>
                  </a:ext>
                </a:extLst>
              </p:cNvPr>
              <p:cNvSpPr txBox="1"/>
              <p:nvPr/>
            </p:nvSpPr>
            <p:spPr>
              <a:xfrm>
                <a:off x="1384417" y="4122913"/>
                <a:ext cx="404454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16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E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𝑣𝑎𝑙𝑜𝑟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vs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s-E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𝑣𝑎𝑙𝑜𝑟</m:t>
                      </m:r>
                    </m:oMath>
                  </m:oMathPara>
                </a14:m>
                <a:endParaRPr lang="es-ES" sz="1600" dirty="0"/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94D980E2-CFBA-DEF6-83C8-E49765B7F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417" y="4122913"/>
                <a:ext cx="4044545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AC1CAC09-CF70-AF58-84C1-D7059CFF9B62}"/>
                  </a:ext>
                </a:extLst>
              </p:cNvPr>
              <p:cNvSpPr txBox="1"/>
              <p:nvPr/>
            </p:nvSpPr>
            <p:spPr>
              <a:xfrm>
                <a:off x="284971" y="2227257"/>
                <a:ext cx="404454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16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E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𝑣𝑎𝑙𝑜𝑟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vs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s-E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𝑣𝑎𝑙𝑜𝑟</m:t>
                      </m:r>
                    </m:oMath>
                  </m:oMathPara>
                </a14:m>
                <a:endParaRPr lang="es-ES" sz="1600" dirty="0"/>
              </a:p>
            </p:txBody>
          </p:sp>
        </mc:Choice>
        <mc:Fallback xmlns="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AC1CAC09-CF70-AF58-84C1-D7059CFF9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971" y="2227257"/>
                <a:ext cx="4044545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DA0C194E-2018-B90F-D8B4-06B956FDBCA0}"/>
                  </a:ext>
                </a:extLst>
              </p:cNvPr>
              <p:cNvSpPr txBox="1"/>
              <p:nvPr/>
            </p:nvSpPr>
            <p:spPr>
              <a:xfrm>
                <a:off x="7960166" y="2217618"/>
                <a:ext cx="404454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16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E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𝑣𝑎𝑙𝑜𝑟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vs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s-E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𝑣𝑎𝑙𝑜𝑟</m:t>
                      </m:r>
                    </m:oMath>
                  </m:oMathPara>
                </a14:m>
                <a:endParaRPr lang="es-ES" sz="1600" dirty="0"/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DA0C194E-2018-B90F-D8B4-06B956FDBC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0166" y="2217618"/>
                <a:ext cx="4044545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ángulo 44">
            <a:extLst>
              <a:ext uri="{FF2B5EF4-FFF2-40B4-BE49-F238E27FC236}">
                <a16:creationId xmlns:a16="http://schemas.microsoft.com/office/drawing/2014/main" id="{17259ADE-ABF9-A736-85BB-7796B4D09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0" y="3429000"/>
            <a:ext cx="160020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48D26A3-1E78-5AE5-5123-26805B5E6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3489960"/>
            <a:ext cx="160020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71AA5068-A4B3-AB10-F142-DD14E4186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55080" y="5859780"/>
            <a:ext cx="160020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9FE1C3F5-A6B7-138D-BA28-ED8C51C94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93418" y="6303010"/>
            <a:ext cx="195062" cy="1898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F1FF89-AF52-61C9-6722-1680CAD6F773}"/>
              </a:ext>
            </a:extLst>
          </p:cNvPr>
          <p:cNvSpPr txBox="1"/>
          <p:nvPr/>
        </p:nvSpPr>
        <p:spPr>
          <a:xfrm>
            <a:off x="5428962" y="4739429"/>
            <a:ext cx="1233957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Aceptar H</a:t>
            </a:r>
            <a:r>
              <a:rPr lang="es-ES" sz="1400" baseline="-25000" dirty="0"/>
              <a:t>0</a:t>
            </a:r>
            <a:r>
              <a:rPr lang="es-ES" sz="1400" dirty="0"/>
              <a:t> </a:t>
            </a:r>
            <a:br>
              <a:rPr lang="es-ES" sz="1400" dirty="0"/>
            </a:br>
            <a:r>
              <a:rPr lang="es-ES" sz="1400" dirty="0"/>
              <a:t>si </a:t>
            </a:r>
            <a:r>
              <a:rPr lang="es-ES" sz="1400" dirty="0" err="1"/>
              <a:t>T</a:t>
            </a:r>
            <a:r>
              <a:rPr lang="es-ES" sz="1400" baseline="-25000" dirty="0" err="1"/>
              <a:t>o</a:t>
            </a:r>
            <a:r>
              <a:rPr lang="es-ES" sz="1400" dirty="0"/>
              <a:t> está aquí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00C939C-0C11-98FA-B49D-183395A5E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68239" y="2709164"/>
            <a:ext cx="920981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A490A7-CD26-BDE5-B48E-384580F87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6986" y="5697692"/>
            <a:ext cx="920981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A6D275A-C07A-372D-A17C-121A12E76DE5}"/>
              </a:ext>
            </a:extLst>
          </p:cNvPr>
          <p:cNvSpPr txBox="1"/>
          <p:nvPr/>
        </p:nvSpPr>
        <p:spPr>
          <a:xfrm>
            <a:off x="4408638" y="2319904"/>
            <a:ext cx="644947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000" dirty="0"/>
              <a:t>Aceptar H</a:t>
            </a:r>
            <a:r>
              <a:rPr lang="es-ES" sz="1000" baseline="-25000" dirty="0"/>
              <a:t>0</a:t>
            </a:r>
            <a:r>
              <a:rPr lang="es-ES" sz="1000" dirty="0"/>
              <a:t> </a:t>
            </a:r>
            <a:br>
              <a:rPr lang="es-ES" sz="1000" dirty="0"/>
            </a:br>
            <a:r>
              <a:rPr lang="es-ES" sz="1000" dirty="0"/>
              <a:t>si </a:t>
            </a:r>
            <a:r>
              <a:rPr lang="es-ES" sz="1000" dirty="0" err="1"/>
              <a:t>T</a:t>
            </a:r>
            <a:r>
              <a:rPr lang="es-ES" sz="1000" baseline="-25000" dirty="0" err="1"/>
              <a:t>o</a:t>
            </a:r>
            <a:r>
              <a:rPr lang="es-ES" sz="1000" dirty="0"/>
              <a:t> está aquí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9572398-BD88-0E20-1716-FAE4AF314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6149" y="2712393"/>
            <a:ext cx="920981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98EA83A-5D33-665E-99F1-521A6FFBAEF3}"/>
              </a:ext>
            </a:extLst>
          </p:cNvPr>
          <p:cNvSpPr txBox="1"/>
          <p:nvPr/>
        </p:nvSpPr>
        <p:spPr>
          <a:xfrm>
            <a:off x="7084165" y="2272125"/>
            <a:ext cx="644947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000" dirty="0"/>
              <a:t>Aceptar H</a:t>
            </a:r>
            <a:r>
              <a:rPr lang="es-ES" sz="1000" baseline="-25000" dirty="0"/>
              <a:t>0</a:t>
            </a:r>
            <a:r>
              <a:rPr lang="es-ES" sz="1000" dirty="0"/>
              <a:t> </a:t>
            </a:r>
            <a:br>
              <a:rPr lang="es-ES" sz="1000" dirty="0"/>
            </a:br>
            <a:r>
              <a:rPr lang="es-ES" sz="1000" dirty="0"/>
              <a:t>si </a:t>
            </a:r>
            <a:r>
              <a:rPr lang="es-ES" sz="1000" dirty="0" err="1"/>
              <a:t>T</a:t>
            </a:r>
            <a:r>
              <a:rPr lang="es-ES" sz="1000" baseline="-25000" dirty="0" err="1"/>
              <a:t>o</a:t>
            </a:r>
            <a:r>
              <a:rPr lang="es-ES" sz="1000" dirty="0"/>
              <a:t> está aquí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E75F3F1-D795-3DD7-5F0E-8750BB364F03}"/>
              </a:ext>
            </a:extLst>
          </p:cNvPr>
          <p:cNvSpPr txBox="1"/>
          <p:nvPr/>
        </p:nvSpPr>
        <p:spPr>
          <a:xfrm>
            <a:off x="7257489" y="4523110"/>
            <a:ext cx="121928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Rechazar  H</a:t>
            </a:r>
            <a:r>
              <a:rPr lang="es-ES" sz="1400" baseline="-25000" dirty="0"/>
              <a:t>0</a:t>
            </a:r>
            <a:r>
              <a:rPr lang="es-ES" sz="1400" dirty="0"/>
              <a:t> </a:t>
            </a:r>
            <a:br>
              <a:rPr lang="es-ES" sz="1400" dirty="0"/>
            </a:br>
            <a:r>
              <a:rPr lang="es-ES" sz="1400" dirty="0"/>
              <a:t>si </a:t>
            </a:r>
            <a:r>
              <a:rPr lang="es-ES" sz="1400" dirty="0" err="1"/>
              <a:t>T</a:t>
            </a:r>
            <a:r>
              <a:rPr lang="es-ES" sz="1400" baseline="-25000" dirty="0" err="1"/>
              <a:t>o</a:t>
            </a:r>
            <a:r>
              <a:rPr lang="es-ES" sz="1400" dirty="0"/>
              <a:t> está aquí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A81E55C-9CA3-9973-520D-010F67A543DA}"/>
              </a:ext>
            </a:extLst>
          </p:cNvPr>
          <p:cNvSpPr txBox="1"/>
          <p:nvPr/>
        </p:nvSpPr>
        <p:spPr>
          <a:xfrm>
            <a:off x="3681294" y="4555078"/>
            <a:ext cx="121928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Rechazar  H</a:t>
            </a:r>
            <a:r>
              <a:rPr lang="es-ES" sz="1400" baseline="-25000" dirty="0"/>
              <a:t>0</a:t>
            </a:r>
            <a:r>
              <a:rPr lang="es-ES" sz="1400" dirty="0"/>
              <a:t> </a:t>
            </a:r>
            <a:br>
              <a:rPr lang="es-ES" sz="1400" dirty="0"/>
            </a:br>
            <a:r>
              <a:rPr lang="es-ES" sz="1400" dirty="0"/>
              <a:t>si </a:t>
            </a:r>
            <a:r>
              <a:rPr lang="es-ES" sz="1400" dirty="0" err="1"/>
              <a:t>T</a:t>
            </a:r>
            <a:r>
              <a:rPr lang="es-ES" sz="1400" baseline="-25000" dirty="0" err="1"/>
              <a:t>o</a:t>
            </a:r>
            <a:r>
              <a:rPr lang="es-ES" sz="1400" dirty="0"/>
              <a:t> está aquí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EF67E72-E2FF-0296-E0DA-66D59EF7A3C9}"/>
              </a:ext>
            </a:extLst>
          </p:cNvPr>
          <p:cNvSpPr txBox="1"/>
          <p:nvPr/>
        </p:nvSpPr>
        <p:spPr>
          <a:xfrm>
            <a:off x="5417659" y="2128394"/>
            <a:ext cx="121928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Rechazar  H</a:t>
            </a:r>
            <a:r>
              <a:rPr lang="es-ES" sz="1400" baseline="-25000" dirty="0"/>
              <a:t>0</a:t>
            </a:r>
            <a:r>
              <a:rPr lang="es-ES" sz="1400" dirty="0"/>
              <a:t> </a:t>
            </a:r>
            <a:br>
              <a:rPr lang="es-ES" sz="1400" dirty="0"/>
            </a:br>
            <a:r>
              <a:rPr lang="es-ES" sz="1400" dirty="0"/>
              <a:t>si </a:t>
            </a:r>
            <a:r>
              <a:rPr lang="es-ES" sz="1400" dirty="0" err="1"/>
              <a:t>T</a:t>
            </a:r>
            <a:r>
              <a:rPr lang="es-ES" sz="1400" baseline="-25000" dirty="0" err="1"/>
              <a:t>o</a:t>
            </a:r>
            <a:r>
              <a:rPr lang="es-ES" sz="1400" dirty="0"/>
              <a:t> está aquí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1813ED-4692-FCD1-9B65-F8EE825A83C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87508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99749B-228B-4D62-649D-A992373DB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3. Métodos para realizar un contraste de hipótesis</a:t>
            </a:r>
            <a:br>
              <a:rPr lang="es-ES" dirty="0"/>
            </a:br>
            <a:r>
              <a:rPr lang="es-ES" dirty="0"/>
              <a:t>Comprobando la región de aceptación. Paso 3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5EADBE-D459-9761-3BFA-12316CBFA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Paso 3: Obtener e interpretar el resultado</a:t>
            </a:r>
          </a:p>
          <a:p>
            <a:r>
              <a:rPr lang="es-ES" dirty="0"/>
              <a:t>Resultado</a:t>
            </a:r>
          </a:p>
          <a:p>
            <a:pPr lvl="1"/>
            <a:r>
              <a:rPr lang="es-ES" dirty="0"/>
              <a:t>Aceptar la hipótesis H</a:t>
            </a:r>
            <a:r>
              <a:rPr lang="es-ES" baseline="-25000" dirty="0"/>
              <a:t>0</a:t>
            </a:r>
            <a:r>
              <a:rPr lang="es-ES" dirty="0"/>
              <a:t> si el valor “observado” del estadístico de contraste </a:t>
            </a:r>
            <a:r>
              <a:rPr lang="es-ES" dirty="0" err="1"/>
              <a:t>T</a:t>
            </a:r>
            <a:r>
              <a:rPr lang="es-ES" baseline="-25000" dirty="0" err="1"/>
              <a:t>o</a:t>
            </a:r>
            <a:r>
              <a:rPr lang="es-ES" dirty="0"/>
              <a:t> pertenece a la región de aceptación. </a:t>
            </a:r>
          </a:p>
          <a:p>
            <a:pPr lvl="1"/>
            <a:r>
              <a:rPr lang="es-ES" dirty="0"/>
              <a:t>Rechazar H</a:t>
            </a:r>
            <a:r>
              <a:rPr lang="es-ES" baseline="-25000" dirty="0"/>
              <a:t>0</a:t>
            </a:r>
            <a:r>
              <a:rPr lang="es-ES" dirty="0"/>
              <a:t> en favor de la alternativa H</a:t>
            </a:r>
            <a:r>
              <a:rPr lang="es-ES" baseline="-25000" dirty="0"/>
              <a:t>A</a:t>
            </a:r>
            <a:r>
              <a:rPr lang="es-ES" dirty="0"/>
              <a:t> si </a:t>
            </a:r>
            <a:r>
              <a:rPr lang="es-ES" dirty="0" err="1"/>
              <a:t>T</a:t>
            </a:r>
            <a:r>
              <a:rPr lang="es-ES" baseline="-25000" dirty="0" err="1"/>
              <a:t>o</a:t>
            </a:r>
            <a:r>
              <a:rPr lang="es-ES" dirty="0"/>
              <a:t> no pertenece a la región de aceptación.</a:t>
            </a:r>
          </a:p>
          <a:p>
            <a:r>
              <a:rPr lang="es-ES" dirty="0"/>
              <a:t>Interpretación</a:t>
            </a:r>
          </a:p>
          <a:p>
            <a:pPr lvl="1"/>
            <a:r>
              <a:rPr lang="es-ES" dirty="0"/>
              <a:t>Si se acepta la hipótesis, sólo significa que las evidencias obtenidas de los datos de la muestra no son suficientes para rechazarla. </a:t>
            </a:r>
          </a:p>
          <a:p>
            <a:pPr lvl="1"/>
            <a:r>
              <a:rPr lang="es-ES" dirty="0"/>
              <a:t>Si se rechaza la hipótesis, todo lo que podemos afirmar es que los datos proporcionan evidencias suficientes contra H</a:t>
            </a:r>
            <a:r>
              <a:rPr lang="es-ES" baseline="-25000" dirty="0"/>
              <a:t>0</a:t>
            </a:r>
            <a:r>
              <a:rPr lang="es-ES" dirty="0"/>
              <a:t> y a favor de H</a:t>
            </a:r>
            <a:r>
              <a:rPr lang="es-ES" baseline="-25000" dirty="0"/>
              <a:t>A</a:t>
            </a:r>
            <a:r>
              <a:rPr lang="es-ES" dirty="0"/>
              <a:t>. 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1813ED-4692-FCD1-9B65-F8EE825A8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24548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99749B-228B-4D62-649D-A992373DB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3. Métodos para realizar un contraste de hipótesis</a:t>
            </a:r>
            <a:br>
              <a:rPr lang="es-ES" dirty="0"/>
            </a:br>
            <a:r>
              <a:rPr lang="es-ES" dirty="0"/>
              <a:t>Calculando el p-valor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D5EADBE-D459-9761-3BFA-12316CBFA4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28818" cy="4895850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s-ES" dirty="0"/>
                  <a:t>Se define el </a:t>
                </a:r>
                <a:r>
                  <a:rPr lang="es-ES" b="1" dirty="0"/>
                  <a:t>nivel crítico p del contraste </a:t>
                </a:r>
                <a:r>
                  <a:rPr lang="es-ES" dirty="0"/>
                  <a:t>(o </a:t>
                </a:r>
                <a:r>
                  <a:rPr lang="es-ES" b="1" dirty="0"/>
                  <a:t>p-valor</a:t>
                </a:r>
                <a:r>
                  <a:rPr lang="es-ES" dirty="0"/>
                  <a:t>) como  la probabilidad de obtener un valor del estadístico de contraste (T) tanto o más “extremo” que el valor “observado” del estadístico (</a:t>
                </a:r>
                <a:r>
                  <a:rPr lang="es-ES" dirty="0" err="1"/>
                  <a:t>T</a:t>
                </a:r>
                <a:r>
                  <a:rPr lang="es-ES" baseline="-25000" dirty="0" err="1"/>
                  <a:t>o</a:t>
                </a:r>
                <a:r>
                  <a:rPr lang="es-ES" dirty="0"/>
                  <a:t>) que se ha calculado con los datos de la muestra, suponiendo que la hipótesis H</a:t>
                </a:r>
                <a:r>
                  <a:rPr lang="es-ES" baseline="-25000" dirty="0"/>
                  <a:t>0</a:t>
                </a:r>
                <a:r>
                  <a:rPr lang="es-ES" dirty="0"/>
                  <a:t> es cierta.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valor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s-ES" dirty="0"/>
              </a:p>
              <a:p>
                <a:r>
                  <a:rPr lang="es-ES" dirty="0"/>
                  <a:t>Por tanto, p-valores pequeños nos llevarán a rechazar la hipótesis nula, concretamente en el caso que sea menor o igual que el nivel de significación (α) establecido de antemano.</a:t>
                </a:r>
              </a:p>
              <a:p>
                <a:pPr lvl="1"/>
                <a:r>
                  <a:rPr lang="es-ES" dirty="0"/>
                  <a:t>Si p-valor &gt; α, entonces se acepta la hipótesis nula H</a:t>
                </a:r>
                <a:r>
                  <a:rPr lang="es-ES" baseline="-25000" dirty="0"/>
                  <a:t>0</a:t>
                </a:r>
              </a:p>
              <a:p>
                <a:pPr lvl="1"/>
                <a:r>
                  <a:rPr lang="es-ES" dirty="0"/>
                  <a:t>Si p-valor &lt; α, entonces se rechaza la hipótesis nula H</a:t>
                </a:r>
                <a:r>
                  <a:rPr lang="es-ES" baseline="-25000" dirty="0"/>
                  <a:t>0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D5EADBE-D459-9761-3BFA-12316CBFA4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28818" cy="4895850"/>
              </a:xfrm>
              <a:blipFill>
                <a:blip r:embed="rId2"/>
                <a:stretch>
                  <a:fillRect l="-1464" t="-2861" r="-177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1813ED-4692-FCD1-9B65-F8EE825A8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16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0FB067E-AFC9-D57C-D2A4-38FF45FC6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152" y="2925735"/>
            <a:ext cx="5573802" cy="250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905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7CA91208-69C3-9872-1B80-3E7D28473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197" y="1690688"/>
            <a:ext cx="8389311" cy="495343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B99749B-228B-4D62-649D-A992373DB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3. Métodos para realizar un contraste de hipótesis</a:t>
            </a:r>
            <a:br>
              <a:rPr lang="es-ES" dirty="0"/>
            </a:br>
            <a:r>
              <a:rPr lang="es-ES" dirty="0"/>
              <a:t>Calculando el p-valor. Ejemplo gráfico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5EADBE-D459-9761-3BFA-12316CBFA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4"/>
            <a:ext cx="3307082" cy="4138295"/>
          </a:xfrm>
        </p:spPr>
        <p:txBody>
          <a:bodyPr>
            <a:normAutofit fontScale="77500" lnSpcReduction="20000"/>
          </a:bodyPr>
          <a:lstStyle/>
          <a:p>
            <a:r>
              <a:rPr lang="es-ES" dirty="0"/>
              <a:t>Ejemplo de contraste bilateral o de dos colas (</a:t>
            </a:r>
            <a:r>
              <a:rPr lang="es-ES" dirty="0" err="1"/>
              <a:t>two-sided</a:t>
            </a:r>
            <a:r>
              <a:rPr lang="es-ES" dirty="0"/>
              <a:t> test)</a:t>
            </a:r>
          </a:p>
          <a:p>
            <a:r>
              <a:rPr lang="es-ES" dirty="0"/>
              <a:t>H</a:t>
            </a:r>
            <a:r>
              <a:rPr lang="es-ES" baseline="-25000" dirty="0"/>
              <a:t>0</a:t>
            </a:r>
            <a:r>
              <a:rPr lang="es-ES" dirty="0"/>
              <a:t>:𝜃=valor vs H</a:t>
            </a:r>
            <a:r>
              <a:rPr lang="es-ES" baseline="-25000" dirty="0"/>
              <a:t>A</a:t>
            </a:r>
            <a:r>
              <a:rPr lang="es-ES" dirty="0"/>
              <a:t>:𝜃 ≠valor</a:t>
            </a:r>
          </a:p>
          <a:p>
            <a:r>
              <a:rPr lang="es-ES" dirty="0"/>
              <a:t>El área verde total es α</a:t>
            </a:r>
          </a:p>
          <a:p>
            <a:r>
              <a:rPr lang="es-ES" dirty="0"/>
              <a:t>El área roja total es p-valor</a:t>
            </a:r>
          </a:p>
          <a:p>
            <a:r>
              <a:rPr lang="es-ES" dirty="0"/>
              <a:t>En este caso se observa que el área roja es menor que el área verde, es decir, </a:t>
            </a:r>
            <a:br>
              <a:rPr lang="es-ES" dirty="0"/>
            </a:br>
            <a:r>
              <a:rPr lang="es-ES" dirty="0"/>
              <a:t>p-valor&lt; α , por lo que se rechaza la hipótesis H</a:t>
            </a:r>
            <a:r>
              <a:rPr lang="es-ES" baseline="-25000" dirty="0"/>
              <a:t>0</a:t>
            </a:r>
            <a:r>
              <a:rPr lang="es-ES" dirty="0"/>
              <a:t>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1813ED-4692-FCD1-9B65-F8EE825A8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17</a:t>
            </a:fld>
            <a:endParaRPr lang="es-ES" dirty="0"/>
          </a:p>
        </p:txBody>
      </p:sp>
      <p:sp>
        <p:nvSpPr>
          <p:cNvPr id="5" name="CuadroTexto 4"/>
          <p:cNvSpPr txBox="1"/>
          <p:nvPr/>
        </p:nvSpPr>
        <p:spPr>
          <a:xfrm>
            <a:off x="6207760" y="2670846"/>
            <a:ext cx="843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p-valor</a:t>
            </a:r>
          </a:p>
        </p:txBody>
      </p:sp>
      <p:cxnSp>
        <p:nvCxnSpPr>
          <p:cNvPr id="8" name="Conector recto de flecha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893560" y="3016251"/>
            <a:ext cx="3038475" cy="25564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364613" y="3016251"/>
            <a:ext cx="369910" cy="26606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/>
          <p:cNvSpPr txBox="1"/>
          <p:nvPr/>
        </p:nvSpPr>
        <p:spPr>
          <a:xfrm>
            <a:off x="6891376" y="3453402"/>
            <a:ext cx="5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α</a:t>
            </a:r>
          </a:p>
        </p:txBody>
      </p:sp>
      <p:cxnSp>
        <p:nvCxnSpPr>
          <p:cNvPr id="20" name="Conector recto de flecha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051068" y="3743325"/>
            <a:ext cx="2557117" cy="18293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983516" y="3774454"/>
            <a:ext cx="80363" cy="17579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/>
          <p:cNvSpPr txBox="1"/>
          <p:nvPr/>
        </p:nvSpPr>
        <p:spPr>
          <a:xfrm>
            <a:off x="10473897" y="2396983"/>
            <a:ext cx="636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1-α</a:t>
            </a:r>
          </a:p>
        </p:txBody>
      </p:sp>
      <p:cxnSp>
        <p:nvCxnSpPr>
          <p:cNvPr id="27" name="Conector recto de flecha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8412797" y="2670846"/>
            <a:ext cx="2138363" cy="9970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3D9A528B-833D-B4DC-6A7F-0EB97A2DD5BC}"/>
              </a:ext>
            </a:extLst>
          </p:cNvPr>
          <p:cNvSpPr txBox="1"/>
          <p:nvPr/>
        </p:nvSpPr>
        <p:spPr>
          <a:xfrm>
            <a:off x="6782427" y="6263020"/>
            <a:ext cx="358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T</a:t>
            </a:r>
            <a:r>
              <a:rPr lang="es-ES" baseline="-25000" dirty="0" err="1"/>
              <a:t>o</a:t>
            </a:r>
            <a:endParaRPr lang="es-ES" baseline="-25000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8742218D-A17F-A474-6A96-C2EEB42BC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6939214" y="5814975"/>
            <a:ext cx="0" cy="541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E7777D0-8F8D-9816-CB7B-B499A29C06B7}"/>
              </a:ext>
            </a:extLst>
          </p:cNvPr>
          <p:cNvSpPr txBox="1"/>
          <p:nvPr/>
        </p:nvSpPr>
        <p:spPr>
          <a:xfrm>
            <a:off x="9634996" y="6297082"/>
            <a:ext cx="358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T</a:t>
            </a:r>
            <a:r>
              <a:rPr lang="es-ES" baseline="-25000" dirty="0" err="1"/>
              <a:t>o</a:t>
            </a:r>
            <a:endParaRPr lang="es-ES" baseline="-25000" dirty="0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23CCE487-2014-8FAA-8F2B-D8117F135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9802537" y="5849037"/>
            <a:ext cx="0" cy="541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0682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951790-DF96-6E3F-2014-CCB98C7D9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400" dirty="0"/>
              <a:t>4. Contraste de hipótesis para la media poblacional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2BEC66-7892-3662-9658-D3816CBE5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Casos posibles</a:t>
            </a:r>
          </a:p>
          <a:p>
            <a:pPr lvl="1"/>
            <a:r>
              <a:rPr lang="es-ES" dirty="0"/>
              <a:t>Varianza poblacional conocida </a:t>
            </a:r>
            <a:r>
              <a:rPr lang="es-ES" dirty="0">
                <a:sym typeface="Wingdings" panose="05000000000000000000" pitchFamily="2" charset="2"/>
              </a:rPr>
              <a:t> Z-test</a:t>
            </a:r>
          </a:p>
          <a:p>
            <a:pPr lvl="2"/>
            <a:r>
              <a:rPr lang="es-ES" dirty="0">
                <a:sym typeface="Wingdings" panose="05000000000000000000" pitchFamily="2" charset="2"/>
              </a:rPr>
              <a:t>Se utiliza un estadístico de contraste T=Z con distribución Normal</a:t>
            </a:r>
            <a:endParaRPr lang="es-ES" dirty="0"/>
          </a:p>
          <a:p>
            <a:pPr lvl="1"/>
            <a:r>
              <a:rPr lang="es-ES" dirty="0"/>
              <a:t>Varianza poblacional desconocida </a:t>
            </a:r>
            <a:r>
              <a:rPr lang="es-ES" dirty="0">
                <a:sym typeface="Wingdings" panose="05000000000000000000" pitchFamily="2" charset="2"/>
              </a:rPr>
              <a:t>	</a:t>
            </a:r>
            <a:endParaRPr lang="es-ES" dirty="0"/>
          </a:p>
          <a:p>
            <a:pPr lvl="2"/>
            <a:r>
              <a:rPr lang="es-ES" dirty="0"/>
              <a:t>Muestra grande o  muestra pequeña con distribución Normal </a:t>
            </a:r>
            <a:r>
              <a:rPr lang="es-ES" dirty="0">
                <a:sym typeface="Wingdings" panose="05000000000000000000" pitchFamily="2" charset="2"/>
              </a:rPr>
              <a:t> T-test </a:t>
            </a:r>
          </a:p>
          <a:p>
            <a:pPr lvl="3"/>
            <a:r>
              <a:rPr lang="es-ES" dirty="0">
                <a:sym typeface="Wingdings" panose="05000000000000000000" pitchFamily="2" charset="2"/>
              </a:rPr>
              <a:t>Se utiliza un estadístico de contraste T=t con distribución T de </a:t>
            </a:r>
            <a:r>
              <a:rPr lang="es-ES" dirty="0" err="1">
                <a:sym typeface="Wingdings" panose="05000000000000000000" pitchFamily="2" charset="2"/>
              </a:rPr>
              <a:t>Student</a:t>
            </a:r>
            <a:endParaRPr lang="es-ES" dirty="0"/>
          </a:p>
          <a:p>
            <a:pPr lvl="2"/>
            <a:r>
              <a:rPr lang="es-ES" dirty="0"/>
              <a:t>Muestra pequeña sin distribución Normal o desconocida </a:t>
            </a:r>
            <a:r>
              <a:rPr lang="es-ES" dirty="0">
                <a:sym typeface="Wingdings" panose="05000000000000000000" pitchFamily="2" charset="2"/>
              </a:rPr>
              <a:t> No es posible, en su lugar se puede realizar un contraste no paramétrico sobre la mediana poblacional </a:t>
            </a:r>
            <a:endParaRPr lang="es-ES" dirty="0"/>
          </a:p>
          <a:p>
            <a:r>
              <a:rPr lang="es-ES" dirty="0"/>
              <a:t>Nota</a:t>
            </a:r>
          </a:p>
          <a:p>
            <a:pPr lvl="1"/>
            <a:r>
              <a:rPr lang="es-ES" dirty="0"/>
              <a:t>Una muestra se suele considerar grande cuando el tamaño es n≥30 o n&gt;30 (no hay unanimidad).</a:t>
            </a:r>
          </a:p>
          <a:p>
            <a:pPr lvl="1"/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3D0A554-F314-B7B4-16DC-4171AD268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77087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7CE99-314E-E488-6849-91EB1AE31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400" dirty="0"/>
              <a:t>4. Contraste de hipótesis para la media poblacional</a:t>
            </a:r>
            <a:r>
              <a:rPr lang="es-ES" dirty="0"/>
              <a:t>. Fórmulas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1FCE57-DC4F-5256-4E73-1E8DB5867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19</a:t>
            </a:fld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Marcador de contenido 6">
                <a:extLst>
                  <a:ext uri="{FF2B5EF4-FFF2-40B4-BE49-F238E27FC236}">
                    <a16:creationId xmlns:a16="http://schemas.microsoft.com/office/drawing/2014/main" id="{088FEF46-4181-FB8D-6590-BD58CA6E0D9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97819904"/>
                  </p:ext>
                </p:extLst>
              </p:nvPr>
            </p:nvGraphicFramePr>
            <p:xfrm>
              <a:off x="838200" y="2048380"/>
              <a:ext cx="10515599" cy="4280667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876300">
                      <a:extLst>
                        <a:ext uri="{9D8B030D-6E8A-4147-A177-3AD203B41FA5}">
                          <a16:colId xmlns:a16="http://schemas.microsoft.com/office/drawing/2014/main" val="1809366894"/>
                        </a:ext>
                      </a:extLst>
                    </a:gridCol>
                    <a:gridCol w="1221740">
                      <a:extLst>
                        <a:ext uri="{9D8B030D-6E8A-4147-A177-3AD203B41FA5}">
                          <a16:colId xmlns:a16="http://schemas.microsoft.com/office/drawing/2014/main" val="904349382"/>
                        </a:ext>
                      </a:extLst>
                    </a:gridCol>
                    <a:gridCol w="2418080">
                      <a:extLst>
                        <a:ext uri="{9D8B030D-6E8A-4147-A177-3AD203B41FA5}">
                          <a16:colId xmlns:a16="http://schemas.microsoft.com/office/drawing/2014/main" val="1785039866"/>
                        </a:ext>
                      </a:extLst>
                    </a:gridCol>
                    <a:gridCol w="3027680">
                      <a:extLst>
                        <a:ext uri="{9D8B030D-6E8A-4147-A177-3AD203B41FA5}">
                          <a16:colId xmlns:a16="http://schemas.microsoft.com/office/drawing/2014/main" val="1876274988"/>
                        </a:ext>
                      </a:extLst>
                    </a:gridCol>
                    <a:gridCol w="2971799">
                      <a:extLst>
                        <a:ext uri="{9D8B030D-6E8A-4147-A177-3AD203B41FA5}">
                          <a16:colId xmlns:a16="http://schemas.microsoft.com/office/drawing/2014/main" val="3453060203"/>
                        </a:ext>
                      </a:extLst>
                    </a:gridCol>
                  </a:tblGrid>
                  <a:tr h="14006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Varianza conocida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Estadístico de contraste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Contraste de hipótesis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Región de aceptación de H</a:t>
                          </a:r>
                          <a:r>
                            <a:rPr lang="es-ES" sz="1600" baseline="-25000" dirty="0">
                              <a:effectLst/>
                            </a:rPr>
                            <a:t>0</a:t>
                          </a:r>
                          <a:endParaRPr lang="es-ES" sz="1600" baseline="-25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p-valor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9793173"/>
                      </a:ext>
                    </a:extLst>
                  </a:tr>
                  <a:tr h="229548"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>
                              <a:effectLst/>
                            </a:rPr>
                            <a:t>Si</a:t>
                          </a:r>
                          <a:endParaRPr lang="es-E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s-ES" sz="16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6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: 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: 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ES" sz="16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</m:sub>
                                    </m:s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,+∞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≤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84731830"/>
                      </a:ext>
                    </a:extLst>
                  </a:tr>
                  <a:tr h="229548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: 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: 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ES" sz="16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−∞,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663373627"/>
                      </a:ext>
                    </a:extLst>
                  </a:tr>
                  <a:tr h="302328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: 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: 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/2</m:t>
                                        </m:r>
                                      </m:sub>
                                    </m:s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/2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d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𝑜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𝑜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72423915"/>
                      </a:ext>
                    </a:extLst>
                  </a:tr>
                  <a:tr h="229548"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>
                              <a:effectLst/>
                            </a:rPr>
                            <a:t>No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≥30</m:t>
                                </m:r>
                              </m:oMath>
                            </m:oMathPara>
                          </a14:m>
                          <a:endParaRPr lang="es-E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s-ES" sz="16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6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: 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: 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ES" sz="16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</m:sub>
                                    </m:s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,+∞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≤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024852992"/>
                      </a:ext>
                    </a:extLst>
                  </a:tr>
                  <a:tr h="229548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: 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: 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ES" sz="16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−∞,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236031545"/>
                      </a:ext>
                    </a:extLst>
                  </a:tr>
                  <a:tr h="302328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: 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: 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/2</m:t>
                                        </m:r>
                                      </m:sub>
                                    </m:s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/2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d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𝑜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𝑜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426038377"/>
                      </a:ext>
                    </a:extLst>
                  </a:tr>
                  <a:tr h="263007"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>
                              <a:effectLst/>
                            </a:rPr>
                            <a:t>No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&lt;30</m:t>
                                </m:r>
                              </m:oMath>
                            </m:oMathPara>
                          </a14:m>
                          <a:endParaRPr lang="es-E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6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: 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: 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ES" sz="16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,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n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,+∞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≤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756777199"/>
                      </a:ext>
                    </a:extLst>
                  </a:tr>
                  <a:tr h="263007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: 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: 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ES" sz="16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−∞,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,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n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418263"/>
                      </a:ext>
                    </a:extLst>
                  </a:tr>
                  <a:tr h="302328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: 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: 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</a:rPr>
                                  <m:t>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/2,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n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/2,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n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𝑜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𝑜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5988304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Marcador de contenido 6">
                <a:extLst>
                  <a:ext uri="{FF2B5EF4-FFF2-40B4-BE49-F238E27FC236}">
                    <a16:creationId xmlns:a16="http://schemas.microsoft.com/office/drawing/2014/main" id="{088FEF46-4181-FB8D-6590-BD58CA6E0D9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97819904"/>
                  </p:ext>
                </p:extLst>
              </p:nvPr>
            </p:nvGraphicFramePr>
            <p:xfrm>
              <a:off x="838200" y="2048380"/>
              <a:ext cx="10515599" cy="4280667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876300">
                      <a:extLst>
                        <a:ext uri="{9D8B030D-6E8A-4147-A177-3AD203B41FA5}">
                          <a16:colId xmlns:a16="http://schemas.microsoft.com/office/drawing/2014/main" val="1809366894"/>
                        </a:ext>
                      </a:extLst>
                    </a:gridCol>
                    <a:gridCol w="1221740">
                      <a:extLst>
                        <a:ext uri="{9D8B030D-6E8A-4147-A177-3AD203B41FA5}">
                          <a16:colId xmlns:a16="http://schemas.microsoft.com/office/drawing/2014/main" val="904349382"/>
                        </a:ext>
                      </a:extLst>
                    </a:gridCol>
                    <a:gridCol w="2418080">
                      <a:extLst>
                        <a:ext uri="{9D8B030D-6E8A-4147-A177-3AD203B41FA5}">
                          <a16:colId xmlns:a16="http://schemas.microsoft.com/office/drawing/2014/main" val="1785039866"/>
                        </a:ext>
                      </a:extLst>
                    </a:gridCol>
                    <a:gridCol w="3027680">
                      <a:extLst>
                        <a:ext uri="{9D8B030D-6E8A-4147-A177-3AD203B41FA5}">
                          <a16:colId xmlns:a16="http://schemas.microsoft.com/office/drawing/2014/main" val="1876274988"/>
                        </a:ext>
                      </a:extLst>
                    </a:gridCol>
                    <a:gridCol w="2971799">
                      <a:extLst>
                        <a:ext uri="{9D8B030D-6E8A-4147-A177-3AD203B41FA5}">
                          <a16:colId xmlns:a16="http://schemas.microsoft.com/office/drawing/2014/main" val="3453060203"/>
                        </a:ext>
                      </a:extLst>
                    </a:gridCol>
                  </a:tblGrid>
                  <a:tr h="51022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Varianza conocida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Estadístico de contraste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Contraste de hipótesis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Región de aceptación de H</a:t>
                          </a:r>
                          <a:r>
                            <a:rPr lang="es-ES" sz="1600" baseline="-25000" dirty="0">
                              <a:effectLst/>
                            </a:rPr>
                            <a:t>0</a:t>
                          </a:r>
                          <a:endParaRPr lang="es-ES" sz="1600" baseline="-25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p-valor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9793173"/>
                      </a:ext>
                    </a:extLst>
                  </a:tr>
                  <a:tr h="362522"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>
                              <a:effectLst/>
                            </a:rPr>
                            <a:t>Si</a:t>
                          </a:r>
                          <a:endParaRPr lang="es-E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 rowSpan="3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56025" marR="56025" marT="0" marB="0" anchor="ctr">
                        <a:blipFill>
                          <a:blip r:embed="rId2"/>
                          <a:stretch>
                            <a:fillRect l="-72500" t="-46500" r="-692000" b="-210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56025" marR="56025" marT="0" marB="0" anchor="ctr">
                        <a:blipFill>
                          <a:blip r:embed="rId2"/>
                          <a:stretch>
                            <a:fillRect l="-86902" t="-157627" r="-248615" b="-9525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49296" t="-157627" r="-98592" b="-9525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53893" t="-157627" r="-410" b="-9525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4731830"/>
                      </a:ext>
                    </a:extLst>
                  </a:tr>
                  <a:tr h="362522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56025" marR="56025" marT="0" marB="0" anchor="ctr">
                        <a:blipFill>
                          <a:blip r:embed="rId2"/>
                          <a:stretch>
                            <a:fillRect l="-86902" t="-253333" r="-248615" b="-8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49296" t="-253333" r="-98592" b="-8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53893" t="-253333" r="-410" b="-83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73627"/>
                      </a:ext>
                    </a:extLst>
                  </a:tr>
                  <a:tr h="492062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56025" marR="56025" marT="0" marB="0" anchor="ctr">
                        <a:blipFill>
                          <a:blip r:embed="rId2"/>
                          <a:stretch>
                            <a:fillRect l="-86902" t="-261728" r="-248615" b="-5197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49296" t="-261728" r="-98592" b="-5197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53893" t="-261728" r="-410" b="-5197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23915"/>
                      </a:ext>
                    </a:extLst>
                  </a:tr>
                  <a:tr h="362522">
                    <a:tc rowSpan="3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56025" marR="56025" marT="0" marB="0" anchor="ctr">
                        <a:blipFill>
                          <a:blip r:embed="rId2"/>
                          <a:stretch>
                            <a:fillRect l="-694" t="-146500" r="-1100000" b="-110500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56025" marR="56025" marT="0" marB="0" anchor="ctr">
                        <a:blipFill>
                          <a:blip r:embed="rId2"/>
                          <a:stretch>
                            <a:fillRect l="-72500" t="-146500" r="-692000" b="-110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56025" marR="56025" marT="0" marB="0" anchor="ctr">
                        <a:blipFill>
                          <a:blip r:embed="rId2"/>
                          <a:stretch>
                            <a:fillRect l="-86902" t="-496610" r="-248615" b="-6135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49296" t="-496610" r="-98592" b="-6135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53893" t="-496610" r="-410" b="-6135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4852992"/>
                      </a:ext>
                    </a:extLst>
                  </a:tr>
                  <a:tr h="362522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56025" marR="56025" marT="0" marB="0" anchor="ctr">
                        <a:blipFill>
                          <a:blip r:embed="rId2"/>
                          <a:stretch>
                            <a:fillRect l="-86902" t="-586667" r="-248615" b="-5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49296" t="-586667" r="-98592" b="-5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53893" t="-586667" r="-410" b="-5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031545"/>
                      </a:ext>
                    </a:extLst>
                  </a:tr>
                  <a:tr h="492062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56025" marR="56025" marT="0" marB="0" anchor="ctr">
                        <a:blipFill>
                          <a:blip r:embed="rId2"/>
                          <a:stretch>
                            <a:fillRect l="-86902" t="-508642" r="-248615" b="-2728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49296" t="-508642" r="-98592" b="-2728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53893" t="-508642" r="-410" b="-2728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6038377"/>
                      </a:ext>
                    </a:extLst>
                  </a:tr>
                  <a:tr h="422085">
                    <a:tc rowSpan="3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56025" marR="56025" marT="0" marB="0" anchor="ctr">
                        <a:blipFill>
                          <a:blip r:embed="rId2"/>
                          <a:stretch>
                            <a:fillRect l="-694" t="-225114" r="-1100000" b="-913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56025" marR="56025" marT="0" marB="0" anchor="ctr">
                        <a:blipFill>
                          <a:blip r:embed="rId2"/>
                          <a:stretch>
                            <a:fillRect l="-72500" t="-225114" r="-692000" b="-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56025" marR="56025" marT="0" marB="0" anchor="ctr">
                        <a:blipFill>
                          <a:blip r:embed="rId2"/>
                          <a:stretch>
                            <a:fillRect l="-86902" t="-714493" r="-248615" b="-220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49296" t="-714493" r="-98592" b="-220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53893" t="-714493" r="-410" b="-220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6777199"/>
                      </a:ext>
                    </a:extLst>
                  </a:tr>
                  <a:tr h="422085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56025" marR="56025" marT="0" marB="0" anchor="ctr">
                        <a:blipFill>
                          <a:blip r:embed="rId2"/>
                          <a:stretch>
                            <a:fillRect l="-86902" t="-814493" r="-248615" b="-120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49296" t="-814493" r="-98592" b="-120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53893" t="-814493" r="-410" b="-120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18263"/>
                      </a:ext>
                    </a:extLst>
                  </a:tr>
                  <a:tr h="492062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56025" marR="56025" marT="0" marB="0" anchor="ctr">
                        <a:blipFill>
                          <a:blip r:embed="rId2"/>
                          <a:stretch>
                            <a:fillRect l="-86902" t="-779012" r="-248615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49296" t="-779012" r="-98592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53893" t="-779012" r="-410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883042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16124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951790-DF96-6E3F-2014-CCB98C7D9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400" dirty="0"/>
              <a:t>4. Contraste de hipótesis para la media poblacional. </a:t>
            </a:r>
            <a:r>
              <a:rPr lang="es-ES" dirty="0"/>
              <a:t>Concepto de cuantil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02BEC66-7892-3662-9658-D3816CBE52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ES" dirty="0"/>
                  <a:t>Para calcular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m:rPr>
                            <m:nor/>
                          </m:rPr>
                          <a:rPr lang="es-E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α</m:t>
                        </m:r>
                      </m:sub>
                    </m:sSub>
                  </m:oMath>
                </a14:m>
                <a:r>
                  <a:rPr lang="es-E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m:rPr>
                            <m:nor/>
                          </m:rPr>
                          <a:rPr lang="es-E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α</m:t>
                        </m:r>
                        <m:r>
                          <m:rPr>
                            <m:nor/>
                          </m:rPr>
                          <a:rPr lang="es-ES" b="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/2</m:t>
                        </m:r>
                      </m:sub>
                    </m:sSub>
                  </m:oMath>
                </a14:m>
                <a:r>
                  <a:rPr lang="es-E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nor/>
                          </m:rPr>
                          <a:rPr lang="es-E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α</m:t>
                        </m:r>
                      </m:sub>
                    </m:sSub>
                    <m:r>
                      <a:rPr lang="es-ES" b="0" i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ES" b="0" i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o</m:t>
                    </m:r>
                  </m:oMath>
                </a14:m>
                <a:r>
                  <a:rPr lang="es-E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nor/>
                          </m:rPr>
                          <a:rPr lang="es-E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α</m:t>
                        </m:r>
                        <m:r>
                          <m:rPr>
                            <m:nor/>
                          </m:rPr>
                          <a:rPr lang="es-E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/2</m:t>
                        </m:r>
                      </m:sub>
                    </m:sSub>
                  </m:oMath>
                </a14:m>
                <a:r>
                  <a:rPr lang="es-ES" dirty="0"/>
                  <a:t> hay que recordar el concepto de cuantil.</a:t>
                </a:r>
              </a:p>
              <a:p>
                <a:r>
                  <a:rPr lang="es-E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z</a:t>
                </a:r>
                <a:r>
                  <a:rPr lang="es-ES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α</a:t>
                </a:r>
                <a:r>
                  <a:rPr lang="es-E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=cuantil 1-α de una variable Z:Normal(0,1)</a:t>
                </a:r>
              </a:p>
              <a:p>
                <a:r>
                  <a:rPr lang="es-ES" dirty="0"/>
                  <a:t>Por tanto</a:t>
                </a:r>
              </a:p>
              <a:p>
                <a:pPr lvl="1"/>
                <a:r>
                  <a:rPr lang="es-E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P{Z ≤ z</a:t>
                </a:r>
                <a:r>
                  <a:rPr lang="es-ES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α</a:t>
                </a:r>
                <a:r>
                  <a:rPr lang="es-E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} = 1 - </a:t>
                </a:r>
                <a:r>
                  <a:rPr lang="el-G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α</a:t>
                </a:r>
                <a:endParaRPr lang="es-E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s-ES" i="1" dirty="0">
                  <a:effectLst/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02BEC66-7892-3662-9658-D3816CBE52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10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3D0A554-F314-B7B4-16DC-4171AD268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20</a:t>
            </a:fld>
            <a:endParaRPr lang="es-ES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E5ED407D-8AF4-C74A-93A5-5CE4813DA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858125" y="3153335"/>
            <a:ext cx="2674508" cy="1999522"/>
            <a:chOff x="7781925" y="3130475"/>
            <a:chExt cx="2674508" cy="1999522"/>
          </a:xfrm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9B4AD5F4-D93A-AFCC-5CF9-B1526F818B36}"/>
                </a:ext>
              </a:extLst>
            </p:cNvPr>
            <p:cNvGrpSpPr/>
            <p:nvPr/>
          </p:nvGrpSpPr>
          <p:grpSpPr>
            <a:xfrm>
              <a:off x="7781925" y="3130475"/>
              <a:ext cx="2674508" cy="1925069"/>
              <a:chOff x="9244968" y="2591594"/>
              <a:chExt cx="2200275" cy="1409700"/>
            </a:xfrm>
          </p:grpSpPr>
          <p:pic>
            <p:nvPicPr>
              <p:cNvPr id="8" name="Imagen 7">
                <a:extLst>
                  <a:ext uri="{FF2B5EF4-FFF2-40B4-BE49-F238E27FC236}">
                    <a16:creationId xmlns:a16="http://schemas.microsoft.com/office/drawing/2014/main" id="{D306A59F-EF65-3B00-7D34-AC7EDC2680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44968" y="2591594"/>
                <a:ext cx="2200275" cy="1409700"/>
              </a:xfrm>
              <a:prstGeom prst="rect">
                <a:avLst/>
              </a:prstGeom>
            </p:spPr>
          </p:pic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8FCD2029-005B-E99C-B128-4D964431E3A4}"/>
                  </a:ext>
                </a:extLst>
              </p:cNvPr>
              <p:cNvSpPr txBox="1"/>
              <p:nvPr/>
            </p:nvSpPr>
            <p:spPr>
              <a:xfrm>
                <a:off x="10073643" y="3290500"/>
                <a:ext cx="3962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200" i="1" dirty="0"/>
                  <a:t>1-</a:t>
                </a:r>
                <a:r>
                  <a:rPr lang="el-GR" sz="1200" i="1" dirty="0"/>
                  <a:t>α</a:t>
                </a:r>
                <a:endParaRPr lang="es-ES" sz="1200" i="1" dirty="0"/>
              </a:p>
            </p:txBody>
          </p:sp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0438D28-E7CA-0901-783C-EA14812D3DDF}"/>
                  </a:ext>
                </a:extLst>
              </p:cNvPr>
              <p:cNvSpPr txBox="1"/>
              <p:nvPr/>
            </p:nvSpPr>
            <p:spPr>
              <a:xfrm>
                <a:off x="11100449" y="3152000"/>
                <a:ext cx="2712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sz="1200" i="1" dirty="0"/>
                  <a:t>α</a:t>
                </a:r>
                <a:endParaRPr lang="es-ES" sz="1200" i="1" dirty="0"/>
              </a:p>
            </p:txBody>
          </p:sp>
        </p:grp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75EC300D-918A-40CE-3C17-2BC353192F70}"/>
                </a:ext>
              </a:extLst>
            </p:cNvPr>
            <p:cNvSpPr/>
            <p:nvPr/>
          </p:nvSpPr>
          <p:spPr>
            <a:xfrm>
              <a:off x="10126746" y="4822220"/>
              <a:ext cx="329687" cy="307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7269171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F5CCB2-44C0-C2D3-4951-4B72CC044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400" dirty="0"/>
              <a:t>4. Contraste de hipótesis para la media poblacional</a:t>
            </a:r>
            <a:r>
              <a:rPr lang="es-ES" dirty="0"/>
              <a:t>. Intervalo de confianza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DE8BE53-F89D-A1B9-CCC3-4F3E8D2F10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046694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Existe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relación</a:t>
                </a:r>
                <a:r>
                  <a:rPr lang="en-US" dirty="0"/>
                  <a:t> </a:t>
                </a:r>
                <a:r>
                  <a:rPr lang="en-US" dirty="0" err="1"/>
                  <a:t>directa</a:t>
                </a:r>
                <a:r>
                  <a:rPr lang="en-US" dirty="0"/>
                  <a:t> entre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contraste</a:t>
                </a:r>
                <a:r>
                  <a:rPr lang="en-US" dirty="0"/>
                  <a:t> de </a:t>
                </a:r>
                <a:r>
                  <a:rPr lang="en-US" dirty="0" err="1"/>
                  <a:t>hipótesis</a:t>
                </a:r>
                <a:r>
                  <a:rPr lang="en-US" dirty="0"/>
                  <a:t> bilateral de </a:t>
                </a:r>
                <a:r>
                  <a:rPr lang="en-US" dirty="0" err="1"/>
                  <a:t>cualquier</a:t>
                </a:r>
                <a:r>
                  <a:rPr lang="en-US" dirty="0"/>
                  <a:t> </a:t>
                </a:r>
                <a:r>
                  <a:rPr lang="en-US" dirty="0" err="1"/>
                  <a:t>parámetro</a:t>
                </a:r>
                <a:r>
                  <a:rPr lang="en-US" dirty="0"/>
                  <a:t> y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intervalo</a:t>
                </a:r>
                <a:r>
                  <a:rPr lang="en-US" dirty="0"/>
                  <a:t> de </a:t>
                </a:r>
                <a:r>
                  <a:rPr lang="en-US" dirty="0" err="1"/>
                  <a:t>confianza</a:t>
                </a:r>
                <a:r>
                  <a:rPr lang="en-US" dirty="0"/>
                  <a:t> para </a:t>
                </a:r>
                <a:r>
                  <a:rPr lang="en-US" dirty="0" err="1"/>
                  <a:t>dicho</a:t>
                </a:r>
                <a:r>
                  <a:rPr lang="en-US" dirty="0"/>
                  <a:t> </a:t>
                </a:r>
                <a:r>
                  <a:rPr lang="en-US" dirty="0" err="1"/>
                  <a:t>parámetro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En un </a:t>
                </a:r>
                <a:r>
                  <a:rPr lang="en-US" dirty="0" err="1"/>
                  <a:t>contraste</a:t>
                </a:r>
                <a:r>
                  <a:rPr lang="en-US" dirty="0"/>
                  <a:t> bilateral con </a:t>
                </a:r>
                <a:r>
                  <a:rPr lang="en-US" dirty="0" err="1"/>
                  <a:t>nivel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>
                            <a:effectLst/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>
                        <a:effectLst/>
                        <a:latin typeface="Cambria Math" panose="02040503050406030204" pitchFamily="18" charset="0"/>
                      </a:rPr>
                      <m:t>: </m:t>
                    </m:r>
                    <m:r>
                      <a:rPr lang="es-ES"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s-ES"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>
                            <a:effectLst/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>
                            <a:effectLst/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>
                        <a:effectLst/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es-ES">
                        <a:effectLst/>
                      </a:rPr>
                      <m:t>vs</m:t>
                    </m:r>
                    <m:r>
                      <m:rPr>
                        <m:nor/>
                      </m:rPr>
                      <a:rPr lang="es-ES">
                        <a:effectLst/>
                      </a:rPr>
                      <m:t>  </m:t>
                    </m:r>
                    <m:sSub>
                      <m:sSubPr>
                        <m:ctrlPr>
                          <a:rPr lang="es-E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>
                            <a:effectLst/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>
                        <a:effectLst/>
                        <a:latin typeface="Cambria Math" panose="02040503050406030204" pitchFamily="18" charset="0"/>
                      </a:rPr>
                      <m:t>: </m:t>
                    </m:r>
                    <m:r>
                      <a:rPr lang="es-ES"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s-ES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s-E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>
                            <a:effectLst/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>
                            <a:effectLst/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es-ES" dirty="0">
                  <a:effectLst/>
                </a:endParaRPr>
              </a:p>
              <a:p>
                <a:r>
                  <a:rPr lang="en-US" dirty="0"/>
                  <a:t>Se </a:t>
                </a:r>
                <a:r>
                  <a:rPr lang="en-US" dirty="0" err="1"/>
                  <a:t>rechaza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con </a:t>
                </a:r>
                <a:r>
                  <a:rPr lang="en-US" dirty="0" err="1"/>
                  <a:t>nivel</a:t>
                </a:r>
                <a:r>
                  <a:rPr lang="en-US" dirty="0"/>
                  <a:t> de </a:t>
                </a:r>
                <a:r>
                  <a:rPr lang="en-US" dirty="0" err="1"/>
                  <a:t>confianza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, si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Intervalo</a:t>
                </a:r>
                <a:r>
                  <a:rPr lang="en-US" dirty="0"/>
                  <a:t> de </a:t>
                </a:r>
                <a:r>
                  <a:rPr lang="en-US" dirty="0" err="1"/>
                  <a:t>Confianza</a:t>
                </a:r>
                <a:r>
                  <a:rPr lang="en-US" dirty="0"/>
                  <a:t> con </a:t>
                </a:r>
                <a:r>
                  <a:rPr lang="en-US" dirty="0" err="1"/>
                  <a:t>nivel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para </a:t>
                </a:r>
                <a14:m>
                  <m:oMath xmlns:m="http://schemas.openxmlformats.org/officeDocument/2006/math">
                    <m:r>
                      <a:rPr lang="es-ES">
                        <a:latin typeface="Cambria Math" panose="02040503050406030204" pitchFamily="18" charset="0"/>
                      </a:rPr>
                      <m:t>𝜇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no contiene </a:t>
                </a:r>
                <a:r>
                  <a:rPr lang="en-US" dirty="0" err="1"/>
                  <a:t>el</a:t>
                </a:r>
                <a:r>
                  <a:rPr lang="en-US" dirty="0"/>
                  <a:t> valor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>
                            <a:effectLst/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sz="2800">
                            <a:effectLst/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DE8BE53-F89D-A1B9-CCC3-4F3E8D2F10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046694" cy="4351338"/>
              </a:xfrm>
              <a:blipFill>
                <a:blip r:embed="rId2"/>
                <a:stretch>
                  <a:fillRect l="-1816" t="-2241" r="-191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EC019D-412F-60E9-89A3-8F0F2EE23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21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1C7A8A2-F52A-D413-209E-3C086D768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813" y="3158038"/>
            <a:ext cx="5263964" cy="225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145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4BE310-E1BB-D1AC-666C-AE97526B7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sz="4400" dirty="0"/>
              <a:t>4. Contraste de hipótesis para la media poblacional</a:t>
            </a:r>
            <a:r>
              <a:rPr lang="es-ES" dirty="0"/>
              <a:t>. Ejemplo 9.25 (Servicio de Internet)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0DF042-E857-47E4-8DDA-9D80E3E48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número de usuarios simultáneos para algunos proveedores de servicios de Internet siempre ha sido de 5000 usuarios con una desviación estándar de 800 usuarios. </a:t>
            </a:r>
          </a:p>
          <a:p>
            <a:r>
              <a:rPr lang="es-ES" dirty="0"/>
              <a:t>Después de una actualización de equipos, el número promedio de usuarios en 100 momentos de tiempo seleccionados al azar es de 5200 usuarios. </a:t>
            </a:r>
          </a:p>
          <a:p>
            <a:r>
              <a:rPr lang="es-ES" dirty="0"/>
              <a:t>Suponer que la desviación estándar del número de usuarios simultáneos no ha cambiado.</a:t>
            </a:r>
          </a:p>
          <a:p>
            <a:r>
              <a:rPr lang="es-ES" dirty="0"/>
              <a:t>¿Se puede afirmar con un nivel de significación del 5%, que la media de usuarios simultáneos ha aumentado? </a:t>
            </a:r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48022C-F80F-35FF-BFAD-E328380F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18683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09B9CB-8A35-0C9D-8F2F-DA2BDCFDE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400" dirty="0"/>
              <a:t>4. Contraste de hipótesis para la media poblacional</a:t>
            </a:r>
            <a:r>
              <a:rPr lang="es-ES" dirty="0"/>
              <a:t>. Ejemplo 9.25 (Solución)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7FA34D5-FF92-0990-44E9-7E1D0E9814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>
                            <a:effectLst/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sz="2800"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sz="2800">
                        <a:effectLst/>
                        <a:latin typeface="Cambria Math" panose="02040503050406030204" pitchFamily="18" charset="0"/>
                      </a:rPr>
                      <m:t>: </m:t>
                    </m:r>
                    <m:r>
                      <a:rPr lang="es-ES" sz="2800"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s-ES" sz="280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800" i="1" smtClean="0">
                        <a:effectLst/>
                        <a:latin typeface="Cambria Math" panose="02040503050406030204" pitchFamily="18" charset="0"/>
                      </a:rPr>
                      <m:t>5</m:t>
                    </m:r>
                    <m:r>
                      <a:rPr lang="es-ES" sz="2800" b="0" i="1" smtClean="0">
                        <a:effectLst/>
                        <a:latin typeface="Cambria Math" panose="02040503050406030204" pitchFamily="18" charset="0"/>
                      </a:rPr>
                      <m:t>000</m:t>
                    </m:r>
                    <m:r>
                      <a:rPr lang="es-ES" sz="2800">
                        <a:effectLst/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es-ES" sz="2800">
                        <a:effectLst/>
                      </a:rPr>
                      <m:t>vs</m:t>
                    </m:r>
                    <m:r>
                      <m:rPr>
                        <m:nor/>
                      </m:rPr>
                      <a:rPr lang="es-ES" sz="2800">
                        <a:effectLst/>
                      </a:rPr>
                      <m:t>  </m:t>
                    </m:r>
                    <m:sSub>
                      <m:sSubPr>
                        <m:ctrlPr>
                          <a:rPr lang="es-ES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>
                            <a:effectLst/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sz="280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sz="2800">
                        <a:effectLst/>
                        <a:latin typeface="Cambria Math" panose="02040503050406030204" pitchFamily="18" charset="0"/>
                      </a:rPr>
                      <m:t>: </m:t>
                    </m:r>
                    <m:r>
                      <a:rPr lang="es-ES" sz="2800"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s-ES" sz="2800">
                        <a:effectLst/>
                        <a:latin typeface="Cambria Math" panose="02040503050406030204" pitchFamily="18" charset="0"/>
                      </a:rPr>
                      <m:t>&gt;</m:t>
                    </m:r>
                    <m:r>
                      <a:rPr lang="es-ES" sz="2800" b="0" i="1" smtClean="0">
                        <a:effectLst/>
                        <a:latin typeface="Cambria Math" panose="02040503050406030204" pitchFamily="18" charset="0"/>
                      </a:rPr>
                      <m:t>5000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Se plantea un contraste unilateral con cola derecha (</a:t>
                </a:r>
                <a:r>
                  <a:rPr lang="es-ES" dirty="0" err="1"/>
                  <a:t>one-sided</a:t>
                </a:r>
                <a:r>
                  <a:rPr lang="es-ES" dirty="0"/>
                  <a:t>, </a:t>
                </a:r>
                <a:r>
                  <a:rPr lang="es-ES" dirty="0" err="1"/>
                  <a:t>right-tail</a:t>
                </a:r>
                <a:r>
                  <a:rPr lang="es-ES" dirty="0"/>
                  <a:t>) porque nos interesa saber si el número medio de usuarios (</a:t>
                </a:r>
                <a14:m>
                  <m:oMath xmlns:m="http://schemas.openxmlformats.org/officeDocument/2006/math">
                    <m:r>
                      <a:rPr lang="es-ES" smtClean="0">
                        <a:effectLst/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ES" dirty="0"/>
                  <a:t>) ha aumentado.</a:t>
                </a:r>
              </a:p>
              <a:p>
                <a:r>
                  <a:rPr lang="es-ES" dirty="0"/>
                  <a:t>Datos: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=800, 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=100, 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=0.05,  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=5000,  </m:t>
                    </m:r>
                    <m:acc>
                      <m:accPr>
                        <m:chr m:val="̅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=5200</m:t>
                    </m:r>
                  </m:oMath>
                </a14:m>
                <a:r>
                  <a:rPr lang="es-ES" dirty="0"/>
                  <a:t> </a:t>
                </a:r>
              </a:p>
              <a:p>
                <a:r>
                  <a:rPr lang="es-ES" dirty="0"/>
                  <a:t>Como se conoce la varianza poblacional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dirty="0"/>
                  <a:t>) se usa un estadístico de contraste Z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sz="24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b="0" i="1" smtClean="0">
                            <a:effectLst/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s-ES" sz="2400" b="0" i="1" smtClean="0">
                            <a:effectLst/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sz="240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s-ES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sz="2400" b="0" i="1" smtClean="0"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s-ES" sz="2400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ES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400">
                                <a:effectLst/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s-ES" sz="2400">
                                <a:effectLst/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es-ES" sz="2400">
                            <a:effectLst/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s-ES" sz="2400">
                            <a:effectLst/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s-ES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2400">
                                <a:effectLst/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es-ES" sz="2400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0" smtClean="0">
                            <a:latin typeface="Cambria Math" panose="02040503050406030204" pitchFamily="18" charset="0"/>
                          </a:rPr>
                          <m:t>5200</m:t>
                        </m:r>
                        <m:r>
                          <a:rPr lang="es-E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0" i="0" smtClean="0">
                            <a:latin typeface="Cambria Math" panose="02040503050406030204" pitchFamily="18" charset="0"/>
                          </a:rPr>
                          <m:t>5000</m:t>
                        </m:r>
                      </m:num>
                      <m:den>
                        <m:r>
                          <a:rPr lang="es-ES" b="0" i="0" smtClean="0">
                            <a:latin typeface="Cambria Math" panose="02040503050406030204" pitchFamily="18" charset="0"/>
                          </a:rPr>
                          <m:t>800</m:t>
                        </m:r>
                        <m:r>
                          <a:rPr lang="es-ES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</m:rad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=2.5</m:t>
                    </m:r>
                  </m:oMath>
                </a14:m>
                <a:endParaRPr lang="es-ES" dirty="0"/>
              </a:p>
              <a:p>
                <a:pPr lvl="1"/>
                <a:endParaRPr lang="es-ES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7FA34D5-FF92-0990-44E9-7E1D0E9814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 r="-5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B7AA3AA-52D6-D588-8FF4-4AEBEE49F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38774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09B9CB-8A35-0C9D-8F2F-DA2BDCFDE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400" dirty="0"/>
              <a:t>4. Contraste de hipótesis para la media poblacional</a:t>
            </a:r>
            <a:r>
              <a:rPr lang="es-ES" dirty="0"/>
              <a:t>. Ejemplo 9.25 (Solución)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7FA34D5-FF92-0990-44E9-7E1D0E9814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r>
                  <a:rPr lang="es-ES" dirty="0"/>
                  <a:t>Método de la región de aceptación: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−∞,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s-ES"/>
                              <m:t>α</m:t>
                            </m:r>
                          </m:sub>
                        </m:sSub>
                      </m:e>
                    </m:d>
                    <m:r>
                      <a:rPr lang="es-ES" sz="2400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∞,</m:t>
                        </m:r>
                        <m:sSub>
                          <m:sSub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∞,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1.645</m:t>
                        </m:r>
                      </m:e>
                    </m:d>
                  </m:oMath>
                </a14:m>
                <a:r>
                  <a:rPr lang="es-ES" dirty="0"/>
                  <a:t> </a:t>
                </a:r>
                <a:r>
                  <a:rPr lang="es-ES" dirty="0">
                    <a:sym typeface="Wingdings" panose="05000000000000000000" pitchFamily="2" charset="2"/>
                  </a:rPr>
                  <a:t> Como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s-ES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=2.5</m:t>
                    </m:r>
                  </m:oMath>
                </a14:m>
                <a:r>
                  <a:rPr lang="es-ES" dirty="0">
                    <a:sym typeface="Wingdings" panose="05000000000000000000" pitchFamily="2" charset="2"/>
                  </a:rPr>
                  <a:t> está fuera de la región, se rechaza la hipótesis nula (H</a:t>
                </a:r>
                <a:r>
                  <a:rPr lang="es-ES" baseline="-25000" dirty="0">
                    <a:sym typeface="Wingdings" panose="05000000000000000000" pitchFamily="2" charset="2"/>
                  </a:rPr>
                  <a:t>0</a:t>
                </a:r>
                <a:r>
                  <a:rPr lang="es-ES" dirty="0">
                    <a:sym typeface="Wingdings" panose="05000000000000000000" pitchFamily="2" charset="2"/>
                  </a:rPr>
                  <a:t>) y, en consecuencia, se acepta la hipótesis alternativa H</a:t>
                </a:r>
                <a:r>
                  <a:rPr lang="es-ES" baseline="-25000" dirty="0">
                    <a:sym typeface="Wingdings" panose="05000000000000000000" pitchFamily="2" charset="2"/>
                  </a:rPr>
                  <a:t>A</a:t>
                </a:r>
              </a:p>
              <a:p>
                <a:r>
                  <a:rPr lang="es-ES" dirty="0">
                    <a:sym typeface="Wingdings" panose="05000000000000000000" pitchFamily="2" charset="2"/>
                  </a:rPr>
                  <a:t>Método del p-valor: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sz="2400" b="0" i="0" smtClean="0">
                        <a:effectLst/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s-ES" sz="2400" b="0" i="0" smtClean="0"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s-ES" sz="2400" b="0" i="0" smtClean="0">
                        <a:effectLst/>
                        <a:latin typeface="Cambria Math" panose="02040503050406030204" pitchFamily="18" charset="0"/>
                      </a:rPr>
                      <m:t>valor</m:t>
                    </m:r>
                    <m:r>
                      <a:rPr lang="es-ES" sz="2400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400" smtClean="0">
                        <a:effectLst/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400">
                            <a:effectLst/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s-ES" sz="2400">
                            <a:effectLst/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s-ES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400">
                                <a:effectLst/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s-ES" sz="2400">
                                <a:effectLst/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e>
                    </m:d>
                    <m:r>
                      <a:rPr lang="es-ES" sz="2400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s-ES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2.5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s-ES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s-E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2.5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=1−0.9938=0.0062</m:t>
                    </m:r>
                  </m:oMath>
                </a14:m>
                <a:r>
                  <a:rPr lang="es-ES" dirty="0">
                    <a:sym typeface="Wingdings" panose="05000000000000000000" pitchFamily="2" charset="2"/>
                  </a:rPr>
                  <a:t>  Como p-valor es menor que </a:t>
                </a:r>
                <a:r>
                  <a:rPr lang="el-GR" dirty="0">
                    <a:sym typeface="Wingdings" panose="05000000000000000000" pitchFamily="2" charset="2"/>
                  </a:rPr>
                  <a:t>α</a:t>
                </a:r>
                <a:r>
                  <a:rPr lang="es-ES" dirty="0">
                    <a:sym typeface="Wingdings" panose="05000000000000000000" pitchFamily="2" charset="2"/>
                  </a:rPr>
                  <a:t>=0.05, se rechaza la hipótesis nula (H</a:t>
                </a:r>
                <a:r>
                  <a:rPr lang="es-ES" baseline="-25000" dirty="0">
                    <a:sym typeface="Wingdings" panose="05000000000000000000" pitchFamily="2" charset="2"/>
                  </a:rPr>
                  <a:t>0</a:t>
                </a:r>
                <a:r>
                  <a:rPr lang="es-ES" dirty="0">
                    <a:sym typeface="Wingdings" panose="05000000000000000000" pitchFamily="2" charset="2"/>
                  </a:rPr>
                  <a:t>) y, en consecuencia, se acepta la hipótesis alternativa H</a:t>
                </a:r>
                <a:r>
                  <a:rPr lang="es-ES" baseline="-25000" dirty="0">
                    <a:sym typeface="Wingdings" panose="05000000000000000000" pitchFamily="2" charset="2"/>
                  </a:rPr>
                  <a:t>A</a:t>
                </a:r>
                <a:endParaRPr lang="es-ES" dirty="0">
                  <a:sym typeface="Wingdings" panose="05000000000000000000" pitchFamily="2" charset="2"/>
                </a:endParaRPr>
              </a:p>
              <a:p>
                <a:r>
                  <a:rPr lang="es-ES" dirty="0"/>
                  <a:t>Respuesta = SI</a:t>
                </a:r>
              </a:p>
              <a:p>
                <a:pPr lvl="1"/>
                <a:r>
                  <a:rPr lang="es-ES" dirty="0"/>
                  <a:t>Los datos (promedio de 5200 usuarios en 100 momentos de tiempo) proporcionan evidencias suficientes a favor de la hipótesis alternativa de que el número medio de usuarios ha aumentado.</a:t>
                </a:r>
              </a:p>
              <a:p>
                <a:pPr lvl="1"/>
                <a:endParaRPr lang="es-ES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7FA34D5-FF92-0990-44E9-7E1D0E9814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 t="-1937" r="-11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B7AA3AA-52D6-D588-8FF4-4AEBEE49F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922877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>
            <a:extLst>
              <a:ext uri="{FF2B5EF4-FFF2-40B4-BE49-F238E27FC236}">
                <a16:creationId xmlns:a16="http://schemas.microsoft.com/office/drawing/2014/main" id="{CB3EFF18-9D70-0729-EDAC-9CE8E3C90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924" y="1487487"/>
            <a:ext cx="10587583" cy="537051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CB1AB08-D8C9-772E-27AC-5BB17C6FC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400" dirty="0"/>
              <a:t>4. Contraste de hipótesis para la media poblacional</a:t>
            </a:r>
            <a:r>
              <a:rPr lang="es-ES" dirty="0"/>
              <a:t>. Ejemplo 9.25 (Gráficos)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94E98C-E753-4E82-37D1-53D472A98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25</a:t>
            </a:fld>
            <a:endParaRPr lang="es-ES" dirty="0"/>
          </a:p>
        </p:txBody>
      </p:sp>
      <p:sp>
        <p:nvSpPr>
          <p:cNvPr id="8" name="CuadroTexto 7"/>
          <p:cNvSpPr txBox="1"/>
          <p:nvPr/>
        </p:nvSpPr>
        <p:spPr>
          <a:xfrm>
            <a:off x="9224948" y="2960895"/>
            <a:ext cx="1601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p-valor=0,0062</a:t>
            </a:r>
          </a:p>
        </p:txBody>
      </p:sp>
      <p:cxnSp>
        <p:nvCxnSpPr>
          <p:cNvPr id="9" name="Conector recto de flecha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8453120" y="3330227"/>
            <a:ext cx="1442720" cy="19631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843520" y="3948014"/>
            <a:ext cx="555307" cy="12408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/>
          <p:cNvSpPr txBox="1"/>
          <p:nvPr/>
        </p:nvSpPr>
        <p:spPr>
          <a:xfrm>
            <a:off x="3366723" y="3145561"/>
            <a:ext cx="1191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1-α=0,95</a:t>
            </a:r>
          </a:p>
        </p:txBody>
      </p:sp>
      <p:cxnSp>
        <p:nvCxnSpPr>
          <p:cNvPr id="14" name="Conector recto de flecha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48481" y="3454574"/>
            <a:ext cx="2054956" cy="4934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/>
          <p:cNvSpPr txBox="1"/>
          <p:nvPr/>
        </p:nvSpPr>
        <p:spPr>
          <a:xfrm>
            <a:off x="8121173" y="3626823"/>
            <a:ext cx="874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α=0,05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9C5D8B0-B242-4E0D-3525-94359D6B5A23}"/>
              </a:ext>
            </a:extLst>
          </p:cNvPr>
          <p:cNvSpPr txBox="1"/>
          <p:nvPr/>
        </p:nvSpPr>
        <p:spPr>
          <a:xfrm>
            <a:off x="8121173" y="5408284"/>
            <a:ext cx="811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Z</a:t>
            </a:r>
            <a:r>
              <a:rPr lang="es-ES" baseline="-25000" dirty="0" err="1"/>
              <a:t>o</a:t>
            </a:r>
            <a:r>
              <a:rPr lang="es-ES" dirty="0"/>
              <a:t>=2.5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8636A61-D216-9BAD-59EF-CFDB328D6374}"/>
              </a:ext>
            </a:extLst>
          </p:cNvPr>
          <p:cNvSpPr txBox="1"/>
          <p:nvPr/>
        </p:nvSpPr>
        <p:spPr>
          <a:xfrm>
            <a:off x="6954726" y="5415081"/>
            <a:ext cx="1036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z</a:t>
            </a:r>
            <a:r>
              <a:rPr lang="el-GR" baseline="-25000" dirty="0"/>
              <a:t>α</a:t>
            </a:r>
            <a:r>
              <a:rPr lang="es-ES" dirty="0"/>
              <a:t>=1.645</a:t>
            </a:r>
          </a:p>
        </p:txBody>
      </p:sp>
    </p:spTree>
    <p:extLst>
      <p:ext uri="{BB962C8B-B14F-4D97-AF65-F5344CB8AC3E}">
        <p14:creationId xmlns:p14="http://schemas.microsoft.com/office/powerpoint/2010/main" val="1039540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4BE310-E1BB-D1AC-666C-AE97526B7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sz="4400" dirty="0"/>
              <a:t>4. Contraste de hipótesis para la media poblacional</a:t>
            </a:r>
            <a:r>
              <a:rPr lang="es-ES" dirty="0"/>
              <a:t>. Ejemplo 9.28 (Acceso no autorizado)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0DF042-E857-47E4-8DDA-9D80E3E48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/>
              <a:t>Recientemente se han propuesto varios métodos para detectar el uso no autorizado a una cuenta en un ordenador.</a:t>
            </a:r>
          </a:p>
          <a:p>
            <a:r>
              <a:rPr lang="es-ES" dirty="0"/>
              <a:t>Uno es medir el tiempo entre pulsaciones de teclas de un usuario al escribir su nombre de usuario y contraseña, y se compara con el tiempo habitual del propietario de la cuenta. Si hay diferencias significativas, se detecta un intruso.</a:t>
            </a:r>
          </a:p>
          <a:p>
            <a:r>
              <a:rPr lang="es-ES" dirty="0"/>
              <a:t>Se registraron los siguientes tiempos entre pulsaciones de teclas cuando un usuario escribía el nombre de usuario y contraseña:</a:t>
            </a:r>
          </a:p>
          <a:p>
            <a:pPr lvl="1"/>
            <a:r>
              <a:rPr lang="en-US" dirty="0"/>
              <a:t>0.24, 0.22, 0.26, 0.34, 0.35, 0.32, 0.33, 0.29, 0.19, 0.36, 0.30, 0.15, 0.17, 0.28, 0.38, 0.40, 0.37, 0.27 </a:t>
            </a:r>
            <a:r>
              <a:rPr lang="en-US" dirty="0" err="1"/>
              <a:t>segundos</a:t>
            </a:r>
            <a:endParaRPr lang="es-ES" dirty="0"/>
          </a:p>
          <a:p>
            <a:r>
              <a:rPr lang="es-ES" dirty="0"/>
              <a:t>Si el usuario autorizado tiene habitualmente un tiempo medio entre pulsaciones de teclas de 0.2 segundos, ¿se puede afirmar con un nivel de significación del 5%, que se trata de un acceso no autorizado? </a:t>
            </a:r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48022C-F80F-35FF-BFAD-E328380F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396072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09B9CB-8A35-0C9D-8F2F-DA2BDCFDE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400" dirty="0"/>
              <a:t>4. Contraste de hipótesis para la media poblacional</a:t>
            </a:r>
            <a:r>
              <a:rPr lang="es-ES" dirty="0"/>
              <a:t>. Ejemplo 9.28 (Solución)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7FA34D5-FF92-0990-44E9-7E1D0E9814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fontScale="77500" lnSpcReduction="2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>
                            <a:effectLst/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sz="2800"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sz="2800">
                        <a:effectLst/>
                        <a:latin typeface="Cambria Math" panose="02040503050406030204" pitchFamily="18" charset="0"/>
                      </a:rPr>
                      <m:t>: </m:t>
                    </m:r>
                    <m:r>
                      <a:rPr lang="es-ES" sz="2800"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s-ES" sz="280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800" b="0" i="1" smtClean="0">
                        <a:effectLst/>
                        <a:latin typeface="Cambria Math" panose="02040503050406030204" pitchFamily="18" charset="0"/>
                      </a:rPr>
                      <m:t>0.2</m:t>
                    </m:r>
                    <m:r>
                      <a:rPr lang="es-ES" sz="2800">
                        <a:effectLst/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es-ES" sz="2800">
                        <a:effectLst/>
                      </a:rPr>
                      <m:t>vs</m:t>
                    </m:r>
                    <m:r>
                      <m:rPr>
                        <m:nor/>
                      </m:rPr>
                      <a:rPr lang="es-ES" sz="2800">
                        <a:effectLst/>
                      </a:rPr>
                      <m:t>  </m:t>
                    </m:r>
                    <m:sSub>
                      <m:sSubPr>
                        <m:ctrlPr>
                          <a:rPr lang="es-ES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>
                            <a:effectLst/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sz="280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sz="2800">
                        <a:effectLst/>
                        <a:latin typeface="Cambria Math" panose="02040503050406030204" pitchFamily="18" charset="0"/>
                      </a:rPr>
                      <m:t>: </m:t>
                    </m:r>
                    <m:r>
                      <a:rPr lang="es-ES" sz="2800"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s-ES" sz="280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s-ES" sz="2800" b="0" i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0.2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Se plantea un contraste bilateral, porque nos interesa saber si la media del tiempo entre pulsaciones de teclas (</a:t>
                </a:r>
                <a14:m>
                  <m:oMath xmlns:m="http://schemas.openxmlformats.org/officeDocument/2006/math">
                    <m:r>
                      <a:rPr lang="es-ES" smtClean="0">
                        <a:effectLst/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ES" dirty="0"/>
                  <a:t>) es significativamente diferente al habitual del usuario autorizado (0.2s).</a:t>
                </a:r>
              </a:p>
              <a:p>
                <a:r>
                  <a:rPr lang="es-ES" dirty="0"/>
                  <a:t>Datos: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=0.05,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=18,</m:t>
                    </m:r>
                  </m:oMath>
                </a14:m>
                <a:endParaRPr lang="es-E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=(0.24, 0.22, 0.26, 0.34, 0.35, 0.32, 0.33, 0.29, 0.19, 0.36, 0.30, 0.15, 0.17, 0.28, 0.38, 0.40, 0.37, 0.27)</m:t>
                    </m:r>
                  </m:oMath>
                </a14:m>
                <a:r>
                  <a:rPr lang="es-ES" dirty="0"/>
                  <a:t> </a:t>
                </a:r>
              </a:p>
              <a:p>
                <a:r>
                  <a:rPr lang="es-ES" dirty="0"/>
                  <a:t>Como no se conoce la varianza poblacional y n=18 es &lt;30, se usa un estadístico de contraste con distribución T de </a:t>
                </a:r>
                <a:r>
                  <a:rPr lang="es-ES" dirty="0" err="1"/>
                  <a:t>Student</a:t>
                </a:r>
                <a:r>
                  <a:rPr lang="es-ES" dirty="0"/>
                  <a:t> con n-1=17 grados de libertad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sz="24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b="0" i="1" smtClean="0"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" sz="2400" b="0" i="1" smtClean="0">
                            <a:effectLst/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sz="240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s-ES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sz="2400" b="0" i="1" smtClean="0"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s-ES" sz="2400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ES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400">
                                <a:effectLst/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s-ES" sz="2400">
                                <a:effectLst/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s-ES" sz="2400" b="0" i="0" smtClean="0">
                            <a:effectLst/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s-ES" sz="2400">
                            <a:effectLst/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s-ES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2400">
                                <a:effectLst/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es-ES" sz="2400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0" smtClean="0">
                            <a:latin typeface="Cambria Math" panose="02040503050406030204" pitchFamily="18" charset="0"/>
                          </a:rPr>
                          <m:t>0.29</m:t>
                        </m:r>
                        <m:r>
                          <a:rPr lang="es-E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0" i="0" smtClean="0">
                            <a:latin typeface="Cambria Math" panose="02040503050406030204" pitchFamily="18" charset="0"/>
                          </a:rPr>
                          <m:t>0.2</m:t>
                        </m:r>
                      </m:num>
                      <m:den>
                        <m:r>
                          <a:rPr lang="es-ES" b="0" i="0" smtClean="0">
                            <a:latin typeface="Cambria Math" panose="02040503050406030204" pitchFamily="18" charset="0"/>
                          </a:rPr>
                          <m:t>0.074</m:t>
                        </m:r>
                        <m:r>
                          <a:rPr lang="es-ES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</m:rad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=5.16</m:t>
                    </m:r>
                  </m:oMath>
                </a14:m>
                <a:r>
                  <a:rPr lang="es-ES" dirty="0"/>
                  <a:t>      Siendo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E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s-ES" dirty="0"/>
                  <a:t>   y  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es-ES" dirty="0"/>
              </a:p>
              <a:p>
                <a:pPr lvl="1"/>
                <a:endParaRPr lang="es-ES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7FA34D5-FF92-0990-44E9-7E1D0E9814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696" t="-1211" r="-173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B7AA3AA-52D6-D588-8FF4-4AEBEE49F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87097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09B9CB-8A35-0C9D-8F2F-DA2BDCFDE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400" dirty="0"/>
              <a:t>4. Contraste de hipótesis para la media poblacional</a:t>
            </a:r>
            <a:r>
              <a:rPr lang="es-ES" dirty="0"/>
              <a:t>. Ejemplo 9.28 (Solución)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7FA34D5-FF92-0990-44E9-7E1D0E9814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530725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s-ES" dirty="0"/>
                  <a:t>Método de la región de aceptación: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s-ES"/>
                              <m:t>α</m:t>
                            </m:r>
                            <m:r>
                              <m:rPr>
                                <m:nor/>
                              </m:rPr>
                              <a:rPr lang="es-ES"/>
                              <m:t>/2, </m:t>
                            </m:r>
                            <m:r>
                              <m:rPr>
                                <m:nor/>
                              </m:rPr>
                              <a:rPr lang="es-ES"/>
                              <m:t>n</m:t>
                            </m:r>
                            <m:r>
                              <m:rPr>
                                <m:nor/>
                              </m:rPr>
                              <a:rPr lang="es-ES" i="1"/>
                              <m:t>−</m:t>
                            </m:r>
                            <m:r>
                              <m:rPr>
                                <m:nor/>
                              </m:rPr>
                              <a:rPr lang="es-ES"/>
                              <m:t>1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s-ES"/>
                              <m:t>α</m:t>
                            </m:r>
                            <m:r>
                              <m:rPr>
                                <m:nor/>
                              </m:rPr>
                              <a:rPr lang="es-ES"/>
                              <m:t>/2, </m:t>
                            </m:r>
                            <m:r>
                              <m:rPr>
                                <m:nor/>
                              </m:rPr>
                              <a:rPr lang="es-ES"/>
                              <m:t>n</m:t>
                            </m:r>
                            <m:r>
                              <m:rPr>
                                <m:nor/>
                              </m:rPr>
                              <a:rPr lang="es-ES" i="1"/>
                              <m:t>−</m:t>
                            </m:r>
                            <m:r>
                              <m:rPr>
                                <m:nor/>
                              </m:rPr>
                              <a:rPr lang="es-ES"/>
                              <m:t>1</m:t>
                            </m:r>
                          </m:sub>
                        </m:sSub>
                      </m:e>
                    </m:d>
                    <m:r>
                      <a:rPr lang="es-ES" sz="2400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s-ES" b="0" i="0" smtClean="0"/>
                              <m:t>0.025,17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s-ES"/>
                              <m:t>0.025,17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−2.11, 2.11</m:t>
                        </m:r>
                      </m:e>
                    </m:d>
                  </m:oMath>
                </a14:m>
                <a:endParaRPr lang="es-ES" dirty="0">
                  <a:sym typeface="Wingdings" panose="05000000000000000000" pitchFamily="2" charset="2"/>
                </a:endParaRPr>
              </a:p>
              <a:p>
                <a:pPr lvl="1"/>
                <a:r>
                  <a:rPr lang="es-ES" dirty="0">
                    <a:sym typeface="Wingdings" panose="05000000000000000000" pitchFamily="2" charset="2"/>
                  </a:rPr>
                  <a:t>En la Tabla A5 se puede encontrar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nor/>
                          </m:rPr>
                          <a:rPr lang="es-ES" b="0" i="0" smtClean="0"/>
                          <m:t>0.025,17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=2.11</m:t>
                    </m:r>
                  </m:oMath>
                </a14:m>
                <a:endParaRPr lang="es-ES" dirty="0">
                  <a:sym typeface="Wingdings" panose="05000000000000000000" pitchFamily="2" charset="2"/>
                </a:endParaRPr>
              </a:p>
              <a:p>
                <a:pPr lvl="1"/>
                <a:r>
                  <a:rPr lang="es-ES" dirty="0">
                    <a:sym typeface="Wingdings" panose="05000000000000000000" pitchFamily="2" charset="2"/>
                  </a:rPr>
                  <a:t>Como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=5.16</m:t>
                    </m:r>
                  </m:oMath>
                </a14:m>
                <a:r>
                  <a:rPr lang="es-ES" dirty="0">
                    <a:sym typeface="Wingdings" panose="05000000000000000000" pitchFamily="2" charset="2"/>
                  </a:rPr>
                  <a:t> está fuera de la región de aceptación, se rechaza la hipótesis nula (H</a:t>
                </a:r>
                <a:r>
                  <a:rPr lang="es-ES" baseline="-25000" dirty="0">
                    <a:sym typeface="Wingdings" panose="05000000000000000000" pitchFamily="2" charset="2"/>
                  </a:rPr>
                  <a:t>0</a:t>
                </a:r>
                <a:r>
                  <a:rPr lang="es-ES" dirty="0">
                    <a:sym typeface="Wingdings" panose="05000000000000000000" pitchFamily="2" charset="2"/>
                  </a:rPr>
                  <a:t>) y, en consecuencia, se acepta la hipótesis alternativa H</a:t>
                </a:r>
                <a:r>
                  <a:rPr lang="es-ES" baseline="-25000" dirty="0">
                    <a:sym typeface="Wingdings" panose="05000000000000000000" pitchFamily="2" charset="2"/>
                  </a:rPr>
                  <a:t>A</a:t>
                </a:r>
              </a:p>
              <a:p>
                <a:r>
                  <a:rPr lang="es-ES" dirty="0">
                    <a:sym typeface="Wingdings" panose="05000000000000000000" pitchFamily="2" charset="2"/>
                  </a:rPr>
                  <a:t>Método del p-valor: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sz="2400" b="0" i="0" smtClean="0">
                        <a:effectLst/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s-ES" sz="2400" b="0" i="0" smtClean="0"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s-ES" sz="2400" b="0" i="0" smtClean="0">
                        <a:effectLst/>
                        <a:latin typeface="Cambria Math" panose="02040503050406030204" pitchFamily="18" charset="0"/>
                      </a:rPr>
                      <m:t>valor</m:t>
                    </m:r>
                    <m:r>
                      <a:rPr lang="es-ES" sz="2400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s-ES" i="1">
                            <a:latin typeface="Cambria Math" panose="02040503050406030204" pitchFamily="18" charset="0"/>
                          </a:rPr>
                          <m:t>≥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≥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≥5.16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s-E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5.16</m:t>
                            </m:r>
                          </m:e>
                        </m:d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=0.000078</m:t>
                    </m:r>
                  </m:oMath>
                </a14:m>
                <a:r>
                  <a:rPr lang="es-ES" dirty="0">
                    <a:sym typeface="Wingdings" panose="05000000000000000000" pitchFamily="2" charset="2"/>
                  </a:rPr>
                  <a:t> </a:t>
                </a:r>
              </a:p>
              <a:p>
                <a:pPr lvl="1"/>
                <a:r>
                  <a:rPr lang="es-ES" dirty="0">
                    <a:sym typeface="Wingdings" panose="05000000000000000000" pitchFamily="2" charset="2"/>
                  </a:rPr>
                  <a:t>Se usa software estadístico porque no está en la tabla A5</a:t>
                </a:r>
              </a:p>
              <a:p>
                <a:pPr lvl="1"/>
                <a:r>
                  <a:rPr lang="es-ES" dirty="0">
                    <a:sym typeface="Wingdings" panose="05000000000000000000" pitchFamily="2" charset="2"/>
                  </a:rPr>
                  <a:t>Como p-valor es menor que </a:t>
                </a:r>
                <a:r>
                  <a:rPr lang="el-GR" dirty="0">
                    <a:sym typeface="Wingdings" panose="05000000000000000000" pitchFamily="2" charset="2"/>
                  </a:rPr>
                  <a:t>α</a:t>
                </a:r>
                <a:r>
                  <a:rPr lang="es-ES" dirty="0">
                    <a:sym typeface="Wingdings" panose="05000000000000000000" pitchFamily="2" charset="2"/>
                  </a:rPr>
                  <a:t>=0.05, se rechaza la hipótesis nula (H</a:t>
                </a:r>
                <a:r>
                  <a:rPr lang="es-ES" baseline="-25000" dirty="0">
                    <a:sym typeface="Wingdings" panose="05000000000000000000" pitchFamily="2" charset="2"/>
                  </a:rPr>
                  <a:t>0</a:t>
                </a:r>
                <a:r>
                  <a:rPr lang="es-ES" dirty="0">
                    <a:sym typeface="Wingdings" panose="05000000000000000000" pitchFamily="2" charset="2"/>
                  </a:rPr>
                  <a:t>) y, en consecuencia, se acepta la hipótesis alternativa H</a:t>
                </a:r>
                <a:r>
                  <a:rPr lang="es-ES" baseline="-25000" dirty="0">
                    <a:sym typeface="Wingdings" panose="05000000000000000000" pitchFamily="2" charset="2"/>
                  </a:rPr>
                  <a:t>A</a:t>
                </a:r>
                <a:endParaRPr lang="es-ES" dirty="0">
                  <a:sym typeface="Wingdings" panose="05000000000000000000" pitchFamily="2" charset="2"/>
                </a:endParaRPr>
              </a:p>
              <a:p>
                <a:r>
                  <a:rPr lang="es-ES" dirty="0"/>
                  <a:t>Respuesta = SI</a:t>
                </a:r>
              </a:p>
              <a:p>
                <a:pPr lvl="1"/>
                <a:r>
                  <a:rPr lang="es-ES" dirty="0"/>
                  <a:t>Los datos proporcionan evidencias suficientes a favor de la hipótesis alternativa, para afirmar con un nivel de significación del 5%, que se trata de un acceso no autorizado.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7FA34D5-FF92-0990-44E9-7E1D0E9814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530725"/>
              </a:xfrm>
              <a:blipFill>
                <a:blip r:embed="rId2"/>
                <a:stretch>
                  <a:fillRect l="-812" t="-3091" r="-58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B7AA3AA-52D6-D588-8FF4-4AEBEE49F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401458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3A4DABB-3B6B-5C21-1370-42C6093EA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93" y="1503681"/>
            <a:ext cx="10388126" cy="540512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CB1AB08-D8C9-772E-27AC-5BB17C6FC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400" dirty="0"/>
              <a:t>4. Contraste de hipótesis para la media poblacional</a:t>
            </a:r>
            <a:r>
              <a:rPr lang="es-ES" dirty="0"/>
              <a:t>. Ejemplo 9.28 (Gráficos)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94E98C-E753-4E82-37D1-53D472A98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29</a:t>
            </a:fld>
            <a:endParaRPr lang="es-ES" dirty="0"/>
          </a:p>
        </p:txBody>
      </p:sp>
      <p:cxnSp>
        <p:nvCxnSpPr>
          <p:cNvPr id="11" name="Conector recto de flecha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98438" y="4204872"/>
            <a:ext cx="818637" cy="11358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/>
          <p:cNvSpPr txBox="1"/>
          <p:nvPr/>
        </p:nvSpPr>
        <p:spPr>
          <a:xfrm>
            <a:off x="3366723" y="3145561"/>
            <a:ext cx="1191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1-α=0,95</a:t>
            </a:r>
          </a:p>
        </p:txBody>
      </p:sp>
      <p:cxnSp>
        <p:nvCxnSpPr>
          <p:cNvPr id="14" name="Conector recto de flecha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48481" y="3454574"/>
            <a:ext cx="1572843" cy="3222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/>
          <p:cNvSpPr txBox="1"/>
          <p:nvPr/>
        </p:nvSpPr>
        <p:spPr>
          <a:xfrm>
            <a:off x="7975309" y="3832880"/>
            <a:ext cx="1199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α/2=0,025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9C5D8B0-B242-4E0D-3525-94359D6B5A23}"/>
              </a:ext>
            </a:extLst>
          </p:cNvPr>
          <p:cNvSpPr txBox="1"/>
          <p:nvPr/>
        </p:nvSpPr>
        <p:spPr>
          <a:xfrm>
            <a:off x="10107864" y="5780519"/>
            <a:ext cx="1075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t</a:t>
            </a:r>
            <a:r>
              <a:rPr lang="es-ES" baseline="-25000" dirty="0" err="1"/>
              <a:t>o</a:t>
            </a:r>
            <a:r>
              <a:rPr lang="es-ES" dirty="0"/>
              <a:t>=5.16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8636A61-D216-9BAD-59EF-CFDB328D6374}"/>
              </a:ext>
            </a:extLst>
          </p:cNvPr>
          <p:cNvSpPr txBox="1"/>
          <p:nvPr/>
        </p:nvSpPr>
        <p:spPr>
          <a:xfrm>
            <a:off x="7561579" y="6134212"/>
            <a:ext cx="189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</a:t>
            </a:r>
            <a:r>
              <a:rPr lang="es-ES" baseline="-25000" dirty="0"/>
              <a:t>0.025,17</a:t>
            </a:r>
            <a:r>
              <a:rPr lang="es-ES" dirty="0"/>
              <a:t>=2.11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7471631-EA63-1507-8006-0C75B8B25DA9}"/>
              </a:ext>
            </a:extLst>
          </p:cNvPr>
          <p:cNvSpPr txBox="1"/>
          <p:nvPr/>
        </p:nvSpPr>
        <p:spPr>
          <a:xfrm>
            <a:off x="3581401" y="6052932"/>
            <a:ext cx="189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-t</a:t>
            </a:r>
            <a:r>
              <a:rPr lang="es-ES" baseline="-25000" dirty="0"/>
              <a:t>0.025,17</a:t>
            </a:r>
            <a:r>
              <a:rPr lang="es-ES" dirty="0"/>
              <a:t>=-2.11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4C2C69B0-FF38-7B9D-9B37-65E4F3EAD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874926" y="4204872"/>
            <a:ext cx="723686" cy="11358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01FD3A7-E78B-D606-59C5-B1998EEE8923}"/>
              </a:ext>
            </a:extLst>
          </p:cNvPr>
          <p:cNvSpPr txBox="1"/>
          <p:nvPr/>
        </p:nvSpPr>
        <p:spPr>
          <a:xfrm>
            <a:off x="2917138" y="3861164"/>
            <a:ext cx="1199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α/2=0,025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9CB7F906-273A-C232-1708-947F0E5AC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367875" y="5494853"/>
            <a:ext cx="0" cy="7427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B1D75728-8B86-1E03-8ADF-54B3A83EC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7791795" y="5529977"/>
            <a:ext cx="0" cy="7076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27BDF68D-0833-DF1D-EF70-9561A3B03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0433395" y="5570734"/>
            <a:ext cx="0" cy="2954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3BB5A1D-2040-72D8-1A10-C683697FBBEC}"/>
              </a:ext>
            </a:extLst>
          </p:cNvPr>
          <p:cNvSpPr txBox="1"/>
          <p:nvPr/>
        </p:nvSpPr>
        <p:spPr>
          <a:xfrm>
            <a:off x="1347771" y="5791550"/>
            <a:ext cx="1075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-</a:t>
            </a:r>
            <a:r>
              <a:rPr lang="es-ES" dirty="0" err="1"/>
              <a:t>t</a:t>
            </a:r>
            <a:r>
              <a:rPr lang="es-ES" baseline="-25000" dirty="0" err="1"/>
              <a:t>o</a:t>
            </a:r>
            <a:r>
              <a:rPr lang="es-ES" dirty="0"/>
              <a:t>=-5.16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1AE050F1-D599-5546-2F23-F84589A24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734262" y="5581765"/>
            <a:ext cx="0" cy="2954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612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61FE9-C3AE-6FC7-C4A9-C1FF0B2C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4000" dirty="0"/>
              <a:t>4. Contraste de hipótesis para la media poblacional. Ejercicios propuestos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D761F8-90FE-5A56-8924-772DAE4E6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 err="1"/>
              <a:t>Ejercicios</a:t>
            </a:r>
            <a:r>
              <a:rPr lang="en-US" altLang="es-ES" sz="2800" dirty="0"/>
              <a:t> 9.7(b), 9.9(b), 9.13 del </a:t>
            </a:r>
            <a:r>
              <a:rPr lang="en-US" altLang="es-ES" sz="2800" dirty="0" err="1"/>
              <a:t>libro</a:t>
            </a:r>
            <a:endParaRPr lang="en-US" altLang="es-ES" sz="2800" dirty="0"/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es-ES" sz="2400" dirty="0"/>
              <a:t>Las </a:t>
            </a:r>
            <a:r>
              <a:rPr lang="en-US" altLang="es-ES" sz="2400" dirty="0" err="1"/>
              <a:t>respuestas</a:t>
            </a:r>
            <a:r>
              <a:rPr lang="en-US" altLang="es-ES" sz="2400" dirty="0"/>
              <a:t> de 9.7 y 9.9 </a:t>
            </a:r>
            <a:r>
              <a:rPr lang="en-US" altLang="es-ES" sz="2400" dirty="0" err="1"/>
              <a:t>están</a:t>
            </a:r>
            <a:r>
              <a:rPr lang="en-US" altLang="es-ES" sz="2400" dirty="0"/>
              <a:t> </a:t>
            </a:r>
            <a:r>
              <a:rPr lang="en-US" altLang="es-ES" sz="2400" dirty="0" err="1"/>
              <a:t>disponibles</a:t>
            </a:r>
            <a:r>
              <a:rPr lang="en-US" altLang="es-ES" sz="2400" dirty="0"/>
              <a:t> en </a:t>
            </a:r>
            <a:r>
              <a:rPr lang="en-US" altLang="es-ES" sz="2400" dirty="0" err="1"/>
              <a:t>el</a:t>
            </a:r>
            <a:r>
              <a:rPr lang="en-US" altLang="es-ES" sz="2400" dirty="0"/>
              <a:t> </a:t>
            </a:r>
            <a:r>
              <a:rPr lang="en-US" altLang="es-ES" sz="2400" dirty="0" err="1"/>
              <a:t>libro</a:t>
            </a:r>
            <a:endParaRPr lang="en-US" altLang="es-ES" sz="24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A86158-512B-60EF-6886-59F4BFB0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5340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7CE99-314E-E488-6849-91EB1AE31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5</a:t>
            </a:r>
            <a:r>
              <a:rPr lang="es-ES" sz="4400" dirty="0"/>
              <a:t>. Contraste de hipótesis para una proporción poblacional</a:t>
            </a:r>
            <a:r>
              <a:rPr lang="es-ES" dirty="0"/>
              <a:t>. Fórmulas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1FCE57-DC4F-5256-4E73-1E8DB5867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31</a:t>
            </a:fld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Marcador de contenido 6">
                <a:extLst>
                  <a:ext uri="{FF2B5EF4-FFF2-40B4-BE49-F238E27FC236}">
                    <a16:creationId xmlns:a16="http://schemas.microsoft.com/office/drawing/2014/main" id="{088FEF46-4181-FB8D-6590-BD58CA6E0D9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04840818"/>
                  </p:ext>
                </p:extLst>
              </p:nvPr>
            </p:nvGraphicFramePr>
            <p:xfrm>
              <a:off x="838200" y="2048380"/>
              <a:ext cx="10515599" cy="172732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033631">
                      <a:extLst>
                        <a:ext uri="{9D8B030D-6E8A-4147-A177-3AD203B41FA5}">
                          <a16:colId xmlns:a16="http://schemas.microsoft.com/office/drawing/2014/main" val="1809366894"/>
                        </a:ext>
                      </a:extLst>
                    </a:gridCol>
                    <a:gridCol w="2000922">
                      <a:extLst>
                        <a:ext uri="{9D8B030D-6E8A-4147-A177-3AD203B41FA5}">
                          <a16:colId xmlns:a16="http://schemas.microsoft.com/office/drawing/2014/main" val="904349382"/>
                        </a:ext>
                      </a:extLst>
                    </a:gridCol>
                    <a:gridCol w="2753958">
                      <a:extLst>
                        <a:ext uri="{9D8B030D-6E8A-4147-A177-3AD203B41FA5}">
                          <a16:colId xmlns:a16="http://schemas.microsoft.com/office/drawing/2014/main" val="1785039866"/>
                        </a:ext>
                      </a:extLst>
                    </a:gridCol>
                    <a:gridCol w="1755289">
                      <a:extLst>
                        <a:ext uri="{9D8B030D-6E8A-4147-A177-3AD203B41FA5}">
                          <a16:colId xmlns:a16="http://schemas.microsoft.com/office/drawing/2014/main" val="1876274988"/>
                        </a:ext>
                      </a:extLst>
                    </a:gridCol>
                    <a:gridCol w="2971799">
                      <a:extLst>
                        <a:ext uri="{9D8B030D-6E8A-4147-A177-3AD203B41FA5}">
                          <a16:colId xmlns:a16="http://schemas.microsoft.com/office/drawing/2014/main" val="3453060203"/>
                        </a:ext>
                      </a:extLst>
                    </a:gridCol>
                  </a:tblGrid>
                  <a:tr h="14006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Parámetro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Estadístico de contraste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Contraste de hipótesis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Región de aceptación de H</a:t>
                          </a:r>
                          <a:r>
                            <a:rPr lang="es-ES" sz="1600" baseline="-25000" dirty="0">
                              <a:effectLst/>
                            </a:rPr>
                            <a:t>0</a:t>
                          </a:r>
                          <a:endParaRPr lang="es-ES" sz="1600" baseline="-25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p-valor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9793173"/>
                      </a:ext>
                    </a:extLst>
                  </a:tr>
                  <a:tr h="229548"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̂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f>
                                          <m:fPr>
                                            <m:ctrlP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s-E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E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𝑜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(1−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s-E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E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𝑜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)</m:t>
                                            </m:r>
                                          </m:num>
                                          <m:den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𝑛</m:t>
                                            </m:r>
                                          </m:den>
                                        </m:f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</m:sub>
                                    </m:s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,+∞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≤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84731830"/>
                      </a:ext>
                    </a:extLst>
                  </a:tr>
                  <a:tr h="229548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ES" sz="1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s-ES" sz="11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1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̂"/>
                                        <m:ctrlPr>
                                          <a:rPr lang="es-ES" sz="11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1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  <m:r>
                                      <a:rPr lang="es-ES" sz="11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s-ES" sz="11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1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s-ES" sz="11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s-ES" sz="11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f>
                                          <m:fPr>
                                            <m:ctrlPr>
                                              <a:rPr lang="es-ES" sz="11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s-ES" sz="11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ES" sz="11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11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𝑜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s-ES" sz="11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(1−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s-ES" sz="11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ES" sz="11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11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𝑜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s-ES" sz="11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)</m:t>
                                            </m:r>
                                          </m:num>
                                          <m:den>
                                            <m:r>
                                              <a:rPr lang="es-ES" sz="11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𝑛</m:t>
                                            </m:r>
                                          </m:den>
                                        </m:f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s-E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−∞,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663373627"/>
                      </a:ext>
                    </a:extLst>
                  </a:tr>
                  <a:tr h="302328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s-E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/2</m:t>
                                        </m:r>
                                      </m:sub>
                                    </m:s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/2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d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𝑜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𝑜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724239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Marcador de contenido 6">
                <a:extLst>
                  <a:ext uri="{FF2B5EF4-FFF2-40B4-BE49-F238E27FC236}">
                    <a16:creationId xmlns:a16="http://schemas.microsoft.com/office/drawing/2014/main" id="{088FEF46-4181-FB8D-6590-BD58CA6E0D9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04840818"/>
                  </p:ext>
                </p:extLst>
              </p:nvPr>
            </p:nvGraphicFramePr>
            <p:xfrm>
              <a:off x="838200" y="2048380"/>
              <a:ext cx="10515599" cy="172732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033631">
                      <a:extLst>
                        <a:ext uri="{9D8B030D-6E8A-4147-A177-3AD203B41FA5}">
                          <a16:colId xmlns:a16="http://schemas.microsoft.com/office/drawing/2014/main" val="1809366894"/>
                        </a:ext>
                      </a:extLst>
                    </a:gridCol>
                    <a:gridCol w="2000922">
                      <a:extLst>
                        <a:ext uri="{9D8B030D-6E8A-4147-A177-3AD203B41FA5}">
                          <a16:colId xmlns:a16="http://schemas.microsoft.com/office/drawing/2014/main" val="904349382"/>
                        </a:ext>
                      </a:extLst>
                    </a:gridCol>
                    <a:gridCol w="2753958">
                      <a:extLst>
                        <a:ext uri="{9D8B030D-6E8A-4147-A177-3AD203B41FA5}">
                          <a16:colId xmlns:a16="http://schemas.microsoft.com/office/drawing/2014/main" val="1785039866"/>
                        </a:ext>
                      </a:extLst>
                    </a:gridCol>
                    <a:gridCol w="1755289">
                      <a:extLst>
                        <a:ext uri="{9D8B030D-6E8A-4147-A177-3AD203B41FA5}">
                          <a16:colId xmlns:a16="http://schemas.microsoft.com/office/drawing/2014/main" val="1876274988"/>
                        </a:ext>
                      </a:extLst>
                    </a:gridCol>
                    <a:gridCol w="2971799">
                      <a:extLst>
                        <a:ext uri="{9D8B030D-6E8A-4147-A177-3AD203B41FA5}">
                          <a16:colId xmlns:a16="http://schemas.microsoft.com/office/drawing/2014/main" val="3453060203"/>
                        </a:ext>
                      </a:extLst>
                    </a:gridCol>
                  </a:tblGrid>
                  <a:tr h="51022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Parámetro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Estadístico de contraste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Contraste de hipótesis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Región de aceptación de H</a:t>
                          </a:r>
                          <a:r>
                            <a:rPr lang="es-ES" sz="1600" baseline="-25000" dirty="0">
                              <a:effectLst/>
                            </a:rPr>
                            <a:t>0</a:t>
                          </a:r>
                          <a:endParaRPr lang="es-ES" sz="1600" baseline="-25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p-valor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9793173"/>
                      </a:ext>
                    </a:extLst>
                  </a:tr>
                  <a:tr h="362522">
                    <a:tc rowSpan="3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56025" marR="56025" marT="0" marB="0" anchor="ctr">
                        <a:blipFill>
                          <a:blip r:embed="rId2"/>
                          <a:stretch>
                            <a:fillRect l="-588" t="-46500" r="-916471" b="-1000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52134" t="-46500" r="-375000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10398" t="-157627" r="-172124" b="-2423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30208" t="-157627" r="-170139" b="-2423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53893" t="-157627" r="-410" b="-2423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4731830"/>
                      </a:ext>
                    </a:extLst>
                  </a:tr>
                  <a:tr h="362522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ES" sz="1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s-ES" sz="11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1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̂"/>
                                        <m:ctrlPr>
                                          <a:rPr lang="es-ES" sz="11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1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  <m:r>
                                      <a:rPr lang="es-ES" sz="11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s-ES" sz="11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1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s-ES" sz="11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s-ES" sz="11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f>
                                          <m:fPr>
                                            <m:ctrlPr>
                                              <a:rPr lang="es-ES" sz="11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s-ES" sz="11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ES" sz="11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11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𝑜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s-ES" sz="11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(1−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s-ES" sz="11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ES" sz="11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11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𝑜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s-ES" sz="11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)</m:t>
                                            </m:r>
                                          </m:num>
                                          <m:den>
                                            <m:r>
                                              <a:rPr lang="es-ES" sz="11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𝑛</m:t>
                                            </m:r>
                                          </m:den>
                                        </m:f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s-E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10398" t="-253333" r="-172124" b="-13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30208" t="-253333" r="-170139" b="-13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53893" t="-253333" r="-410" b="-13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73627"/>
                      </a:ext>
                    </a:extLst>
                  </a:tr>
                  <a:tr h="492062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s-E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10398" t="-261728" r="-172124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30208" t="-261728" r="-170139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53893" t="-261728" r="-410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2391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185695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951790-DF96-6E3F-2014-CCB98C7D9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5</a:t>
            </a:r>
            <a:r>
              <a:rPr lang="es-ES" sz="4400" dirty="0"/>
              <a:t>. Contraste de hipótesis para una proporción poblacional</a:t>
            </a:r>
            <a:r>
              <a:rPr lang="es-ES" dirty="0"/>
              <a:t>. Ejemplo (Conductores)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02BEC66-7892-3662-9658-D3816CBE52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48795"/>
              </a:xfrm>
            </p:spPr>
            <p:txBody>
              <a:bodyPr>
                <a:normAutofit/>
              </a:bodyPr>
              <a:lstStyle/>
              <a:p>
                <a:r>
                  <a:rPr lang="es-ES" dirty="0"/>
                  <a:t>En una muestra de 100 habitantes de una ciudad, hay 60 personas que saben conducir.  </a:t>
                </a:r>
              </a:p>
              <a:p>
                <a:r>
                  <a:rPr lang="es-ES" dirty="0"/>
                  <a:t>¿Se puede afirmar con una confianza del 90% que más de la mitad de los habitantes de la ciudad saben conducir? </a:t>
                </a:r>
              </a:p>
              <a:p>
                <a:r>
                  <a:rPr lang="es-ES" b="0" dirty="0"/>
                  <a:t>NOTA: </a:t>
                </a:r>
                <a:r>
                  <a:rPr lang="es-ES" dirty="0"/>
                  <a:t>Considerar que para una variable aleatoria Z:Normal(0,1), se cumple que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≤1.28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=0.9</m:t>
                    </m:r>
                  </m:oMath>
                </a14:m>
                <a:endParaRPr lang="es-ES" b="0" dirty="0"/>
              </a:p>
              <a:p>
                <a:endParaRPr lang="es-ES" dirty="0"/>
              </a:p>
              <a:p>
                <a:pPr lvl="2"/>
                <a:endParaRPr lang="es-ES" dirty="0"/>
              </a:p>
              <a:p>
                <a:pPr lvl="1"/>
                <a:endParaRPr lang="es-ES" dirty="0"/>
              </a:p>
              <a:p>
                <a:pPr lvl="1"/>
                <a:endParaRPr lang="es-ES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02BEC66-7892-3662-9658-D3816CBE52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48795"/>
              </a:xfrm>
              <a:blipFill>
                <a:blip r:embed="rId2"/>
                <a:stretch>
                  <a:fillRect l="-1043" t="-2054" r="-87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3D0A554-F314-B7B4-16DC-4171AD268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056473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951790-DF96-6E3F-2014-CCB98C7D9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5</a:t>
            </a:r>
            <a:r>
              <a:rPr lang="es-ES" sz="4400" dirty="0"/>
              <a:t>. Contraste de hipótesis para una proporción poblacional</a:t>
            </a:r>
            <a:r>
              <a:rPr lang="es-ES" dirty="0"/>
              <a:t>. Ejemplo (Conductores) (Solución)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02BEC66-7892-3662-9658-D3816CBE52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48795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s-ES" dirty="0"/>
                  <a:t>Contraste de hipótesis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: </m:t>
                    </m:r>
                    <m:r>
                      <a:rPr lang="es-E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s-E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vs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: </m:t>
                    </m:r>
                    <m:r>
                      <a:rPr lang="es-E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&gt;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 → 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: </m:t>
                    </m:r>
                    <m:r>
                      <a:rPr lang="es-E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s-E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=0. 5 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vs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: </m:t>
                    </m:r>
                    <m:r>
                      <a:rPr lang="es-E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s-E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&gt;0.5</m:t>
                    </m:r>
                  </m:oMath>
                </a14:m>
                <a:endParaRPr lang="es-ES" dirty="0"/>
              </a:p>
              <a:p>
                <a:r>
                  <a:rPr lang="es-ES" dirty="0"/>
                  <a:t>Datos: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=100, 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es-E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s-ES" i="1">
                        <a:latin typeface="Cambria Math" panose="02040503050406030204" pitchFamily="18" charset="0"/>
                      </a:rPr>
                      <m:t>=0.6</m:t>
                    </m:r>
                  </m:oMath>
                </a14:m>
                <a:r>
                  <a:rPr lang="es-ES" dirty="0"/>
                  <a:t>,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≤1.28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=0.9</m:t>
                    </m:r>
                  </m:oMath>
                </a14:m>
                <a:endParaRPr lang="es-E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sz="280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sz="2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s-ES" sz="2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r>
                      <a:rPr lang="es-ES" sz="2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sz="2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s-ES" sz="2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ES" sz="2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es-ES" sz="2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ES" sz="2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sz="2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s-ES" sz="2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s-ES" sz="2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s-ES" sz="280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s-ES" sz="28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8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28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s-ES" sz="280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(1−</m:t>
                                </m:r>
                                <m:sSub>
                                  <m:sSubPr>
                                    <m:ctrlPr>
                                      <a:rPr lang="es-ES" sz="28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8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28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s-ES" sz="280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s-ES" sz="280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es-ES" sz="2800" b="0" i="1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0.6</m:t>
                        </m:r>
                        <m:r>
                          <a:rPr lang="es-E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s-E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s-E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0.5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(1−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0.5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100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</m:oMath>
                </a14:m>
                <a:endParaRPr lang="es-ES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s-ES" dirty="0"/>
                  <a:t>Método de la región de aceptación: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∞,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s-E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α</m:t>
                            </m:r>
                          </m:sub>
                        </m:sSub>
                      </m:e>
                    </m:d>
                    <m:r>
                      <a:rPr lang="es-ES" sz="24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∞,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s-ES" b="0" i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0.1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1.28</m:t>
                        </m:r>
                      </m:e>
                    </m:d>
                  </m:oMath>
                </a14:m>
                <a:endParaRPr lang="es-ES" dirty="0"/>
              </a:p>
              <a:p>
                <a:pPr lvl="1"/>
                <a:r>
                  <a:rPr lang="es-ES" dirty="0">
                    <a:sym typeface="Wingdings" panose="05000000000000000000" pitchFamily="2" charset="2"/>
                  </a:rPr>
                  <a:t>Porque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m:rPr>
                            <m:nor/>
                          </m:rPr>
                          <a:rPr lang="es-E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0.1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𝑐𝑢𝑎𝑛𝑡𝑖𝑙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1−0.1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→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s-E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0.1</m:t>
                            </m:r>
                          </m:sub>
                        </m:sSub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=0.9 </m:t>
                    </m:r>
                  </m:oMath>
                </a14:m>
                <a:r>
                  <a:rPr lang="es-ES" dirty="0">
                    <a:sym typeface="Wingdings" panose="05000000000000000000" pitchFamily="2" charset="2"/>
                  </a:rPr>
                  <a:t> (Es un dato, por lo que no hace falta usar la Tabla A4)</a:t>
                </a:r>
              </a:p>
              <a:p>
                <a:pPr lvl="1"/>
                <a:r>
                  <a:rPr lang="es-ES" dirty="0">
                    <a:sym typeface="Wingdings" panose="05000000000000000000" pitchFamily="2" charset="2"/>
                  </a:rPr>
                  <a:t>Como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s-ES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s-ES" dirty="0">
                    <a:sym typeface="Wingdings" panose="05000000000000000000" pitchFamily="2" charset="2"/>
                  </a:rPr>
                  <a:t> está fuera de la región de aceptación, se rechaza la hipótesis nula (H</a:t>
                </a:r>
                <a:r>
                  <a:rPr lang="es-ES" baseline="-25000" dirty="0">
                    <a:sym typeface="Wingdings" panose="05000000000000000000" pitchFamily="2" charset="2"/>
                  </a:rPr>
                  <a:t>0</a:t>
                </a:r>
                <a:r>
                  <a:rPr lang="es-ES" dirty="0">
                    <a:sym typeface="Wingdings" panose="05000000000000000000" pitchFamily="2" charset="2"/>
                  </a:rPr>
                  <a:t>) y, en consecuencia, se acepta la hipótesis alternativa H</a:t>
                </a:r>
                <a:r>
                  <a:rPr lang="es-ES" baseline="-25000" dirty="0">
                    <a:sym typeface="Wingdings" panose="05000000000000000000" pitchFamily="2" charset="2"/>
                  </a:rPr>
                  <a:t>A</a:t>
                </a:r>
              </a:p>
              <a:p>
                <a:r>
                  <a:rPr lang="es-ES" dirty="0">
                    <a:sym typeface="Wingdings" panose="05000000000000000000" pitchFamily="2" charset="2"/>
                  </a:rPr>
                  <a:t>Método del p-valor: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sz="2400" b="0" i="0" smtClean="0">
                        <a:effectLst/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s-ES" sz="2400" b="0" i="0" smtClean="0"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s-ES" sz="2400" b="0" i="0" smtClean="0">
                        <a:effectLst/>
                        <a:latin typeface="Cambria Math" panose="02040503050406030204" pitchFamily="18" charset="0"/>
                      </a:rPr>
                      <m:t>valor</m:t>
                    </m:r>
                    <m:r>
                      <a:rPr lang="es-ES" sz="2400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𝑍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𝑍</m:t>
                        </m:r>
                        <m: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≥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=1−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≤2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=1−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0.98=0.02</m:t>
                    </m:r>
                  </m:oMath>
                </a14:m>
                <a:endParaRPr lang="es-ES" dirty="0">
                  <a:sym typeface="Wingdings" panose="05000000000000000000" pitchFamily="2" charset="2"/>
                </a:endParaRPr>
              </a:p>
              <a:p>
                <a:pPr lvl="1"/>
                <a:r>
                  <a:rPr lang="es-ES" dirty="0">
                    <a:sym typeface="Wingdings" panose="05000000000000000000" pitchFamily="2" charset="2"/>
                  </a:rPr>
                  <a:t>Se usa la tabla A4</a:t>
                </a:r>
              </a:p>
              <a:p>
                <a:pPr lvl="1"/>
                <a:r>
                  <a:rPr lang="es-ES" dirty="0">
                    <a:sym typeface="Wingdings" panose="05000000000000000000" pitchFamily="2" charset="2"/>
                  </a:rPr>
                  <a:t>Como p-valor es menor que </a:t>
                </a:r>
                <a:r>
                  <a:rPr lang="el-GR" dirty="0">
                    <a:sym typeface="Wingdings" panose="05000000000000000000" pitchFamily="2" charset="2"/>
                  </a:rPr>
                  <a:t>α</a:t>
                </a:r>
                <a:r>
                  <a:rPr lang="es-ES" dirty="0">
                    <a:sym typeface="Wingdings" panose="05000000000000000000" pitchFamily="2" charset="2"/>
                  </a:rPr>
                  <a:t>=0.1, se rechaza la hipótesis nula (H</a:t>
                </a:r>
                <a:r>
                  <a:rPr lang="es-ES" baseline="-25000" dirty="0">
                    <a:sym typeface="Wingdings" panose="05000000000000000000" pitchFamily="2" charset="2"/>
                  </a:rPr>
                  <a:t>0</a:t>
                </a:r>
                <a:r>
                  <a:rPr lang="es-ES" dirty="0">
                    <a:sym typeface="Wingdings" panose="05000000000000000000" pitchFamily="2" charset="2"/>
                  </a:rPr>
                  <a:t>) y, en consecuencia, se acepta la hipótesis alternativa H</a:t>
                </a:r>
                <a:r>
                  <a:rPr lang="es-ES" baseline="-25000" dirty="0">
                    <a:sym typeface="Wingdings" panose="05000000000000000000" pitchFamily="2" charset="2"/>
                  </a:rPr>
                  <a:t>A</a:t>
                </a:r>
                <a:endParaRPr lang="es-ES" dirty="0">
                  <a:sym typeface="Wingdings" panose="05000000000000000000" pitchFamily="2" charset="2"/>
                </a:endParaRPr>
              </a:p>
              <a:p>
                <a:r>
                  <a:rPr lang="es-ES" dirty="0"/>
                  <a:t>Respuesta = SI</a:t>
                </a:r>
              </a:p>
              <a:p>
                <a:pPr lvl="1"/>
                <a:r>
                  <a:rPr lang="es-ES" dirty="0"/>
                  <a:t>Los datos proporcionan evidencias suficientes a favor de la hipótesis alternativa, para afirmar con un nivel de confianza del 95%, que más de la mitad de los habitantes de la ciudad saben conducir</a:t>
                </a:r>
                <a:endParaRPr lang="es-ES" b="0" dirty="0"/>
              </a:p>
              <a:p>
                <a:endParaRPr lang="es-ES" dirty="0"/>
              </a:p>
              <a:p>
                <a:pPr lvl="2"/>
                <a:endParaRPr lang="es-ES" dirty="0"/>
              </a:p>
              <a:p>
                <a:pPr lvl="1"/>
                <a:endParaRPr lang="es-ES" dirty="0"/>
              </a:p>
              <a:p>
                <a:pPr lvl="1"/>
                <a:endParaRPr lang="es-ES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02BEC66-7892-3662-9658-D3816CBE52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48795"/>
              </a:xfrm>
              <a:blipFill>
                <a:blip r:embed="rId2"/>
                <a:stretch>
                  <a:fillRect l="-406" t="-205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3D0A554-F314-B7B4-16DC-4171AD268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471632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951790-DF96-6E3F-2014-CCB98C7D9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5</a:t>
            </a:r>
            <a:r>
              <a:rPr lang="es-ES" sz="4400" dirty="0"/>
              <a:t>. Contraste de hipótesis para una proporción poblacional</a:t>
            </a:r>
            <a:r>
              <a:rPr lang="es-ES" dirty="0"/>
              <a:t>. Ejercicios propuestos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2BEC66-7892-3662-9658-D3816CBE5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879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 err="1"/>
              <a:t>Ejercicio</a:t>
            </a:r>
            <a:r>
              <a:rPr lang="en-US" altLang="es-ES" sz="2800" dirty="0"/>
              <a:t> 9.10(b) del </a:t>
            </a:r>
            <a:r>
              <a:rPr lang="en-US" altLang="es-ES" sz="2800" dirty="0" err="1"/>
              <a:t>libro</a:t>
            </a:r>
            <a:endParaRPr lang="en-US" altLang="es-ES" sz="2800" dirty="0"/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es-ES" sz="2400" dirty="0"/>
              <a:t>Las </a:t>
            </a:r>
            <a:r>
              <a:rPr lang="en-US" altLang="es-ES" sz="2400" dirty="0" err="1"/>
              <a:t>respuesta</a:t>
            </a:r>
            <a:r>
              <a:rPr lang="en-US" altLang="es-ES" sz="2400" dirty="0"/>
              <a:t> </a:t>
            </a:r>
            <a:r>
              <a:rPr lang="en-US" altLang="es-ES" sz="2400" dirty="0" err="1"/>
              <a:t>está</a:t>
            </a:r>
            <a:r>
              <a:rPr lang="en-US" altLang="es-ES" sz="2400" dirty="0"/>
              <a:t> disponible en </a:t>
            </a:r>
            <a:r>
              <a:rPr lang="en-US" altLang="es-ES" sz="2400" dirty="0" err="1"/>
              <a:t>el</a:t>
            </a:r>
            <a:r>
              <a:rPr lang="en-US" altLang="es-ES" sz="2400" dirty="0"/>
              <a:t> </a:t>
            </a:r>
            <a:r>
              <a:rPr lang="en-US" altLang="es-ES" sz="2400" dirty="0" err="1"/>
              <a:t>libro</a:t>
            </a:r>
            <a:endParaRPr lang="en-US" altLang="es-ES" sz="2400" dirty="0"/>
          </a:p>
          <a:p>
            <a:endParaRPr lang="es-ES" dirty="0"/>
          </a:p>
          <a:p>
            <a:pPr lvl="2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3D0A554-F314-B7B4-16DC-4171AD268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136932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7CE99-314E-E488-6849-91EB1AE31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6. Contraste de hipótesis para la diferencia de medias de dos poblaciones independientes (1)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1FCE57-DC4F-5256-4E73-1E8DB5867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35</a:t>
            </a:fld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Marcador de contenido 6">
                <a:extLst>
                  <a:ext uri="{FF2B5EF4-FFF2-40B4-BE49-F238E27FC236}">
                    <a16:creationId xmlns:a16="http://schemas.microsoft.com/office/drawing/2014/main" id="{088FEF46-4181-FB8D-6590-BD58CA6E0D9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93346850"/>
                  </p:ext>
                </p:extLst>
              </p:nvPr>
            </p:nvGraphicFramePr>
            <p:xfrm>
              <a:off x="771525" y="1936620"/>
              <a:ext cx="10582275" cy="442246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250913">
                      <a:extLst>
                        <a:ext uri="{9D8B030D-6E8A-4147-A177-3AD203B41FA5}">
                          <a16:colId xmlns:a16="http://schemas.microsoft.com/office/drawing/2014/main" val="1809366894"/>
                        </a:ext>
                      </a:extLst>
                    </a:gridCol>
                    <a:gridCol w="1567906">
                      <a:extLst>
                        <a:ext uri="{9D8B030D-6E8A-4147-A177-3AD203B41FA5}">
                          <a16:colId xmlns:a16="http://schemas.microsoft.com/office/drawing/2014/main" val="904349382"/>
                        </a:ext>
                      </a:extLst>
                    </a:gridCol>
                    <a:gridCol w="3427534">
                      <a:extLst>
                        <a:ext uri="{9D8B030D-6E8A-4147-A177-3AD203B41FA5}">
                          <a16:colId xmlns:a16="http://schemas.microsoft.com/office/drawing/2014/main" val="1785039866"/>
                        </a:ext>
                      </a:extLst>
                    </a:gridCol>
                    <a:gridCol w="1567322">
                      <a:extLst>
                        <a:ext uri="{9D8B030D-6E8A-4147-A177-3AD203B41FA5}">
                          <a16:colId xmlns:a16="http://schemas.microsoft.com/office/drawing/2014/main" val="1876274988"/>
                        </a:ext>
                      </a:extLst>
                    </a:gridCol>
                    <a:gridCol w="2768600">
                      <a:extLst>
                        <a:ext uri="{9D8B030D-6E8A-4147-A177-3AD203B41FA5}">
                          <a16:colId xmlns:a16="http://schemas.microsoft.com/office/drawing/2014/main" val="3453060203"/>
                        </a:ext>
                      </a:extLst>
                    </a:gridCol>
                  </a:tblGrid>
                  <a:tr h="14006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Varianza conocida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Estadístico de contraste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Contraste de hipótesis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Región de aceptación</a:t>
                          </a:r>
                          <a:br>
                            <a:rPr lang="es-ES" sz="1600" dirty="0">
                              <a:effectLst/>
                            </a:rPr>
                          </a:br>
                          <a:r>
                            <a:rPr lang="es-ES" sz="1600" dirty="0">
                              <a:effectLst/>
                            </a:rPr>
                            <a:t>de H</a:t>
                          </a:r>
                          <a:r>
                            <a:rPr lang="es-ES" sz="1600" baseline="-25000" dirty="0">
                              <a:effectLst/>
                            </a:rPr>
                            <a:t>0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p-valor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9793173"/>
                      </a:ext>
                    </a:extLst>
                  </a:tr>
                  <a:tr h="229548"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Si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ES" sz="16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s-ES" sz="16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r>
                                      <a:rPr lang="es-ES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r>
                                      <a:rPr lang="es-ES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lang="es-ES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𝐷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f>
                                          <m:fPr>
                                            <m:ctrlPr>
                                              <a:rPr lang="es-ES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fPr>
                                          <m:num>
                                            <m:sSubSup>
                                              <m:sSubSupPr>
                                                <m:ctrlPr>
                                                  <a:rPr lang="es-ES" sz="16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s-ES" sz="16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16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𝑋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s-ES" sz="16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bSup>
                                          </m:num>
                                          <m:den>
                                            <m:r>
                                              <a:rPr lang="es-ES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𝑛</m:t>
                                            </m:r>
                                          </m:den>
                                        </m:f>
                                        <m: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+</m:t>
                                        </m:r>
                                        <m:f>
                                          <m:fPr>
                                            <m:ctrlPr>
                                              <a:rPr lang="es-ES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fPr>
                                          <m:num>
                                            <m:sSubSup>
                                              <m:sSubSupPr>
                                                <m:ctrlPr>
                                                  <a:rPr lang="es-ES" sz="16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s-ES" sz="16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16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𝑌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s-ES" sz="16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bSup>
                                          </m:num>
                                          <m:den>
                                            <m:r>
                                              <a:rPr lang="es-ES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𝑚</m:t>
                                            </m:r>
                                          </m:den>
                                        </m:f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6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&lt;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</m:sub>
                                    </m:s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,+∞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≤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84731830"/>
                      </a:ext>
                    </a:extLst>
                  </a:tr>
                  <a:tr h="229548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6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&gt;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−∞,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663373627"/>
                      </a:ext>
                    </a:extLst>
                  </a:tr>
                  <a:tr h="302328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≠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/2</m:t>
                                        </m:r>
                                      </m:sub>
                                    </m:s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/2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d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𝑜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𝑜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72423915"/>
                      </a:ext>
                    </a:extLst>
                  </a:tr>
                  <a:tr h="229548"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s-ES" sz="16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No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≥30</m:t>
                                </m:r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ES" sz="16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6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6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𝐷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f>
                                          <m:fPr>
                                            <m:ctrlP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Sup>
                                              <m:sSubSupPr>
                                                <m:ctrlPr>
                                                  <a:rPr lang="es-E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s-E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𝑋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s-E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bSup>
                                          </m:num>
                                          <m:den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𝑛</m:t>
                                            </m:r>
                                          </m:den>
                                        </m:f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f>
                                          <m:fPr>
                                            <m:ctrlP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Sup>
                                              <m:sSubSupPr>
                                                <m:ctrlPr>
                                                  <a:rPr lang="es-E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s-E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𝑌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s-E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bSup>
                                          </m:num>
                                          <m:den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𝑚</m:t>
                                            </m:r>
                                          </m:den>
                                        </m:f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6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&lt;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</m:sub>
                                    </m:s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,+∞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≤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024852992"/>
                      </a:ext>
                    </a:extLst>
                  </a:tr>
                  <a:tr h="229548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6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&gt;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−∞,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236031545"/>
                      </a:ext>
                    </a:extLst>
                  </a:tr>
                  <a:tr h="302328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≠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/2</m:t>
                                        </m:r>
                                      </m:sub>
                                    </m:s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/2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d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𝑜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𝑜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426038377"/>
                      </a:ext>
                    </a:extLst>
                  </a:tr>
                  <a:tr h="263007"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s-ES" sz="16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No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≥30</m:t>
                                </m:r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6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ES" sz="16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s-ES" sz="16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r>
                                      <a:rPr lang="es-ES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6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r>
                                      <a:rPr lang="es-ES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lang="es-ES" sz="16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𝐷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rad>
                                      <m:radPr>
                                        <m:degHide m:val="on"/>
                                        <m:ctrlP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f>
                                          <m:fPr>
                                            <m:ctrlPr>
                                              <a:rPr lang="es-ES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s-ES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s-ES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𝑛</m:t>
                                            </m:r>
                                          </m:den>
                                        </m:f>
                                        <m:r>
                                          <a:rPr lang="es-ES" sz="16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+</m:t>
                                        </m:r>
                                        <m:f>
                                          <m:fPr>
                                            <m:ctrlPr>
                                              <a:rPr lang="es-ES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s-ES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s-ES" sz="16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𝑚</m:t>
                                            </m:r>
                                          </m:den>
                                        </m:f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6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&lt;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</m:sub>
                                    </m:s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,+∞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≤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756777199"/>
                      </a:ext>
                    </a:extLst>
                  </a:tr>
                  <a:tr h="263007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6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&gt;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−∞,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418263"/>
                      </a:ext>
                    </a:extLst>
                  </a:tr>
                  <a:tr h="302328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6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≠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/2</m:t>
                                        </m:r>
                                      </m:sub>
                                    </m:sSub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6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/2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d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𝑜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  <m:r>
                                  <a:rPr lang="es-E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  <m:r>
                                      <a:rPr lang="es-ES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𝑜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5988304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Marcador de contenido 6">
                <a:extLst>
                  <a:ext uri="{FF2B5EF4-FFF2-40B4-BE49-F238E27FC236}">
                    <a16:creationId xmlns:a16="http://schemas.microsoft.com/office/drawing/2014/main" id="{088FEF46-4181-FB8D-6590-BD58CA6E0D9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93346850"/>
                  </p:ext>
                </p:extLst>
              </p:nvPr>
            </p:nvGraphicFramePr>
            <p:xfrm>
              <a:off x="771525" y="1936620"/>
              <a:ext cx="10582275" cy="442246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250913">
                      <a:extLst>
                        <a:ext uri="{9D8B030D-6E8A-4147-A177-3AD203B41FA5}">
                          <a16:colId xmlns:a16="http://schemas.microsoft.com/office/drawing/2014/main" val="1809366894"/>
                        </a:ext>
                      </a:extLst>
                    </a:gridCol>
                    <a:gridCol w="1567906">
                      <a:extLst>
                        <a:ext uri="{9D8B030D-6E8A-4147-A177-3AD203B41FA5}">
                          <a16:colId xmlns:a16="http://schemas.microsoft.com/office/drawing/2014/main" val="904349382"/>
                        </a:ext>
                      </a:extLst>
                    </a:gridCol>
                    <a:gridCol w="3427534">
                      <a:extLst>
                        <a:ext uri="{9D8B030D-6E8A-4147-A177-3AD203B41FA5}">
                          <a16:colId xmlns:a16="http://schemas.microsoft.com/office/drawing/2014/main" val="1785039866"/>
                        </a:ext>
                      </a:extLst>
                    </a:gridCol>
                    <a:gridCol w="1567322">
                      <a:extLst>
                        <a:ext uri="{9D8B030D-6E8A-4147-A177-3AD203B41FA5}">
                          <a16:colId xmlns:a16="http://schemas.microsoft.com/office/drawing/2014/main" val="1876274988"/>
                        </a:ext>
                      </a:extLst>
                    </a:gridCol>
                    <a:gridCol w="2768600">
                      <a:extLst>
                        <a:ext uri="{9D8B030D-6E8A-4147-A177-3AD203B41FA5}">
                          <a16:colId xmlns:a16="http://schemas.microsoft.com/office/drawing/2014/main" val="3453060203"/>
                        </a:ext>
                      </a:extLst>
                    </a:gridCol>
                  </a:tblGrid>
                  <a:tr h="77114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Varianza conocida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Estadístico de contraste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Contraste de hipótesis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Región de aceptación</a:t>
                          </a:r>
                          <a:br>
                            <a:rPr lang="es-ES" sz="1600" dirty="0">
                              <a:effectLst/>
                            </a:rPr>
                          </a:br>
                          <a:r>
                            <a:rPr lang="es-ES" sz="1600" dirty="0">
                              <a:effectLst/>
                            </a:rPr>
                            <a:t>de H</a:t>
                          </a:r>
                          <a:r>
                            <a:rPr lang="es-ES" sz="1600" baseline="-25000" dirty="0">
                              <a:effectLst/>
                            </a:rPr>
                            <a:t>0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p-valor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9793173"/>
                      </a:ext>
                    </a:extLst>
                  </a:tr>
                  <a:tr h="362522"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Si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 rowSpan="3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56025" marR="56025" marT="0" marB="0" anchor="ctr">
                        <a:blipFill>
                          <a:blip r:embed="rId2"/>
                          <a:stretch>
                            <a:fillRect l="-79845" t="-68000" r="-494574" b="-20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82562" t="-230508" r="-127046" b="-9203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97674" t="-230508" r="-176744" b="-9203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82819" t="-230508" r="-441" b="-9203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4731830"/>
                      </a:ext>
                    </a:extLst>
                  </a:tr>
                  <a:tr h="362522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82562" t="-325000" r="-127046" b="-8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97674" t="-325000" r="-176744" b="-8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82819" t="-325000" r="-441" b="-8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73627"/>
                      </a:ext>
                    </a:extLst>
                  </a:tr>
                  <a:tr h="492062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82562" t="-314815" r="-127046" b="-4962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97674" t="-314815" r="-176744" b="-4962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82819" t="-314815" r="-441" b="-4962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23915"/>
                      </a:ext>
                    </a:extLst>
                  </a:tr>
                  <a:tr h="362522">
                    <a:tc rowSpan="3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88" t="-168000" r="-748293" b="-101000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79845" t="-168000" r="-494574" b="-10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82562" t="-569492" r="-127046" b="-5813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97674" t="-569492" r="-176744" b="-5813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82819" t="-569492" r="-441" b="-5813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4852992"/>
                      </a:ext>
                    </a:extLst>
                  </a:tr>
                  <a:tr h="362522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82562" t="-658333" r="-127046" b="-47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97674" t="-658333" r="-176744" b="-47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82819" t="-658333" r="-441" b="-47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031545"/>
                      </a:ext>
                    </a:extLst>
                  </a:tr>
                  <a:tr h="492062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82562" t="-561728" r="-127046" b="-2493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97674" t="-561728" r="-176744" b="-2493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82819" t="-561728" r="-441" b="-2493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6038377"/>
                      </a:ext>
                    </a:extLst>
                  </a:tr>
                  <a:tr h="362522">
                    <a:tc rowSpan="3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56025" marR="56025" marT="0" marB="0" anchor="ctr">
                        <a:blipFill>
                          <a:blip r:embed="rId2"/>
                          <a:stretch>
                            <a:fillRect l="-488" t="-268000" r="-748293" b="-1000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56025" marR="56025" marT="0" marB="0" anchor="ctr">
                        <a:blipFill>
                          <a:blip r:embed="rId2"/>
                          <a:stretch>
                            <a:fillRect l="-79845" t="-268000" r="-494574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82562" t="-893333" r="-127046" b="-2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97674" t="-893333" r="-176744" b="-2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82819" t="-893333" r="-441" b="-23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6777199"/>
                      </a:ext>
                    </a:extLst>
                  </a:tr>
                  <a:tr h="362522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82562" t="-1010169" r="-127046" b="-1406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97674" t="-1010169" r="-176744" b="-1406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82819" t="-1010169" r="-441" b="-1406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18263"/>
                      </a:ext>
                    </a:extLst>
                  </a:tr>
                  <a:tr h="492062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82562" t="-808642" r="-127046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97674" t="-808642" r="-176744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82819" t="-808642" r="-441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883042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634369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7CE99-314E-E488-6849-91EB1AE31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6. Contraste de hipótesis para la diferencia de medias de dos poblaciones independientes (2)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1FCE57-DC4F-5256-4E73-1E8DB5867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36</a:t>
            </a:fld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Marcador de contenido 6">
                <a:extLst>
                  <a:ext uri="{FF2B5EF4-FFF2-40B4-BE49-F238E27FC236}">
                    <a16:creationId xmlns:a16="http://schemas.microsoft.com/office/drawing/2014/main" id="{088FEF46-4181-FB8D-6590-BD58CA6E0D9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0065781"/>
                  </p:ext>
                </p:extLst>
              </p:nvPr>
            </p:nvGraphicFramePr>
            <p:xfrm>
              <a:off x="838201" y="1865500"/>
              <a:ext cx="10515599" cy="283857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926053">
                      <a:extLst>
                        <a:ext uri="{9D8B030D-6E8A-4147-A177-3AD203B41FA5}">
                          <a16:colId xmlns:a16="http://schemas.microsoft.com/office/drawing/2014/main" val="1809366894"/>
                        </a:ext>
                      </a:extLst>
                    </a:gridCol>
                    <a:gridCol w="1307683">
                      <a:extLst>
                        <a:ext uri="{9D8B030D-6E8A-4147-A177-3AD203B41FA5}">
                          <a16:colId xmlns:a16="http://schemas.microsoft.com/office/drawing/2014/main" val="904349382"/>
                        </a:ext>
                      </a:extLst>
                    </a:gridCol>
                    <a:gridCol w="3328863">
                      <a:extLst>
                        <a:ext uri="{9D8B030D-6E8A-4147-A177-3AD203B41FA5}">
                          <a16:colId xmlns:a16="http://schemas.microsoft.com/office/drawing/2014/main" val="1785039866"/>
                        </a:ext>
                      </a:extLst>
                    </a:gridCol>
                    <a:gridCol w="2519680">
                      <a:extLst>
                        <a:ext uri="{9D8B030D-6E8A-4147-A177-3AD203B41FA5}">
                          <a16:colId xmlns:a16="http://schemas.microsoft.com/office/drawing/2014/main" val="1876274988"/>
                        </a:ext>
                      </a:extLst>
                    </a:gridCol>
                    <a:gridCol w="2433320">
                      <a:extLst>
                        <a:ext uri="{9D8B030D-6E8A-4147-A177-3AD203B41FA5}">
                          <a16:colId xmlns:a16="http://schemas.microsoft.com/office/drawing/2014/main" val="3453060203"/>
                        </a:ext>
                      </a:extLst>
                    </a:gridCol>
                  </a:tblGrid>
                  <a:tr h="14006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Varianza conocida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Estadístico de contraste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Contraste de hipótesis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Región de aceptación de H</a:t>
                          </a:r>
                          <a:r>
                            <a:rPr lang="es-ES" sz="1600" baseline="-25000" dirty="0">
                              <a:effectLst/>
                            </a:rPr>
                            <a:t>0</a:t>
                          </a:r>
                          <a:endParaRPr lang="es-ES" sz="1600" baseline="-25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p-valor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9793173"/>
                      </a:ext>
                    </a:extLst>
                  </a:tr>
                  <a:tr h="263007"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s-ES" sz="14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No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s-ES" sz="14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&lt;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4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≠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s-ES" sz="14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s-ES" sz="14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es-ES" sz="1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4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r>
                                      <a:rPr lang="es-ES" sz="1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s-ES" sz="1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4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r>
                                      <a:rPr lang="es-ES" sz="1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lang="es-ES" sz="1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𝐷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s-ES" sz="1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f>
                                          <m:fPr>
                                            <m:ctrlPr>
                                              <a:rPr lang="es-ES" sz="1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fPr>
                                          <m:num>
                                            <m:sSubSup>
                                              <m:sSubSupPr>
                                                <m:ctrlPr>
                                                  <a:rPr lang="es-ES" sz="14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s-ES" sz="14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14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𝑋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s-ES" sz="14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bSup>
                                          </m:num>
                                          <m:den>
                                            <m:r>
                                              <a:rPr lang="es-ES" sz="1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𝑛</m:t>
                                            </m:r>
                                          </m:den>
                                        </m:f>
                                        <m:r>
                                          <a:rPr lang="es-ES" sz="1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+</m:t>
                                        </m:r>
                                        <m:f>
                                          <m:fPr>
                                            <m:ctrlPr>
                                              <a:rPr lang="es-ES" sz="1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fPr>
                                          <m:num>
                                            <m:sSubSup>
                                              <m:sSubSupPr>
                                                <m:ctrlPr>
                                                  <a:rPr lang="es-ES" sz="14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s-ES" sz="14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14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𝑌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s-ES" sz="14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bSup>
                                          </m:num>
                                          <m:den>
                                            <m:r>
                                              <a:rPr lang="es-ES" sz="1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𝑚</m:t>
                                            </m:r>
                                          </m:den>
                                        </m:f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4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4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&gt;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,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ν</m:t>
                                        </m:r>
                                      </m:sub>
                                    </m:s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,+∞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≤</m:t>
                                    </m:r>
                                    <m:sSub>
                                      <m:sSubPr>
                                        <m:ctrlP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03413015"/>
                      </a:ext>
                    </a:extLst>
                  </a:tr>
                  <a:tr h="263007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4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4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&lt;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−∞,</m:t>
                                    </m:r>
                                    <m:sSub>
                                      <m:sSubPr>
                                        <m:ctrlP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,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ν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sSub>
                                      <m:sSubPr>
                                        <m:ctrlP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32774513"/>
                      </a:ext>
                    </a:extLst>
                  </a:tr>
                  <a:tr h="263007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4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4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≠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s-ES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/2,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ν</m:t>
                                        </m:r>
                                      </m:sub>
                                    </m:s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/2,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ν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  <m:sub>
                                            <m:r>
                                              <a:rPr lang="es-E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𝑜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  <m:sub>
                                            <m:r>
                                              <a:rPr lang="es-E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𝑜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297390571"/>
                      </a:ext>
                    </a:extLst>
                  </a:tr>
                  <a:tr h="263007"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s-ES" sz="14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No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s-ES" sz="14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&lt;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4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s-ES" sz="14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s-ES" sz="14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es-ES" sz="1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4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r>
                                      <a:rPr lang="es-ES" sz="1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s-ES" sz="1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1400" b="0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r>
                                      <a:rPr lang="es-ES" sz="1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lang="es-ES" sz="1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𝐷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s-ES" sz="1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s-ES" sz="1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rad>
                                      <m:radPr>
                                        <m:degHide m:val="on"/>
                                        <m:ctrlPr>
                                          <a:rPr lang="es-ES" sz="1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f>
                                          <m:fPr>
                                            <m:ctrlPr>
                                              <a:rPr lang="es-ES" sz="1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s-ES" sz="1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s-ES" sz="1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𝑛</m:t>
                                            </m:r>
                                          </m:den>
                                        </m:f>
                                        <m:r>
                                          <a:rPr lang="es-ES" sz="1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+</m:t>
                                        </m:r>
                                        <m:f>
                                          <m:fPr>
                                            <m:ctrlPr>
                                              <a:rPr lang="es-ES" sz="1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s-ES" sz="1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s-ES" sz="1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𝑚</m:t>
                                            </m:r>
                                          </m:den>
                                        </m:f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4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4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&gt;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,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n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m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,+∞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≤</m:t>
                                    </m:r>
                                    <m:sSub>
                                      <m:sSubPr>
                                        <m:ctrlP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756777199"/>
                      </a:ext>
                    </a:extLst>
                  </a:tr>
                  <a:tr h="263007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4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4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&lt;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−∞,</m:t>
                                    </m:r>
                                    <m:sSub>
                                      <m:sSubPr>
                                        <m:ctrlP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,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n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m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sSub>
                                      <m:sSubPr>
                                        <m:ctrlP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418263"/>
                      </a:ext>
                    </a:extLst>
                  </a:tr>
                  <a:tr h="302328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4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4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≠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2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2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2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ES" sz="12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2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2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/2,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2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n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2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2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m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2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2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s-ES" sz="12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ES" sz="12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2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2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2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/2,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2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n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2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2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m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2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2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  <m:sub>
                                            <m:r>
                                              <a:rPr lang="es-E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𝑜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  <m:sub>
                                            <m:r>
                                              <a:rPr lang="es-E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𝑜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5988304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Marcador de contenido 6">
                <a:extLst>
                  <a:ext uri="{FF2B5EF4-FFF2-40B4-BE49-F238E27FC236}">
                    <a16:creationId xmlns:a16="http://schemas.microsoft.com/office/drawing/2014/main" id="{088FEF46-4181-FB8D-6590-BD58CA6E0D9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0065781"/>
                  </p:ext>
                </p:extLst>
              </p:nvPr>
            </p:nvGraphicFramePr>
            <p:xfrm>
              <a:off x="838201" y="1865500"/>
              <a:ext cx="10515599" cy="283857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926053">
                      <a:extLst>
                        <a:ext uri="{9D8B030D-6E8A-4147-A177-3AD203B41FA5}">
                          <a16:colId xmlns:a16="http://schemas.microsoft.com/office/drawing/2014/main" val="1809366894"/>
                        </a:ext>
                      </a:extLst>
                    </a:gridCol>
                    <a:gridCol w="1307683">
                      <a:extLst>
                        <a:ext uri="{9D8B030D-6E8A-4147-A177-3AD203B41FA5}">
                          <a16:colId xmlns:a16="http://schemas.microsoft.com/office/drawing/2014/main" val="904349382"/>
                        </a:ext>
                      </a:extLst>
                    </a:gridCol>
                    <a:gridCol w="3328863">
                      <a:extLst>
                        <a:ext uri="{9D8B030D-6E8A-4147-A177-3AD203B41FA5}">
                          <a16:colId xmlns:a16="http://schemas.microsoft.com/office/drawing/2014/main" val="1785039866"/>
                        </a:ext>
                      </a:extLst>
                    </a:gridCol>
                    <a:gridCol w="2519680">
                      <a:extLst>
                        <a:ext uri="{9D8B030D-6E8A-4147-A177-3AD203B41FA5}">
                          <a16:colId xmlns:a16="http://schemas.microsoft.com/office/drawing/2014/main" val="1876274988"/>
                        </a:ext>
                      </a:extLst>
                    </a:gridCol>
                    <a:gridCol w="2433320">
                      <a:extLst>
                        <a:ext uri="{9D8B030D-6E8A-4147-A177-3AD203B41FA5}">
                          <a16:colId xmlns:a16="http://schemas.microsoft.com/office/drawing/2014/main" val="3453060203"/>
                        </a:ext>
                      </a:extLst>
                    </a:gridCol>
                  </a:tblGrid>
                  <a:tr h="51022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Varianza conocida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Estadístico de contraste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Contraste de hipótesis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Región de aceptación de H</a:t>
                          </a:r>
                          <a:r>
                            <a:rPr lang="es-ES" sz="1600" baseline="-25000" dirty="0">
                              <a:effectLst/>
                            </a:rPr>
                            <a:t>0</a:t>
                          </a:r>
                          <a:endParaRPr lang="es-ES" sz="1600" baseline="-25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p-valor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9793173"/>
                      </a:ext>
                    </a:extLst>
                  </a:tr>
                  <a:tr h="363220">
                    <a:tc rowSpan="3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56025" marR="56025" marT="0" marB="0" anchor="ctr">
                        <a:blipFill>
                          <a:blip r:embed="rId2"/>
                          <a:stretch>
                            <a:fillRect l="-658" t="-48438" r="-1036842" b="-100000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56025" marR="56025" marT="0" marB="0" anchor="ctr">
                        <a:blipFill>
                          <a:blip r:embed="rId2"/>
                          <a:stretch>
                            <a:fillRect l="-71163" t="-48438" r="-63302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7399" t="-157627" r="-149267" b="-550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20773" t="-157627" r="-96860" b="-550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32832" t="-157627" r="-501" b="-5508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413015"/>
                      </a:ext>
                    </a:extLst>
                  </a:tr>
                  <a:tr h="363220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7399" t="-253333" r="-149267" b="-44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20773" t="-253333" r="-96860" b="-44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32832" t="-253333" r="-501" b="-44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2774513"/>
                      </a:ext>
                    </a:extLst>
                  </a:tr>
                  <a:tr h="443230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7399" t="-290411" r="-149267" b="-263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20773" t="-290411" r="-96860" b="-263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32832" t="-290411" r="-501" b="-2630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7390571"/>
                      </a:ext>
                    </a:extLst>
                  </a:tr>
                  <a:tr h="382080">
                    <a:tc rowSpan="3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56025" marR="56025" marT="0" marB="0" anchor="ctr">
                        <a:blipFill>
                          <a:blip r:embed="rId2"/>
                          <a:stretch>
                            <a:fillRect l="-658" t="-150000" r="-1036842" b="-1053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56025" marR="56025" marT="0" marB="0" anchor="ctr">
                        <a:blipFill>
                          <a:blip r:embed="rId2"/>
                          <a:stretch>
                            <a:fillRect l="-71163" t="-150000" r="-633023" b="-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7399" t="-452381" r="-149267" b="-2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20773" t="-452381" r="-96860" b="-2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32832" t="-452381" r="-501" b="-20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6777199"/>
                      </a:ext>
                    </a:extLst>
                  </a:tr>
                  <a:tr h="382080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7399" t="-561290" r="-149267" b="-10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20773" t="-561290" r="-96860" b="-10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32832" t="-561290" r="-501" b="-1080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18263"/>
                      </a:ext>
                    </a:extLst>
                  </a:tr>
                  <a:tr h="394526"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7399" t="-630769" r="-149267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20773" t="-630769" r="-96860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32832" t="-630769" r="-501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883042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E9F5A4B-D15A-591C-CFDA-21F083D5B4DD}"/>
                  </a:ext>
                </a:extLst>
              </p:cNvPr>
              <p:cNvSpPr txBox="1"/>
              <p:nvPr/>
            </p:nvSpPr>
            <p:spPr>
              <a:xfrm>
                <a:off x="838200" y="5004905"/>
                <a:ext cx="3160058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s-E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s-E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sSubSup>
                                <m:sSubSupPr>
                                  <m:ctrlPr>
                                    <a:rPr lang="es-E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  <m:sup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s-E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sSubSup>
                                <m:sSubSupPr>
                                  <m:ctrlPr>
                                    <a:rPr lang="es-E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  <m:sup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E9F5A4B-D15A-591C-CFDA-21F083D5B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004905"/>
                <a:ext cx="3160058" cy="910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A046A18-3FC6-372C-AF56-C3B0ADB0BE6D}"/>
                  </a:ext>
                </a:extLst>
              </p:cNvPr>
              <p:cNvSpPr txBox="1"/>
              <p:nvPr/>
            </p:nvSpPr>
            <p:spPr>
              <a:xfrm>
                <a:off x="2681344" y="4729669"/>
                <a:ext cx="6094206" cy="13557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E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s-E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sub>
                                        <m:sup>
                                          <m:r>
                                            <a:rPr lang="es-ES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s-E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s-E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sub>
                                        <m:sup>
                                          <m:r>
                                            <a:rPr lang="es-ES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f>
                            <m:fPr>
                              <m:ctrlPr>
                                <a:rPr lang="es-E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s-E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  <m:sup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bSup>
                            </m:num>
                            <m:den>
                              <m:sSup>
                                <m:sSupPr>
                                  <m:ctrlPr>
                                    <a:rPr lang="es-E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den>
                          </m:f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s-E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s-E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  <m:sup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bSup>
                            </m:num>
                            <m:den>
                              <m:sSup>
                                <m:sSupPr>
                                  <m:ctrlPr>
                                    <a:rPr lang="es-E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den>
                          </m:f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A046A18-3FC6-372C-AF56-C3B0ADB0B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344" y="4729669"/>
                <a:ext cx="6094206" cy="13557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985E9403-E814-1A87-D2E7-98F51644E2B6}"/>
                  </a:ext>
                </a:extLst>
              </p:cNvPr>
              <p:cNvSpPr txBox="1"/>
              <p:nvPr/>
            </p:nvSpPr>
            <p:spPr>
              <a:xfrm>
                <a:off x="6177580" y="4811615"/>
                <a:ext cx="6094206" cy="6486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s-E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E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985E9403-E814-1A87-D2E7-98F51644E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7580" y="4811615"/>
                <a:ext cx="6094206" cy="6486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3E199E9A-09EF-8524-4847-C4DD7DD1C094}"/>
                  </a:ext>
                </a:extLst>
              </p:cNvPr>
              <p:cNvSpPr txBox="1"/>
              <p:nvPr/>
            </p:nvSpPr>
            <p:spPr>
              <a:xfrm>
                <a:off x="6156065" y="5436786"/>
                <a:ext cx="6137236" cy="6486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  <m:sup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s-E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E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3E199E9A-09EF-8524-4847-C4DD7DD1C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065" y="5436786"/>
                <a:ext cx="6137236" cy="6486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1787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B3B5E-D643-3E1B-3E9F-B533FC054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6. Contraste de hipótesis para la diferencia de medias de dos poblaciones. Ejemplo 9.29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79C3BD-0AF9-5F98-48BA-17CA272E2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Continuación del ejemplo 9.20</a:t>
            </a:r>
          </a:p>
          <a:p>
            <a:r>
              <a:rPr lang="es-ES" dirty="0"/>
              <a:t>Para estimar el efecto de la escritura en CD, se pide a 30 usuarios que trabajen en sus ordenadores portátiles hasta que aparezca el signo de “baja batería”.</a:t>
            </a:r>
          </a:p>
          <a:p>
            <a:r>
              <a:rPr lang="es-ES" dirty="0"/>
              <a:t>Dieciocho usuarios sin CD trabajaron un promedio de 5,3 horas con una desviación estándar de 1,4 horas. </a:t>
            </a:r>
          </a:p>
          <a:p>
            <a:r>
              <a:rPr lang="es-ES" dirty="0"/>
              <a:t>Los otros doce, que utilizaron su grabador de CD, trabajaron un promedio de 4,8 horas con una desviación estándar de 1,6 horas. </a:t>
            </a:r>
          </a:p>
          <a:p>
            <a:r>
              <a:rPr lang="es-ES" dirty="0"/>
              <a:t>Suponer distribuciones Normales con las mismas varianzas poblacionales</a:t>
            </a:r>
          </a:p>
          <a:p>
            <a:r>
              <a:rPr lang="es-ES" dirty="0"/>
              <a:t>¿La grabación de CD (Compact Disc) consume energía extra y, por tanto, afecta a la vida útil de la batería en los ordenadores portátiles?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F601A5-5F8D-B1EC-4C41-BCE6E7DC2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147369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B3B5E-D643-3E1B-3E9F-B533FC054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/>
              <a:t>6. Contraste de hipótesis para la diferencia de medias de dos poblaciones. Ejemplo 9.29 (Solución)(1)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079C3BD-0AF9-5F98-48BA-17CA272E22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s-ES" dirty="0"/>
                  <a:t>X = tiempo de uso por usuarios con CD</a:t>
                </a:r>
              </a:p>
              <a:p>
                <a:r>
                  <a:rPr lang="es-ES" dirty="0"/>
                  <a:t>Y = tiempo de uso por usuarios sin CD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i="1"/>
                      <m:t>vs</m:t>
                    </m:r>
                    <m:r>
                      <m:rPr>
                        <m:nor/>
                      </m:rPr>
                      <a:rPr lang="es-ES" i="1"/>
                      <m:t> 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Es decir: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es-ES" i="1"/>
                      <m:t>vs</m:t>
                    </m:r>
                    <m:r>
                      <m:rPr>
                        <m:nor/>
                      </m:rPr>
                      <a:rPr lang="es-ES" i="1"/>
                      <m:t>  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s-ES" dirty="0"/>
                  <a:t>  siendo D=0 </a:t>
                </a:r>
              </a:p>
              <a:p>
                <a:pPr lvl="1"/>
                <a:r>
                  <a:rPr lang="es-ES" dirty="0"/>
                  <a:t>Se plantea como un contraste unilateral con cola izquierda (</a:t>
                </a:r>
                <a:r>
                  <a:rPr lang="es-ES" dirty="0" err="1"/>
                  <a:t>one-sided</a:t>
                </a:r>
                <a:r>
                  <a:rPr lang="es-ES" dirty="0"/>
                  <a:t>, </a:t>
                </a:r>
                <a:r>
                  <a:rPr lang="es-ES" dirty="0" err="1"/>
                  <a:t>left-tail</a:t>
                </a:r>
                <a:r>
                  <a:rPr lang="es-ES" dirty="0"/>
                  <a:t>).</a:t>
                </a:r>
              </a:p>
              <a:p>
                <a:r>
                  <a:rPr lang="es-ES" dirty="0"/>
                  <a:t>Datos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lang="es-ES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s-ES" i="1">
                        <a:latin typeface="Cambria Math" panose="02040503050406030204" pitchFamily="18" charset="0"/>
                      </a:rPr>
                      <m:t>=4.8 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horas</m:t>
                    </m:r>
                  </m:oMath>
                </a14:m>
                <a:r>
                  <a:rPr lang="es-E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=1.6 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horas</m:t>
                    </m:r>
                  </m:oMath>
                </a14:m>
                <a:r>
                  <a:rPr lang="es-ES" dirty="0"/>
                  <a:t>,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=18</m:t>
                    </m:r>
                  </m:oMath>
                </a14:m>
                <a:r>
                  <a:rPr lang="es-ES" dirty="0"/>
                  <a:t>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s-ES" i="1">
                        <a:latin typeface="Cambria Math" panose="02040503050406030204" pitchFamily="18" charset="0"/>
                      </a:rPr>
                      <m:t>=5.3 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horas</m:t>
                    </m:r>
                  </m:oMath>
                </a14:m>
                <a:r>
                  <a:rPr lang="es-E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=1.4 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horas</m:t>
                    </m:r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=0.95→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=0.05→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=0.025</m:t>
                    </m:r>
                  </m:oMath>
                </a14:m>
                <a:endParaRPr lang="es-ES" dirty="0"/>
              </a:p>
              <a:p>
                <a:r>
                  <a:rPr lang="es-ES" dirty="0"/>
                  <a:t>Es un caso de muestras pequeñas (&lt;30) con varianzas desconocidas pero iguales, por lo que se utiliza t como estadístico de contraste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s-ES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s-E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4.8−5.3−0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1.48</m:t>
                        </m:r>
                        <m:rad>
                          <m:radPr>
                            <m:degHide m:val="on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den>
                            </m:f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=−0.9054</m:t>
                    </m:r>
                  </m:oMath>
                </a14:m>
                <a:endParaRPr lang="es-ES" dirty="0"/>
              </a:p>
              <a:p>
                <a:pPr lvl="1"/>
                <a:endParaRPr lang="es-ES" dirty="0"/>
              </a:p>
              <a:p>
                <a:pPr lvl="1"/>
                <a:r>
                  <a:rPr lang="es-ES" dirty="0"/>
                  <a:t>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sSubSup>
                              <m:sSubSup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  <m:sup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sSubSup>
                              <m:sSubSup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sub>
                              <m:sup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den>
                        </m:f>
                      </m:e>
                    </m:rad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(1.6)</m:t>
                                </m:r>
                              </m:e>
                              <m:sup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(1.4)</m:t>
                                </m:r>
                              </m:e>
                              <m:sup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12+18−2</m:t>
                            </m:r>
                          </m:den>
                        </m:f>
                      </m:e>
                    </m:rad>
                    <m:r>
                      <a:rPr lang="es-ES" i="1">
                        <a:latin typeface="Cambria Math" panose="02040503050406030204" pitchFamily="18" charset="0"/>
                      </a:rPr>
                      <m:t>=1.48</m:t>
                    </m:r>
                  </m:oMath>
                </a14:m>
                <a:endParaRPr lang="es-ES" dirty="0"/>
              </a:p>
              <a:p>
                <a:pPr lvl="1"/>
                <a:endParaRPr lang="es-ES" dirty="0"/>
              </a:p>
              <a:p>
                <a:endParaRPr lang="es-ES" dirty="0"/>
              </a:p>
              <a:p>
                <a:pPr lvl="1"/>
                <a:endParaRPr lang="es-ES" dirty="0"/>
              </a:p>
              <a:p>
                <a:pPr lvl="1"/>
                <a:endParaRPr lang="es-ES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079C3BD-0AF9-5F98-48BA-17CA272E22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812" t="-2785" r="-17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F601A5-5F8D-B1EC-4C41-BCE6E7DC2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761736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B3B5E-D643-3E1B-3E9F-B533FC054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/>
              <a:t>6. Contraste de hipótesis para la diferencia de medias de dos poblaciones. Ejemplo 9.29 (Solución)(2)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079C3BD-0AF9-5F98-48BA-17CA272E22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s-ES" dirty="0"/>
                  <a:t>Método de la región de aceptación: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s-ES"/>
                              <m:t>α</m:t>
                            </m:r>
                            <m:r>
                              <m:rPr>
                                <m:nor/>
                              </m:rPr>
                              <a:rPr lang="es-ES"/>
                              <m:t>, </m:t>
                            </m:r>
                            <m:r>
                              <m:rPr>
                                <m:nor/>
                              </m:rPr>
                              <a:rPr lang="es-ES"/>
                              <m:t>n</m:t>
                            </m:r>
                            <m:r>
                              <m:rPr>
                                <m:nor/>
                              </m:rPr>
                              <a:rPr lang="es-ES"/>
                              <m:t>+</m:t>
                            </m:r>
                            <m:r>
                              <m:rPr>
                                <m:nor/>
                              </m:rPr>
                              <a:rPr lang="es-ES"/>
                              <m:t>m</m:t>
                            </m:r>
                            <m:r>
                              <m:rPr>
                                <m:nor/>
                              </m:rPr>
                              <a:rPr lang="es-ES" i="1"/>
                              <m:t>−</m:t>
                            </m:r>
                            <m:r>
                              <m:rPr>
                                <m:nor/>
                              </m:rPr>
                              <a:rPr lang="es-ES"/>
                              <m:t>2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</a:rPr>
                          <m:t>,+∞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s-ES" b="0" i="0" smtClean="0"/>
                              <m:t>0.05</m:t>
                            </m:r>
                            <m:r>
                              <m:rPr>
                                <m:nor/>
                              </m:rPr>
                              <a:rPr lang="es-ES"/>
                              <m:t>, </m:t>
                            </m:r>
                            <m:r>
                              <m:rPr>
                                <m:nor/>
                              </m:rPr>
                              <a:rPr lang="es-ES" b="0" i="0" smtClean="0"/>
                              <m:t>28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</a:rPr>
                          <m:t>,+∞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1.701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,+∞</m:t>
                        </m:r>
                      </m:e>
                    </m:d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Según la tabla A5: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0.0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  <m: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28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1.701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>
                    <a:sym typeface="Wingdings" panose="05000000000000000000" pitchFamily="2" charset="2"/>
                  </a:rPr>
                  <a:t>Como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𝑜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=−0.9054</m:t>
                    </m:r>
                  </m:oMath>
                </a14:m>
                <a:r>
                  <a:rPr lang="es-ES" dirty="0">
                    <a:sym typeface="Wingdings" panose="05000000000000000000" pitchFamily="2" charset="2"/>
                  </a:rPr>
                  <a:t> está dentro, se acepta la hipótesis nula (H</a:t>
                </a:r>
                <a:r>
                  <a:rPr lang="es-ES" baseline="-25000" dirty="0">
                    <a:sym typeface="Wingdings" panose="05000000000000000000" pitchFamily="2" charset="2"/>
                  </a:rPr>
                  <a:t>0</a:t>
                </a:r>
                <a:r>
                  <a:rPr lang="es-ES" dirty="0">
                    <a:sym typeface="Wingdings" panose="05000000000000000000" pitchFamily="2" charset="2"/>
                  </a:rPr>
                  <a:t>) y, en consecuencia, se rechaza la hipótesis alternativa H</a:t>
                </a:r>
                <a:r>
                  <a:rPr lang="es-ES" baseline="-25000" dirty="0">
                    <a:sym typeface="Wingdings" panose="05000000000000000000" pitchFamily="2" charset="2"/>
                  </a:rPr>
                  <a:t>A</a:t>
                </a:r>
              </a:p>
              <a:p>
                <a:r>
                  <a:rPr lang="es-E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Método del p-valor: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s-E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s-E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valor</m:t>
                    </m:r>
                    <m:r>
                      <a:rPr lang="es-E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s-E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s-E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s-E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s-E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e>
                    </m:d>
                    <m:r>
                      <a:rPr lang="es-E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s-ES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s-E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−0.9054</m:t>
                        </m:r>
                      </m:e>
                    </m:d>
                    <m:r>
                      <a:rPr lang="es-E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0.1865</m:t>
                    </m:r>
                  </m:oMath>
                </a14:m>
                <a:endParaRPr lang="es-ES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pPr lvl="1"/>
                <a:r>
                  <a:rPr lang="es-E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Calculado con software estadístico porque no está en la tabla A5</a:t>
                </a:r>
              </a:p>
              <a:p>
                <a:pPr lvl="1"/>
                <a:r>
                  <a:rPr lang="es-E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Como p-valor es mayor que </a:t>
                </a:r>
                <a:r>
                  <a:rPr lang="el-GR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α</a:t>
                </a:r>
                <a:r>
                  <a:rPr lang="es-E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=0.05, se acepta la hipótesis nula (H</a:t>
                </a:r>
                <a:r>
                  <a:rPr lang="es-ES" baseline="-250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0</a:t>
                </a:r>
                <a:r>
                  <a:rPr lang="es-E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) y, en consecuencia, se rechaza la hipótesis alternativa H</a:t>
                </a:r>
                <a:r>
                  <a:rPr lang="es-ES" baseline="-250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A</a:t>
                </a:r>
                <a:endParaRPr lang="es-ES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r>
                  <a:rPr lang="es-ES" dirty="0"/>
                  <a:t>Respuesta = NO</a:t>
                </a:r>
              </a:p>
              <a:p>
                <a:pPr lvl="1"/>
                <a:r>
                  <a:rPr lang="es-ES" dirty="0"/>
                  <a:t>Los datos no proporcionan evidencias suficientes a favor de la hipótesis alternativa de que la grabación de CD (Compact Disc) consuma energía extra y afecte a la vida útil de la batería en los ordenadores portátiles.</a:t>
                </a:r>
              </a:p>
              <a:p>
                <a:endParaRPr lang="es-ES" dirty="0"/>
              </a:p>
              <a:p>
                <a:pPr lvl="1"/>
                <a:endParaRPr lang="es-ES" dirty="0"/>
              </a:p>
              <a:p>
                <a:pPr lvl="1"/>
                <a:endParaRPr lang="es-ES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079C3BD-0AF9-5F98-48BA-17CA272E22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928" t="-2421" r="-58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F601A5-5F8D-B1EC-4C41-BCE6E7DC2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551488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7FA8390E-C6F9-9611-535D-590893D96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637" y="1619567"/>
            <a:ext cx="9610725" cy="500062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CB1AB08-D8C9-772E-27AC-5BB17C6FC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/>
              <a:t>6. Contraste de hipótesis para la diferencia de medias de dos poblaciones. Ejemplo 9.29 (Gráficos)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94E98C-E753-4E82-37D1-53D472A98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40</a:t>
            </a:fld>
            <a:endParaRPr lang="es-ES" dirty="0"/>
          </a:p>
        </p:txBody>
      </p:sp>
      <p:sp>
        <p:nvSpPr>
          <p:cNvPr id="8" name="CuadroTexto 7"/>
          <p:cNvSpPr txBox="1"/>
          <p:nvPr/>
        </p:nvSpPr>
        <p:spPr>
          <a:xfrm>
            <a:off x="3908570" y="2960895"/>
            <a:ext cx="1601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p-valor=0,1865</a:t>
            </a:r>
          </a:p>
        </p:txBody>
      </p:sp>
      <p:cxnSp>
        <p:nvCxnSpPr>
          <p:cNvPr id="9" name="Conector recto de flecha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95850" y="3296373"/>
            <a:ext cx="452437" cy="12882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3471504" y="3950732"/>
            <a:ext cx="1424346" cy="11394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/>
          <p:cNvSpPr txBox="1"/>
          <p:nvPr/>
        </p:nvSpPr>
        <p:spPr>
          <a:xfrm>
            <a:off x="3034438" y="3581400"/>
            <a:ext cx="874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α=0,05</a:t>
            </a:r>
          </a:p>
        </p:txBody>
      </p:sp>
      <p:sp>
        <p:nvSpPr>
          <p:cNvPr id="16" name="AutoShape 4">
            <a:extLst>
              <a:ext uri="{FF2B5EF4-FFF2-40B4-BE49-F238E27FC236}">
                <a16:creationId xmlns:a16="http://schemas.microsoft.com/office/drawing/2014/main" id="{432A5A0E-CF61-9EFC-F73D-02EC7CF6B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5C64196-E1D8-CED4-8EE8-11F3FE46EA6F}"/>
              </a:ext>
            </a:extLst>
          </p:cNvPr>
          <p:cNvSpPr txBox="1"/>
          <p:nvPr/>
        </p:nvSpPr>
        <p:spPr>
          <a:xfrm>
            <a:off x="4736859" y="5975270"/>
            <a:ext cx="154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-t</a:t>
            </a:r>
            <a:r>
              <a:rPr lang="es-ES" baseline="-25000" dirty="0"/>
              <a:t>0.05,28</a:t>
            </a:r>
            <a:r>
              <a:rPr lang="es-ES" dirty="0"/>
              <a:t>=-1,701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5F086089-7428-F4EE-BF49-DBDAF58DD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80000" y="5384800"/>
            <a:ext cx="0" cy="7751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16BE16D-8687-32FC-3155-7A8CA3E85533}"/>
              </a:ext>
            </a:extLst>
          </p:cNvPr>
          <p:cNvSpPr txBox="1"/>
          <p:nvPr/>
        </p:nvSpPr>
        <p:spPr>
          <a:xfrm>
            <a:off x="5159858" y="5689321"/>
            <a:ext cx="1164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t</a:t>
            </a:r>
            <a:r>
              <a:rPr lang="es-ES" baseline="-25000" dirty="0" err="1"/>
              <a:t>o</a:t>
            </a:r>
            <a:r>
              <a:rPr lang="es-ES" dirty="0"/>
              <a:t>=-0,9054</a:t>
            </a: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A2834581-D0E0-0B81-0617-DB51A597E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648960" y="5323561"/>
            <a:ext cx="0" cy="4488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28953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61FE9-C3AE-6FC7-C4A9-C1FF0B2C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/>
              <a:t>6. Contraste de hipótesis para la diferencia de medias de dos poblaciones. Ejercicios propuestos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D761F8-90FE-5A56-8924-772DAE4E6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 err="1"/>
              <a:t>Ejercicios</a:t>
            </a:r>
            <a:r>
              <a:rPr lang="en-US" altLang="es-ES" sz="2800" dirty="0"/>
              <a:t> 9.14, 9.18 del </a:t>
            </a:r>
            <a:r>
              <a:rPr lang="en-US" altLang="es-ES" sz="2800" dirty="0" err="1"/>
              <a:t>libro</a:t>
            </a:r>
            <a:endParaRPr lang="en-US" altLang="es-ES" sz="2800" dirty="0"/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es-ES" sz="2400" dirty="0"/>
              <a:t>La </a:t>
            </a:r>
            <a:r>
              <a:rPr lang="en-US" altLang="es-ES" sz="2400" dirty="0" err="1"/>
              <a:t>respuesta</a:t>
            </a:r>
            <a:r>
              <a:rPr lang="en-US" altLang="es-ES" sz="2400" dirty="0"/>
              <a:t> de 9.18 </a:t>
            </a:r>
            <a:r>
              <a:rPr lang="en-US" altLang="es-ES" sz="2400" dirty="0" err="1"/>
              <a:t>está</a:t>
            </a:r>
            <a:r>
              <a:rPr lang="en-US" altLang="es-ES" sz="2400" dirty="0"/>
              <a:t> disponible en </a:t>
            </a:r>
            <a:r>
              <a:rPr lang="en-US" altLang="es-ES" sz="2400" dirty="0" err="1"/>
              <a:t>el</a:t>
            </a:r>
            <a:r>
              <a:rPr lang="en-US" altLang="es-ES" sz="2400" dirty="0"/>
              <a:t> </a:t>
            </a:r>
            <a:r>
              <a:rPr lang="en-US" altLang="es-ES" sz="2400" dirty="0" err="1"/>
              <a:t>libro</a:t>
            </a:r>
            <a:endParaRPr lang="en-US" altLang="es-ES" sz="24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A86158-512B-60EF-6886-59F4BFB0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41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9306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7CE99-314E-E488-6849-91EB1AE31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7. Contraste de hipótesis para la diferencia de proporciones de dos poblaciones independientes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1FCE57-DC4F-5256-4E73-1E8DB5867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42</a:t>
            </a:fld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Marcador de contenido 6">
                <a:extLst>
                  <a:ext uri="{FF2B5EF4-FFF2-40B4-BE49-F238E27FC236}">
                    <a16:creationId xmlns:a16="http://schemas.microsoft.com/office/drawing/2014/main" id="{088FEF46-4181-FB8D-6590-BD58CA6E0D9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20164730"/>
                  </p:ext>
                </p:extLst>
              </p:nvPr>
            </p:nvGraphicFramePr>
            <p:xfrm>
              <a:off x="771525" y="1936620"/>
              <a:ext cx="10582275" cy="18741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111063">
                      <a:extLst>
                        <a:ext uri="{9D8B030D-6E8A-4147-A177-3AD203B41FA5}">
                          <a16:colId xmlns:a16="http://schemas.microsoft.com/office/drawing/2014/main" val="1809366894"/>
                        </a:ext>
                      </a:extLst>
                    </a:gridCol>
                    <a:gridCol w="2581836">
                      <a:extLst>
                        <a:ext uri="{9D8B030D-6E8A-4147-A177-3AD203B41FA5}">
                          <a16:colId xmlns:a16="http://schemas.microsoft.com/office/drawing/2014/main" val="904349382"/>
                        </a:ext>
                      </a:extLst>
                    </a:gridCol>
                    <a:gridCol w="3012141">
                      <a:extLst>
                        <a:ext uri="{9D8B030D-6E8A-4147-A177-3AD203B41FA5}">
                          <a16:colId xmlns:a16="http://schemas.microsoft.com/office/drawing/2014/main" val="1785039866"/>
                        </a:ext>
                      </a:extLst>
                    </a:gridCol>
                    <a:gridCol w="1398494">
                      <a:extLst>
                        <a:ext uri="{9D8B030D-6E8A-4147-A177-3AD203B41FA5}">
                          <a16:colId xmlns:a16="http://schemas.microsoft.com/office/drawing/2014/main" val="1876274988"/>
                        </a:ext>
                      </a:extLst>
                    </a:gridCol>
                    <a:gridCol w="2478741">
                      <a:extLst>
                        <a:ext uri="{9D8B030D-6E8A-4147-A177-3AD203B41FA5}">
                          <a16:colId xmlns:a16="http://schemas.microsoft.com/office/drawing/2014/main" val="3453060203"/>
                        </a:ext>
                      </a:extLst>
                    </a:gridCol>
                  </a:tblGrid>
                  <a:tr h="14006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Diferencia de parámetros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Estadístico de contraste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Contraste de hipótesis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Región de aceptación</a:t>
                          </a:r>
                          <a:br>
                            <a:rPr lang="es-ES" sz="1600" dirty="0">
                              <a:effectLst/>
                            </a:rPr>
                          </a:br>
                          <a:r>
                            <a:rPr lang="es-ES" sz="1600" dirty="0">
                              <a:effectLst/>
                            </a:rPr>
                            <a:t>de H</a:t>
                          </a:r>
                          <a:r>
                            <a:rPr lang="es-ES" sz="1600" baseline="-25000" dirty="0">
                              <a:effectLst/>
                            </a:rPr>
                            <a:t>0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p-valor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9793173"/>
                      </a:ext>
                    </a:extLst>
                  </a:tr>
                  <a:tr h="229548"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ES" sz="1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s-ES" sz="14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s-ES" sz="1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s-ES" sz="1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s-ES" sz="1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𝑝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s-ES" sz="1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s-ES" sz="1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s-ES" sz="1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s-ES" sz="1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s-ES" sz="1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𝑝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s-ES" sz="1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s-ES" sz="1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lang="es-ES" sz="1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𝐷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s-ES" sz="1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f>
                                          <m:fPr>
                                            <m:ctrlPr>
                                              <a:rPr lang="es-ES" sz="1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s-ES" sz="1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 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s-ES" sz="14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̂"/>
                                                    <m:ctrlPr>
                                                      <a:rPr lang="es-ES" sz="1400" i="1" kern="12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s-ES" sz="1400" i="1" kern="12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  <m:t>𝑝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s-ES" sz="14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s-ES" sz="1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(1−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s-ES" sz="14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̂"/>
                                                    <m:ctrlPr>
                                                      <a:rPr lang="es-ES" sz="1400" i="1" kern="12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s-ES" sz="1400" i="1" kern="12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  <m:t>𝑝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s-ES" sz="14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s-ES" sz="1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)</m:t>
                                            </m:r>
                                          </m:num>
                                          <m:den>
                                            <m:r>
                                              <a:rPr lang="es-ES" sz="1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𝑛</m:t>
                                            </m:r>
                                          </m:den>
                                        </m:f>
                                        <m:r>
                                          <a:rPr lang="es-ES" sz="1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+</m:t>
                                        </m:r>
                                        <m:f>
                                          <m:fPr>
                                            <m:ctrlPr>
                                              <a:rPr lang="es-ES" sz="1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s-ES" sz="14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̂"/>
                                                    <m:ctrlPr>
                                                      <a:rPr lang="es-ES" sz="1400" i="1" kern="12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s-ES" sz="1400" i="1" kern="12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  <m:t>𝑝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s-ES" sz="14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s-ES" sz="1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(1−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s-ES" sz="14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̂"/>
                                                    <m:ctrlPr>
                                                      <a:rPr lang="es-ES" sz="1400" i="1" kern="12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s-ES" sz="1400" i="1" kern="12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  <m:t>𝑝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s-ES" sz="1400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s-ES" sz="1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)</m:t>
                                            </m:r>
                                          </m:num>
                                          <m:den>
                                            <m:r>
                                              <a:rPr lang="es-ES" sz="1400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𝑚</m:t>
                                            </m:r>
                                          </m:den>
                                        </m:f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4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4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&lt;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</m:sub>
                                    </m:s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,+∞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≤</m:t>
                                    </m:r>
                                    <m:sSub>
                                      <m:sSubPr>
                                        <m:ctrlP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84731830"/>
                      </a:ext>
                    </a:extLst>
                  </a:tr>
                  <a:tr h="229548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1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1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11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ES" sz="11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1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1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11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Muestras </a:t>
                          </a:r>
                          <a:r>
                            <a:rPr lang="es-ES" sz="10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independientes</a:t>
                          </a:r>
                          <a:endParaRPr lang="es-E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4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4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&gt;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−∞,</m:t>
                                    </m:r>
                                    <m:sSub>
                                      <m:sSubPr>
                                        <m:ctrlP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sSub>
                                      <m:sSubPr>
                                        <m:ctrlP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663373627"/>
                      </a:ext>
                    </a:extLst>
                  </a:tr>
                  <a:tr h="302328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s-E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s-ES" sz="14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vs</m:t>
                                </m:r>
                                <m:r>
                                  <m:rPr>
                                    <m:nor/>
                                  </m:rPr>
                                  <a:rPr lang="es-ES" sz="14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: 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≠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/2</m:t>
                                        </m:r>
                                      </m:sub>
                                    </m:sSub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α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s-E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/2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d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s-E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𝑜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  <m:r>
                                  <a:rPr lang="es-E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  <m:r>
                                      <a:rPr lang="es-E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≥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E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es-E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𝑜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724239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Marcador de contenido 6">
                <a:extLst>
                  <a:ext uri="{FF2B5EF4-FFF2-40B4-BE49-F238E27FC236}">
                    <a16:creationId xmlns:a16="http://schemas.microsoft.com/office/drawing/2014/main" id="{088FEF46-4181-FB8D-6590-BD58CA6E0D9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20164730"/>
                  </p:ext>
                </p:extLst>
              </p:nvPr>
            </p:nvGraphicFramePr>
            <p:xfrm>
              <a:off x="771525" y="1936620"/>
              <a:ext cx="10582275" cy="18741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111063">
                      <a:extLst>
                        <a:ext uri="{9D8B030D-6E8A-4147-A177-3AD203B41FA5}">
                          <a16:colId xmlns:a16="http://schemas.microsoft.com/office/drawing/2014/main" val="1809366894"/>
                        </a:ext>
                      </a:extLst>
                    </a:gridCol>
                    <a:gridCol w="2581836">
                      <a:extLst>
                        <a:ext uri="{9D8B030D-6E8A-4147-A177-3AD203B41FA5}">
                          <a16:colId xmlns:a16="http://schemas.microsoft.com/office/drawing/2014/main" val="904349382"/>
                        </a:ext>
                      </a:extLst>
                    </a:gridCol>
                    <a:gridCol w="3012141">
                      <a:extLst>
                        <a:ext uri="{9D8B030D-6E8A-4147-A177-3AD203B41FA5}">
                          <a16:colId xmlns:a16="http://schemas.microsoft.com/office/drawing/2014/main" val="1785039866"/>
                        </a:ext>
                      </a:extLst>
                    </a:gridCol>
                    <a:gridCol w="1398494">
                      <a:extLst>
                        <a:ext uri="{9D8B030D-6E8A-4147-A177-3AD203B41FA5}">
                          <a16:colId xmlns:a16="http://schemas.microsoft.com/office/drawing/2014/main" val="1876274988"/>
                        </a:ext>
                      </a:extLst>
                    </a:gridCol>
                    <a:gridCol w="2478741">
                      <a:extLst>
                        <a:ext uri="{9D8B030D-6E8A-4147-A177-3AD203B41FA5}">
                          <a16:colId xmlns:a16="http://schemas.microsoft.com/office/drawing/2014/main" val="3453060203"/>
                        </a:ext>
                      </a:extLst>
                    </a:gridCol>
                  </a:tblGrid>
                  <a:tr h="77114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Diferencia de parámetros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Estadístico de contraste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Contraste de hipótesis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Región de aceptación</a:t>
                          </a:r>
                          <a:br>
                            <a:rPr lang="es-ES" sz="1600" dirty="0">
                              <a:effectLst/>
                            </a:rPr>
                          </a:br>
                          <a:r>
                            <a:rPr lang="es-ES" sz="1600" dirty="0">
                              <a:effectLst/>
                            </a:rPr>
                            <a:t>de H</a:t>
                          </a:r>
                          <a:r>
                            <a:rPr lang="es-ES" sz="1600" baseline="-25000" dirty="0">
                              <a:effectLst/>
                            </a:rPr>
                            <a:t>0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600" dirty="0">
                              <a:effectLst/>
                            </a:rPr>
                            <a:t>p-valor</a:t>
                          </a:r>
                          <a:endParaRPr lang="es-E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025" marR="56025" marT="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9793173"/>
                      </a:ext>
                    </a:extLst>
                  </a:tr>
                  <a:tr h="329883">
                    <a:tc rowSpan="3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549" t="-74725" r="-855495" b="-1099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56025" marR="56025" marT="0" marB="0" anchor="ctr">
                        <a:blipFill>
                          <a:blip r:embed="rId2"/>
                          <a:stretch>
                            <a:fillRect l="-43160" t="-74725" r="-267217" b="-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22626" t="-247273" r="-128889" b="-23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81223" t="-247273" r="-178603" b="-23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27027" t="-247273" r="-491" b="-23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4731830"/>
                      </a:ext>
                    </a:extLst>
                  </a:tr>
                  <a:tr h="329883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1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1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11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ES" sz="11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11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1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11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Muestras </a:t>
                          </a:r>
                          <a:r>
                            <a:rPr lang="es-ES" sz="10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independientes</a:t>
                          </a:r>
                          <a:endParaRPr lang="es-E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22626" t="-353704" r="-128889" b="-13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81223" t="-353704" r="-178603" b="-13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27027" t="-353704" r="-491" b="-13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73627"/>
                      </a:ext>
                    </a:extLst>
                  </a:tr>
                  <a:tr h="443230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s-E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22626" t="-335616" r="-128889" b="-27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81223" t="-335616" r="-178603" b="-27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27027" t="-335616" r="-491" b="-27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2391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530252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B3B5E-D643-3E1B-3E9F-B533FC054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7. Contraste de hipótesis para la diferencia de proporciones de dos poblaciones. Ejemplo 9.26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79C3BD-0AF9-5F98-48BA-17CA272E2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Un inspector de calidad encuentra 10 piezas defectuosas en una muestra de 500 piezas recibidas del fabricante A. </a:t>
            </a:r>
          </a:p>
          <a:p>
            <a:r>
              <a:rPr lang="es-ES" dirty="0"/>
              <a:t>De 400 piezas del fabricante B, encuentra 12 piezas defectuosas. </a:t>
            </a:r>
          </a:p>
          <a:p>
            <a:r>
              <a:rPr lang="es-ES" dirty="0"/>
              <a:t>Una empresa de fabricación de computadores utiliza estas partes en sus computadores y afirma que la calidad de las piezas producidas por A y B es la misma. </a:t>
            </a:r>
          </a:p>
          <a:p>
            <a:r>
              <a:rPr lang="es-ES" dirty="0"/>
              <a:t>Con un nivel de significación del 5 %, ¿tenemos suficientes pruebas para refutar esta afirmación?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F601A5-5F8D-B1EC-4C41-BCE6E7DC2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04666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B3B5E-D643-3E1B-3E9F-B533FC054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sz="3600" dirty="0"/>
              <a:t>7. Contraste de hipótesis para la diferencia de proporciones de dos poblaciones. Ejemplo 9.26 (Solución)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079C3BD-0AF9-5F98-48BA-17CA272E22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=500,  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=400, 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s-ES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=0.02</m:t>
                    </m:r>
                  </m:oMath>
                </a14:m>
                <a:endParaRPr lang="es-E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400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=0.03</m:t>
                    </m:r>
                  </m:oMath>
                </a14:m>
                <a:endParaRPr lang="es-E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i="1"/>
                      <m:t>vs</m:t>
                    </m:r>
                    <m:r>
                      <m:rPr>
                        <m:nor/>
                      </m:rPr>
                      <a:rPr lang="es-ES" i="1"/>
                      <m:t> 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Es decir: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i="1"/>
                      <m:t>vs</m:t>
                    </m:r>
                    <m:r>
                      <m:rPr>
                        <m:nor/>
                      </m:rPr>
                      <a:rPr lang="es-ES" i="1"/>
                      <m:t> 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ES" dirty="0"/>
                  <a:t>  siendo D=0 </a:t>
                </a:r>
              </a:p>
              <a:p>
                <a:pPr lvl="1"/>
                <a:r>
                  <a:rPr lang="es-ES" dirty="0"/>
                  <a:t>Se plantea como un contraste bilateral.</a:t>
                </a:r>
              </a:p>
              <a:p>
                <a:r>
                  <a:rPr lang="es-ES" dirty="0"/>
                  <a:t>Estadístico de contraste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sz="240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s-ES" sz="24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𝑍</m:t>
                        </m:r>
                      </m:e>
                      <m:sub>
                        <m:r>
                          <a:rPr lang="es-ES" sz="24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𝑜</m:t>
                        </m:r>
                      </m:sub>
                    </m:sSub>
                    <m:r>
                      <a:rPr lang="es-ES" sz="24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lang="es-ES" sz="24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sz="24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ES" sz="24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lang="es-ES" sz="24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s-ES" sz="2400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𝐴</m:t>
                            </m:r>
                          </m:sub>
                        </m:sSub>
                        <m:r>
                          <a:rPr lang="es-ES" sz="24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sSub>
                          <m:sSubPr>
                            <m:ctrlPr>
                              <a:rPr lang="es-ES" sz="24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ES" sz="24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lang="es-ES" sz="24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s-ES" sz="2400" b="0" i="1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𝐵</m:t>
                            </m:r>
                          </m:sub>
                        </m:sSub>
                        <m:r>
                          <a:rPr lang="es-ES" sz="24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lang="es-ES" sz="24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𝐷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s-ES" sz="24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s-ES" sz="24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fPr>
                              <m:num>
                                <m:r>
                                  <a:rPr lang="es-ES" sz="24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s-ES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ES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ES" sz="24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24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(1−</m:t>
                                </m:r>
                                <m:sSub>
                                  <m:sSubPr>
                                    <m:ctrlPr>
                                      <a:rPr lang="es-ES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ES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ES" sz="24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s-ES" sz="24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s-ES" sz="24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</m:den>
                            </m:f>
                            <m:r>
                              <a:rPr lang="es-ES" sz="24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s-ES" sz="24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s-ES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ES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ES" sz="24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s-ES" sz="24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(1−</m:t>
                                </m:r>
                                <m:sSub>
                                  <m:sSubPr>
                                    <m:ctrlPr>
                                      <a:rPr lang="es-ES" sz="24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ES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ES" sz="24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ES" sz="24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s-ES" sz="24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s-ES" sz="24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𝑚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es-ES" sz="2400" b="0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0.02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0.03−0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0.02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0.02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500</m:t>
                                </m:r>
                              </m:den>
                            </m:f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0.03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0.03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400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=−0.95</m:t>
                    </m:r>
                  </m:oMath>
                </a14:m>
                <a:endParaRPr lang="es-ES" dirty="0"/>
              </a:p>
              <a:p>
                <a:endParaRPr lang="es-ES" dirty="0"/>
              </a:p>
              <a:p>
                <a:pPr lvl="1"/>
                <a:endParaRPr lang="es-ES" dirty="0"/>
              </a:p>
              <a:p>
                <a:pPr lvl="1"/>
                <a:endParaRPr lang="es-ES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079C3BD-0AF9-5F98-48BA-17CA272E22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F601A5-5F8D-B1EC-4C41-BCE6E7DC2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48576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B3B5E-D643-3E1B-3E9F-B533FC054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sz="3600" dirty="0"/>
              <a:t>7. Contraste de hipótesis para la diferencia de proporciones de dos poblaciones. Ejemplo 9.26 (Solución)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079C3BD-0AF9-5F98-48BA-17CA272E22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s-ES" dirty="0"/>
                  <a:t>Método de la región de aceptación: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/2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/2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0.025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0.025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−1.96, 1.96</m:t>
                        </m:r>
                      </m:e>
                    </m:d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Según la tabla A4: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0.025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=1−0.025=0.975 →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0.025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=1.96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>
                    <a:sym typeface="Wingdings" panose="05000000000000000000" pitchFamily="2" charset="2"/>
                  </a:rPr>
                  <a:t>Como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𝑍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𝑜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=−0.9</m:t>
                    </m:r>
                    <m:r>
                      <a:rPr lang="es-E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45</m:t>
                    </m:r>
                  </m:oMath>
                </a14:m>
                <a:r>
                  <a:rPr lang="es-ES" dirty="0">
                    <a:sym typeface="Wingdings" panose="05000000000000000000" pitchFamily="2" charset="2"/>
                  </a:rPr>
                  <a:t> está dentro, no se rechaza la hipótesis nula (H</a:t>
                </a:r>
                <a:r>
                  <a:rPr lang="es-ES" baseline="-25000" dirty="0">
                    <a:sym typeface="Wingdings" panose="05000000000000000000" pitchFamily="2" charset="2"/>
                  </a:rPr>
                  <a:t>0</a:t>
                </a:r>
                <a:r>
                  <a:rPr lang="es-ES" dirty="0">
                    <a:sym typeface="Wingdings" panose="05000000000000000000" pitchFamily="2" charset="2"/>
                  </a:rPr>
                  <a:t>) y, en consecuencia, se rechaza la hipótesis alternativa H</a:t>
                </a:r>
                <a:r>
                  <a:rPr lang="es-ES" baseline="-25000" dirty="0">
                    <a:sym typeface="Wingdings" panose="05000000000000000000" pitchFamily="2" charset="2"/>
                  </a:rPr>
                  <a:t>A</a:t>
                </a:r>
              </a:p>
              <a:p>
                <a:r>
                  <a:rPr lang="es-E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Método del p-valor: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s-E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s-E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valor</m:t>
                    </m:r>
                    <m:r>
                      <a:rPr lang="es-E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s-E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𝑍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≥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s-E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𝑜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=2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E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≤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E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=2(1−</m:t>
                    </m:r>
                  </m:oMath>
                </a14:m>
                <a:r>
                  <a:rPr lang="es-ES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0.95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1−0.83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=0.34</m:t>
                    </m:r>
                  </m:oMath>
                </a14:m>
                <a:endParaRPr lang="es-ES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pPr lvl="1"/>
                <a:r>
                  <a:rPr lang="es-E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Usando la tabla A4</a:t>
                </a:r>
              </a:p>
              <a:p>
                <a:pPr lvl="1"/>
                <a:r>
                  <a:rPr lang="es-E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Como p-valor es mayor que </a:t>
                </a:r>
                <a:r>
                  <a:rPr lang="el-GR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α</a:t>
                </a:r>
                <a:r>
                  <a:rPr lang="es-E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=0.05, se acepta la hipótesis nula (H</a:t>
                </a:r>
                <a:r>
                  <a:rPr lang="es-ES" baseline="-250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0</a:t>
                </a:r>
                <a:r>
                  <a:rPr lang="es-E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) y, en consecuencia, se rechaza la hipótesis alternativa H</a:t>
                </a:r>
                <a:r>
                  <a:rPr lang="es-ES" baseline="-250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A</a:t>
                </a:r>
                <a:endParaRPr lang="es-ES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r>
                  <a:rPr lang="es-ES" dirty="0"/>
                  <a:t>Respuesta = NO</a:t>
                </a:r>
              </a:p>
              <a:p>
                <a:pPr lvl="1"/>
                <a:r>
                  <a:rPr lang="es-ES" dirty="0"/>
                  <a:t>Los datos no proporcionan suficientes evidencias para refutar la afirmación de la empresa de que la calidad de las piezas es la misma.</a:t>
                </a:r>
              </a:p>
              <a:p>
                <a:endParaRPr lang="es-ES" dirty="0"/>
              </a:p>
              <a:p>
                <a:pPr lvl="1"/>
                <a:endParaRPr lang="es-ES" dirty="0"/>
              </a:p>
              <a:p>
                <a:pPr lvl="1"/>
                <a:endParaRPr lang="es-ES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079C3BD-0AF9-5F98-48BA-17CA272E22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928" t="-242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F601A5-5F8D-B1EC-4C41-BCE6E7DC2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310132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B3B5E-D643-3E1B-3E9F-B533FC054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/>
              <a:t>7. Contraste de hipótesis para la diferencia de proporciones de dos poblaciones. Ejercicios propuestos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79C3BD-0AF9-5F98-48BA-17CA272E2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s-ES" sz="2800" dirty="0" err="1"/>
              <a:t>Ejercicios</a:t>
            </a:r>
            <a:r>
              <a:rPr lang="en-US" altLang="es-ES" sz="2800" dirty="0"/>
              <a:t> 9.11, 9.15, 9.16(b), 9.17</a:t>
            </a:r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es-ES" sz="2400" dirty="0"/>
              <a:t>Las </a:t>
            </a:r>
            <a:r>
              <a:rPr lang="en-US" altLang="es-ES" sz="2400" dirty="0" err="1"/>
              <a:t>respuestas</a:t>
            </a:r>
            <a:r>
              <a:rPr lang="en-US" altLang="es-ES" sz="2400" dirty="0"/>
              <a:t> de 9.11, y 9.17 </a:t>
            </a:r>
            <a:r>
              <a:rPr lang="en-US" altLang="es-ES" sz="2400" dirty="0" err="1"/>
              <a:t>están</a:t>
            </a:r>
            <a:r>
              <a:rPr lang="en-US" altLang="es-ES" sz="2400" dirty="0"/>
              <a:t> </a:t>
            </a:r>
            <a:r>
              <a:rPr lang="en-US" altLang="es-ES" sz="2400" dirty="0" err="1"/>
              <a:t>disponibles</a:t>
            </a:r>
            <a:r>
              <a:rPr lang="en-US" altLang="es-ES" sz="2400" dirty="0"/>
              <a:t> en </a:t>
            </a:r>
            <a:r>
              <a:rPr lang="en-US" altLang="es-ES" sz="2400" dirty="0" err="1"/>
              <a:t>el</a:t>
            </a:r>
            <a:r>
              <a:rPr lang="en-US" altLang="es-ES" sz="2400" dirty="0"/>
              <a:t> </a:t>
            </a:r>
            <a:r>
              <a:rPr lang="en-US" altLang="es-ES" sz="2400" dirty="0" err="1"/>
              <a:t>libro</a:t>
            </a:r>
            <a:endParaRPr lang="en-US" altLang="es-ES" sz="2400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F601A5-5F8D-B1EC-4C41-BCE6E7DC2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499846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C31602-0173-86DB-1B87-31E0298D1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8. Conclusiones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7C24067-56F0-60D2-7DCF-60718F007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s-ES" dirty="0"/>
                  <a:t>En el contexto de la estadística inferencial, una hipótesis es una afirmación sobre el valor de un parámetro (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s-ES" dirty="0"/>
                  <a:t>) de una o varias poblaciones.</a:t>
                </a:r>
              </a:p>
              <a:p>
                <a:r>
                  <a:rPr lang="es-ES" dirty="0"/>
                  <a:t>El contraste de hipótesis consiste en formular una hipótesis nula (H</a:t>
                </a:r>
                <a:r>
                  <a:rPr lang="es-ES" baseline="-25000" dirty="0"/>
                  <a:t>0</a:t>
                </a:r>
                <a:r>
                  <a:rPr lang="es-ES" dirty="0"/>
                  <a:t>) contra a una hipótesis alternativa (H</a:t>
                </a:r>
                <a:r>
                  <a:rPr lang="es-ES" baseline="-25000" dirty="0"/>
                  <a:t>A</a:t>
                </a:r>
                <a:r>
                  <a:rPr lang="es-ES" dirty="0"/>
                  <a:t>) y decidir si se acepta la hipótesis nula rechazando la alternativa o viceversa.</a:t>
                </a:r>
              </a:p>
              <a:p>
                <a:r>
                  <a:rPr lang="es-ES" dirty="0"/>
                  <a:t>Para realizar un contraste se utiliza un estadístico de contraste, que es una variable aleatoria.</a:t>
                </a:r>
              </a:p>
              <a:p>
                <a:r>
                  <a:rPr lang="es-ES" dirty="0"/>
                  <a:t>En el caso de contrastes de medias, se debe utilizar un estadístico con distribución Normal o con distribución T de </a:t>
                </a:r>
                <a:r>
                  <a:rPr lang="es-ES" dirty="0" err="1"/>
                  <a:t>Student</a:t>
                </a:r>
                <a:r>
                  <a:rPr lang="es-ES" dirty="0"/>
                  <a:t> dependiendo de unas condiciones previas.</a:t>
                </a:r>
              </a:p>
              <a:p>
                <a:r>
                  <a:rPr lang="es-ES" dirty="0"/>
                  <a:t>En el caso de contrastes de proporciones se utiliza </a:t>
                </a:r>
                <a:r>
                  <a:rPr lang="es-ES"/>
                  <a:t>un estadístico </a:t>
                </a:r>
                <a:r>
                  <a:rPr lang="es-ES" dirty="0"/>
                  <a:t>con distribución Normal.</a:t>
                </a:r>
              </a:p>
              <a:p>
                <a:r>
                  <a:rPr lang="es-ES" dirty="0"/>
                  <a:t>El contraste se puede realizar aplicando el método de la región de aceptación o el método del p-valor.</a:t>
                </a:r>
              </a:p>
              <a:p>
                <a:endParaRPr lang="es-ES" dirty="0"/>
              </a:p>
              <a:p>
                <a:endParaRPr lang="es-E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7C24067-56F0-60D2-7DCF-60718F007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221" r="-1275" b="-266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8EA456-A29C-8A97-B441-9F7D407B7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470033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5920</TotalTime>
  <Words>5215</Words>
  <Application>Microsoft Office PowerPoint</Application>
  <PresentationFormat>Panorámica</PresentationFormat>
  <Paragraphs>546</Paragraphs>
  <Slides>47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47</vt:i4>
      </vt:variant>
    </vt:vector>
  </HeadingPairs>
  <TitlesOfParts>
    <vt:vector size="54" baseType="lpstr">
      <vt:lpstr>Arial</vt:lpstr>
      <vt:lpstr>Calibri</vt:lpstr>
      <vt:lpstr>Calibri Light</vt:lpstr>
      <vt:lpstr>Cambria Math</vt:lpstr>
      <vt:lpstr>Times New Roman</vt:lpstr>
      <vt:lpstr>Wingdings</vt:lpstr>
      <vt:lpstr>Tema de Office</vt:lpstr>
      <vt:lpstr>Contrastes de hipótesis</vt:lpstr>
      <vt:lpstr>Contenido</vt:lpstr>
      <vt:lpstr>1. Objetivos</vt:lpstr>
      <vt:lpstr>2. Introducción</vt:lpstr>
      <vt:lpstr>2. Introducción Contrastes paramétricos y no paramétricos</vt:lpstr>
      <vt:lpstr>2. Introducción Planteamiento de un contraste de dos hipótesis</vt:lpstr>
      <vt:lpstr>2. Introducción Planteamiento de un contraste. Ejemplo 9.22</vt:lpstr>
      <vt:lpstr>2. Introducción Tipos de contrastes según la hipótesis alternativa</vt:lpstr>
      <vt:lpstr>2. Introducción Tipos de errores en un contraste de hipótesis</vt:lpstr>
      <vt:lpstr>2. Introducción Probabilidades en un contraste de hipótesis</vt:lpstr>
      <vt:lpstr>3. Métodos para realizar un contraste de hipótesis</vt:lpstr>
      <vt:lpstr>3. Métodos para realizar un contraste de hipótesis Comprobando la región de aceptación. Paso 1</vt:lpstr>
      <vt:lpstr>3. Métodos para realizar un contraste de hipótesis Comprobando la región de aceptación. Paso 2</vt:lpstr>
      <vt:lpstr>3. Métodos para realizar un contraste de hipótesis Comprobando la región de aceptación. Gráficos</vt:lpstr>
      <vt:lpstr>3. Métodos para realizar un contraste de hipótesis Comprobando la región de aceptación. Paso 3</vt:lpstr>
      <vt:lpstr>3. Métodos para realizar un contraste de hipótesis Calculando el p-valor</vt:lpstr>
      <vt:lpstr>3. Métodos para realizar un contraste de hipótesis Calculando el p-valor. Ejemplo gráfico</vt:lpstr>
      <vt:lpstr>4. Contraste de hipótesis para la media poblacional</vt:lpstr>
      <vt:lpstr>4. Contraste de hipótesis para la media poblacional. Fórmulas</vt:lpstr>
      <vt:lpstr>4. Contraste de hipótesis para la media poblacional. Concepto de cuantil</vt:lpstr>
      <vt:lpstr>4. Contraste de hipótesis para la media poblacional. Intervalo de confianza</vt:lpstr>
      <vt:lpstr>4. Contraste de hipótesis para la media poblacional. Ejemplo 9.25 (Servicio de Internet)</vt:lpstr>
      <vt:lpstr>4. Contraste de hipótesis para la media poblacional. Ejemplo 9.25 (Solución) (1)</vt:lpstr>
      <vt:lpstr>4. Contraste de hipótesis para la media poblacional. Ejemplo 9.25 (Solución) (2)</vt:lpstr>
      <vt:lpstr>4. Contraste de hipótesis para la media poblacional. Ejemplo 9.25 (Gráficos)</vt:lpstr>
      <vt:lpstr>4. Contraste de hipótesis para la media poblacional. Ejemplo 9.28 (Acceso no autorizado)</vt:lpstr>
      <vt:lpstr>4. Contraste de hipótesis para la media poblacional. Ejemplo 9.28 (Solución) (1)</vt:lpstr>
      <vt:lpstr>4. Contraste de hipótesis para la media poblacional. Ejemplo 9.28 (Solución) (2)</vt:lpstr>
      <vt:lpstr>4. Contraste de hipótesis para la media poblacional. Ejemplo 9.28 (Gráficos)</vt:lpstr>
      <vt:lpstr>4. Contraste de hipótesis para la media poblacional. Ejercicios propuestos</vt:lpstr>
      <vt:lpstr>5. Contraste de hipótesis para una proporción poblacional. Fórmulas</vt:lpstr>
      <vt:lpstr>5. Contraste de hipótesis para una proporción poblacional. Ejemplo (Conductores)</vt:lpstr>
      <vt:lpstr>5. Contraste de hipótesis para una proporción poblacional. Ejemplo (Conductores) (Solución)</vt:lpstr>
      <vt:lpstr>5. Contraste de hipótesis para una proporción poblacional. Ejercicios propuestos</vt:lpstr>
      <vt:lpstr>6. Contraste de hipótesis para la diferencia de medias de dos poblaciones independientes (1)</vt:lpstr>
      <vt:lpstr>6. Contraste de hipótesis para la diferencia de medias de dos poblaciones independientes (2)</vt:lpstr>
      <vt:lpstr>6. Contraste de hipótesis para la diferencia de medias de dos poblaciones. Ejemplo 9.29</vt:lpstr>
      <vt:lpstr>6. Contraste de hipótesis para la diferencia de medias de dos poblaciones. Ejemplo 9.29 (Solución)(1)</vt:lpstr>
      <vt:lpstr>6. Contraste de hipótesis para la diferencia de medias de dos poblaciones. Ejemplo 9.29 (Solución)(2)</vt:lpstr>
      <vt:lpstr>6. Contraste de hipótesis para la diferencia de medias de dos poblaciones. Ejemplo 9.29 (Gráficos)</vt:lpstr>
      <vt:lpstr>6. Contraste de hipótesis para la diferencia de medias de dos poblaciones. Ejercicios propuestos</vt:lpstr>
      <vt:lpstr>7. Contraste de hipótesis para la diferencia de proporciones de dos poblaciones independientes</vt:lpstr>
      <vt:lpstr>7. Contraste de hipótesis para la diferencia de proporciones de dos poblaciones. Ejemplo 9.26</vt:lpstr>
      <vt:lpstr>7. Contraste de hipótesis para la diferencia de proporciones de dos poblaciones. Ejemplo 9.26 (Solución) (1)</vt:lpstr>
      <vt:lpstr>7. Contraste de hipótesis para la diferencia de proporciones de dos poblaciones. Ejemplo 9.26 (Solución) (2)</vt:lpstr>
      <vt:lpstr>7. Contraste de hipótesis para la diferencia de proporciones de dos poblaciones. Ejercicios propuestos</vt:lpstr>
      <vt:lpstr>8. 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Contrastes hipótesis</dc:title>
  <dc:creator/>
  <cp:lastModifiedBy>jose hilera</cp:lastModifiedBy>
  <cp:revision>133</cp:revision>
  <dcterms:created xsi:type="dcterms:W3CDTF">2022-12-26T19:51:11Z</dcterms:created>
  <dcterms:modified xsi:type="dcterms:W3CDTF">2024-08-28T11:12:00Z</dcterms:modified>
</cp:coreProperties>
</file>