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9"/>
  </p:notesMasterIdLst>
  <p:sldIdLst>
    <p:sldId id="256" r:id="rId2"/>
    <p:sldId id="258" r:id="rId3"/>
    <p:sldId id="389" r:id="rId4"/>
    <p:sldId id="390" r:id="rId5"/>
    <p:sldId id="391" r:id="rId6"/>
    <p:sldId id="328" r:id="rId7"/>
    <p:sldId id="354" r:id="rId8"/>
    <p:sldId id="329" r:id="rId9"/>
    <p:sldId id="330" r:id="rId10"/>
    <p:sldId id="331" r:id="rId11"/>
    <p:sldId id="332" r:id="rId12"/>
    <p:sldId id="351" r:id="rId13"/>
    <p:sldId id="352" r:id="rId14"/>
    <p:sldId id="353" r:id="rId15"/>
    <p:sldId id="350" r:id="rId16"/>
    <p:sldId id="355" r:id="rId17"/>
    <p:sldId id="366" r:id="rId18"/>
    <p:sldId id="356" r:id="rId19"/>
    <p:sldId id="362" r:id="rId20"/>
    <p:sldId id="363" r:id="rId21"/>
    <p:sldId id="365" r:id="rId22"/>
    <p:sldId id="364" r:id="rId23"/>
    <p:sldId id="357" r:id="rId24"/>
    <p:sldId id="360" r:id="rId25"/>
    <p:sldId id="361" r:id="rId26"/>
    <p:sldId id="367" r:id="rId27"/>
    <p:sldId id="369" r:id="rId28"/>
    <p:sldId id="370" r:id="rId29"/>
    <p:sldId id="371" r:id="rId30"/>
    <p:sldId id="373" r:id="rId31"/>
    <p:sldId id="372" r:id="rId32"/>
    <p:sldId id="374" r:id="rId33"/>
    <p:sldId id="368" r:id="rId34"/>
    <p:sldId id="377" r:id="rId35"/>
    <p:sldId id="375" r:id="rId36"/>
    <p:sldId id="378" r:id="rId37"/>
    <p:sldId id="379" r:id="rId38"/>
    <p:sldId id="380" r:id="rId39"/>
    <p:sldId id="381" r:id="rId40"/>
    <p:sldId id="382" r:id="rId41"/>
    <p:sldId id="383" r:id="rId42"/>
    <p:sldId id="384" r:id="rId43"/>
    <p:sldId id="385" r:id="rId44"/>
    <p:sldId id="386" r:id="rId45"/>
    <p:sldId id="388" r:id="rId46"/>
    <p:sldId id="387" r:id="rId47"/>
    <p:sldId id="327" r:id="rId48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487" autoAdjust="0"/>
    <p:restoredTop sz="94809" autoAdjust="0"/>
  </p:normalViewPr>
  <p:slideViewPr>
    <p:cSldViewPr snapToGrid="0">
      <p:cViewPr varScale="1">
        <p:scale>
          <a:sx n="69" d="100"/>
          <a:sy n="69" d="100"/>
        </p:scale>
        <p:origin x="125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993FA-F4EB-4F5C-AC0E-D19D76C7FE18}" type="datetimeFigureOut">
              <a:rPr lang="es-ES" smtClean="0"/>
              <a:t>26/11/2024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B7C101-15E4-4D70-A114-C89E83A709C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41435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70737A-30E0-41A2-B461-25A548C913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EBE166C-5633-4873-B852-3A4F5546FE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39014F-1DFE-4927-921F-4E53CB687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E85FDD-93E9-4DED-94FB-E13CBFB13D77}" type="datetime1">
              <a:rPr lang="es-ES" smtClean="0"/>
              <a:t>26/11/2024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03D05DA-9B6F-44F8-A333-ABA84FFE4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41CCAC-F1C7-439D-A1C6-148B192BE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882987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E16EB7-D1A7-4CEF-B7B0-D69F5E52A25D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B2099EC-4D79-4FBE-A0F3-85058A8B99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19089A4-937F-4BD1-809E-44AE307B1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30566B-D29A-48B5-AE66-02FE67909A5D}" type="datetime1">
              <a:rPr lang="es-ES" smtClean="0"/>
              <a:t>26/11/2024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626FFB-669E-4FEF-AAF4-FCBE8D2049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3302B3-AB25-45B7-A138-5DD3F6FD07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/>
            </a:lvl1pPr>
          </a:lstStyle>
          <a:p>
            <a:fld id="{336CAFD0-1F6E-4E11-9822-836563A02839}" type="slidenum">
              <a:rPr lang="es-ES" smtClean="0"/>
              <a:pPr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32818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DBB67B-96F2-4E3B-AD4B-986D490B9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CA24320-D7DC-4240-B4DF-339532FE9C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2E11C2-AD04-4ED6-82A4-3FD71B6FB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E50F2-204D-422E-A62C-8A2A95FE0EA0}" type="datetime1">
              <a:rPr lang="es-ES" smtClean="0"/>
              <a:t>26/11/2024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0448CB-E41F-4F50-8E08-202E8756D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4FAE15-CF45-4AED-8356-CE6C9EE83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80938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0246AD-7BE6-483F-96A3-541DAD4B8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3C3E4F-C907-4C22-B083-DDF5EDF27F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5065CB-41D1-4202-A34D-7BB99EB785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FAE56AF-AE89-4D7B-A003-4931E6EA8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0192F-D937-48F6-B938-D4FF2285D339}" type="datetime1">
              <a:rPr lang="es-ES" smtClean="0"/>
              <a:t>26/11/2024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F7D8F9-491C-4103-A8F2-5F9F0FA5D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04D832-55CC-4538-B057-CA9881D9A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538821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8EF558-0175-4BD0-979F-D483F1A0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974E40B-3DF7-44C5-860B-A36DE85FED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106F954-C6D4-4723-8E03-55A1E79F00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C871A73-8828-4197-ADC1-0C21128F61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33081A4-0280-4B19-9B06-BA7D807693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9340A08-2899-40F7-B8EE-A496CBD88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58F57-2DA1-4DBA-AA33-8D93DD9494F9}" type="datetime1">
              <a:rPr lang="es-ES" smtClean="0"/>
              <a:t>26/11/2024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75E94AC-0958-41A7-A416-28A3791B2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7A743E3-167E-4DC6-AF9F-963C2A2C8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1594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40C0657-7B1A-442F-A5A8-F68C547D6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220B9629-5B37-4C68-BCAF-4F204AD59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FAA46-ADD9-4633-900E-54294B546C39}" type="datetime1">
              <a:rPr lang="es-ES" smtClean="0"/>
              <a:t>26/11/2024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F496A21-694B-4235-9BDF-7FA776CD6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C769F2-5C78-4519-AE94-E67F0F38E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85255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3476251-88E2-4CBD-95F9-95E8112B5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AD164-930E-44E1-8AD6-DA81FFB2E87B}" type="datetime1">
              <a:rPr lang="es-ES" smtClean="0"/>
              <a:t>26/11/2024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49AE1B3-12A0-41E5-8708-38E7CDE67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D8E5739-F16D-4ED7-934D-15DD6F3FD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1494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05BC6A-6581-45ED-97B2-665F6CC3E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6E2A75-C11D-4D21-973A-6BD6B12AB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C2970D4-7A79-4101-849B-C528055754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224EC5D-1BA5-4E28-9CF2-850714ED1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19943-A7E6-4D67-A3E5-3CC6ADA523F1}" type="datetime1">
              <a:rPr lang="es-ES" smtClean="0"/>
              <a:t>26/11/2024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84FBFE-5582-479B-A6E8-8BD08A0B9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81D782-F740-4365-8C21-A299A8B5F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5060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935E2E-4483-4902-9BE4-8F6FA962B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1E9D67D1-94DE-4CC9-85D5-7FFF881182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544DCF8-D22F-4389-B4E4-9670563345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762798B-5681-4C69-BB09-2388DA3C2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312756-8293-4ED7-8C53-E15A36E0B819}" type="datetime1">
              <a:rPr lang="es-ES" smtClean="0"/>
              <a:t>26/11/2024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4B9532C-97BB-441B-B506-C25F8CF28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D157D7-9A5A-414D-A0CA-96FAE873A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893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7A50E-F7F5-4C4D-8B77-79BAEF2E5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AFBB6D-17BE-4C49-BCCF-B5C5CFE9F9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9176D5-891E-44BA-B401-E3A04EAFA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5988EC-7283-4406-9DFD-E99FA692D75C}" type="datetime1">
              <a:rPr lang="es-ES" smtClean="0"/>
              <a:t>26/11/2024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F934A99-FA15-4D15-97E2-3E17E0383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A8D24B-343C-4B37-A9F6-33CE51FE3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91468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FF92B8F-BB2D-45E5-A81C-009359D306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49973B1-2492-45DB-BA9B-BD3B59B4B8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07A9D75-FCEC-47C9-AA6E-4D2F6CFF6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A9286-D927-4095-B743-3451D71D767F}" type="datetime1">
              <a:rPr lang="es-ES" smtClean="0"/>
              <a:t>26/11/2024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20CC3E-8F0C-4A5B-B192-6F292AE46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C7BE2D-24E9-4481-AEB9-697A2447AA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13171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23CBADE-FD33-4AF1-9F6F-A44E4356A6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674D713-AFC9-4141-B355-05ABF78935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1666BF8-72F7-4108-81B8-D74BF52FE0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AEDC6-F719-4D5C-BB7F-D599F6A812F4}" type="datetime1">
              <a:rPr lang="es-ES" smtClean="0"/>
              <a:t>26/11/2024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F725B7-4457-4323-8704-24025C493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1E65A2-2681-4AF8-8875-39AE9558A1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CAFD0-1F6E-4E11-9822-836563A02839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16707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reilly.com/library-access/?next=/library/view/Probability-and-statistics/9781439875919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statistics4u.com/fundstat_eng/cc_normality_test.html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0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springer.com/content/pdf/10.1007/s10796-022-10274-5.pdf" TargetMode="External"/><Relationship Id="rId2" Type="http://schemas.openxmlformats.org/officeDocument/2006/relationships/hyperlink" Target="https://www.google.com/url?sa=t&amp;rct=j&amp;q=&amp;esrc=s&amp;source=web&amp;cd=&amp;cad=rja&amp;uact=8&amp;ved=2ahUKEwjFwd2DyZr9AhXJ8bsIHX2gAMcQFnoECAgQAQ&amp;url=https%3A%2F%2Fieee-edusociety.org%2Fsites%2Fieeeedusoc%2Ffiles%2F2020-09%2FBatanero%2520et%2520al%2520Nov2019%2520ToEd%2520Best%2520Paper%2520of%25202019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sciencedirect.com/science/article/pii/S187705682200041X" TargetMode="External"/><Relationship Id="rId4" Type="http://schemas.openxmlformats.org/officeDocument/2006/relationships/hyperlink" Target="https://journal.unnes.ac.id/sju/index.php/edaj/article/download/54316/22766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dl.acm.org/doi/pdf/10.1145/3503463" TargetMode="External"/><Relationship Id="rId2" Type="http://schemas.openxmlformats.org/officeDocument/2006/relationships/hyperlink" Target="https://ieeexplore.ieee.org/abstract/document/10540443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nlinelibrary.wiley.com/doi/pdf/10.1002/col.22798?casa_token=J8_iU_ryhmQAAAAA:VrxSzu2FBIOP2M8_9P1SVxFZZgcsK3g6NXcWnX6mMQkJuA0hyPKo8p8XjlAIanrLFJIJWWzpElvGQzeA" TargetMode="External"/><Relationship Id="rId5" Type="http://schemas.openxmlformats.org/officeDocument/2006/relationships/hyperlink" Target="https://www.tandfonline.com/doi/pdf/10.1080/19475683.2023.2166113" TargetMode="External"/><Relationship Id="rId4" Type="http://schemas.openxmlformats.org/officeDocument/2006/relationships/hyperlink" Target="https://www.sciencedirect.com/science/article/pii/S0308597X21005248?casa_token=14ibv5jvfQwAAAAA:xXJ2XjMPwxfNrcR91DljW375i1uJAvSbNmnKKiggIcRgoSbYknVhpqNp4EFJvjf9D8jJbxpODXA" TargetMode="Externa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05024B-BC8C-4A3E-B772-46F3159760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Contrastes de hipótesis no paramétricos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6AD6E3-038F-4B94-A53F-314F158509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ES" dirty="0"/>
              <a:t>Contenidos adaptados del libro “</a:t>
            </a:r>
            <a:r>
              <a:rPr lang="en-US" dirty="0">
                <a:hlinkClick r:id="rId2"/>
              </a:rPr>
              <a:t>Probability and statistics for computer scientists, Second edition, M. Baron</a:t>
            </a:r>
            <a:r>
              <a:rPr lang="en-US" dirty="0"/>
              <a:t>” (</a:t>
            </a:r>
            <a:r>
              <a:rPr lang="en-US" dirty="0" err="1"/>
              <a:t>Capítulo</a:t>
            </a:r>
            <a:r>
              <a:rPr lang="en-US" dirty="0"/>
              <a:t> 10.2)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37515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F4652C-29A9-89EF-39F2-1A8D69D4B0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Contenido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76B585-B497-85A0-6FF6-C94DD5F1F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err="1"/>
              <a:t>Objetivos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Introducción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/>
              <a:t>Contraste</a:t>
            </a:r>
            <a:r>
              <a:rPr lang="en-US" dirty="0"/>
              <a:t> de </a:t>
            </a:r>
            <a:r>
              <a:rPr lang="en-US" dirty="0" err="1"/>
              <a:t>signos</a:t>
            </a:r>
            <a:r>
              <a:rPr lang="en-US" dirty="0"/>
              <a:t> para la </a:t>
            </a:r>
            <a:r>
              <a:rPr lang="en-US" dirty="0" err="1"/>
              <a:t>mediana</a:t>
            </a:r>
            <a:r>
              <a:rPr lang="en-US" dirty="0"/>
              <a:t> </a:t>
            </a:r>
            <a:r>
              <a:rPr lang="en-US" dirty="0" err="1"/>
              <a:t>poblacional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Contraste de rangos con signo de Wilcoxon</a:t>
            </a:r>
            <a:r>
              <a:rPr lang="en-US" dirty="0"/>
              <a:t> para la </a:t>
            </a:r>
            <a:r>
              <a:rPr lang="en-US" dirty="0" err="1"/>
              <a:t>mediana</a:t>
            </a:r>
            <a:r>
              <a:rPr lang="en-US" dirty="0"/>
              <a:t> </a:t>
            </a:r>
            <a:r>
              <a:rPr lang="en-US" dirty="0" err="1"/>
              <a:t>poblacional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Contraste de rangos con signo de Wilcoxon </a:t>
            </a:r>
            <a:r>
              <a:rPr lang="en-US" dirty="0"/>
              <a:t>para la </a:t>
            </a:r>
            <a:r>
              <a:rPr lang="en-US" dirty="0" err="1"/>
              <a:t>diferencia</a:t>
            </a:r>
            <a:r>
              <a:rPr lang="en-US" dirty="0"/>
              <a:t> de dos </a:t>
            </a:r>
            <a:r>
              <a:rPr lang="en-US" dirty="0" err="1"/>
              <a:t>medianas</a:t>
            </a:r>
            <a:r>
              <a:rPr lang="en-US" dirty="0"/>
              <a:t> </a:t>
            </a:r>
            <a:r>
              <a:rPr lang="en-US" dirty="0" err="1"/>
              <a:t>poblacionales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s-ES" dirty="0"/>
              <a:t>Contraste de la suma de rangos con signo de Mann-Whitney-Wilcoxon </a:t>
            </a:r>
            <a:r>
              <a:rPr lang="en-US" dirty="0"/>
              <a:t>para la </a:t>
            </a:r>
            <a:r>
              <a:rPr lang="en-US" dirty="0" err="1"/>
              <a:t>diferencia</a:t>
            </a:r>
            <a:r>
              <a:rPr lang="en-US" dirty="0"/>
              <a:t> de dos </a:t>
            </a:r>
            <a:r>
              <a:rPr lang="en-US" dirty="0" err="1"/>
              <a:t>medianas</a:t>
            </a:r>
            <a:r>
              <a:rPr lang="en-US" dirty="0"/>
              <a:t> </a:t>
            </a:r>
            <a:r>
              <a:rPr lang="en-US" dirty="0" err="1"/>
              <a:t>poblacionales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Resumen</a:t>
            </a:r>
          </a:p>
          <a:p>
            <a:pPr marL="514350" indent="-514350">
              <a:buFont typeface="+mj-lt"/>
              <a:buAutoNum type="arabicPeriod"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41137E5-86B4-304F-08CB-613284F83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671626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4C657E-F677-C62D-E58C-10FD865BF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1. Objetivos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4B65EE8-CC0D-AD80-37AA-122245645D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/>
              <a:t>Conocer el papel de los contrastes de hipótesis no paramétricos</a:t>
            </a:r>
          </a:p>
          <a:p>
            <a:r>
              <a:rPr lang="es-ES" dirty="0"/>
              <a:t>Determinar en qué situaciones hay que aplicar un contraste no paramétrico</a:t>
            </a:r>
          </a:p>
          <a:p>
            <a:r>
              <a:rPr lang="es-ES" dirty="0"/>
              <a:t>Realizar contrastes de hipótesis no paramétricos para la mediana poblacional aplicando los métodos de signos, y de rangos con signo de Wilcoxon</a:t>
            </a:r>
          </a:p>
          <a:p>
            <a:r>
              <a:rPr lang="es-ES" dirty="0"/>
              <a:t>Realizar contrastes de hipótesis no paramétricos para la diferencia de medianas de dos poblaciones pareadas aplicando el método de rangos con signo de Wilcoxon</a:t>
            </a:r>
          </a:p>
          <a:p>
            <a:r>
              <a:rPr lang="es-ES" dirty="0"/>
              <a:t>Realizar contrastes de hipótesis no paramétricos para la diferencia de medianas de dos poblaciones independientes aplicando el método de la suma de rangos con signo de Mann-Whitney-Wilcoxon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26E407E-876F-C80B-C589-5781C9E71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68736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C54DEC-D1B8-0FA0-5251-F54CEF6BE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Introducción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B706A2-71F1-0690-EA35-5FEB26691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dirty="0"/>
              <a:t>Un contraste de hipótesis no paramétrico se aplica cuando no hay evidencias de que los datos de una población tengan una distribución Normal</a:t>
            </a:r>
          </a:p>
          <a:p>
            <a:pPr lvl="1"/>
            <a:r>
              <a:rPr lang="es-ES" dirty="0"/>
              <a:t>Hay diferentes </a:t>
            </a:r>
            <a:r>
              <a:rPr lang="es-ES" dirty="0">
                <a:hlinkClick r:id="rId2"/>
              </a:rPr>
              <a:t>métodos  para comprobar la normalidad de los datos</a:t>
            </a:r>
            <a:r>
              <a:rPr lang="es-ES" dirty="0"/>
              <a:t>: Chi-Square, </a:t>
            </a:r>
            <a:r>
              <a:rPr lang="es-ES" dirty="0" err="1"/>
              <a:t>Kolmogorov-Smirnov</a:t>
            </a:r>
            <a:r>
              <a:rPr lang="es-ES" dirty="0"/>
              <a:t>, </a:t>
            </a:r>
            <a:r>
              <a:rPr lang="es-ES" dirty="0" err="1"/>
              <a:t>Lilliefors</a:t>
            </a:r>
            <a:r>
              <a:rPr lang="es-ES" dirty="0"/>
              <a:t>, Anderson-Darling, Shapiro-Wilk, </a:t>
            </a:r>
            <a:r>
              <a:rPr lang="es-ES" dirty="0" err="1"/>
              <a:t>Cramér</a:t>
            </a:r>
            <a:r>
              <a:rPr lang="es-ES" dirty="0"/>
              <a:t>-</a:t>
            </a:r>
            <a:r>
              <a:rPr lang="es-ES" dirty="0" err="1"/>
              <a:t>von</a:t>
            </a:r>
            <a:r>
              <a:rPr lang="es-ES" dirty="0"/>
              <a:t>-Mises</a:t>
            </a:r>
          </a:p>
          <a:p>
            <a:pPr lvl="1"/>
            <a:r>
              <a:rPr lang="es-ES" dirty="0"/>
              <a:t>El software estadístico (R, SPSS, </a:t>
            </a:r>
            <a:r>
              <a:rPr lang="es-ES" dirty="0" err="1"/>
              <a:t>Statgraphics</a:t>
            </a:r>
            <a:r>
              <a:rPr lang="es-ES" dirty="0"/>
              <a:t>, Excel, …) ofrece funcionalidad para comprobar la normalidad </a:t>
            </a:r>
          </a:p>
          <a:p>
            <a:pPr lvl="1"/>
            <a:r>
              <a:rPr lang="es-ES" dirty="0"/>
              <a:t>En los ejercicios no será necesario comprobar la normalidad, ya que indicará si los datos de cada ejercicio son normales o no</a:t>
            </a:r>
          </a:p>
          <a:p>
            <a:r>
              <a:rPr lang="es-ES" sz="2800" b="0" strike="noStrike" spc="-1" dirty="0">
                <a:solidFill>
                  <a:srgbClr val="000000"/>
                </a:solidFill>
                <a:latin typeface="Calibri"/>
              </a:rPr>
              <a:t>También se utiliza cuando no se dispone de datos numéricos concretos, </a:t>
            </a:r>
            <a:r>
              <a:rPr lang="es-ES" spc="-1" dirty="0">
                <a:solidFill>
                  <a:srgbClr val="000000"/>
                </a:solidFill>
                <a:latin typeface="Calibri"/>
              </a:rPr>
              <a:t>sino de datos ordinales</a:t>
            </a:r>
          </a:p>
          <a:p>
            <a:pPr lvl="1"/>
            <a:r>
              <a:rPr lang="es-ES" b="0" strike="noStrike" spc="-1" dirty="0">
                <a:solidFill>
                  <a:srgbClr val="000000"/>
                </a:solidFill>
                <a:latin typeface="Calibri"/>
              </a:rPr>
              <a:t>Por ejemplo, no se dispon</a:t>
            </a:r>
            <a:r>
              <a:rPr lang="es-ES" spc="-1" dirty="0">
                <a:solidFill>
                  <a:srgbClr val="000000"/>
                </a:solidFill>
                <a:latin typeface="Calibri"/>
              </a:rPr>
              <a:t>e del precio exacto de varios ordenadores, pero se sabe los que están por debajo de un precio de referencia y los que están por encima de ese precio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C785189-199E-D2A3-48C6-C06DC38977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050237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4058FD-8C4A-1CC9-EB29-27BDA4D06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2. Introducción</a:t>
            </a:r>
            <a:br>
              <a:rPr lang="es-ES" dirty="0"/>
            </a:br>
            <a:r>
              <a:rPr lang="es-ES" dirty="0"/>
              <a:t>Tipos de contrastes no paramétricos 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14805A-6783-F584-E860-D5EFC40AF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Hipótesis sobre la mediana de una población</a:t>
            </a:r>
          </a:p>
          <a:p>
            <a:pPr lvl="1"/>
            <a:r>
              <a:rPr lang="es-ES" dirty="0"/>
              <a:t>Contraste de signos</a:t>
            </a:r>
          </a:p>
          <a:p>
            <a:pPr lvl="1"/>
            <a:r>
              <a:rPr lang="es-ES" dirty="0"/>
              <a:t>Contraste de rangos con signo de Wilcoxon (más preciso)</a:t>
            </a:r>
            <a:endParaRPr lang="en-US" dirty="0"/>
          </a:p>
          <a:p>
            <a:r>
              <a:rPr lang="en-US" dirty="0" err="1"/>
              <a:t>Hipótesis</a:t>
            </a:r>
            <a:r>
              <a:rPr lang="en-US" dirty="0"/>
              <a:t> </a:t>
            </a:r>
            <a:r>
              <a:rPr lang="en-US" dirty="0" err="1"/>
              <a:t>sobre</a:t>
            </a:r>
            <a:r>
              <a:rPr lang="en-US" dirty="0"/>
              <a:t> la </a:t>
            </a:r>
            <a:r>
              <a:rPr lang="en-US" dirty="0" err="1"/>
              <a:t>diferencia</a:t>
            </a:r>
            <a:r>
              <a:rPr lang="en-US" dirty="0"/>
              <a:t> de </a:t>
            </a:r>
            <a:r>
              <a:rPr lang="en-US" dirty="0" err="1"/>
              <a:t>medianas</a:t>
            </a:r>
            <a:r>
              <a:rPr lang="en-US" dirty="0"/>
              <a:t> de dos </a:t>
            </a:r>
            <a:r>
              <a:rPr lang="en-US" dirty="0" err="1"/>
              <a:t>poblaciones</a:t>
            </a:r>
            <a:endParaRPr lang="en-US" dirty="0"/>
          </a:p>
          <a:p>
            <a:pPr lvl="1"/>
            <a:r>
              <a:rPr lang="en-US" dirty="0"/>
              <a:t>Si son poblaciónes </a:t>
            </a:r>
            <a:r>
              <a:rPr lang="en-US" dirty="0" err="1"/>
              <a:t>relacionadas</a:t>
            </a:r>
            <a:r>
              <a:rPr lang="en-US" dirty="0"/>
              <a:t> (</a:t>
            </a:r>
            <a:r>
              <a:rPr lang="en-US" dirty="0" err="1"/>
              <a:t>pareadas</a:t>
            </a:r>
            <a:r>
              <a:rPr lang="en-US" dirty="0"/>
              <a:t>)</a:t>
            </a:r>
          </a:p>
          <a:p>
            <a:pPr lvl="2"/>
            <a:r>
              <a:rPr lang="es-ES" dirty="0"/>
              <a:t>Contraste de rangos con signo de Wilcoxon</a:t>
            </a:r>
          </a:p>
          <a:p>
            <a:pPr lvl="1"/>
            <a:r>
              <a:rPr lang="en-US" dirty="0"/>
              <a:t>Si son poblaciónes </a:t>
            </a:r>
            <a:r>
              <a:rPr lang="en-US" dirty="0" err="1"/>
              <a:t>independientes</a:t>
            </a:r>
            <a:endParaRPr lang="en-US" dirty="0"/>
          </a:p>
          <a:p>
            <a:pPr lvl="2"/>
            <a:r>
              <a:rPr lang="es-ES" dirty="0"/>
              <a:t>Contraste de la suma de rangos con signo de Mann-Whitney-Wilcoxon</a:t>
            </a:r>
          </a:p>
          <a:p>
            <a:pPr lvl="1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B8A69D6-DB37-F07E-006F-F55052494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127168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FF1056-E23E-EFD2-56C8-D1575083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Contraste de signos para la mediana poblacional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39AB4A-1C64-C2B1-F510-B7D4751D61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s-ES" dirty="0"/>
                  <a:t>En inglés se denomina </a:t>
                </a:r>
                <a:r>
                  <a:rPr lang="es-ES" i="1" dirty="0" err="1"/>
                  <a:t>Sign</a:t>
                </a:r>
                <a:r>
                  <a:rPr lang="es-ES" i="1" dirty="0"/>
                  <a:t> test</a:t>
                </a:r>
              </a:p>
              <a:p>
                <a:r>
                  <a:rPr lang="es-ES" dirty="0"/>
                  <a:t>Es un contraste no paramétrico para una población</a:t>
                </a:r>
              </a:p>
              <a:p>
                <a:r>
                  <a:rPr lang="es-ES" dirty="0"/>
                  <a:t>Es un contraste sobre el posible valor de la mediana poblacional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s-ES" dirty="0"/>
                  <a:t>Consiste en comprobar si exactamente la mitad de la población está por debajo de un valor determinado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s-ES" dirty="0"/>
                  <a:t> y la mitad está por encima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s-ES" dirty="0"/>
                  <a:t>Para llevar a cabo el contraste, sólo hay que contar cuántas observaciones están por encima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 err="1"/>
                  <a:t>Estadístico</a:t>
                </a:r>
                <a:r>
                  <a:rPr lang="en-US" dirty="0"/>
                  <a:t> de </a:t>
                </a:r>
                <a:r>
                  <a:rPr lang="en-US" dirty="0" err="1"/>
                  <a:t>contraste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ú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mero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de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valores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mayores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que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en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una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muestra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de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valores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 err="1"/>
                  <a:t>Muestra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</a:t>
                </a:r>
                <a:r>
                  <a:rPr lang="en-US" baseline="-25000" dirty="0"/>
                  <a:t>o</a:t>
                </a:r>
                <a:r>
                  <a:rPr lang="en-US" dirty="0"/>
                  <a:t> = </a:t>
                </a:r>
                <a:r>
                  <a:rPr lang="en-US" dirty="0" err="1"/>
                  <a:t>Número</a:t>
                </a:r>
                <a:r>
                  <a:rPr lang="en-US" dirty="0"/>
                  <a:t> de </a:t>
                </a:r>
                <a:r>
                  <a:rPr lang="en-US" dirty="0" err="1"/>
                  <a:t>observaciones</a:t>
                </a:r>
                <a:r>
                  <a:rPr lang="en-US" dirty="0"/>
                  <a:t> en la </a:t>
                </a:r>
                <a:r>
                  <a:rPr lang="en-US" dirty="0" err="1"/>
                  <a:t>muestra</a:t>
                </a:r>
                <a:r>
                  <a:rPr lang="en-US" dirty="0"/>
                  <a:t> </a:t>
                </a:r>
                <a:r>
                  <a:rPr lang="en-US" dirty="0" err="1"/>
                  <a:t>mayores</a:t>
                </a:r>
                <a:r>
                  <a:rPr lang="en-US" dirty="0"/>
                  <a:t>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NOTA: Se </a:t>
                </a:r>
                <a:r>
                  <a:rPr lang="en-US" dirty="0" err="1"/>
                  <a:t>asume</a:t>
                </a:r>
                <a:r>
                  <a:rPr lang="en-US" dirty="0"/>
                  <a:t> que la </a:t>
                </a:r>
                <a:r>
                  <a:rPr lang="en-US" dirty="0" err="1"/>
                  <a:t>distribución</a:t>
                </a:r>
                <a:r>
                  <a:rPr lang="en-US" dirty="0"/>
                  <a:t>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es continua, </a:t>
                </a:r>
                <a:r>
                  <a:rPr lang="en-US" dirty="0" err="1"/>
                  <a:t>por</a:t>
                </a:r>
                <a:r>
                  <a:rPr lang="en-US" dirty="0"/>
                  <a:t> tanto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por</a:t>
                </a:r>
                <a:r>
                  <a:rPr lang="en-US" dirty="0"/>
                  <a:t> lo que los </a:t>
                </a:r>
                <a:r>
                  <a:rPr lang="en-US" dirty="0" err="1"/>
                  <a:t>valores</a:t>
                </a:r>
                <a:r>
                  <a:rPr lang="en-US" dirty="0"/>
                  <a:t> </a:t>
                </a:r>
                <a:r>
                  <a:rPr lang="en-US" dirty="0" err="1"/>
                  <a:t>iguales</a:t>
                </a:r>
                <a:r>
                  <a:rPr lang="en-US" dirty="0"/>
                  <a:t>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deben ser </a:t>
                </a:r>
                <a:r>
                  <a:rPr lang="en-US" dirty="0" err="1"/>
                  <a:t>eliminados</a:t>
                </a:r>
                <a:r>
                  <a:rPr lang="en-US" dirty="0"/>
                  <a:t> de la </a:t>
                </a:r>
                <a:r>
                  <a:rPr lang="en-US" dirty="0" err="1"/>
                  <a:t>muestra</a:t>
                </a:r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39AB4A-1C64-C2B1-F510-B7D4751D61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801" r="-46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C8F198-F416-AFCD-924E-644495E94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18301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FF1056-E23E-EFD2-56C8-D1575083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Contraste de signos</a:t>
            </a:r>
            <a:br>
              <a:rPr lang="es-ES" dirty="0"/>
            </a:br>
            <a:r>
              <a:rPr lang="es-ES" dirty="0"/>
              <a:t>Datos considerados como signos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39AB4A-1C64-C2B1-F510-B7D4751D61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Las </a:t>
                </a:r>
                <a:r>
                  <a:rPr lang="en-US" dirty="0" err="1"/>
                  <a:t>observaciones</a:t>
                </a:r>
                <a:r>
                  <a:rPr lang="en-US" dirty="0"/>
                  <a:t> de la </a:t>
                </a:r>
                <a:r>
                  <a:rPr lang="en-US" dirty="0" err="1"/>
                  <a:t>muestra</a:t>
                </a:r>
                <a:r>
                  <a:rPr lang="en-US" dirty="0"/>
                  <a:t> son </a:t>
                </a:r>
                <a:r>
                  <a:rPr lang="en-US" dirty="0" err="1"/>
                  <a:t>consideradas</a:t>
                </a:r>
                <a:r>
                  <a:rPr lang="en-US" dirty="0"/>
                  <a:t> </a:t>
                </a:r>
                <a:r>
                  <a:rPr lang="en-US" dirty="0" err="1"/>
                  <a:t>como</a:t>
                </a:r>
                <a:r>
                  <a:rPr lang="en-US" dirty="0"/>
                  <a:t> </a:t>
                </a:r>
                <a:r>
                  <a:rPr lang="en-US" dirty="0" err="1"/>
                  <a:t>signos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𝑆𝑖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 </m:t>
                    </m:r>
                    <m:r>
                      <a:rPr lang="en-US" i="1" dirty="0" err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𝑠𝑖𝑔𝑛𝑜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+</m:t>
                    </m:r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𝑆𝑖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&lt;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 </m:t>
                    </m:r>
                    <m:r>
                      <a:rPr lang="en-US" i="1" dirty="0" err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𝑠𝑖𝑔𝑛𝑜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−</m:t>
                    </m:r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𝑆𝑖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 </m:t>
                    </m:r>
                    <m:r>
                      <a:rPr lang="en-US" i="1" dirty="0" err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𝑠𝑖𝑔𝑛𝑜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0 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(</a:t>
                </a:r>
                <a:r>
                  <a:rPr lang="en-US" dirty="0" err="1">
                    <a:sym typeface="Wingdings" panose="05000000000000000000" pitchFamily="2" charset="2"/>
                  </a:rPr>
                  <a:t>eliminar</a:t>
                </a:r>
                <a:r>
                  <a:rPr lang="en-US" dirty="0">
                    <a:sym typeface="Wingdings" panose="05000000000000000000" pitchFamily="2" charset="2"/>
                  </a:rPr>
                  <a:t> del conjunto de </a:t>
                </a:r>
                <a:r>
                  <a:rPr lang="en-US" dirty="0" err="1">
                    <a:sym typeface="Wingdings" panose="05000000000000000000" pitchFamily="2" charset="2"/>
                  </a:rPr>
                  <a:t>datos</a:t>
                </a:r>
                <a:r>
                  <a:rPr lang="en-US" dirty="0">
                    <a:sym typeface="Wingdings" panose="05000000000000000000" pitchFamily="2" charset="2"/>
                  </a:rPr>
                  <a:t>)</a:t>
                </a:r>
              </a:p>
              <a:p>
                <a:r>
                  <a:rPr lang="en-US" dirty="0">
                    <a:sym typeface="Wingdings" panose="05000000000000000000" pitchFamily="2" charset="2"/>
                  </a:rPr>
                  <a:t>Por tanto, </a:t>
                </a:r>
                <a:r>
                  <a:rPr lang="en-US" dirty="0" err="1">
                    <a:sym typeface="Wingdings" panose="05000000000000000000" pitchFamily="2" charset="2"/>
                  </a:rPr>
                  <a:t>el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dirty="0" err="1">
                    <a:sym typeface="Wingdings" panose="05000000000000000000" pitchFamily="2" charset="2"/>
                  </a:rPr>
                  <a:t>estadístico</a:t>
                </a:r>
                <a:r>
                  <a:rPr lang="en-US" dirty="0">
                    <a:sym typeface="Wingdings" panose="05000000000000000000" pitchFamily="2" charset="2"/>
                  </a:rPr>
                  <a:t> de </a:t>
                </a:r>
                <a:r>
                  <a:rPr lang="en-US" dirty="0" err="1">
                    <a:sym typeface="Wingdings" panose="05000000000000000000" pitchFamily="2" charset="2"/>
                  </a:rPr>
                  <a:t>contraste</a:t>
                </a:r>
                <a:r>
                  <a:rPr lang="en-US" dirty="0">
                    <a:sym typeface="Wingdings" panose="05000000000000000000" pitchFamily="2" charset="2"/>
                  </a:rPr>
                  <a:t> S </a:t>
                </a:r>
                <a:r>
                  <a:rPr lang="es-ES" dirty="0">
                    <a:sym typeface="Wingdings" panose="05000000000000000000" pitchFamily="2" charset="2"/>
                  </a:rPr>
                  <a:t>puede considerarse como “número de signos positivos en una muestra de n datos”</a:t>
                </a:r>
                <a:r>
                  <a:rPr lang="en-US" dirty="0">
                    <a:sym typeface="Wingdings" panose="05000000000000000000" pitchFamily="2" charset="2"/>
                  </a:rPr>
                  <a:t> </a:t>
                </a:r>
              </a:p>
              <a:p>
                <a:r>
                  <a:rPr lang="en-US" dirty="0" err="1">
                    <a:sym typeface="Wingdings" panose="05000000000000000000" pitchFamily="2" charset="2"/>
                  </a:rPr>
                  <a:t>Ejemplo</a:t>
                </a:r>
                <a:endParaRPr lang="en-US" dirty="0">
                  <a:sym typeface="Wingdings" panose="05000000000000000000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=3</m:t>
                    </m:r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s-ES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𝑀𝑢𝑒𝑠𝑡𝑟𝑎</m:t>
                    </m:r>
                    <m:r>
                      <a:rPr lang="es-ES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3, 2, 5, 4, 7, 3, 6, 5, 8, 1</m:t>
                        </m:r>
                      </m:e>
                    </m:d>
                  </m:oMath>
                </a14:m>
                <a:endParaRPr lang="es-ES" i="1" dirty="0">
                  <a:latin typeface="Cambria Math" panose="02040503050406030204" pitchFamily="18" charset="0"/>
                  <a:sym typeface="Wingdings" panose="05000000000000000000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s-ES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𝑆𝑖𝑔𝑛𝑜𝑠</m:t>
                    </m:r>
                    <m:r>
                      <a:rPr lang="es-ES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0, −, +, +, +, 0, +, +, +, −</m:t>
                        </m:r>
                      </m:e>
                    </m:d>
                    <m:r>
                      <a:rPr lang="es-ES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(−, +, +, +, +, +, +, −)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</a:t>
                </a:r>
                <a:r>
                  <a:rPr lang="en-US" dirty="0" err="1">
                    <a:sym typeface="Wingdings" panose="05000000000000000000" pitchFamily="2" charset="2"/>
                  </a:rPr>
                  <a:t>Eliminando</a:t>
                </a:r>
                <a:r>
                  <a:rPr lang="en-US" dirty="0">
                    <a:sym typeface="Wingdings" panose="05000000000000000000" pitchFamily="2" charset="2"/>
                  </a:rPr>
                  <a:t> 0</a:t>
                </a: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Por lo que,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=8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𝑆</m:t>
                    </m:r>
                    <m:r>
                      <a:rPr lang="en-US" i="1" baseline="-25000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𝑜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 6 </m:t>
                    </m:r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39AB4A-1C64-C2B1-F510-B7D4751D61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b="-238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C8F198-F416-AFCD-924E-644495E94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437949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FF1056-E23E-EFD2-56C8-D1575083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Contraste de signos</a:t>
            </a:r>
            <a:br>
              <a:rPr lang="es-ES" dirty="0"/>
            </a:br>
            <a:r>
              <a:rPr lang="es-ES" dirty="0"/>
              <a:t>Procedimiento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39AB4A-1C64-C2B1-F510-B7D4751D61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Paso 1: </a:t>
                </a:r>
                <a:r>
                  <a:rPr lang="en-US" dirty="0" err="1"/>
                  <a:t>Eliminar</a:t>
                </a:r>
                <a:r>
                  <a:rPr lang="en-US" dirty="0"/>
                  <a:t> las </a:t>
                </a:r>
                <a:r>
                  <a:rPr lang="en-US" dirty="0" err="1"/>
                  <a:t>observaciones</a:t>
                </a:r>
                <a:r>
                  <a:rPr lang="en-US" dirty="0"/>
                  <a:t> </a:t>
                </a:r>
                <a:r>
                  <a:rPr lang="en-US" dirty="0" err="1"/>
                  <a:t>iguales</a:t>
                </a:r>
                <a:r>
                  <a:rPr lang="en-US" dirty="0"/>
                  <a:t>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/>
                  <a:t>y </a:t>
                </a:r>
                <a:r>
                  <a:rPr lang="en-US" dirty="0" err="1"/>
                  <a:t>calcular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valor del </a:t>
                </a:r>
                <a:r>
                  <a:rPr lang="en-US" dirty="0" err="1"/>
                  <a:t>estadístico</a:t>
                </a:r>
                <a:r>
                  <a:rPr lang="en-US" dirty="0"/>
                  <a:t> de </a:t>
                </a:r>
                <a:r>
                  <a:rPr lang="en-US" dirty="0" err="1"/>
                  <a:t>contraste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n-US" dirty="0"/>
                  <a:t>= </a:t>
                </a:r>
                <a:r>
                  <a:rPr lang="en-US" dirty="0" err="1"/>
                  <a:t>número</a:t>
                </a:r>
                <a:r>
                  <a:rPr lang="en-US" dirty="0"/>
                  <a:t> de </a:t>
                </a:r>
                <a:r>
                  <a:rPr lang="en-US" dirty="0" err="1"/>
                  <a:t>observaciones</a:t>
                </a:r>
                <a:r>
                  <a:rPr lang="en-US" dirty="0"/>
                  <a:t> </a:t>
                </a:r>
                <a:r>
                  <a:rPr lang="en-US" dirty="0" err="1"/>
                  <a:t>mayores</a:t>
                </a:r>
                <a:r>
                  <a:rPr lang="en-US" dirty="0"/>
                  <a:t>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endParaRPr lang="en-US" baseline="-25000" dirty="0"/>
              </a:p>
              <a:p>
                <a:r>
                  <a:rPr lang="en-US" dirty="0"/>
                  <a:t>Paso 2: </a:t>
                </a:r>
                <a:r>
                  <a:rPr lang="en-US" dirty="0" err="1"/>
                  <a:t>Determinar</a:t>
                </a:r>
                <a:r>
                  <a:rPr lang="en-US" dirty="0"/>
                  <a:t> </a:t>
                </a:r>
                <a:r>
                  <a:rPr lang="en-US" dirty="0" err="1"/>
                  <a:t>si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estadístico</a:t>
                </a:r>
                <a:r>
                  <a:rPr lang="en-US" dirty="0"/>
                  <a:t> de </a:t>
                </a:r>
                <a:r>
                  <a:rPr lang="en-US" dirty="0" err="1"/>
                  <a:t>contraste</a:t>
                </a:r>
                <a:r>
                  <a:rPr lang="en-US" dirty="0"/>
                  <a:t> es Binomial o Normal</a:t>
                </a:r>
              </a:p>
              <a:p>
                <a:pPr lvl="1"/>
                <a:r>
                  <a:rPr lang="es-ES" b="0" dirty="0"/>
                  <a:t>Si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es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peque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ñ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tiene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distribuci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ó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Binomial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Se </a:t>
                </a:r>
                <a:r>
                  <a:rPr lang="en-US" dirty="0" err="1"/>
                  <a:t>suele</a:t>
                </a:r>
                <a:r>
                  <a:rPr lang="en-US" dirty="0"/>
                  <a:t> </a:t>
                </a:r>
                <a:r>
                  <a:rPr lang="en-US" dirty="0" err="1"/>
                  <a:t>aceptar</a:t>
                </a:r>
                <a:r>
                  <a:rPr lang="en-US" dirty="0"/>
                  <a:t> que n es </a:t>
                </a:r>
                <a:r>
                  <a:rPr lang="en-US" dirty="0" err="1"/>
                  <a:t>pequeño</a:t>
                </a:r>
                <a:r>
                  <a:rPr lang="en-US" dirty="0"/>
                  <a:t> </a:t>
                </a:r>
                <a:r>
                  <a:rPr lang="en-US" dirty="0" err="1"/>
                  <a:t>cuando</a:t>
                </a:r>
                <a:r>
                  <a:rPr lang="en-US" dirty="0"/>
                  <a:t> &lt; 30, y </a:t>
                </a:r>
                <a:r>
                  <a:rPr lang="en-US" dirty="0" err="1"/>
                  <a:t>grande</a:t>
                </a:r>
                <a:r>
                  <a:rPr lang="en-US" dirty="0"/>
                  <a:t> </a:t>
                </a:r>
                <a:r>
                  <a:rPr lang="en-US" dirty="0" err="1"/>
                  <a:t>cuando</a:t>
                </a:r>
                <a:r>
                  <a:rPr lang="en-US" dirty="0"/>
                  <a:t> ≥ 30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i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es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grande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tiene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distribuci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ó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Normal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s-E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𝑁</m:t>
                    </m:r>
                    <m:d>
                      <m:dPr>
                        <m:ctrlPr>
                          <a:rPr lang="es-ES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s-E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num>
                          <m:den>
                            <m:r>
                              <a:rPr lang="es-E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den>
                        </m:f>
                        <m:r>
                          <a:rPr lang="es-E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s-ES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𝑛</m:t>
                                </m:r>
                              </m:e>
                            </m:rad>
                          </m:num>
                          <m:den>
                            <m:r>
                              <a:rPr lang="es-E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 err="1"/>
                  <a:t>Realizando</a:t>
                </a:r>
                <a:r>
                  <a:rPr lang="en-US" dirty="0"/>
                  <a:t>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estandarización</a:t>
                </a:r>
                <a:r>
                  <a:rPr lang="en-US" dirty="0"/>
                  <a:t> y </a:t>
                </a:r>
                <a:r>
                  <a:rPr lang="en-US" dirty="0" err="1"/>
                  <a:t>corrección</a:t>
                </a:r>
                <a:r>
                  <a:rPr lang="en-US" dirty="0"/>
                  <a:t> de </a:t>
                </a:r>
                <a:r>
                  <a:rPr lang="en-US" dirty="0" err="1"/>
                  <a:t>continuidad</a:t>
                </a:r>
                <a:endParaRPr lang="en-US" dirty="0"/>
              </a:p>
              <a:p>
                <a:pPr lvl="3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+0.5</m:t>
                        </m:r>
                      </m:e>
                    </m:d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−0.5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Paso 3: </a:t>
                </a:r>
                <a:r>
                  <a:rPr lang="en-US" dirty="0" err="1"/>
                  <a:t>Calcular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p-valor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ES" b="0" i="0" smtClean="0">
                            <a:latin typeface="Cambria Math" panose="02040503050406030204" pitchFamily="18" charset="0"/>
                          </a:rPr>
                          <m:t>vs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s-ES" b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s-ES" b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s-ES" b="0" smtClean="0">
                        <a:latin typeface="Cambria Math" panose="02040503050406030204" pitchFamily="18" charset="0"/>
                      </a:rPr>
                      <m:t>valor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1−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ES">
                            <a:latin typeface="Cambria Math" panose="02040503050406030204" pitchFamily="18" charset="0"/>
                          </a:rPr>
                          <m:t>vs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s-ES" b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s-ES" b="0" smtClean="0">
                        <a:latin typeface="Cambria Math" panose="02040503050406030204" pitchFamily="18" charset="0"/>
                      </a:rPr>
                      <m:t>valor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ES">
                            <a:latin typeface="Cambria Math" panose="02040503050406030204" pitchFamily="18" charset="0"/>
                          </a:rPr>
                          <m:t>vs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s-ES" b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s-ES" b="0" smtClean="0">
                        <a:latin typeface="Cambria Math" panose="02040503050406030204" pitchFamily="18" charset="0"/>
                      </a:rPr>
                      <m:t>valor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min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Paso 4: </a:t>
                </a:r>
                <a:r>
                  <a:rPr lang="en-US" dirty="0" err="1"/>
                  <a:t>Llegar</a:t>
                </a:r>
                <a:r>
                  <a:rPr lang="en-US" dirty="0"/>
                  <a:t> a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conclusión</a:t>
                </a:r>
                <a:endParaRPr lang="en-US" dirty="0"/>
              </a:p>
              <a:p>
                <a:pPr lvl="1"/>
                <a:r>
                  <a:rPr lang="en-US" dirty="0" err="1"/>
                  <a:t>Rechazar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dirty="0" smtClean="0">
                        <a:latin typeface="Cambria Math" panose="02040503050406030204" pitchFamily="18" charset="0"/>
                      </a:rPr>
                      <m:t>valor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ES" dirty="0"/>
                  <a:t> y aceptar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dirty="0"/>
                  <a:t>    (</a:t>
                </a:r>
                <a:r>
                  <a:rPr lang="en-US" dirty="0" err="1"/>
                  <a:t>Normalmente</a:t>
                </a:r>
                <a:r>
                  <a:rPr lang="en-US" dirty="0"/>
                  <a:t> se </a:t>
                </a:r>
                <a:r>
                  <a:rPr lang="en-US" dirty="0" err="1"/>
                  <a:t>considera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s-ES" dirty="0"/>
                  <a:t>)</a:t>
                </a:r>
                <a:endParaRPr lang="en-US" baseline="-25000" dirty="0"/>
              </a:p>
              <a:p>
                <a:pPr lvl="1"/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39AB4A-1C64-C2B1-F510-B7D4751D61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2"/>
                <a:stretch>
                  <a:fillRect l="-696" t="-2488" b="-211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C8F198-F416-AFCD-924E-644495E94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13945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C1AFF-1541-FABE-95B6-BA5070D9C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3. Contraste de signos</a:t>
            </a:r>
            <a:br>
              <a:rPr lang="es-ES" dirty="0"/>
            </a:br>
            <a:r>
              <a:rPr lang="es-ES" dirty="0"/>
              <a:t>Ejemplo 10.9 (Uso sin autorización de una cuenta)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A2D220-1A5A-714E-CBB3-8ED95B71A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El objetivo es detectar si una cuenta de ordenador fue utilizada por una persona no autorizada, midiendo los tiempos entre pulsaciones de teclas</a:t>
            </a:r>
            <a:endParaRPr lang="en-US" dirty="0"/>
          </a:p>
          <a:p>
            <a:r>
              <a:rPr lang="es-ES" dirty="0"/>
              <a:t>El propietario de la cuenta generalmente deja 0.2 segundos entre pulsaciones de teclas</a:t>
            </a:r>
          </a:p>
          <a:p>
            <a:r>
              <a:rPr lang="es-ES" dirty="0"/>
              <a:t>Los siguientes tiempos entre pulsaciones de tecla se registraron cuando un usuario escribió el nombre de usuario y la contraseña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0.24, 0.22, 0.26, 0.34, 0.35, 0.32, 0.33, 0.29, 0.19, 0.36, 0.30, 0.15, 0.17, 0.28, 0.38, 0.40, 0.37, 0.27 </a:t>
            </a:r>
            <a:r>
              <a:rPr lang="en-US" dirty="0" err="1"/>
              <a:t>segundos</a:t>
            </a:r>
            <a:endParaRPr lang="en-US" dirty="0"/>
          </a:p>
          <a:p>
            <a:r>
              <a:rPr lang="es-ES" dirty="0"/>
              <a:t>Con un nivel de confianza del 95 %, ¿la cuenta fue utilizada por una persona no autorizada?</a:t>
            </a:r>
            <a:endParaRPr lang="en-US" dirty="0"/>
          </a:p>
          <a:p>
            <a:pPr lvl="1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927ADC6-38D3-0247-7CE3-8B10658F0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04946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C1AFF-1541-FABE-95B6-BA5070D9C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Contraste de signos</a:t>
            </a:r>
            <a:br>
              <a:rPr lang="es-ES" dirty="0"/>
            </a:br>
            <a:r>
              <a:rPr lang="es-ES" dirty="0"/>
              <a:t>Ejemplo 10.9 (Solución) (I)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4A2D220-1A5A-714E-CBB3-8ED95B71A7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s-ES" dirty="0"/>
                  <a:t>En el ejemplo 9.28 se resolvió el mismo caso mediante un contraste paramétrico, asumiendo que los datos eran Normales</a:t>
                </a:r>
              </a:p>
              <a:p>
                <a:r>
                  <a:rPr lang="es-ES" dirty="0"/>
                  <a:t>Ahora asumimos que no son Normales y resolvemos el mismo ejemplo aplicando un contraste de signos</a:t>
                </a:r>
                <a:endParaRPr lang="en-US" dirty="0"/>
              </a:p>
              <a:p>
                <a:r>
                  <a:rPr lang="en-US" dirty="0" err="1"/>
                  <a:t>Hipótesis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≠0.2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=18, 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0.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=1−0.95=0.05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4A2D220-1A5A-714E-CBB3-8ED95B71A7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927ADC6-38D3-0247-7CE3-8B10658F0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10</a:t>
            </a:fld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BB42A57-3511-ED7F-3B85-898A584DB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4893" y="3473063"/>
            <a:ext cx="3639671" cy="306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336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C1AFF-1541-FABE-95B6-BA5070D9C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Contraste de signos</a:t>
            </a:r>
            <a:br>
              <a:rPr lang="es-ES" dirty="0"/>
            </a:br>
            <a:r>
              <a:rPr lang="es-ES" dirty="0"/>
              <a:t>Ejemplo 10.9 (Solución) (II)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4A2D220-1A5A-714E-CBB3-8ED95B71A7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Paso 1: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=18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porque</a:t>
                </a:r>
                <a:r>
                  <a:rPr lang="en-US" dirty="0"/>
                  <a:t> </a:t>
                </a:r>
                <a:r>
                  <a:rPr lang="en-US" dirty="0" err="1"/>
                  <a:t>ningún</a:t>
                </a:r>
                <a:r>
                  <a:rPr lang="en-US" dirty="0"/>
                  <a:t> </a:t>
                </a:r>
                <a:r>
                  <a:rPr lang="en-US" dirty="0" err="1"/>
                  <a:t>tiempo</a:t>
                </a:r>
                <a:r>
                  <a:rPr lang="en-US" dirty="0"/>
                  <a:t> </a:t>
                </a:r>
                <a:r>
                  <a:rPr lang="en-US" dirty="0" err="1"/>
                  <a:t>registrado</a:t>
                </a:r>
                <a:r>
                  <a:rPr lang="en-US" dirty="0"/>
                  <a:t> es </a:t>
                </a:r>
                <a:r>
                  <a:rPr lang="en-US" dirty="0" err="1"/>
                  <a:t>igual</a:t>
                </a:r>
                <a:r>
                  <a:rPr lang="en-US" dirty="0"/>
                  <a:t>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/>
                  <a:t> (0.2)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porque</a:t>
                </a:r>
                <a:r>
                  <a:rPr lang="en-US" dirty="0"/>
                  <a:t> 15 de los 18 </a:t>
                </a:r>
                <a:r>
                  <a:rPr lang="en-US" dirty="0" err="1"/>
                  <a:t>tiempos</a:t>
                </a:r>
                <a:r>
                  <a:rPr lang="en-US" dirty="0"/>
                  <a:t> </a:t>
                </a:r>
                <a:r>
                  <a:rPr lang="en-US" dirty="0" err="1"/>
                  <a:t>registrados</a:t>
                </a:r>
                <a:r>
                  <a:rPr lang="en-US" dirty="0"/>
                  <a:t> son </a:t>
                </a:r>
                <a:r>
                  <a:rPr lang="en-US" dirty="0" err="1"/>
                  <a:t>mayores</a:t>
                </a:r>
                <a:r>
                  <a:rPr lang="en-US" dirty="0"/>
                  <a:t> que 0.2 </a:t>
                </a:r>
              </a:p>
              <a:p>
                <a:r>
                  <a:rPr lang="en-US" dirty="0"/>
                  <a:t>Paso 2: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=18</m:t>
                    </m:r>
                  </m:oMath>
                </a14:m>
                <a:r>
                  <a:rPr lang="en-US" dirty="0"/>
                  <a:t> es </a:t>
                </a:r>
                <a:r>
                  <a:rPr lang="en-US" dirty="0" err="1"/>
                  <a:t>pequeño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&lt;30</m:t>
                    </m:r>
                  </m:oMath>
                </a14:m>
                <a:r>
                  <a:rPr lang="en-US" dirty="0"/>
                  <a:t>), </a:t>
                </a:r>
                <a:r>
                  <a:rPr lang="en-US" dirty="0" err="1"/>
                  <a:t>por</a:t>
                </a:r>
                <a:r>
                  <a:rPr lang="en-US" dirty="0"/>
                  <a:t> tanto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tiene</a:t>
                </a:r>
                <a:r>
                  <a:rPr lang="en-US" dirty="0"/>
                  <a:t> </a:t>
                </a:r>
                <a:r>
                  <a:rPr lang="en-US" dirty="0" err="1"/>
                  <a:t>distribución</a:t>
                </a:r>
                <a:r>
                  <a:rPr lang="en-US" dirty="0"/>
                  <a:t> Binomial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ES" i="1" smtClean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(18, 0.5)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Paso 3: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≠0.2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por</a:t>
                </a:r>
                <a:r>
                  <a:rPr lang="en-US" dirty="0"/>
                  <a:t> tanto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valor</m:t>
                    </m:r>
                    <m:r>
                      <a:rPr lang="es-E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min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},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{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𝑆</m:t>
                    </m:r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valor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=2∙</m:t>
                    </m:r>
                    <m:func>
                      <m:func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" b="0" i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endChr m:val="}"/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begChr m:val="{"/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≤15</m:t>
                                </m:r>
                              </m:e>
                            </m:d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begChr m:val="{"/>
                                <m:ctrlP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s-E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=2∙</m:t>
                    </m:r>
                    <m:func>
                      <m:func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endChr m:val="}"/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begChr m:val="{"/>
                                <m:ctrlP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≤15</m:t>
                                </m:r>
                              </m:e>
                            </m:d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begChr m:val="{"/>
                                <m:ctrlP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𝑆</m:t>
                                </m:r>
                                <m:r>
                                  <a:rPr lang="es-E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14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=2∙</m:t>
                    </m:r>
                    <m:r>
                      <m:rPr>
                        <m:sty m:val="p"/>
                      </m:rP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min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⁡(0.9993, 1−0.9962)=2∙0.0038=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𝟎𝟎𝟕𝟔</m:t>
                    </m:r>
                  </m:oMath>
                </a14:m>
                <a:endParaRPr lang="en-US" b="1" dirty="0"/>
              </a:p>
              <a:p>
                <a:pPr lvl="2"/>
                <a:r>
                  <a:rPr lang="en-US" dirty="0" err="1"/>
                  <a:t>Opción</a:t>
                </a:r>
                <a:r>
                  <a:rPr lang="en-US" dirty="0"/>
                  <a:t> 1: </a:t>
                </a:r>
                <a:r>
                  <a:rPr lang="en-US" dirty="0" err="1"/>
                  <a:t>Usando</a:t>
                </a:r>
                <a:r>
                  <a:rPr lang="en-US" dirty="0"/>
                  <a:t> la </a:t>
                </a:r>
                <a:r>
                  <a:rPr lang="en-US" dirty="0" err="1"/>
                  <a:t>tabla</a:t>
                </a:r>
                <a:r>
                  <a:rPr lang="en-US" dirty="0"/>
                  <a:t> de la </a:t>
                </a:r>
                <a:r>
                  <a:rPr lang="en-US" dirty="0" err="1"/>
                  <a:t>distribución</a:t>
                </a:r>
                <a:r>
                  <a:rPr lang="en-US" dirty="0"/>
                  <a:t> Binomial</a:t>
                </a:r>
              </a:p>
              <a:p>
                <a:pPr lvl="2"/>
                <a:r>
                  <a:rPr lang="en-US" dirty="0" err="1"/>
                  <a:t>Opción</a:t>
                </a:r>
                <a:r>
                  <a:rPr lang="en-US" dirty="0"/>
                  <a:t> 2: </a:t>
                </a:r>
                <a:r>
                  <a:rPr lang="en-US" dirty="0" err="1"/>
                  <a:t>Calculando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b>
                      <m:sup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sup>
                      <m:e>
                        <m:d>
                          <m:d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sSup>
                          <m:sSup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(1−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Paso 4: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valor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 0.0076 &lt; 0.05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:r>
                  <a:rPr lang="en-US" b="1" dirty="0">
                    <a:sym typeface="Wingdings" panose="05000000000000000000" pitchFamily="2" charset="2"/>
                  </a:rPr>
                  <a:t>El </a:t>
                </a:r>
                <a:r>
                  <a:rPr lang="en-US" b="1" dirty="0" err="1">
                    <a:sym typeface="Wingdings" panose="05000000000000000000" pitchFamily="2" charset="2"/>
                  </a:rPr>
                  <a:t>contraste</a:t>
                </a:r>
                <a:r>
                  <a:rPr lang="en-US" b="1" dirty="0">
                    <a:sym typeface="Wingdings" panose="05000000000000000000" pitchFamily="2" charset="2"/>
                  </a:rPr>
                  <a:t> de </a:t>
                </a:r>
                <a:r>
                  <a:rPr lang="en-US" b="1" dirty="0" err="1">
                    <a:sym typeface="Wingdings" panose="05000000000000000000" pitchFamily="2" charset="2"/>
                  </a:rPr>
                  <a:t>signos</a:t>
                </a:r>
                <a:r>
                  <a:rPr lang="en-US" b="1" dirty="0">
                    <a:sym typeface="Wingdings" panose="05000000000000000000" pitchFamily="2" charset="2"/>
                  </a:rPr>
                  <a:t> </a:t>
                </a:r>
                <a:r>
                  <a:rPr lang="en-US" b="1" dirty="0" err="1">
                    <a:sym typeface="Wingdings" panose="05000000000000000000" pitchFamily="2" charset="2"/>
                  </a:rPr>
                  <a:t>rechaza</a:t>
                </a:r>
                <a:r>
                  <a:rPr lang="en-US" b="1" dirty="0"/>
                  <a:t> H</a:t>
                </a:r>
                <a:r>
                  <a:rPr lang="en-US" b="1" baseline="-25000" dirty="0"/>
                  <a:t>0</a:t>
                </a:r>
                <a:r>
                  <a:rPr lang="en-US" dirty="0"/>
                  <a:t>, </a:t>
                </a:r>
                <a:r>
                  <a:rPr lang="en-US" dirty="0" err="1"/>
                  <a:t>por</a:t>
                </a:r>
                <a:r>
                  <a:rPr lang="en-US" dirty="0"/>
                  <a:t> lo que con un 95% de </a:t>
                </a:r>
                <a:r>
                  <a:rPr lang="en-US" dirty="0" err="1"/>
                  <a:t>confianza</a:t>
                </a:r>
                <a:r>
                  <a:rPr lang="en-US" dirty="0"/>
                  <a:t>, SÍ se </a:t>
                </a:r>
                <a:r>
                  <a:rPr lang="en-US" dirty="0" err="1"/>
                  <a:t>puede</a:t>
                </a:r>
                <a:r>
                  <a:rPr lang="en-US" dirty="0"/>
                  <a:t> </a:t>
                </a:r>
                <a:r>
                  <a:rPr lang="en-US" dirty="0" err="1"/>
                  <a:t>afirmar</a:t>
                </a:r>
                <a:r>
                  <a:rPr lang="en-US" dirty="0"/>
                  <a:t> que la </a:t>
                </a:r>
                <a:r>
                  <a:rPr lang="en-US" dirty="0" err="1"/>
                  <a:t>cuenta</a:t>
                </a:r>
                <a:r>
                  <a:rPr lang="en-US" dirty="0"/>
                  <a:t> </a:t>
                </a:r>
                <a:r>
                  <a:rPr lang="en-US" dirty="0" err="1"/>
                  <a:t>fue</a:t>
                </a:r>
                <a:r>
                  <a:rPr lang="en-US" dirty="0"/>
                  <a:t> </a:t>
                </a:r>
                <a:r>
                  <a:rPr lang="en-US" dirty="0" err="1"/>
                  <a:t>usada</a:t>
                </a:r>
                <a:r>
                  <a:rPr lang="en-US" dirty="0"/>
                  <a:t> </a:t>
                </a:r>
                <a:r>
                  <a:rPr lang="en-US" dirty="0" err="1"/>
                  <a:t>por</a:t>
                </a:r>
                <a:r>
                  <a:rPr lang="en-US" dirty="0"/>
                  <a:t> </a:t>
                </a:r>
                <a:r>
                  <a:rPr lang="en-US" dirty="0" err="1"/>
                  <a:t>una</a:t>
                </a:r>
                <a:r>
                  <a:rPr lang="en-US" dirty="0"/>
                  <a:t> persona no </a:t>
                </a:r>
                <a:r>
                  <a:rPr lang="en-US" dirty="0" err="1"/>
                  <a:t>autorizada</a:t>
                </a:r>
                <a:r>
                  <a:rPr lang="en-US" dirty="0"/>
                  <a:t> (</a:t>
                </a:r>
                <a:r>
                  <a:rPr lang="en-US" dirty="0" err="1"/>
                  <a:t>Misma</a:t>
                </a:r>
                <a:r>
                  <a:rPr lang="en-US" dirty="0"/>
                  <a:t> conclusion que en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ejemplo</a:t>
                </a:r>
                <a:r>
                  <a:rPr lang="en-US" dirty="0"/>
                  <a:t> 9.28)</a:t>
                </a:r>
              </a:p>
              <a:p>
                <a:pPr lvl="1"/>
                <a:r>
                  <a:rPr lang="en-US" dirty="0" err="1"/>
                  <a:t>También</a:t>
                </a:r>
                <a:r>
                  <a:rPr lang="en-US" dirty="0"/>
                  <a:t> </a:t>
                </a:r>
                <a:r>
                  <a:rPr lang="en-US" dirty="0" err="1"/>
                  <a:t>podría</a:t>
                </a:r>
                <a:r>
                  <a:rPr lang="en-US" dirty="0"/>
                  <a:t> </a:t>
                </a:r>
                <a:r>
                  <a:rPr lang="en-US" dirty="0" err="1"/>
                  <a:t>afirmarse</a:t>
                </a:r>
                <a:r>
                  <a:rPr lang="en-US" dirty="0"/>
                  <a:t> con un </a:t>
                </a:r>
                <a:r>
                  <a:rPr lang="en-US" dirty="0" err="1"/>
                  <a:t>nivel</a:t>
                </a:r>
                <a:r>
                  <a:rPr lang="en-US" dirty="0"/>
                  <a:t> de </a:t>
                </a:r>
                <a:r>
                  <a:rPr lang="en-US" dirty="0" err="1"/>
                  <a:t>confianza</a:t>
                </a:r>
                <a:r>
                  <a:rPr lang="en-US" dirty="0"/>
                  <a:t> del 99%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1−0.0076=0.9924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4A2D220-1A5A-714E-CBB3-8ED95B71A7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895850"/>
              </a:xfrm>
              <a:blipFill>
                <a:blip r:embed="rId2"/>
                <a:stretch>
                  <a:fillRect l="-812" t="-2363" r="-290" b="-498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927ADC6-38D3-0247-7CE3-8B10658F0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5579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C1AFF-1541-FABE-95B6-BA5070D9C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Contraste de signos</a:t>
            </a:r>
            <a:br>
              <a:rPr lang="es-ES" dirty="0"/>
            </a:br>
            <a:r>
              <a:rPr lang="es-ES" dirty="0"/>
              <a:t>Ejemplo 10.10 (Exceso de velocidad)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A2D220-1A5A-714E-CBB3-8ED95B71A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Cuando Eric aprendió a conducir, sospechaba que la velocidad media de los coches en su camino a la escuela excede el límite de velocidad, que es de 30 mph</a:t>
            </a:r>
          </a:p>
          <a:p>
            <a:r>
              <a:rPr lang="es-ES" dirty="0"/>
              <a:t>Como experimento, conduce a la escuela con su amigo </a:t>
            </a:r>
            <a:r>
              <a:rPr lang="es-ES" dirty="0" err="1"/>
              <a:t>Evanne</a:t>
            </a:r>
            <a:r>
              <a:rPr lang="es-ES" dirty="0"/>
              <a:t> a una velocidad de 30 mph y </a:t>
            </a:r>
            <a:r>
              <a:rPr lang="es-ES" dirty="0" err="1"/>
              <a:t>Evanne</a:t>
            </a:r>
            <a:r>
              <a:rPr lang="es-ES" dirty="0"/>
              <a:t> cuenta los coches</a:t>
            </a:r>
          </a:p>
          <a:p>
            <a:r>
              <a:rPr lang="es-ES" dirty="0"/>
              <a:t>Al final, </a:t>
            </a:r>
            <a:r>
              <a:rPr lang="es-ES" dirty="0" err="1"/>
              <a:t>Evanne</a:t>
            </a:r>
            <a:r>
              <a:rPr lang="es-ES" dirty="0"/>
              <a:t> informa que 56 coches conducían más rápido que Eric, y 44 coches conducían más lento</a:t>
            </a:r>
          </a:p>
          <a:p>
            <a:r>
              <a:rPr lang="es-ES" dirty="0"/>
              <a:t>¿Esto confirma la sospecha de Eric? </a:t>
            </a:r>
          </a:p>
          <a:p>
            <a:pPr lvl="1"/>
            <a:r>
              <a:rPr lang="en-US" dirty="0"/>
              <a:t>Con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confianza</a:t>
            </a:r>
            <a:r>
              <a:rPr lang="en-US" dirty="0"/>
              <a:t> del 95%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927ADC6-38D3-0247-7CE3-8B10658F0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017177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C1AFF-1541-FABE-95B6-BA5070D9C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Contraste de signos</a:t>
            </a:r>
            <a:br>
              <a:rPr lang="es-ES" dirty="0"/>
            </a:br>
            <a:r>
              <a:rPr lang="es-ES" dirty="0"/>
              <a:t>Ejemplo 10.10 (Solución) (I)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4A2D220-1A5A-714E-CBB3-8ED95B71A7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Hipótesis: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 30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&gt; 30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=56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=1−0.95=0.05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Este </a:t>
                </a:r>
                <a:r>
                  <a:rPr lang="en-US" dirty="0" err="1"/>
                  <a:t>ejercicio</a:t>
                </a:r>
                <a:r>
                  <a:rPr lang="en-US" dirty="0"/>
                  <a:t> </a:t>
                </a:r>
                <a:r>
                  <a:rPr lang="en-US" dirty="0" err="1"/>
                  <a:t>utiliza</a:t>
                </a:r>
                <a:r>
                  <a:rPr lang="en-US" dirty="0"/>
                  <a:t> </a:t>
                </a:r>
                <a:r>
                  <a:rPr lang="en-US" dirty="0" err="1"/>
                  <a:t>datos</a:t>
                </a:r>
                <a:r>
                  <a:rPr lang="en-US" dirty="0"/>
                  <a:t> </a:t>
                </a:r>
                <a:r>
                  <a:rPr lang="en-US" dirty="0" err="1"/>
                  <a:t>ordinales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No es </a:t>
                </a:r>
                <a:r>
                  <a:rPr lang="en-US" dirty="0" err="1"/>
                  <a:t>necesario</a:t>
                </a:r>
                <a:r>
                  <a:rPr lang="en-US" dirty="0"/>
                  <a:t> </a:t>
                </a:r>
                <a:r>
                  <a:rPr lang="en-US" dirty="0" err="1"/>
                  <a:t>conocer</a:t>
                </a:r>
                <a:r>
                  <a:rPr lang="en-US" dirty="0"/>
                  <a:t> la </a:t>
                </a:r>
                <a:r>
                  <a:rPr lang="en-US" dirty="0" err="1"/>
                  <a:t>velocidad</a:t>
                </a:r>
                <a:r>
                  <a:rPr lang="en-US" dirty="0"/>
                  <a:t> exacta de </a:t>
                </a:r>
                <a:r>
                  <a:rPr lang="en-US" dirty="0" err="1"/>
                  <a:t>cada</a:t>
                </a:r>
                <a:r>
                  <a:rPr lang="en-US" dirty="0"/>
                  <a:t> </a:t>
                </a:r>
                <a:r>
                  <a:rPr lang="en-US" dirty="0" err="1"/>
                  <a:t>coche</a:t>
                </a:r>
                <a:r>
                  <a:rPr lang="en-US" dirty="0"/>
                  <a:t> para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contraste</a:t>
                </a:r>
                <a:r>
                  <a:rPr lang="en-US" dirty="0"/>
                  <a:t> de </a:t>
                </a:r>
                <a:r>
                  <a:rPr lang="en-US" dirty="0" err="1"/>
                  <a:t>signos</a:t>
                </a:r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4A2D220-1A5A-714E-CBB3-8ED95B71A7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927ADC6-38D3-0247-7CE3-8B10658F0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810223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C1AFF-1541-FABE-95B6-BA5070D9C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3. Contraste de signos</a:t>
            </a:r>
            <a:br>
              <a:rPr lang="es-ES" dirty="0"/>
            </a:br>
            <a:r>
              <a:rPr lang="es-ES" dirty="0"/>
              <a:t>Ejemplo 10.10 (Solución) (II)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4A2D220-1A5A-714E-CBB3-8ED95B71A7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Paso 1: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𝑜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=56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porque</a:t>
                </a:r>
                <a:r>
                  <a:rPr lang="en-US" dirty="0"/>
                  <a:t> 56 de los 100 </a:t>
                </a:r>
                <a:r>
                  <a:rPr lang="en-US" dirty="0" err="1"/>
                  <a:t>coches</a:t>
                </a:r>
                <a:r>
                  <a:rPr lang="en-US" dirty="0"/>
                  <a:t> </a:t>
                </a:r>
                <a:r>
                  <a:rPr lang="en-US" dirty="0" err="1"/>
                  <a:t>exceden</a:t>
                </a:r>
                <a:r>
                  <a:rPr lang="en-US" dirty="0"/>
                  <a:t> 30 mph</a:t>
                </a:r>
              </a:p>
              <a:p>
                <a:r>
                  <a:rPr lang="en-US" dirty="0"/>
                  <a:t>Paso 2: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=100</m:t>
                    </m:r>
                  </m:oMath>
                </a14:m>
                <a:r>
                  <a:rPr lang="en-US" dirty="0"/>
                  <a:t> es </a:t>
                </a:r>
                <a:r>
                  <a:rPr lang="en-US" dirty="0" err="1"/>
                  <a:t>grande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≥30</m:t>
                    </m:r>
                  </m:oMath>
                </a14:m>
                <a:r>
                  <a:rPr lang="en-US" dirty="0"/>
                  <a:t>), </a:t>
                </a:r>
                <a:r>
                  <a:rPr lang="en-US" dirty="0" err="1"/>
                  <a:t>por</a:t>
                </a:r>
                <a:r>
                  <a:rPr lang="en-US" dirty="0"/>
                  <a:t> lo que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tiene</a:t>
                </a:r>
                <a:r>
                  <a:rPr lang="en-US" dirty="0"/>
                  <a:t>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distribución</a:t>
                </a:r>
                <a:r>
                  <a:rPr lang="en-US" dirty="0"/>
                  <a:t> Normal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𝑁</m:t>
                    </m:r>
                    <m:d>
                      <m:dPr>
                        <m:ctrlPr>
                          <a:rPr lang="es-ES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s-E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</m:num>
                          <m:den>
                            <m:r>
                              <a:rPr lang="es-E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den>
                        </m:f>
                        <m:r>
                          <a:rPr lang="es-E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f>
                          <m:fPr>
                            <m:ctrlPr>
                              <a:rPr lang="es-ES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s-ES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𝑛</m:t>
                                </m:r>
                              </m:e>
                            </m:rad>
                          </m:num>
                          <m:den>
                            <m:r>
                              <a:rPr lang="es-E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den>
                        </m:f>
                        <m:r>
                          <a:rPr lang="es-ES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 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𝑁</m:t>
                    </m:r>
                    <m:r>
                      <a:rPr lang="es-E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(50, 5)</m:t>
                    </m:r>
                  </m:oMath>
                </a14:m>
                <a:endParaRPr lang="en-US" dirty="0"/>
              </a:p>
              <a:p>
                <a:pPr>
                  <a:lnSpc>
                    <a:spcPct val="120000"/>
                  </a:lnSpc>
                </a:pPr>
                <a:r>
                  <a:rPr lang="en-US" dirty="0"/>
                  <a:t>Paso 3: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&gt; 30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por</a:t>
                </a:r>
                <a:r>
                  <a:rPr lang="en-US" dirty="0"/>
                  <a:t> lo que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</a:rPr>
                      <m:t>valor</m:t>
                    </m:r>
                    <m:r>
                      <a:rPr lang="es-ES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&lt;56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≈1−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&lt;55.5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55.5−50</m:t>
                            </m:r>
                          </m:num>
                          <m:den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&lt;1.1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=1−0.8643=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𝟏𝟑𝟓𝟕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 err="1"/>
                  <a:t>Opción</a:t>
                </a:r>
                <a:r>
                  <a:rPr lang="en-US" dirty="0"/>
                  <a:t> 1: </a:t>
                </a:r>
                <a:r>
                  <a:rPr lang="en-US" dirty="0" err="1"/>
                  <a:t>Usando</a:t>
                </a:r>
                <a:r>
                  <a:rPr lang="en-US" dirty="0"/>
                  <a:t> la table de la </a:t>
                </a:r>
                <a:r>
                  <a:rPr lang="en-US" dirty="0" err="1"/>
                  <a:t>distribución</a:t>
                </a:r>
                <a:r>
                  <a:rPr lang="en-US" dirty="0"/>
                  <a:t> Normal </a:t>
                </a:r>
                <a:r>
                  <a:rPr lang="en-US" dirty="0" err="1"/>
                  <a:t>estándar</a:t>
                </a:r>
                <a:endParaRPr lang="en-US" dirty="0"/>
              </a:p>
              <a:p>
                <a:pPr lvl="1"/>
                <a:r>
                  <a:rPr lang="en-US" dirty="0" err="1"/>
                  <a:t>Opción</a:t>
                </a:r>
                <a:r>
                  <a:rPr lang="en-US" dirty="0"/>
                  <a:t> 2: </a:t>
                </a:r>
                <a:r>
                  <a:rPr lang="en-US" dirty="0" err="1"/>
                  <a:t>Calculando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𝜋</m:t>
                            </m:r>
                          </m:e>
                        </m:rad>
                      </m:den>
                    </m:f>
                    <m:nary>
                      <m:nary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p>
                      <m:e>
                        <m:sSup>
                          <m:sSupPr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p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𝑑𝑥</m:t>
                        </m:r>
                      </m:e>
                    </m:nary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Nota: El </a:t>
                </a:r>
                <a:r>
                  <a:rPr lang="en-US" dirty="0" err="1"/>
                  <a:t>cambio</a:t>
                </a:r>
                <a:r>
                  <a:rPr lang="en-US" dirty="0"/>
                  <a:t> de 56 </a:t>
                </a:r>
                <a:r>
                  <a:rPr lang="en-US" dirty="0" err="1"/>
                  <a:t>por</a:t>
                </a:r>
                <a:r>
                  <a:rPr lang="en-US" dirty="0"/>
                  <a:t> 55.5 es </a:t>
                </a:r>
                <a:r>
                  <a:rPr lang="en-US" dirty="0" err="1"/>
                  <a:t>debido</a:t>
                </a:r>
                <a:r>
                  <a:rPr lang="en-US" dirty="0"/>
                  <a:t> a la </a:t>
                </a:r>
                <a:r>
                  <a:rPr lang="en-US" dirty="0" err="1"/>
                  <a:t>corrección</a:t>
                </a:r>
                <a:r>
                  <a:rPr lang="en-US" dirty="0"/>
                  <a:t> de </a:t>
                </a:r>
                <a:r>
                  <a:rPr lang="en-US" dirty="0" err="1"/>
                  <a:t>continuidad</a:t>
                </a:r>
                <a:r>
                  <a:rPr lang="en-US" dirty="0"/>
                  <a:t> </a:t>
                </a:r>
              </a:p>
              <a:p>
                <a:r>
                  <a:rPr lang="en-US" dirty="0"/>
                  <a:t>Paso 4: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valor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 0.1357 &gt; 0.05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:r>
                  <a:rPr lang="en-US" b="1" dirty="0">
                    <a:sym typeface="Wingdings" panose="05000000000000000000" pitchFamily="2" charset="2"/>
                  </a:rPr>
                  <a:t>El </a:t>
                </a:r>
                <a:r>
                  <a:rPr lang="en-US" b="1" dirty="0" err="1">
                    <a:sym typeface="Wingdings" panose="05000000000000000000" pitchFamily="2" charset="2"/>
                  </a:rPr>
                  <a:t>contraste</a:t>
                </a:r>
                <a:r>
                  <a:rPr lang="en-US" b="1" dirty="0">
                    <a:sym typeface="Wingdings" panose="05000000000000000000" pitchFamily="2" charset="2"/>
                  </a:rPr>
                  <a:t> de </a:t>
                </a:r>
                <a:r>
                  <a:rPr lang="en-US" b="1" dirty="0" err="1">
                    <a:sym typeface="Wingdings" panose="05000000000000000000" pitchFamily="2" charset="2"/>
                  </a:rPr>
                  <a:t>signos</a:t>
                </a:r>
                <a:r>
                  <a:rPr lang="en-US" b="1" dirty="0">
                    <a:sym typeface="Wingdings" panose="05000000000000000000" pitchFamily="2" charset="2"/>
                  </a:rPr>
                  <a:t> no </a:t>
                </a:r>
                <a:r>
                  <a:rPr lang="en-US" b="1" dirty="0" err="1">
                    <a:sym typeface="Wingdings" panose="05000000000000000000" pitchFamily="2" charset="2"/>
                  </a:rPr>
                  <a:t>puede</a:t>
                </a:r>
                <a:r>
                  <a:rPr lang="en-US" b="1" dirty="0">
                    <a:sym typeface="Wingdings" panose="05000000000000000000" pitchFamily="2" charset="2"/>
                  </a:rPr>
                  <a:t> </a:t>
                </a:r>
                <a:r>
                  <a:rPr lang="en-US" b="1" dirty="0" err="1">
                    <a:sym typeface="Wingdings" panose="05000000000000000000" pitchFamily="2" charset="2"/>
                  </a:rPr>
                  <a:t>rechazar</a:t>
                </a:r>
                <a:r>
                  <a:rPr lang="en-US" b="1" dirty="0">
                    <a:sym typeface="Wingdings" panose="05000000000000000000" pitchFamily="2" charset="2"/>
                  </a:rPr>
                  <a:t> </a:t>
                </a:r>
                <a:r>
                  <a:rPr lang="en-US" b="1" dirty="0"/>
                  <a:t>H</a:t>
                </a:r>
                <a:r>
                  <a:rPr lang="en-US" b="1" baseline="-25000" dirty="0"/>
                  <a:t>0</a:t>
                </a:r>
                <a:r>
                  <a:rPr lang="en-US" dirty="0"/>
                  <a:t>, </a:t>
                </a:r>
                <a:r>
                  <a:rPr lang="en-US" dirty="0" err="1"/>
                  <a:t>por</a:t>
                </a:r>
                <a:r>
                  <a:rPr lang="en-US" dirty="0"/>
                  <a:t> lo que con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confianza</a:t>
                </a:r>
                <a:r>
                  <a:rPr lang="en-US" dirty="0"/>
                  <a:t> del 95%, </a:t>
                </a:r>
                <a:r>
                  <a:rPr lang="en-US" dirty="0" err="1"/>
                  <a:t>podemos</a:t>
                </a:r>
                <a:r>
                  <a:rPr lang="en-US" dirty="0"/>
                  <a:t> </a:t>
                </a:r>
                <a:r>
                  <a:rPr lang="en-US" dirty="0" err="1"/>
                  <a:t>concluir</a:t>
                </a:r>
                <a:r>
                  <a:rPr lang="en-US" dirty="0"/>
                  <a:t> que Eric y </a:t>
                </a:r>
                <a:r>
                  <a:rPr lang="en-US" dirty="0" err="1"/>
                  <a:t>Evanne</a:t>
                </a:r>
                <a:r>
                  <a:rPr lang="en-US" dirty="0"/>
                  <a:t> no </a:t>
                </a:r>
                <a:r>
                  <a:rPr lang="en-US" dirty="0" err="1"/>
                  <a:t>han</a:t>
                </a:r>
                <a:r>
                  <a:rPr lang="en-US" dirty="0"/>
                  <a:t> </a:t>
                </a:r>
                <a:r>
                  <a:rPr lang="en-US" dirty="0" err="1"/>
                  <a:t>encontrado</a:t>
                </a:r>
                <a:r>
                  <a:rPr lang="en-US" dirty="0"/>
                  <a:t>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evidencia</a:t>
                </a:r>
                <a:r>
                  <a:rPr lang="en-US" dirty="0"/>
                  <a:t> </a:t>
                </a:r>
                <a:r>
                  <a:rPr lang="en-US" dirty="0" err="1"/>
                  <a:t>significativa</a:t>
                </a:r>
                <a:r>
                  <a:rPr lang="en-US" dirty="0"/>
                  <a:t> para </a:t>
                </a:r>
                <a:r>
                  <a:rPr lang="en-US" dirty="0" err="1"/>
                  <a:t>afirmar</a:t>
                </a:r>
                <a:r>
                  <a:rPr lang="en-US" dirty="0"/>
                  <a:t> que la (</a:t>
                </a:r>
                <a:r>
                  <a:rPr lang="en-US" dirty="0" err="1"/>
                  <a:t>mediana</a:t>
                </a:r>
                <a:r>
                  <a:rPr lang="en-US" dirty="0"/>
                  <a:t> de la) </a:t>
                </a:r>
                <a:r>
                  <a:rPr lang="en-US" dirty="0" err="1"/>
                  <a:t>velocidad</a:t>
                </a:r>
                <a:r>
                  <a:rPr lang="en-US" dirty="0"/>
                  <a:t> de los </a:t>
                </a:r>
                <a:r>
                  <a:rPr lang="en-US" dirty="0" err="1"/>
                  <a:t>coches</a:t>
                </a:r>
                <a:r>
                  <a:rPr lang="en-US" dirty="0"/>
                  <a:t> es superior al </a:t>
                </a:r>
                <a:r>
                  <a:rPr lang="en-US" dirty="0" err="1"/>
                  <a:t>límite</a:t>
                </a:r>
                <a:r>
                  <a:rPr lang="en-US" dirty="0"/>
                  <a:t> de </a:t>
                </a:r>
                <a:r>
                  <a:rPr lang="en-US" dirty="0" err="1"/>
                  <a:t>velocidad</a:t>
                </a:r>
                <a:endParaRPr lang="en-U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4A2D220-1A5A-714E-CBB3-8ED95B71A7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2521" r="-23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927ADC6-38D3-0247-7CE3-8B10658F0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131587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61FE9-C3AE-6FC7-C4A9-C1FF0B2C6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3. Contraste de signos</a:t>
            </a:r>
            <a:br>
              <a:rPr lang="es-ES" dirty="0"/>
            </a:br>
            <a:r>
              <a:rPr lang="es-ES" dirty="0"/>
              <a:t>Ejercicios propuestos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D761F8-90FE-5A56-8924-772DAE4E6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Ejercicios</a:t>
            </a:r>
            <a:r>
              <a:rPr lang="en-US" dirty="0"/>
              <a:t> 10.10 a 10.14 del </a:t>
            </a:r>
            <a:r>
              <a:rPr lang="en-US" dirty="0" err="1"/>
              <a:t>libro</a:t>
            </a:r>
            <a:endParaRPr lang="en-US" dirty="0"/>
          </a:p>
          <a:p>
            <a:pPr lvl="1"/>
            <a:r>
              <a:rPr lang="en-US" dirty="0"/>
              <a:t>Las </a:t>
            </a:r>
            <a:r>
              <a:rPr lang="en-US" dirty="0" err="1"/>
              <a:t>respuestas</a:t>
            </a:r>
            <a:r>
              <a:rPr lang="en-US" dirty="0"/>
              <a:t> de 10.11 y 10.13 </a:t>
            </a:r>
            <a:r>
              <a:rPr lang="en-US" dirty="0" err="1"/>
              <a:t>están</a:t>
            </a:r>
            <a:r>
              <a:rPr lang="en-US" dirty="0"/>
              <a:t> en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libro</a:t>
            </a: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A86158-512B-60EF-6886-59F4BFB0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05452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BBEF76-1480-5813-D760-AC17A3E73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 Contraste de rangos con signo de Wilcoxon para la mediana poblacional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61D48A7-A32A-3482-1266-8F0FD2FA4C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En </a:t>
                </a:r>
                <a:r>
                  <a:rPr lang="en-US" dirty="0" err="1"/>
                  <a:t>inglés</a:t>
                </a:r>
                <a:r>
                  <a:rPr lang="en-US" dirty="0"/>
                  <a:t> se </a:t>
                </a:r>
                <a:r>
                  <a:rPr lang="en-US" dirty="0" err="1"/>
                  <a:t>denomina</a:t>
                </a:r>
                <a:r>
                  <a:rPr lang="en-US" dirty="0"/>
                  <a:t> </a:t>
                </a:r>
                <a:r>
                  <a:rPr lang="en-US" i="1" dirty="0"/>
                  <a:t>Wilcoxon signed rank test</a:t>
                </a:r>
              </a:p>
              <a:p>
                <a:r>
                  <a:rPr lang="en-US" dirty="0"/>
                  <a:t>Es un </a:t>
                </a:r>
                <a:r>
                  <a:rPr lang="en-US" dirty="0" err="1"/>
                  <a:t>contraste</a:t>
                </a:r>
                <a:r>
                  <a:rPr lang="en-US" dirty="0"/>
                  <a:t> no </a:t>
                </a:r>
                <a:r>
                  <a:rPr lang="en-US" dirty="0" err="1"/>
                  <a:t>paramétrico</a:t>
                </a:r>
                <a:r>
                  <a:rPr lang="en-US" dirty="0"/>
                  <a:t> para </a:t>
                </a:r>
                <a:r>
                  <a:rPr lang="en-US" dirty="0" err="1"/>
                  <a:t>una</a:t>
                </a:r>
                <a:r>
                  <a:rPr lang="en-US" dirty="0"/>
                  <a:t> población</a:t>
                </a:r>
              </a:p>
              <a:p>
                <a:r>
                  <a:rPr lang="es-ES" dirty="0"/>
                  <a:t>Es un contraste sobre el posible valor de la mediana poblacional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Se </a:t>
                </a:r>
                <a:r>
                  <a:rPr lang="en-US" dirty="0" err="1"/>
                  <a:t>utiliza</a:t>
                </a:r>
                <a:r>
                  <a:rPr lang="en-US" dirty="0"/>
                  <a:t> un </a:t>
                </a:r>
                <a:r>
                  <a:rPr lang="en-US" dirty="0" err="1"/>
                  <a:t>estadístico</a:t>
                </a:r>
                <a:r>
                  <a:rPr lang="en-US" dirty="0"/>
                  <a:t> de </a:t>
                </a:r>
                <a:r>
                  <a:rPr lang="en-US" dirty="0" err="1"/>
                  <a:t>contraste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que </a:t>
                </a:r>
                <a:r>
                  <a:rPr lang="en-US" dirty="0" err="1"/>
                  <a:t>representa</a:t>
                </a:r>
                <a:r>
                  <a:rPr lang="en-US" dirty="0"/>
                  <a:t> la </a:t>
                </a:r>
                <a:r>
                  <a:rPr lang="en-US" dirty="0" err="1"/>
                  <a:t>suma</a:t>
                </a:r>
                <a:r>
                  <a:rPr lang="en-US" dirty="0"/>
                  <a:t> de las </a:t>
                </a:r>
                <a:r>
                  <a:rPr lang="en-US" dirty="0" err="1"/>
                  <a:t>posiciones</a:t>
                </a:r>
                <a:r>
                  <a:rPr lang="en-US" dirty="0"/>
                  <a:t> (</a:t>
                </a:r>
                <a:r>
                  <a:rPr lang="en-US" dirty="0" err="1"/>
                  <a:t>llamadas</a:t>
                </a:r>
                <a:r>
                  <a:rPr lang="en-US" dirty="0"/>
                  <a:t> </a:t>
                </a:r>
                <a:r>
                  <a:rPr lang="en-US" dirty="0" err="1"/>
                  <a:t>rangos</a:t>
                </a:r>
                <a:r>
                  <a:rPr lang="en-US" dirty="0"/>
                  <a:t> o ranks) que </a:t>
                </a:r>
                <a:r>
                  <a:rPr lang="en-US" dirty="0" err="1"/>
                  <a:t>ocuparían</a:t>
                </a:r>
                <a:r>
                  <a:rPr lang="en-US" dirty="0"/>
                  <a:t>, en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lista</a:t>
                </a:r>
                <a:r>
                  <a:rPr lang="en-US" dirty="0"/>
                  <a:t> </a:t>
                </a:r>
                <a:r>
                  <a:rPr lang="en-US" dirty="0" err="1"/>
                  <a:t>ordenada</a:t>
                </a:r>
                <a:r>
                  <a:rPr lang="en-US" dirty="0"/>
                  <a:t> (ranking) de </a:t>
                </a:r>
                <a:r>
                  <a:rPr lang="en-US" dirty="0" err="1"/>
                  <a:t>valores</a:t>
                </a:r>
                <a:r>
                  <a:rPr lang="en-US" dirty="0"/>
                  <a:t> </a:t>
                </a:r>
                <a:r>
                  <a:rPr lang="en-US" dirty="0" err="1"/>
                  <a:t>absolutos</a:t>
                </a:r>
                <a:r>
                  <a:rPr lang="en-US" dirty="0"/>
                  <a:t> de la </a:t>
                </a:r>
                <a:r>
                  <a:rPr lang="en-US" dirty="0" err="1"/>
                  <a:t>diferencia</a:t>
                </a:r>
                <a:r>
                  <a:rPr lang="en-US" dirty="0"/>
                  <a:t> entre </a:t>
                </a:r>
                <a:r>
                  <a:rPr lang="en-US" dirty="0" err="1"/>
                  <a:t>el</a:t>
                </a:r>
                <a:r>
                  <a:rPr lang="en-US" dirty="0"/>
                  <a:t> valor de </a:t>
                </a:r>
                <a:r>
                  <a:rPr lang="en-US" dirty="0" err="1"/>
                  <a:t>cada</a:t>
                </a:r>
                <a:r>
                  <a:rPr lang="en-US" dirty="0"/>
                  <a:t> </a:t>
                </a:r>
                <a:r>
                  <a:rPr lang="en-US" dirty="0" err="1"/>
                  <a:t>observación</a:t>
                </a:r>
                <a:r>
                  <a:rPr lang="en-US" dirty="0"/>
                  <a:t> y la </a:t>
                </a:r>
                <a:r>
                  <a:rPr lang="en-US" dirty="0" err="1"/>
                  <a:t>mediana</a:t>
                </a:r>
                <a:r>
                  <a:rPr lang="en-US" dirty="0"/>
                  <a:t> </a:t>
                </a:r>
                <a:r>
                  <a:rPr lang="en-US" dirty="0" err="1"/>
                  <a:t>muestral</a:t>
                </a:r>
                <a:r>
                  <a:rPr lang="en-US" dirty="0"/>
                  <a:t>, </a:t>
                </a:r>
                <a:r>
                  <a:rPr lang="en-US" dirty="0" err="1"/>
                  <a:t>aquellas</a:t>
                </a:r>
                <a:r>
                  <a:rPr lang="en-US" dirty="0"/>
                  <a:t> </a:t>
                </a:r>
                <a:r>
                  <a:rPr lang="en-US" dirty="0" err="1"/>
                  <a:t>observaciones</a:t>
                </a:r>
                <a:r>
                  <a:rPr lang="en-US" dirty="0"/>
                  <a:t> que </a:t>
                </a:r>
                <a:r>
                  <a:rPr lang="en-US" dirty="0" err="1"/>
                  <a:t>sean</a:t>
                </a:r>
                <a:r>
                  <a:rPr lang="en-US" dirty="0"/>
                  <a:t> </a:t>
                </a:r>
                <a:r>
                  <a:rPr lang="en-US" dirty="0" err="1"/>
                  <a:t>superiores</a:t>
                </a:r>
                <a:r>
                  <a:rPr lang="en-US" dirty="0"/>
                  <a:t> a la </a:t>
                </a:r>
                <a:r>
                  <a:rPr lang="en-US" dirty="0" err="1"/>
                  <a:t>mediana</a:t>
                </a:r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: 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m:rPr>
                            <m:brk m:alnAt="7"/>
                          </m:rPr>
                          <a:rPr lang="es-E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s-ES" b="0" dirty="0"/>
              </a:p>
              <a:p>
                <a:pPr lvl="1"/>
                <a:r>
                  <a:rPr lang="en-US" dirty="0" err="1"/>
                  <a:t>Muestra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 err="1"/>
                  <a:t>Distancia</a:t>
                </a:r>
                <a:r>
                  <a:rPr lang="en-US" dirty="0"/>
                  <a:t> de la </a:t>
                </a:r>
                <a:r>
                  <a:rPr lang="en-US" dirty="0" err="1"/>
                  <a:t>observación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al valor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 </a:t>
                </a:r>
                <a:r>
                  <a:rPr lang="en-US" dirty="0" err="1"/>
                  <a:t>contrastar</a:t>
                </a:r>
                <a:r>
                  <a:rPr lang="en-US" dirty="0"/>
                  <a:t> con la </a:t>
                </a:r>
                <a:r>
                  <a:rPr lang="en-US" dirty="0" err="1"/>
                  <a:t>mediana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(</a:t>
                </a:r>
                <a:r>
                  <a:rPr lang="en-US" dirty="0" err="1"/>
                  <a:t>rango</a:t>
                </a:r>
                <a:r>
                  <a:rPr lang="en-US" dirty="0"/>
                  <a:t> o rank) es la </a:t>
                </a:r>
                <a:r>
                  <a:rPr lang="en-US" dirty="0" err="1"/>
                  <a:t>posición</a:t>
                </a:r>
                <a:r>
                  <a:rPr lang="en-US" dirty="0"/>
                  <a:t> que </a:t>
                </a:r>
                <a:r>
                  <a:rPr lang="en-US" dirty="0" err="1"/>
                  <a:t>ocupa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valor de la </a:t>
                </a:r>
                <a:r>
                  <a:rPr lang="en-US" dirty="0" err="1"/>
                  <a:t>distancia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cuando</a:t>
                </a:r>
                <a:r>
                  <a:rPr lang="en-US" dirty="0"/>
                  <a:t> las </a:t>
                </a:r>
                <a:r>
                  <a:rPr lang="en-US" dirty="0" err="1"/>
                  <a:t>distancias</a:t>
                </a:r>
                <a:r>
                  <a:rPr lang="en-US" dirty="0"/>
                  <a:t> se </a:t>
                </a:r>
                <a:r>
                  <a:rPr lang="en-US" dirty="0" err="1"/>
                  <a:t>ordenan</a:t>
                </a:r>
                <a:r>
                  <a:rPr lang="en-US" dirty="0"/>
                  <a:t> de </a:t>
                </a:r>
                <a:r>
                  <a:rPr lang="en-US" dirty="0" err="1"/>
                  <a:t>menor</a:t>
                </a:r>
                <a:r>
                  <a:rPr lang="en-US" dirty="0"/>
                  <a:t> a mayor </a:t>
                </a:r>
              </a:p>
              <a:p>
                <a:pPr lvl="1"/>
                <a:r>
                  <a:rPr lang="en-US" dirty="0"/>
                  <a:t>Nota: Si dos o </a:t>
                </a:r>
                <a:r>
                  <a:rPr lang="en-US" dirty="0" err="1"/>
                  <a:t>más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son </a:t>
                </a:r>
                <a:r>
                  <a:rPr lang="en-US" dirty="0" err="1"/>
                  <a:t>iguales</a:t>
                </a:r>
                <a:r>
                  <a:rPr lang="en-US" dirty="0"/>
                  <a:t>, </a:t>
                </a:r>
                <a:r>
                  <a:rPr lang="en-US" dirty="0" err="1"/>
                  <a:t>entonces</a:t>
                </a:r>
                <a:r>
                  <a:rPr lang="en-US" dirty="0"/>
                  <a:t> </a:t>
                </a:r>
                <a:r>
                  <a:rPr lang="en-US" dirty="0" err="1"/>
                  <a:t>su</a:t>
                </a:r>
                <a:r>
                  <a:rPr lang="en-US" dirty="0"/>
                  <a:t> </a:t>
                </a:r>
                <a:r>
                  <a:rPr lang="en-US" dirty="0" err="1"/>
                  <a:t>rango</a:t>
                </a:r>
                <a:r>
                  <a:rPr lang="en-US" dirty="0"/>
                  <a:t> </a:t>
                </a:r>
                <a:r>
                  <a:rPr lang="en-US" dirty="0" err="1"/>
                  <a:t>debe</a:t>
                </a:r>
                <a:r>
                  <a:rPr lang="en-US" dirty="0"/>
                  <a:t> </a:t>
                </a:r>
                <a:r>
                  <a:rPr lang="en-US" dirty="0" err="1"/>
                  <a:t>recalcularse</a:t>
                </a:r>
                <a:r>
                  <a:rPr lang="en-US" dirty="0"/>
                  <a:t> </a:t>
                </a:r>
                <a:r>
                  <a:rPr lang="en-US" dirty="0" err="1"/>
                  <a:t>como</a:t>
                </a:r>
                <a:r>
                  <a:rPr lang="en-US" dirty="0"/>
                  <a:t> la media sus </a:t>
                </a:r>
                <a:r>
                  <a:rPr lang="en-US" dirty="0" err="1"/>
                  <a:t>valores</a:t>
                </a:r>
                <a:endParaRPr lang="en-US" dirty="0"/>
              </a:p>
              <a:p>
                <a:pPr lvl="2"/>
                <a:r>
                  <a:rPr lang="en-US" dirty="0" err="1"/>
                  <a:t>Ejemplo</a:t>
                </a:r>
                <a:r>
                  <a:rPr lang="en-US" dirty="0"/>
                  <a:t>: 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s-ES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lang="es-ES" dirty="0"/>
                  <a:t> son iguales,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s-ES" dirty="0"/>
                  <a:t> 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sub>
                    </m:sSub>
                  </m:oMath>
                </a14:m>
                <a:r>
                  <a:rPr lang="es-ES" dirty="0"/>
                  <a:t> deben ser también iguales, y ambos se recalculan como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es-ES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361D48A7-A32A-3482-1266-8F0FD2FA4C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667250"/>
              </a:xfrm>
              <a:blipFill>
                <a:blip r:embed="rId2"/>
                <a:stretch>
                  <a:fillRect l="-696" t="-261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28756C6-2420-A9B3-54D1-1630F62EF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330376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FF1056-E23E-EFD2-56C8-D1575083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4. Contraste de rangos con signo de Wilcoxon</a:t>
            </a:r>
            <a:br>
              <a:rPr lang="es-ES" dirty="0"/>
            </a:br>
            <a:r>
              <a:rPr lang="es-ES" dirty="0"/>
              <a:t>Datos considerados como signos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39AB4A-1C64-C2B1-F510-B7D4751D61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Las </a:t>
                </a:r>
                <a:r>
                  <a:rPr lang="en-US" dirty="0" err="1"/>
                  <a:t>observaciones</a:t>
                </a:r>
                <a:r>
                  <a:rPr lang="en-US" dirty="0"/>
                  <a:t> de la </a:t>
                </a:r>
                <a:r>
                  <a:rPr lang="en-US" dirty="0" err="1"/>
                  <a:t>muestra</a:t>
                </a:r>
                <a:r>
                  <a:rPr lang="en-US" dirty="0"/>
                  <a:t> son </a:t>
                </a:r>
                <a:r>
                  <a:rPr lang="en-US" dirty="0" err="1"/>
                  <a:t>consideradas</a:t>
                </a:r>
                <a:r>
                  <a:rPr lang="en-US" dirty="0"/>
                  <a:t> </a:t>
                </a:r>
                <a:r>
                  <a:rPr lang="en-US" dirty="0" err="1"/>
                  <a:t>como</a:t>
                </a:r>
                <a:r>
                  <a:rPr lang="en-US" dirty="0"/>
                  <a:t> </a:t>
                </a:r>
                <a:r>
                  <a:rPr lang="en-US" dirty="0" err="1"/>
                  <a:t>signos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𝑆𝑖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</m:t>
                    </m:r>
                    <m:r>
                      <a:rPr lang="es-ES" b="0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a:rPr lang="en-US" i="1" dirty="0" err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𝑠𝑖𝑔𝑛𝑜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+</m:t>
                    </m:r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𝑆𝑖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&lt;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 </m:t>
                    </m:r>
                    <m:r>
                      <a:rPr lang="en-US" i="1" dirty="0" err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𝑠𝑖𝑔𝑛𝑜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−</m:t>
                    </m:r>
                  </m:oMath>
                </a14:m>
                <a:endParaRPr lang="en-US" dirty="0">
                  <a:sym typeface="Wingdings" panose="05000000000000000000" pitchFamily="2" charset="2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𝑆𝑖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 </m:t>
                    </m:r>
                    <m:r>
                      <a:rPr lang="en-US" i="1" dirty="0" err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𝑠𝑖𝑔𝑛𝑜</m:t>
                    </m:r>
                    <m:r>
                      <a:rPr lang="en-US" i="1" dirty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0 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(</a:t>
                </a:r>
                <a:r>
                  <a:rPr lang="en-US" dirty="0" err="1">
                    <a:sym typeface="Wingdings" panose="05000000000000000000" pitchFamily="2" charset="2"/>
                  </a:rPr>
                  <a:t>eliminar</a:t>
                </a:r>
                <a:r>
                  <a:rPr lang="en-US" dirty="0">
                    <a:sym typeface="Wingdings" panose="05000000000000000000" pitchFamily="2" charset="2"/>
                  </a:rPr>
                  <a:t> del conjunto de </a:t>
                </a:r>
                <a:r>
                  <a:rPr lang="en-US" dirty="0" err="1">
                    <a:sym typeface="Wingdings" panose="05000000000000000000" pitchFamily="2" charset="2"/>
                  </a:rPr>
                  <a:t>datos</a:t>
                </a:r>
                <a:r>
                  <a:rPr lang="en-US" dirty="0">
                    <a:sym typeface="Wingdings" panose="05000000000000000000" pitchFamily="2" charset="2"/>
                  </a:rPr>
                  <a:t>)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= </a:t>
                </a:r>
                <a:r>
                  <a:rPr lang="en-US" dirty="0" err="1"/>
                  <a:t>suma</a:t>
                </a:r>
                <a:r>
                  <a:rPr lang="en-US" dirty="0"/>
                  <a:t> de los </a:t>
                </a:r>
                <a:r>
                  <a:rPr lang="en-US" dirty="0" err="1"/>
                  <a:t>rangos</a:t>
                </a:r>
                <a:r>
                  <a:rPr lang="en-US" dirty="0"/>
                  <a:t> (ranks) de las </a:t>
                </a:r>
                <a:r>
                  <a:rPr lang="en-US" dirty="0" err="1"/>
                  <a:t>distancias</a:t>
                </a:r>
                <a:r>
                  <a:rPr lang="en-US" dirty="0"/>
                  <a:t> de las </a:t>
                </a:r>
                <a:r>
                  <a:rPr lang="en-US" dirty="0" err="1"/>
                  <a:t>observaciones</a:t>
                </a:r>
                <a:r>
                  <a:rPr lang="en-US" dirty="0"/>
                  <a:t> que </a:t>
                </a:r>
                <a:r>
                  <a:rPr lang="en-US" dirty="0" err="1"/>
                  <a:t>tienen</a:t>
                </a:r>
                <a:r>
                  <a:rPr lang="en-US" dirty="0"/>
                  <a:t> </a:t>
                </a:r>
                <a:r>
                  <a:rPr lang="en-US" dirty="0" err="1"/>
                  <a:t>signo</a:t>
                </a:r>
                <a:r>
                  <a:rPr lang="en-US" dirty="0"/>
                  <a:t> + </a:t>
                </a:r>
              </a:p>
              <a:p>
                <a:pPr lvl="1"/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39AB4A-1C64-C2B1-F510-B7D4751D61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43" t="-2241" r="-11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C8F198-F416-AFCD-924E-644495E94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344444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FF1056-E23E-EFD2-56C8-D1575083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 Contraste de rangos con signo de Wilcoxon</a:t>
            </a:r>
            <a:br>
              <a:rPr lang="es-ES" dirty="0"/>
            </a:br>
            <a:r>
              <a:rPr lang="es-ES" dirty="0"/>
              <a:t>Procedimiento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39AB4A-1C64-C2B1-F510-B7D4751D61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Paso 1: : </a:t>
                </a:r>
                <a:r>
                  <a:rPr lang="en-US" dirty="0" err="1"/>
                  <a:t>Eliminar</a:t>
                </a:r>
                <a:r>
                  <a:rPr lang="en-US" dirty="0"/>
                  <a:t> las </a:t>
                </a:r>
                <a:r>
                  <a:rPr lang="en-US" dirty="0" err="1"/>
                  <a:t>observaciones</a:t>
                </a:r>
                <a:r>
                  <a:rPr lang="en-US" dirty="0"/>
                  <a:t> </a:t>
                </a:r>
                <a:r>
                  <a:rPr lang="en-US" dirty="0" err="1"/>
                  <a:t>iguales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/>
                  <a:t> y </a:t>
                </a:r>
                <a:r>
                  <a:rPr lang="en-US" dirty="0" err="1"/>
                  <a:t>calcular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: 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dirty="0"/>
                  <a:t>	 </a:t>
                </a:r>
              </a:p>
              <a:p>
                <a:r>
                  <a:rPr lang="en-US" dirty="0"/>
                  <a:t>Paso 2: </a:t>
                </a:r>
                <a:r>
                  <a:rPr lang="en-US" dirty="0" err="1"/>
                  <a:t>Determinar</a:t>
                </a:r>
                <a:r>
                  <a:rPr lang="en-US" dirty="0"/>
                  <a:t> la </a:t>
                </a:r>
                <a:r>
                  <a:rPr lang="en-US" dirty="0" err="1"/>
                  <a:t>distribución</a:t>
                </a:r>
                <a:r>
                  <a:rPr lang="en-US" dirty="0"/>
                  <a:t> de </a:t>
                </a:r>
                <a:r>
                  <a:rPr lang="en-US" dirty="0" err="1"/>
                  <a:t>probabilidad</a:t>
                </a:r>
                <a:r>
                  <a:rPr lang="en-US" dirty="0"/>
                  <a:t> del </a:t>
                </a:r>
                <a:r>
                  <a:rPr lang="en-US" dirty="0" err="1"/>
                  <a:t>estadístico</a:t>
                </a:r>
                <a:r>
                  <a:rPr lang="en-US" dirty="0"/>
                  <a:t> de </a:t>
                </a:r>
                <a:r>
                  <a:rPr lang="en-US" dirty="0" err="1"/>
                  <a:t>contraste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s-ES" dirty="0"/>
                  <a:t>Si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&lt; 15</m:t>
                    </m:r>
                  </m:oMath>
                </a14:m>
                <a:r>
                  <a:rPr lang="en-US" dirty="0"/>
                  <a:t> usar </a:t>
                </a:r>
                <a:r>
                  <a:rPr lang="en-US" dirty="0" err="1"/>
                  <a:t>como</a:t>
                </a:r>
                <a:r>
                  <a:rPr lang="en-US" dirty="0"/>
                  <a:t> </a:t>
                </a:r>
                <a:r>
                  <a:rPr lang="en-US" dirty="0" err="1"/>
                  <a:t>función</a:t>
                </a:r>
                <a:r>
                  <a:rPr lang="en-US" dirty="0"/>
                  <a:t> de masa de </a:t>
                </a:r>
                <a:r>
                  <a:rPr lang="en-US" dirty="0" err="1"/>
                  <a:t>probabilidad</a:t>
                </a:r>
                <a:r>
                  <a:rPr lang="en-US" dirty="0"/>
                  <a:t>:</a:t>
                </a:r>
                <a:r>
                  <a:rPr lang="es-E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=0.5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</a:rPr>
                      <m:t>+0.5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br>
                  <a:rPr lang="es-ES" b="0" i="0" dirty="0">
                    <a:latin typeface="Cambria Math" panose="02040503050406030204" pitchFamily="18" charset="0"/>
                  </a:rPr>
                </a:br>
                <a:r>
                  <a:rPr lang="es-ES" dirty="0"/>
                  <a:t>(</a:t>
                </a:r>
                <a:r>
                  <a:rPr lang="en-US" dirty="0" err="1"/>
                  <a:t>Tabla</a:t>
                </a:r>
                <a:r>
                  <a:rPr lang="en-US" dirty="0"/>
                  <a:t> A8 del </a:t>
                </a:r>
                <a:r>
                  <a:rPr lang="en-US" dirty="0" err="1"/>
                  <a:t>libro</a:t>
                </a:r>
                <a:r>
                  <a:rPr lang="en-US" dirty="0"/>
                  <a:t>)</a:t>
                </a:r>
                <a:endParaRPr lang="es-ES" dirty="0"/>
              </a:p>
              <a:p>
                <a:pPr lvl="1"/>
                <a:r>
                  <a:rPr lang="es-ES" b="0" dirty="0"/>
                  <a:t>Si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≥ 15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s-E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𝑁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s-E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𝑛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+1</m:t>
                                </m:r>
                              </m:e>
                            </m:d>
                          </m:num>
                          <m:den>
                            <m:r>
                              <a:rPr lang="es-E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4</m:t>
                            </m:r>
                          </m:den>
                        </m:f>
                        <m:r>
                          <a:rPr lang="es-E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s-ES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s-ES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fPr>
                              <m:num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𝑛</m:t>
                                </m:r>
                                <m:d>
                                  <m:dPr>
                                    <m:ctrlPr>
                                      <a:rPr lang="es-ES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𝑛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+1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es-ES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2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𝑛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+1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24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s-ES" b="0" dirty="0">
                  <a:sym typeface="Wingdings" panose="05000000000000000000" pitchFamily="2" charset="2"/>
                </a:endParaRPr>
              </a:p>
              <a:p>
                <a:pPr lvl="2"/>
                <a:r>
                  <a:rPr lang="en-US" dirty="0"/>
                  <a:t>Realizando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estandarización</a:t>
                </a:r>
                <a:r>
                  <a:rPr lang="en-US" dirty="0"/>
                  <a:t> y </a:t>
                </a:r>
                <a:r>
                  <a:rPr lang="en-US" dirty="0" err="1"/>
                  <a:t>corrección</a:t>
                </a:r>
                <a:r>
                  <a:rPr lang="en-US" dirty="0"/>
                  <a:t> de </a:t>
                </a:r>
                <a:r>
                  <a:rPr lang="en-US" dirty="0" err="1"/>
                  <a:t>continuidad</a:t>
                </a:r>
                <a:endParaRPr lang="en-US" dirty="0"/>
              </a:p>
              <a:p>
                <a:pPr lvl="3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+0.5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−0.5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Paso 3: </a:t>
                </a:r>
                <a:r>
                  <a:rPr lang="en-US" dirty="0" err="1"/>
                  <a:t>Calcular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p-valor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ES">
                            <a:latin typeface="Cambria Math" panose="02040503050406030204" pitchFamily="18" charset="0"/>
                          </a:rPr>
                          <m:t>vs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s-ES" dirty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s-ES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s-ES" dirty="0">
                        <a:latin typeface="Cambria Math" panose="02040503050406030204" pitchFamily="18" charset="0"/>
                      </a:rPr>
                      <m:t>valor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ES">
                            <a:latin typeface="Cambria Math" panose="02040503050406030204" pitchFamily="18" charset="0"/>
                          </a:rPr>
                          <m:t>vs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m:rPr>
                        <m:nor/>
                      </m:rPr>
                      <a:rPr lang="es-ES" i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dirty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s-ES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s-ES" dirty="0">
                        <a:latin typeface="Cambria Math" panose="02040503050406030204" pitchFamily="18" charset="0"/>
                      </a:rPr>
                      <m:t>valor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ES">
                            <a:latin typeface="Cambria Math" panose="02040503050406030204" pitchFamily="18" charset="0"/>
                          </a:rPr>
                          <m:t>vs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𝑀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dirty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s-ES" dirty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s-ES" dirty="0">
                        <a:latin typeface="Cambria Math" panose="02040503050406030204" pitchFamily="18" charset="0"/>
                      </a:rPr>
                      <m:t>valor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s-ES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min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Paso 4: </a:t>
                </a:r>
                <a:r>
                  <a:rPr lang="en-US" dirty="0" err="1"/>
                  <a:t>Llegar</a:t>
                </a:r>
                <a:r>
                  <a:rPr lang="en-US" dirty="0"/>
                  <a:t> a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conclusión</a:t>
                </a:r>
                <a:endParaRPr lang="en-US" dirty="0"/>
              </a:p>
              <a:p>
                <a:pPr lvl="1"/>
                <a:r>
                  <a:rPr lang="en-US" dirty="0" err="1"/>
                  <a:t>Rechazar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b="0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s-ES" b="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s-ES" b="0" i="0" dirty="0" smtClean="0">
                        <a:latin typeface="Cambria Math" panose="02040503050406030204" pitchFamily="18" charset="0"/>
                      </a:rPr>
                      <m:t>valor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ES" dirty="0"/>
                  <a:t> y aceptar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en-US" dirty="0"/>
                  <a:t>    (</a:t>
                </a:r>
                <a:r>
                  <a:rPr lang="en-US" dirty="0" err="1"/>
                  <a:t>Normalmente</a:t>
                </a:r>
                <a:r>
                  <a:rPr lang="en-US" dirty="0"/>
                  <a:t> se </a:t>
                </a:r>
                <a:r>
                  <a:rPr lang="en-US" dirty="0" err="1"/>
                  <a:t>considera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s-ES" dirty="0"/>
                  <a:t>)</a:t>
                </a:r>
                <a:endParaRPr lang="en-US" baseline="-25000" dirty="0"/>
              </a:p>
              <a:p>
                <a:pPr lvl="1"/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39AB4A-1C64-C2B1-F510-B7D4751D61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2" t="-4342" b="-56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C8F198-F416-AFCD-924E-644495E94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690672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C1AFF-1541-FABE-95B6-BA5070D9C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4. Contraste de rangos con signo de Wilcoxon</a:t>
            </a:r>
            <a:br>
              <a:rPr lang="es-ES" dirty="0"/>
            </a:br>
            <a:r>
              <a:rPr lang="es-ES" dirty="0"/>
              <a:t>Ejemplo 10.12 (Oferta y demanda)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A2D220-1A5A-714E-CBB3-8ED95B71A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dirty="0"/>
              <a:t>En una empresa hay que asegurarse de que las impresoras no se queden sin pape</a:t>
            </a:r>
            <a:r>
              <a:rPr lang="en-US" dirty="0"/>
              <a:t>l </a:t>
            </a:r>
          </a:p>
          <a:p>
            <a:r>
              <a:rPr lang="en-US" dirty="0"/>
              <a:t>Se ha </a:t>
            </a:r>
            <a:r>
              <a:rPr lang="en-US" dirty="0" err="1"/>
              <a:t>comprobado</a:t>
            </a:r>
            <a:r>
              <a:rPr lang="en-US" dirty="0"/>
              <a:t> que </a:t>
            </a:r>
            <a:r>
              <a:rPr lang="en-US" dirty="0" err="1"/>
              <a:t>durante</a:t>
            </a:r>
            <a:r>
              <a:rPr lang="en-US" dirty="0"/>
              <a:t> 6 días la </a:t>
            </a:r>
            <a:r>
              <a:rPr lang="en-US" dirty="0" err="1"/>
              <a:t>empresa</a:t>
            </a:r>
            <a:r>
              <a:rPr lang="en-US" dirty="0"/>
              <a:t> ha </a:t>
            </a:r>
            <a:r>
              <a:rPr lang="en-US" dirty="0" err="1"/>
              <a:t>consumido</a:t>
            </a:r>
            <a:r>
              <a:rPr lang="en-US" dirty="0"/>
              <a:t> 7, 5.5, 9.5, 6, 3.5, y 9 </a:t>
            </a:r>
            <a:r>
              <a:rPr lang="en-US" dirty="0" err="1"/>
              <a:t>paquetes</a:t>
            </a:r>
            <a:r>
              <a:rPr lang="en-US" dirty="0"/>
              <a:t> de </a:t>
            </a:r>
            <a:r>
              <a:rPr lang="en-US" dirty="0" err="1"/>
              <a:t>papel</a:t>
            </a:r>
            <a:r>
              <a:rPr lang="en-US" dirty="0"/>
              <a:t>.</a:t>
            </a:r>
          </a:p>
          <a:p>
            <a:r>
              <a:rPr lang="es-ES" sz="2800" b="0" strike="noStrike" spc="-1" dirty="0">
                <a:solidFill>
                  <a:srgbClr val="000000"/>
                </a:solidFill>
                <a:latin typeface="Calibri"/>
              </a:rPr>
              <a:t>Se puede suponer que las cantidades de papel usado son independientes en diferentes días, y los datos de esos 6 es una muestra aleatoria</a:t>
            </a:r>
            <a:endParaRPr lang="en-US" dirty="0"/>
          </a:p>
          <a:p>
            <a:r>
              <a:rPr lang="en-US" dirty="0"/>
              <a:t>¿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afirmarse</a:t>
            </a:r>
            <a:r>
              <a:rPr lang="en-US" dirty="0"/>
              <a:t>, con un </a:t>
            </a:r>
            <a:r>
              <a:rPr lang="en-US" dirty="0" err="1"/>
              <a:t>nivel</a:t>
            </a:r>
            <a:r>
              <a:rPr lang="en-US" dirty="0"/>
              <a:t> de </a:t>
            </a:r>
            <a:r>
              <a:rPr lang="en-US" dirty="0" err="1"/>
              <a:t>significación</a:t>
            </a:r>
            <a:r>
              <a:rPr lang="en-US" dirty="0"/>
              <a:t> del 5%, que</a:t>
            </a:r>
            <a:r>
              <a:rPr lang="es-ES" sz="2800" b="0" strike="noStrike" spc="-1" dirty="0">
                <a:solidFill>
                  <a:srgbClr val="000000"/>
                </a:solidFill>
                <a:latin typeface="Calibri"/>
              </a:rPr>
              <a:t> la mediana del consumo diario de papel es de más de 5 paquetes</a:t>
            </a:r>
            <a:r>
              <a:rPr lang="en-US" dirty="0"/>
              <a:t>?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927ADC6-38D3-0247-7CE3-8B10658F0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19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675955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C1AFF-1541-FABE-95B6-BA5070D9C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4. Contraste de rangos con signo de Wilcoxon</a:t>
            </a:r>
            <a:br>
              <a:rPr lang="es-ES" dirty="0"/>
            </a:br>
            <a:r>
              <a:rPr lang="es-ES" dirty="0"/>
              <a:t>Ejemplo 10.12 (Solución) (I)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AA82ECA0-800C-1568-01F2-5E14FD63C7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50743914"/>
                  </p:ext>
                </p:extLst>
              </p:nvPr>
            </p:nvGraphicFramePr>
            <p:xfrm>
              <a:off x="7694346" y="2220686"/>
              <a:ext cx="3624145" cy="3803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14004">
                      <a:extLst>
                        <a:ext uri="{9D8B030D-6E8A-4147-A177-3AD203B41FA5}">
                          <a16:colId xmlns:a16="http://schemas.microsoft.com/office/drawing/2014/main" val="2157302247"/>
                        </a:ext>
                      </a:extLst>
                    </a:gridCol>
                    <a:gridCol w="477733">
                      <a:extLst>
                        <a:ext uri="{9D8B030D-6E8A-4147-A177-3AD203B41FA5}">
                          <a16:colId xmlns:a16="http://schemas.microsoft.com/office/drawing/2014/main" val="309988176"/>
                        </a:ext>
                      </a:extLst>
                    </a:gridCol>
                    <a:gridCol w="896040">
                      <a:extLst>
                        <a:ext uri="{9D8B030D-6E8A-4147-A177-3AD203B41FA5}">
                          <a16:colId xmlns:a16="http://schemas.microsoft.com/office/drawing/2014/main" val="3442794759"/>
                        </a:ext>
                      </a:extLst>
                    </a:gridCol>
                    <a:gridCol w="575678">
                      <a:extLst>
                        <a:ext uri="{9D8B030D-6E8A-4147-A177-3AD203B41FA5}">
                          <a16:colId xmlns:a16="http://schemas.microsoft.com/office/drawing/2014/main" val="269188167"/>
                        </a:ext>
                      </a:extLst>
                    </a:gridCol>
                    <a:gridCol w="508023">
                      <a:extLst>
                        <a:ext uri="{9D8B030D-6E8A-4147-A177-3AD203B41FA5}">
                          <a16:colId xmlns:a16="http://schemas.microsoft.com/office/drawing/2014/main" val="3779071808"/>
                        </a:ext>
                      </a:extLst>
                    </a:gridCol>
                    <a:gridCol w="852667">
                      <a:extLst>
                        <a:ext uri="{9D8B030D-6E8A-4147-A177-3AD203B41FA5}">
                          <a16:colId xmlns:a16="http://schemas.microsoft.com/office/drawing/2014/main" val="1042398053"/>
                        </a:ext>
                      </a:extLst>
                    </a:gridCol>
                  </a:tblGrid>
                  <a:tr h="662845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b="1" i="1" dirty="0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s-ES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b="1" i="1" dirty="0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r>
                                  <a:rPr lang="es-ES" b="1" i="1" baseline="-25000" dirty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s-ES" b="1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b="1" i="1" dirty="0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r>
                                  <a:rPr lang="es-ES" b="1" i="1" baseline="-25000" dirty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s-ES" b="1" i="1" dirty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ES" b="1" i="1" dirty="0">
                                    <a:latin typeface="Cambria Math" panose="02040503050406030204" pitchFamily="18" charset="0"/>
                                  </a:rPr>
                                  <m:t>𝟓</m:t>
                                </m:r>
                              </m:oMath>
                            </m:oMathPara>
                          </a14:m>
                          <a:endParaRPr lang="es-ES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b="1" i="1" dirty="0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s-ES" b="1" i="1" baseline="-25000" dirty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s-ES" b="1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b="1" i="1" dirty="0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s-ES" b="1" i="1" baseline="-25000" dirty="0" err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s-ES" b="1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signo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45177991"/>
                      </a:ext>
                    </a:extLst>
                  </a:tr>
                  <a:tr h="384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+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24633339"/>
                      </a:ext>
                    </a:extLst>
                  </a:tr>
                  <a:tr h="6628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5.5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+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73127060"/>
                      </a:ext>
                    </a:extLst>
                  </a:tr>
                  <a:tr h="6628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9.5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4.5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4.5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+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64761014"/>
                      </a:ext>
                    </a:extLst>
                  </a:tr>
                  <a:tr h="384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+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26439722"/>
                      </a:ext>
                    </a:extLst>
                  </a:tr>
                  <a:tr h="6628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5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3.5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-1.5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1.5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3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-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7115333"/>
                      </a:ext>
                    </a:extLst>
                  </a:tr>
                  <a:tr h="384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+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2700524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5">
                <a:extLst>
                  <a:ext uri="{FF2B5EF4-FFF2-40B4-BE49-F238E27FC236}">
                    <a16:creationId xmlns:a16="http://schemas.microsoft.com/office/drawing/2014/main" id="{AA82ECA0-800C-1568-01F2-5E14FD63C71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150743914"/>
                  </p:ext>
                </p:extLst>
              </p:nvPr>
            </p:nvGraphicFramePr>
            <p:xfrm>
              <a:off x="7694346" y="2220686"/>
              <a:ext cx="3624145" cy="3803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314004">
                      <a:extLst>
                        <a:ext uri="{9D8B030D-6E8A-4147-A177-3AD203B41FA5}">
                          <a16:colId xmlns:a16="http://schemas.microsoft.com/office/drawing/2014/main" val="2157302247"/>
                        </a:ext>
                      </a:extLst>
                    </a:gridCol>
                    <a:gridCol w="477733">
                      <a:extLst>
                        <a:ext uri="{9D8B030D-6E8A-4147-A177-3AD203B41FA5}">
                          <a16:colId xmlns:a16="http://schemas.microsoft.com/office/drawing/2014/main" val="309988176"/>
                        </a:ext>
                      </a:extLst>
                    </a:gridCol>
                    <a:gridCol w="896040">
                      <a:extLst>
                        <a:ext uri="{9D8B030D-6E8A-4147-A177-3AD203B41FA5}">
                          <a16:colId xmlns:a16="http://schemas.microsoft.com/office/drawing/2014/main" val="3442794759"/>
                        </a:ext>
                      </a:extLst>
                    </a:gridCol>
                    <a:gridCol w="575678">
                      <a:extLst>
                        <a:ext uri="{9D8B030D-6E8A-4147-A177-3AD203B41FA5}">
                          <a16:colId xmlns:a16="http://schemas.microsoft.com/office/drawing/2014/main" val="269188167"/>
                        </a:ext>
                      </a:extLst>
                    </a:gridCol>
                    <a:gridCol w="508023">
                      <a:extLst>
                        <a:ext uri="{9D8B030D-6E8A-4147-A177-3AD203B41FA5}">
                          <a16:colId xmlns:a16="http://schemas.microsoft.com/office/drawing/2014/main" val="3779071808"/>
                        </a:ext>
                      </a:extLst>
                    </a:gridCol>
                    <a:gridCol w="852667">
                      <a:extLst>
                        <a:ext uri="{9D8B030D-6E8A-4147-A177-3AD203B41FA5}">
                          <a16:colId xmlns:a16="http://schemas.microsoft.com/office/drawing/2014/main" val="1042398053"/>
                        </a:ext>
                      </a:extLst>
                    </a:gridCol>
                  </a:tblGrid>
                  <a:tr h="662845"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923" t="-917" r="-1048077" b="-4862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67949" t="-917" r="-598718" b="-4862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89116" t="-917" r="-217687" b="-4862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92632" t="-917" r="-236842" b="-4862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449398" t="-917" r="-171084" b="-4862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dirty="0"/>
                            <a:t>signo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345177991"/>
                      </a:ext>
                    </a:extLst>
                  </a:tr>
                  <a:tr h="384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+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24633339"/>
                      </a:ext>
                    </a:extLst>
                  </a:tr>
                  <a:tr h="6628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5.5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0.5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+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73127060"/>
                      </a:ext>
                    </a:extLst>
                  </a:tr>
                  <a:tr h="6628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3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9.5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4.5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4.5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+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564761014"/>
                      </a:ext>
                    </a:extLst>
                  </a:tr>
                  <a:tr h="384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+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126439722"/>
                      </a:ext>
                    </a:extLst>
                  </a:tr>
                  <a:tr h="66284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5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3.5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-1.5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1.5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3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-</a:t>
                          </a:r>
                        </a:p>
                      </a:txBody>
                      <a:tcPr anchor="ctr">
                        <a:solidFill>
                          <a:schemeClr val="bg1">
                            <a:lumMod val="6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47115333"/>
                      </a:ext>
                    </a:extLst>
                  </a:tr>
                  <a:tr h="384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6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+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02700524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Marcador de contenido 2">
                <a:extLst>
                  <a:ext uri="{FF2B5EF4-FFF2-40B4-BE49-F238E27FC236}">
                    <a16:creationId xmlns:a16="http://schemas.microsoft.com/office/drawing/2014/main" id="{4E738A0F-3F0E-DA54-78C6-76406C9FA0B1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1825625"/>
                <a:ext cx="7467600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 err="1"/>
                  <a:t>Hipótesis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&gt;5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=1−0.95=0.05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Paso 1: </a:t>
                </a:r>
              </a:p>
              <a:p>
                <a:pPr marL="457200" lvl="1" indent="0"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s-ES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s-ES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s-E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s-ES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sSub>
                            <m:sSubPr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ES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&gt;5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s-E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ES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=4+1+6+2+5=18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pPr marL="457200" lvl="1" indent="0">
                  <a:buFont typeface="Arial" panose="020B0604020202020204" pitchFamily="34" charset="0"/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7" name="Marcador de contenido 2">
                <a:extLst>
                  <a:ext uri="{FF2B5EF4-FFF2-40B4-BE49-F238E27FC236}">
                    <a16:creationId xmlns:a16="http://schemas.microsoft.com/office/drawing/2014/main" id="{4E738A0F-3F0E-DA54-78C6-76406C9FA0B1}"/>
                  </a:ext>
                  <a:ext uri="{C183D7F6-B498-43B3-948B-1728B52AA6E4}">
                    <adec:decorative xmlns:adec="http://schemas.microsoft.com/office/drawing/2017/decorative" val="0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825625"/>
                <a:ext cx="7467600" cy="4351338"/>
              </a:xfrm>
              <a:prstGeom prst="rect">
                <a:avLst/>
              </a:prstGeom>
              <a:blipFill>
                <a:blip r:embed="rId3"/>
                <a:stretch>
                  <a:fillRect l="-1469" t="-224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927ADC6-38D3-0247-7CE3-8B10658F0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297973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BA1FAEC0-A422-6A88-ADE0-A3F2B0CEA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305" y="3792266"/>
            <a:ext cx="8291151" cy="292920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DAFF1056-E23E-EFD2-56C8-D1575083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 Contraste de rangos con signo de Wilcoxon</a:t>
            </a:r>
            <a:br>
              <a:rPr lang="es-ES" dirty="0"/>
            </a:br>
            <a:r>
              <a:rPr lang="es-ES" dirty="0"/>
              <a:t>Ejemplo 10.12 (Solución) (II)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39AB4A-1C64-C2B1-F510-B7D4751D61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Paso 2: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=6 &lt; 15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ym typeface="Wingdings" panose="05000000000000000000" pitchFamily="2" charset="2"/>
                  </a:rPr>
                  <a:t> Usar </a:t>
                </a:r>
                <a:r>
                  <a:rPr lang="en-US" dirty="0" err="1">
                    <a:sym typeface="Wingdings" panose="05000000000000000000" pitchFamily="2" charset="2"/>
                  </a:rPr>
                  <a:t>Tabla</a:t>
                </a:r>
                <a:r>
                  <a:rPr lang="en-US" dirty="0">
                    <a:sym typeface="Wingdings" panose="05000000000000000000" pitchFamily="2" charset="2"/>
                  </a:rPr>
                  <a:t> A8 </a:t>
                </a:r>
                <a:r>
                  <a:rPr lang="en-US" sz="2000" dirty="0">
                    <a:sym typeface="Wingdings" panose="05000000000000000000" pitchFamily="2" charset="2"/>
                  </a:rPr>
                  <a:t>“Critical values for the Wilcoxon Signed Rank Test”</a:t>
                </a:r>
                <a:endParaRPr lang="en-US" sz="2000" dirty="0"/>
              </a:p>
              <a:p>
                <a:r>
                  <a:rPr lang="en-US" dirty="0"/>
                  <a:t>Paso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&gt;5,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valor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≥18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∈(0.05, 0.1]</m:t>
                    </m:r>
                  </m:oMath>
                </a14:m>
                <a:endParaRPr lang="en-US" b="1" dirty="0"/>
              </a:p>
              <a:p>
                <a:pPr lvl="1"/>
                <a:r>
                  <a:rPr lang="en-US" dirty="0"/>
                  <a:t>Según la </a:t>
                </a:r>
                <a:r>
                  <a:rPr lang="en-US" dirty="0" err="1"/>
                  <a:t>tabla</a:t>
                </a:r>
                <a:r>
                  <a:rPr lang="en-US" dirty="0"/>
                  <a:t> A8: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≥18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≤0.1</m:t>
                    </m:r>
                  </m:oMath>
                </a14:m>
                <a:r>
                  <a:rPr lang="en-US" dirty="0"/>
                  <a:t> y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≥19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≤0.05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por</a:t>
                </a:r>
                <a:r>
                  <a:rPr lang="en-US" dirty="0"/>
                  <a:t> lo que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≥18</m:t>
                        </m:r>
                      </m:e>
                    </m:d>
                  </m:oMath>
                </a14:m>
                <a:r>
                  <a:rPr lang="en-US" dirty="0"/>
                  <a:t> no es </a:t>
                </a:r>
                <a:r>
                  <a:rPr lang="en-US" dirty="0" err="1"/>
                  <a:t>más</a:t>
                </a:r>
                <a:r>
                  <a:rPr lang="en-US" dirty="0"/>
                  <a:t> </a:t>
                </a:r>
                <a:r>
                  <a:rPr lang="en-US" dirty="0" err="1"/>
                  <a:t>pequeño</a:t>
                </a:r>
                <a:r>
                  <a:rPr lang="en-US" dirty="0"/>
                  <a:t> que 0.05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39AB4A-1C64-C2B1-F510-B7D4751D61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C8F198-F416-AFCD-924E-644495E94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21</a:t>
            </a:fld>
            <a:endParaRPr lang="es-ES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DF3D092A-5EB4-C25E-9169-31B8B9662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65652" y="5686958"/>
            <a:ext cx="355002" cy="32657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482D58CC-5BD4-45AE-C515-C54543C5F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77887" y="5686958"/>
            <a:ext cx="355002" cy="32273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FE27891-DE43-048F-54FB-104EE64B6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19739" y="4323790"/>
            <a:ext cx="492355" cy="433266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FB1E14F0-337A-A2B2-DD1A-B0C150982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44485" y="5686954"/>
            <a:ext cx="355002" cy="32273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C48F3F2-D2DC-DDA6-EDFB-0CAFA67CD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86337" y="4323786"/>
            <a:ext cx="492355" cy="433266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C93BD8BC-693D-A50C-1685-67662A6D89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9136241" y="4895512"/>
                <a:ext cx="1730341" cy="36933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{"/>
                          <m:endChr m:val="}"/>
                          <m:ctrlPr>
                            <a:rPr lang="es-E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≥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s-E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s-E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</m:oMath>
                  </m:oMathPara>
                </a14:m>
                <a:endParaRPr lang="es-ES" b="1" dirty="0"/>
              </a:p>
            </p:txBody>
          </p:sp>
        </mc:Choice>
        <mc:Fallback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C93BD8BC-693D-A50C-1685-67662A6D897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6241" y="4895512"/>
                <a:ext cx="1730341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90EE4202-66E9-05D0-1953-25CEEFF74E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/>
              <p:nvPr/>
            </p:nvSpPr>
            <p:spPr>
              <a:xfrm>
                <a:off x="3572724" y="4887538"/>
                <a:ext cx="1730341" cy="369332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𝑷</m:t>
                      </m:r>
                      <m:d>
                        <m:dPr>
                          <m:begChr m:val="{"/>
                          <m:endChr m:val="}"/>
                          <m:ctrlPr>
                            <a:rPr lang="es-E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𝑾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s-E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𝒘</m:t>
                          </m:r>
                        </m:e>
                      </m:d>
                      <m:r>
                        <a:rPr lang="es-E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≤</m:t>
                      </m:r>
                      <m:r>
                        <a:rPr lang="es-ES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𝜶</m:t>
                      </m:r>
                    </m:oMath>
                  </m:oMathPara>
                </a14:m>
                <a:endParaRPr lang="es-ES" b="1" dirty="0"/>
              </a:p>
            </p:txBody>
          </p:sp>
        </mc:Choice>
        <mc:Fallback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90EE4202-66E9-05D0-1953-25CEEFF74E9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2724" y="4887538"/>
                <a:ext cx="1730341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11304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FF1056-E23E-EFD2-56C8-D1575083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 Contraste de rangos con signo de Wilcoxon</a:t>
            </a:r>
            <a:br>
              <a:rPr lang="es-ES" dirty="0"/>
            </a:br>
            <a:r>
              <a:rPr lang="es-ES" dirty="0"/>
              <a:t>Ejemplo 10.12 (Solución) (III)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39AB4A-1C64-C2B1-F510-B7D4751D61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Paso 4: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val</m:t>
                    </m:r>
                    <m:r>
                      <m:rPr>
                        <m:nor/>
                      </m:rPr>
                      <a:rPr lang="es-ES" b="0" i="0" dirty="0" smtClean="0">
                        <a:latin typeface="Cambria Math" panose="02040503050406030204" pitchFamily="18" charset="0"/>
                      </a:rPr>
                      <m:t>or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0.05 </m:t>
                    </m:r>
                  </m:oMath>
                </a14:m>
                <a:endParaRPr lang="en-US" dirty="0"/>
              </a:p>
              <a:p>
                <a:pPr lvl="1"/>
                <a:r>
                  <a:rPr lang="es-ES" spc="-1" dirty="0">
                    <a:solidFill>
                      <a:srgbClr val="000000"/>
                    </a:solidFill>
                    <a:latin typeface="Calibri"/>
                  </a:rPr>
                  <a:t>El </a:t>
                </a:r>
                <a:r>
                  <a:rPr lang="es-ES" sz="2400" b="1" strike="noStrike" spc="-1" dirty="0">
                    <a:solidFill>
                      <a:srgbClr val="000000"/>
                    </a:solidFill>
                    <a:latin typeface="Calibri"/>
                  </a:rPr>
                  <a:t>contraste de rangos con signo de Wilcoxon no puede rechazar </a:t>
                </a:r>
                <a14:m>
                  <m:oMath xmlns:m="http://schemas.openxmlformats.org/officeDocument/2006/math">
                    <m:r>
                      <a:rPr lang="es-ES" sz="2400" b="1" i="1" strike="noStrike" spc="-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𝑯</m:t>
                    </m:r>
                    <m:r>
                      <a:rPr lang="es-ES" sz="2400" b="1" i="1" strike="noStrike" spc="-1" baseline="-2500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s-ES" sz="2400" b="0" strike="noStrike" spc="-1" dirty="0">
                    <a:solidFill>
                      <a:srgbClr val="000000"/>
                    </a:solidFill>
                    <a:latin typeface="Calibri"/>
                  </a:rPr>
                  <a:t>, por lo que con una confianza del 95 %, podemos concluir que estos datos no proporcionan evidencia significativa de que la mediana del consumo de papel supere los 5 paquetes por día.</a:t>
                </a:r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39AB4A-1C64-C2B1-F510-B7D4751D61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69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C8F198-F416-AFCD-924E-644495E94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06737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C1AFF-1541-FABE-95B6-BA5070D9C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4. Contraste de rangos con signo de Wilcoxon</a:t>
            </a:r>
            <a:br>
              <a:rPr lang="es-ES" dirty="0"/>
            </a:br>
            <a:r>
              <a:rPr lang="es-ES" dirty="0"/>
              <a:t>Ejemplo 10.13 (Uso no autorizado de una cuenta)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4A2D220-1A5A-714E-CBB3-8ED95B71A7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strike="noStrike" spc="-1" dirty="0">
                <a:solidFill>
                  <a:srgbClr val="000000"/>
                </a:solidFill>
                <a:latin typeface="Calibri"/>
              </a:rPr>
              <a:t>El objetivo es detectar si una cuenta de un ordenador ha sido utilizada por una persona no autorizada, midiendo los tiempos entre pulsaciones de teclas</a:t>
            </a: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strike="noStrike" spc="-1" dirty="0">
                <a:solidFill>
                  <a:srgbClr val="000000"/>
                </a:solidFill>
                <a:latin typeface="Calibri"/>
              </a:rPr>
              <a:t>El propietario de la cuenta generalmente tarda 0.2 segundos entre pulsaciones de teclas</a:t>
            </a: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pc="-1" dirty="0">
                <a:solidFill>
                  <a:srgbClr val="000000"/>
                </a:solidFill>
                <a:latin typeface="Calibri"/>
              </a:rPr>
              <a:t>Se registraron l</a:t>
            </a:r>
            <a:r>
              <a:rPr lang="es-ES" sz="2800" b="0" strike="noStrike" spc="-1" dirty="0">
                <a:solidFill>
                  <a:srgbClr val="000000"/>
                </a:solidFill>
                <a:latin typeface="Calibri"/>
              </a:rPr>
              <a:t>os siguientes tiempos entre pulsaciones de tecla cuando un usuario escribió el nombre de usuario y la contraseña:</a:t>
            </a: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strike="noStrike" spc="-1" dirty="0">
                <a:solidFill>
                  <a:srgbClr val="000000"/>
                </a:solidFill>
                <a:latin typeface="Calibri"/>
              </a:rPr>
              <a:t>0.24, 0.22, 0.26, 0.34, 0.35, 0.32, 0.33, 0.29, 0.19, 0.36, 0.30, 0.15, 0.17, 0.28, 0.38, 0.40, 0.37, 0.27 segundos</a:t>
            </a: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strike="noStrike" spc="-1" dirty="0">
                <a:solidFill>
                  <a:srgbClr val="000000"/>
                </a:solidFill>
                <a:latin typeface="Calibri"/>
              </a:rPr>
              <a:t>Con un nivel de confianza del 95 %, ¿se puede afirmar que la cuenta fue utilizada por una persona no autorizada?</a:t>
            </a: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strike="noStrike" spc="-1" dirty="0">
                <a:solidFill>
                  <a:srgbClr val="000000"/>
                </a:solidFill>
                <a:latin typeface="Calibri"/>
              </a:rPr>
              <a:t>Es el mismo ejemplo que 10.9, pero ahora resolviéndolo con un contraste de rangos con signo de Wilcoxon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927ADC6-38D3-0247-7CE3-8B10658F0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359378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CC1AFF-1541-FABE-95B6-BA5070D9C1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4. Contraste de rangos con signo de Wilcoxon</a:t>
            </a:r>
            <a:br>
              <a:rPr lang="es-ES" dirty="0"/>
            </a:br>
            <a:r>
              <a:rPr lang="es-ES" dirty="0"/>
              <a:t>Ejemplo 10.13 (Solución) (I)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4A2D220-1A5A-714E-CBB3-8ED95B71A7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3880556" cy="4351338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H</a:t>
                </a:r>
                <a:r>
                  <a:rPr lang="en-US" dirty="0" err="1"/>
                  <a:t>ipótesis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=0.2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≠0.2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=18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=1−0.95=0.05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Paso 1: 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s-E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s-E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: </m:t>
                          </m:r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ES" b="0" i="1" smtClean="0">
                              <a:latin typeface="Cambria Math" panose="02040503050406030204" pitchFamily="18" charset="0"/>
                            </a:rPr>
                            <m:t>&gt;0.2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s-E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s-ES" b="0" i="1" smtClean="0">
                          <a:latin typeface="Cambria Math" panose="02040503050406030204" pitchFamily="18" charset="0"/>
                        </a:rPr>
                        <m:t>=4+2+6+13+14+11+12+9+15+10+8+17+18+16+7=162</m:t>
                      </m:r>
                    </m:oMath>
                  </m:oMathPara>
                </a14:m>
                <a:endParaRPr lang="en-US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24A2D220-1A5A-714E-CBB3-8ED95B71A7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3880556" cy="4351338"/>
              </a:xfrm>
              <a:blipFill>
                <a:blip r:embed="rId2"/>
                <a:stretch>
                  <a:fillRect l="-2201" t="-266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927ADC6-38D3-0247-7CE3-8B10658F0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24</a:t>
            </a:fld>
            <a:endParaRPr lang="es-ES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C465C21-0D8D-ED9C-6DE2-F43AA5FD1C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228" y="2012269"/>
            <a:ext cx="6943561" cy="4164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8603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FF1056-E23E-EFD2-56C8-D1575083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 Contraste de rangos con signo de Wilcoxon</a:t>
            </a:r>
            <a:br>
              <a:rPr lang="es-ES" dirty="0"/>
            </a:br>
            <a:r>
              <a:rPr lang="es-ES" dirty="0"/>
              <a:t>Ejemplo 10.13 (Solución) (II)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39AB4A-1C64-C2B1-F510-B7D4751D61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Paso 2: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=18 ≥ 15 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s-E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𝑁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s-E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𝑛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+1</m:t>
                                </m:r>
                              </m:e>
                            </m:d>
                          </m:num>
                          <m:den>
                            <m:r>
                              <a:rPr lang="es-E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4</m:t>
                            </m:r>
                          </m:den>
                        </m:f>
                        <m:r>
                          <a:rPr lang="es-E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s-ES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s-ES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fPr>
                              <m:num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𝑛</m:t>
                                </m:r>
                                <m:d>
                                  <m:dPr>
                                    <m:ctrlPr>
                                      <a:rPr lang="es-ES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𝑛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+1</m:t>
                                    </m:r>
                                  </m:e>
                                </m:d>
                                <m:d>
                                  <m:dPr>
                                    <m:ctrlPr>
                                      <a:rPr lang="es-ES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2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𝑛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+1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24</m:t>
                                </m:r>
                              </m:den>
                            </m:f>
                          </m:e>
                        </m:rad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𝑁</m:t>
                    </m:r>
                    <m:r>
                      <a:rPr lang="es-E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(85.5, 23</m:t>
                    </m:r>
                  </m:oMath>
                </a14:m>
                <a:r>
                  <a:rPr lang="es-ES" dirty="0"/>
                  <a:t>)</a:t>
                </a:r>
              </a:p>
              <a:p>
                <a:r>
                  <a:rPr lang="en-US" dirty="0"/>
                  <a:t>Paso 3: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≠0.2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valor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min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≤162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≥162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≥162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&lt;162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≈1−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&lt;161.5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161.5−85.5</m:t>
                            </m:r>
                          </m:num>
                          <m:den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23</m:t>
                            </m:r>
                          </m:den>
                        </m:f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&lt;3.30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=1−0.9995=0.0005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≤162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≤162.5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162.5−85.5</m:t>
                            </m:r>
                          </m:num>
                          <m:den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23</m:t>
                            </m:r>
                          </m:den>
                        </m:f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≤3.35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=0.9996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</a:rPr>
                      <m:t>valor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0.0006, 0.9995</m:t>
                            </m:r>
                          </m:e>
                        </m:d>
                      </m:e>
                    </m:func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∙0.0006=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s-ES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𝟎𝟎𝟏</m:t>
                    </m:r>
                  </m:oMath>
                </a14:m>
                <a:endParaRPr lang="en-US" b="1" dirty="0"/>
              </a:p>
              <a:p>
                <a:r>
                  <a:rPr lang="en-US" dirty="0"/>
                  <a:t>Paso 4: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valor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 0.001 &lt; 0.05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El </a:t>
                </a:r>
                <a:r>
                  <a:rPr lang="en-US" b="1" dirty="0" err="1"/>
                  <a:t>contraste</a:t>
                </a:r>
                <a:r>
                  <a:rPr lang="en-US" b="1" dirty="0"/>
                  <a:t> de </a:t>
                </a:r>
                <a:r>
                  <a:rPr lang="en-US" b="1" dirty="0" err="1"/>
                  <a:t>rangos</a:t>
                </a:r>
                <a:r>
                  <a:rPr lang="en-US" b="1" dirty="0"/>
                  <a:t> con </a:t>
                </a:r>
                <a:r>
                  <a:rPr lang="en-US" b="1" dirty="0" err="1"/>
                  <a:t>signo</a:t>
                </a:r>
                <a:r>
                  <a:rPr lang="en-US" b="1" dirty="0"/>
                  <a:t> de Wilcoxon </a:t>
                </a:r>
                <a:r>
                  <a:rPr lang="en-US" b="1" dirty="0" err="1"/>
                  <a:t>rechaza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1" i="1" baseline="-25000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por</a:t>
                </a:r>
                <a:r>
                  <a:rPr lang="en-US" dirty="0"/>
                  <a:t> lo que SÍ hay </a:t>
                </a:r>
                <a:r>
                  <a:rPr lang="en-US" dirty="0" err="1"/>
                  <a:t>evidencias</a:t>
                </a:r>
                <a:r>
                  <a:rPr lang="en-US" dirty="0"/>
                  <a:t> para </a:t>
                </a:r>
                <a:r>
                  <a:rPr lang="en-US" dirty="0" err="1"/>
                  <a:t>afirmar</a:t>
                </a:r>
                <a:r>
                  <a:rPr lang="en-US" dirty="0"/>
                  <a:t> con un 95% de </a:t>
                </a:r>
                <a:r>
                  <a:rPr lang="en-US" dirty="0" err="1"/>
                  <a:t>confianza</a:t>
                </a:r>
                <a:r>
                  <a:rPr lang="en-US" dirty="0"/>
                  <a:t> que la </a:t>
                </a:r>
                <a:r>
                  <a:rPr lang="en-US" dirty="0" err="1"/>
                  <a:t>cuenta</a:t>
                </a:r>
                <a:r>
                  <a:rPr lang="en-US" dirty="0"/>
                  <a:t> ha </a:t>
                </a:r>
                <a:r>
                  <a:rPr lang="en-US" dirty="0" err="1"/>
                  <a:t>sido</a:t>
                </a:r>
                <a:r>
                  <a:rPr lang="en-US" dirty="0"/>
                  <a:t> </a:t>
                </a:r>
                <a:r>
                  <a:rPr lang="en-US" dirty="0" err="1"/>
                  <a:t>usada</a:t>
                </a:r>
                <a:r>
                  <a:rPr lang="en-US" dirty="0"/>
                  <a:t> </a:t>
                </a:r>
                <a:r>
                  <a:rPr lang="en-US" dirty="0" err="1"/>
                  <a:t>por</a:t>
                </a:r>
                <a:r>
                  <a:rPr lang="en-US" dirty="0"/>
                  <a:t> </a:t>
                </a:r>
                <a:r>
                  <a:rPr lang="en-US" dirty="0" err="1"/>
                  <a:t>una</a:t>
                </a:r>
                <a:r>
                  <a:rPr lang="en-US" dirty="0"/>
                  <a:t> persona no </a:t>
                </a:r>
                <a:r>
                  <a:rPr lang="en-US" dirty="0" err="1"/>
                  <a:t>autorizada</a:t>
                </a:r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39AB4A-1C64-C2B1-F510-B7D4751D61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3501" r="-696" b="-42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C8F198-F416-AFCD-924E-644495E94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4650558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61FE9-C3AE-6FC7-C4A9-C1FF0B2C6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4. Contraste de rangos con signo de Wilcoxon</a:t>
            </a:r>
            <a:br>
              <a:rPr lang="es-ES" dirty="0"/>
            </a:br>
            <a:r>
              <a:rPr lang="es-ES" dirty="0"/>
              <a:t>Ejercicios propuestos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D761F8-90FE-5A56-8924-772DAE4E6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Ejercicios</a:t>
            </a:r>
            <a:r>
              <a:rPr lang="en-US" dirty="0"/>
              <a:t> 10.15 a 10.19 del </a:t>
            </a:r>
            <a:r>
              <a:rPr lang="en-US" dirty="0" err="1"/>
              <a:t>libro</a:t>
            </a:r>
            <a:endParaRPr lang="en-US" dirty="0"/>
          </a:p>
          <a:p>
            <a:pPr lvl="1"/>
            <a:r>
              <a:rPr lang="en-US" dirty="0"/>
              <a:t>La </a:t>
            </a:r>
            <a:r>
              <a:rPr lang="en-US" dirty="0" err="1"/>
              <a:t>respuestas</a:t>
            </a:r>
            <a:r>
              <a:rPr lang="en-US" dirty="0"/>
              <a:t> de 10.16 y 10.18 </a:t>
            </a:r>
            <a:r>
              <a:rPr lang="en-US" dirty="0" err="1"/>
              <a:t>están</a:t>
            </a:r>
            <a:r>
              <a:rPr lang="en-US" dirty="0"/>
              <a:t> en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libro</a:t>
            </a: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A86158-512B-60EF-6886-59F4BFB0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26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72068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A7965B-5291-679F-D77A-E98F56C1C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5. Contraste de rangos con signo de Wilcoxon para la diferencia de dos medianas poblacionales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68BBA23-82CF-F068-9278-1A4731ADE5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s-ES" dirty="0"/>
                  <a:t>En inglés se denomina </a:t>
                </a:r>
                <a:r>
                  <a:rPr lang="en-US" i="1" dirty="0"/>
                  <a:t>Wilcoxon signed rank paired test</a:t>
                </a:r>
                <a:endParaRPr lang="es-ES" i="1" dirty="0"/>
              </a:p>
              <a:p>
                <a:r>
                  <a:rPr lang="es-ES" dirty="0"/>
                  <a:t>Se aplica al caso de dos muestras dependientes (pareadas), para comprobar si sus poblaciones tienen la misma mediana</a:t>
                </a:r>
              </a:p>
              <a:p>
                <a:r>
                  <a:rPr lang="es-ES" dirty="0"/>
                  <a:t>En las dos poblaciones se obtienen las observaciones de las dos muestras sobre una misma propiedad de los mismos individuos, normalmente son valores antes y después de realizar alguna actuación sobre los individuos. </a:t>
                </a:r>
              </a:p>
              <a:p>
                <a:pPr lvl="1"/>
                <a:r>
                  <a:rPr lang="es-ES" dirty="0"/>
                  <a:t>Por ejemplo, el peso antes y después de hacer una dieta</a:t>
                </a:r>
              </a:p>
              <a:p>
                <a:r>
                  <a:rPr lang="en-US" dirty="0" err="1"/>
                  <a:t>Muestras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endParaRPr lang="es-ES" dirty="0"/>
              </a:p>
              <a:p>
                <a:r>
                  <a:rPr lang="en-US" dirty="0"/>
                  <a:t>La </a:t>
                </a:r>
                <a:r>
                  <a:rPr lang="en-US" dirty="0" err="1"/>
                  <a:t>hipótesis</a:t>
                </a:r>
                <a:r>
                  <a:rPr lang="en-US" dirty="0"/>
                  <a:t> </a:t>
                </a:r>
                <a:r>
                  <a:rPr lang="en-US" dirty="0" err="1"/>
                  <a:t>puede</a:t>
                </a:r>
                <a:r>
                  <a:rPr lang="en-US" dirty="0"/>
                  <a:t> </a:t>
                </a:r>
                <a:r>
                  <a:rPr lang="en-US" dirty="0" err="1"/>
                  <a:t>reformularse</a:t>
                </a:r>
                <a:r>
                  <a:rPr lang="en-US" dirty="0"/>
                  <a:t> </a:t>
                </a:r>
                <a:r>
                  <a:rPr lang="en-US" dirty="0" err="1"/>
                  <a:t>como</a:t>
                </a:r>
                <a:r>
                  <a:rPr lang="en-US" dirty="0"/>
                  <a:t> que la </a:t>
                </a:r>
                <a:r>
                  <a:rPr lang="en-US" dirty="0" err="1"/>
                  <a:t>mediana</a:t>
                </a:r>
                <a:r>
                  <a:rPr lang="en-US" dirty="0"/>
                  <a:t> de las </a:t>
                </a:r>
                <a:r>
                  <a:rPr lang="en-US" dirty="0" err="1"/>
                  <a:t>diferencias</a:t>
                </a:r>
                <a:r>
                  <a:rPr lang="en-US" dirty="0"/>
                  <a:t> sea </a:t>
                </a:r>
                <a:r>
                  <a:rPr lang="en-US" dirty="0" err="1"/>
                  <a:t>igual</a:t>
                </a:r>
                <a:r>
                  <a:rPr lang="en-US" dirty="0"/>
                  <a:t> a cero</a:t>
                </a:r>
              </a:p>
              <a:p>
                <a:pPr lvl="1"/>
                <a:r>
                  <a:rPr lang="en-US" dirty="0" err="1"/>
                  <a:t>Diferencias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, …,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Y </a:t>
                </a:r>
                <a:r>
                  <a:rPr lang="en-US" dirty="0" err="1"/>
                  <a:t>aplicar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conocido</a:t>
                </a:r>
                <a:r>
                  <a:rPr lang="en-US" dirty="0"/>
                  <a:t> </a:t>
                </a:r>
                <a:r>
                  <a:rPr lang="en-US" dirty="0" err="1"/>
                  <a:t>contraste</a:t>
                </a:r>
                <a:r>
                  <a:rPr lang="en-US" dirty="0"/>
                  <a:t> de </a:t>
                </a:r>
                <a:r>
                  <a:rPr lang="en-US" dirty="0" err="1"/>
                  <a:t>rangos</a:t>
                </a:r>
                <a:r>
                  <a:rPr lang="en-US" dirty="0"/>
                  <a:t> con </a:t>
                </a:r>
                <a:r>
                  <a:rPr lang="en-US" dirty="0" err="1"/>
                  <a:t>signo</a:t>
                </a:r>
                <a:r>
                  <a:rPr lang="en-US" dirty="0"/>
                  <a:t> de Wilcoxon para un sola </a:t>
                </a:r>
                <a:r>
                  <a:rPr lang="en-US" dirty="0" err="1"/>
                  <a:t>muestra</a:t>
                </a:r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68BBA23-82CF-F068-9278-1A4731ADE5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80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BDCB2A7-B795-8150-C79D-8EAC22230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2559317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A7965B-5291-679F-D77A-E98F56C1C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5. Contraste de rangos con signo de Wilcoxon para datos pareados. Ejemplo (Pesos)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8BBA23-82CF-F068-9278-1A4731ADE5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87686" cy="4351338"/>
          </a:xfrm>
        </p:spPr>
        <p:txBody>
          <a:bodyPr>
            <a:normAutofit/>
          </a:bodyPr>
          <a:lstStyle/>
          <a:p>
            <a:r>
              <a:rPr lang="en-US" dirty="0" err="1"/>
              <a:t>Conocemos</a:t>
            </a:r>
            <a:r>
              <a:rPr lang="en-US" dirty="0"/>
              <a:t> los pesos de 10 personas antes y </a:t>
            </a:r>
            <a:r>
              <a:rPr lang="en-US" dirty="0" err="1"/>
              <a:t>después</a:t>
            </a:r>
            <a:r>
              <a:rPr lang="en-US" dirty="0"/>
              <a:t> de Navidad, y </a:t>
            </a:r>
            <a:r>
              <a:rPr lang="en-US" dirty="0" err="1"/>
              <a:t>esos</a:t>
            </a:r>
            <a:r>
              <a:rPr lang="en-US" dirty="0"/>
              <a:t> pesos no </a:t>
            </a:r>
            <a:r>
              <a:rPr lang="en-US" dirty="0" err="1"/>
              <a:t>tienen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distribución</a:t>
            </a:r>
            <a:r>
              <a:rPr lang="en-US" dirty="0"/>
              <a:t> normal</a:t>
            </a:r>
          </a:p>
          <a:p>
            <a:r>
              <a:rPr lang="en-US" dirty="0"/>
              <a:t>Con un </a:t>
            </a:r>
            <a:r>
              <a:rPr lang="en-US" dirty="0" err="1"/>
              <a:t>nivel</a:t>
            </a:r>
            <a:r>
              <a:rPr lang="en-US" dirty="0"/>
              <a:t> de </a:t>
            </a:r>
            <a:r>
              <a:rPr lang="en-US" dirty="0" err="1"/>
              <a:t>confianza</a:t>
            </a:r>
            <a:r>
              <a:rPr lang="en-US" dirty="0"/>
              <a:t> del 95%, ¿se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afirmar</a:t>
            </a:r>
            <a:r>
              <a:rPr lang="en-US" dirty="0"/>
              <a:t> que no ha </a:t>
            </a:r>
            <a:r>
              <a:rPr lang="en-US" dirty="0" err="1"/>
              <a:t>habido</a:t>
            </a:r>
            <a:r>
              <a:rPr lang="en-US" dirty="0"/>
              <a:t> </a:t>
            </a:r>
            <a:r>
              <a:rPr lang="en-US" dirty="0" err="1"/>
              <a:t>cambio</a:t>
            </a:r>
            <a:r>
              <a:rPr lang="en-US" dirty="0"/>
              <a:t> en </a:t>
            </a:r>
            <a:r>
              <a:rPr lang="en-US" dirty="0" err="1"/>
              <a:t>el</a:t>
            </a:r>
            <a:r>
              <a:rPr lang="en-US" dirty="0"/>
              <a:t> peso?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BDCB2A7-B795-8150-C79D-8EAC22230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28</a:t>
            </a:fld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a 6">
                <a:extLst>
                  <a:ext uri="{FF2B5EF4-FFF2-40B4-BE49-F238E27FC236}">
                    <a16:creationId xmlns:a16="http://schemas.microsoft.com/office/drawing/2014/main" id="{6811F50D-D490-BB52-D1B4-4645EF1ED6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8318411"/>
                  </p:ext>
                </p:extLst>
              </p:nvPr>
            </p:nvGraphicFramePr>
            <p:xfrm>
              <a:off x="5959324" y="1849279"/>
              <a:ext cx="5394476" cy="4348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2491">
                      <a:extLst>
                        <a:ext uri="{9D8B030D-6E8A-4147-A177-3AD203B41FA5}">
                          <a16:colId xmlns:a16="http://schemas.microsoft.com/office/drawing/2014/main" val="2727738903"/>
                        </a:ext>
                      </a:extLst>
                    </a:gridCol>
                    <a:gridCol w="1271239">
                      <a:extLst>
                        <a:ext uri="{9D8B030D-6E8A-4147-A177-3AD203B41FA5}">
                          <a16:colId xmlns:a16="http://schemas.microsoft.com/office/drawing/2014/main" val="2671235182"/>
                        </a:ext>
                      </a:extLst>
                    </a:gridCol>
                    <a:gridCol w="1471961">
                      <a:extLst>
                        <a:ext uri="{9D8B030D-6E8A-4147-A177-3AD203B41FA5}">
                          <a16:colId xmlns:a16="http://schemas.microsoft.com/office/drawing/2014/main" val="2314236260"/>
                        </a:ext>
                      </a:extLst>
                    </a:gridCol>
                    <a:gridCol w="1618785">
                      <a:extLst>
                        <a:ext uri="{9D8B030D-6E8A-4147-A177-3AD203B41FA5}">
                          <a16:colId xmlns:a16="http://schemas.microsoft.com/office/drawing/2014/main" val="43259276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Persona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Peso antes (</a:t>
                          </a:r>
                          <a14:m>
                            <m:oMath xmlns:m="http://schemas.openxmlformats.org/officeDocument/2006/math">
                              <m:r>
                                <a:rPr lang="es-ES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  <m:r>
                                <a:rPr lang="es-ES" i="1" baseline="-25000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oMath>
                          </a14:m>
                          <a:r>
                            <a:rPr lang="es-ES" baseline="0" dirty="0"/>
                            <a:t>)</a:t>
                          </a:r>
                          <a:endParaRPr lang="es-ES" baseline="-250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Peso después (</a:t>
                          </a:r>
                          <a14:m>
                            <m:oMath xmlns:m="http://schemas.openxmlformats.org/officeDocument/2006/math">
                              <m:r>
                                <a:rPr lang="es-ES" i="1" dirty="0" smtClean="0">
                                  <a:latin typeface="Cambria Math" panose="02040503050406030204" pitchFamily="18" charset="0"/>
                                </a:rPr>
                                <m:t>𝑌</m:t>
                              </m:r>
                              <m:r>
                                <a:rPr lang="es-ES" i="1" baseline="-25000" dirty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oMath>
                          </a14:m>
                          <a:r>
                            <a:rPr lang="es-ES" dirty="0"/>
                            <a:t>)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Diferencia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i="1" dirty="0" smtClean="0">
                                    <a:latin typeface="Cambria Math" panose="02040503050406030204" pitchFamily="18" charset="0"/>
                                  </a:rPr>
                                  <m:t>𝐷</m:t>
                                </m:r>
                                <m:r>
                                  <a:rPr lang="es-ES" i="1" baseline="-25000" dirty="0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s-ES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ES" i="1" dirty="0" smtClean="0">
                                    <a:latin typeface="Cambria Math" panose="02040503050406030204" pitchFamily="18" charset="0"/>
                                  </a:rPr>
                                  <m:t>𝑋𝑖</m:t>
                                </m:r>
                                <m:r>
                                  <a:rPr lang="es-ES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ES" i="1" dirty="0" smtClean="0">
                                    <a:latin typeface="Cambria Math" panose="02040503050406030204" pitchFamily="18" charset="0"/>
                                  </a:rPr>
                                  <m:t>𝑌𝑖</m:t>
                                </m:r>
                              </m:oMath>
                            </m:oMathPara>
                          </a14:m>
                          <a:endParaRPr lang="es-ES" baseline="-250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337821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90.1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89.2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1442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97.7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96.1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27155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66.1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68.5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-2.4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00917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65.3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67.4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-2.1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4521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70.6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69.6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357961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98.4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98.9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054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65.2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67.2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25357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88.2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90.1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-1.9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23200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90.4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89.9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69018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90.8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91.1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-0.3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32638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a 6">
                <a:extLst>
                  <a:ext uri="{FF2B5EF4-FFF2-40B4-BE49-F238E27FC236}">
                    <a16:creationId xmlns:a16="http://schemas.microsoft.com/office/drawing/2014/main" id="{6811F50D-D490-BB52-D1B4-4645EF1ED6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18318411"/>
                  </p:ext>
                </p:extLst>
              </p:nvPr>
            </p:nvGraphicFramePr>
            <p:xfrm>
              <a:off x="5959324" y="1849279"/>
              <a:ext cx="5394476" cy="4348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032491">
                      <a:extLst>
                        <a:ext uri="{9D8B030D-6E8A-4147-A177-3AD203B41FA5}">
                          <a16:colId xmlns:a16="http://schemas.microsoft.com/office/drawing/2014/main" val="2727738903"/>
                        </a:ext>
                      </a:extLst>
                    </a:gridCol>
                    <a:gridCol w="1271239">
                      <a:extLst>
                        <a:ext uri="{9D8B030D-6E8A-4147-A177-3AD203B41FA5}">
                          <a16:colId xmlns:a16="http://schemas.microsoft.com/office/drawing/2014/main" val="2671235182"/>
                        </a:ext>
                      </a:extLst>
                    </a:gridCol>
                    <a:gridCol w="1471961">
                      <a:extLst>
                        <a:ext uri="{9D8B030D-6E8A-4147-A177-3AD203B41FA5}">
                          <a16:colId xmlns:a16="http://schemas.microsoft.com/office/drawing/2014/main" val="2314236260"/>
                        </a:ext>
                      </a:extLst>
                    </a:gridCol>
                    <a:gridCol w="1618785">
                      <a:extLst>
                        <a:ext uri="{9D8B030D-6E8A-4147-A177-3AD203B41FA5}">
                          <a16:colId xmlns:a16="http://schemas.microsoft.com/office/drawing/2014/main" val="432592763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Persona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2"/>
                          <a:stretch>
                            <a:fillRect l="-82212" t="-4762" r="-246154" b="-60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2"/>
                          <a:stretch>
                            <a:fillRect l="-156612" t="-4762" r="-111570" b="-6019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>
                        <a:blipFill>
                          <a:blip r:embed="rId2"/>
                          <a:stretch>
                            <a:fillRect l="-233459" t="-4762" r="-1504" b="-6019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337821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90.1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89.2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1442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97.7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96.1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27155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66.1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68.5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-2.4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00917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65.3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67.4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-2.1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4521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70.6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69.6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357961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98.4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98.9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054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65.2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67.2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25357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88.2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90.1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-1.9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23200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90.4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89.9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0.5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69018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90.8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fontAlgn="b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91.1</a:t>
                          </a:r>
                        </a:p>
                      </a:txBody>
                      <a:tcPr marL="7620" marR="7620" marT="7620" marB="0" anchor="b"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-0.3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32638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9262182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A7965B-5291-679F-D77A-E98F56C1C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5. Contraste de rangos con signo de Wilcoxon para datos pareados. Ejemplo (Pesos) (Solución) (I)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68BBA23-82CF-F068-9278-1A4731ADE5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5072743" cy="4351338"/>
              </a:xfrm>
            </p:spPr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Hipótesis: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= 0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s-ES" b="0" i="1" baseline="-25000" dirty="0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0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=1−0.95=0.05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Paso 1: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s-ES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s-ES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i="1" smtClean="0">
                            <a:latin typeface="Cambria Math" panose="02040503050406030204" pitchFamily="18" charset="0"/>
                          </a:rPr>
                          <m:t>: </m:t>
                        </m:r>
                        <m:sSub>
                          <m:sSubPr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s-ES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ES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=4+6+5+2.5=17.5</m:t>
                        </m:r>
                      </m:e>
                    </m:nary>
                  </m:oMath>
                </a14:m>
                <a:endParaRPr lang="en-US" dirty="0"/>
              </a:p>
              <a:p>
                <a:pPr lvl="1"/>
                <a:endParaRPr lang="es-ES" dirty="0"/>
              </a:p>
              <a:p>
                <a:pPr lvl="1"/>
                <a:r>
                  <a:rPr lang="es-ES" dirty="0"/>
                  <a:t>NOTA: Como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s-ES" i="1" baseline="-25000" dirty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s-ES" dirty="0"/>
                  <a:t> y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s-ES" i="1" baseline="-25000" dirty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s-ES" dirty="0"/>
                  <a:t> son iguales,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s-ES" i="1" baseline="-25000" dirty="0"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lang="es-ES" dirty="0"/>
                  <a:t> y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s-ES" i="1" baseline="-25000" dirty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es-ES" dirty="0"/>
                  <a:t> se recalculan como:</a:t>
                </a:r>
              </a:p>
              <a:p>
                <a:pPr lvl="2"/>
                <a:r>
                  <a:rPr lang="es-E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s-E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s-E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sub>
                        </m:sSub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2+3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s-ES" b="0" i="1" smtClean="0">
                        <a:latin typeface="Cambria Math" panose="02040503050406030204" pitchFamily="18" charset="0"/>
                      </a:rPr>
                      <m:t>=2.5</m:t>
                    </m:r>
                  </m:oMath>
                </a14:m>
                <a:r>
                  <a:rPr lang="es-ES" dirty="0"/>
                  <a:t> </a:t>
                </a:r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168BBA23-82CF-F068-9278-1A4731ADE5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5072743" cy="4351338"/>
              </a:xfrm>
              <a:blipFill>
                <a:blip r:embed="rId2"/>
                <a:stretch>
                  <a:fillRect l="-1561" t="-266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BDCB2A7-B795-8150-C79D-8EAC22230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29</a:t>
            </a:fld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a 6">
                <a:extLst>
                  <a:ext uri="{FF2B5EF4-FFF2-40B4-BE49-F238E27FC236}">
                    <a16:creationId xmlns:a16="http://schemas.microsoft.com/office/drawing/2014/main" id="{6811F50D-D490-BB52-D1B4-4645EF1ED6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7365753"/>
                  </p:ext>
                </p:extLst>
              </p:nvPr>
            </p:nvGraphicFramePr>
            <p:xfrm>
              <a:off x="6096001" y="1856014"/>
              <a:ext cx="5780319" cy="4348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0693">
                      <a:extLst>
                        <a:ext uri="{9D8B030D-6E8A-4147-A177-3AD203B41FA5}">
                          <a16:colId xmlns:a16="http://schemas.microsoft.com/office/drawing/2014/main" val="2727738903"/>
                        </a:ext>
                      </a:extLst>
                    </a:gridCol>
                    <a:gridCol w="651101">
                      <a:extLst>
                        <a:ext uri="{9D8B030D-6E8A-4147-A177-3AD203B41FA5}">
                          <a16:colId xmlns:a16="http://schemas.microsoft.com/office/drawing/2014/main" val="2671235182"/>
                        </a:ext>
                      </a:extLst>
                    </a:gridCol>
                    <a:gridCol w="927357">
                      <a:extLst>
                        <a:ext uri="{9D8B030D-6E8A-4147-A177-3AD203B41FA5}">
                          <a16:colId xmlns:a16="http://schemas.microsoft.com/office/drawing/2014/main" val="2314236260"/>
                        </a:ext>
                      </a:extLst>
                    </a:gridCol>
                    <a:gridCol w="800351">
                      <a:extLst>
                        <a:ext uri="{9D8B030D-6E8A-4147-A177-3AD203B41FA5}">
                          <a16:colId xmlns:a16="http://schemas.microsoft.com/office/drawing/2014/main" val="432592763"/>
                        </a:ext>
                      </a:extLst>
                    </a:gridCol>
                    <a:gridCol w="829995">
                      <a:extLst>
                        <a:ext uri="{9D8B030D-6E8A-4147-A177-3AD203B41FA5}">
                          <a16:colId xmlns:a16="http://schemas.microsoft.com/office/drawing/2014/main" val="1574758679"/>
                        </a:ext>
                      </a:extLst>
                    </a:gridCol>
                    <a:gridCol w="829995">
                      <a:extLst>
                        <a:ext uri="{9D8B030D-6E8A-4147-A177-3AD203B41FA5}">
                          <a16:colId xmlns:a16="http://schemas.microsoft.com/office/drawing/2014/main" val="1896796054"/>
                        </a:ext>
                      </a:extLst>
                    </a:gridCol>
                    <a:gridCol w="760827">
                      <a:extLst>
                        <a:ext uri="{9D8B030D-6E8A-4147-A177-3AD203B41FA5}">
                          <a16:colId xmlns:a16="http://schemas.microsoft.com/office/drawing/2014/main" val="86384511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Persona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b="1" i="1" dirty="0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s-ES" b="1" i="1" baseline="-25000" dirty="0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s-ES" b="1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b="1" i="1" dirty="0" smtClean="0">
                                    <a:latin typeface="Cambria Math" panose="02040503050406030204" pitchFamily="18" charset="0"/>
                                  </a:rPr>
                                  <m:t>𝑫</m:t>
                                </m:r>
                                <m:r>
                                  <a:rPr lang="es-ES" b="1" i="1" baseline="-25000" dirty="0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  <m:r>
                                  <a:rPr lang="es-ES" b="1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ES" b="1" i="1" dirty="0" smtClean="0"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s-ES" b="1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b="1" i="1" dirty="0" smtClean="0">
                                    <a:latin typeface="Cambria Math" panose="02040503050406030204" pitchFamily="18" charset="0"/>
                                  </a:rPr>
                                  <m:t>𝒅</m:t>
                                </m:r>
                                <m:r>
                                  <a:rPr lang="es-ES" b="1" i="1" baseline="-25000" dirty="0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s-ES" b="1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b="1" i="1" baseline="0" dirty="0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s-ES" b="1" i="1" baseline="-25000" dirty="0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s-ES" b="1" baseline="-250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b="1" i="1" baseline="0" dirty="0" smtClean="0">
                                    <a:latin typeface="Cambria Math" panose="02040503050406030204" pitchFamily="18" charset="0"/>
                                  </a:rPr>
                                  <m:t>𝑹</m:t>
                                </m:r>
                                <m:r>
                                  <a:rPr lang="es-ES" b="1" i="1" baseline="-25000" dirty="0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s-ES" b="1" baseline="0" dirty="0"/>
                        </a:p>
                        <a:p>
                          <a:pPr algn="ctr"/>
                          <a:r>
                            <a:rPr lang="es-ES" b="1" baseline="0" dirty="0" err="1"/>
                            <a:t>recal</a:t>
                          </a:r>
                          <a:r>
                            <a:rPr lang="es-ES" b="1" baseline="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baseline="0" dirty="0"/>
                            <a:t>signo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337821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1442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27155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-2.4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-2.4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2.4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00917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4521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357961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054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25357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-1.9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-1.9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23200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69018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32638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a 6">
                <a:extLst>
                  <a:ext uri="{FF2B5EF4-FFF2-40B4-BE49-F238E27FC236}">
                    <a16:creationId xmlns:a16="http://schemas.microsoft.com/office/drawing/2014/main" id="{6811F50D-D490-BB52-D1B4-4645EF1ED6C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47365753"/>
                  </p:ext>
                </p:extLst>
              </p:nvPr>
            </p:nvGraphicFramePr>
            <p:xfrm>
              <a:off x="6096001" y="1856014"/>
              <a:ext cx="5780319" cy="43484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80693">
                      <a:extLst>
                        <a:ext uri="{9D8B030D-6E8A-4147-A177-3AD203B41FA5}">
                          <a16:colId xmlns:a16="http://schemas.microsoft.com/office/drawing/2014/main" val="2727738903"/>
                        </a:ext>
                      </a:extLst>
                    </a:gridCol>
                    <a:gridCol w="651101">
                      <a:extLst>
                        <a:ext uri="{9D8B030D-6E8A-4147-A177-3AD203B41FA5}">
                          <a16:colId xmlns:a16="http://schemas.microsoft.com/office/drawing/2014/main" val="2671235182"/>
                        </a:ext>
                      </a:extLst>
                    </a:gridCol>
                    <a:gridCol w="927357">
                      <a:extLst>
                        <a:ext uri="{9D8B030D-6E8A-4147-A177-3AD203B41FA5}">
                          <a16:colId xmlns:a16="http://schemas.microsoft.com/office/drawing/2014/main" val="2314236260"/>
                        </a:ext>
                      </a:extLst>
                    </a:gridCol>
                    <a:gridCol w="800351">
                      <a:extLst>
                        <a:ext uri="{9D8B030D-6E8A-4147-A177-3AD203B41FA5}">
                          <a16:colId xmlns:a16="http://schemas.microsoft.com/office/drawing/2014/main" val="432592763"/>
                        </a:ext>
                      </a:extLst>
                    </a:gridCol>
                    <a:gridCol w="829995">
                      <a:extLst>
                        <a:ext uri="{9D8B030D-6E8A-4147-A177-3AD203B41FA5}">
                          <a16:colId xmlns:a16="http://schemas.microsoft.com/office/drawing/2014/main" val="1574758679"/>
                        </a:ext>
                      </a:extLst>
                    </a:gridCol>
                    <a:gridCol w="829995">
                      <a:extLst>
                        <a:ext uri="{9D8B030D-6E8A-4147-A177-3AD203B41FA5}">
                          <a16:colId xmlns:a16="http://schemas.microsoft.com/office/drawing/2014/main" val="1896796054"/>
                        </a:ext>
                      </a:extLst>
                    </a:gridCol>
                    <a:gridCol w="760827">
                      <a:extLst>
                        <a:ext uri="{9D8B030D-6E8A-4147-A177-3AD203B41FA5}">
                          <a16:colId xmlns:a16="http://schemas.microsoft.com/office/drawing/2014/main" val="863845110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Persona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52336" t="-952" r="-640187" b="-59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77632" t="-952" r="-350658" b="-59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19697" t="-952" r="-303788" b="-59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407353" t="-952" r="-194853" b="-59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E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507353" t="-952" r="-94853" b="-59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b="1" baseline="0" dirty="0"/>
                            <a:t>signo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3378215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431442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427155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-2.4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-2.4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2.4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800917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2.1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245210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3579617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6054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0025357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-1.9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-1.9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1.9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54232006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9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2.5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+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369018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E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-0.3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0.3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s-ES" sz="1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-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326382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785780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FF1056-E23E-EFD2-56C8-D1575083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5. Contraste de rangos con signo de Wilcoxon para datos pareados. Ejemplo (Solución) (II)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39AB4A-1C64-C2B1-F510-B7D4751D61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Paso 2: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=10 &lt; 15  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 Se </a:t>
                </a:r>
                <a:r>
                  <a:rPr lang="en-US" dirty="0" err="1">
                    <a:sym typeface="Wingdings" panose="05000000000000000000" pitchFamily="2" charset="2"/>
                  </a:rPr>
                  <a:t>usa</a:t>
                </a:r>
                <a:r>
                  <a:rPr lang="en-US" dirty="0">
                    <a:sym typeface="Wingdings" panose="05000000000000000000" pitchFamily="2" charset="2"/>
                  </a:rPr>
                  <a:t> la </a:t>
                </a:r>
                <a:r>
                  <a:rPr lang="en-US" dirty="0" err="1">
                    <a:sym typeface="Wingdings" panose="05000000000000000000" pitchFamily="2" charset="2"/>
                  </a:rPr>
                  <a:t>Tabla</a:t>
                </a:r>
                <a:r>
                  <a:rPr lang="en-US" dirty="0">
                    <a:sym typeface="Wingdings" panose="05000000000000000000" pitchFamily="2" charset="2"/>
                  </a:rPr>
                  <a:t> A8 “Critical values for the Wilcoxon Signed Rank Test”</a:t>
                </a:r>
                <a:endParaRPr lang="en-US" dirty="0"/>
              </a:p>
              <a:p>
                <a:r>
                  <a:rPr lang="en-US" dirty="0"/>
                  <a:t>Paso 3: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≠0,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valor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2∙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𝑚𝑖</m:t>
                    </m:r>
                    <m:func>
                      <m:func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s-ES" i="1">
                            <a:latin typeface="Cambria Math" panose="02040503050406030204" pitchFamily="18" charset="0"/>
                          </a:rPr>
                          <m:t>𝑛</m:t>
                        </m:r>
                      </m:fName>
                      <m:e>
                        <m:d>
                          <m:d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≤17.5 </m:t>
                                </m:r>
                              </m:e>
                            </m:d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≥17.5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0,1, 0.2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s-E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𝟎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.</m:t>
                        </m:r>
                        <m:r>
                          <a:rPr lang="es-ES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𝟒</m:t>
                        </m:r>
                      </m:e>
                    </m:d>
                  </m:oMath>
                </a14:m>
                <a:endParaRPr lang="en-US" b="1" dirty="0"/>
              </a:p>
              <a:p>
                <a:pPr lvl="1"/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≤17.5 </m:t>
                        </m:r>
                      </m:e>
                    </m:d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0.1, 0.2</m:t>
                        </m:r>
                      </m:e>
                    </m:d>
                  </m:oMath>
                </a14:m>
                <a:endParaRPr lang="es-ES" b="0" dirty="0">
                  <a:ea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s-E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17.5 </m:t>
                        </m:r>
                      </m:e>
                    </m:d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0.2,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s-ES" b="0" dirty="0">
                  <a:ea typeface="Cambria Math" panose="02040503050406030204" pitchFamily="18" charset="0"/>
                </a:endParaRPr>
              </a:p>
              <a:p>
                <a:r>
                  <a:rPr lang="en-US" dirty="0"/>
                  <a:t>Paso 4: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valor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0.05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El </a:t>
                </a:r>
                <a:r>
                  <a:rPr lang="es-ES" b="1" dirty="0"/>
                  <a:t>contraste de rangos con signo de Wilcoxon para datos pareados no puede rechazar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1" i="1" baseline="-25000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por</a:t>
                </a:r>
                <a:r>
                  <a:rPr lang="en-US" dirty="0"/>
                  <a:t> lo que con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confianza</a:t>
                </a:r>
                <a:r>
                  <a:rPr lang="en-US" dirty="0"/>
                  <a:t> del 95%, Podemos </a:t>
                </a:r>
                <a:r>
                  <a:rPr lang="en-US" dirty="0" err="1"/>
                  <a:t>concluir</a:t>
                </a:r>
                <a:r>
                  <a:rPr lang="en-US" dirty="0"/>
                  <a:t> que </a:t>
                </a:r>
                <a:r>
                  <a:rPr lang="en-US" dirty="0" err="1"/>
                  <a:t>estos</a:t>
                </a:r>
                <a:r>
                  <a:rPr lang="en-US" dirty="0"/>
                  <a:t> </a:t>
                </a:r>
                <a:r>
                  <a:rPr lang="en-US" dirty="0" err="1"/>
                  <a:t>datos</a:t>
                </a:r>
                <a:r>
                  <a:rPr lang="en-US" dirty="0"/>
                  <a:t> no </a:t>
                </a:r>
                <a:r>
                  <a:rPr lang="en-US" dirty="0" err="1"/>
                  <a:t>propocionan</a:t>
                </a:r>
                <a:r>
                  <a:rPr lang="en-US" dirty="0"/>
                  <a:t> </a:t>
                </a:r>
                <a:r>
                  <a:rPr lang="en-US" dirty="0" err="1"/>
                  <a:t>suficientes</a:t>
                </a:r>
                <a:r>
                  <a:rPr lang="en-US" dirty="0"/>
                  <a:t> </a:t>
                </a:r>
                <a:r>
                  <a:rPr lang="en-US" dirty="0" err="1"/>
                  <a:t>evidencias</a:t>
                </a:r>
                <a:r>
                  <a:rPr lang="en-US" dirty="0"/>
                  <a:t> para </a:t>
                </a:r>
                <a:r>
                  <a:rPr lang="en-US" dirty="0" err="1"/>
                  <a:t>poder</a:t>
                </a:r>
                <a:r>
                  <a:rPr lang="en-US" dirty="0"/>
                  <a:t> </a:t>
                </a:r>
                <a:r>
                  <a:rPr lang="en-US" dirty="0" err="1"/>
                  <a:t>afirmar</a:t>
                </a:r>
                <a:r>
                  <a:rPr lang="en-US" dirty="0"/>
                  <a:t> que la </a:t>
                </a:r>
                <a:r>
                  <a:rPr lang="en-US" dirty="0" err="1"/>
                  <a:t>mediana</a:t>
                </a:r>
                <a:r>
                  <a:rPr lang="en-US" dirty="0"/>
                  <a:t> del peso antes y </a:t>
                </a:r>
                <a:r>
                  <a:rPr lang="en-US" dirty="0" err="1"/>
                  <a:t>después</a:t>
                </a:r>
                <a:r>
                  <a:rPr lang="en-US" dirty="0"/>
                  <a:t> de Navidad sea </a:t>
                </a:r>
                <a:r>
                  <a:rPr lang="en-US" dirty="0" err="1"/>
                  <a:t>diferente</a:t>
                </a:r>
                <a:endParaRPr lang="en-US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39AB4A-1C64-C2B1-F510-B7D4751D61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C8F198-F416-AFCD-924E-644495E94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106708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FF1056-E23E-EFD2-56C8-D1575083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dirty="0"/>
              <a:t>5. Contraste de rangos con signo de Wilcoxon para datos pareados. Ejemplo (Solución) (III)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39AB4A-1C64-C2B1-F510-B7D4751D61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184190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NOTA </a:t>
                </a:r>
                <a:r>
                  <a:rPr lang="en-US" dirty="0" err="1"/>
                  <a:t>sobre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paso 3: </a:t>
                </a:r>
                <a:r>
                  <a:rPr lang="en-US" dirty="0" err="1"/>
                  <a:t>Otra</a:t>
                </a:r>
                <a:r>
                  <a:rPr lang="en-US" dirty="0"/>
                  <a:t> forma de </a:t>
                </a:r>
                <a:r>
                  <a:rPr lang="en-US" dirty="0" err="1"/>
                  <a:t>resolverlo</a:t>
                </a:r>
                <a:r>
                  <a:rPr lang="en-US" dirty="0"/>
                  <a:t> </a:t>
                </a: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Como </a:t>
                </a:r>
                <a:r>
                  <a:rPr lang="en-US" dirty="0" err="1">
                    <a:sym typeface="Wingdings" panose="05000000000000000000" pitchFamily="2" charset="2"/>
                  </a:rPr>
                  <a:t>puede</a:t>
                </a:r>
                <a:r>
                  <a:rPr lang="en-US" dirty="0">
                    <a:sym typeface="Wingdings" panose="05000000000000000000" pitchFamily="2" charset="2"/>
                  </a:rPr>
                  <a:t> verse en la </a:t>
                </a:r>
                <a:r>
                  <a:rPr lang="en-US" dirty="0" err="1">
                    <a:sym typeface="Wingdings" panose="05000000000000000000" pitchFamily="2" charset="2"/>
                  </a:rPr>
                  <a:t>Tabla</a:t>
                </a:r>
                <a:r>
                  <a:rPr lang="en-US" dirty="0">
                    <a:sym typeface="Wingdings" panose="05000000000000000000" pitchFamily="2" charset="2"/>
                  </a:rPr>
                  <a:t> A8 “Critical values for the Wilcoxon Signed Rank Test”</a:t>
                </a:r>
                <a:endParaRPr lang="en-US" dirty="0"/>
              </a:p>
              <a:p>
                <a:pPr lvl="1"/>
                <a:r>
                  <a:rPr lang="en-US" dirty="0"/>
                  <a:t>Para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 y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s-ES" dirty="0"/>
                  <a:t>, </a:t>
                </a:r>
                <a:r>
                  <a:rPr lang="en-US" dirty="0"/>
                  <a:t>la </a:t>
                </a:r>
                <a:r>
                  <a:rPr lang="en-US" dirty="0" err="1"/>
                  <a:t>región</a:t>
                </a:r>
                <a:r>
                  <a:rPr lang="en-US" dirty="0"/>
                  <a:t> de </a:t>
                </a:r>
                <a:r>
                  <a:rPr lang="en-US" dirty="0" err="1"/>
                  <a:t>rechazo</a:t>
                </a:r>
                <a:r>
                  <a:rPr lang="en-US" dirty="0"/>
                  <a:t> es:</a:t>
                </a:r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≤10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≥45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por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lo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que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=17.5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no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est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á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en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la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regi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ó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de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rechazo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39AB4A-1C64-C2B1-F510-B7D4751D61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1841903"/>
              </a:xfrm>
              <a:blipFill>
                <a:blip r:embed="rId2"/>
                <a:stretch>
                  <a:fillRect l="-1043" t="-7261" b="-99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C8F198-F416-AFCD-924E-644495E94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31</a:t>
            </a:fld>
            <a:endParaRPr lang="es-ES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A1FAEC0-A422-6A88-ADE0-A3F2B0CEA7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0424" y="3667528"/>
            <a:ext cx="8291151" cy="2929209"/>
          </a:xfrm>
          <a:prstGeom prst="rect">
            <a:avLst/>
          </a:prstGeom>
        </p:spPr>
      </p:pic>
      <p:sp>
        <p:nvSpPr>
          <p:cNvPr id="7" name="Elipse 6">
            <a:extLst>
              <a:ext uri="{FF2B5EF4-FFF2-40B4-BE49-F238E27FC236}">
                <a16:creationId xmlns:a16="http://schemas.microsoft.com/office/drawing/2014/main" id="{DF3D092A-5EB4-C25E-9169-31B8B96628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03652" y="6296925"/>
            <a:ext cx="355002" cy="326574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482D58CC-5BD4-45AE-C515-C54543C5F3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28220" y="6269073"/>
            <a:ext cx="355002" cy="32273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id="{3FE27891-DE43-048F-54FB-104EE64B64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72613" y="4182266"/>
            <a:ext cx="492355" cy="433266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id="{FB1E14F0-337A-A2B2-DD1A-B0C150982C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77037" y="6274007"/>
            <a:ext cx="355002" cy="322730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id="{0C48F3F2-D2DC-DDA6-EDFB-0CAFA67CD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3651" y="4182266"/>
            <a:ext cx="492355" cy="433266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991278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A7965B-5291-679F-D77A-E98F56C1C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s-ES" dirty="0"/>
              <a:t>5. Contraste de rangos con signo de Wilcoxon para datos pareados. Ejemplos reales (Artículos)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8BBA23-82CF-F068-9278-1A4731ADE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dirty="0"/>
              <a:t>Educación: </a:t>
            </a:r>
          </a:p>
          <a:p>
            <a:pPr lvl="1"/>
            <a:r>
              <a:rPr lang="es-ES" dirty="0"/>
              <a:t>Batanero, C., et al. (2019). </a:t>
            </a:r>
            <a:r>
              <a:rPr lang="en-US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Effects of new supportive technologies for blind and deaf engineering students in online learning</a:t>
            </a:r>
            <a:r>
              <a:rPr lang="en-US" dirty="0"/>
              <a:t>. IEEE Transactions on Education, 62(4), 270-277. </a:t>
            </a:r>
            <a:br>
              <a:rPr lang="en-US" dirty="0"/>
            </a:br>
            <a:r>
              <a:rPr lang="en-US" i="1" dirty="0"/>
              <a:t>NOTA: En este </a:t>
            </a:r>
            <a:r>
              <a:rPr lang="en-US" i="1" dirty="0" err="1"/>
              <a:t>artículo</a:t>
            </a:r>
            <a:r>
              <a:rPr lang="en-US" i="1" dirty="0"/>
              <a:t>, </a:t>
            </a:r>
            <a:r>
              <a:rPr lang="en-US" i="1" dirty="0" err="1"/>
              <a:t>donde</a:t>
            </a:r>
            <a:r>
              <a:rPr lang="en-US" i="1" dirty="0"/>
              <a:t> </a:t>
            </a:r>
            <a:r>
              <a:rPr lang="en-US" i="1" dirty="0" err="1"/>
              <a:t>aparece</a:t>
            </a:r>
            <a:r>
              <a:rPr lang="en-US" i="1" dirty="0"/>
              <a:t> </a:t>
            </a:r>
            <a:r>
              <a:rPr lang="en-US" i="1" dirty="0" err="1"/>
              <a:t>el</a:t>
            </a:r>
            <a:r>
              <a:rPr lang="en-US" i="1" dirty="0"/>
              <a:t> </a:t>
            </a:r>
            <a:r>
              <a:rPr lang="en-US" i="1" dirty="0" err="1"/>
              <a:t>estadístico</a:t>
            </a:r>
            <a:r>
              <a:rPr lang="en-US" i="1" dirty="0"/>
              <a:t> W, </a:t>
            </a:r>
            <a:r>
              <a:rPr lang="en-US" i="1" dirty="0" err="1"/>
              <a:t>realmente</a:t>
            </a:r>
            <a:r>
              <a:rPr lang="en-US" i="1" dirty="0"/>
              <a:t> se </a:t>
            </a:r>
            <a:r>
              <a:rPr lang="en-US" i="1" dirty="0" err="1"/>
              <a:t>refiere</a:t>
            </a:r>
            <a:r>
              <a:rPr lang="en-US" i="1" dirty="0"/>
              <a:t> a </a:t>
            </a:r>
            <a:r>
              <a:rPr lang="en-US" i="1" dirty="0" err="1"/>
              <a:t>una</a:t>
            </a:r>
            <a:r>
              <a:rPr lang="en-US" i="1" dirty="0"/>
              <a:t> version </a:t>
            </a:r>
            <a:r>
              <a:rPr lang="en-US" i="1" dirty="0" err="1"/>
              <a:t>estandarizada</a:t>
            </a:r>
            <a:r>
              <a:rPr lang="en-US" i="1" dirty="0"/>
              <a:t> de W, la </a:t>
            </a:r>
            <a:r>
              <a:rPr lang="en-US" i="1" dirty="0" err="1"/>
              <a:t>cual</a:t>
            </a:r>
            <a:r>
              <a:rPr lang="en-US" i="1" dirty="0"/>
              <a:t> </a:t>
            </a:r>
            <a:r>
              <a:rPr lang="en-US" i="1" dirty="0" err="1"/>
              <a:t>habitualmente</a:t>
            </a:r>
            <a:r>
              <a:rPr lang="en-US" i="1" dirty="0"/>
              <a:t> en </a:t>
            </a:r>
            <a:r>
              <a:rPr lang="en-US" i="1" dirty="0" err="1"/>
              <a:t>otras</a:t>
            </a:r>
            <a:r>
              <a:rPr lang="en-US" i="1" dirty="0"/>
              <a:t> </a:t>
            </a:r>
            <a:r>
              <a:rPr lang="en-US" i="1"/>
              <a:t>fuentes</a:t>
            </a:r>
            <a:r>
              <a:rPr lang="en-US" i="1" dirty="0"/>
              <a:t> se </a:t>
            </a:r>
            <a:r>
              <a:rPr lang="en-US" i="1" dirty="0" err="1"/>
              <a:t>denomina</a:t>
            </a:r>
            <a:r>
              <a:rPr lang="en-US" i="1" dirty="0"/>
              <a:t> Z en </a:t>
            </a:r>
            <a:r>
              <a:rPr lang="en-US" i="1" dirty="0" err="1"/>
              <a:t>vez</a:t>
            </a:r>
            <a:r>
              <a:rPr lang="en-US" i="1" dirty="0"/>
              <a:t> de W.</a:t>
            </a:r>
            <a:endParaRPr lang="en-US" dirty="0"/>
          </a:p>
          <a:p>
            <a:r>
              <a:rPr lang="es-ES" dirty="0"/>
              <a:t>Informática:</a:t>
            </a:r>
          </a:p>
          <a:p>
            <a:pPr lvl="1"/>
            <a:r>
              <a:rPr lang="en-US" dirty="0"/>
              <a:t>Safi, R., et al. (2022). </a:t>
            </a:r>
            <a:r>
              <a:rPr lang="en-US" dirty="0">
                <a:hlinkClick r:id="rId3"/>
              </a:rPr>
              <a:t>Detecting Cybersecurity Threats: The Role of the Recency and Risk Compensating Effects</a:t>
            </a:r>
            <a:r>
              <a:rPr lang="en-US" dirty="0"/>
              <a:t>. Information Systems Frontiers, 1-16.</a:t>
            </a:r>
            <a:endParaRPr lang="es-ES" dirty="0"/>
          </a:p>
          <a:p>
            <a:r>
              <a:rPr lang="en-US" dirty="0"/>
              <a:t>Economía:</a:t>
            </a:r>
          </a:p>
          <a:p>
            <a:pPr lvl="1"/>
            <a:r>
              <a:rPr lang="en-US" dirty="0" err="1"/>
              <a:t>Priyadi</a:t>
            </a:r>
            <a:r>
              <a:rPr lang="en-US" dirty="0"/>
              <a:t>, Y., et al. (2022). </a:t>
            </a:r>
            <a:r>
              <a:rPr lang="en-US" dirty="0">
                <a:hlinkClick r:id="rId4"/>
              </a:rPr>
              <a:t>Partnership Impact on Production and Income of Indonesia Rubber Farmers</a:t>
            </a:r>
            <a:r>
              <a:rPr lang="en-US" dirty="0"/>
              <a:t>. Economics Development Analysis Journal, 11(3), 381-393.</a:t>
            </a:r>
          </a:p>
          <a:p>
            <a:r>
              <a:rPr lang="en-US" dirty="0" err="1"/>
              <a:t>Medicina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Hardy, A., et al. (2022). </a:t>
            </a:r>
            <a:r>
              <a:rPr lang="en-US" dirty="0">
                <a:hlinkClick r:id="rId5"/>
              </a:rPr>
              <a:t>Improved clinical outcomes of outpatient enhanced recovery hip and knee replacements in comparison to standard inpatient procedures</a:t>
            </a:r>
            <a:r>
              <a:rPr lang="en-US" dirty="0"/>
              <a:t>. </a:t>
            </a:r>
            <a:r>
              <a:rPr lang="en-US" dirty="0" err="1"/>
              <a:t>Orthopaedics</a:t>
            </a:r>
            <a:r>
              <a:rPr lang="en-US" dirty="0"/>
              <a:t> &amp; Traumatology: Surgery &amp; Research, 108(6), 103236.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BDCB2A7-B795-8150-C79D-8EAC22230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26013441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302EF2-5556-DDA7-A644-DE3F69E3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692161" cy="1325563"/>
          </a:xfrm>
        </p:spPr>
        <p:txBody>
          <a:bodyPr>
            <a:noAutofit/>
          </a:bodyPr>
          <a:lstStyle/>
          <a:p>
            <a:r>
              <a:rPr lang="en-US" sz="3200" dirty="0"/>
              <a:t>6. </a:t>
            </a:r>
            <a:r>
              <a:rPr lang="es-ES" sz="3200" dirty="0"/>
              <a:t>Contraste de la suma de rangos con signo de Mann-Whitney-Wilcoxon para la diferencia de dos medianas poblacionales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0FE9C85-5B87-E20E-E1A6-780A54467D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En </a:t>
                </a:r>
                <a:r>
                  <a:rPr lang="en-US" dirty="0" err="1"/>
                  <a:t>inglés</a:t>
                </a:r>
                <a:r>
                  <a:rPr lang="en-US" dirty="0"/>
                  <a:t> se </a:t>
                </a:r>
                <a:r>
                  <a:rPr lang="en-US" dirty="0" err="1"/>
                  <a:t>denomina</a:t>
                </a:r>
                <a:r>
                  <a:rPr lang="en-US" dirty="0"/>
                  <a:t> </a:t>
                </a:r>
                <a:r>
                  <a:rPr lang="en-US" i="1" dirty="0"/>
                  <a:t>Mann-Whitney-Wilcoxon rank sum test, </a:t>
                </a:r>
                <a:r>
                  <a:rPr lang="en-US" dirty="0"/>
                  <a:t>o </a:t>
                </a:r>
                <a:r>
                  <a:rPr lang="en-US" dirty="0" err="1"/>
                  <a:t>también</a:t>
                </a:r>
                <a:r>
                  <a:rPr lang="en-US" dirty="0"/>
                  <a:t> </a:t>
                </a:r>
                <a:r>
                  <a:rPr lang="en-US" i="1" dirty="0"/>
                  <a:t>Mann-Whitney test, </a:t>
                </a:r>
                <a:r>
                  <a:rPr lang="en-US" dirty="0"/>
                  <a:t>o bien </a:t>
                </a:r>
                <a:r>
                  <a:rPr lang="en-US" i="1" dirty="0"/>
                  <a:t>U-test</a:t>
                </a:r>
              </a:p>
              <a:p>
                <a:r>
                  <a:rPr lang="en-US" dirty="0"/>
                  <a:t>Es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extensión</a:t>
                </a:r>
                <a:r>
                  <a:rPr lang="en-US" dirty="0"/>
                  <a:t> del </a:t>
                </a:r>
                <a:r>
                  <a:rPr lang="en-US" dirty="0" err="1"/>
                  <a:t>contraste</a:t>
                </a:r>
                <a:r>
                  <a:rPr lang="en-US" dirty="0"/>
                  <a:t> de </a:t>
                </a:r>
                <a:r>
                  <a:rPr lang="en-US" dirty="0" err="1"/>
                  <a:t>rangos</a:t>
                </a:r>
                <a:r>
                  <a:rPr lang="en-US" dirty="0"/>
                  <a:t> con </a:t>
                </a:r>
                <a:r>
                  <a:rPr lang="en-US" dirty="0" err="1"/>
                  <a:t>signo</a:t>
                </a:r>
                <a:r>
                  <a:rPr lang="en-US" dirty="0"/>
                  <a:t> de Wilcoxon </a:t>
                </a:r>
                <a:r>
                  <a:rPr lang="en-US" dirty="0" err="1"/>
                  <a:t>pero</a:t>
                </a:r>
                <a:r>
                  <a:rPr lang="en-US" dirty="0"/>
                  <a:t> </a:t>
                </a:r>
                <a:r>
                  <a:rPr lang="en-US" dirty="0" err="1"/>
                  <a:t>aplicado</a:t>
                </a:r>
                <a:r>
                  <a:rPr lang="en-US" dirty="0"/>
                  <a:t> a dos </a:t>
                </a:r>
                <a:r>
                  <a:rPr lang="en-US" dirty="0" err="1"/>
                  <a:t>muestras</a:t>
                </a:r>
                <a:r>
                  <a:rPr lang="en-US" dirty="0"/>
                  <a:t> </a:t>
                </a:r>
                <a:r>
                  <a:rPr lang="en-US" dirty="0" err="1"/>
                  <a:t>independientes</a:t>
                </a:r>
                <a:endParaRPr lang="en-US" dirty="0"/>
              </a:p>
              <a:p>
                <a:r>
                  <a:rPr lang="es-ES" sz="2800" b="0" strike="noStrike" spc="-1" dirty="0">
                    <a:solidFill>
                      <a:srgbClr val="000000"/>
                    </a:solidFill>
                    <a:latin typeface="Calibri"/>
                  </a:rPr>
                  <a:t>Lo que hace es comparar la función de distribución de probabilidad acumulada (F) de dos poblaciones independientes (X e Y) cuando se tienen dos muestras de las dos poblaciones con el mismo o diferente tamaño, y si las funciones son iguales, las medianas también lo son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 dirty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ES" b="0" i="1" dirty="0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dirty="0"/>
                  <a:t>  Si se </a:t>
                </a:r>
                <a:r>
                  <a:rPr lang="en-US" dirty="0" err="1"/>
                  <a:t>cumple</a:t>
                </a:r>
                <a:r>
                  <a:rPr lang="en-US" dirty="0"/>
                  <a:t>, las </a:t>
                </a:r>
                <a:r>
                  <a:rPr lang="en-US" dirty="0" err="1"/>
                  <a:t>medianas</a:t>
                </a:r>
                <a:r>
                  <a:rPr lang="en-US" dirty="0"/>
                  <a:t> son </a:t>
                </a:r>
                <a:r>
                  <a:rPr lang="en-US" dirty="0" err="1"/>
                  <a:t>iguales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s-ES" b="0" i="1" baseline="-25000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endParaRPr lang="en-US" baseline="-25000" dirty="0"/>
              </a:p>
              <a:p>
                <a:r>
                  <a:rPr lang="en-US" dirty="0" err="1"/>
                  <a:t>Estadístico</a:t>
                </a:r>
                <a:r>
                  <a:rPr lang="en-US" dirty="0"/>
                  <a:t> de </a:t>
                </a:r>
                <a:r>
                  <a:rPr lang="en-US" dirty="0" err="1"/>
                  <a:t>contraste</a:t>
                </a:r>
                <a:r>
                  <a:rPr lang="en-US" dirty="0"/>
                  <a:t>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 = </a:t>
                </a:r>
                <a:r>
                  <a:rPr lang="en-US" dirty="0" err="1"/>
                  <a:t>suma</a:t>
                </a:r>
                <a:r>
                  <a:rPr lang="en-US" dirty="0"/>
                  <a:t> de los </a:t>
                </a:r>
                <a:r>
                  <a:rPr lang="en-US" dirty="0" err="1"/>
                  <a:t>rangos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) de las </a:t>
                </a:r>
                <a:r>
                  <a:rPr lang="en-US" dirty="0" err="1"/>
                  <a:t>observaciones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en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muestra</a:t>
                </a:r>
                <a:r>
                  <a:rPr lang="en-US" dirty="0"/>
                  <a:t> </a:t>
                </a:r>
                <a:r>
                  <a:rPr lang="en-US" dirty="0" err="1"/>
                  <a:t>combinada</a:t>
                </a:r>
                <a:r>
                  <a:rPr lang="en-US" dirty="0"/>
                  <a:t> con las </a:t>
                </a:r>
                <a:r>
                  <a:rPr lang="en-US" dirty="0" err="1"/>
                  <a:t>muestras</a:t>
                </a:r>
                <a:r>
                  <a:rPr lang="en-US" dirty="0"/>
                  <a:t>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baseline="-25000" dirty="0"/>
              </a:p>
              <a:p>
                <a:pPr lvl="1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s-E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: 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s-ES" b="0" dirty="0"/>
              </a:p>
              <a:p>
                <a:pPr lvl="1"/>
                <a:r>
                  <a:rPr lang="en-US" dirty="0" err="1"/>
                  <a:t>Muestras</a:t>
                </a:r>
                <a:r>
                  <a:rPr lang="en-US" dirty="0"/>
                  <a:t>: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, …, 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NOTA: Se </a:t>
                </a:r>
                <a:r>
                  <a:rPr lang="en-US" dirty="0" err="1"/>
                  <a:t>asume</a:t>
                </a:r>
                <a:r>
                  <a:rPr lang="en-US" dirty="0"/>
                  <a:t> que las </a:t>
                </a:r>
                <a:r>
                  <a:rPr lang="en-US" dirty="0" err="1"/>
                  <a:t>distribuciones</a:t>
                </a:r>
                <a:r>
                  <a:rPr lang="en-US" dirty="0"/>
                  <a:t> 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son </a:t>
                </a:r>
                <a:r>
                  <a:rPr lang="en-US" dirty="0" err="1"/>
                  <a:t>continuas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0FE9C85-5B87-E20E-E1A6-780A54467D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2801" r="-928" b="-224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C051E4D-8FE0-0EE9-26D3-17FF17534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8991730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302EF2-5556-DDA7-A644-DE3F69E39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4831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/>
              <a:t>6. </a:t>
            </a:r>
            <a:r>
              <a:rPr lang="en-US" dirty="0" err="1"/>
              <a:t>Contraste</a:t>
            </a:r>
            <a:r>
              <a:rPr lang="en-US" dirty="0"/>
              <a:t> de Mann-Whitney-Wilcoxon</a:t>
            </a:r>
            <a:br>
              <a:rPr lang="en-US" dirty="0"/>
            </a:br>
            <a:r>
              <a:rPr lang="en-US" dirty="0" err="1"/>
              <a:t>Hipótesis</a:t>
            </a:r>
            <a:r>
              <a:rPr lang="en-US" dirty="0"/>
              <a:t> </a:t>
            </a:r>
            <a:r>
              <a:rPr lang="en-US" dirty="0" err="1"/>
              <a:t>alternativa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0FE9C85-5B87-E20E-E1A6-780A54467D5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199" y="1825625"/>
                <a:ext cx="10515600" cy="2202089"/>
              </a:xfrm>
            </p:spPr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Posible </a:t>
                </a:r>
                <a:r>
                  <a:rPr lang="en-US" dirty="0" err="1"/>
                  <a:t>hipótesis</a:t>
                </a:r>
                <a:r>
                  <a:rPr lang="en-US" dirty="0"/>
                  <a:t> </a:t>
                </a:r>
                <a:r>
                  <a:rPr lang="en-US" dirty="0" err="1"/>
                  <a:t>alternativa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s-ES" dirty="0"/>
                  <a:t>Se cumple lo siguiente respecto a las medianas:</a:t>
                </a:r>
              </a:p>
              <a:p>
                <a:pPr lvl="1"/>
                <a:r>
                  <a:rPr lang="en-US" dirty="0"/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entonces</a:t>
                </a:r>
                <a:r>
                  <a:rPr lang="en-US" dirty="0"/>
                  <a:t> la </a:t>
                </a:r>
                <a:r>
                  <a:rPr lang="en-US" dirty="0" err="1"/>
                  <a:t>mediana</a:t>
                </a:r>
                <a:r>
                  <a:rPr lang="en-US" dirty="0"/>
                  <a:t> 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) es </a:t>
                </a:r>
                <a:r>
                  <a:rPr lang="en-US" dirty="0" err="1"/>
                  <a:t>menor</a:t>
                </a:r>
                <a:r>
                  <a:rPr lang="en-US" dirty="0"/>
                  <a:t> que la </a:t>
                </a:r>
                <a:r>
                  <a:rPr lang="en-US" dirty="0" err="1"/>
                  <a:t>mediana</a:t>
                </a:r>
                <a:r>
                  <a:rPr lang="en-US" dirty="0"/>
                  <a:t> 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)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entonces</a:t>
                </a:r>
                <a:r>
                  <a:rPr lang="en-US" dirty="0"/>
                  <a:t> la </a:t>
                </a:r>
                <a:r>
                  <a:rPr lang="en-US" dirty="0" err="1"/>
                  <a:t>mediana</a:t>
                </a:r>
                <a:r>
                  <a:rPr lang="en-US" dirty="0"/>
                  <a:t> de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) es mayor que la </a:t>
                </a:r>
                <a:r>
                  <a:rPr lang="en-US" dirty="0" err="1"/>
                  <a:t>mediana</a:t>
                </a:r>
                <a:r>
                  <a:rPr lang="en-US" dirty="0"/>
                  <a:t> de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) </a:t>
                </a:r>
                <a:r>
                  <a:rPr lang="en-US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90FE9C85-5B87-E20E-E1A6-780A54467D5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199" y="1825625"/>
                <a:ext cx="10515600" cy="2202089"/>
              </a:xfrm>
              <a:blipFill>
                <a:blip r:embed="rId2"/>
                <a:stretch>
                  <a:fillRect l="-638" t="-5525" b="-4696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C051E4D-8FE0-0EE9-26D3-17FF17534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34</a:t>
            </a:fld>
            <a:endParaRPr lang="es-ES" dirty="0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792DB43A-61E5-238F-4BB4-ECA1267C2E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663866" y="4406900"/>
            <a:ext cx="6467475" cy="2314575"/>
            <a:chOff x="2663866" y="4406900"/>
            <a:chExt cx="6467475" cy="2314575"/>
          </a:xfrm>
        </p:grpSpPr>
        <p:pic>
          <p:nvPicPr>
            <p:cNvPr id="8" name="Imagen 7">
              <a:extLst>
                <a:ext uri="{FF2B5EF4-FFF2-40B4-BE49-F238E27FC236}">
                  <a16:creationId xmlns:a16="http://schemas.microsoft.com/office/drawing/2014/main" id="{E4378EB1-469D-7771-115E-13335242E4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663866" y="4406900"/>
              <a:ext cx="6467475" cy="2314575"/>
            </a:xfrm>
            <a:prstGeom prst="rect">
              <a:avLst/>
            </a:prstGeom>
          </p:spPr>
        </p:pic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2371E883-24F5-9324-69A5-A544F717CC35}"/>
                </a:ext>
              </a:extLst>
            </p:cNvPr>
            <p:cNvSpPr/>
            <p:nvPr/>
          </p:nvSpPr>
          <p:spPr>
            <a:xfrm>
              <a:off x="8662781" y="6259531"/>
              <a:ext cx="323921" cy="193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6293CFF3-B9B7-ED8F-5492-8A23A4DBE850}"/>
                </a:ext>
              </a:extLst>
            </p:cNvPr>
            <p:cNvSpPr/>
            <p:nvPr/>
          </p:nvSpPr>
          <p:spPr>
            <a:xfrm>
              <a:off x="7304315" y="5412938"/>
              <a:ext cx="1435588" cy="193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11" name="Rectángulo 10">
              <a:extLst>
                <a:ext uri="{FF2B5EF4-FFF2-40B4-BE49-F238E27FC236}">
                  <a16:creationId xmlns:a16="http://schemas.microsoft.com/office/drawing/2014/main" id="{84BD1DC9-6BCF-9701-183A-A6C65CDB4767}"/>
                </a:ext>
              </a:extLst>
            </p:cNvPr>
            <p:cNvSpPr/>
            <p:nvPr/>
          </p:nvSpPr>
          <p:spPr>
            <a:xfrm>
              <a:off x="7694424" y="5412938"/>
              <a:ext cx="219491" cy="19363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A66DC796-8090-4CB1-534E-78AE52C4D9A2}"/>
                    </a:ext>
                  </a:extLst>
                </p:cNvPr>
                <p:cNvSpPr txBox="1"/>
                <p:nvPr/>
              </p:nvSpPr>
              <p:spPr>
                <a:xfrm>
                  <a:off x="7336083" y="5412938"/>
                  <a:ext cx="108308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</a:rPr>
                          <m:t>&gt;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𝑌</m:t>
                            </m:r>
                          </m:sub>
                        </m:sSub>
                      </m:oMath>
                    </m:oMathPara>
                  </a14:m>
                  <a:endParaRPr lang="es-ES" dirty="0"/>
                </a:p>
              </p:txBody>
            </p:sp>
          </mc:Choice>
          <mc:Fallback xmlns="">
            <p:sp>
              <p:nvSpPr>
                <p:cNvPr id="13" name="CuadroTexto 12">
                  <a:extLst>
                    <a:ext uri="{FF2B5EF4-FFF2-40B4-BE49-F238E27FC236}">
                      <a16:creationId xmlns:a16="http://schemas.microsoft.com/office/drawing/2014/main" id="{A66DC796-8090-4CB1-534E-78AE52C4D9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36083" y="5412938"/>
                  <a:ext cx="108308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E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9247538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FF1056-E23E-EFD2-56C8-D1575083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lang="en-US" dirty="0" err="1"/>
              <a:t>Contraste</a:t>
            </a:r>
            <a:r>
              <a:rPr lang="en-US" dirty="0"/>
              <a:t> de Mann-Whitney-Wilcoxon</a:t>
            </a:r>
            <a:br>
              <a:rPr lang="es-ES" dirty="0"/>
            </a:br>
            <a:r>
              <a:rPr lang="es-ES" dirty="0"/>
              <a:t>Procedimiento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39AB4A-1C64-C2B1-F510-B7D4751D61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Paso 1: </a:t>
                </a:r>
                <a:r>
                  <a:rPr lang="en-US" dirty="0" err="1"/>
                  <a:t>Obtener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rango</a:t>
                </a:r>
                <a:r>
                  <a:rPr lang="en-US" dirty="0"/>
                  <a:t> de </a:t>
                </a:r>
                <a:r>
                  <a:rPr lang="en-US" dirty="0" err="1"/>
                  <a:t>cada</a:t>
                </a:r>
                <a:r>
                  <a:rPr lang="en-US" dirty="0"/>
                  <a:t> </a:t>
                </a:r>
                <a:r>
                  <a:rPr lang="en-US" dirty="0" err="1"/>
                  <a:t>observación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) y </a:t>
                </a:r>
                <a:r>
                  <a:rPr lang="en-US" dirty="0" err="1"/>
                  <a:t>calcular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s-E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: 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 </a:t>
                </a:r>
              </a:p>
              <a:p>
                <a:r>
                  <a:rPr lang="en-US" dirty="0"/>
                  <a:t>Paso 2: </a:t>
                </a:r>
                <a:r>
                  <a:rPr lang="en-US" dirty="0" err="1"/>
                  <a:t>Determinar</a:t>
                </a:r>
                <a:r>
                  <a:rPr lang="en-US" dirty="0"/>
                  <a:t> </a:t>
                </a:r>
                <a:r>
                  <a:rPr lang="en-US" dirty="0" err="1"/>
                  <a:t>qué</a:t>
                </a:r>
                <a:r>
                  <a:rPr lang="en-US" dirty="0"/>
                  <a:t> </a:t>
                </a:r>
                <a:r>
                  <a:rPr lang="en-US" dirty="0" err="1"/>
                  <a:t>distribución</a:t>
                </a:r>
                <a:r>
                  <a:rPr lang="en-US" dirty="0"/>
                  <a:t> de </a:t>
                </a:r>
                <a:r>
                  <a:rPr lang="en-US" dirty="0" err="1"/>
                  <a:t>probabilidad</a:t>
                </a:r>
                <a:r>
                  <a:rPr lang="en-US" dirty="0"/>
                  <a:t> </a:t>
                </a:r>
                <a:r>
                  <a:rPr lang="en-US" dirty="0" err="1"/>
                  <a:t>utilizar</a:t>
                </a:r>
                <a:r>
                  <a:rPr lang="en-US" dirty="0"/>
                  <a:t> para </a:t>
                </a:r>
                <a:r>
                  <a:rPr lang="en-US" dirty="0" err="1"/>
                  <a:t>el</a:t>
                </a:r>
                <a:r>
                  <a:rPr lang="en-US" dirty="0"/>
                  <a:t> </a:t>
                </a:r>
                <a:r>
                  <a:rPr lang="en-US" dirty="0" err="1"/>
                  <a:t>estadístico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Si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ó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&lt; 10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entonces</a:t>
                </a:r>
                <a:r>
                  <a:rPr lang="en-US" dirty="0"/>
                  <a:t> usar la </a:t>
                </a:r>
                <a:r>
                  <a:rPr lang="en-US" dirty="0" err="1"/>
                  <a:t>función</a:t>
                </a:r>
                <a:r>
                  <a:rPr lang="en-US" dirty="0"/>
                  <a:t> de masa de </a:t>
                </a:r>
                <a:r>
                  <a:rPr lang="en-US" dirty="0" err="1"/>
                  <a:t>probabilidad</a:t>
                </a:r>
                <a:r>
                  <a:rPr lang="en-US" dirty="0"/>
                  <a:t> </a:t>
                </a:r>
                <a:r>
                  <a:rPr lang="en-US" dirty="0" err="1"/>
                  <a:t>recursiva</a:t>
                </a:r>
                <a:r>
                  <a:rPr lang="en-US" dirty="0"/>
                  <a:t> </a:t>
                </a:r>
                <a:r>
                  <a:rPr lang="en-US" dirty="0" err="1"/>
                  <a:t>siguiente</a:t>
                </a:r>
                <a:r>
                  <a:rPr lang="en-US" dirty="0"/>
                  <a:t>:</a:t>
                </a:r>
                <a:endParaRPr lang="es-ES" b="0" i="0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.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d>
                      <m:d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ES" i="1"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s-E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br>
                  <a:rPr lang="es-ES" b="0" i="0" dirty="0">
                    <a:latin typeface="Cambria Math" panose="02040503050406030204" pitchFamily="18" charset="0"/>
                  </a:rPr>
                </a:br>
                <a:r>
                  <a:rPr lang="es-ES" b="0" i="0" dirty="0">
                    <a:latin typeface="Cambria Math" panose="02040503050406030204" pitchFamily="18" charset="0"/>
                  </a:rPr>
                  <a:t>(Tabla </a:t>
                </a:r>
                <a:r>
                  <a:rPr lang="en-US" dirty="0">
                    <a:latin typeface="Cambria Math" panose="02040503050406030204" pitchFamily="18" charset="0"/>
                  </a:rPr>
                  <a:t>A9 del </a:t>
                </a:r>
                <a:r>
                  <a:rPr lang="en-US" dirty="0" err="1">
                    <a:latin typeface="Cambria Math" panose="02040503050406030204" pitchFamily="18" charset="0"/>
                  </a:rPr>
                  <a:t>ibro</a:t>
                </a:r>
                <a:r>
                  <a:rPr lang="en-US" dirty="0">
                    <a:latin typeface="Cambria Math" panose="02040503050406030204" pitchFamily="18" charset="0"/>
                  </a:rPr>
                  <a:t>)</a:t>
                </a:r>
              </a:p>
              <a:p>
                <a:pPr lvl="1"/>
                <a:r>
                  <a:rPr lang="en-US" dirty="0"/>
                  <a:t>Si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≥ 10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entonces</a:t>
                </a:r>
                <a:r>
                  <a:rPr lang="en-US" dirty="0"/>
                  <a:t> </a:t>
                </a:r>
                <a:r>
                  <a:rPr lang="en-US" dirty="0" err="1"/>
                  <a:t>considerar</a:t>
                </a:r>
                <a:r>
                  <a:rPr lang="en-US" dirty="0"/>
                  <a:t> que U </a:t>
                </a:r>
                <a:r>
                  <a:rPr lang="en-US" dirty="0" err="1"/>
                  <a:t>tiene</a:t>
                </a:r>
                <a:r>
                  <a:rPr lang="en-US" dirty="0"/>
                  <a:t> </a:t>
                </a:r>
                <a:r>
                  <a:rPr lang="en-US" dirty="0" err="1"/>
                  <a:t>distribución</a:t>
                </a:r>
                <a:r>
                  <a:rPr lang="en-US" dirty="0"/>
                  <a:t> Normal</a:t>
                </a:r>
                <a:r>
                  <a:rPr lang="es-ES" b="0" i="0" dirty="0">
                    <a:latin typeface="Cambria Math" panose="02040503050406030204" pitchFamily="18" charset="0"/>
                  </a:rPr>
                  <a:t>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s-E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𝑁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s-E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s-ES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𝑛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+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𝑚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+1</m:t>
                                </m:r>
                              </m:e>
                            </m:d>
                          </m:num>
                          <m:den>
                            <m:r>
                              <a:rPr lang="es-E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den>
                        </m:f>
                        <m:r>
                          <a:rPr lang="es-E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s-ES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s-ES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fPr>
                              <m:num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𝑛𝑚</m:t>
                                </m:r>
                                <m:d>
                                  <m:dPr>
                                    <m:ctrlPr>
                                      <a:rPr lang="es-ES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𝑛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+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𝑚</m:t>
                                    </m:r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+1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12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br>
                  <a:rPr lang="es-ES" dirty="0"/>
                </a:br>
                <a:r>
                  <a:rPr lang="es-ES" dirty="0"/>
                  <a:t>Con una estandarización y corrección de continuidad: </a:t>
                </a:r>
                <a:endParaRPr lang="es-ES" b="0" i="1" dirty="0">
                  <a:latin typeface="Cambria Math" panose="02040503050406030204" pitchFamily="18" charset="0"/>
                </a:endParaRPr>
              </a:p>
              <a:p>
                <a:pPr lvl="3"/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0.5</m:t>
                        </m:r>
                      </m:e>
                    </m:d>
                    <m:r>
                      <m:rPr>
                        <m:nor/>
                      </m:rPr>
                      <a:rPr lang="en-US" dirty="0"/>
                      <m:t> </m:t>
                    </m:r>
                  </m:oMath>
                </a14:m>
                <a:endParaRPr lang="en-US" dirty="0"/>
              </a:p>
              <a:p>
                <a:pPr lvl="3"/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0.5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Paso 3: </a:t>
                </a:r>
                <a:r>
                  <a:rPr lang="en-US" dirty="0" err="1"/>
                  <a:t>Calcular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p-valor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valor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valor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valor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s-E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min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⁡(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𝑈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</m:t>
                        </m:r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𝑈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</m:sub>
                        </m:sSub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Paso 4: </a:t>
                </a:r>
                <a:r>
                  <a:rPr lang="en-US" dirty="0" err="1"/>
                  <a:t>Llegar</a:t>
                </a:r>
                <a:r>
                  <a:rPr lang="en-US" dirty="0"/>
                  <a:t> a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conclusión</a:t>
                </a:r>
                <a:endParaRPr lang="en-US" dirty="0"/>
              </a:p>
              <a:p>
                <a:pPr lvl="1"/>
                <a:r>
                  <a:rPr lang="en-US" dirty="0" err="1"/>
                  <a:t>Rechazar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si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val</m:t>
                    </m:r>
                    <m:r>
                      <m:rPr>
                        <m:nor/>
                      </m:rPr>
                      <a:rPr lang="es-ES" b="0" i="0" dirty="0" smtClean="0">
                        <a:latin typeface="Cambria Math" panose="02040503050406030204" pitchFamily="18" charset="0"/>
                      </a:rPr>
                      <m:t>or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s-ES" dirty="0"/>
                  <a:t> y aceptar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   (</a:t>
                </a:r>
                <a:r>
                  <a:rPr lang="en-US" dirty="0" err="1"/>
                  <a:t>Normalmente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l-GR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=0.05</m:t>
                    </m:r>
                  </m:oMath>
                </a14:m>
                <a:r>
                  <a:rPr lang="es-ES" dirty="0"/>
                  <a:t>)</a:t>
                </a:r>
                <a:endParaRPr lang="en-US" baseline="-25000" dirty="0"/>
              </a:p>
              <a:p>
                <a:pPr lvl="1"/>
                <a:endParaRPr lang="es-ES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39AB4A-1C64-C2B1-F510-B7D4751D61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522" t="-11259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C8F198-F416-AFCD-924E-644495E94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1859190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01D4D-DE73-82B5-0C29-7B51F7195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lang="en-US" dirty="0" err="1"/>
              <a:t>Contraste</a:t>
            </a:r>
            <a:r>
              <a:rPr lang="en-US" dirty="0"/>
              <a:t> de Mann-Whitney-Wilcoxon</a:t>
            </a:r>
            <a:br>
              <a:rPr lang="en-US" dirty="0"/>
            </a:br>
            <a:r>
              <a:rPr lang="en-US" dirty="0" err="1"/>
              <a:t>Ejemplo</a:t>
            </a:r>
            <a:r>
              <a:rPr lang="en-US" dirty="0"/>
              <a:t> 10.14 (</a:t>
            </a:r>
            <a:r>
              <a:rPr lang="en-US" dirty="0" err="1"/>
              <a:t>Incentivos</a:t>
            </a:r>
            <a:r>
              <a:rPr lang="en-US" dirty="0"/>
              <a:t> en </a:t>
            </a:r>
            <a:r>
              <a:rPr lang="en-US" dirty="0" err="1"/>
              <a:t>compras</a:t>
            </a:r>
            <a:r>
              <a:rPr lang="en-US" dirty="0"/>
              <a:t>)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DBB141-D65A-77B4-3ACC-71AA41348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strike="noStrike" spc="-1" dirty="0">
                <a:solidFill>
                  <a:srgbClr val="000000"/>
                </a:solidFill>
                <a:latin typeface="Calibri"/>
              </a:rPr>
              <a:t>Los responsables de un portal de compras por Internet sospechan que los clientes realizan más compras online si se les ofrece algún incentivo, como un descuento o devolución de efectivo</a:t>
            </a: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strike="noStrike" spc="-1" dirty="0">
                <a:solidFill>
                  <a:srgbClr val="000000"/>
                </a:solidFill>
                <a:latin typeface="Calibri"/>
              </a:rPr>
              <a:t>Para verificar esta hipótesis, eligieron 12 días al azar, ofrecieron un descuento del 5 % en 6 días seleccionados al azar, y no  ofrecieron ningún incentivo en los otros 6 días</a:t>
            </a: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strike="noStrike" spc="-1" dirty="0">
                <a:solidFill>
                  <a:srgbClr val="000000"/>
                </a:solidFill>
                <a:latin typeface="Calibri"/>
              </a:rPr>
              <a:t>Los descuentos se indicaron en los enlaces que conducen a este portal de compra</a:t>
            </a: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strike="noStrike" spc="-1" dirty="0">
                <a:solidFill>
                  <a:srgbClr val="000000"/>
                </a:solidFill>
                <a:latin typeface="Calibri"/>
              </a:rPr>
              <a:t>Con el descuento, el portal recibió (redondeado a 100): 1200, 1700, 2600, 1500, 2400 y 2100 visitas</a:t>
            </a: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strike="noStrike" spc="-1" dirty="0">
                <a:solidFill>
                  <a:srgbClr val="000000"/>
                </a:solidFill>
                <a:latin typeface="Calibri"/>
              </a:rPr>
              <a:t>Sin el descuento, se registraron 1400, 900, 1300, 1800, 700 y 1000 visitas</a:t>
            </a: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strike="noStrike" spc="-1" dirty="0">
                <a:solidFill>
                  <a:srgbClr val="000000"/>
                </a:solidFill>
                <a:latin typeface="Calibri"/>
              </a:rPr>
              <a:t>Con el 95 % de confianza, ¿esto apoya la hipótesis de los responsables?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6627DF-D761-54AA-3A97-7601E823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5145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01D4D-DE73-82B5-0C29-7B51F7195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lang="en-US" dirty="0" err="1"/>
              <a:t>Contraste</a:t>
            </a:r>
            <a:r>
              <a:rPr lang="en-US" dirty="0"/>
              <a:t> de Mann-Whitney-Wilcoxon</a:t>
            </a:r>
            <a:br>
              <a:rPr lang="en-US" dirty="0"/>
            </a:br>
            <a:r>
              <a:rPr lang="en-US" dirty="0" err="1"/>
              <a:t>Ejemplo</a:t>
            </a:r>
            <a:r>
              <a:rPr lang="en-US" dirty="0"/>
              <a:t> 10.14 (</a:t>
            </a:r>
            <a:r>
              <a:rPr lang="en-US" dirty="0" err="1"/>
              <a:t>Solución</a:t>
            </a:r>
            <a:r>
              <a:rPr lang="en-US" dirty="0"/>
              <a:t>) (I)</a:t>
            </a:r>
            <a:endParaRPr lang="es-E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3DBB141-D65A-77B4-3ACC-71AA413487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Variable X = </a:t>
                </a:r>
                <a:r>
                  <a:rPr lang="en-US" dirty="0" err="1"/>
                  <a:t>número</a:t>
                </a:r>
                <a:r>
                  <a:rPr lang="en-US" dirty="0"/>
                  <a:t> de </a:t>
                </a:r>
                <a:r>
                  <a:rPr lang="en-US" dirty="0" err="1"/>
                  <a:t>visitas</a:t>
                </a:r>
                <a:r>
                  <a:rPr lang="en-US" dirty="0"/>
                  <a:t> sin </a:t>
                </a:r>
                <a:r>
                  <a:rPr lang="en-US" dirty="0" err="1"/>
                  <a:t>descuento</a:t>
                </a:r>
                <a:r>
                  <a:rPr lang="en-US" dirty="0"/>
                  <a:t>, n=6 </a:t>
                </a:r>
              </a:p>
              <a:p>
                <a:r>
                  <a:rPr lang="en-US" dirty="0"/>
                  <a:t>Variable Y = </a:t>
                </a:r>
                <a:r>
                  <a:rPr lang="en-US" dirty="0" err="1"/>
                  <a:t>número</a:t>
                </a:r>
                <a:r>
                  <a:rPr lang="en-US" dirty="0"/>
                  <a:t> de </a:t>
                </a:r>
                <a:r>
                  <a:rPr lang="en-US" dirty="0" err="1"/>
                  <a:t>visitas</a:t>
                </a:r>
                <a:r>
                  <a:rPr lang="en-US" dirty="0"/>
                  <a:t> con </a:t>
                </a:r>
                <a:r>
                  <a:rPr lang="en-US" dirty="0" err="1"/>
                  <a:t>descuento</a:t>
                </a:r>
                <a:r>
                  <a:rPr lang="en-US" dirty="0"/>
                  <a:t>, m=6</a:t>
                </a:r>
              </a:p>
              <a:p>
                <a:r>
                  <a:rPr lang="en-US" dirty="0"/>
                  <a:t>Si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son las </a:t>
                </a:r>
                <a:r>
                  <a:rPr lang="en-US" dirty="0" err="1"/>
                  <a:t>funciones</a:t>
                </a:r>
                <a:r>
                  <a:rPr lang="en-US" dirty="0"/>
                  <a:t> de </a:t>
                </a:r>
                <a:r>
                  <a:rPr lang="en-US" dirty="0" err="1"/>
                  <a:t>distribución</a:t>
                </a:r>
                <a:r>
                  <a:rPr lang="en-US" dirty="0"/>
                  <a:t> de </a:t>
                </a:r>
                <a:r>
                  <a:rPr lang="en-US" dirty="0" err="1"/>
                  <a:t>probabilidad</a:t>
                </a:r>
                <a:r>
                  <a:rPr lang="en-US" dirty="0"/>
                  <a:t> </a:t>
                </a:r>
                <a:r>
                  <a:rPr lang="en-US" dirty="0" err="1"/>
                  <a:t>acumulada</a:t>
                </a:r>
                <a:r>
                  <a:rPr lang="en-US" dirty="0"/>
                  <a:t>, </a:t>
                </a:r>
                <a:r>
                  <a:rPr lang="en-US" dirty="0" err="1"/>
                  <a:t>necesitamos</a:t>
                </a:r>
                <a:r>
                  <a:rPr lang="en-US" dirty="0"/>
                  <a:t> </a:t>
                </a:r>
                <a:r>
                  <a:rPr lang="en-US" dirty="0" err="1"/>
                  <a:t>contrastar</a:t>
                </a:r>
                <a:r>
                  <a:rPr lang="en-US" dirty="0"/>
                  <a:t> las </a:t>
                </a:r>
                <a:r>
                  <a:rPr lang="en-US" dirty="0" err="1"/>
                  <a:t>siguientes</a:t>
                </a:r>
                <a:r>
                  <a:rPr lang="en-US" dirty="0"/>
                  <a:t> </a:t>
                </a:r>
                <a:r>
                  <a:rPr lang="en-US" dirty="0" err="1"/>
                  <a:t>hipótesis</a:t>
                </a:r>
                <a:r>
                  <a:rPr lang="en-US" dirty="0"/>
                  <a:t>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por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tanto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dirty="0"/>
                  <a:t>  </a:t>
                </a:r>
              </a:p>
              <a:p>
                <a:r>
                  <a:rPr lang="en-US" dirty="0"/>
                  <a:t>Para </a:t>
                </a:r>
                <a:r>
                  <a:rPr lang="en-US" dirty="0" err="1"/>
                  <a:t>calcular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valor </a:t>
                </a:r>
                <a:r>
                  <a:rPr lang="en-US" dirty="0" err="1"/>
                  <a:t>observado</a:t>
                </a:r>
                <a:r>
                  <a:rPr lang="en-US" dirty="0"/>
                  <a:t> del </a:t>
                </a:r>
                <a:r>
                  <a:rPr lang="en-US" dirty="0" err="1"/>
                  <a:t>estadístico</a:t>
                </a:r>
                <a:r>
                  <a:rPr lang="en-US" dirty="0"/>
                  <a:t> de </a:t>
                </a:r>
                <a:r>
                  <a:rPr lang="en-US" dirty="0" err="1"/>
                  <a:t>contraste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n-US" dirty="0"/>
                  <a:t>), hay que </a:t>
                </a:r>
                <a:r>
                  <a:rPr lang="en-US" dirty="0" err="1"/>
                  <a:t>combinar</a:t>
                </a:r>
                <a:r>
                  <a:rPr lang="en-US" dirty="0"/>
                  <a:t> </a:t>
                </a:r>
                <a:r>
                  <a:rPr lang="en-US" dirty="0" err="1"/>
                  <a:t>todas</a:t>
                </a:r>
                <a:r>
                  <a:rPr lang="en-US" dirty="0"/>
                  <a:t> las </a:t>
                </a:r>
                <a:r>
                  <a:rPr lang="en-US" dirty="0" err="1"/>
                  <a:t>observaciones</a:t>
                </a:r>
                <a:r>
                  <a:rPr lang="en-US" dirty="0"/>
                  <a:t> y </a:t>
                </a:r>
                <a:r>
                  <a:rPr lang="en-US" dirty="0" err="1"/>
                  <a:t>ordenarlas</a:t>
                </a:r>
                <a:r>
                  <a:rPr lang="en-US" dirty="0"/>
                  <a:t>, </a:t>
                </a:r>
                <a:r>
                  <a:rPr lang="en-US" dirty="0" err="1"/>
                  <a:t>subrayando</a:t>
                </a:r>
                <a:r>
                  <a:rPr lang="en-US" dirty="0"/>
                  <a:t> las </a:t>
                </a:r>
                <a:r>
                  <a:rPr lang="en-US" dirty="0" err="1"/>
                  <a:t>observaciones</a:t>
                </a:r>
                <a:r>
                  <a:rPr lang="en-US" dirty="0"/>
                  <a:t> 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s-ES" u="sng" dirty="0"/>
                  <a:t>700</a:t>
                </a:r>
                <a:r>
                  <a:rPr lang="es-ES" dirty="0"/>
                  <a:t>, </a:t>
                </a:r>
                <a:r>
                  <a:rPr lang="es-ES" u="sng" dirty="0"/>
                  <a:t>900</a:t>
                </a:r>
                <a:r>
                  <a:rPr lang="es-ES" dirty="0"/>
                  <a:t>, </a:t>
                </a:r>
                <a:r>
                  <a:rPr lang="es-ES" u="sng" dirty="0"/>
                  <a:t>1000</a:t>
                </a:r>
                <a:r>
                  <a:rPr lang="es-ES" dirty="0"/>
                  <a:t>, 1200, </a:t>
                </a:r>
                <a:r>
                  <a:rPr lang="es-ES" u="sng" dirty="0"/>
                  <a:t>1300</a:t>
                </a:r>
                <a:r>
                  <a:rPr lang="es-ES" dirty="0"/>
                  <a:t>, </a:t>
                </a:r>
                <a:r>
                  <a:rPr lang="es-ES" u="sng" dirty="0"/>
                  <a:t>1400</a:t>
                </a:r>
                <a:r>
                  <a:rPr lang="es-ES" dirty="0"/>
                  <a:t>, 1500, 1700, </a:t>
                </a:r>
                <a:r>
                  <a:rPr lang="es-ES" u="sng" dirty="0"/>
                  <a:t>1800</a:t>
                </a:r>
                <a:r>
                  <a:rPr lang="es-ES" dirty="0"/>
                  <a:t>, 2100, 2400, 2600</a:t>
                </a:r>
              </a:p>
              <a:p>
                <a:pPr lvl="1"/>
                <a:r>
                  <a:rPr lang="es-ES" dirty="0"/>
                  <a:t>En la muestra combinada, los rangos de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" dirty="0"/>
                  <a:t> son 1, 2, 3, 5, 6, 9</a:t>
                </a:r>
              </a:p>
              <a:p>
                <a:pPr lvl="1"/>
                <a:endParaRPr lang="es-ES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3DBB141-D65A-77B4-3ACC-71AA413487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r="-348" b="-266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6627DF-D761-54AA-3A97-7601E823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46138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FF1056-E23E-EFD2-56C8-D1575083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lang="en-US" dirty="0" err="1"/>
              <a:t>Contraste</a:t>
            </a:r>
            <a:r>
              <a:rPr lang="en-US" dirty="0"/>
              <a:t> de Mann-Whitney-Wilcoxon</a:t>
            </a:r>
            <a:br>
              <a:rPr lang="es-ES" dirty="0"/>
            </a:br>
            <a:r>
              <a:rPr lang="en-US" dirty="0" err="1"/>
              <a:t>Ejemplo</a:t>
            </a:r>
            <a:r>
              <a:rPr lang="en-US" dirty="0"/>
              <a:t> 10.14 (</a:t>
            </a:r>
            <a:r>
              <a:rPr lang="en-US" dirty="0" err="1"/>
              <a:t>Solución</a:t>
            </a:r>
            <a:r>
              <a:rPr lang="en-US" dirty="0"/>
              <a:t>) (II)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39AB4A-1C64-C2B1-F510-B7D4751D61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Paso 1: 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s-E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: 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=1+2+3+5+6+9=26</m:t>
                        </m:r>
                      </m:e>
                    </m:nary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 </a:t>
                </a:r>
              </a:p>
              <a:p>
                <a:r>
                  <a:rPr lang="en-US" dirty="0"/>
                  <a:t>Paso 2: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=6 &lt; 10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por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tanto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se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usa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la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tabla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9 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del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libro</m:t>
                    </m:r>
                  </m:oMath>
                </a14:m>
                <a:endParaRPr lang="es-ES" b="0" i="0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Paso 3: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valor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≤26}≤0.025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Paso 4: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val</m:t>
                    </m:r>
                    <m:r>
                      <m:rPr>
                        <m:nor/>
                      </m:rPr>
                      <a:rPr lang="es-ES" b="0" i="0" dirty="0" smtClean="0">
                        <a:latin typeface="Cambria Math" panose="02040503050406030204" pitchFamily="18" charset="0"/>
                      </a:rPr>
                      <m:t>or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&lt;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0.05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El </a:t>
                </a:r>
                <a:r>
                  <a:rPr lang="en-US" b="1" dirty="0" err="1"/>
                  <a:t>contraste</a:t>
                </a:r>
                <a:r>
                  <a:rPr lang="en-US" b="1" dirty="0"/>
                  <a:t> de Mann-Whitney-Wilcoxon </a:t>
                </a:r>
                <a:r>
                  <a:rPr lang="en-US" b="1" dirty="0" err="1"/>
                  <a:t>rechaza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1" i="1" baseline="-25000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por</a:t>
                </a:r>
                <a:r>
                  <a:rPr lang="en-US" dirty="0"/>
                  <a:t> lo que con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confianza</a:t>
                </a:r>
                <a:r>
                  <a:rPr lang="en-US" dirty="0"/>
                  <a:t> del 95%, </a:t>
                </a:r>
                <a:r>
                  <a:rPr lang="en-US" dirty="0" err="1"/>
                  <a:t>esto</a:t>
                </a:r>
                <a:r>
                  <a:rPr lang="en-US" dirty="0"/>
                  <a:t> </a:t>
                </a:r>
                <a:r>
                  <a:rPr lang="en-US" dirty="0" err="1"/>
                  <a:t>apoya</a:t>
                </a:r>
                <a:r>
                  <a:rPr lang="en-US" dirty="0"/>
                  <a:t> la </a:t>
                </a:r>
                <a:r>
                  <a:rPr lang="en-US" dirty="0" err="1"/>
                  <a:t>sospecha</a:t>
                </a:r>
                <a:r>
                  <a:rPr lang="en-US" dirty="0"/>
                  <a:t> de los </a:t>
                </a:r>
                <a:r>
                  <a:rPr lang="en-US" dirty="0" err="1"/>
                  <a:t>responsables</a:t>
                </a:r>
                <a:r>
                  <a:rPr lang="en-US" dirty="0"/>
                  <a:t> de que </a:t>
                </a:r>
                <a:r>
                  <a:rPr lang="en-US" dirty="0" err="1"/>
                  <a:t>participan</a:t>
                </a:r>
                <a:r>
                  <a:rPr lang="en-US" dirty="0"/>
                  <a:t> </a:t>
                </a:r>
                <a:r>
                  <a:rPr lang="en-US" dirty="0" err="1"/>
                  <a:t>más</a:t>
                </a:r>
                <a:r>
                  <a:rPr lang="en-US" dirty="0"/>
                  <a:t> </a:t>
                </a:r>
                <a:r>
                  <a:rPr lang="en-US" dirty="0" err="1"/>
                  <a:t>usuarios</a:t>
                </a:r>
                <a:r>
                  <a:rPr lang="en-US" dirty="0"/>
                  <a:t> en las </a:t>
                </a:r>
                <a:r>
                  <a:rPr lang="en-US" dirty="0" err="1"/>
                  <a:t>compras</a:t>
                </a:r>
                <a:r>
                  <a:rPr lang="en-US" dirty="0"/>
                  <a:t> online </a:t>
                </a:r>
                <a:r>
                  <a:rPr lang="en-US" dirty="0" err="1"/>
                  <a:t>si</a:t>
                </a:r>
                <a:r>
                  <a:rPr lang="en-US" dirty="0"/>
                  <a:t> se les </a:t>
                </a:r>
                <a:r>
                  <a:rPr lang="en-US" dirty="0" err="1"/>
                  <a:t>ofrece</a:t>
                </a:r>
                <a:r>
                  <a:rPr lang="en-US" dirty="0"/>
                  <a:t> un </a:t>
                </a:r>
                <a:r>
                  <a:rPr lang="en-US" dirty="0" err="1"/>
                  <a:t>descuento</a:t>
                </a:r>
                <a:endParaRPr lang="en-US" baseline="-25000" dirty="0"/>
              </a:p>
              <a:p>
                <a:pPr lvl="1"/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39AB4A-1C64-C2B1-F510-B7D4751D61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4202" b="-1541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C8F198-F416-AFCD-924E-644495E94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90846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01D4D-DE73-82B5-0C29-7B51F7195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lang="en-US" dirty="0" err="1"/>
              <a:t>Contraste</a:t>
            </a:r>
            <a:r>
              <a:rPr lang="en-US" dirty="0"/>
              <a:t> de Mann-Whitney-Wilcoxon</a:t>
            </a:r>
            <a:br>
              <a:rPr lang="en-US" dirty="0"/>
            </a:br>
            <a:r>
              <a:rPr lang="en-US" dirty="0" err="1"/>
              <a:t>Ejemplo</a:t>
            </a:r>
            <a:r>
              <a:rPr lang="en-US" dirty="0"/>
              <a:t> 10.15 (Pings)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DBB141-D65A-77B4-3ACC-71AA41348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 err="1"/>
              <a:t>Cuando</a:t>
            </a:r>
            <a:r>
              <a:rPr lang="en-US" dirty="0"/>
              <a:t> se </a:t>
            </a:r>
            <a:r>
              <a:rPr lang="en-US" dirty="0" err="1"/>
              <a:t>realiza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prueba</a:t>
            </a:r>
            <a:r>
              <a:rPr lang="en-US" dirty="0"/>
              <a:t> de </a:t>
            </a:r>
            <a:r>
              <a:rPr lang="en-US" dirty="0" err="1"/>
              <a:t>velocidad</a:t>
            </a:r>
            <a:r>
              <a:rPr lang="en-US" dirty="0"/>
              <a:t> en Internet, se </a:t>
            </a:r>
            <a:r>
              <a:rPr lang="en-US" dirty="0" err="1"/>
              <a:t>envía</a:t>
            </a:r>
            <a:r>
              <a:rPr lang="en-US" dirty="0"/>
              <a:t> un </a:t>
            </a:r>
            <a:r>
              <a:rPr lang="en-US" dirty="0" err="1"/>
              <a:t>mensaje</a:t>
            </a:r>
            <a:r>
              <a:rPr lang="en-US" dirty="0"/>
              <a:t> de </a:t>
            </a:r>
            <a:r>
              <a:rPr lang="en-US" dirty="0" err="1"/>
              <a:t>ida</a:t>
            </a:r>
            <a:r>
              <a:rPr lang="en-US" dirty="0"/>
              <a:t> y </a:t>
            </a:r>
            <a:r>
              <a:rPr lang="en-US" dirty="0" err="1"/>
              <a:t>vuelta</a:t>
            </a:r>
            <a:r>
              <a:rPr lang="en-US" dirty="0"/>
              <a:t> a un </a:t>
            </a:r>
            <a:r>
              <a:rPr lang="en-US" dirty="0" err="1"/>
              <a:t>destino</a:t>
            </a:r>
            <a:r>
              <a:rPr lang="en-US" dirty="0"/>
              <a:t> (</a:t>
            </a:r>
            <a:r>
              <a:rPr lang="en-US" dirty="0" err="1"/>
              <a:t>servidor</a:t>
            </a:r>
            <a:r>
              <a:rPr lang="en-US" dirty="0"/>
              <a:t>), lo que se </a:t>
            </a:r>
            <a:r>
              <a:rPr lang="en-US" dirty="0" err="1"/>
              <a:t>conoce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“ping”</a:t>
            </a:r>
          </a:p>
          <a:p>
            <a:r>
              <a:rPr lang="en-US" dirty="0"/>
              <a:t>Se </a:t>
            </a:r>
            <a:r>
              <a:rPr lang="en-US" dirty="0" err="1"/>
              <a:t>envían</a:t>
            </a:r>
            <a:r>
              <a:rPr lang="en-US" dirty="0"/>
              <a:t> </a:t>
            </a:r>
            <a:r>
              <a:rPr lang="en-US" dirty="0" err="1"/>
              <a:t>varios</a:t>
            </a:r>
            <a:r>
              <a:rPr lang="en-US" dirty="0"/>
              <a:t> “pings” </a:t>
            </a:r>
            <a:r>
              <a:rPr lang="en-US" dirty="0" err="1"/>
              <a:t>desde</a:t>
            </a:r>
            <a:r>
              <a:rPr lang="en-US" dirty="0"/>
              <a:t> un </a:t>
            </a:r>
            <a:r>
              <a:rPr lang="en-US" dirty="0" err="1"/>
              <a:t>ordenador</a:t>
            </a:r>
            <a:r>
              <a:rPr lang="en-US" dirty="0"/>
              <a:t> a dos </a:t>
            </a:r>
            <a:r>
              <a:rPr lang="en-US" dirty="0" err="1"/>
              <a:t>destinos</a:t>
            </a:r>
            <a:r>
              <a:rPr lang="en-US" dirty="0"/>
              <a:t> </a:t>
            </a:r>
            <a:r>
              <a:rPr lang="en-US" dirty="0" err="1"/>
              <a:t>diferentes</a:t>
            </a:r>
            <a:r>
              <a:rPr lang="en-US" dirty="0"/>
              <a:t> y se </a:t>
            </a:r>
            <a:r>
              <a:rPr lang="en-US" dirty="0" err="1"/>
              <a:t>obtienen</a:t>
            </a:r>
            <a:r>
              <a:rPr lang="en-US" dirty="0"/>
              <a:t> los </a:t>
            </a:r>
            <a:r>
              <a:rPr lang="en-US" dirty="0" err="1"/>
              <a:t>siguientes</a:t>
            </a:r>
            <a:r>
              <a:rPr lang="en-US" dirty="0"/>
              <a:t> </a:t>
            </a:r>
            <a:r>
              <a:rPr lang="en-US" dirty="0" err="1"/>
              <a:t>tiempos</a:t>
            </a:r>
            <a:r>
              <a:rPr lang="en-US" dirty="0"/>
              <a:t> </a:t>
            </a:r>
            <a:r>
              <a:rPr lang="en-US" dirty="0" err="1"/>
              <a:t>ordenados</a:t>
            </a:r>
            <a:r>
              <a:rPr lang="en-US" dirty="0"/>
              <a:t> de </a:t>
            </a:r>
            <a:r>
              <a:rPr lang="en-US" dirty="0" err="1"/>
              <a:t>menor</a:t>
            </a:r>
            <a:r>
              <a:rPr lang="en-US" dirty="0"/>
              <a:t> a mayor</a:t>
            </a:r>
          </a:p>
          <a:p>
            <a:pPr lvl="1"/>
            <a:r>
              <a:rPr lang="en-US" dirty="0" err="1"/>
              <a:t>Destino</a:t>
            </a:r>
            <a:r>
              <a:rPr lang="en-US" dirty="0"/>
              <a:t> 1: 0.0156, 0.0210, 0.0215, 0.0280, 0.0308, 0.0327, 0.0335, 0.0350, 0.0355, 0.0396, 0.0419, 0.0437, 0.0480, 0.0483, 0.0543 </a:t>
            </a:r>
            <a:r>
              <a:rPr lang="en-US" dirty="0" err="1"/>
              <a:t>segundos</a:t>
            </a:r>
            <a:endParaRPr lang="en-US" dirty="0"/>
          </a:p>
          <a:p>
            <a:pPr lvl="1"/>
            <a:r>
              <a:rPr lang="en-US" dirty="0" err="1"/>
              <a:t>Destino</a:t>
            </a:r>
            <a:r>
              <a:rPr lang="en-US" dirty="0"/>
              <a:t> 2: 0.0039, 0.0045, 0.0109, 0.0167, 0.0198, 0.0298, 0.0387, 0.0467, 0.0661, 0.0674, 0.0712, 0.0787 </a:t>
            </a:r>
            <a:r>
              <a:rPr lang="en-US" dirty="0" err="1"/>
              <a:t>segundos</a:t>
            </a:r>
            <a:endParaRPr lang="en-US" dirty="0"/>
          </a:p>
          <a:p>
            <a:r>
              <a:rPr lang="en-US" dirty="0"/>
              <a:t>Con un 95% de </a:t>
            </a:r>
            <a:r>
              <a:rPr lang="en-US" dirty="0" err="1"/>
              <a:t>confianza</a:t>
            </a:r>
            <a:r>
              <a:rPr lang="en-US" dirty="0"/>
              <a:t>, ¿Hay </a:t>
            </a:r>
            <a:r>
              <a:rPr lang="en-US" dirty="0" err="1"/>
              <a:t>evidencias</a:t>
            </a:r>
            <a:r>
              <a:rPr lang="en-US" dirty="0"/>
              <a:t> de que la </a:t>
            </a:r>
            <a:r>
              <a:rPr lang="en-US" dirty="0" err="1"/>
              <a:t>mediana</a:t>
            </a:r>
            <a:r>
              <a:rPr lang="en-US" dirty="0"/>
              <a:t> de la </a:t>
            </a:r>
            <a:r>
              <a:rPr lang="en-US" dirty="0" err="1"/>
              <a:t>duración</a:t>
            </a:r>
            <a:r>
              <a:rPr lang="en-US" dirty="0"/>
              <a:t> de los pings </a:t>
            </a:r>
            <a:r>
              <a:rPr lang="en-US" dirty="0" err="1"/>
              <a:t>depende</a:t>
            </a:r>
            <a:r>
              <a:rPr lang="en-US" dirty="0"/>
              <a:t> del </a:t>
            </a:r>
            <a:r>
              <a:rPr lang="en-US" dirty="0" err="1"/>
              <a:t>destino</a:t>
            </a:r>
            <a:r>
              <a:rPr lang="en-US" dirty="0"/>
              <a:t>?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6627DF-D761-54AA-3A97-7601E823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39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828305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01D4D-DE73-82B5-0C29-7B51F7195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lang="en-US" dirty="0" err="1"/>
              <a:t>Contraste</a:t>
            </a:r>
            <a:r>
              <a:rPr lang="en-US" dirty="0"/>
              <a:t> Mann-Whitney-Wilcoxon</a:t>
            </a:r>
            <a:br>
              <a:rPr lang="en-US" dirty="0"/>
            </a:br>
            <a:r>
              <a:rPr lang="en-US" dirty="0" err="1"/>
              <a:t>Ejemplo</a:t>
            </a:r>
            <a:r>
              <a:rPr lang="en-US" dirty="0"/>
              <a:t> 10.15 (</a:t>
            </a:r>
            <a:r>
              <a:rPr lang="en-US" dirty="0" err="1"/>
              <a:t>Solución</a:t>
            </a:r>
            <a:r>
              <a:rPr lang="en-US" dirty="0"/>
              <a:t>) (I)</a:t>
            </a:r>
            <a:endParaRPr lang="es-E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3DBB141-D65A-77B4-3ACC-71AA413487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Variable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= </a:t>
                </a:r>
                <a:r>
                  <a:rPr lang="en-US" dirty="0" err="1"/>
                  <a:t>tiempo</a:t>
                </a:r>
                <a:r>
                  <a:rPr lang="en-US" dirty="0"/>
                  <a:t> al </a:t>
                </a:r>
                <a:r>
                  <a:rPr lang="en-US" dirty="0" err="1"/>
                  <a:t>destino</a:t>
                </a:r>
                <a:r>
                  <a:rPr lang="en-US" dirty="0"/>
                  <a:t> 1,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Variable </a:t>
                </a:r>
                <a14:m>
                  <m:oMath xmlns:m="http://schemas.openxmlformats.org/officeDocument/2006/math">
                    <m:r>
                      <a:rPr lang="es-E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= </a:t>
                </a:r>
                <a:r>
                  <a:rPr lang="en-US" dirty="0" err="1"/>
                  <a:t>tiempo</a:t>
                </a:r>
                <a:r>
                  <a:rPr lang="en-US" dirty="0"/>
                  <a:t> al </a:t>
                </a:r>
                <a:r>
                  <a:rPr lang="en-US" dirty="0" err="1"/>
                  <a:t>destino</a:t>
                </a:r>
                <a:r>
                  <a:rPr lang="en-US" dirty="0"/>
                  <a:t> 2, </a:t>
                </a:r>
                <a14:m>
                  <m:oMath xmlns:m="http://schemas.openxmlformats.org/officeDocument/2006/math"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12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Si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baseline="-25000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son las </a:t>
                </a:r>
                <a:r>
                  <a:rPr lang="en-US" dirty="0" err="1"/>
                  <a:t>distribuciones</a:t>
                </a:r>
                <a:r>
                  <a:rPr lang="en-US" dirty="0"/>
                  <a:t> de </a:t>
                </a:r>
                <a:r>
                  <a:rPr lang="en-US" dirty="0" err="1"/>
                  <a:t>distribución</a:t>
                </a:r>
                <a:r>
                  <a:rPr lang="en-US" dirty="0"/>
                  <a:t> de </a:t>
                </a:r>
                <a:r>
                  <a:rPr lang="en-US" dirty="0" err="1"/>
                  <a:t>probabilidad</a:t>
                </a:r>
                <a:r>
                  <a:rPr lang="en-US" dirty="0"/>
                  <a:t> </a:t>
                </a:r>
                <a:r>
                  <a:rPr lang="en-US" dirty="0" err="1"/>
                  <a:t>acumulada</a:t>
                </a:r>
                <a:r>
                  <a:rPr lang="en-US" dirty="0"/>
                  <a:t>, hay que </a:t>
                </a:r>
                <a:r>
                  <a:rPr lang="en-US" dirty="0" err="1"/>
                  <a:t>contrastar</a:t>
                </a:r>
                <a:r>
                  <a:rPr lang="en-US" dirty="0"/>
                  <a:t> las </a:t>
                </a:r>
                <a:r>
                  <a:rPr lang="en-US" dirty="0" err="1"/>
                  <a:t>siguientes</a:t>
                </a:r>
                <a:r>
                  <a:rPr lang="en-US" dirty="0"/>
                  <a:t> </a:t>
                </a:r>
                <a:r>
                  <a:rPr lang="en-US" dirty="0" err="1"/>
                  <a:t>hipótesis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  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por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tanto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 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</m:oMath>
                </a14:m>
                <a:r>
                  <a:rPr lang="en-US" dirty="0"/>
                  <a:t>  </a:t>
                </a:r>
              </a:p>
              <a:p>
                <a:r>
                  <a:rPr lang="en-US" dirty="0"/>
                  <a:t>Para </a:t>
                </a:r>
                <a:r>
                  <a:rPr lang="en-US" dirty="0" err="1"/>
                  <a:t>calcular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valor </a:t>
                </a:r>
                <a:r>
                  <a:rPr lang="en-US" dirty="0" err="1"/>
                  <a:t>observado</a:t>
                </a:r>
                <a:r>
                  <a:rPr lang="en-US" dirty="0"/>
                  <a:t> del </a:t>
                </a:r>
                <a:r>
                  <a:rPr lang="en-US" dirty="0" err="1"/>
                  <a:t>estadístico</a:t>
                </a:r>
                <a:r>
                  <a:rPr lang="en-US" dirty="0"/>
                  <a:t> de </a:t>
                </a:r>
                <a:r>
                  <a:rPr lang="en-US" dirty="0" err="1"/>
                  <a:t>contraste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n-US" dirty="0"/>
                  <a:t>), se </a:t>
                </a:r>
                <a:r>
                  <a:rPr lang="en-US" dirty="0" err="1"/>
                  <a:t>combinan</a:t>
                </a:r>
                <a:r>
                  <a:rPr lang="en-US" dirty="0"/>
                  <a:t> </a:t>
                </a:r>
                <a:r>
                  <a:rPr lang="en-US" dirty="0" err="1"/>
                  <a:t>todas</a:t>
                </a:r>
                <a:r>
                  <a:rPr lang="en-US" dirty="0"/>
                  <a:t> las </a:t>
                </a:r>
                <a:r>
                  <a:rPr lang="en-US" dirty="0" err="1"/>
                  <a:t>observaciones</a:t>
                </a:r>
                <a:r>
                  <a:rPr lang="en-US" dirty="0"/>
                  <a:t> y se </a:t>
                </a:r>
                <a:r>
                  <a:rPr lang="en-US" dirty="0" err="1"/>
                  <a:t>ordenan</a:t>
                </a:r>
                <a:r>
                  <a:rPr lang="en-US" dirty="0"/>
                  <a:t>, </a:t>
                </a:r>
                <a:r>
                  <a:rPr lang="en-US" dirty="0" err="1"/>
                  <a:t>subrayando</a:t>
                </a:r>
                <a:r>
                  <a:rPr lang="en-US" dirty="0"/>
                  <a:t> las </a:t>
                </a:r>
                <a:r>
                  <a:rPr lang="en-US" dirty="0" err="1"/>
                  <a:t>observaciones</a:t>
                </a:r>
                <a:r>
                  <a:rPr lang="en-US" dirty="0"/>
                  <a:t> de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0.0039, 0.0045, 0.0109, </a:t>
                </a:r>
                <a:r>
                  <a:rPr lang="en-US" u="sng" dirty="0"/>
                  <a:t>0.0156</a:t>
                </a:r>
                <a:r>
                  <a:rPr lang="en-US" dirty="0"/>
                  <a:t>, 0.0167, 0.0198, </a:t>
                </a:r>
                <a:r>
                  <a:rPr lang="en-US" u="sng" dirty="0"/>
                  <a:t>0.0210</a:t>
                </a:r>
                <a:r>
                  <a:rPr lang="en-US" dirty="0"/>
                  <a:t>, </a:t>
                </a:r>
                <a:r>
                  <a:rPr lang="en-US" u="sng" dirty="0"/>
                  <a:t>0.0215</a:t>
                </a:r>
                <a:r>
                  <a:rPr lang="en-US" dirty="0"/>
                  <a:t>, </a:t>
                </a:r>
                <a:r>
                  <a:rPr lang="en-US" u="sng" dirty="0"/>
                  <a:t>0.0280</a:t>
                </a:r>
                <a:r>
                  <a:rPr lang="en-US" dirty="0"/>
                  <a:t>, 0.0298, </a:t>
                </a:r>
                <a:r>
                  <a:rPr lang="en-US" u="sng" dirty="0"/>
                  <a:t>0.0308</a:t>
                </a:r>
                <a:r>
                  <a:rPr lang="en-US" dirty="0"/>
                  <a:t>, </a:t>
                </a:r>
                <a:r>
                  <a:rPr lang="en-US" u="sng" dirty="0"/>
                  <a:t>0.0327</a:t>
                </a:r>
                <a:r>
                  <a:rPr lang="en-US" dirty="0"/>
                  <a:t>, </a:t>
                </a:r>
                <a:r>
                  <a:rPr lang="en-US" u="sng" dirty="0"/>
                  <a:t>0.0335</a:t>
                </a:r>
                <a:r>
                  <a:rPr lang="en-US" dirty="0"/>
                  <a:t>, </a:t>
                </a:r>
                <a:r>
                  <a:rPr lang="en-US" u="sng" dirty="0"/>
                  <a:t>0.0350</a:t>
                </a:r>
                <a:r>
                  <a:rPr lang="en-US" dirty="0"/>
                  <a:t>, </a:t>
                </a:r>
                <a:r>
                  <a:rPr lang="en-US" u="sng" dirty="0"/>
                  <a:t>0.0355</a:t>
                </a:r>
                <a:r>
                  <a:rPr lang="en-US" dirty="0"/>
                  <a:t>, 0.0387, </a:t>
                </a:r>
                <a:r>
                  <a:rPr lang="en-US" u="sng" dirty="0"/>
                  <a:t>0.0396</a:t>
                </a:r>
                <a:r>
                  <a:rPr lang="en-US" dirty="0"/>
                  <a:t>, </a:t>
                </a:r>
                <a:r>
                  <a:rPr lang="en-US" u="sng" dirty="0"/>
                  <a:t>0.0419</a:t>
                </a:r>
                <a:r>
                  <a:rPr lang="en-US" dirty="0"/>
                  <a:t>, </a:t>
                </a:r>
                <a:r>
                  <a:rPr lang="en-US" u="sng" dirty="0"/>
                  <a:t>0.0437</a:t>
                </a:r>
                <a:r>
                  <a:rPr lang="en-US" dirty="0"/>
                  <a:t>, 0.0467, </a:t>
                </a:r>
                <a:r>
                  <a:rPr lang="en-US" u="sng" dirty="0"/>
                  <a:t>0.0480</a:t>
                </a:r>
                <a:r>
                  <a:rPr lang="en-US" dirty="0"/>
                  <a:t>, </a:t>
                </a:r>
                <a:r>
                  <a:rPr lang="en-US" u="sng" dirty="0"/>
                  <a:t>0.0483</a:t>
                </a:r>
                <a:r>
                  <a:rPr lang="en-US" dirty="0"/>
                  <a:t>, </a:t>
                </a:r>
                <a:r>
                  <a:rPr lang="en-US" u="sng" dirty="0"/>
                  <a:t>0.0543</a:t>
                </a:r>
                <a:r>
                  <a:rPr lang="en-US" dirty="0"/>
                  <a:t>, 0.0661, 0.0674, 0.0712, 0.0787 </a:t>
                </a:r>
              </a:p>
              <a:p>
                <a:pPr lvl="1"/>
                <a:r>
                  <a:rPr lang="es-ES" dirty="0"/>
                  <a:t>En la muestra combinada, los rangos de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s-ES" dirty="0"/>
                  <a:t> son: 4, 7, 8, 9, 11, 12, 13, 14, 15, 17, 18, 19, 21, 22, 23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3DBB141-D65A-77B4-3ACC-71AA413487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661" r="-52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6627DF-D761-54AA-3A97-7601E823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326214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FF1056-E23E-EFD2-56C8-D1575083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lang="en-US" dirty="0" err="1"/>
              <a:t>Contraste</a:t>
            </a:r>
            <a:r>
              <a:rPr lang="en-US" dirty="0"/>
              <a:t> Mann-Whitney-Wilcoxon</a:t>
            </a:r>
            <a:br>
              <a:rPr lang="es-ES" dirty="0"/>
            </a:br>
            <a:r>
              <a:rPr lang="en-US" dirty="0" err="1"/>
              <a:t>Ejemplo</a:t>
            </a:r>
            <a:r>
              <a:rPr lang="en-US" dirty="0"/>
              <a:t> 10.15 (</a:t>
            </a:r>
            <a:r>
              <a:rPr lang="en-US" dirty="0" err="1"/>
              <a:t>Solución</a:t>
            </a:r>
            <a:r>
              <a:rPr lang="en-US" dirty="0"/>
              <a:t>) (II)</a:t>
            </a:r>
            <a:endParaRPr lang="es-E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39AB4A-1C64-C2B1-F510-B7D4751D61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Paso 1: 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s-E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: 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=213</m:t>
                        </m:r>
                      </m:e>
                    </m:nary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 </a:t>
                </a:r>
              </a:p>
              <a:p>
                <a:r>
                  <a:rPr lang="en-US" dirty="0"/>
                  <a:t>Paso 2: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=15,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=12 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≥10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por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tanto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s-ES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𝑁</m:t>
                    </m:r>
                    <m:d>
                      <m:dPr>
                        <m:ctrlPr>
                          <a:rPr lang="es-E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fPr>
                          <m:num>
                            <m:r>
                              <a:rPr lang="es-ES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15</m:t>
                            </m:r>
                            <m:d>
                              <m:dPr>
                                <m:ctrlPr>
                                  <a:rPr lang="es-ES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d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15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+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12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+1</m:t>
                                </m:r>
                              </m:e>
                            </m:d>
                          </m:num>
                          <m:den>
                            <m:r>
                              <a:rPr lang="es-E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den>
                        </m:f>
                        <m:r>
                          <a:rPr lang="es-ES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,</m:t>
                        </m:r>
                        <m:rad>
                          <m:radPr>
                            <m:degHide m:val="on"/>
                            <m:ctrlPr>
                              <a:rPr lang="es-ES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s-ES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</m:ctrlPr>
                              </m:fPr>
                              <m:num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15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∙12</m:t>
                                </m:r>
                                <m:d>
                                  <m:dPr>
                                    <m:ctrlPr>
                                      <a:rPr lang="es-ES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</m:ctrlPr>
                                  </m:dPr>
                                  <m:e>
                                    <m:r>
                                      <a:rPr lang="es-ES" b="0" i="1" smtClean="0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15+12</m:t>
                                    </m:r>
                                    <m:r>
                                      <a:rPr lang="es-ES" i="1">
                                        <a:latin typeface="Cambria Math" panose="02040503050406030204" pitchFamily="18" charset="0"/>
                                        <a:sym typeface="Wingdings" panose="05000000000000000000" pitchFamily="2" charset="2"/>
                                      </a:rPr>
                                      <m:t>+1</m:t>
                                    </m:r>
                                  </m:e>
                                </m:d>
                              </m:num>
                              <m:den>
                                <m:r>
                                  <a:rPr lang="es-ES" i="1">
                                    <a:latin typeface="Cambria Math" panose="02040503050406030204" pitchFamily="18" charset="0"/>
                                    <a:sym typeface="Wingdings" panose="05000000000000000000" pitchFamily="2" charset="2"/>
                                  </a:rPr>
                                  <m:t>12</m:t>
                                </m:r>
                              </m:den>
                            </m:f>
                          </m:e>
                        </m:rad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𝑁</m:t>
                    </m:r>
                    <m:r>
                      <a:rPr lang="es-ES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(210, 20.49)</m:t>
                    </m:r>
                  </m:oMath>
                </a14:m>
                <a:endParaRPr lang="es-ES" b="0" i="0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Paso 3: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𝑌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valor</m:t>
                    </m:r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func>
                      <m:funcPr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s-ES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d>
                          <m:dPr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s-ES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13</m:t>
                                </m:r>
                              </m:e>
                            </m:d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  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begChr m:val="{"/>
                                <m:endChr m:val="}"/>
                                <m:ctrlP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𝑈</m:t>
                                </m:r>
                                <m:r>
                                  <a:rPr lang="es-ES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≥213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=2∙0.4522=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𝟎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a:rPr lang="es-ES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𝟗𝟎𝟒𝟒</m:t>
                    </m:r>
                  </m:oMath>
                </a14:m>
                <a:endParaRPr lang="en-US" b="1" dirty="0"/>
              </a:p>
              <a:p>
                <a:pPr lvl="2"/>
                <a14:m>
                  <m:oMath xmlns:m="http://schemas.openxmlformats.org/officeDocument/2006/math">
                    <m:r>
                      <a:rPr lang="es-ES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r>
                          <a:rPr lang="es-E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13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213.5−210</m:t>
                            </m:r>
                          </m:num>
                          <m:den>
                            <m:r>
                              <a:rPr lang="es-E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20.49</m:t>
                            </m:r>
                          </m:den>
                        </m:f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≤0.17</m:t>
                        </m:r>
                      </m:e>
                    </m:d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=0.5675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≥213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𝑈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213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≈1−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f>
                          <m:fPr>
                            <m:ctrlP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212.5−210</m:t>
                            </m:r>
                          </m:num>
                          <m:den>
                            <m:r>
                              <a:rPr lang="es-ES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20.49</m:t>
                            </m:r>
                          </m:den>
                        </m:f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d>
                      <m:dPr>
                        <m:begChr m:val="{"/>
                        <m:endChr m:val="}"/>
                        <m:ctrlP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𝑍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</m:t>
                        </m:r>
                        <m:r>
                          <a:rPr lang="es-E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0.12</m:t>
                        </m:r>
                      </m:e>
                    </m:d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=1−0.5478=0.4522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Paso 4: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valor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 0.9044 &gt;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0.05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El </a:t>
                </a:r>
                <a:r>
                  <a:rPr lang="en-US" b="1" dirty="0" err="1"/>
                  <a:t>contraste</a:t>
                </a:r>
                <a:r>
                  <a:rPr lang="en-US" b="1" dirty="0"/>
                  <a:t> de Mann-Whitney-Wilcoxon no </a:t>
                </a:r>
                <a:r>
                  <a:rPr lang="en-US" b="1" dirty="0" err="1"/>
                  <a:t>puede</a:t>
                </a:r>
                <a:r>
                  <a:rPr lang="en-US" b="1" dirty="0"/>
                  <a:t> </a:t>
                </a:r>
                <a:r>
                  <a:rPr lang="en-US" b="1" dirty="0" err="1"/>
                  <a:t>rechazar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1" i="1" baseline="-25000" dirty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por</a:t>
                </a:r>
                <a:r>
                  <a:rPr lang="en-US" dirty="0"/>
                  <a:t> lo que con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confianza</a:t>
                </a:r>
                <a:r>
                  <a:rPr lang="en-US" dirty="0"/>
                  <a:t> del 95% no hay </a:t>
                </a:r>
                <a:r>
                  <a:rPr lang="en-US" dirty="0" err="1"/>
                  <a:t>evidencia</a:t>
                </a:r>
                <a:r>
                  <a:rPr lang="en-US" dirty="0"/>
                  <a:t> de que los </a:t>
                </a:r>
                <a:r>
                  <a:rPr lang="en-US" dirty="0" err="1"/>
                  <a:t>mensajes</a:t>
                </a:r>
                <a:r>
                  <a:rPr lang="en-US" dirty="0"/>
                  <a:t> de </a:t>
                </a:r>
                <a:r>
                  <a:rPr lang="en-US" dirty="0" err="1"/>
                  <a:t>prueba</a:t>
                </a:r>
                <a:r>
                  <a:rPr lang="en-US" dirty="0"/>
                  <a:t> </a:t>
                </a:r>
                <a:r>
                  <a:rPr lang="en-US" dirty="0" err="1"/>
                  <a:t>enviados</a:t>
                </a:r>
                <a:r>
                  <a:rPr lang="en-US" dirty="0"/>
                  <a:t> a dos </a:t>
                </a:r>
                <a:r>
                  <a:rPr lang="en-US" dirty="0" err="1"/>
                  <a:t>destinos</a:t>
                </a:r>
                <a:r>
                  <a:rPr lang="en-US" dirty="0"/>
                  <a:t> </a:t>
                </a:r>
                <a:r>
                  <a:rPr lang="en-US" dirty="0" err="1"/>
                  <a:t>diferentes</a:t>
                </a:r>
                <a:r>
                  <a:rPr lang="en-US" dirty="0"/>
                  <a:t> </a:t>
                </a:r>
                <a:r>
                  <a:rPr lang="en-US" dirty="0" err="1"/>
                  <a:t>tengan</a:t>
                </a:r>
                <a:r>
                  <a:rPr lang="en-US" dirty="0"/>
                  <a:t> </a:t>
                </a:r>
                <a:r>
                  <a:rPr lang="en-US" dirty="0" err="1"/>
                  <a:t>diferentes</a:t>
                </a:r>
                <a:r>
                  <a:rPr lang="en-US" dirty="0"/>
                  <a:t> </a:t>
                </a:r>
                <a:r>
                  <a:rPr lang="en-US" dirty="0" err="1"/>
                  <a:t>distribuciones</a:t>
                </a:r>
                <a:r>
                  <a:rPr lang="en-US" dirty="0"/>
                  <a:t> </a:t>
                </a:r>
                <a:r>
                  <a:rPr lang="en-US" dirty="0" err="1"/>
                  <a:t>ni</a:t>
                </a:r>
                <a:r>
                  <a:rPr lang="en-US" dirty="0"/>
                  <a:t>, </a:t>
                </a:r>
                <a:r>
                  <a:rPr lang="en-US" dirty="0" err="1"/>
                  <a:t>por</a:t>
                </a:r>
                <a:r>
                  <a:rPr lang="en-US" dirty="0"/>
                  <a:t> tanto, </a:t>
                </a:r>
                <a:r>
                  <a:rPr lang="en-US" dirty="0" err="1"/>
                  <a:t>diferentes</a:t>
                </a:r>
                <a:r>
                  <a:rPr lang="en-US" dirty="0"/>
                  <a:t> </a:t>
                </a:r>
                <a:r>
                  <a:rPr lang="en-US" dirty="0" err="1"/>
                  <a:t>medianas</a:t>
                </a:r>
                <a:endParaRPr lang="es-ES" dirty="0"/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39AB4A-1C64-C2B1-F510-B7D4751D61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6" t="-5322" r="-58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C8F198-F416-AFCD-924E-644495E94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132385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01D4D-DE73-82B5-0C29-7B51F7195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lang="en-US" dirty="0" err="1"/>
              <a:t>Contraste</a:t>
            </a:r>
            <a:r>
              <a:rPr lang="en-US" dirty="0"/>
              <a:t> de Mann-Whitney-Wilcoxon</a:t>
            </a:r>
            <a:br>
              <a:rPr lang="en-US" dirty="0"/>
            </a:br>
            <a:r>
              <a:rPr lang="en-US" dirty="0" err="1"/>
              <a:t>Ejemplo</a:t>
            </a:r>
            <a:r>
              <a:rPr lang="en-US" dirty="0"/>
              <a:t> 10.16 (</a:t>
            </a:r>
            <a:r>
              <a:rPr lang="en-US" dirty="0" err="1"/>
              <a:t>Competición</a:t>
            </a:r>
            <a:r>
              <a:rPr lang="en-US" dirty="0"/>
              <a:t>)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3DBB141-D65A-77B4-3ACC-71AA413487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Dos </a:t>
            </a:r>
            <a:r>
              <a:rPr lang="en-US" dirty="0" err="1"/>
              <a:t>fabricantes</a:t>
            </a:r>
            <a:r>
              <a:rPr lang="en-US" dirty="0"/>
              <a:t> de </a:t>
            </a:r>
            <a:r>
              <a:rPr lang="en-US" dirty="0" err="1"/>
              <a:t>ordenadores</a:t>
            </a:r>
            <a:r>
              <a:rPr lang="en-US" dirty="0"/>
              <a:t>, A y B, </a:t>
            </a:r>
            <a:r>
              <a:rPr lang="en-US" dirty="0" err="1"/>
              <a:t>compiten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un </a:t>
            </a:r>
            <a:r>
              <a:rPr lang="en-US" dirty="0" err="1"/>
              <a:t>contrato</a:t>
            </a:r>
            <a:endParaRPr lang="en-US" dirty="0"/>
          </a:p>
          <a:p>
            <a:r>
              <a:rPr lang="en-US" dirty="0" err="1"/>
              <a:t>Cada</a:t>
            </a:r>
            <a:r>
              <a:rPr lang="en-US" dirty="0"/>
              <a:t> uno </a:t>
            </a:r>
            <a:r>
              <a:rPr lang="en-US" dirty="0" err="1"/>
              <a:t>asegura</a:t>
            </a:r>
            <a:r>
              <a:rPr lang="en-US" dirty="0"/>
              <a:t> que sus </a:t>
            </a:r>
            <a:r>
              <a:rPr lang="en-US" dirty="0" err="1"/>
              <a:t>ordenadores</a:t>
            </a:r>
            <a:r>
              <a:rPr lang="en-US" dirty="0"/>
              <a:t> son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rápidos</a:t>
            </a:r>
            <a:endParaRPr lang="en-US" dirty="0"/>
          </a:p>
          <a:p>
            <a:r>
              <a:rPr lang="en-US" dirty="0"/>
              <a:t>Se decide </a:t>
            </a:r>
            <a:r>
              <a:rPr lang="en-US" dirty="0" err="1"/>
              <a:t>ejecutar</a:t>
            </a:r>
            <a:r>
              <a:rPr lang="en-US" dirty="0"/>
              <a:t> un </a:t>
            </a:r>
            <a:r>
              <a:rPr lang="en-US" dirty="0" err="1"/>
              <a:t>mismo</a:t>
            </a:r>
            <a:r>
              <a:rPr lang="en-US" dirty="0"/>
              <a:t> </a:t>
            </a:r>
            <a:r>
              <a:rPr lang="en-US" dirty="0" err="1"/>
              <a:t>programa</a:t>
            </a:r>
            <a:r>
              <a:rPr lang="en-US" dirty="0"/>
              <a:t> </a:t>
            </a:r>
            <a:r>
              <a:rPr lang="en-US" dirty="0" err="1"/>
              <a:t>simultáneamente</a:t>
            </a:r>
            <a:r>
              <a:rPr lang="en-US" dirty="0"/>
              <a:t> en 7 </a:t>
            </a:r>
            <a:r>
              <a:rPr lang="en-US" dirty="0" err="1"/>
              <a:t>ordenadores</a:t>
            </a:r>
            <a:r>
              <a:rPr lang="en-US" dirty="0"/>
              <a:t> de </a:t>
            </a:r>
            <a:r>
              <a:rPr lang="en-US" dirty="0" err="1"/>
              <a:t>cada</a:t>
            </a:r>
            <a:r>
              <a:rPr lang="en-US" dirty="0"/>
              <a:t> </a:t>
            </a:r>
            <a:r>
              <a:rPr lang="en-US" dirty="0" err="1"/>
              <a:t>fabricante</a:t>
            </a:r>
            <a:r>
              <a:rPr lang="en-US" dirty="0"/>
              <a:t> y </a:t>
            </a:r>
            <a:r>
              <a:rPr lang="en-US" dirty="0" err="1"/>
              <a:t>comprobar</a:t>
            </a:r>
            <a:r>
              <a:rPr lang="en-US" dirty="0"/>
              <a:t> en </a:t>
            </a:r>
            <a:r>
              <a:rPr lang="en-US" dirty="0" err="1"/>
              <a:t>cuales</a:t>
            </a:r>
            <a:r>
              <a:rPr lang="en-US" dirty="0"/>
              <a:t> termina </a:t>
            </a:r>
            <a:r>
              <a:rPr lang="en-US" dirty="0" err="1"/>
              <a:t>anes</a:t>
            </a:r>
            <a:r>
              <a:rPr lang="en-US" dirty="0"/>
              <a:t> la </a:t>
            </a:r>
            <a:r>
              <a:rPr lang="en-US" dirty="0" err="1"/>
              <a:t>ejecución</a:t>
            </a:r>
            <a:endParaRPr lang="en-US" dirty="0"/>
          </a:p>
          <a:p>
            <a:r>
              <a:rPr lang="en-US" dirty="0"/>
              <a:t>Como </a:t>
            </a:r>
            <a:r>
              <a:rPr lang="en-US" dirty="0" err="1"/>
              <a:t>resultado</a:t>
            </a:r>
            <a:r>
              <a:rPr lang="en-US" dirty="0"/>
              <a:t>, 2 </a:t>
            </a:r>
            <a:r>
              <a:rPr lang="en-US" dirty="0" err="1"/>
              <a:t>ordenadores</a:t>
            </a:r>
            <a:r>
              <a:rPr lang="en-US" dirty="0"/>
              <a:t> </a:t>
            </a:r>
            <a:r>
              <a:rPr lang="en-US" dirty="0" err="1"/>
              <a:t>fabricados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A </a:t>
            </a:r>
            <a:r>
              <a:rPr lang="en-US" dirty="0" err="1"/>
              <a:t>terminan</a:t>
            </a:r>
            <a:r>
              <a:rPr lang="en-US" dirty="0"/>
              <a:t> primero, </a:t>
            </a:r>
            <a:r>
              <a:rPr lang="en-US" dirty="0" err="1"/>
              <a:t>seguidos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3 </a:t>
            </a:r>
            <a:r>
              <a:rPr lang="en-US" dirty="0" err="1"/>
              <a:t>ordenadores</a:t>
            </a:r>
            <a:r>
              <a:rPr lang="en-US" dirty="0"/>
              <a:t> </a:t>
            </a:r>
            <a:r>
              <a:rPr lang="en-US" dirty="0" err="1"/>
              <a:t>fabricados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B, </a:t>
            </a:r>
            <a:r>
              <a:rPr lang="en-US" dirty="0" err="1"/>
              <a:t>después</a:t>
            </a:r>
            <a:r>
              <a:rPr lang="en-US" dirty="0"/>
              <a:t> 5 </a:t>
            </a:r>
            <a:r>
              <a:rPr lang="en-US" dirty="0" err="1"/>
              <a:t>ordenadores</a:t>
            </a:r>
            <a:r>
              <a:rPr lang="en-US" dirty="0"/>
              <a:t> </a:t>
            </a:r>
            <a:r>
              <a:rPr lang="en-US" dirty="0" err="1"/>
              <a:t>fabricados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A, y </a:t>
            </a:r>
            <a:r>
              <a:rPr lang="en-US" dirty="0" err="1"/>
              <a:t>finalmente</a:t>
            </a:r>
            <a:r>
              <a:rPr lang="en-US" dirty="0"/>
              <a:t> 4 </a:t>
            </a:r>
            <a:r>
              <a:rPr lang="en-US" dirty="0" err="1"/>
              <a:t>ordenadores</a:t>
            </a:r>
            <a:r>
              <a:rPr lang="en-US" dirty="0"/>
              <a:t> </a:t>
            </a:r>
            <a:r>
              <a:rPr lang="en-US" dirty="0" err="1"/>
              <a:t>fabricados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B</a:t>
            </a:r>
          </a:p>
          <a:p>
            <a:r>
              <a:rPr lang="en-US" dirty="0"/>
              <a:t>No se </a:t>
            </a:r>
            <a:r>
              <a:rPr lang="en-US" dirty="0" err="1"/>
              <a:t>han</a:t>
            </a:r>
            <a:r>
              <a:rPr lang="en-US" dirty="0"/>
              <a:t> </a:t>
            </a:r>
            <a:r>
              <a:rPr lang="en-US" dirty="0" err="1"/>
              <a:t>registrado</a:t>
            </a:r>
            <a:r>
              <a:rPr lang="en-US" dirty="0"/>
              <a:t> los </a:t>
            </a:r>
            <a:r>
              <a:rPr lang="en-US" dirty="0" err="1"/>
              <a:t>tiempos</a:t>
            </a:r>
            <a:endParaRPr lang="en-US" dirty="0"/>
          </a:p>
          <a:p>
            <a:r>
              <a:rPr lang="en-US" dirty="0"/>
              <a:t>¿Se </a:t>
            </a:r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afirmar</a:t>
            </a:r>
            <a:r>
              <a:rPr lang="en-US" dirty="0"/>
              <a:t> con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confianza</a:t>
            </a:r>
            <a:r>
              <a:rPr lang="en-US" dirty="0"/>
              <a:t> del 95% que los </a:t>
            </a:r>
            <a:r>
              <a:rPr lang="en-US" dirty="0" err="1"/>
              <a:t>ordenadores</a:t>
            </a:r>
            <a:r>
              <a:rPr lang="en-US" dirty="0"/>
              <a:t> </a:t>
            </a:r>
            <a:r>
              <a:rPr lang="en-US" dirty="0" err="1"/>
              <a:t>fabricados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A son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rápidos</a:t>
            </a:r>
            <a:r>
              <a:rPr lang="en-US" dirty="0"/>
              <a:t>?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6627DF-D761-54AA-3A97-7601E823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6711392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B01D4D-DE73-82B5-0C29-7B51F7195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lang="en-US" dirty="0" err="1"/>
              <a:t>Contraste</a:t>
            </a:r>
            <a:r>
              <a:rPr lang="en-US" dirty="0"/>
              <a:t> Mann-Whitney-Wilcoxon</a:t>
            </a:r>
            <a:br>
              <a:rPr lang="en-US" dirty="0"/>
            </a:br>
            <a:r>
              <a:rPr lang="en-US" dirty="0" err="1"/>
              <a:t>Ejemplo</a:t>
            </a:r>
            <a:r>
              <a:rPr lang="en-US" dirty="0"/>
              <a:t> 10.16 (Solution) (I)</a:t>
            </a:r>
            <a:endParaRPr lang="es-E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3DBB141-D65A-77B4-3ACC-71AA413487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85000" lnSpcReduction="10000"/>
              </a:bodyPr>
              <a:lstStyle/>
              <a:p>
                <a:r>
                  <a:rPr lang="en-US" dirty="0"/>
                  <a:t>Como no se dispone de </a:t>
                </a:r>
                <a:r>
                  <a:rPr lang="en-US" dirty="0" err="1"/>
                  <a:t>datos</a:t>
                </a:r>
                <a:r>
                  <a:rPr lang="en-US" dirty="0"/>
                  <a:t> </a:t>
                </a:r>
                <a:r>
                  <a:rPr lang="en-US" dirty="0" err="1"/>
                  <a:t>numéricos</a:t>
                </a:r>
                <a:r>
                  <a:rPr lang="en-US" dirty="0"/>
                  <a:t>, se </a:t>
                </a:r>
                <a:r>
                  <a:rPr lang="en-US" dirty="0" err="1"/>
                  <a:t>realiza</a:t>
                </a:r>
                <a:r>
                  <a:rPr lang="en-US" dirty="0"/>
                  <a:t> un </a:t>
                </a:r>
                <a:r>
                  <a:rPr lang="en-US" dirty="0" err="1"/>
                  <a:t>contraste</a:t>
                </a:r>
                <a:r>
                  <a:rPr lang="en-US" dirty="0"/>
                  <a:t> no </a:t>
                </a:r>
                <a:r>
                  <a:rPr lang="en-US" dirty="0" err="1"/>
                  <a:t>paramétrico</a:t>
                </a:r>
                <a:endParaRPr lang="en-US" dirty="0"/>
              </a:p>
              <a:p>
                <a:r>
                  <a:rPr lang="en-US" dirty="0"/>
                  <a:t>Variable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= </a:t>
                </a:r>
                <a:r>
                  <a:rPr lang="en-US" dirty="0" err="1"/>
                  <a:t>tiempo</a:t>
                </a:r>
                <a:r>
                  <a:rPr lang="en-US" dirty="0"/>
                  <a:t> de </a:t>
                </a:r>
                <a:r>
                  <a:rPr lang="en-US" dirty="0" err="1"/>
                  <a:t>ejecución</a:t>
                </a:r>
                <a:r>
                  <a:rPr lang="en-US" dirty="0"/>
                  <a:t> del </a:t>
                </a:r>
                <a:r>
                  <a:rPr lang="en-US" dirty="0" err="1"/>
                  <a:t>programa</a:t>
                </a:r>
                <a:r>
                  <a:rPr lang="en-US" dirty="0"/>
                  <a:t> en un </a:t>
                </a:r>
                <a:r>
                  <a:rPr lang="en-US" dirty="0" err="1"/>
                  <a:t>ordenador</a:t>
                </a:r>
                <a:r>
                  <a:rPr lang="en-US" dirty="0"/>
                  <a:t> </a:t>
                </a:r>
                <a:r>
                  <a:rPr lang="en-US" dirty="0" err="1"/>
                  <a:t>producido</a:t>
                </a:r>
                <a:r>
                  <a:rPr lang="en-US" dirty="0"/>
                  <a:t> </a:t>
                </a:r>
                <a:r>
                  <a:rPr lang="en-US" dirty="0" err="1"/>
                  <a:t>por</a:t>
                </a:r>
                <a:r>
                  <a:rPr lang="en-US" dirty="0"/>
                  <a:t> A,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lang="en-US" dirty="0"/>
              </a:p>
              <a:p>
                <a:r>
                  <a:rPr lang="en-US" dirty="0"/>
                  <a:t>Variable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:r>
                  <a:rPr lang="en-US" dirty="0" err="1"/>
                  <a:t>tiempo</a:t>
                </a:r>
                <a:r>
                  <a:rPr lang="en-US" dirty="0"/>
                  <a:t> de </a:t>
                </a:r>
                <a:r>
                  <a:rPr lang="en-US" dirty="0" err="1"/>
                  <a:t>ejecución</a:t>
                </a:r>
                <a:r>
                  <a:rPr lang="en-US" dirty="0"/>
                  <a:t> del </a:t>
                </a:r>
                <a:r>
                  <a:rPr lang="en-US" dirty="0" err="1"/>
                  <a:t>programa</a:t>
                </a:r>
                <a:r>
                  <a:rPr lang="en-US" dirty="0"/>
                  <a:t> en un </a:t>
                </a:r>
                <a:r>
                  <a:rPr lang="en-US" dirty="0" err="1"/>
                  <a:t>ordenador</a:t>
                </a:r>
                <a:r>
                  <a:rPr lang="en-US" dirty="0"/>
                  <a:t> </a:t>
                </a:r>
                <a:r>
                  <a:rPr lang="en-US" dirty="0" err="1"/>
                  <a:t>producido</a:t>
                </a:r>
                <a:r>
                  <a:rPr lang="en-US" dirty="0"/>
                  <a:t> </a:t>
                </a:r>
                <a:r>
                  <a:rPr lang="en-US" dirty="0" err="1"/>
                  <a:t>por</a:t>
                </a:r>
                <a:r>
                  <a:rPr lang="en-US" dirty="0"/>
                  <a:t> B, </a:t>
                </a:r>
                <a14:m>
                  <m:oMath xmlns:m="http://schemas.openxmlformats.org/officeDocument/2006/math">
                    <m:r>
                      <a:rPr lang="es-ES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endParaRPr lang="en-US" dirty="0"/>
              </a:p>
              <a:p>
                <a:r>
                  <a:rPr lang="en-US" dirty="0" err="1"/>
                  <a:t>Contraste</a:t>
                </a:r>
                <a:r>
                  <a:rPr lang="en-US" dirty="0"/>
                  <a:t> de </a:t>
                </a:r>
                <a:r>
                  <a:rPr lang="en-US" dirty="0" err="1"/>
                  <a:t>hipótesis</a:t>
                </a:r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sSub>
                          <m:sSubPr>
                            <m:ctrlPr>
                              <a:rPr lang="es-E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sub>
                    </m:sSub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sub>
                            </m:sSub>
                          </m:sub>
                        </m:sSub>
                        <m:r>
                          <a:rPr lang="es-ES" i="1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sSub>
                              <m:sSubPr>
                                <m:ctrlPr>
                                  <a:rPr lang="es-E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  <m:sub>
                                <m:r>
                                  <a:rPr lang="es-ES" i="1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sub>
                            </m:sSub>
                          </m:sub>
                        </m:sSub>
                        <m:r>
                          <m:rPr>
                            <m:nor/>
                          </m:rPr>
                          <a:rPr lang="es-ES" b="0" i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nor/>
                          </m:rPr>
                          <a:rPr lang="es-ES">
                            <a:latin typeface="Cambria Math" panose="02040503050406030204" pitchFamily="18" charset="0"/>
                          </a:rPr>
                          <m:t>por</m:t>
                        </m:r>
                        <m:r>
                          <m:rPr>
                            <m:nor/>
                          </m:rPr>
                          <a:rPr lang="es-ES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nor/>
                          </m:rPr>
                          <a:rPr lang="es-ES">
                            <a:latin typeface="Cambria Math" panose="02040503050406030204" pitchFamily="18" charset="0"/>
                          </a:rPr>
                          <m:t>tanto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Para </a:t>
                </a:r>
                <a:r>
                  <a:rPr lang="en-US" dirty="0" err="1"/>
                  <a:t>calcular</a:t>
                </a:r>
                <a:r>
                  <a:rPr lang="en-US" dirty="0"/>
                  <a:t> </a:t>
                </a:r>
                <a:r>
                  <a:rPr lang="en-US" dirty="0" err="1"/>
                  <a:t>el</a:t>
                </a:r>
                <a:r>
                  <a:rPr lang="en-US" dirty="0"/>
                  <a:t> valor del </a:t>
                </a:r>
                <a:r>
                  <a:rPr lang="en-US" dirty="0" err="1"/>
                  <a:t>estadístico</a:t>
                </a:r>
                <a:r>
                  <a:rPr lang="en-US" dirty="0"/>
                  <a:t> de </a:t>
                </a:r>
                <a:r>
                  <a:rPr lang="en-US" dirty="0" err="1"/>
                  <a:t>contraste</a:t>
                </a:r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𝑈</m:t>
                    </m:r>
                    <m:r>
                      <a:rPr lang="en-US" i="1" baseline="-25000" dirty="0" err="1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n-US" dirty="0"/>
                  <a:t>), se </a:t>
                </a:r>
                <a:r>
                  <a:rPr lang="en-US" dirty="0" err="1"/>
                  <a:t>combinan</a:t>
                </a:r>
                <a:r>
                  <a:rPr lang="en-US" dirty="0"/>
                  <a:t> </a:t>
                </a:r>
                <a:r>
                  <a:rPr lang="en-US" dirty="0" err="1"/>
                  <a:t>todos</a:t>
                </a:r>
                <a:r>
                  <a:rPr lang="en-US" dirty="0"/>
                  <a:t> los </a:t>
                </a:r>
                <a:r>
                  <a:rPr lang="en-US" dirty="0" err="1"/>
                  <a:t>resultados</a:t>
                </a:r>
                <a:r>
                  <a:rPr lang="en-US" dirty="0"/>
                  <a:t> de la </a:t>
                </a:r>
                <a:r>
                  <a:rPr lang="en-US" dirty="0" err="1"/>
                  <a:t>competición</a:t>
                </a:r>
                <a:r>
                  <a:rPr lang="en-US" dirty="0"/>
                  <a:t>:</a:t>
                </a:r>
              </a:p>
              <a:p>
                <a:pPr lvl="1"/>
                <a:r>
                  <a:rPr lang="pt-BR" dirty="0"/>
                  <a:t>A, A, B, B, B, A, A, A, A, A, B, B, B, B</a:t>
                </a:r>
                <a:endParaRPr lang="es-ES" dirty="0"/>
              </a:p>
              <a:p>
                <a:pPr lvl="1"/>
                <a:r>
                  <a:rPr lang="es-ES" dirty="0"/>
                  <a:t>En la muestra combinada, los rangos de </a:t>
                </a:r>
                <a14:m>
                  <m:oMath xmlns:m="http://schemas.openxmlformats.org/officeDocument/2006/math">
                    <m:r>
                      <a:rPr lang="es-ES" i="1" dirty="0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ES" i="1" baseline="-25000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s-ES" dirty="0"/>
                  <a:t> son: 1, 2, 6, 7, 8, 9, 10</a:t>
                </a:r>
              </a:p>
            </p:txBody>
          </p:sp>
        </mc:Choice>
        <mc:Fallback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73DBB141-D65A-77B4-3ACC-71AA413487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2661" b="-980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6627DF-D761-54AA-3A97-7601E8237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900506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FF1056-E23E-EFD2-56C8-D15750831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lang="en-US" dirty="0" err="1"/>
              <a:t>Contraste</a:t>
            </a:r>
            <a:r>
              <a:rPr lang="en-US" dirty="0"/>
              <a:t> Mann-Whitney-Wilcoxon</a:t>
            </a:r>
            <a:br>
              <a:rPr lang="es-ES" dirty="0"/>
            </a:br>
            <a:r>
              <a:rPr lang="en-US" dirty="0" err="1"/>
              <a:t>Ejemplo</a:t>
            </a:r>
            <a:r>
              <a:rPr lang="en-US" dirty="0"/>
              <a:t> 10.16 (</a:t>
            </a:r>
            <a:r>
              <a:rPr lang="en-US" dirty="0" err="1"/>
              <a:t>Solución</a:t>
            </a:r>
            <a:r>
              <a:rPr lang="en-US" dirty="0"/>
              <a:t>) (II)</a:t>
            </a:r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39AB4A-1C64-C2B1-F510-B7D4751D612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Paso 1: 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s-E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  <m:r>
                      <a:rPr lang="es-ES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s-ES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s-E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: </m:t>
                        </m:r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es-ES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e>
                              <m:sub>
                                <m:r>
                                  <a:rPr lang="es-E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sub>
                      <m:sup/>
                      <m:e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s-ES" b="0" i="1" smtClean="0">
                            <a:latin typeface="Cambria Math" panose="02040503050406030204" pitchFamily="18" charset="0"/>
                          </a:rPr>
                          <m:t>=43</m:t>
                        </m:r>
                      </m:e>
                    </m:nary>
                    <m:r>
                      <a:rPr lang="es-E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	 </a:t>
                </a:r>
              </a:p>
              <a:p>
                <a:r>
                  <a:rPr lang="en-US" dirty="0"/>
                  <a:t>Paso 2: </a:t>
                </a: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</a:rPr>
                      <m:t>n</m:t>
                    </m:r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</a:rPr>
                      <m:t> =7 &lt; 10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por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tanto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se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usa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la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tabla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</a:rPr>
                      <m:t>9 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del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 b="0" i="0" smtClean="0">
                        <a:latin typeface="Cambria Math" panose="02040503050406030204" pitchFamily="18" charset="0"/>
                      </a:rPr>
                      <m:t>libro</m:t>
                    </m:r>
                  </m:oMath>
                </a14:m>
                <a:endParaRPr lang="es-ES" dirty="0">
                  <a:latin typeface="Cambria Math" panose="02040503050406030204" pitchFamily="18" charset="0"/>
                </a:endParaRPr>
              </a:p>
              <a:p>
                <a:r>
                  <a:rPr lang="en-US" dirty="0"/>
                  <a:t>Paso 3: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s-ES" i="1"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b>
                        </m:sSub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s-E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sSub>
                          <m:sSubPr>
                            <m:ctrlPr>
                              <a:rPr lang="es-E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s-ES" i="1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b>
                        </m:sSub>
                      </m:sub>
                    </m:sSub>
                    <m:r>
                      <a:rPr lang="es-ES" i="1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s-ES">
                        <a:latin typeface="Cambria Math" panose="02040503050406030204" pitchFamily="18" charset="0"/>
                      </a:rPr>
                      <m:t>valor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{</m:t>
                    </m:r>
                    <m:r>
                      <a:rPr lang="es-ES" i="1">
                        <a:latin typeface="Cambria Math" panose="02040503050406030204" pitchFamily="18" charset="0"/>
                      </a:rPr>
                      <m:t>𝑈</m:t>
                    </m:r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43</m:t>
                    </m:r>
                    <m:r>
                      <a:rPr lang="es-E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  <m:r>
                      <a:rPr lang="es-E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s-E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(0.2, 1)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Paso 4: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p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nor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valor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l-GR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s-ES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0.05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El </a:t>
                </a:r>
                <a:r>
                  <a:rPr lang="en-US" b="1" dirty="0" err="1"/>
                  <a:t>contraste</a:t>
                </a:r>
                <a:r>
                  <a:rPr lang="en-US" b="1" dirty="0"/>
                  <a:t> de Mann-Whitney-Wilcoxon no </a:t>
                </a:r>
                <a:r>
                  <a:rPr lang="en-US" b="1" dirty="0" err="1"/>
                  <a:t>puede</a:t>
                </a:r>
                <a:r>
                  <a:rPr lang="en-US" b="1" dirty="0"/>
                  <a:t> </a:t>
                </a:r>
                <a:r>
                  <a:rPr lang="en-US" b="1" dirty="0" err="1"/>
                  <a:t>rechazar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latin typeface="Cambria Math" panose="02040503050406030204" pitchFamily="18" charset="0"/>
                      </a:rPr>
                      <m:t>𝑯</m:t>
                    </m:r>
                    <m:r>
                      <a:rPr lang="en-US" b="1" i="1" baseline="-25000" dirty="0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US" dirty="0"/>
                  <a:t>, </a:t>
                </a:r>
                <a:r>
                  <a:rPr lang="en-US" dirty="0" err="1"/>
                  <a:t>por</a:t>
                </a:r>
                <a:r>
                  <a:rPr lang="en-US" dirty="0"/>
                  <a:t> lo que con </a:t>
                </a:r>
                <a:r>
                  <a:rPr lang="en-US" dirty="0" err="1"/>
                  <a:t>una</a:t>
                </a:r>
                <a:r>
                  <a:rPr lang="en-US" dirty="0"/>
                  <a:t> </a:t>
                </a:r>
                <a:r>
                  <a:rPr lang="en-US" dirty="0" err="1"/>
                  <a:t>confianza</a:t>
                </a:r>
                <a:r>
                  <a:rPr lang="en-US" dirty="0"/>
                  <a:t> del 95% no hay </a:t>
                </a:r>
                <a:r>
                  <a:rPr lang="en-US" dirty="0" err="1"/>
                  <a:t>evidencia</a:t>
                </a:r>
                <a:r>
                  <a:rPr lang="en-US" dirty="0"/>
                  <a:t> </a:t>
                </a:r>
                <a:r>
                  <a:rPr lang="en-US" dirty="0" err="1"/>
                  <a:t>significativa</a:t>
                </a:r>
                <a:r>
                  <a:rPr lang="en-US" dirty="0"/>
                  <a:t> de que los </a:t>
                </a:r>
                <a:r>
                  <a:rPr lang="en-US" dirty="0" err="1"/>
                  <a:t>ordenadores</a:t>
                </a:r>
                <a:r>
                  <a:rPr lang="en-US" dirty="0"/>
                  <a:t> del </a:t>
                </a:r>
                <a:r>
                  <a:rPr lang="en-US" dirty="0" err="1"/>
                  <a:t>fabricante</a:t>
                </a:r>
                <a:r>
                  <a:rPr lang="en-US" dirty="0"/>
                  <a:t> A </a:t>
                </a:r>
                <a:r>
                  <a:rPr lang="en-US" dirty="0" err="1"/>
                  <a:t>sean</a:t>
                </a:r>
                <a:r>
                  <a:rPr lang="en-US" dirty="0"/>
                  <a:t> </a:t>
                </a:r>
                <a:r>
                  <a:rPr lang="en-US" dirty="0" err="1"/>
                  <a:t>más</a:t>
                </a:r>
                <a:r>
                  <a:rPr lang="en-US" dirty="0"/>
                  <a:t> </a:t>
                </a:r>
                <a:r>
                  <a:rPr lang="en-US" dirty="0" err="1"/>
                  <a:t>rápidos</a:t>
                </a:r>
                <a:endParaRPr lang="es-ES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E839AB4A-1C64-C2B1-F510-B7D4751D612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6162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DC8F198-F416-AFCD-924E-644495E94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28103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A7965B-5291-679F-D77A-E98F56C1C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6. </a:t>
            </a:r>
            <a:r>
              <a:rPr lang="en-US" dirty="0" err="1"/>
              <a:t>Contraste</a:t>
            </a:r>
            <a:r>
              <a:rPr lang="en-US" dirty="0"/>
              <a:t> de Mann-Whitney-Wilcoxon</a:t>
            </a:r>
            <a:br>
              <a:rPr lang="es-ES" dirty="0"/>
            </a:br>
            <a:r>
              <a:rPr lang="es-ES" dirty="0"/>
              <a:t>Ejemplos reales (artículos)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8BBA23-82CF-F068-9278-1A4731ADE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dirty="0"/>
              <a:t>Informática:</a:t>
            </a:r>
          </a:p>
          <a:p>
            <a:pPr lvl="1"/>
            <a:r>
              <a:rPr lang="es-ES" dirty="0"/>
              <a:t>Ordoñez-Briceño, K., et al. (2024). </a:t>
            </a:r>
            <a:r>
              <a:rPr lang="es-ES" dirty="0">
                <a:hlinkClick r:id="rId2"/>
              </a:rPr>
              <a:t>UML </a:t>
            </a:r>
            <a:r>
              <a:rPr lang="es-ES" dirty="0" err="1">
                <a:hlinkClick r:id="rId2"/>
              </a:rPr>
              <a:t>Profile</a:t>
            </a:r>
            <a:r>
              <a:rPr lang="es-ES" dirty="0">
                <a:hlinkClick r:id="rId2"/>
              </a:rPr>
              <a:t> </a:t>
            </a:r>
            <a:r>
              <a:rPr lang="es-ES" dirty="0" err="1">
                <a:hlinkClick r:id="rId2"/>
              </a:rPr>
              <a:t>to</a:t>
            </a:r>
            <a:r>
              <a:rPr lang="es-ES" dirty="0">
                <a:hlinkClick r:id="rId2"/>
              </a:rPr>
              <a:t> </a:t>
            </a:r>
            <a:r>
              <a:rPr lang="es-ES" dirty="0" err="1">
                <a:hlinkClick r:id="rId2"/>
              </a:rPr>
              <a:t>Model</a:t>
            </a:r>
            <a:r>
              <a:rPr lang="es-ES" dirty="0">
                <a:hlinkClick r:id="rId2"/>
              </a:rPr>
              <a:t> </a:t>
            </a:r>
            <a:r>
              <a:rPr lang="es-ES" dirty="0" err="1">
                <a:hlinkClick r:id="rId2"/>
              </a:rPr>
              <a:t>Accessible</a:t>
            </a:r>
            <a:r>
              <a:rPr lang="es-ES" dirty="0">
                <a:hlinkClick r:id="rId2"/>
              </a:rPr>
              <a:t> Web Pages</a:t>
            </a:r>
            <a:r>
              <a:rPr lang="es-ES" dirty="0"/>
              <a:t>. IEEE Access, 12, 77181-77213.</a:t>
            </a:r>
          </a:p>
          <a:p>
            <a:pPr lvl="1"/>
            <a:r>
              <a:rPr lang="es-ES" dirty="0" err="1"/>
              <a:t>Daoudi</a:t>
            </a:r>
            <a:r>
              <a:rPr lang="es-ES" dirty="0"/>
              <a:t>, N., et al. (2022). </a:t>
            </a:r>
            <a:r>
              <a:rPr lang="es-ES" dirty="0">
                <a:hlinkClick r:id="rId3"/>
              </a:rPr>
              <a:t>A </a:t>
            </a:r>
            <a:r>
              <a:rPr lang="es-ES" dirty="0" err="1">
                <a:hlinkClick r:id="rId3"/>
              </a:rPr>
              <a:t>deep</a:t>
            </a:r>
            <a:r>
              <a:rPr lang="es-ES" dirty="0">
                <a:hlinkClick r:id="rId3"/>
              </a:rPr>
              <a:t> dive </a:t>
            </a:r>
            <a:r>
              <a:rPr lang="es-ES" dirty="0" err="1">
                <a:hlinkClick r:id="rId3"/>
              </a:rPr>
              <a:t>inside</a:t>
            </a:r>
            <a:r>
              <a:rPr lang="es-ES" dirty="0">
                <a:hlinkClick r:id="rId3"/>
              </a:rPr>
              <a:t> </a:t>
            </a:r>
            <a:r>
              <a:rPr lang="es-ES" dirty="0" err="1">
                <a:hlinkClick r:id="rId3"/>
              </a:rPr>
              <a:t>drebin</a:t>
            </a:r>
            <a:r>
              <a:rPr lang="es-ES" dirty="0">
                <a:hlinkClick r:id="rId3"/>
              </a:rPr>
              <a:t>: </a:t>
            </a:r>
            <a:r>
              <a:rPr lang="es-ES" dirty="0" err="1">
                <a:hlinkClick r:id="rId3"/>
              </a:rPr>
              <a:t>an</a:t>
            </a:r>
            <a:r>
              <a:rPr lang="es-ES" dirty="0">
                <a:hlinkClick r:id="rId3"/>
              </a:rPr>
              <a:t> </a:t>
            </a:r>
            <a:r>
              <a:rPr lang="es-ES" dirty="0" err="1">
                <a:hlinkClick r:id="rId3"/>
              </a:rPr>
              <a:t>explorative</a:t>
            </a:r>
            <a:r>
              <a:rPr lang="es-ES" dirty="0">
                <a:hlinkClick r:id="rId3"/>
              </a:rPr>
              <a:t> </a:t>
            </a:r>
            <a:r>
              <a:rPr lang="es-ES" dirty="0" err="1">
                <a:hlinkClick r:id="rId3"/>
              </a:rPr>
              <a:t>analysis</a:t>
            </a:r>
            <a:r>
              <a:rPr lang="es-ES" dirty="0">
                <a:hlinkClick r:id="rId3"/>
              </a:rPr>
              <a:t> </a:t>
            </a:r>
            <a:r>
              <a:rPr lang="es-ES" dirty="0" err="1">
                <a:hlinkClick r:id="rId3"/>
              </a:rPr>
              <a:t>beyond</a:t>
            </a:r>
            <a:r>
              <a:rPr lang="es-ES" dirty="0">
                <a:hlinkClick r:id="rId3"/>
              </a:rPr>
              <a:t> </a:t>
            </a:r>
            <a:r>
              <a:rPr lang="es-ES" dirty="0" err="1">
                <a:hlinkClick r:id="rId3"/>
              </a:rPr>
              <a:t>android</a:t>
            </a:r>
            <a:r>
              <a:rPr lang="es-ES" dirty="0">
                <a:hlinkClick r:id="rId3"/>
              </a:rPr>
              <a:t> malware </a:t>
            </a:r>
            <a:r>
              <a:rPr lang="es-ES" dirty="0" err="1">
                <a:hlinkClick r:id="rId3"/>
              </a:rPr>
              <a:t>detection</a:t>
            </a:r>
            <a:r>
              <a:rPr lang="es-ES" dirty="0">
                <a:hlinkClick r:id="rId3"/>
              </a:rPr>
              <a:t> scores</a:t>
            </a:r>
            <a:r>
              <a:rPr lang="es-ES" dirty="0"/>
              <a:t>. ACM </a:t>
            </a:r>
            <a:r>
              <a:rPr lang="es-ES" dirty="0" err="1"/>
              <a:t>Transactions</a:t>
            </a:r>
            <a:r>
              <a:rPr lang="es-ES" dirty="0"/>
              <a:t> </a:t>
            </a:r>
            <a:r>
              <a:rPr lang="es-ES" dirty="0" err="1"/>
              <a:t>on</a:t>
            </a:r>
            <a:r>
              <a:rPr lang="es-ES" dirty="0"/>
              <a:t> </a:t>
            </a:r>
            <a:r>
              <a:rPr lang="es-ES" dirty="0" err="1"/>
              <a:t>Privacy</a:t>
            </a:r>
            <a:r>
              <a:rPr lang="es-ES" dirty="0"/>
              <a:t> and Security, 25(2), 1-28.</a:t>
            </a:r>
          </a:p>
          <a:p>
            <a:r>
              <a:rPr lang="es-ES" dirty="0"/>
              <a:t>Economía:</a:t>
            </a:r>
          </a:p>
          <a:p>
            <a:pPr lvl="1"/>
            <a:r>
              <a:rPr lang="es-ES" dirty="0" err="1"/>
              <a:t>Lekshmi</a:t>
            </a:r>
            <a:r>
              <a:rPr lang="es-ES" dirty="0"/>
              <a:t>, P., et al. (2022). </a:t>
            </a:r>
            <a:r>
              <a:rPr lang="es-ES" dirty="0">
                <a:hlinkClick r:id="rId4"/>
              </a:rPr>
              <a:t>Gender and </a:t>
            </a:r>
            <a:r>
              <a:rPr lang="es-ES" dirty="0" err="1">
                <a:hlinkClick r:id="rId4"/>
              </a:rPr>
              <a:t>small-scale</a:t>
            </a:r>
            <a:r>
              <a:rPr lang="es-ES" dirty="0">
                <a:hlinkClick r:id="rId4"/>
              </a:rPr>
              <a:t> </a:t>
            </a:r>
            <a:r>
              <a:rPr lang="es-ES" dirty="0" err="1">
                <a:hlinkClick r:id="rId4"/>
              </a:rPr>
              <a:t>fisheries</a:t>
            </a:r>
            <a:r>
              <a:rPr lang="es-ES" dirty="0">
                <a:hlinkClick r:id="rId4"/>
              </a:rPr>
              <a:t>: </a:t>
            </a:r>
            <a:r>
              <a:rPr lang="es-ES" dirty="0" err="1">
                <a:hlinkClick r:id="rId4"/>
              </a:rPr>
              <a:t>Contribution</a:t>
            </a:r>
            <a:r>
              <a:rPr lang="es-ES" dirty="0">
                <a:hlinkClick r:id="rId4"/>
              </a:rPr>
              <a:t> </a:t>
            </a:r>
            <a:r>
              <a:rPr lang="es-ES" dirty="0" err="1">
                <a:hlinkClick r:id="rId4"/>
              </a:rPr>
              <a:t>to</a:t>
            </a:r>
            <a:r>
              <a:rPr lang="es-ES" dirty="0">
                <a:hlinkClick r:id="rId4"/>
              </a:rPr>
              <a:t> </a:t>
            </a:r>
            <a:r>
              <a:rPr lang="es-ES" dirty="0" err="1">
                <a:hlinkClick r:id="rId4"/>
              </a:rPr>
              <a:t>livelihood</a:t>
            </a:r>
            <a:r>
              <a:rPr lang="es-ES" dirty="0">
                <a:hlinkClick r:id="rId4"/>
              </a:rPr>
              <a:t> and local </a:t>
            </a:r>
            <a:r>
              <a:rPr lang="es-ES" dirty="0" err="1">
                <a:hlinkClick r:id="rId4"/>
              </a:rPr>
              <a:t>economies</a:t>
            </a:r>
            <a:r>
              <a:rPr lang="es-ES" dirty="0"/>
              <a:t>. Marine </a:t>
            </a:r>
            <a:r>
              <a:rPr lang="es-ES" dirty="0" err="1"/>
              <a:t>Policy</a:t>
            </a:r>
            <a:r>
              <a:rPr lang="es-ES" dirty="0"/>
              <a:t>, 136, 104913.</a:t>
            </a:r>
          </a:p>
          <a:p>
            <a:r>
              <a:rPr lang="es-ES" dirty="0"/>
              <a:t>Geología:</a:t>
            </a:r>
          </a:p>
          <a:p>
            <a:pPr lvl="1"/>
            <a:r>
              <a:rPr lang="en-US" dirty="0" err="1"/>
              <a:t>Alruzuq</a:t>
            </a:r>
            <a:r>
              <a:rPr lang="en-US" dirty="0"/>
              <a:t>, A., et al. (2023). </a:t>
            </a:r>
            <a:r>
              <a:rPr lang="en-US" dirty="0">
                <a:hlinkClick r:id="rId5"/>
              </a:rPr>
              <a:t>Socio-hydrology and vulnerability of levee systems along the lower Illinois River</a:t>
            </a:r>
            <a:r>
              <a:rPr lang="en-US" dirty="0"/>
              <a:t>. Annals of GIS, 1-19.</a:t>
            </a:r>
          </a:p>
          <a:p>
            <a:r>
              <a:rPr lang="en-US" dirty="0" err="1"/>
              <a:t>Medicina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Amawi</a:t>
            </a:r>
            <a:r>
              <a:rPr lang="en-US" dirty="0"/>
              <a:t>, R., et al. (2022). </a:t>
            </a:r>
            <a:r>
              <a:rPr lang="en-US" dirty="0">
                <a:hlinkClick r:id="rId6"/>
              </a:rPr>
              <a:t>Effects of pill colors on human perception and expectation of drugs' efficacy</a:t>
            </a:r>
            <a:r>
              <a:rPr lang="en-US" dirty="0"/>
              <a:t>. Color Research &amp; Application, 47(5), 1200-1215.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BDCB2A7-B795-8150-C79D-8EAC22230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235695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61FE9-C3AE-6FC7-C4A9-C1FF0B2C6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</a:t>
            </a:r>
            <a:r>
              <a:rPr lang="en-US" dirty="0" err="1"/>
              <a:t>Contraste</a:t>
            </a:r>
            <a:r>
              <a:rPr lang="en-US" dirty="0"/>
              <a:t> de Mann-Whitney-Wilcoxon</a:t>
            </a:r>
            <a:br>
              <a:rPr lang="es-ES" dirty="0"/>
            </a:br>
            <a:r>
              <a:rPr lang="es-ES" dirty="0"/>
              <a:t>Ejercicios propuestos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D761F8-90FE-5A56-8924-772DAE4E6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Ejercicios</a:t>
            </a:r>
            <a:r>
              <a:rPr lang="en-US" dirty="0"/>
              <a:t> 10.20 a 10.25 del </a:t>
            </a:r>
            <a:r>
              <a:rPr lang="en-US" dirty="0" err="1"/>
              <a:t>libro</a:t>
            </a:r>
            <a:endParaRPr lang="en-US" dirty="0"/>
          </a:p>
          <a:p>
            <a:pPr lvl="1"/>
            <a:r>
              <a:rPr lang="en-US" dirty="0"/>
              <a:t>Las </a:t>
            </a:r>
            <a:r>
              <a:rPr lang="en-US" dirty="0" err="1"/>
              <a:t>respuestas</a:t>
            </a:r>
            <a:r>
              <a:rPr lang="en-US" dirty="0"/>
              <a:t> de 10.21, 10.23 y 10.25 </a:t>
            </a:r>
            <a:r>
              <a:rPr lang="en-US" dirty="0" err="1"/>
              <a:t>están</a:t>
            </a:r>
            <a:r>
              <a:rPr lang="en-US" dirty="0"/>
              <a:t> en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libro</a:t>
            </a:r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EA86158-512B-60EF-6886-59F4BFB08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t>46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50091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C31602-0173-86DB-1B87-31E0298D1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7. Resumen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C24067-56F0-60D2-7DCF-60718F0077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s-ES" dirty="0"/>
              <a:t>Un contraste de hipótesis no paramétrico se aplica cuando no hay evidencias de que los datos de una población tengan una distribución Normal</a:t>
            </a: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strike="noStrike" spc="-1" dirty="0">
                <a:solidFill>
                  <a:srgbClr val="000000"/>
                </a:solidFill>
                <a:latin typeface="Calibri"/>
              </a:rPr>
              <a:t>También se utilizan cuando la muestra es pequeña, e incluso cuando los datos no son numéricos</a:t>
            </a: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pc="-1" dirty="0">
                <a:solidFill>
                  <a:srgbClr val="000000"/>
                </a:solidFill>
                <a:latin typeface="Calibri"/>
              </a:rPr>
              <a:t>Dos posibles </a:t>
            </a:r>
            <a:r>
              <a:rPr lang="es-ES" sz="2800" b="0" strike="noStrike" spc="-1" dirty="0">
                <a:solidFill>
                  <a:srgbClr val="000000"/>
                </a:solidFill>
                <a:latin typeface="Calibri"/>
              </a:rPr>
              <a:t>contrastes no paramétricos para una muestra</a:t>
            </a:r>
            <a:r>
              <a:rPr lang="es-ES" spc="-1" dirty="0">
                <a:solidFill>
                  <a:srgbClr val="000000"/>
                </a:solidFill>
                <a:latin typeface="Calibri"/>
              </a:rPr>
              <a:t> </a:t>
            </a:r>
            <a:r>
              <a:rPr lang="es-ES" sz="2800" b="0" strike="noStrike" spc="-1" dirty="0">
                <a:solidFill>
                  <a:srgbClr val="000000"/>
                </a:solidFill>
                <a:latin typeface="Calibri"/>
              </a:rPr>
              <a:t>son</a:t>
            </a:r>
            <a:r>
              <a:rPr lang="es-ES" spc="-1" dirty="0">
                <a:solidFill>
                  <a:srgbClr val="000000"/>
                </a:solidFill>
                <a:latin typeface="Calibri"/>
              </a:rPr>
              <a:t> el de</a:t>
            </a:r>
            <a:r>
              <a:rPr lang="es-ES" sz="2800" b="0" strike="noStrike" spc="-1" dirty="0">
                <a:solidFill>
                  <a:srgbClr val="000000"/>
                </a:solidFill>
                <a:latin typeface="Calibri"/>
              </a:rPr>
              <a:t> signos y el de rangos con signo de Wilcoxon</a:t>
            </a: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pc="-1" dirty="0">
                <a:solidFill>
                  <a:srgbClr val="000000"/>
                </a:solidFill>
                <a:latin typeface="Calibri"/>
              </a:rPr>
              <a:t>El contraste </a:t>
            </a:r>
            <a:r>
              <a:rPr lang="es-ES" sz="2800" b="0" strike="noStrike" spc="-1" dirty="0">
                <a:solidFill>
                  <a:srgbClr val="000000"/>
                </a:solidFill>
                <a:latin typeface="Calibri"/>
              </a:rPr>
              <a:t>de rangos con signo de Wilcoxon también se aplica en el caso de dos muestras pareadas</a:t>
            </a: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strike="noStrike" spc="-1" dirty="0">
                <a:solidFill>
                  <a:srgbClr val="000000"/>
                </a:solidFill>
                <a:latin typeface="Calibri"/>
              </a:rPr>
              <a:t>Para dos muestras independientes se puede usar el contraste de la suma de rangos de Mann-Whitney-Wilcoxon</a:t>
            </a:r>
          </a:p>
          <a:p>
            <a:endParaRPr lang="en-U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88EA456-A29C-8A97-B441-9F7D407B7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6CAFD0-1F6E-4E11-9822-836563A02839}" type="slidenum">
              <a:rPr lang="es-ES" smtClean="0"/>
              <a:pPr/>
              <a:t>47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4700337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6527</TotalTime>
  <Words>5806</Words>
  <Application>Microsoft Office PowerPoint</Application>
  <PresentationFormat>Panorámica</PresentationFormat>
  <Paragraphs>615</Paragraphs>
  <Slides>47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47</vt:i4>
      </vt:variant>
    </vt:vector>
  </HeadingPairs>
  <TitlesOfParts>
    <vt:vector size="53" baseType="lpstr">
      <vt:lpstr>Arial</vt:lpstr>
      <vt:lpstr>Calibri</vt:lpstr>
      <vt:lpstr>Calibri Light</vt:lpstr>
      <vt:lpstr>Cambria Math</vt:lpstr>
      <vt:lpstr>Wingdings</vt:lpstr>
      <vt:lpstr>Tema de Office</vt:lpstr>
      <vt:lpstr>Contrastes de hipótesis no paramétricos</vt:lpstr>
      <vt:lpstr>Contenido</vt:lpstr>
      <vt:lpstr>1. Objetivos</vt:lpstr>
      <vt:lpstr>2. Introducción</vt:lpstr>
      <vt:lpstr>2. Introducción Tipos de contrastes no paramétricos </vt:lpstr>
      <vt:lpstr>3. Contraste de signos para la mediana poblacional</vt:lpstr>
      <vt:lpstr>3. Contraste de signos Datos considerados como signos</vt:lpstr>
      <vt:lpstr>3. Contraste de signos Procedimiento</vt:lpstr>
      <vt:lpstr>3. Contraste de signos Ejemplo 10.9 (Uso sin autorización de una cuenta)</vt:lpstr>
      <vt:lpstr>3. Contraste de signos Ejemplo 10.9 (Solución) (I)</vt:lpstr>
      <vt:lpstr>3. Contraste de signos Ejemplo 10.9 (Solución) (II)</vt:lpstr>
      <vt:lpstr>3. Contraste de signos Ejemplo 10.10 (Exceso de velocidad)</vt:lpstr>
      <vt:lpstr>3. Contraste de signos Ejemplo 10.10 (Solución) (I)</vt:lpstr>
      <vt:lpstr>3. Contraste de signos Ejemplo 10.10 (Solución) (II)</vt:lpstr>
      <vt:lpstr>3. Contraste de signos Ejercicios propuestos</vt:lpstr>
      <vt:lpstr>4. Contraste de rangos con signo de Wilcoxon para la mediana poblacional</vt:lpstr>
      <vt:lpstr>4. Contraste de rangos con signo de Wilcoxon Datos considerados como signos</vt:lpstr>
      <vt:lpstr>4. Contraste de rangos con signo de Wilcoxon Procedimiento</vt:lpstr>
      <vt:lpstr>4. Contraste de rangos con signo de Wilcoxon Ejemplo 10.12 (Oferta y demanda)</vt:lpstr>
      <vt:lpstr>4. Contraste de rangos con signo de Wilcoxon Ejemplo 10.12 (Solución) (I)</vt:lpstr>
      <vt:lpstr>4. Contraste de rangos con signo de Wilcoxon Ejemplo 10.12 (Solución) (II)</vt:lpstr>
      <vt:lpstr>4. Contraste de rangos con signo de Wilcoxon Ejemplo 10.12 (Solución) (III)</vt:lpstr>
      <vt:lpstr>4. Contraste de rangos con signo de Wilcoxon Ejemplo 10.13 (Uso no autorizado de una cuenta)</vt:lpstr>
      <vt:lpstr>4. Contraste de rangos con signo de Wilcoxon Ejemplo 10.13 (Solución) (I)</vt:lpstr>
      <vt:lpstr>4. Contraste de rangos con signo de Wilcoxon Ejemplo 10.13 (Solución) (II)</vt:lpstr>
      <vt:lpstr>4. Contraste de rangos con signo de Wilcoxon Ejercicios propuestos</vt:lpstr>
      <vt:lpstr>5. Contraste de rangos con signo de Wilcoxon para la diferencia de dos medianas poblacionales</vt:lpstr>
      <vt:lpstr>5. Contraste de rangos con signo de Wilcoxon para datos pareados. Ejemplo (Pesos)</vt:lpstr>
      <vt:lpstr>5. Contraste de rangos con signo de Wilcoxon para datos pareados. Ejemplo (Pesos) (Solución) (I)</vt:lpstr>
      <vt:lpstr>5. Contraste de rangos con signo de Wilcoxon para datos pareados. Ejemplo (Solución) (II)</vt:lpstr>
      <vt:lpstr>5. Contraste de rangos con signo de Wilcoxon para datos pareados. Ejemplo (Solución) (III)</vt:lpstr>
      <vt:lpstr>5. Contraste de rangos con signo de Wilcoxon para datos pareados. Ejemplos reales (Artículos)</vt:lpstr>
      <vt:lpstr>6. Contraste de la suma de rangos con signo de Mann-Whitney-Wilcoxon para la diferencia de dos medianas poblacionales</vt:lpstr>
      <vt:lpstr>6. Contraste de Mann-Whitney-Wilcoxon Hipótesis alternativa</vt:lpstr>
      <vt:lpstr>6. Contraste de Mann-Whitney-Wilcoxon Procedimiento</vt:lpstr>
      <vt:lpstr>6. Contraste de Mann-Whitney-Wilcoxon Ejemplo 10.14 (Incentivos en compras)</vt:lpstr>
      <vt:lpstr>6. Contraste de Mann-Whitney-Wilcoxon Ejemplo 10.14 (Solución) (I)</vt:lpstr>
      <vt:lpstr>6. Contraste de Mann-Whitney-Wilcoxon Ejemplo 10.14 (Solución) (II)</vt:lpstr>
      <vt:lpstr>6. Contraste de Mann-Whitney-Wilcoxon Ejemplo 10.15 (Pings)</vt:lpstr>
      <vt:lpstr>6. Contraste Mann-Whitney-Wilcoxon Ejemplo 10.15 (Solución) (I)</vt:lpstr>
      <vt:lpstr>6. Contraste Mann-Whitney-Wilcoxon Ejemplo 10.15 (Solución) (II)</vt:lpstr>
      <vt:lpstr>6. Contraste de Mann-Whitney-Wilcoxon Ejemplo 10.16 (Competición)</vt:lpstr>
      <vt:lpstr>6. Contraste Mann-Whitney-Wilcoxon Ejemplo 10.16 (Solution) (I)</vt:lpstr>
      <vt:lpstr>6. Contraste Mann-Whitney-Wilcoxon Ejemplo 10.16 (Solución) (II)</vt:lpstr>
      <vt:lpstr>6. Contraste de Mann-Whitney-Wilcoxon Ejemplos reales (artículos)</vt:lpstr>
      <vt:lpstr>6. Contraste de Mann-Whitney-Wilcoxon Ejercicios propuestos</vt:lpstr>
      <vt:lpstr>7. Resumen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Contrastes no paramétricos</dc:title>
  <dc:creator>Hilera González José Ramón</dc:creator>
  <cp:lastModifiedBy>jose hilera</cp:lastModifiedBy>
  <cp:revision>132</cp:revision>
  <dcterms:created xsi:type="dcterms:W3CDTF">2022-12-26T19:51:11Z</dcterms:created>
  <dcterms:modified xsi:type="dcterms:W3CDTF">2024-11-26T16:08:05Z</dcterms:modified>
</cp:coreProperties>
</file>