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4"/>
  </p:notesMasterIdLst>
  <p:sldIdLst>
    <p:sldId id="256" r:id="rId2"/>
    <p:sldId id="257" r:id="rId3"/>
    <p:sldId id="407" r:id="rId4"/>
    <p:sldId id="281" r:id="rId5"/>
    <p:sldId id="276" r:id="rId6"/>
    <p:sldId id="408" r:id="rId7"/>
    <p:sldId id="428" r:id="rId8"/>
    <p:sldId id="429" r:id="rId9"/>
    <p:sldId id="427" r:id="rId10"/>
    <p:sldId id="409" r:id="rId11"/>
    <p:sldId id="410" r:id="rId12"/>
    <p:sldId id="411" r:id="rId13"/>
    <p:sldId id="430" r:id="rId14"/>
    <p:sldId id="412" r:id="rId15"/>
    <p:sldId id="413" r:id="rId16"/>
    <p:sldId id="422" r:id="rId17"/>
    <p:sldId id="420" r:id="rId18"/>
    <p:sldId id="401" r:id="rId19"/>
    <p:sldId id="423" r:id="rId20"/>
    <p:sldId id="431" r:id="rId21"/>
    <p:sldId id="432" r:id="rId22"/>
    <p:sldId id="433" r:id="rId23"/>
    <p:sldId id="434" r:id="rId24"/>
    <p:sldId id="437" r:id="rId25"/>
    <p:sldId id="435" r:id="rId26"/>
    <p:sldId id="438" r:id="rId27"/>
    <p:sldId id="436" r:id="rId28"/>
    <p:sldId id="406" r:id="rId29"/>
    <p:sldId id="421" r:id="rId30"/>
    <p:sldId id="425" r:id="rId31"/>
    <p:sldId id="388" r:id="rId32"/>
    <p:sldId id="426" r:id="rId3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61" autoAdjust="0"/>
    <p:restoredTop sz="94809" autoAdjust="0"/>
  </p:normalViewPr>
  <p:slideViewPr>
    <p:cSldViewPr snapToGrid="0">
      <p:cViewPr varScale="1">
        <p:scale>
          <a:sx n="69" d="100"/>
          <a:sy n="69" d="100"/>
        </p:scale>
        <p:origin x="96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6993FA-F4EB-4F5C-AC0E-D19D76C7FE18}" type="datetimeFigureOut">
              <a:rPr lang="es-ES" smtClean="0"/>
              <a:t>03/12/2024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7C101-15E4-4D70-A114-C89E83A709C8}" type="slidenum">
              <a:rPr lang="es-ES" smtClean="0"/>
              <a:t>‹Nº›</a:t>
            </a:fld>
            <a:endParaRPr lang="es-ES"/>
          </a:p>
        </p:txBody>
      </p:sp>
    </p:spTree>
    <p:extLst>
      <p:ext uri="{BB962C8B-B14F-4D97-AF65-F5344CB8AC3E}">
        <p14:creationId xmlns:p14="http://schemas.microsoft.com/office/powerpoint/2010/main" val="541435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3B7C101-15E4-4D70-A114-C89E83A709C8}" type="slidenum">
              <a:rPr lang="es-ES" smtClean="0"/>
              <a:t>23</a:t>
            </a:fld>
            <a:endParaRPr lang="es-ES"/>
          </a:p>
        </p:txBody>
      </p:sp>
    </p:spTree>
    <p:extLst>
      <p:ext uri="{BB962C8B-B14F-4D97-AF65-F5344CB8AC3E}">
        <p14:creationId xmlns:p14="http://schemas.microsoft.com/office/powerpoint/2010/main" val="2217215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70737A-30E0-41A2-B461-25A548C913B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EBE166C-5633-4873-B852-3A4F5546FE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9639014F-1DFE-4927-921F-4E53CB687F37}"/>
              </a:ext>
            </a:extLst>
          </p:cNvPr>
          <p:cNvSpPr>
            <a:spLocks noGrp="1"/>
          </p:cNvSpPr>
          <p:nvPr>
            <p:ph type="dt" sz="half" idx="10"/>
          </p:nvPr>
        </p:nvSpPr>
        <p:spPr/>
        <p:txBody>
          <a:bodyPr/>
          <a:lstStyle/>
          <a:p>
            <a:fld id="{CFE85FDD-93E9-4DED-94FB-E13CBFB13D77}" type="datetime1">
              <a:rPr lang="es-ES" smtClean="0"/>
              <a:t>03/12/2024</a:t>
            </a:fld>
            <a:endParaRPr lang="es-ES"/>
          </a:p>
        </p:txBody>
      </p:sp>
      <p:sp>
        <p:nvSpPr>
          <p:cNvPr id="5" name="Marcador de pie de página 4">
            <a:extLst>
              <a:ext uri="{FF2B5EF4-FFF2-40B4-BE49-F238E27FC236}">
                <a16:creationId xmlns:a16="http://schemas.microsoft.com/office/drawing/2014/main" id="{703D05DA-9B6F-44F8-A333-ABA84FFE477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B41CCAC-F1C7-439D-A1C6-148B192BEE2C}"/>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48829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E16EB7-D1A7-4CEF-B7B0-D69F5E52A25D}"/>
              </a:ext>
            </a:extLst>
          </p:cNvPr>
          <p:cNvSpPr>
            <a:spLocks noGrp="1"/>
          </p:cNvSpPr>
          <p:nvPr>
            <p:ph type="title"/>
          </p:nvPr>
        </p:nvSpPr>
        <p:spPr>
          <a:ln>
            <a:solidFill>
              <a:schemeClr val="tx1"/>
            </a:solidFill>
          </a:ln>
        </p:spPr>
        <p:txBody>
          <a:bodyPr/>
          <a:lstStyle/>
          <a:p>
            <a:r>
              <a:rPr lang="es-ES" dirty="0"/>
              <a:t>Haga clic para modificar el estilo de título del patrón</a:t>
            </a:r>
          </a:p>
        </p:txBody>
      </p:sp>
      <p:sp>
        <p:nvSpPr>
          <p:cNvPr id="3" name="Marcador de contenido 2">
            <a:extLst>
              <a:ext uri="{FF2B5EF4-FFF2-40B4-BE49-F238E27FC236}">
                <a16:creationId xmlns:a16="http://schemas.microsoft.com/office/drawing/2014/main" id="{2B2099EC-4D79-4FBE-A0F3-85058A8B991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19089A4-937F-4BD1-809E-44AE307B15D7}"/>
              </a:ext>
            </a:extLst>
          </p:cNvPr>
          <p:cNvSpPr>
            <a:spLocks noGrp="1"/>
          </p:cNvSpPr>
          <p:nvPr>
            <p:ph type="dt" sz="half" idx="10"/>
          </p:nvPr>
        </p:nvSpPr>
        <p:spPr/>
        <p:txBody>
          <a:bodyPr/>
          <a:lstStyle/>
          <a:p>
            <a:fld id="{3530566B-D29A-48B5-AE66-02FE67909A5D}" type="datetime1">
              <a:rPr lang="es-ES" smtClean="0"/>
              <a:t>03/12/2024</a:t>
            </a:fld>
            <a:endParaRPr lang="es-ES"/>
          </a:p>
        </p:txBody>
      </p:sp>
      <p:sp>
        <p:nvSpPr>
          <p:cNvPr id="5" name="Marcador de pie de página 4">
            <a:extLst>
              <a:ext uri="{FF2B5EF4-FFF2-40B4-BE49-F238E27FC236}">
                <a16:creationId xmlns:a16="http://schemas.microsoft.com/office/drawing/2014/main" id="{3A626FFB-669E-4FEF-AAF4-FCBE8D20498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B3302B3-AB25-45B7-A138-5DD3F6FD07BE}"/>
              </a:ext>
            </a:extLst>
          </p:cNvPr>
          <p:cNvSpPr>
            <a:spLocks noGrp="1"/>
          </p:cNvSpPr>
          <p:nvPr>
            <p:ph type="sldNum" sz="quarter" idx="12"/>
          </p:nvPr>
        </p:nvSpPr>
        <p:spPr/>
        <p:txBody>
          <a:bodyPr/>
          <a:lstStyle>
            <a:lvl1pPr>
              <a:defRPr sz="1600"/>
            </a:lvl1pPr>
          </a:lstStyle>
          <a:p>
            <a:fld id="{336CAFD0-1F6E-4E11-9822-836563A02839}" type="slidenum">
              <a:rPr lang="es-ES" smtClean="0"/>
              <a:pPr/>
              <a:t>‹Nº›</a:t>
            </a:fld>
            <a:endParaRPr lang="es-ES" dirty="0"/>
          </a:p>
        </p:txBody>
      </p:sp>
    </p:spTree>
    <p:extLst>
      <p:ext uri="{BB962C8B-B14F-4D97-AF65-F5344CB8AC3E}">
        <p14:creationId xmlns:p14="http://schemas.microsoft.com/office/powerpoint/2010/main" val="1232818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DBB67B-96F2-4E3B-AD4B-986D490B90D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CA24320-D7DC-4240-B4DF-339532FE9C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42E11C2-AD04-4ED6-82A4-3FD71B6FB041}"/>
              </a:ext>
            </a:extLst>
          </p:cNvPr>
          <p:cNvSpPr>
            <a:spLocks noGrp="1"/>
          </p:cNvSpPr>
          <p:nvPr>
            <p:ph type="dt" sz="half" idx="10"/>
          </p:nvPr>
        </p:nvSpPr>
        <p:spPr/>
        <p:txBody>
          <a:bodyPr/>
          <a:lstStyle/>
          <a:p>
            <a:fld id="{690E50F2-204D-422E-A62C-8A2A95FE0EA0}" type="datetime1">
              <a:rPr lang="es-ES" smtClean="0"/>
              <a:t>03/12/2024</a:t>
            </a:fld>
            <a:endParaRPr lang="es-ES"/>
          </a:p>
        </p:txBody>
      </p:sp>
      <p:sp>
        <p:nvSpPr>
          <p:cNvPr id="5" name="Marcador de pie de página 4">
            <a:extLst>
              <a:ext uri="{FF2B5EF4-FFF2-40B4-BE49-F238E27FC236}">
                <a16:creationId xmlns:a16="http://schemas.microsoft.com/office/drawing/2014/main" id="{0E0448CB-E41F-4F50-8E08-202E8756D23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04FAE15-CF45-4AED-8356-CE6C9EE83A17}"/>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880938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0246AD-7BE6-483F-96A3-541DAD4B8C9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A3C3E4F-C907-4C22-B083-DDF5EDF27FF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265065CB-41D1-4202-A34D-7BB99EB785E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6FAE56AF-AE89-4D7B-A003-4931E6EA89F0}"/>
              </a:ext>
            </a:extLst>
          </p:cNvPr>
          <p:cNvSpPr>
            <a:spLocks noGrp="1"/>
          </p:cNvSpPr>
          <p:nvPr>
            <p:ph type="dt" sz="half" idx="10"/>
          </p:nvPr>
        </p:nvSpPr>
        <p:spPr/>
        <p:txBody>
          <a:bodyPr/>
          <a:lstStyle/>
          <a:p>
            <a:fld id="{39F0192F-D937-48F6-B938-D4FF2285D339}" type="datetime1">
              <a:rPr lang="es-ES" smtClean="0"/>
              <a:t>03/12/2024</a:t>
            </a:fld>
            <a:endParaRPr lang="es-ES"/>
          </a:p>
        </p:txBody>
      </p:sp>
      <p:sp>
        <p:nvSpPr>
          <p:cNvPr id="6" name="Marcador de pie de página 5">
            <a:extLst>
              <a:ext uri="{FF2B5EF4-FFF2-40B4-BE49-F238E27FC236}">
                <a16:creationId xmlns:a16="http://schemas.microsoft.com/office/drawing/2014/main" id="{EAF7D8F9-491C-4103-A8F2-5F9F0FA5D70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F04D832-55CC-4538-B057-CA9881D9ABC9}"/>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053882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8EF558-0175-4BD0-979F-D483F1A0D868}"/>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974E40B-3DF7-44C5-860B-A36DE85FED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106F954-C6D4-4723-8E03-55A1E79F00B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0C871A73-8828-4197-ADC1-0C21128F61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33081A4-0280-4B19-9B06-BA7D8076931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9340A08-2899-40F7-B8EE-A496CBD88CC2}"/>
              </a:ext>
            </a:extLst>
          </p:cNvPr>
          <p:cNvSpPr>
            <a:spLocks noGrp="1"/>
          </p:cNvSpPr>
          <p:nvPr>
            <p:ph type="dt" sz="half" idx="10"/>
          </p:nvPr>
        </p:nvSpPr>
        <p:spPr/>
        <p:txBody>
          <a:bodyPr/>
          <a:lstStyle/>
          <a:p>
            <a:fld id="{C2B58F57-2DA1-4DBA-AA33-8D93DD9494F9}" type="datetime1">
              <a:rPr lang="es-ES" smtClean="0"/>
              <a:t>03/12/2024</a:t>
            </a:fld>
            <a:endParaRPr lang="es-ES"/>
          </a:p>
        </p:txBody>
      </p:sp>
      <p:sp>
        <p:nvSpPr>
          <p:cNvPr id="8" name="Marcador de pie de página 7">
            <a:extLst>
              <a:ext uri="{FF2B5EF4-FFF2-40B4-BE49-F238E27FC236}">
                <a16:creationId xmlns:a16="http://schemas.microsoft.com/office/drawing/2014/main" id="{275E94AC-0958-41A7-A416-28A3791B2DA4}"/>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7A743E3-167E-4DC6-AF9F-963C2A2C8675}"/>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811594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0C0657-7B1A-442F-A5A8-F68C547D6CCC}"/>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220B9629-5B37-4C68-BCAF-4F204AD59B8A}"/>
              </a:ext>
            </a:extLst>
          </p:cNvPr>
          <p:cNvSpPr>
            <a:spLocks noGrp="1"/>
          </p:cNvSpPr>
          <p:nvPr>
            <p:ph type="dt" sz="half" idx="10"/>
          </p:nvPr>
        </p:nvSpPr>
        <p:spPr/>
        <p:txBody>
          <a:bodyPr/>
          <a:lstStyle/>
          <a:p>
            <a:fld id="{A88FAA46-ADD9-4633-900E-54294B546C39}" type="datetime1">
              <a:rPr lang="es-ES" smtClean="0"/>
              <a:t>03/12/2024</a:t>
            </a:fld>
            <a:endParaRPr lang="es-ES"/>
          </a:p>
        </p:txBody>
      </p:sp>
      <p:sp>
        <p:nvSpPr>
          <p:cNvPr id="4" name="Marcador de pie de página 3">
            <a:extLst>
              <a:ext uri="{FF2B5EF4-FFF2-40B4-BE49-F238E27FC236}">
                <a16:creationId xmlns:a16="http://schemas.microsoft.com/office/drawing/2014/main" id="{AF496A21-694B-4235-9BDF-7FA776CD648A}"/>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FFC769F2-5C78-4519-AE94-E67F0F38EE16}"/>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985255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3476251-88E2-4CBD-95F9-95E8112B58A1}"/>
              </a:ext>
            </a:extLst>
          </p:cNvPr>
          <p:cNvSpPr>
            <a:spLocks noGrp="1"/>
          </p:cNvSpPr>
          <p:nvPr>
            <p:ph type="dt" sz="half" idx="10"/>
          </p:nvPr>
        </p:nvSpPr>
        <p:spPr/>
        <p:txBody>
          <a:bodyPr/>
          <a:lstStyle/>
          <a:p>
            <a:fld id="{DCCAD164-930E-44E1-8AD6-DA81FFB2E87B}" type="datetime1">
              <a:rPr lang="es-ES" smtClean="0"/>
              <a:t>03/12/2024</a:t>
            </a:fld>
            <a:endParaRPr lang="es-ES"/>
          </a:p>
        </p:txBody>
      </p:sp>
      <p:sp>
        <p:nvSpPr>
          <p:cNvPr id="3" name="Marcador de pie de página 2">
            <a:extLst>
              <a:ext uri="{FF2B5EF4-FFF2-40B4-BE49-F238E27FC236}">
                <a16:creationId xmlns:a16="http://schemas.microsoft.com/office/drawing/2014/main" id="{A49AE1B3-12A0-41E5-8708-38E7CDE67E4E}"/>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ED8E5739-F16D-4ED7-934D-15DD6F3FD68A}"/>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04149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05BC6A-6581-45ED-97B2-665F6CC3E5F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F6E2A75-C11D-4D21-973A-6BD6B12AB5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C2970D4-7A79-4101-849B-C528055754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24EC5D-1BA5-4E28-9CF2-850714ED1F67}"/>
              </a:ext>
            </a:extLst>
          </p:cNvPr>
          <p:cNvSpPr>
            <a:spLocks noGrp="1"/>
          </p:cNvSpPr>
          <p:nvPr>
            <p:ph type="dt" sz="half" idx="10"/>
          </p:nvPr>
        </p:nvSpPr>
        <p:spPr/>
        <p:txBody>
          <a:bodyPr/>
          <a:lstStyle/>
          <a:p>
            <a:fld id="{E7A19943-A7E6-4D67-A3E5-3CC6ADA523F1}" type="datetime1">
              <a:rPr lang="es-ES" smtClean="0"/>
              <a:t>03/12/2024</a:t>
            </a:fld>
            <a:endParaRPr lang="es-ES"/>
          </a:p>
        </p:txBody>
      </p:sp>
      <p:sp>
        <p:nvSpPr>
          <p:cNvPr id="6" name="Marcador de pie de página 5">
            <a:extLst>
              <a:ext uri="{FF2B5EF4-FFF2-40B4-BE49-F238E27FC236}">
                <a16:creationId xmlns:a16="http://schemas.microsoft.com/office/drawing/2014/main" id="{9B84FBFE-5582-479B-A6E8-8BD08A0B9E3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F81D782-F740-4365-8C21-A299A8B5FFB5}"/>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2050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935E2E-4483-4902-9BE4-8F6FA962B21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1E9D67D1-94DE-4CC9-85D5-7FFF881182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5544DCF8-D22F-4389-B4E4-9670563345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762798B-5681-4C69-BB09-2388DA3C2064}"/>
              </a:ext>
            </a:extLst>
          </p:cNvPr>
          <p:cNvSpPr>
            <a:spLocks noGrp="1"/>
          </p:cNvSpPr>
          <p:nvPr>
            <p:ph type="dt" sz="half" idx="10"/>
          </p:nvPr>
        </p:nvSpPr>
        <p:spPr/>
        <p:txBody>
          <a:bodyPr/>
          <a:lstStyle/>
          <a:p>
            <a:fld id="{02312756-8293-4ED7-8C53-E15A36E0B819}" type="datetime1">
              <a:rPr lang="es-ES" smtClean="0"/>
              <a:t>03/12/2024</a:t>
            </a:fld>
            <a:endParaRPr lang="es-ES"/>
          </a:p>
        </p:txBody>
      </p:sp>
      <p:sp>
        <p:nvSpPr>
          <p:cNvPr id="6" name="Marcador de pie de página 5">
            <a:extLst>
              <a:ext uri="{FF2B5EF4-FFF2-40B4-BE49-F238E27FC236}">
                <a16:creationId xmlns:a16="http://schemas.microsoft.com/office/drawing/2014/main" id="{D4B9532C-97BB-441B-B506-C25F8CF2844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8D157D7-9A5A-414D-A0CA-96FAE873A543}"/>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3248935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67A50E-F7F5-4C4D-8B77-79BAEF2E5C0F}"/>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95AFBB6D-17BE-4C49-BCCF-B5C5CFE9F99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09176D5-891E-44BA-B401-E3A04EAFABAC}"/>
              </a:ext>
            </a:extLst>
          </p:cNvPr>
          <p:cNvSpPr>
            <a:spLocks noGrp="1"/>
          </p:cNvSpPr>
          <p:nvPr>
            <p:ph type="dt" sz="half" idx="10"/>
          </p:nvPr>
        </p:nvSpPr>
        <p:spPr/>
        <p:txBody>
          <a:bodyPr/>
          <a:lstStyle/>
          <a:p>
            <a:fld id="{2D5988EC-7283-4406-9DFD-E99FA692D75C}" type="datetime1">
              <a:rPr lang="es-ES" smtClean="0"/>
              <a:t>03/12/2024</a:t>
            </a:fld>
            <a:endParaRPr lang="es-ES"/>
          </a:p>
        </p:txBody>
      </p:sp>
      <p:sp>
        <p:nvSpPr>
          <p:cNvPr id="5" name="Marcador de pie de página 4">
            <a:extLst>
              <a:ext uri="{FF2B5EF4-FFF2-40B4-BE49-F238E27FC236}">
                <a16:creationId xmlns:a16="http://schemas.microsoft.com/office/drawing/2014/main" id="{9F934A99-FA15-4D15-97E2-3E17E0383DF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6A8D24B-343C-4B37-A9F6-33CE51FE33A9}"/>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391468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FF92B8F-BB2D-45E5-A81C-009359D306A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49973B1-2492-45DB-BA9B-BD3B59B4B8B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07A9D75-FCEC-47C9-AA6E-4D2F6CFF65C0}"/>
              </a:ext>
            </a:extLst>
          </p:cNvPr>
          <p:cNvSpPr>
            <a:spLocks noGrp="1"/>
          </p:cNvSpPr>
          <p:nvPr>
            <p:ph type="dt" sz="half" idx="10"/>
          </p:nvPr>
        </p:nvSpPr>
        <p:spPr/>
        <p:txBody>
          <a:bodyPr/>
          <a:lstStyle/>
          <a:p>
            <a:fld id="{979A9286-D927-4095-B743-3451D71D767F}" type="datetime1">
              <a:rPr lang="es-ES" smtClean="0"/>
              <a:t>03/12/2024</a:t>
            </a:fld>
            <a:endParaRPr lang="es-ES"/>
          </a:p>
        </p:txBody>
      </p:sp>
      <p:sp>
        <p:nvSpPr>
          <p:cNvPr id="5" name="Marcador de pie de página 4">
            <a:extLst>
              <a:ext uri="{FF2B5EF4-FFF2-40B4-BE49-F238E27FC236}">
                <a16:creationId xmlns:a16="http://schemas.microsoft.com/office/drawing/2014/main" id="{8320CC3E-8F0C-4A5B-B192-6F292AE46AA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5C7BE2D-24E9-4481-AEB9-697A2447AA61}"/>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4213171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23CBADE-FD33-4AF1-9F6F-A44E4356A6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674D713-AFC9-4141-B355-05ABF78935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1666BF8-72F7-4108-81B8-D74BF52FE0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6AEDC6-F719-4D5C-BB7F-D599F6A812F4}" type="datetime1">
              <a:rPr lang="es-ES" smtClean="0"/>
              <a:t>03/12/2024</a:t>
            </a:fld>
            <a:endParaRPr lang="es-ES"/>
          </a:p>
        </p:txBody>
      </p:sp>
      <p:sp>
        <p:nvSpPr>
          <p:cNvPr id="5" name="Marcador de pie de página 4">
            <a:extLst>
              <a:ext uri="{FF2B5EF4-FFF2-40B4-BE49-F238E27FC236}">
                <a16:creationId xmlns:a16="http://schemas.microsoft.com/office/drawing/2014/main" id="{30F725B7-4457-4323-8704-24025C4934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B81E65A2-2681-4AF8-8875-39AE9558A1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6CAFD0-1F6E-4E11-9822-836563A02839}" type="slidenum">
              <a:rPr lang="es-ES" smtClean="0"/>
              <a:t>‹Nº›</a:t>
            </a:fld>
            <a:endParaRPr lang="es-ES"/>
          </a:p>
        </p:txBody>
      </p:sp>
    </p:spTree>
    <p:extLst>
      <p:ext uri="{BB962C8B-B14F-4D97-AF65-F5344CB8AC3E}">
        <p14:creationId xmlns:p14="http://schemas.microsoft.com/office/powerpoint/2010/main" val="2916707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oreilly.com/library-access/?next=/library/view/Probability-and-statistics/9781439875919/"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le.rae.es/regresi%C3%B3n?m=form" TargetMode="External"/><Relationship Id="rId2" Type="http://schemas.openxmlformats.org/officeDocument/2006/relationships/hyperlink" Target="https://dle.rae.es/correlaci%C3%B3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hyperlink" Target="https://rpubs.com/camilamila/correlaciones"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es.wikipedia.org/wiki/M%C3%ADnimos_cuadrados" TargetMode="Externa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hyperlink" Target="https://www.oreilly.com/library-access/?next=/library/view/Applied-statistics-and/9780470053041/"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0.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0.png"/></Relationships>
</file>

<file path=ppt/slides/_rels/slide28.xml.rels><?xml version="1.0" encoding="UTF-8" standalone="yes"?>
<Relationships xmlns="http://schemas.openxmlformats.org/package/2006/relationships"><Relationship Id="rId3" Type="http://schemas.openxmlformats.org/officeDocument/2006/relationships/hyperlink" Target="https://www.researchgate.net/profile/Sofi-Parvez/publication/367408901_A_STUDY_ON_COMPARATIVE_ANALYSIS_TO_PREDICT_THE_FUTURE_POPULATION_GROWTH_IN_INDIA_BANGLADESH_AND_PAKISTAN_USING_MATHEMATICAL_MODELS_EXPONENTIAL_HYPERBOLIC_LOGISTIC_GROWTH_AND_LINEAR_REGRESSION_MODEL/links/63d133f6d7e5841e0bf77bb4/A-STUDY-ON-COMPARATIVE-ANALYSIS-TO-PREDICT-THE-FUTURE-POPULATION-GROWTH-IN-INDIA-BANGLADESH-AND-PAKISTAN-USING-MATHEMATICAL-MODELS-EXPONENTIAL-HYPERBOLIC-LOGISTIC-GROWTH-AND-LINEAR-REGRESSION-MODE.pdf" TargetMode="External"/><Relationship Id="rId2" Type="http://schemas.openxmlformats.org/officeDocument/2006/relationships/hyperlink" Target="https://www.sciencedirect.com/science/article/pii/S0169814122001494?casa_token=csnmGkR65qQAAAAA:OjDMhcIBU0ONIuyI66nkUyu7UJsF-6s40ePrSBK9ZFBSBFoxjvhkxrvXhOjPMWtZV-Vp56SsSFk" TargetMode="External"/><Relationship Id="rId1" Type="http://schemas.openxmlformats.org/officeDocument/2006/relationships/slideLayout" Target="../slideLayouts/slideLayout2.xml"/><Relationship Id="rId5" Type="http://schemas.openxmlformats.org/officeDocument/2006/relationships/hyperlink" Target="https://www.researchgate.net/profile/Muhammad-Rehman-79/publication/367092299_Correlation_of_Workplace_surveillance_with_Psychological_Health_Productivity_and_Privacy_of_employees/links/63c1449b43f3463584691511/Correlation-of-Workplace-surveillance-with-Psychological-Health-Productivity-and-Privacy-of-employees.pdf" TargetMode="External"/><Relationship Id="rId4" Type="http://schemas.openxmlformats.org/officeDocument/2006/relationships/hyperlink" Target="https://journals.ekb.eg/article_279931_d6774faf37d31024e0c50f0c04346fb0.pdf"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hyperlink" Target="https://www.oreilly.com/library-access/?next=/library/view/Applied-statistics-and/9780470053041/"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mdpi.com/2036250" TargetMode="External"/><Relationship Id="rId2" Type="http://schemas.openxmlformats.org/officeDocument/2006/relationships/hyperlink" Target="https://ieeexplore.ieee.org/iel7/9358271/9358272/09358309.pdf?casa_token=YLE6kimjeG0AAAAA:XVuoQOv4KAgxrJAvQZKsFgZJFHcm_e2El1k4u487h2W9poh4QLiFG7uQRa5BlrJA8KL5T9daoQA" TargetMode="External"/><Relationship Id="rId1" Type="http://schemas.openxmlformats.org/officeDocument/2006/relationships/slideLayout" Target="../slideLayouts/slideLayout2.xml"/><Relationship Id="rId5" Type="http://schemas.openxmlformats.org/officeDocument/2006/relationships/hyperlink" Target="https://www.mdpi.com/2073-4433/14/1/183/pdf" TargetMode="External"/><Relationship Id="rId4" Type="http://schemas.openxmlformats.org/officeDocument/2006/relationships/hyperlink" Target="https://e-journal.citakonsultindo.or.id/index.php/IJEBIR/article/download/155/118"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5024B-BC8C-4A3E-B772-46F3159760AA}"/>
              </a:ext>
            </a:extLst>
          </p:cNvPr>
          <p:cNvSpPr>
            <a:spLocks noGrp="1"/>
          </p:cNvSpPr>
          <p:nvPr>
            <p:ph type="ctrTitle"/>
          </p:nvPr>
        </p:nvSpPr>
        <p:spPr/>
        <p:txBody>
          <a:bodyPr/>
          <a:lstStyle/>
          <a:p>
            <a:r>
              <a:rPr lang="es-ES" dirty="0"/>
              <a:t>Correlación y regresión</a:t>
            </a:r>
          </a:p>
        </p:txBody>
      </p:sp>
      <p:sp>
        <p:nvSpPr>
          <p:cNvPr id="3" name="Subtítulo 2">
            <a:extLst>
              <a:ext uri="{FF2B5EF4-FFF2-40B4-BE49-F238E27FC236}">
                <a16:creationId xmlns:a16="http://schemas.microsoft.com/office/drawing/2014/main" id="{C26AD6E3-038F-4B94-A53F-314F158509E6}"/>
              </a:ext>
            </a:extLst>
          </p:cNvPr>
          <p:cNvSpPr>
            <a:spLocks noGrp="1"/>
          </p:cNvSpPr>
          <p:nvPr>
            <p:ph type="subTitle" idx="1"/>
          </p:nvPr>
        </p:nvSpPr>
        <p:spPr/>
        <p:txBody>
          <a:bodyPr/>
          <a:lstStyle/>
          <a:p>
            <a:r>
              <a:rPr lang="es-ES" dirty="0"/>
              <a:t>Contenidos adaptados del libro “</a:t>
            </a:r>
            <a:r>
              <a:rPr lang="en-US" dirty="0">
                <a:hlinkClick r:id="rId2"/>
              </a:rPr>
              <a:t>Probability and statistics for computer scientists, Second edition, M. Baron</a:t>
            </a:r>
            <a:r>
              <a:rPr lang="en-US" dirty="0"/>
              <a:t>” (</a:t>
            </a:r>
            <a:r>
              <a:rPr lang="en-US" dirty="0" err="1"/>
              <a:t>Capítulo</a:t>
            </a:r>
            <a:r>
              <a:rPr lang="en-US" dirty="0"/>
              <a:t> 11)</a:t>
            </a:r>
            <a:endParaRPr lang="es-ES" dirty="0"/>
          </a:p>
        </p:txBody>
      </p:sp>
    </p:spTree>
    <p:extLst>
      <p:ext uri="{BB962C8B-B14F-4D97-AF65-F5344CB8AC3E}">
        <p14:creationId xmlns:p14="http://schemas.microsoft.com/office/powerpoint/2010/main" val="2737515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20BF6A-4F76-40F2-AADF-4A9781E2BEC8}"/>
              </a:ext>
            </a:extLst>
          </p:cNvPr>
          <p:cNvSpPr>
            <a:spLocks noGrp="1"/>
          </p:cNvSpPr>
          <p:nvPr>
            <p:ph type="title"/>
          </p:nvPr>
        </p:nvSpPr>
        <p:spPr/>
        <p:txBody>
          <a:bodyPr/>
          <a:lstStyle/>
          <a:p>
            <a:r>
              <a:rPr lang="es-ES" dirty="0"/>
              <a:t>Contenido</a:t>
            </a:r>
          </a:p>
        </p:txBody>
      </p:sp>
      <p:sp>
        <p:nvSpPr>
          <p:cNvPr id="3" name="Marcador de contenido 2">
            <a:extLst>
              <a:ext uri="{FF2B5EF4-FFF2-40B4-BE49-F238E27FC236}">
                <a16:creationId xmlns:a16="http://schemas.microsoft.com/office/drawing/2014/main" id="{3DD641DE-CE43-4099-914E-C8A920DB30F6}"/>
              </a:ext>
            </a:extLst>
          </p:cNvPr>
          <p:cNvSpPr>
            <a:spLocks noGrp="1"/>
          </p:cNvSpPr>
          <p:nvPr>
            <p:ph idx="1"/>
          </p:nvPr>
        </p:nvSpPr>
        <p:spPr/>
        <p:txBody>
          <a:bodyPr>
            <a:normAutofit/>
          </a:bodyPr>
          <a:lstStyle/>
          <a:p>
            <a:pPr marL="514350" indent="-514350">
              <a:buFont typeface="+mj-lt"/>
              <a:buAutoNum type="arabicPeriod"/>
            </a:pPr>
            <a:r>
              <a:rPr lang="es-ES" dirty="0"/>
              <a:t>Objetivos</a:t>
            </a:r>
          </a:p>
          <a:p>
            <a:pPr marL="514350" indent="-514350">
              <a:buFont typeface="+mj-lt"/>
              <a:buAutoNum type="arabicPeriod"/>
            </a:pPr>
            <a:r>
              <a:rPr lang="es-ES" dirty="0"/>
              <a:t>Introducción</a:t>
            </a:r>
          </a:p>
          <a:p>
            <a:pPr marL="514350" indent="-514350">
              <a:buFont typeface="+mj-lt"/>
              <a:buAutoNum type="arabicPeriod"/>
            </a:pPr>
            <a:r>
              <a:rPr lang="es-ES" dirty="0"/>
              <a:t>Coeficiente de correlación (de Pearson)</a:t>
            </a:r>
          </a:p>
          <a:p>
            <a:pPr marL="514350" indent="-514350">
              <a:buFont typeface="+mj-lt"/>
              <a:buAutoNum type="arabicPeriod"/>
            </a:pPr>
            <a:r>
              <a:rPr lang="es-ES" dirty="0"/>
              <a:t>Modelo de regresión</a:t>
            </a:r>
          </a:p>
          <a:p>
            <a:pPr marL="514350" indent="-514350">
              <a:buFont typeface="+mj-lt"/>
              <a:buAutoNum type="arabicPeriod"/>
            </a:pPr>
            <a:r>
              <a:rPr lang="es-ES" dirty="0"/>
              <a:t>Regresión lineal simple</a:t>
            </a:r>
          </a:p>
          <a:p>
            <a:pPr marL="514350" indent="-514350">
              <a:buFont typeface="+mj-lt"/>
              <a:buAutoNum type="arabicPeriod"/>
            </a:pPr>
            <a:r>
              <a:rPr lang="es-ES" dirty="0"/>
              <a:t>Regresión lineal múltiple</a:t>
            </a:r>
          </a:p>
          <a:p>
            <a:pPr marL="514350" indent="-514350">
              <a:buFont typeface="+mj-lt"/>
              <a:buAutoNum type="arabicPeriod"/>
            </a:pPr>
            <a:r>
              <a:rPr lang="es-ES" dirty="0"/>
              <a:t>Resumen</a:t>
            </a:r>
          </a:p>
        </p:txBody>
      </p:sp>
      <p:sp>
        <p:nvSpPr>
          <p:cNvPr id="4" name="Marcador de número de diapositiva 3">
            <a:extLst>
              <a:ext uri="{FF2B5EF4-FFF2-40B4-BE49-F238E27FC236}">
                <a16:creationId xmlns:a16="http://schemas.microsoft.com/office/drawing/2014/main" id="{35184F0A-2B41-D9D8-BF21-77971EAEBAF2}"/>
              </a:ext>
            </a:extLst>
          </p:cNvPr>
          <p:cNvSpPr>
            <a:spLocks noGrp="1"/>
          </p:cNvSpPr>
          <p:nvPr>
            <p:ph type="sldNum" sz="quarter" idx="12"/>
          </p:nvPr>
        </p:nvSpPr>
        <p:spPr/>
        <p:txBody>
          <a:bodyPr/>
          <a:lstStyle/>
          <a:p>
            <a:fld id="{336CAFD0-1F6E-4E11-9822-836563A02839}" type="slidenum">
              <a:rPr lang="es-ES" smtClean="0"/>
              <a:t>2</a:t>
            </a:fld>
            <a:endParaRPr lang="es-ES" dirty="0"/>
          </a:p>
        </p:txBody>
      </p:sp>
    </p:spTree>
    <p:extLst>
      <p:ext uri="{BB962C8B-B14F-4D97-AF65-F5344CB8AC3E}">
        <p14:creationId xmlns:p14="http://schemas.microsoft.com/office/powerpoint/2010/main" val="3517064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388110-C1AC-CF5E-0110-8E2A3FC14E3D}"/>
              </a:ext>
            </a:extLst>
          </p:cNvPr>
          <p:cNvSpPr>
            <a:spLocks noGrp="1"/>
          </p:cNvSpPr>
          <p:nvPr>
            <p:ph type="title"/>
          </p:nvPr>
        </p:nvSpPr>
        <p:spPr/>
        <p:txBody>
          <a:bodyPr/>
          <a:lstStyle/>
          <a:p>
            <a:r>
              <a:rPr lang="es-ES" dirty="0"/>
              <a:t>1. Objetivos</a:t>
            </a:r>
          </a:p>
        </p:txBody>
      </p:sp>
      <p:sp>
        <p:nvSpPr>
          <p:cNvPr id="3" name="Marcador de contenido 2">
            <a:extLst>
              <a:ext uri="{FF2B5EF4-FFF2-40B4-BE49-F238E27FC236}">
                <a16:creationId xmlns:a16="http://schemas.microsoft.com/office/drawing/2014/main" id="{7802208F-81FD-3A6A-3B34-7D1B5CF276E4}"/>
              </a:ext>
            </a:extLst>
          </p:cNvPr>
          <p:cNvSpPr>
            <a:spLocks noGrp="1"/>
          </p:cNvSpPr>
          <p:nvPr>
            <p:ph idx="1"/>
          </p:nvPr>
        </p:nvSpPr>
        <p:spPr/>
        <p:txBody>
          <a:bodyPr/>
          <a:lstStyle/>
          <a:p>
            <a:r>
              <a:rPr lang="es-ES" dirty="0"/>
              <a:t>Comprender los conceptos de correlación y regresión</a:t>
            </a:r>
          </a:p>
          <a:p>
            <a:r>
              <a:rPr lang="es-ES" dirty="0"/>
              <a:t>Aplicar técnicas de regresión y correlación para establecer relaciones entre variables (estadísticas o aleatorias)</a:t>
            </a:r>
          </a:p>
        </p:txBody>
      </p:sp>
      <p:sp>
        <p:nvSpPr>
          <p:cNvPr id="4" name="Marcador de número de diapositiva 3">
            <a:extLst>
              <a:ext uri="{FF2B5EF4-FFF2-40B4-BE49-F238E27FC236}">
                <a16:creationId xmlns:a16="http://schemas.microsoft.com/office/drawing/2014/main" id="{2BAD5FBD-D86E-31E4-F426-3B558645492D}"/>
              </a:ext>
            </a:extLst>
          </p:cNvPr>
          <p:cNvSpPr>
            <a:spLocks noGrp="1"/>
          </p:cNvSpPr>
          <p:nvPr>
            <p:ph type="sldNum" sz="quarter" idx="12"/>
          </p:nvPr>
        </p:nvSpPr>
        <p:spPr/>
        <p:txBody>
          <a:bodyPr/>
          <a:lstStyle/>
          <a:p>
            <a:fld id="{336CAFD0-1F6E-4E11-9822-836563A02839}" type="slidenum">
              <a:rPr lang="es-ES" smtClean="0"/>
              <a:pPr/>
              <a:t>3</a:t>
            </a:fld>
            <a:endParaRPr lang="es-ES" dirty="0"/>
          </a:p>
        </p:txBody>
      </p:sp>
    </p:spTree>
    <p:extLst>
      <p:ext uri="{BB962C8B-B14F-4D97-AF65-F5344CB8AC3E}">
        <p14:creationId xmlns:p14="http://schemas.microsoft.com/office/powerpoint/2010/main" val="2375957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680CEB-5CDA-51E5-519F-81316B43E50B}"/>
              </a:ext>
            </a:extLst>
          </p:cNvPr>
          <p:cNvSpPr>
            <a:spLocks noGrp="1"/>
          </p:cNvSpPr>
          <p:nvPr>
            <p:ph type="title"/>
          </p:nvPr>
        </p:nvSpPr>
        <p:spPr/>
        <p:txBody>
          <a:bodyPr/>
          <a:lstStyle/>
          <a:p>
            <a:r>
              <a:rPr lang="es-ES" dirty="0"/>
              <a:t>2. Introducción</a:t>
            </a:r>
          </a:p>
        </p:txBody>
      </p:sp>
      <p:sp>
        <p:nvSpPr>
          <p:cNvPr id="3" name="Marcador de contenido 2">
            <a:extLst>
              <a:ext uri="{FF2B5EF4-FFF2-40B4-BE49-F238E27FC236}">
                <a16:creationId xmlns:a16="http://schemas.microsoft.com/office/drawing/2014/main" id="{051AAADC-6D5A-3B33-A02F-A8CECC3D7A6B}"/>
              </a:ext>
            </a:extLst>
          </p:cNvPr>
          <p:cNvSpPr>
            <a:spLocks noGrp="1"/>
          </p:cNvSpPr>
          <p:nvPr>
            <p:ph idx="1"/>
          </p:nvPr>
        </p:nvSpPr>
        <p:spPr>
          <a:xfrm>
            <a:off x="838200" y="1825625"/>
            <a:ext cx="4607560" cy="4530725"/>
          </a:xfrm>
        </p:spPr>
        <p:txBody>
          <a:bodyPr>
            <a:normAutofit fontScale="77500" lnSpcReduction="20000"/>
          </a:bodyPr>
          <a:lstStyle/>
          <a:p>
            <a:r>
              <a:rPr lang="es-ES" dirty="0"/>
              <a:t>El resultado de la inferencia estadística puede ser</a:t>
            </a:r>
          </a:p>
          <a:p>
            <a:pPr lvl="1"/>
            <a:r>
              <a:rPr lang="es-ES" dirty="0"/>
              <a:t>Un intervalo de confianza o conjunto de posibles valores para parámetros (como la media o la varianza) sobre propiedades de los individuos de una población, junto con una probabilidad de error cometido</a:t>
            </a:r>
          </a:p>
          <a:p>
            <a:pPr lvl="1"/>
            <a:r>
              <a:rPr lang="es-ES" dirty="0"/>
              <a:t>La comprobación de una hipótesis sobre valores estimados de los parámetros, junto con una probabilidad de error cometido</a:t>
            </a:r>
          </a:p>
          <a:p>
            <a:pPr lvl="1"/>
            <a:r>
              <a:rPr lang="es-ES" dirty="0"/>
              <a:t>Un modelo de predicción (regresión) del valor (o intervalo de posibles valores) de una propiedad a partir de otra, junto con una probabilidad de error cometido.  </a:t>
            </a:r>
          </a:p>
          <a:p>
            <a:r>
              <a:rPr lang="es-ES" dirty="0"/>
              <a:t>En esta presentación se estudian los modelos de regresión	 </a:t>
            </a:r>
          </a:p>
        </p:txBody>
      </p:sp>
      <p:sp>
        <p:nvSpPr>
          <p:cNvPr id="4" name="Marcador de número de diapositiva 3">
            <a:extLst>
              <a:ext uri="{FF2B5EF4-FFF2-40B4-BE49-F238E27FC236}">
                <a16:creationId xmlns:a16="http://schemas.microsoft.com/office/drawing/2014/main" id="{A66D72D4-D241-BE9E-70E6-03E92F6C22DE}"/>
              </a:ext>
            </a:extLst>
          </p:cNvPr>
          <p:cNvSpPr>
            <a:spLocks noGrp="1"/>
          </p:cNvSpPr>
          <p:nvPr>
            <p:ph type="sldNum" sz="quarter" idx="12"/>
          </p:nvPr>
        </p:nvSpPr>
        <p:spPr/>
        <p:txBody>
          <a:bodyPr/>
          <a:lstStyle/>
          <a:p>
            <a:fld id="{336CAFD0-1F6E-4E11-9822-836563A02839}" type="slidenum">
              <a:rPr lang="es-ES" smtClean="0"/>
              <a:pPr/>
              <a:t>4</a:t>
            </a:fld>
            <a:endParaRPr lang="es-ES" dirty="0"/>
          </a:p>
        </p:txBody>
      </p:sp>
      <p:pic>
        <p:nvPicPr>
          <p:cNvPr id="6" name="Imagen 5">
            <a:extLst>
              <a:ext uri="{FF2B5EF4-FFF2-40B4-BE49-F238E27FC236}">
                <a16:creationId xmlns:a16="http://schemas.microsoft.com/office/drawing/2014/main" id="{C8F54FED-9C4D-FB39-F857-61D7674647D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95022" y="2026126"/>
            <a:ext cx="6162675" cy="3629025"/>
          </a:xfrm>
          <a:prstGeom prst="rect">
            <a:avLst/>
          </a:prstGeom>
        </p:spPr>
      </p:pic>
      <p:sp>
        <p:nvSpPr>
          <p:cNvPr id="7" name="Rectángulo 6">
            <a:extLst>
              <a:ext uri="{FF2B5EF4-FFF2-40B4-BE49-F238E27FC236}">
                <a16:creationId xmlns:a16="http://schemas.microsoft.com/office/drawing/2014/main" id="{811A19D4-31D5-AE94-5D03-86AB239CACF2}"/>
              </a:ext>
              <a:ext uri="{C183D7F6-B498-43B3-948B-1728B52AA6E4}">
                <adec:decorative xmlns:adec="http://schemas.microsoft.com/office/drawing/2017/decorative" val="1"/>
              </a:ext>
            </a:extLst>
          </p:cNvPr>
          <p:cNvSpPr/>
          <p:nvPr/>
        </p:nvSpPr>
        <p:spPr>
          <a:xfrm>
            <a:off x="10160000" y="4765643"/>
            <a:ext cx="1656080" cy="1930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87822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22C548-D817-6832-A529-F95FB7CE492B}"/>
              </a:ext>
            </a:extLst>
          </p:cNvPr>
          <p:cNvSpPr>
            <a:spLocks noGrp="1"/>
          </p:cNvSpPr>
          <p:nvPr>
            <p:ph type="title"/>
          </p:nvPr>
        </p:nvSpPr>
        <p:spPr/>
        <p:txBody>
          <a:bodyPr/>
          <a:lstStyle/>
          <a:p>
            <a:r>
              <a:rPr lang="es-ES" dirty="0"/>
              <a:t>2</a:t>
            </a:r>
            <a:r>
              <a:rPr lang="es-ES"/>
              <a:t>. </a:t>
            </a:r>
            <a:r>
              <a:rPr lang="es-ES" dirty="0"/>
              <a:t>Introducción</a:t>
            </a:r>
            <a:br>
              <a:rPr lang="es-ES" dirty="0"/>
            </a:br>
            <a:r>
              <a:rPr lang="es-ES" dirty="0"/>
              <a:t>Utilidad</a:t>
            </a:r>
          </a:p>
        </p:txBody>
      </p:sp>
      <p:sp>
        <p:nvSpPr>
          <p:cNvPr id="3" name="Marcador de contenido 2">
            <a:extLst>
              <a:ext uri="{FF2B5EF4-FFF2-40B4-BE49-F238E27FC236}">
                <a16:creationId xmlns:a16="http://schemas.microsoft.com/office/drawing/2014/main" id="{1DB45E26-A1AA-28A8-DE00-11AE4C74F38C}"/>
              </a:ext>
            </a:extLst>
          </p:cNvPr>
          <p:cNvSpPr>
            <a:spLocks noGrp="1"/>
          </p:cNvSpPr>
          <p:nvPr>
            <p:ph idx="1"/>
          </p:nvPr>
        </p:nvSpPr>
        <p:spPr/>
        <p:txBody>
          <a:bodyPr>
            <a:normAutofit/>
          </a:bodyPr>
          <a:lstStyle/>
          <a:p>
            <a:r>
              <a:rPr lang="es-ES" dirty="0"/>
              <a:t>Muchas variables observadas en la vida real están correlacionadas</a:t>
            </a:r>
          </a:p>
          <a:p>
            <a:pPr lvl="1"/>
            <a:r>
              <a:rPr lang="es-ES" dirty="0"/>
              <a:t>Por ejemplo, el peso y la edad de un niño  </a:t>
            </a:r>
          </a:p>
          <a:p>
            <a:r>
              <a:rPr lang="es-ES" dirty="0"/>
              <a:t>El tipo de su relación a menudo se puede expresar en una forma matemática llamada regresión</a:t>
            </a:r>
          </a:p>
          <a:p>
            <a:r>
              <a:rPr lang="es-ES" dirty="0"/>
              <a:t>Establecer y probar tal relación nos permite:</a:t>
            </a:r>
          </a:p>
          <a:p>
            <a:pPr lvl="1"/>
            <a:r>
              <a:rPr lang="es-ES" dirty="0"/>
              <a:t>comprender las interacciones, causas y efectos entre variables;</a:t>
            </a:r>
          </a:p>
          <a:p>
            <a:pPr lvl="1"/>
            <a:r>
              <a:rPr lang="es-ES" dirty="0"/>
              <a:t>predecir variables no observadas basadas en las observadas;</a:t>
            </a:r>
          </a:p>
          <a:p>
            <a:pPr lvl="1"/>
            <a:r>
              <a:rPr lang="es-ES" dirty="0"/>
              <a:t>determinar qué variables afectan significativamente a la variable de interés</a:t>
            </a:r>
            <a:endParaRPr lang="en-US" dirty="0"/>
          </a:p>
        </p:txBody>
      </p:sp>
      <p:sp>
        <p:nvSpPr>
          <p:cNvPr id="4" name="Marcador de número de diapositiva 3">
            <a:extLst>
              <a:ext uri="{FF2B5EF4-FFF2-40B4-BE49-F238E27FC236}">
                <a16:creationId xmlns:a16="http://schemas.microsoft.com/office/drawing/2014/main" id="{A1556083-00E7-701C-BB0C-742687A68C96}"/>
              </a:ext>
            </a:extLst>
          </p:cNvPr>
          <p:cNvSpPr>
            <a:spLocks noGrp="1"/>
          </p:cNvSpPr>
          <p:nvPr>
            <p:ph type="sldNum" sz="quarter" idx="12"/>
          </p:nvPr>
        </p:nvSpPr>
        <p:spPr/>
        <p:txBody>
          <a:bodyPr/>
          <a:lstStyle/>
          <a:p>
            <a:fld id="{336CAFD0-1F6E-4E11-9822-836563A02839}" type="slidenum">
              <a:rPr lang="es-ES" smtClean="0"/>
              <a:t>5</a:t>
            </a:fld>
            <a:endParaRPr lang="es-ES"/>
          </a:p>
        </p:txBody>
      </p:sp>
    </p:spTree>
    <p:extLst>
      <p:ext uri="{BB962C8B-B14F-4D97-AF65-F5344CB8AC3E}">
        <p14:creationId xmlns:p14="http://schemas.microsoft.com/office/powerpoint/2010/main" val="3919632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40B5DC-B060-CFAF-AF16-775E4E57D8BF}"/>
              </a:ext>
            </a:extLst>
          </p:cNvPr>
          <p:cNvSpPr>
            <a:spLocks noGrp="1"/>
          </p:cNvSpPr>
          <p:nvPr>
            <p:ph type="title"/>
          </p:nvPr>
        </p:nvSpPr>
        <p:spPr/>
        <p:txBody>
          <a:bodyPr/>
          <a:lstStyle/>
          <a:p>
            <a:r>
              <a:rPr lang="es-ES" dirty="0"/>
              <a:t>2</a:t>
            </a:r>
            <a:r>
              <a:rPr dirty="0"/>
              <a:t>. </a:t>
            </a:r>
            <a:r>
              <a:rPr dirty="0" err="1"/>
              <a:t>Introducción</a:t>
            </a:r>
            <a:br>
              <a:rPr lang="es-ES" dirty="0"/>
            </a:br>
            <a:r>
              <a:rPr dirty="0" err="1"/>
              <a:t>Definiciones</a:t>
            </a:r>
            <a:endParaRPr dirty="0"/>
          </a:p>
        </p:txBody>
      </p:sp>
      <p:sp>
        <p:nvSpPr>
          <p:cNvPr id="3" name="Marcador de contenido 2">
            <a:extLst>
              <a:ext uri="{FF2B5EF4-FFF2-40B4-BE49-F238E27FC236}">
                <a16:creationId xmlns:a16="http://schemas.microsoft.com/office/drawing/2014/main" id="{B430BBA1-14B5-9188-783B-1FBF454A4233}"/>
              </a:ext>
            </a:extLst>
          </p:cNvPr>
          <p:cNvSpPr>
            <a:spLocks noGrp="1"/>
          </p:cNvSpPr>
          <p:nvPr>
            <p:ph idx="1"/>
          </p:nvPr>
        </p:nvSpPr>
        <p:spPr>
          <a:xfrm>
            <a:off x="838200" y="1825624"/>
            <a:ext cx="10515600" cy="4895851"/>
          </a:xfrm>
        </p:spPr>
        <p:txBody>
          <a:bodyPr>
            <a:normAutofit fontScale="92500" lnSpcReduction="10000"/>
          </a:bodyPr>
          <a:lstStyle/>
          <a:p>
            <a:r>
              <a:rPr lang="es-ES" b="1" dirty="0"/>
              <a:t>Correlación</a:t>
            </a:r>
            <a:r>
              <a:rPr lang="es-ES" dirty="0"/>
              <a:t>: “Correspondencia o relación recíproca entre dos o más cosas o series de cosas” (</a:t>
            </a:r>
            <a:r>
              <a:rPr lang="es-ES" dirty="0">
                <a:hlinkClick r:id="rId2"/>
              </a:rPr>
              <a:t>RAE</a:t>
            </a:r>
            <a:r>
              <a:rPr lang="es-ES" dirty="0"/>
              <a:t>).</a:t>
            </a:r>
          </a:p>
          <a:p>
            <a:pPr lvl="1"/>
            <a:r>
              <a:rPr lang="es-ES" dirty="0"/>
              <a:t>En Estadística, se refiere al grado y signo de la relación entre dos (o más) variables (estadísticas o aleatorias)</a:t>
            </a:r>
          </a:p>
          <a:p>
            <a:pPr lvl="1"/>
            <a:r>
              <a:rPr lang="es-ES" dirty="0"/>
              <a:t>La correlación se mide con el </a:t>
            </a:r>
            <a:r>
              <a:rPr lang="es-ES" b="1" dirty="0"/>
              <a:t>coeficiente de correlación</a:t>
            </a:r>
            <a:r>
              <a:rPr lang="es-ES" dirty="0"/>
              <a:t>, que es un valor entre -1 y +1.</a:t>
            </a:r>
          </a:p>
          <a:p>
            <a:r>
              <a:rPr lang="es-ES" b="1" dirty="0"/>
              <a:t>Regresión</a:t>
            </a:r>
            <a:r>
              <a:rPr lang="es-ES" dirty="0"/>
              <a:t>: “Retrocesión o acción de volver hacia atrás” (</a:t>
            </a:r>
            <a:r>
              <a:rPr lang="es-ES" dirty="0">
                <a:hlinkClick r:id="rId3"/>
              </a:rPr>
              <a:t>RAE</a:t>
            </a:r>
            <a:r>
              <a:rPr lang="es-ES" dirty="0"/>
              <a:t>) </a:t>
            </a:r>
          </a:p>
          <a:p>
            <a:pPr lvl="1"/>
            <a:r>
              <a:rPr lang="es-ES" dirty="0"/>
              <a:t>En Estadística, el término "regresión" fue acuñado por Francis Galton en el siglo XIX para describir el fenómeno biológico de que las alturas de los descendientes de ancestros altos tienden a regresar hacia abajo, hacia un promedio normal (un fenómeno conocido como regresión hacia la media).</a:t>
            </a:r>
          </a:p>
          <a:p>
            <a:pPr lvl="1"/>
            <a:r>
              <a:rPr lang="es-ES" dirty="0"/>
              <a:t>Actualmente, la regresión en Estadística se refiere a la forma de correlación entre dos (o más) variables, es decir a la forma de obtener (regresar a) la media de los posibles valores de una de las variables a partir de un valor dado de la otra.</a:t>
            </a:r>
          </a:p>
          <a:p>
            <a:pPr lvl="1"/>
            <a:r>
              <a:rPr lang="es-ES" dirty="0"/>
              <a:t>La regresión se representa mediante una función matemática (</a:t>
            </a:r>
            <a:r>
              <a:rPr lang="es-ES" b="1" dirty="0"/>
              <a:t>modelo de regresión</a:t>
            </a:r>
            <a:r>
              <a:rPr lang="es-ES" dirty="0"/>
              <a:t>).</a:t>
            </a:r>
          </a:p>
          <a:p>
            <a:endParaRPr lang="es-ES" dirty="0"/>
          </a:p>
          <a:p>
            <a:endParaRPr dirty="0"/>
          </a:p>
        </p:txBody>
      </p:sp>
      <p:sp>
        <p:nvSpPr>
          <p:cNvPr id="4" name="Marcador de número de diapositiva 3">
            <a:extLst>
              <a:ext uri="{FF2B5EF4-FFF2-40B4-BE49-F238E27FC236}">
                <a16:creationId xmlns:a16="http://schemas.microsoft.com/office/drawing/2014/main" id="{E0FDFAF0-72CA-DCCC-E32B-BAC80B1AB933}"/>
              </a:ext>
            </a:extLst>
          </p:cNvPr>
          <p:cNvSpPr>
            <a:spLocks noGrp="1"/>
          </p:cNvSpPr>
          <p:nvPr>
            <p:ph type="sldNum" sz="quarter" idx="12"/>
          </p:nvPr>
        </p:nvSpPr>
        <p:spPr/>
        <p:txBody>
          <a:bodyPr/>
          <a:lstStyle/>
          <a:p>
            <a:fld id="{336CAFD0-1F6E-4E11-9822-836563A02839}" type="slidenum">
              <a:rPr lang="es-ES" smtClean="0"/>
              <a:t>6</a:t>
            </a:fld>
            <a:endParaRPr lang="es-ES"/>
          </a:p>
        </p:txBody>
      </p:sp>
    </p:spTree>
    <p:extLst>
      <p:ext uri="{BB962C8B-B14F-4D97-AF65-F5344CB8AC3E}">
        <p14:creationId xmlns:p14="http://schemas.microsoft.com/office/powerpoint/2010/main" val="4036645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PlaceHolder 1"/>
          <p:cNvSpPr>
            <a:spLocks noGrp="1"/>
          </p:cNvSpPr>
          <p:nvPr>
            <p:ph type="title" idx="4294967295"/>
          </p:nvPr>
        </p:nvSpPr>
        <p:spPr>
          <a:xfrm>
            <a:off x="838080" y="365040"/>
            <a:ext cx="10515240" cy="1325160"/>
          </a:xfrm>
          <a:prstGeom prst="rect">
            <a:avLst/>
          </a:prstGeom>
          <a:noFill/>
          <a:ln w="0">
            <a:solidFill>
              <a:srgbClr val="000000"/>
            </a:solidFill>
          </a:ln>
        </p:spPr>
        <p:txBody>
          <a:bodyPr anchor="ctr">
            <a:normAutofit fontScale="91000"/>
          </a:bodyPr>
          <a:lstStyle/>
          <a:p>
            <a:r>
              <a:rPr lang="es-ES" dirty="0"/>
              <a:t>3. C</a:t>
            </a:r>
            <a:r>
              <a:rPr lang="es-ES" sz="4400" b="0" strike="noStrike" spc="-1" dirty="0">
                <a:solidFill>
                  <a:srgbClr val="000000"/>
                </a:solidFill>
                <a:latin typeface="Calibri Light"/>
              </a:rPr>
              <a:t>oeficiente de correlación (de Pearson)</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52" name="PlaceHolder 2"/>
              <p:cNvSpPr>
                <a:spLocks noGrp="1"/>
              </p:cNvSpPr>
              <p:nvPr>
                <p:ph idx="4294967295"/>
              </p:nvPr>
            </p:nvSpPr>
            <p:spPr>
              <a:xfrm>
                <a:off x="838080" y="1825560"/>
                <a:ext cx="10886040" cy="5032440"/>
              </a:xfrm>
              <a:prstGeom prst="rect">
                <a:avLst/>
              </a:prstGeom>
              <a:noFill/>
              <a:ln w="0">
                <a:noFill/>
              </a:ln>
            </p:spPr>
            <p:txBody>
              <a:bodyPr anchor="t">
                <a:normAutofit fontScale="955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El coeficiente de correlación (de Pearson) es una medida de dependencia lineal entre dos variables cuantitativas que representan dos propiedades de los elementos o individuos de una población (peso, altura, edad, etc.)</a:t>
                </a:r>
              </a:p>
              <a:p>
                <a:pPr marL="228600" indent="-228600">
                  <a:lnSpc>
                    <a:spcPct val="90000"/>
                  </a:lnSpc>
                  <a:spcBef>
                    <a:spcPts val="1001"/>
                  </a:spcBef>
                  <a:buClr>
                    <a:srgbClr val="000000"/>
                  </a:buClr>
                  <a:buFont typeface="Arial"/>
                  <a:buChar char="•"/>
                </a:pPr>
                <a:r>
                  <a:rPr lang="es-ES" spc="-1" dirty="0">
                    <a:solidFill>
                      <a:srgbClr val="000000"/>
                    </a:solidFill>
                    <a:latin typeface="Calibri"/>
                  </a:rPr>
                  <a:t>Cuando se aplica a toda la población, se denomina coeficiente de correlación poblacional (</a:t>
                </a:r>
                <a14:m>
                  <m:oMath xmlns:m="http://schemas.openxmlformats.org/officeDocument/2006/math">
                    <m:r>
                      <a:rPr lang="es-ES" i="1" spc="-1" smtClean="0">
                        <a:solidFill>
                          <a:srgbClr val="000000"/>
                        </a:solidFill>
                        <a:latin typeface="Cambria Math" panose="02040503050406030204" pitchFamily="18" charset="0"/>
                        <a:ea typeface="Cambria Math" panose="02040503050406030204" pitchFamily="18" charset="0"/>
                      </a:rPr>
                      <m:t>𝜌</m:t>
                    </m:r>
                  </m:oMath>
                </a14:m>
                <a:r>
                  <a:rPr lang="es-ES" spc="-1" dirty="0">
                    <a:solidFill>
                      <a:srgbClr val="000000"/>
                    </a:solidFill>
                    <a:latin typeface="Calibri"/>
                  </a:rPr>
                  <a:t>).</a:t>
                </a:r>
              </a:p>
              <a:p>
                <a:pPr>
                  <a:spcBef>
                    <a:spcPts val="1001"/>
                  </a:spcBef>
                  <a:buClr>
                    <a:srgbClr val="000000"/>
                  </a:buClr>
                  <a:buFont typeface="Arial"/>
                  <a:buChar char="•"/>
                </a:pPr>
                <a:r>
                  <a:rPr lang="es-ES" spc="-1" dirty="0">
                    <a:solidFill>
                      <a:srgbClr val="000000"/>
                    </a:solidFill>
                    <a:latin typeface="Calibri"/>
                  </a:rPr>
                  <a:t>Cuando se aplica a una muestra de la población, se denomina coeficiente de correlación muestral (</a:t>
                </a:r>
                <a14:m>
                  <m:oMath xmlns:m="http://schemas.openxmlformats.org/officeDocument/2006/math">
                    <m:r>
                      <a:rPr lang="es-ES" i="1" spc="-1" dirty="0" smtClean="0">
                        <a:solidFill>
                          <a:srgbClr val="000000"/>
                        </a:solidFill>
                        <a:latin typeface="Cambria Math" panose="02040503050406030204" pitchFamily="18" charset="0"/>
                      </a:rPr>
                      <m:t>𝑟</m:t>
                    </m:r>
                  </m:oMath>
                </a14:m>
                <a:r>
                  <a:rPr lang="es-ES" spc="-1" dirty="0">
                    <a:solidFill>
                      <a:srgbClr val="000000"/>
                    </a:solidFill>
                    <a:latin typeface="Calibri"/>
                  </a:rPr>
                  <a:t>).</a:t>
                </a: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52" name="PlaceHolder 2"/>
              <p:cNvSpPr>
                <a:spLocks noGrp="1" noRot="1" noChangeAspect="1" noMove="1" noResize="1" noEditPoints="1" noAdjustHandles="1" noChangeArrowheads="1" noChangeShapeType="1" noTextEdit="1"/>
              </p:cNvSpPr>
              <p:nvPr>
                <p:ph idx="4294967295"/>
              </p:nvPr>
            </p:nvSpPr>
            <p:spPr>
              <a:xfrm>
                <a:off x="838080" y="1825560"/>
                <a:ext cx="10886040" cy="5032440"/>
              </a:xfrm>
              <a:prstGeom prst="rect">
                <a:avLst/>
              </a:prstGeom>
              <a:blipFill>
                <a:blip r:embed="rId2"/>
                <a:stretch>
                  <a:fillRect l="-952" t="-1816" r="-1736"/>
                </a:stretch>
              </a:blipFill>
              <a:ln w="0">
                <a:noFill/>
              </a:ln>
            </p:spPr>
            <p:txBody>
              <a:bodyPr/>
              <a:lstStyle/>
              <a:p>
                <a:r>
                  <a:rPr lang="es-ES">
                    <a:noFill/>
                  </a:rPr>
                  <a:t> </a:t>
                </a:r>
              </a:p>
            </p:txBody>
          </p:sp>
        </mc:Fallback>
      </mc:AlternateContent>
      <p:pic>
        <p:nvPicPr>
          <p:cNvPr id="153" name="Imagen 5">
            <a:extLst>
              <a:ext uri="{C183D7F6-B498-43B3-948B-1728B52AA6E4}">
                <adec:decorative xmlns:adec="http://schemas.microsoft.com/office/drawing/2017/decorative" val="1"/>
              </a:ext>
            </a:extLst>
          </p:cNvPr>
          <p:cNvPicPr/>
          <p:nvPr/>
        </p:nvPicPr>
        <p:blipFill>
          <a:blip r:embed="rId3"/>
          <a:stretch/>
        </p:blipFill>
        <p:spPr>
          <a:xfrm>
            <a:off x="6281100" y="4633805"/>
            <a:ext cx="3588627" cy="1859155"/>
          </a:xfrm>
          <a:prstGeom prst="rect">
            <a:avLst/>
          </a:prstGeom>
          <a:ln w="0">
            <a:noFill/>
          </a:ln>
        </p:spPr>
      </p:pic>
      <p:sp>
        <p:nvSpPr>
          <p:cNvPr id="4" name="PlaceHolder 3"/>
          <p:cNvSpPr>
            <a:spLocks noGrp="1"/>
          </p:cNvSpPr>
          <p:nvPr>
            <p:ph type="sldNum" idx="4294967295"/>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7</a:t>
            </a:fld>
            <a:endParaRPr/>
          </a:p>
        </p:txBody>
      </p:sp>
    </p:spTree>
    <p:extLst>
      <p:ext uri="{BB962C8B-B14F-4D97-AF65-F5344CB8AC3E}">
        <p14:creationId xmlns:p14="http://schemas.microsoft.com/office/powerpoint/2010/main" val="2434195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PlaceHolder 1"/>
          <p:cNvSpPr>
            <a:spLocks noGrp="1"/>
          </p:cNvSpPr>
          <p:nvPr>
            <p:ph type="title" idx="4294967295"/>
          </p:nvPr>
        </p:nvSpPr>
        <p:spPr>
          <a:xfrm>
            <a:off x="838080" y="365040"/>
            <a:ext cx="10515240" cy="1325160"/>
          </a:xfrm>
          <a:prstGeom prst="rect">
            <a:avLst/>
          </a:prstGeom>
          <a:noFill/>
          <a:ln w="0">
            <a:solidFill>
              <a:srgbClr val="000000"/>
            </a:solidFill>
          </a:ln>
        </p:spPr>
        <p:txBody>
          <a:bodyPr anchor="ctr">
            <a:normAutofit fontScale="91000"/>
          </a:bodyPr>
          <a:lstStyle/>
          <a:p>
            <a:r>
              <a:rPr lang="es-ES" dirty="0"/>
              <a:t>3. C</a:t>
            </a:r>
            <a:r>
              <a:rPr lang="es-ES" sz="4400" b="0" strike="noStrike" spc="-1" dirty="0">
                <a:solidFill>
                  <a:srgbClr val="000000"/>
                </a:solidFill>
                <a:latin typeface="Calibri Light"/>
              </a:rPr>
              <a:t>oeficiente de correlación (de Pearson)</a:t>
            </a:r>
            <a:br>
              <a:rPr lang="es-ES" sz="4400" b="0" strike="noStrike" spc="-1" dirty="0">
                <a:solidFill>
                  <a:srgbClr val="000000"/>
                </a:solidFill>
                <a:latin typeface="Calibri Light"/>
              </a:rPr>
            </a:br>
            <a:r>
              <a:rPr lang="es-ES" sz="4400" b="0" strike="noStrike" spc="-1" dirty="0">
                <a:solidFill>
                  <a:srgbClr val="000000"/>
                </a:solidFill>
                <a:latin typeface="Calibri Light"/>
              </a:rPr>
              <a:t>Cálculo del coeficiente de correlación muestral</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52" name="PlaceHolder 2"/>
              <p:cNvSpPr>
                <a:spLocks noGrp="1"/>
              </p:cNvSpPr>
              <p:nvPr>
                <p:ph idx="4294967295"/>
              </p:nvPr>
            </p:nvSpPr>
            <p:spPr>
              <a:xfrm>
                <a:off x="838080" y="1825560"/>
                <a:ext cx="10886040" cy="5032440"/>
              </a:xfrm>
              <a:prstGeom prst="rect">
                <a:avLst/>
              </a:prstGeom>
              <a:noFill/>
              <a:ln w="0">
                <a:noFill/>
              </a:ln>
            </p:spPr>
            <p:txBody>
              <a:bodyPr anchor="t">
                <a:normAutofit fontScale="73000" lnSpcReduction="20000"/>
              </a:bodyPr>
              <a:lstStyle/>
              <a:p>
                <a:pPr>
                  <a:spcBef>
                    <a:spcPts val="1001"/>
                  </a:spcBef>
                  <a:buClr>
                    <a:srgbClr val="000000"/>
                  </a:buClr>
                  <a:buFont typeface="Arial"/>
                  <a:buChar char="•"/>
                </a:pPr>
                <a:r>
                  <a:rPr lang="es-ES" spc="-1" dirty="0">
                    <a:solidFill>
                      <a:srgbClr val="000000"/>
                    </a:solidFill>
                    <a:latin typeface="Calibri"/>
                  </a:rPr>
                  <a:t>Dada u</a:t>
                </a:r>
                <a:r>
                  <a:rPr lang="es-ES" sz="2800" b="0" strike="noStrike" spc="-1" dirty="0">
                    <a:solidFill>
                      <a:srgbClr val="000000"/>
                    </a:solidFill>
                    <a:latin typeface="Calibri"/>
                  </a:rPr>
                  <a:t>na muestra de pares de valores: </a:t>
                </a:r>
                <a14:m>
                  <m:oMath xmlns:m="http://schemas.openxmlformats.org/officeDocument/2006/math">
                    <m:d>
                      <m:dPr>
                        <m:ctrlPr>
                          <a:rPr lang="es-ES" b="0" i="1" strike="noStrike" spc="-1" smtClean="0">
                            <a:solidFill>
                              <a:srgbClr val="000000"/>
                            </a:solidFill>
                            <a:latin typeface="Cambria Math" panose="02040503050406030204" pitchFamily="18" charset="0"/>
                          </a:rPr>
                        </m:ctrlPr>
                      </m:dPr>
                      <m:e>
                        <m:sSub>
                          <m:sSubPr>
                            <m:ctrlPr>
                              <a:rPr lang="es-ES" b="0" i="1" strike="noStrike" spc="-1" smtClean="0">
                                <a:solidFill>
                                  <a:srgbClr val="000000"/>
                                </a:solidFill>
                                <a:latin typeface="Cambria Math" panose="02040503050406030204" pitchFamily="18" charset="0"/>
                              </a:rPr>
                            </m:ctrlPr>
                          </m:sSubPr>
                          <m:e>
                            <m:r>
                              <a:rPr lang="es-ES" b="0" i="1" strike="noStrike" spc="-1" smtClean="0">
                                <a:solidFill>
                                  <a:srgbClr val="000000"/>
                                </a:solidFill>
                                <a:latin typeface="Cambria Math" panose="02040503050406030204" pitchFamily="18" charset="0"/>
                              </a:rPr>
                              <m:t>𝑥</m:t>
                            </m:r>
                          </m:e>
                          <m:sub>
                            <m:r>
                              <a:rPr lang="es-ES" b="0" i="1" strike="noStrike" spc="-1" smtClean="0">
                                <a:solidFill>
                                  <a:srgbClr val="000000"/>
                                </a:solidFill>
                                <a:latin typeface="Cambria Math" panose="02040503050406030204" pitchFamily="18" charset="0"/>
                              </a:rPr>
                              <m:t>1</m:t>
                            </m:r>
                          </m:sub>
                        </m:sSub>
                        <m:r>
                          <a:rPr lang="es-ES" b="0" i="1" strike="noStrike" spc="-1" smtClean="0">
                            <a:solidFill>
                              <a:srgbClr val="000000"/>
                            </a:solidFill>
                            <a:latin typeface="Cambria Math" panose="02040503050406030204" pitchFamily="18" charset="0"/>
                          </a:rPr>
                          <m:t>,</m:t>
                        </m:r>
                        <m:sSub>
                          <m:sSubPr>
                            <m:ctrlPr>
                              <a:rPr lang="es-ES" b="0" i="1" strike="noStrike" spc="-1" smtClean="0">
                                <a:solidFill>
                                  <a:srgbClr val="000000"/>
                                </a:solidFill>
                                <a:latin typeface="Cambria Math" panose="02040503050406030204" pitchFamily="18" charset="0"/>
                              </a:rPr>
                            </m:ctrlPr>
                          </m:sSubPr>
                          <m:e>
                            <m:r>
                              <a:rPr lang="es-ES" b="0" i="1" strike="noStrike" spc="-1" smtClean="0">
                                <a:solidFill>
                                  <a:srgbClr val="000000"/>
                                </a:solidFill>
                                <a:latin typeface="Cambria Math" panose="02040503050406030204" pitchFamily="18" charset="0"/>
                              </a:rPr>
                              <m:t>𝑦</m:t>
                            </m:r>
                          </m:e>
                          <m:sub>
                            <m:r>
                              <a:rPr lang="es-ES" b="0" i="1" strike="noStrike" spc="-1" smtClean="0">
                                <a:solidFill>
                                  <a:srgbClr val="000000"/>
                                </a:solidFill>
                                <a:latin typeface="Cambria Math" panose="02040503050406030204" pitchFamily="18" charset="0"/>
                              </a:rPr>
                              <m:t>1</m:t>
                            </m:r>
                          </m:sub>
                        </m:sSub>
                      </m:e>
                    </m:d>
                    <m:r>
                      <a:rPr lang="es-ES" b="0" i="1" strike="noStrike" spc="-1" smtClean="0">
                        <a:solidFill>
                          <a:srgbClr val="000000"/>
                        </a:solidFill>
                        <a:latin typeface="Cambria Math" panose="02040503050406030204" pitchFamily="18" charset="0"/>
                      </a:rPr>
                      <m:t>,</m:t>
                    </m:r>
                    <m:d>
                      <m:dPr>
                        <m:ctrlPr>
                          <a:rPr lang="es-ES" i="1" spc="-1">
                            <a:solidFill>
                              <a:srgbClr val="000000"/>
                            </a:solidFill>
                            <a:latin typeface="Cambria Math" panose="02040503050406030204" pitchFamily="18" charset="0"/>
                          </a:rPr>
                        </m:ctrlPr>
                      </m:dPr>
                      <m:e>
                        <m:sSub>
                          <m:sSubPr>
                            <m:ctrlPr>
                              <a:rPr lang="es-ES" i="1" spc="-1">
                                <a:solidFill>
                                  <a:srgbClr val="000000"/>
                                </a:solidFill>
                                <a:latin typeface="Cambria Math" panose="02040503050406030204" pitchFamily="18" charset="0"/>
                              </a:rPr>
                            </m:ctrlPr>
                          </m:sSubPr>
                          <m:e>
                            <m:r>
                              <a:rPr lang="es-ES" i="1" spc="-1">
                                <a:solidFill>
                                  <a:srgbClr val="000000"/>
                                </a:solidFill>
                                <a:latin typeface="Cambria Math" panose="02040503050406030204" pitchFamily="18" charset="0"/>
                              </a:rPr>
                              <m:t>𝑥</m:t>
                            </m:r>
                          </m:e>
                          <m:sub>
                            <m:r>
                              <a:rPr lang="es-ES" b="0" i="1" spc="-1" smtClean="0">
                                <a:solidFill>
                                  <a:srgbClr val="000000"/>
                                </a:solidFill>
                                <a:latin typeface="Cambria Math" panose="02040503050406030204" pitchFamily="18" charset="0"/>
                              </a:rPr>
                              <m:t>2</m:t>
                            </m:r>
                          </m:sub>
                        </m:sSub>
                        <m:r>
                          <a:rPr lang="es-ES" i="1" spc="-1">
                            <a:solidFill>
                              <a:srgbClr val="000000"/>
                            </a:solidFill>
                            <a:latin typeface="Cambria Math" panose="02040503050406030204" pitchFamily="18" charset="0"/>
                          </a:rPr>
                          <m:t>,</m:t>
                        </m:r>
                        <m:sSub>
                          <m:sSubPr>
                            <m:ctrlPr>
                              <a:rPr lang="es-ES" i="1" spc="-1">
                                <a:solidFill>
                                  <a:srgbClr val="000000"/>
                                </a:solidFill>
                                <a:latin typeface="Cambria Math" panose="02040503050406030204" pitchFamily="18" charset="0"/>
                              </a:rPr>
                            </m:ctrlPr>
                          </m:sSubPr>
                          <m:e>
                            <m:r>
                              <a:rPr lang="es-ES" i="1" spc="-1">
                                <a:solidFill>
                                  <a:srgbClr val="000000"/>
                                </a:solidFill>
                                <a:latin typeface="Cambria Math" panose="02040503050406030204" pitchFamily="18" charset="0"/>
                              </a:rPr>
                              <m:t>𝑦</m:t>
                            </m:r>
                          </m:e>
                          <m:sub>
                            <m:r>
                              <a:rPr lang="es-ES" b="0" i="1" spc="-1" smtClean="0">
                                <a:solidFill>
                                  <a:srgbClr val="000000"/>
                                </a:solidFill>
                                <a:latin typeface="Cambria Math" panose="02040503050406030204" pitchFamily="18" charset="0"/>
                              </a:rPr>
                              <m:t>2</m:t>
                            </m:r>
                          </m:sub>
                        </m:sSub>
                      </m:e>
                    </m:d>
                    <m:r>
                      <a:rPr lang="es-ES" b="0" i="1" spc="-1" smtClean="0">
                        <a:solidFill>
                          <a:srgbClr val="000000"/>
                        </a:solidFill>
                        <a:latin typeface="Cambria Math" panose="02040503050406030204" pitchFamily="18" charset="0"/>
                      </a:rPr>
                      <m:t>,…</m:t>
                    </m:r>
                    <m:d>
                      <m:dPr>
                        <m:ctrlPr>
                          <a:rPr lang="es-ES" i="1" spc="-1">
                            <a:solidFill>
                              <a:srgbClr val="000000"/>
                            </a:solidFill>
                            <a:latin typeface="Cambria Math" panose="02040503050406030204" pitchFamily="18" charset="0"/>
                          </a:rPr>
                        </m:ctrlPr>
                      </m:dPr>
                      <m:e>
                        <m:sSub>
                          <m:sSubPr>
                            <m:ctrlPr>
                              <a:rPr lang="es-ES" i="1" spc="-1">
                                <a:solidFill>
                                  <a:srgbClr val="000000"/>
                                </a:solidFill>
                                <a:latin typeface="Cambria Math" panose="02040503050406030204" pitchFamily="18" charset="0"/>
                              </a:rPr>
                            </m:ctrlPr>
                          </m:sSubPr>
                          <m:e>
                            <m:r>
                              <a:rPr lang="es-ES" i="1" spc="-1">
                                <a:solidFill>
                                  <a:srgbClr val="000000"/>
                                </a:solidFill>
                                <a:latin typeface="Cambria Math" panose="02040503050406030204" pitchFamily="18" charset="0"/>
                              </a:rPr>
                              <m:t>𝑥</m:t>
                            </m:r>
                          </m:e>
                          <m:sub>
                            <m:r>
                              <a:rPr lang="es-ES" b="0" i="1" spc="-1" smtClean="0">
                                <a:solidFill>
                                  <a:srgbClr val="000000"/>
                                </a:solidFill>
                                <a:latin typeface="Cambria Math" panose="02040503050406030204" pitchFamily="18" charset="0"/>
                              </a:rPr>
                              <m:t>𝑛</m:t>
                            </m:r>
                          </m:sub>
                        </m:sSub>
                        <m:r>
                          <a:rPr lang="es-ES" i="1" spc="-1">
                            <a:solidFill>
                              <a:srgbClr val="000000"/>
                            </a:solidFill>
                            <a:latin typeface="Cambria Math" panose="02040503050406030204" pitchFamily="18" charset="0"/>
                          </a:rPr>
                          <m:t>,</m:t>
                        </m:r>
                        <m:sSub>
                          <m:sSubPr>
                            <m:ctrlPr>
                              <a:rPr lang="es-ES" i="1" spc="-1">
                                <a:solidFill>
                                  <a:srgbClr val="000000"/>
                                </a:solidFill>
                                <a:latin typeface="Cambria Math" panose="02040503050406030204" pitchFamily="18" charset="0"/>
                              </a:rPr>
                            </m:ctrlPr>
                          </m:sSubPr>
                          <m:e>
                            <m:r>
                              <a:rPr lang="es-ES" i="1" spc="-1">
                                <a:solidFill>
                                  <a:srgbClr val="000000"/>
                                </a:solidFill>
                                <a:latin typeface="Cambria Math" panose="02040503050406030204" pitchFamily="18" charset="0"/>
                              </a:rPr>
                              <m:t>𝑦</m:t>
                            </m:r>
                          </m:e>
                          <m:sub>
                            <m:r>
                              <a:rPr lang="es-ES" b="0" i="1" spc="-1" smtClean="0">
                                <a:solidFill>
                                  <a:srgbClr val="000000"/>
                                </a:solidFill>
                                <a:latin typeface="Cambria Math" panose="02040503050406030204" pitchFamily="18" charset="0"/>
                              </a:rPr>
                              <m:t>𝑛</m:t>
                            </m:r>
                          </m:sub>
                        </m:sSub>
                      </m:e>
                    </m:d>
                  </m:oMath>
                </a14:m>
                <a:r>
                  <a:rPr lang="es-ES" b="0" strike="noStrike" spc="-1" dirty="0">
                    <a:solidFill>
                      <a:srgbClr val="000000"/>
                    </a:solidFill>
                    <a:latin typeface="Calibri"/>
                  </a:rPr>
                  <a:t> de dos variables </a:t>
                </a:r>
                <a14:m>
                  <m:oMath xmlns:m="http://schemas.openxmlformats.org/officeDocument/2006/math">
                    <m:r>
                      <m:rPr>
                        <m:nor/>
                      </m:rPr>
                      <a:rPr lang="es-ES" smtClean="0">
                        <a:latin typeface="Cambria Math" panose="02040503050406030204" pitchFamily="18" charset="0"/>
                      </a:rPr>
                      <m:t>X</m:t>
                    </m:r>
                  </m:oMath>
                </a14:m>
                <a:r>
                  <a:rPr lang="es-ES" b="0" strike="noStrike" spc="-1" dirty="0">
                    <a:solidFill>
                      <a:srgbClr val="000000"/>
                    </a:solidFill>
                    <a:latin typeface="Calibri"/>
                  </a:rPr>
                  <a:t> e </a:t>
                </a:r>
                <a14:m>
                  <m:oMath xmlns:m="http://schemas.openxmlformats.org/officeDocument/2006/math">
                    <m:r>
                      <m:rPr>
                        <m:nor/>
                      </m:rPr>
                      <a:rPr lang="es-ES">
                        <a:latin typeface="Cambria Math" panose="02040503050406030204" pitchFamily="18" charset="0"/>
                      </a:rPr>
                      <m:t>Y</m:t>
                    </m:r>
                  </m:oMath>
                </a14:m>
                <a:endParaRPr lang="es-ES" b="0" strike="noStrike" spc="-1" dirty="0">
                  <a:solidFill>
                    <a:srgbClr val="000000"/>
                  </a:solidFill>
                  <a:latin typeface="Calibri"/>
                </a:endParaRPr>
              </a:p>
              <a:p>
                <a:pPr lvl="1"/>
                <a14:m>
                  <m:oMath xmlns:m="http://schemas.openxmlformats.org/officeDocument/2006/math">
                    <m:r>
                      <a:rPr lang="es-ES" i="1" smtClean="0">
                        <a:latin typeface="Cambria Math" panose="02040503050406030204" pitchFamily="18" charset="0"/>
                      </a:rPr>
                      <m:t>𝑟</m:t>
                    </m:r>
                    <m:r>
                      <a:rPr lang="ar-AE" i="1">
                        <a:latin typeface="Cambria Math" panose="02040503050406030204" pitchFamily="18" charset="0"/>
                      </a:rPr>
                      <m:t>=</m:t>
                    </m:r>
                    <m:r>
                      <m:rPr>
                        <m:nor/>
                      </m:rPr>
                      <a:rPr lang="es-ES">
                        <a:latin typeface="Cambria Math" panose="02040503050406030204" pitchFamily="18" charset="0"/>
                      </a:rPr>
                      <m:t>coeficiente</m:t>
                    </m:r>
                    <m:r>
                      <m:rPr>
                        <m:nor/>
                      </m:rPr>
                      <a:rPr lang="es-ES">
                        <a:latin typeface="Cambria Math" panose="02040503050406030204" pitchFamily="18" charset="0"/>
                      </a:rPr>
                      <m:t> </m:t>
                    </m:r>
                    <m:r>
                      <m:rPr>
                        <m:nor/>
                      </m:rPr>
                      <a:rPr lang="es-ES">
                        <a:latin typeface="Cambria Math" panose="02040503050406030204" pitchFamily="18" charset="0"/>
                      </a:rPr>
                      <m:t>de</m:t>
                    </m:r>
                    <m:r>
                      <m:rPr>
                        <m:nor/>
                      </m:rPr>
                      <a:rPr lang="es-ES">
                        <a:latin typeface="Cambria Math" panose="02040503050406030204" pitchFamily="18" charset="0"/>
                      </a:rPr>
                      <m:t> </m:t>
                    </m:r>
                    <m:r>
                      <m:rPr>
                        <m:nor/>
                      </m:rPr>
                      <a:rPr lang="es-ES">
                        <a:latin typeface="Cambria Math" panose="02040503050406030204" pitchFamily="18" charset="0"/>
                      </a:rPr>
                      <m:t>correlaci</m:t>
                    </m:r>
                    <m:r>
                      <m:rPr>
                        <m:nor/>
                      </m:rPr>
                      <a:rPr lang="es-ES">
                        <a:latin typeface="Cambria Math" panose="02040503050406030204" pitchFamily="18" charset="0"/>
                      </a:rPr>
                      <m:t>ó</m:t>
                    </m:r>
                    <m:r>
                      <m:rPr>
                        <m:nor/>
                      </m:rPr>
                      <a:rPr lang="es-ES">
                        <a:latin typeface="Cambria Math" panose="02040503050406030204" pitchFamily="18" charset="0"/>
                      </a:rPr>
                      <m:t>n</m:t>
                    </m:r>
                    <m:r>
                      <m:rPr>
                        <m:nor/>
                      </m:rPr>
                      <a:rPr lang="es-ES">
                        <a:latin typeface="Cambria Math" panose="02040503050406030204" pitchFamily="18" charset="0"/>
                      </a:rPr>
                      <m:t> </m:t>
                    </m:r>
                    <m:r>
                      <m:rPr>
                        <m:nor/>
                      </m:rPr>
                      <a:rPr lang="es-ES">
                        <a:latin typeface="Cambria Math" panose="02040503050406030204" pitchFamily="18" charset="0"/>
                      </a:rPr>
                      <m:t>muestral</m:t>
                    </m:r>
                    <m:r>
                      <m:rPr>
                        <m:nor/>
                      </m:rPr>
                      <a:rPr lang="es-ES">
                        <a:latin typeface="Cambria Math" panose="02040503050406030204" pitchFamily="18" charset="0"/>
                      </a:rPr>
                      <m:t> =</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es-ES" i="1">
                                <a:latin typeface="Cambria Math" panose="02040503050406030204" pitchFamily="18" charset="0"/>
                              </a:rPr>
                              <m:t>𝑠</m:t>
                            </m:r>
                          </m:e>
                          <m:sub>
                            <m:r>
                              <a:rPr lang="ar-AE" i="1">
                                <a:latin typeface="Cambria Math" panose="02040503050406030204" pitchFamily="18" charset="0"/>
                              </a:rPr>
                              <m:t>𝑥𝑦</m:t>
                            </m:r>
                          </m:sub>
                        </m:sSub>
                      </m:num>
                      <m:den>
                        <m:sSub>
                          <m:sSubPr>
                            <m:ctrlPr>
                              <a:rPr lang="ar-AE" i="1">
                                <a:latin typeface="Cambria Math" panose="02040503050406030204" pitchFamily="18" charset="0"/>
                              </a:rPr>
                            </m:ctrlPr>
                          </m:sSubPr>
                          <m:e>
                            <m:r>
                              <a:rPr lang="es-ES" i="1">
                                <a:latin typeface="Cambria Math" panose="02040503050406030204" pitchFamily="18" charset="0"/>
                              </a:rPr>
                              <m:t>𝑠</m:t>
                            </m:r>
                          </m:e>
                          <m:sub>
                            <m:r>
                              <a:rPr lang="es-ES" i="1">
                                <a:latin typeface="Cambria Math" panose="02040503050406030204" pitchFamily="18" charset="0"/>
                              </a:rPr>
                              <m:t>𝑥</m:t>
                            </m:r>
                          </m:sub>
                        </m:sSub>
                        <m:sSub>
                          <m:sSubPr>
                            <m:ctrlPr>
                              <a:rPr lang="ar-AE" i="1">
                                <a:latin typeface="Cambria Math" panose="02040503050406030204" pitchFamily="18" charset="0"/>
                              </a:rPr>
                            </m:ctrlPr>
                          </m:sSubPr>
                          <m:e>
                            <m:r>
                              <a:rPr lang="es-ES" i="1">
                                <a:latin typeface="Cambria Math" panose="02040503050406030204" pitchFamily="18" charset="0"/>
                              </a:rPr>
                              <m:t>𝑠</m:t>
                            </m:r>
                          </m:e>
                          <m:sub>
                            <m:r>
                              <a:rPr lang="es-ES" i="1">
                                <a:latin typeface="Cambria Math" panose="02040503050406030204" pitchFamily="18" charset="0"/>
                              </a:rPr>
                              <m:t>𝑦</m:t>
                            </m:r>
                          </m:sub>
                        </m:sSub>
                      </m:den>
                    </m:f>
                  </m:oMath>
                </a14:m>
                <a:endParaRPr lang="es-ES" dirty="0"/>
              </a:p>
              <a:p>
                <a:r>
                  <a:rPr lang="es-ES" dirty="0"/>
                  <a:t>Donde</a:t>
                </a:r>
              </a:p>
              <a:p>
                <a:pPr lvl="1"/>
                <a14:m>
                  <m:oMath xmlns:m="http://schemas.openxmlformats.org/officeDocument/2006/math">
                    <m:sSub>
                      <m:sSubPr>
                        <m:ctrlPr>
                          <a:rPr lang="ar-AE" b="0" i="1" smtClean="0">
                            <a:latin typeface="Cambria Math" panose="02040503050406030204" pitchFamily="18" charset="0"/>
                          </a:rPr>
                        </m:ctrlPr>
                      </m:sSubPr>
                      <m:e>
                        <m:r>
                          <a:rPr lang="ar-AE" b="0" i="1" smtClean="0">
                            <a:latin typeface="Cambria Math" panose="02040503050406030204" pitchFamily="18" charset="0"/>
                          </a:rPr>
                          <m:t>𝑠</m:t>
                        </m:r>
                      </m:e>
                      <m:sub>
                        <m:r>
                          <a:rPr lang="ar-AE" b="0" i="1" smtClean="0">
                            <a:latin typeface="Cambria Math" panose="02040503050406030204" pitchFamily="18" charset="0"/>
                          </a:rPr>
                          <m:t>𝑥𝑦</m:t>
                        </m:r>
                      </m:sub>
                    </m:sSub>
                    <m:r>
                      <a:rPr lang="ar-AE" b="0" i="1" smtClean="0">
                        <a:latin typeface="Cambria Math" panose="02040503050406030204" pitchFamily="18" charset="0"/>
                      </a:rPr>
                      <m:t>=</m:t>
                    </m:r>
                    <m:r>
                      <m:rPr>
                        <m:nor/>
                      </m:rPr>
                      <a:rPr lang="es-ES" b="0" i="0" smtClean="0">
                        <a:latin typeface="Cambria Math" panose="02040503050406030204" pitchFamily="18" charset="0"/>
                      </a:rPr>
                      <m:t>covarianza</m:t>
                    </m:r>
                    <m:r>
                      <m:rPr>
                        <m:nor/>
                      </m:rPr>
                      <a:rPr lang="es-ES" b="0" i="0" smtClean="0">
                        <a:latin typeface="Cambria Math" panose="02040503050406030204" pitchFamily="18" charset="0"/>
                      </a:rPr>
                      <m:t> </m:t>
                    </m:r>
                    <m:r>
                      <m:rPr>
                        <m:nor/>
                      </m:rPr>
                      <a:rPr lang="es-ES" b="0" i="0" smtClean="0">
                        <a:latin typeface="Cambria Math" panose="02040503050406030204" pitchFamily="18" charset="0"/>
                      </a:rPr>
                      <m:t>muestral</m:t>
                    </m:r>
                    <m:r>
                      <a:rPr lang="es-ES" b="0" i="1" smtClean="0">
                        <a:latin typeface="Cambria Math" panose="02040503050406030204" pitchFamily="18" charset="0"/>
                      </a:rPr>
                      <m:t>=</m:t>
                    </m:r>
                    <m:f>
                      <m:fPr>
                        <m:ctrlPr>
                          <a:rPr lang="ar-AE" b="0" i="1" smtClean="0">
                            <a:latin typeface="Cambria Math" panose="02040503050406030204" pitchFamily="18" charset="0"/>
                          </a:rPr>
                        </m:ctrlPr>
                      </m:fPr>
                      <m:num>
                        <m:nary>
                          <m:naryPr>
                            <m:chr m:val="∑"/>
                            <m:ctrlPr>
                              <a:rPr lang="ar-AE" b="0" i="1" smtClean="0">
                                <a:latin typeface="Cambria Math" panose="02040503050406030204" pitchFamily="18" charset="0"/>
                              </a:rPr>
                            </m:ctrlPr>
                          </m:naryPr>
                          <m:sub>
                            <m:r>
                              <m:rPr>
                                <m:brk m:alnAt="23"/>
                              </m:rPr>
                              <a:rPr lang="ar-AE" b="0" i="1" smtClean="0">
                                <a:latin typeface="Cambria Math" panose="02040503050406030204" pitchFamily="18" charset="0"/>
                              </a:rPr>
                              <m:t>𝑖</m:t>
                            </m:r>
                            <m:r>
                              <a:rPr lang="ar-AE" b="0" i="1" smtClean="0">
                                <a:latin typeface="Cambria Math" panose="02040503050406030204" pitchFamily="18" charset="0"/>
                              </a:rPr>
                              <m:t>=</m:t>
                            </m:r>
                            <m:r>
                              <a:rPr lang="ar-AE" b="0" i="1" smtClean="0">
                                <a:latin typeface="Cambria Math" panose="02040503050406030204" pitchFamily="18" charset="0"/>
                              </a:rPr>
                              <m:t>1</m:t>
                            </m:r>
                          </m:sub>
                          <m:sup>
                            <m:r>
                              <a:rPr lang="ar-AE" b="0" i="1" smtClean="0">
                                <a:latin typeface="Cambria Math" panose="02040503050406030204" pitchFamily="18" charset="0"/>
                              </a:rPr>
                              <m:t>𝑛</m:t>
                            </m:r>
                          </m:sup>
                          <m:e>
                            <m:r>
                              <a:rPr lang="ar-AE" b="0" i="1" smtClean="0">
                                <a:latin typeface="Cambria Math" panose="02040503050406030204" pitchFamily="18" charset="0"/>
                              </a:rPr>
                              <m:t>(</m:t>
                            </m:r>
                            <m:sSub>
                              <m:sSubPr>
                                <m:ctrlPr>
                                  <a:rPr lang="ar-AE" b="0" i="1" smtClean="0">
                                    <a:latin typeface="Cambria Math" panose="02040503050406030204" pitchFamily="18" charset="0"/>
                                  </a:rPr>
                                </m:ctrlPr>
                              </m:sSubPr>
                              <m:e>
                                <m:r>
                                  <a:rPr lang="ar-AE" b="0" i="1" smtClean="0">
                                    <a:latin typeface="Cambria Math" panose="02040503050406030204" pitchFamily="18" charset="0"/>
                                  </a:rPr>
                                  <m:t>𝑥</m:t>
                                </m:r>
                              </m:e>
                              <m:sub>
                                <m:r>
                                  <a:rPr lang="ar-AE" b="0" i="1" smtClean="0">
                                    <a:latin typeface="Cambria Math" panose="02040503050406030204" pitchFamily="18" charset="0"/>
                                  </a:rPr>
                                  <m:t>𝑖</m:t>
                                </m:r>
                              </m:sub>
                            </m:sSub>
                            <m:r>
                              <a:rPr lang="ar-AE" b="0" i="1" smtClean="0">
                                <a:latin typeface="Cambria Math" panose="02040503050406030204" pitchFamily="18" charset="0"/>
                              </a:rPr>
                              <m:t>−</m:t>
                            </m:r>
                            <m:acc>
                              <m:accPr>
                                <m:chr m:val="̅"/>
                                <m:ctrlPr>
                                  <a:rPr lang="ar-AE" b="0" i="1" smtClean="0">
                                    <a:latin typeface="Cambria Math" panose="02040503050406030204" pitchFamily="18" charset="0"/>
                                  </a:rPr>
                                </m:ctrlPr>
                              </m:accPr>
                              <m:e>
                                <m:r>
                                  <a:rPr lang="ar-AE" b="0" i="1" smtClean="0">
                                    <a:latin typeface="Cambria Math" panose="02040503050406030204" pitchFamily="18" charset="0"/>
                                  </a:rPr>
                                  <m:t>𝑥</m:t>
                                </m:r>
                              </m:e>
                            </m:acc>
                            <m:r>
                              <a:rPr lang="ar-AE" i="1">
                                <a:latin typeface="Cambria Math" panose="02040503050406030204" pitchFamily="18" charset="0"/>
                              </a:rPr>
                              <m:t>)(</m:t>
                            </m:r>
                            <m:sSub>
                              <m:sSubPr>
                                <m:ctrlPr>
                                  <a:rPr lang="ar-AE" i="1">
                                    <a:latin typeface="Cambria Math" panose="02040503050406030204" pitchFamily="18" charset="0"/>
                                  </a:rPr>
                                </m:ctrlPr>
                              </m:sSubPr>
                              <m:e>
                                <m:r>
                                  <a:rPr lang="ar-AE" b="0" i="1" smtClean="0">
                                    <a:latin typeface="Cambria Math" panose="02040503050406030204" pitchFamily="18" charset="0"/>
                                  </a:rPr>
                                  <m:t>𝑦</m:t>
                                </m:r>
                              </m:e>
                              <m:sub>
                                <m:r>
                                  <a:rPr lang="ar-AE" i="1">
                                    <a:latin typeface="Cambria Math" panose="02040503050406030204" pitchFamily="18" charset="0"/>
                                  </a:rPr>
                                  <m:t>𝑖</m:t>
                                </m:r>
                              </m:sub>
                            </m:sSub>
                            <m:r>
                              <a:rPr lang="ar-AE" i="1">
                                <a:latin typeface="Cambria Math" panose="02040503050406030204" pitchFamily="18" charset="0"/>
                              </a:rPr>
                              <m:t>−</m:t>
                            </m:r>
                            <m:acc>
                              <m:accPr>
                                <m:chr m:val="̅"/>
                                <m:ctrlPr>
                                  <a:rPr lang="ar-AE" i="1">
                                    <a:latin typeface="Cambria Math" panose="02040503050406030204" pitchFamily="18" charset="0"/>
                                  </a:rPr>
                                </m:ctrlPr>
                              </m:accPr>
                              <m:e>
                                <m:r>
                                  <a:rPr lang="ar-AE" b="0" i="1" smtClean="0">
                                    <a:latin typeface="Cambria Math" panose="02040503050406030204" pitchFamily="18" charset="0"/>
                                  </a:rPr>
                                  <m:t>𝑦</m:t>
                                </m:r>
                              </m:e>
                            </m:acc>
                            <m:r>
                              <a:rPr lang="ar-AE" b="0" i="1" smtClean="0">
                                <a:latin typeface="Cambria Math" panose="02040503050406030204" pitchFamily="18" charset="0"/>
                              </a:rPr>
                              <m:t>)</m:t>
                            </m:r>
                          </m:e>
                        </m:nary>
                      </m:num>
                      <m:den>
                        <m:r>
                          <a:rPr lang="ar-AE" b="0" i="1" smtClean="0">
                            <a:latin typeface="Cambria Math" panose="02040503050406030204" pitchFamily="18" charset="0"/>
                          </a:rPr>
                          <m:t>𝑛</m:t>
                        </m:r>
                        <m:r>
                          <a:rPr lang="ar-AE" b="0" i="1" smtClean="0">
                            <a:latin typeface="Cambria Math" panose="02040503050406030204" pitchFamily="18" charset="0"/>
                          </a:rPr>
                          <m:t>−</m:t>
                        </m:r>
                        <m:r>
                          <a:rPr lang="ar-AE" b="0" i="1" smtClean="0">
                            <a:latin typeface="Cambria Math" panose="02040503050406030204" pitchFamily="18" charset="0"/>
                          </a:rPr>
                          <m:t>1</m:t>
                        </m:r>
                      </m:den>
                    </m:f>
                  </m:oMath>
                </a14:m>
                <a:endParaRPr lang="ar-AE" b="0" i="1" dirty="0">
                  <a:latin typeface="Cambria Math" panose="02040503050406030204" pitchFamily="18" charset="0"/>
                </a:endParaRPr>
              </a:p>
              <a:p>
                <a:pPr lvl="1"/>
                <a14:m>
                  <m:oMath xmlns:m="http://schemas.openxmlformats.org/officeDocument/2006/math">
                    <m:sSub>
                      <m:sSubPr>
                        <m:ctrlPr>
                          <a:rPr lang="ar-AE"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𝑥</m:t>
                        </m:r>
                      </m:sub>
                    </m:sSub>
                    <m:r>
                      <a:rPr lang="ar-AE" i="1">
                        <a:latin typeface="Cambria Math" panose="02040503050406030204" pitchFamily="18" charset="0"/>
                      </a:rPr>
                      <m:t>=</m:t>
                    </m:r>
                    <m:r>
                      <m:rPr>
                        <m:nor/>
                      </m:rPr>
                      <a:rPr lang="es-ES" b="0" i="0" smtClean="0">
                        <a:latin typeface="Cambria Math" panose="02040503050406030204" pitchFamily="18" charset="0"/>
                      </a:rPr>
                      <m:t>desviaci</m:t>
                    </m:r>
                    <m:r>
                      <m:rPr>
                        <m:nor/>
                      </m:rPr>
                      <a:rPr lang="es-ES" b="0" i="0" smtClean="0">
                        <a:latin typeface="Cambria Math" panose="02040503050406030204" pitchFamily="18" charset="0"/>
                      </a:rPr>
                      <m:t>ó</m:t>
                    </m:r>
                    <m:r>
                      <m:rPr>
                        <m:nor/>
                      </m:rPr>
                      <a:rPr lang="es-ES" b="0" i="0" smtClean="0">
                        <a:latin typeface="Cambria Math" panose="02040503050406030204" pitchFamily="18" charset="0"/>
                      </a:rPr>
                      <m:t>n</m:t>
                    </m:r>
                    <m:r>
                      <m:rPr>
                        <m:nor/>
                      </m:rPr>
                      <a:rPr lang="es-ES" b="0" i="0" smtClean="0">
                        <a:latin typeface="Cambria Math" panose="02040503050406030204" pitchFamily="18" charset="0"/>
                      </a:rPr>
                      <m:t> </m:t>
                    </m:r>
                    <m:r>
                      <m:rPr>
                        <m:nor/>
                      </m:rPr>
                      <a:rPr lang="es-ES" b="0" i="0" smtClean="0">
                        <a:latin typeface="Cambria Math" panose="02040503050406030204" pitchFamily="18" charset="0"/>
                      </a:rPr>
                      <m:t>est</m:t>
                    </m:r>
                    <m:r>
                      <m:rPr>
                        <m:nor/>
                      </m:rPr>
                      <a:rPr lang="es-ES" b="0" i="0" smtClean="0">
                        <a:latin typeface="Cambria Math" panose="02040503050406030204" pitchFamily="18" charset="0"/>
                      </a:rPr>
                      <m:t>á</m:t>
                    </m:r>
                    <m:r>
                      <m:rPr>
                        <m:nor/>
                      </m:rPr>
                      <a:rPr lang="es-ES" b="0" i="0" smtClean="0">
                        <a:latin typeface="Cambria Math" panose="02040503050406030204" pitchFamily="18" charset="0"/>
                      </a:rPr>
                      <m:t>ndar</m:t>
                    </m:r>
                    <m:r>
                      <m:rPr>
                        <m:nor/>
                      </m:rPr>
                      <a:rPr lang="es-ES" b="0" i="0" smtClean="0">
                        <a:latin typeface="Cambria Math" panose="02040503050406030204" pitchFamily="18" charset="0"/>
                      </a:rPr>
                      <m:t> </m:t>
                    </m:r>
                    <m:r>
                      <m:rPr>
                        <m:nor/>
                      </m:rPr>
                      <a:rPr lang="es-ES">
                        <a:latin typeface="Cambria Math" panose="02040503050406030204" pitchFamily="18" charset="0"/>
                      </a:rPr>
                      <m:t>muestral</m:t>
                    </m:r>
                    <m:r>
                      <m:rPr>
                        <m:nor/>
                      </m:rPr>
                      <a:rPr lang="es-ES" b="0" i="0" smtClean="0">
                        <a:latin typeface="Cambria Math" panose="02040503050406030204" pitchFamily="18" charset="0"/>
                      </a:rPr>
                      <m:t> </m:t>
                    </m:r>
                    <m:r>
                      <m:rPr>
                        <m:nor/>
                      </m:rPr>
                      <a:rPr lang="es-ES" b="0" i="0" smtClean="0">
                        <a:latin typeface="Cambria Math" panose="02040503050406030204" pitchFamily="18" charset="0"/>
                      </a:rPr>
                      <m:t>de</m:t>
                    </m:r>
                    <m:r>
                      <m:rPr>
                        <m:nor/>
                      </m:rPr>
                      <a:rPr lang="es-ES" b="0" i="0" smtClean="0">
                        <a:latin typeface="Cambria Math" panose="02040503050406030204" pitchFamily="18" charset="0"/>
                      </a:rPr>
                      <m:t> </m:t>
                    </m:r>
                    <m:r>
                      <m:rPr>
                        <m:nor/>
                      </m:rPr>
                      <a:rPr lang="es-ES" b="0" i="0" smtClean="0">
                        <a:latin typeface="Cambria Math" panose="02040503050406030204" pitchFamily="18" charset="0"/>
                      </a:rPr>
                      <m:t>X</m:t>
                    </m:r>
                    <m:r>
                      <m:rPr>
                        <m:nor/>
                      </m:rPr>
                      <a:rPr lang="es-ES">
                        <a:latin typeface="Cambria Math" panose="02040503050406030204" pitchFamily="18" charset="0"/>
                      </a:rPr>
                      <m:t> =</m:t>
                    </m:r>
                    <m:rad>
                      <m:radPr>
                        <m:degHide m:val="on"/>
                        <m:ctrlPr>
                          <a:rPr lang="es-ES" i="1" smtClean="0">
                            <a:latin typeface="Cambria Math" panose="02040503050406030204" pitchFamily="18" charset="0"/>
                          </a:rPr>
                        </m:ctrlPr>
                      </m:radPr>
                      <m:deg/>
                      <m:e>
                        <m:f>
                          <m:fPr>
                            <m:ctrlPr>
                              <a:rPr lang="ar-AE" i="1">
                                <a:latin typeface="Cambria Math" panose="02040503050406030204" pitchFamily="18" charset="0"/>
                              </a:rPr>
                            </m:ctrlPr>
                          </m:fPr>
                          <m:num>
                            <m:nary>
                              <m:naryPr>
                                <m:chr m:val="∑"/>
                                <m:ctrlPr>
                                  <a:rPr lang="ar-AE" i="1">
                                    <a:latin typeface="Cambria Math" panose="02040503050406030204" pitchFamily="18" charset="0"/>
                                  </a:rPr>
                                </m:ctrlPr>
                              </m:naryPr>
                              <m:sub>
                                <m:r>
                                  <m:rPr>
                                    <m:brk m:alnAt="23"/>
                                  </m:rPr>
                                  <a:rPr lang="ar-AE" i="1">
                                    <a:latin typeface="Cambria Math" panose="02040503050406030204" pitchFamily="18" charset="0"/>
                                  </a:rPr>
                                  <m:t>𝑖</m:t>
                                </m:r>
                                <m:r>
                                  <a:rPr lang="ar-AE" i="1">
                                    <a:latin typeface="Cambria Math" panose="02040503050406030204" pitchFamily="18" charset="0"/>
                                  </a:rPr>
                                  <m:t>=</m:t>
                                </m:r>
                                <m:r>
                                  <a:rPr lang="ar-AE" i="1">
                                    <a:latin typeface="Cambria Math" panose="02040503050406030204" pitchFamily="18" charset="0"/>
                                  </a:rPr>
                                  <m:t>1</m:t>
                                </m:r>
                              </m:sub>
                              <m:sup>
                                <m:r>
                                  <a:rPr lang="ar-AE" i="1">
                                    <a:latin typeface="Cambria Math" panose="02040503050406030204" pitchFamily="18" charset="0"/>
                                  </a:rPr>
                                  <m:t>𝑛</m:t>
                                </m:r>
                              </m:sup>
                              <m:e>
                                <m:sSup>
                                  <m:sSupPr>
                                    <m:ctrlPr>
                                      <a:rPr lang="ar-AE" i="1">
                                        <a:latin typeface="Cambria Math" panose="02040503050406030204" pitchFamily="18" charset="0"/>
                                      </a:rPr>
                                    </m:ctrlPr>
                                  </m:sSupPr>
                                  <m:e>
                                    <m:r>
                                      <a:rPr lang="ar-AE" i="1">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i="1">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i="1">
                                        <a:latin typeface="Cambria Math" panose="02040503050406030204" pitchFamily="18" charset="0"/>
                                      </a:rPr>
                                      <m:t>)</m:t>
                                    </m:r>
                                  </m:e>
                                  <m:sup>
                                    <m:r>
                                      <a:rPr lang="ar-AE" i="1">
                                        <a:latin typeface="Cambria Math" panose="02040503050406030204" pitchFamily="18" charset="0"/>
                                      </a:rPr>
                                      <m:t>2</m:t>
                                    </m:r>
                                  </m:sup>
                                </m:sSup>
                              </m:e>
                            </m:nary>
                          </m:num>
                          <m:den>
                            <m:r>
                              <a:rPr lang="ar-AE" i="1">
                                <a:latin typeface="Cambria Math" panose="02040503050406030204" pitchFamily="18" charset="0"/>
                              </a:rPr>
                              <m:t>𝑛</m:t>
                            </m:r>
                            <m:r>
                              <a:rPr lang="ar-AE" i="1">
                                <a:latin typeface="Cambria Math" panose="02040503050406030204" pitchFamily="18" charset="0"/>
                              </a:rPr>
                              <m:t>−</m:t>
                            </m:r>
                            <m:r>
                              <a:rPr lang="ar-AE" i="1">
                                <a:latin typeface="Cambria Math" panose="02040503050406030204" pitchFamily="18" charset="0"/>
                              </a:rPr>
                              <m:t>1</m:t>
                            </m:r>
                          </m:den>
                        </m:f>
                      </m:e>
                    </m:rad>
                  </m:oMath>
                </a14:m>
                <a:endParaRPr lang="es-ES" i="1" dirty="0">
                  <a:latin typeface="Cambria Math" panose="02040503050406030204" pitchFamily="18" charset="0"/>
                </a:endParaRPr>
              </a:p>
              <a:p>
                <a:pPr lvl="1"/>
                <a14:m>
                  <m:oMath xmlns:m="http://schemas.openxmlformats.org/officeDocument/2006/math">
                    <m:sSub>
                      <m:sSubPr>
                        <m:ctrlPr>
                          <a:rPr lang="ar-AE" i="1">
                            <a:latin typeface="Cambria Math" panose="02040503050406030204" pitchFamily="18" charset="0"/>
                          </a:rPr>
                        </m:ctrlPr>
                      </m:sSubPr>
                      <m:e>
                        <m:r>
                          <a:rPr lang="es-ES" i="1">
                            <a:latin typeface="Cambria Math" panose="02040503050406030204" pitchFamily="18" charset="0"/>
                          </a:rPr>
                          <m:t>𝑠</m:t>
                        </m:r>
                      </m:e>
                      <m:sub>
                        <m:r>
                          <a:rPr lang="es-ES" b="0" i="1" smtClean="0">
                            <a:latin typeface="Cambria Math" panose="02040503050406030204" pitchFamily="18" charset="0"/>
                          </a:rPr>
                          <m:t>𝑦</m:t>
                        </m:r>
                      </m:sub>
                    </m:sSub>
                    <m:r>
                      <a:rPr lang="ar-AE" i="1">
                        <a:latin typeface="Cambria Math" panose="02040503050406030204" pitchFamily="18" charset="0"/>
                      </a:rPr>
                      <m:t>=</m:t>
                    </m:r>
                    <m:r>
                      <m:rPr>
                        <m:nor/>
                      </m:rPr>
                      <a:rPr lang="es-ES">
                        <a:latin typeface="Cambria Math" panose="02040503050406030204" pitchFamily="18" charset="0"/>
                      </a:rPr>
                      <m:t>desviaci</m:t>
                    </m:r>
                    <m:r>
                      <m:rPr>
                        <m:nor/>
                      </m:rPr>
                      <a:rPr lang="es-ES">
                        <a:latin typeface="Cambria Math" panose="02040503050406030204" pitchFamily="18" charset="0"/>
                      </a:rPr>
                      <m:t>ó</m:t>
                    </m:r>
                    <m:r>
                      <m:rPr>
                        <m:nor/>
                      </m:rPr>
                      <a:rPr lang="es-ES">
                        <a:latin typeface="Cambria Math" panose="02040503050406030204" pitchFamily="18" charset="0"/>
                      </a:rPr>
                      <m:t>n</m:t>
                    </m:r>
                    <m:r>
                      <m:rPr>
                        <m:nor/>
                      </m:rPr>
                      <a:rPr lang="es-ES">
                        <a:latin typeface="Cambria Math" panose="02040503050406030204" pitchFamily="18" charset="0"/>
                      </a:rPr>
                      <m:t> </m:t>
                    </m:r>
                    <m:r>
                      <m:rPr>
                        <m:nor/>
                      </m:rPr>
                      <a:rPr lang="es-ES">
                        <a:latin typeface="Cambria Math" panose="02040503050406030204" pitchFamily="18" charset="0"/>
                      </a:rPr>
                      <m:t>est</m:t>
                    </m:r>
                    <m:r>
                      <m:rPr>
                        <m:nor/>
                      </m:rPr>
                      <a:rPr lang="es-ES">
                        <a:latin typeface="Cambria Math" panose="02040503050406030204" pitchFamily="18" charset="0"/>
                      </a:rPr>
                      <m:t>á</m:t>
                    </m:r>
                    <m:r>
                      <m:rPr>
                        <m:nor/>
                      </m:rPr>
                      <a:rPr lang="es-ES">
                        <a:latin typeface="Cambria Math" panose="02040503050406030204" pitchFamily="18" charset="0"/>
                      </a:rPr>
                      <m:t>ndar</m:t>
                    </m:r>
                    <m:r>
                      <m:rPr>
                        <m:nor/>
                      </m:rPr>
                      <a:rPr lang="es-ES">
                        <a:latin typeface="Cambria Math" panose="02040503050406030204" pitchFamily="18" charset="0"/>
                      </a:rPr>
                      <m:t> </m:t>
                    </m:r>
                    <m:r>
                      <m:rPr>
                        <m:nor/>
                      </m:rPr>
                      <a:rPr lang="es-ES">
                        <a:latin typeface="Cambria Math" panose="02040503050406030204" pitchFamily="18" charset="0"/>
                      </a:rPr>
                      <m:t>muestral</m:t>
                    </m:r>
                    <m:r>
                      <m:rPr>
                        <m:nor/>
                      </m:rPr>
                      <a:rPr lang="es-ES" b="0" i="0" smtClean="0">
                        <a:latin typeface="Cambria Math" panose="02040503050406030204" pitchFamily="18" charset="0"/>
                      </a:rPr>
                      <m:t> </m:t>
                    </m:r>
                    <m:r>
                      <m:rPr>
                        <m:nor/>
                      </m:rPr>
                      <a:rPr lang="es-ES" b="0" i="0" smtClean="0">
                        <a:latin typeface="Cambria Math" panose="02040503050406030204" pitchFamily="18" charset="0"/>
                      </a:rPr>
                      <m:t>de</m:t>
                    </m:r>
                    <m:r>
                      <m:rPr>
                        <m:nor/>
                      </m:rPr>
                      <a:rPr lang="es-ES" b="0" i="0" smtClean="0">
                        <a:latin typeface="Cambria Math" panose="02040503050406030204" pitchFamily="18" charset="0"/>
                      </a:rPr>
                      <m:t> </m:t>
                    </m:r>
                    <m:r>
                      <m:rPr>
                        <m:nor/>
                      </m:rPr>
                      <a:rPr lang="es-ES" b="0" i="0" smtClean="0">
                        <a:latin typeface="Cambria Math" panose="02040503050406030204" pitchFamily="18" charset="0"/>
                      </a:rPr>
                      <m:t>Y</m:t>
                    </m:r>
                    <m:r>
                      <m:rPr>
                        <m:nor/>
                      </m:rPr>
                      <a:rPr lang="es-ES">
                        <a:latin typeface="Cambria Math" panose="02040503050406030204" pitchFamily="18" charset="0"/>
                      </a:rPr>
                      <m:t> =</m:t>
                    </m:r>
                    <m:rad>
                      <m:radPr>
                        <m:degHide m:val="on"/>
                        <m:ctrlPr>
                          <a:rPr lang="es-ES" i="1">
                            <a:latin typeface="Cambria Math" panose="02040503050406030204" pitchFamily="18" charset="0"/>
                          </a:rPr>
                        </m:ctrlPr>
                      </m:radPr>
                      <m:deg/>
                      <m:e>
                        <m:f>
                          <m:fPr>
                            <m:ctrlPr>
                              <a:rPr lang="ar-AE" i="1">
                                <a:latin typeface="Cambria Math" panose="02040503050406030204" pitchFamily="18" charset="0"/>
                              </a:rPr>
                            </m:ctrlPr>
                          </m:fPr>
                          <m:num>
                            <m:nary>
                              <m:naryPr>
                                <m:chr m:val="∑"/>
                                <m:ctrlPr>
                                  <a:rPr lang="ar-AE" i="1">
                                    <a:latin typeface="Cambria Math" panose="02040503050406030204" pitchFamily="18" charset="0"/>
                                  </a:rPr>
                                </m:ctrlPr>
                              </m:naryPr>
                              <m:sub>
                                <m:r>
                                  <m:rPr>
                                    <m:brk m:alnAt="23"/>
                                  </m:rPr>
                                  <a:rPr lang="ar-AE" i="1">
                                    <a:latin typeface="Cambria Math" panose="02040503050406030204" pitchFamily="18" charset="0"/>
                                  </a:rPr>
                                  <m:t>𝑖</m:t>
                                </m:r>
                                <m:r>
                                  <a:rPr lang="ar-AE" i="1">
                                    <a:latin typeface="Cambria Math" panose="02040503050406030204" pitchFamily="18" charset="0"/>
                                  </a:rPr>
                                  <m:t>=</m:t>
                                </m:r>
                                <m:r>
                                  <a:rPr lang="ar-AE" i="1">
                                    <a:latin typeface="Cambria Math" panose="02040503050406030204" pitchFamily="18" charset="0"/>
                                  </a:rPr>
                                  <m:t>1</m:t>
                                </m:r>
                              </m:sub>
                              <m:sup>
                                <m:r>
                                  <a:rPr lang="ar-AE" i="1">
                                    <a:latin typeface="Cambria Math" panose="02040503050406030204" pitchFamily="18" charset="0"/>
                                  </a:rPr>
                                  <m:t>𝑛</m:t>
                                </m:r>
                              </m:sup>
                              <m:e>
                                <m:sSup>
                                  <m:sSupPr>
                                    <m:ctrlPr>
                                      <a:rPr lang="ar-AE" i="1">
                                        <a:latin typeface="Cambria Math" panose="02040503050406030204" pitchFamily="18" charset="0"/>
                                      </a:rPr>
                                    </m:ctrlPr>
                                  </m:sSupPr>
                                  <m:e>
                                    <m:r>
                                      <a:rPr lang="ar-AE" i="1">
                                        <a:latin typeface="Cambria Math" panose="02040503050406030204" pitchFamily="18" charset="0"/>
                                      </a:rPr>
                                      <m:t>(</m:t>
                                    </m:r>
                                    <m:sSub>
                                      <m:sSubPr>
                                        <m:ctrlPr>
                                          <a:rPr lang="ar-AE" i="1">
                                            <a:latin typeface="Cambria Math" panose="02040503050406030204" pitchFamily="18" charset="0"/>
                                          </a:rPr>
                                        </m:ctrlPr>
                                      </m:sSubPr>
                                      <m:e>
                                        <m:r>
                                          <a:rPr lang="es-ES" b="0" i="1" smtClean="0">
                                            <a:latin typeface="Cambria Math" panose="02040503050406030204" pitchFamily="18" charset="0"/>
                                          </a:rPr>
                                          <m:t>𝑦</m:t>
                                        </m:r>
                                      </m:e>
                                      <m:sub>
                                        <m:r>
                                          <a:rPr lang="ar-AE" i="1">
                                            <a:latin typeface="Cambria Math" panose="02040503050406030204" pitchFamily="18" charset="0"/>
                                          </a:rPr>
                                          <m:t>𝑖</m:t>
                                        </m:r>
                                      </m:sub>
                                    </m:sSub>
                                    <m:r>
                                      <a:rPr lang="ar-AE" i="1">
                                        <a:latin typeface="Cambria Math" panose="02040503050406030204" pitchFamily="18" charset="0"/>
                                      </a:rPr>
                                      <m:t>−</m:t>
                                    </m:r>
                                    <m:acc>
                                      <m:accPr>
                                        <m:chr m:val="̅"/>
                                        <m:ctrlPr>
                                          <a:rPr lang="ar-AE" i="1">
                                            <a:latin typeface="Cambria Math" panose="02040503050406030204" pitchFamily="18" charset="0"/>
                                          </a:rPr>
                                        </m:ctrlPr>
                                      </m:accPr>
                                      <m:e>
                                        <m:r>
                                          <a:rPr lang="es-ES" b="0" i="1" smtClean="0">
                                            <a:latin typeface="Cambria Math" panose="02040503050406030204" pitchFamily="18" charset="0"/>
                                          </a:rPr>
                                          <m:t>𝑦</m:t>
                                        </m:r>
                                      </m:e>
                                    </m:acc>
                                    <m:r>
                                      <a:rPr lang="ar-AE" i="1">
                                        <a:latin typeface="Cambria Math" panose="02040503050406030204" pitchFamily="18" charset="0"/>
                                      </a:rPr>
                                      <m:t>)</m:t>
                                    </m:r>
                                  </m:e>
                                  <m:sup>
                                    <m:r>
                                      <a:rPr lang="ar-AE" i="1">
                                        <a:latin typeface="Cambria Math" panose="02040503050406030204" pitchFamily="18" charset="0"/>
                                      </a:rPr>
                                      <m:t>2</m:t>
                                    </m:r>
                                  </m:sup>
                                </m:sSup>
                              </m:e>
                            </m:nary>
                          </m:num>
                          <m:den>
                            <m:r>
                              <a:rPr lang="ar-AE" i="1">
                                <a:latin typeface="Cambria Math" panose="02040503050406030204" pitchFamily="18" charset="0"/>
                              </a:rPr>
                              <m:t>𝑛</m:t>
                            </m:r>
                            <m:r>
                              <a:rPr lang="ar-AE" i="1">
                                <a:latin typeface="Cambria Math" panose="02040503050406030204" pitchFamily="18" charset="0"/>
                              </a:rPr>
                              <m:t>−</m:t>
                            </m:r>
                            <m:r>
                              <a:rPr lang="ar-AE" i="1">
                                <a:latin typeface="Cambria Math" panose="02040503050406030204" pitchFamily="18" charset="0"/>
                              </a:rPr>
                              <m:t>1</m:t>
                            </m:r>
                          </m:den>
                        </m:f>
                      </m:e>
                    </m:rad>
                  </m:oMath>
                </a14:m>
                <a:endParaRPr lang="en-US" dirty="0"/>
              </a:p>
              <a:p>
                <a:pPr>
                  <a:spcBef>
                    <a:spcPts val="1001"/>
                  </a:spcBef>
                  <a:buClr>
                    <a:srgbClr val="000000"/>
                  </a:buClr>
                  <a:buFont typeface="Arial"/>
                  <a:buChar char="•"/>
                </a:pPr>
                <a:r>
                  <a:rPr lang="es-ES" spc="-1" dirty="0">
                    <a:solidFill>
                      <a:srgbClr val="000000"/>
                    </a:solidFill>
                    <a:latin typeface="Calibri"/>
                  </a:rPr>
                  <a:t>Valores posibles </a:t>
                </a:r>
              </a:p>
              <a:p>
                <a:pPr lvl="1">
                  <a:spcBef>
                    <a:spcPts val="1001"/>
                  </a:spcBef>
                  <a:buClr>
                    <a:srgbClr val="000000"/>
                  </a:buClr>
                  <a:buFont typeface="Arial"/>
                  <a:buChar char="•"/>
                </a:pPr>
                <a14:m>
                  <m:oMath xmlns:m="http://schemas.openxmlformats.org/officeDocument/2006/math">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 ≤</m:t>
                    </m:r>
                    <m:r>
                      <a:rPr lang="es-ES" b="0" i="1" smtClean="0">
                        <a:latin typeface="Cambria Math" panose="02040503050406030204" pitchFamily="18" charset="0"/>
                      </a:rPr>
                      <m:t>𝑟</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oMath>
                </a14:m>
                <a:endParaRPr lang="en-US" dirty="0"/>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Valores de </a:t>
                </a:r>
                <a14:m>
                  <m:oMath xmlns:m="http://schemas.openxmlformats.org/officeDocument/2006/math">
                    <m:r>
                      <a:rPr lang="es-ES" sz="2800" b="0" i="1" strike="noStrike" spc="-1" smtClean="0">
                        <a:solidFill>
                          <a:srgbClr val="000000"/>
                        </a:solidFill>
                        <a:latin typeface="Cambria Math" panose="02040503050406030204" pitchFamily="18" charset="0"/>
                      </a:rPr>
                      <m:t>𝑟</m:t>
                    </m:r>
                  </m:oMath>
                </a14:m>
                <a:r>
                  <a:rPr lang="es-ES" sz="2800" b="0" strike="noStrike" spc="-1" dirty="0">
                    <a:solidFill>
                      <a:srgbClr val="000000"/>
                    </a:solidFill>
                    <a:latin typeface="Calibri"/>
                  </a:rPr>
                  <a:t> cercanos a:</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1 indican una fuerte correlación lineal positiva</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− 1 muestran una fuerte correlación lineal negativa</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0 muestran una correlación débil o ninguna correlación</a:t>
                </a:r>
              </a:p>
              <a:p>
                <a:pPr>
                  <a:spcBef>
                    <a:spcPts val="1001"/>
                  </a:spcBef>
                  <a:buClr>
                    <a:srgbClr val="000000"/>
                  </a:buClr>
                  <a:buFont typeface="Arial"/>
                  <a:buChar char="•"/>
                </a:pPr>
                <a14:m>
                  <m:oMath xmlns:m="http://schemas.openxmlformats.org/officeDocument/2006/math">
                    <m:d>
                      <m:dPr>
                        <m:begChr m:val="|"/>
                        <m:endChr m:val="|"/>
                        <m:ctrlPr>
                          <a:rPr lang="es-ES" sz="2800" b="0" i="1" strike="noStrike" spc="-1" smtClean="0">
                            <a:solidFill>
                              <a:srgbClr val="000000"/>
                            </a:solidFill>
                            <a:latin typeface="Cambria Math" panose="02040503050406030204" pitchFamily="18" charset="0"/>
                          </a:rPr>
                        </m:ctrlPr>
                      </m:dPr>
                      <m:e>
                        <m:r>
                          <a:rPr lang="es-ES" sz="2800" b="0" i="1" strike="noStrike" spc="-1" smtClean="0">
                            <a:solidFill>
                              <a:srgbClr val="000000"/>
                            </a:solidFill>
                            <a:latin typeface="Cambria Math" panose="02040503050406030204" pitchFamily="18" charset="0"/>
                          </a:rPr>
                          <m:t>𝑟</m:t>
                        </m:r>
                      </m:e>
                    </m:d>
                    <m:r>
                      <a:rPr lang="es-ES" sz="2800" b="0" i="1" strike="noStrike" spc="-1" smtClean="0">
                        <a:solidFill>
                          <a:srgbClr val="000000"/>
                        </a:solidFill>
                        <a:latin typeface="Cambria Math" panose="02040503050406030204" pitchFamily="18" charset="0"/>
                      </a:rPr>
                      <m:t>=</m:t>
                    </m:r>
                    <m:r>
                      <a:rPr lang="es-ES" sz="2800" b="0" i="1" strike="noStrike" spc="-1" smtClean="0">
                        <a:solidFill>
                          <a:srgbClr val="000000"/>
                        </a:solidFill>
                        <a:latin typeface="Cambria Math" panose="02040503050406030204" pitchFamily="18" charset="0"/>
                      </a:rPr>
                      <m:t>1</m:t>
                    </m:r>
                  </m:oMath>
                </a14:m>
                <a:r>
                  <a:rPr lang="es-ES" sz="2800" b="0" strike="noStrike" spc="-1" dirty="0">
                    <a:solidFill>
                      <a:srgbClr val="000000"/>
                    </a:solidFill>
                    <a:latin typeface="Calibri"/>
                  </a:rPr>
                  <a:t> es posible sólo cuando todos los valores de X e Y se encuentran en una línea recta.</a:t>
                </a: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52" name="PlaceHolder 2"/>
              <p:cNvSpPr>
                <a:spLocks noGrp="1" noRot="1" noChangeAspect="1" noMove="1" noResize="1" noEditPoints="1" noAdjustHandles="1" noChangeArrowheads="1" noChangeShapeType="1" noTextEdit="1"/>
              </p:cNvSpPr>
              <p:nvPr>
                <p:ph idx="4294967295"/>
              </p:nvPr>
            </p:nvSpPr>
            <p:spPr>
              <a:xfrm>
                <a:off x="838080" y="1825560"/>
                <a:ext cx="10886040" cy="5032440"/>
              </a:xfrm>
              <a:prstGeom prst="rect">
                <a:avLst/>
              </a:prstGeom>
              <a:blipFill>
                <a:blip r:embed="rId2"/>
                <a:stretch>
                  <a:fillRect l="-504" t="-2179"/>
                </a:stretch>
              </a:blipFill>
              <a:ln w="0">
                <a:noFill/>
              </a:ln>
            </p:spPr>
            <p:txBody>
              <a:bodyPr/>
              <a:lstStyle/>
              <a:p>
                <a:r>
                  <a:rPr lang="es-ES">
                    <a:noFill/>
                  </a:rPr>
                  <a:t> </a:t>
                </a:r>
              </a:p>
            </p:txBody>
          </p:sp>
        </mc:Fallback>
      </mc:AlternateContent>
      <p:sp>
        <p:nvSpPr>
          <p:cNvPr id="4" name="PlaceHolder 3"/>
          <p:cNvSpPr>
            <a:spLocks noGrp="1"/>
          </p:cNvSpPr>
          <p:nvPr>
            <p:ph type="sldNum" idx="4294967295"/>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8</a:t>
            </a:fld>
            <a:endParaRPr/>
          </a:p>
        </p:txBody>
      </p:sp>
      <p:pic>
        <p:nvPicPr>
          <p:cNvPr id="1026" name="Picture 2">
            <a:extLst>
              <a:ext uri="{FF2B5EF4-FFF2-40B4-BE49-F238E27FC236}">
                <a16:creationId xmlns:a16="http://schemas.microsoft.com/office/drawing/2014/main" id="{F2C6DBB3-AB45-385F-1CF9-343F1BB796C8}"/>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3023" y="2613840"/>
            <a:ext cx="4569170" cy="274320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E5CAD73C-4149-CB27-E017-CC246E6731C0}"/>
              </a:ext>
              <a:ext uri="{C183D7F6-B498-43B3-948B-1728B52AA6E4}">
                <adec:decorative xmlns:adec="http://schemas.microsoft.com/office/drawing/2017/decorative" val="1"/>
              </a:ext>
            </a:extLst>
          </p:cNvPr>
          <p:cNvSpPr txBox="1"/>
          <p:nvPr/>
        </p:nvSpPr>
        <p:spPr>
          <a:xfrm>
            <a:off x="9052535" y="5451760"/>
            <a:ext cx="1264320" cy="307777"/>
          </a:xfrm>
          <a:prstGeom prst="rect">
            <a:avLst/>
          </a:prstGeom>
          <a:noFill/>
        </p:spPr>
        <p:txBody>
          <a:bodyPr wrap="none" rtlCol="0">
            <a:spAutoFit/>
          </a:bodyPr>
          <a:lstStyle/>
          <a:p>
            <a:r>
              <a:rPr lang="es-ES" sz="1400" dirty="0"/>
              <a:t>Imagen: </a:t>
            </a:r>
            <a:r>
              <a:rPr lang="es-ES" sz="1400" dirty="0">
                <a:hlinkClick r:id="rId4"/>
              </a:rPr>
              <a:t>RPubs</a:t>
            </a:r>
            <a:endParaRPr lang="es-ES" sz="140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6E7090D5-3F1D-C6BD-40C3-E1BA099BE362}"/>
                  </a:ext>
                  <a:ext uri="{C183D7F6-B498-43B3-948B-1728B52AA6E4}">
                    <adec:decorative xmlns:adec="http://schemas.microsoft.com/office/drawing/2017/decorative" val="1"/>
                  </a:ext>
                </a:extLst>
              </p:cNvPr>
              <p:cNvSpPr txBox="1"/>
              <p:nvPr/>
            </p:nvSpPr>
            <p:spPr>
              <a:xfrm>
                <a:off x="7589288" y="3690159"/>
                <a:ext cx="211513" cy="30777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𝑟</m:t>
                      </m:r>
                    </m:oMath>
                  </m:oMathPara>
                </a14:m>
                <a:endParaRPr lang="es-ES" sz="1400" dirty="0"/>
              </a:p>
            </p:txBody>
          </p:sp>
        </mc:Choice>
        <mc:Fallback xmlns="">
          <p:sp>
            <p:nvSpPr>
              <p:cNvPr id="6" name="CuadroTexto 5">
                <a:extLst>
                  <a:ext uri="{FF2B5EF4-FFF2-40B4-BE49-F238E27FC236}">
                    <a16:creationId xmlns:a16="http://schemas.microsoft.com/office/drawing/2014/main" id="{6E7090D5-3F1D-C6BD-40C3-E1BA099BE362}"/>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589288" y="3690159"/>
                <a:ext cx="211513" cy="307777"/>
              </a:xfrm>
              <a:prstGeom prst="rect">
                <a:avLst/>
              </a:prstGeom>
              <a:blipFill>
                <a:blip r:embed="rId5"/>
                <a:stretch>
                  <a:fillRect r="-285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FD175CCF-0E9D-EDA2-69D5-7AA5B6457C20}"/>
                  </a:ext>
                  <a:ext uri="{C183D7F6-B498-43B3-948B-1728B52AA6E4}">
                    <adec:decorative xmlns:adec="http://schemas.microsoft.com/office/drawing/2017/decorative" val="1"/>
                  </a:ext>
                </a:extLst>
              </p:cNvPr>
              <p:cNvSpPr txBox="1"/>
              <p:nvPr/>
            </p:nvSpPr>
            <p:spPr>
              <a:xfrm>
                <a:off x="7509623" y="5148116"/>
                <a:ext cx="233680" cy="30777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𝑟</m:t>
                      </m:r>
                    </m:oMath>
                  </m:oMathPara>
                </a14:m>
                <a:endParaRPr lang="es-ES" sz="1400" dirty="0"/>
              </a:p>
            </p:txBody>
          </p:sp>
        </mc:Choice>
        <mc:Fallback xmlns="">
          <p:sp>
            <p:nvSpPr>
              <p:cNvPr id="7" name="CuadroTexto 6">
                <a:extLst>
                  <a:ext uri="{FF2B5EF4-FFF2-40B4-BE49-F238E27FC236}">
                    <a16:creationId xmlns:a16="http://schemas.microsoft.com/office/drawing/2014/main" id="{FD175CCF-0E9D-EDA2-69D5-7AA5B6457C20}"/>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509623" y="5148116"/>
                <a:ext cx="233680" cy="307777"/>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86DC99D0-E736-98A9-ED3A-7842AF85D102}"/>
                  </a:ext>
                  <a:ext uri="{C183D7F6-B498-43B3-948B-1728B52AA6E4}">
                    <adec:decorative xmlns:adec="http://schemas.microsoft.com/office/drawing/2017/decorative" val="1"/>
                  </a:ext>
                </a:extLst>
              </p:cNvPr>
              <p:cNvSpPr txBox="1"/>
              <p:nvPr/>
            </p:nvSpPr>
            <p:spPr>
              <a:xfrm>
                <a:off x="8728828" y="3696854"/>
                <a:ext cx="211513" cy="30777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𝑟</m:t>
                      </m:r>
                    </m:oMath>
                  </m:oMathPara>
                </a14:m>
                <a:endParaRPr lang="es-ES" sz="1400" dirty="0"/>
              </a:p>
            </p:txBody>
          </p:sp>
        </mc:Choice>
        <mc:Fallback xmlns="">
          <p:sp>
            <p:nvSpPr>
              <p:cNvPr id="9" name="CuadroTexto 8">
                <a:extLst>
                  <a:ext uri="{FF2B5EF4-FFF2-40B4-BE49-F238E27FC236}">
                    <a16:creationId xmlns:a16="http://schemas.microsoft.com/office/drawing/2014/main" id="{86DC99D0-E736-98A9-ED3A-7842AF85D102}"/>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8728828" y="3696854"/>
                <a:ext cx="211513" cy="307777"/>
              </a:xfrm>
              <a:prstGeom prst="rect">
                <a:avLst/>
              </a:prstGeom>
              <a:blipFill>
                <a:blip r:embed="rId5"/>
                <a:stretch>
                  <a:fillRect r="-285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ED5DC2D4-ED6B-EA7A-F326-CB066801425F}"/>
                  </a:ext>
                  <a:ext uri="{C183D7F6-B498-43B3-948B-1728B52AA6E4}">
                    <adec:decorative xmlns:adec="http://schemas.microsoft.com/office/drawing/2017/decorative" val="1"/>
                  </a:ext>
                </a:extLst>
              </p:cNvPr>
              <p:cNvSpPr txBox="1"/>
              <p:nvPr/>
            </p:nvSpPr>
            <p:spPr>
              <a:xfrm>
                <a:off x="9882216" y="3696854"/>
                <a:ext cx="211513" cy="30777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𝑟</m:t>
                      </m:r>
                    </m:oMath>
                  </m:oMathPara>
                </a14:m>
                <a:endParaRPr lang="es-ES" sz="1400" dirty="0"/>
              </a:p>
            </p:txBody>
          </p:sp>
        </mc:Choice>
        <mc:Fallback xmlns="">
          <p:sp>
            <p:nvSpPr>
              <p:cNvPr id="10" name="CuadroTexto 9">
                <a:extLst>
                  <a:ext uri="{FF2B5EF4-FFF2-40B4-BE49-F238E27FC236}">
                    <a16:creationId xmlns:a16="http://schemas.microsoft.com/office/drawing/2014/main" id="{ED5DC2D4-ED6B-EA7A-F326-CB066801425F}"/>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9882216" y="3696854"/>
                <a:ext cx="211513" cy="307777"/>
              </a:xfrm>
              <a:prstGeom prst="rect">
                <a:avLst/>
              </a:prstGeom>
              <a:blipFill>
                <a:blip r:embed="rId7"/>
                <a:stretch>
                  <a:fillRect r="-571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4A9AAA7E-B619-7A9D-ECA5-D5107B13AF6B}"/>
                  </a:ext>
                  <a:ext uri="{C183D7F6-B498-43B3-948B-1728B52AA6E4}">
                    <adec:decorative xmlns:adec="http://schemas.microsoft.com/office/drawing/2017/decorative" val="1"/>
                  </a:ext>
                </a:extLst>
              </p:cNvPr>
              <p:cNvSpPr txBox="1"/>
              <p:nvPr/>
            </p:nvSpPr>
            <p:spPr>
              <a:xfrm>
                <a:off x="11056389" y="3696854"/>
                <a:ext cx="211513" cy="30777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𝑟</m:t>
                      </m:r>
                    </m:oMath>
                  </m:oMathPara>
                </a14:m>
                <a:endParaRPr lang="es-ES" sz="1400" dirty="0"/>
              </a:p>
            </p:txBody>
          </p:sp>
        </mc:Choice>
        <mc:Fallback xmlns="">
          <p:sp>
            <p:nvSpPr>
              <p:cNvPr id="11" name="CuadroTexto 10">
                <a:extLst>
                  <a:ext uri="{FF2B5EF4-FFF2-40B4-BE49-F238E27FC236}">
                    <a16:creationId xmlns:a16="http://schemas.microsoft.com/office/drawing/2014/main" id="{4A9AAA7E-B619-7A9D-ECA5-D5107B13AF6B}"/>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1056389" y="3696854"/>
                <a:ext cx="211513" cy="307777"/>
              </a:xfrm>
              <a:prstGeom prst="rect">
                <a:avLst/>
              </a:prstGeom>
              <a:blipFill>
                <a:blip r:embed="rId8"/>
                <a:stretch>
                  <a:fillRect r="-588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72D24157-CCB8-5A2F-DD97-01C2A0FFC64C}"/>
                  </a:ext>
                  <a:ext uri="{C183D7F6-B498-43B3-948B-1728B52AA6E4}">
                    <adec:decorative xmlns:adec="http://schemas.microsoft.com/office/drawing/2017/decorative" val="1"/>
                  </a:ext>
                </a:extLst>
              </p:cNvPr>
              <p:cNvSpPr txBox="1"/>
              <p:nvPr/>
            </p:nvSpPr>
            <p:spPr>
              <a:xfrm>
                <a:off x="8697653" y="5141425"/>
                <a:ext cx="211513" cy="30777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𝑟</m:t>
                      </m:r>
                    </m:oMath>
                  </m:oMathPara>
                </a14:m>
                <a:endParaRPr lang="es-ES" sz="1400" dirty="0"/>
              </a:p>
            </p:txBody>
          </p:sp>
        </mc:Choice>
        <mc:Fallback xmlns="">
          <p:sp>
            <p:nvSpPr>
              <p:cNvPr id="12" name="CuadroTexto 11">
                <a:extLst>
                  <a:ext uri="{FF2B5EF4-FFF2-40B4-BE49-F238E27FC236}">
                    <a16:creationId xmlns:a16="http://schemas.microsoft.com/office/drawing/2014/main" id="{72D24157-CCB8-5A2F-DD97-01C2A0FFC64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8697653" y="5141425"/>
                <a:ext cx="211513" cy="307777"/>
              </a:xfrm>
              <a:prstGeom prst="rect">
                <a:avLst/>
              </a:prstGeom>
              <a:blipFill>
                <a:blip r:embed="rId8"/>
                <a:stretch>
                  <a:fillRect r="-588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7F15049D-2E58-81D5-9BC9-E250345EAE51}"/>
                  </a:ext>
                  <a:ext uri="{C183D7F6-B498-43B3-948B-1728B52AA6E4}">
                    <adec:decorative xmlns:adec="http://schemas.microsoft.com/office/drawing/2017/decorative" val="1"/>
                  </a:ext>
                </a:extLst>
              </p:cNvPr>
              <p:cNvSpPr txBox="1"/>
              <p:nvPr/>
            </p:nvSpPr>
            <p:spPr>
              <a:xfrm>
                <a:off x="9840651" y="5141194"/>
                <a:ext cx="211513" cy="30777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𝑟</m:t>
                      </m:r>
                    </m:oMath>
                  </m:oMathPara>
                </a14:m>
                <a:endParaRPr lang="es-ES" sz="1400" dirty="0"/>
              </a:p>
            </p:txBody>
          </p:sp>
        </mc:Choice>
        <mc:Fallback xmlns="">
          <p:sp>
            <p:nvSpPr>
              <p:cNvPr id="13" name="CuadroTexto 12">
                <a:extLst>
                  <a:ext uri="{FF2B5EF4-FFF2-40B4-BE49-F238E27FC236}">
                    <a16:creationId xmlns:a16="http://schemas.microsoft.com/office/drawing/2014/main" id="{7F15049D-2E58-81D5-9BC9-E250345EAE51}"/>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9840651" y="5141194"/>
                <a:ext cx="211513" cy="307777"/>
              </a:xfrm>
              <a:prstGeom prst="rect">
                <a:avLst/>
              </a:prstGeom>
              <a:blipFill>
                <a:blip r:embed="rId7"/>
                <a:stretch>
                  <a:fillRect r="-571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23A231-4E09-311E-6583-F595B8048DAC}"/>
                  </a:ext>
                  <a:ext uri="{C183D7F6-B498-43B3-948B-1728B52AA6E4}">
                    <adec:decorative xmlns:adec="http://schemas.microsoft.com/office/drawing/2017/decorative" val="1"/>
                  </a:ext>
                </a:extLst>
              </p:cNvPr>
              <p:cNvSpPr txBox="1"/>
              <p:nvPr/>
            </p:nvSpPr>
            <p:spPr>
              <a:xfrm>
                <a:off x="11025214" y="5141431"/>
                <a:ext cx="211513" cy="30777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𝑟</m:t>
                      </m:r>
                    </m:oMath>
                  </m:oMathPara>
                </a14:m>
                <a:endParaRPr lang="es-ES" sz="1400" dirty="0"/>
              </a:p>
            </p:txBody>
          </p:sp>
        </mc:Choice>
        <mc:Fallback xmlns="">
          <p:sp>
            <p:nvSpPr>
              <p:cNvPr id="14" name="CuadroTexto 13">
                <a:extLst>
                  <a:ext uri="{FF2B5EF4-FFF2-40B4-BE49-F238E27FC236}">
                    <a16:creationId xmlns:a16="http://schemas.microsoft.com/office/drawing/2014/main" id="{4823A231-4E09-311E-6583-F595B8048DA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1025214" y="5141431"/>
                <a:ext cx="211513" cy="307777"/>
              </a:xfrm>
              <a:prstGeom prst="rect">
                <a:avLst/>
              </a:prstGeom>
              <a:blipFill>
                <a:blip r:embed="rId8"/>
                <a:stretch>
                  <a:fillRect r="-5882"/>
                </a:stretch>
              </a:blipFill>
            </p:spPr>
            <p:txBody>
              <a:bodyPr/>
              <a:lstStyle/>
              <a:p>
                <a:r>
                  <a:rPr lang="es-ES">
                    <a:noFill/>
                  </a:rPr>
                  <a:t> </a:t>
                </a:r>
              </a:p>
            </p:txBody>
          </p:sp>
        </mc:Fallback>
      </mc:AlternateContent>
    </p:spTree>
    <p:extLst>
      <p:ext uri="{BB962C8B-B14F-4D97-AF65-F5344CB8AC3E}">
        <p14:creationId xmlns:p14="http://schemas.microsoft.com/office/powerpoint/2010/main" val="2874718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40B5DC-B060-CFAF-AF16-775E4E57D8BF}"/>
              </a:ext>
            </a:extLst>
          </p:cNvPr>
          <p:cNvSpPr>
            <a:spLocks noGrp="1"/>
          </p:cNvSpPr>
          <p:nvPr>
            <p:ph type="title"/>
          </p:nvPr>
        </p:nvSpPr>
        <p:spPr/>
        <p:txBody>
          <a:bodyPr/>
          <a:lstStyle/>
          <a:p>
            <a:r>
              <a:rPr lang="es-ES" dirty="0"/>
              <a:t>4</a:t>
            </a:r>
            <a:r>
              <a:rPr dirty="0"/>
              <a:t>. </a:t>
            </a:r>
            <a:r>
              <a:rPr lang="es-ES" dirty="0"/>
              <a:t>Modelo de regresión</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430BBA1-14B5-9188-783B-1FBF454A4233}"/>
                  </a:ext>
                </a:extLst>
              </p:cNvPr>
              <p:cNvSpPr>
                <a:spLocks noGrp="1"/>
              </p:cNvSpPr>
              <p:nvPr>
                <p:ph idx="1"/>
              </p:nvPr>
            </p:nvSpPr>
            <p:spPr/>
            <p:txBody>
              <a:bodyPr>
                <a:normAutofit fontScale="92500" lnSpcReduction="10000"/>
              </a:bodyPr>
              <a:lstStyle/>
              <a:p>
                <a:r>
                  <a:rPr lang="es-ES" b="1" dirty="0"/>
                  <a:t>Un modelo de regresión </a:t>
                </a:r>
                <a:r>
                  <a:rPr lang="es-ES" dirty="0"/>
                  <a:t>relaciona una variable </a:t>
                </a:r>
                <a:r>
                  <a:rPr lang="es-ES" b="1" dirty="0"/>
                  <a:t>respuesta</a:t>
                </a:r>
                <a:r>
                  <a:rPr lang="es-ES" dirty="0"/>
                  <a:t> con una o varias variables </a:t>
                </a:r>
                <a:r>
                  <a:rPr lang="es-ES" b="1" dirty="0"/>
                  <a:t>predictoras </a:t>
                </a:r>
                <a:r>
                  <a:rPr lang="es-ES" dirty="0"/>
                  <a:t>(o predictores)</a:t>
                </a:r>
              </a:p>
              <a:p>
                <a:r>
                  <a:rPr lang="es-ES" dirty="0"/>
                  <a:t>Si </a:t>
                </a:r>
                <a14:m>
                  <m:oMath xmlns:m="http://schemas.openxmlformats.org/officeDocument/2006/math">
                    <m:r>
                      <a:rPr lang="es-ES" b="0" i="1" smtClean="0">
                        <a:latin typeface="Cambria Math" panose="02040503050406030204" pitchFamily="18" charset="0"/>
                      </a:rPr>
                      <m:t>𝑌</m:t>
                    </m:r>
                  </m:oMath>
                </a14:m>
                <a:r>
                  <a:rPr lang="es-ES" dirty="0"/>
                  <a:t> es una variable respuesta y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𝑋</m:t>
                        </m:r>
                      </m:e>
                      <m:sup>
                        <m:d>
                          <m:dPr>
                            <m:ctrlPr>
                              <a:rPr lang="ar-AE" i="1">
                                <a:latin typeface="Cambria Math" panose="02040503050406030204" pitchFamily="18" charset="0"/>
                              </a:rPr>
                            </m:ctrlPr>
                          </m:dPr>
                          <m:e>
                            <m:r>
                              <a:rPr lang="ar-AE" i="1">
                                <a:latin typeface="Cambria Math" panose="02040503050406030204" pitchFamily="18" charset="0"/>
                              </a:rPr>
                              <m:t>1</m:t>
                            </m:r>
                          </m:e>
                        </m:d>
                      </m:sup>
                    </m:sSup>
                    <m:r>
                      <a:rPr lang="ar-AE" i="1">
                        <a:latin typeface="Cambria Math" panose="02040503050406030204" pitchFamily="18" charset="0"/>
                      </a:rPr>
                      <m:t>, …, </m:t>
                    </m:r>
                    <m:sSup>
                      <m:sSupPr>
                        <m:ctrlPr>
                          <a:rPr lang="ar-AE" i="1">
                            <a:latin typeface="Cambria Math" panose="02040503050406030204" pitchFamily="18" charset="0"/>
                          </a:rPr>
                        </m:ctrlPr>
                      </m:sSupPr>
                      <m:e>
                        <m:r>
                          <a:rPr lang="ar-AE" i="1">
                            <a:latin typeface="Cambria Math" panose="02040503050406030204" pitchFamily="18" charset="0"/>
                          </a:rPr>
                          <m:t>𝑋</m:t>
                        </m:r>
                      </m:e>
                      <m:sup>
                        <m:r>
                          <a:rPr lang="ar-AE" i="1">
                            <a:latin typeface="Cambria Math" panose="02040503050406030204" pitchFamily="18" charset="0"/>
                          </a:rPr>
                          <m:t>(</m:t>
                        </m:r>
                        <m:r>
                          <a:rPr lang="ar-AE" i="1">
                            <a:latin typeface="Cambria Math" panose="02040503050406030204" pitchFamily="18" charset="0"/>
                          </a:rPr>
                          <m:t>𝑘</m:t>
                        </m:r>
                        <m:r>
                          <a:rPr lang="ar-AE" i="1">
                            <a:latin typeface="Cambria Math" panose="02040503050406030204" pitchFamily="18" charset="0"/>
                          </a:rPr>
                          <m:t>)</m:t>
                        </m:r>
                      </m:sup>
                    </m:sSup>
                  </m:oMath>
                </a14:m>
                <a:r>
                  <a:rPr lang="es-ES" dirty="0"/>
                  <a:t> son predictores:</a:t>
                </a:r>
              </a:p>
              <a:p>
                <a:r>
                  <a:rPr lang="es-ES" dirty="0"/>
                  <a:t>El </a:t>
                </a:r>
                <a:r>
                  <a:rPr lang="es-ES" b="1" dirty="0"/>
                  <a:t>modelo de regresión</a:t>
                </a:r>
                <a:r>
                  <a:rPr lang="es-ES" dirty="0"/>
                  <a:t> de Y sobre </a:t>
                </a:r>
                <a14:m>
                  <m:oMath xmlns:m="http://schemas.openxmlformats.org/officeDocument/2006/math">
                    <m:sSup>
                      <m:sSupPr>
                        <m:ctrlPr>
                          <a:rPr lang="ar-AE" i="1" smtClean="0">
                            <a:latin typeface="Cambria Math" panose="02040503050406030204" pitchFamily="18" charset="0"/>
                          </a:rPr>
                        </m:ctrlPr>
                      </m:sSupPr>
                      <m:e>
                        <m:r>
                          <a:rPr lang="ar-AE" b="0" i="1" smtClean="0">
                            <a:latin typeface="Cambria Math" panose="02040503050406030204" pitchFamily="18" charset="0"/>
                          </a:rPr>
                          <m:t>𝑋</m:t>
                        </m:r>
                      </m:e>
                      <m:sup>
                        <m:d>
                          <m:dPr>
                            <m:ctrlPr>
                              <a:rPr lang="ar-AE" b="0" i="1" smtClean="0">
                                <a:latin typeface="Cambria Math" panose="02040503050406030204" pitchFamily="18" charset="0"/>
                              </a:rPr>
                            </m:ctrlPr>
                          </m:dPr>
                          <m:e>
                            <m:r>
                              <a:rPr lang="ar-AE" b="0" i="1" smtClean="0">
                                <a:latin typeface="Cambria Math" panose="02040503050406030204" pitchFamily="18" charset="0"/>
                              </a:rPr>
                              <m:t>1</m:t>
                            </m:r>
                          </m:e>
                        </m:d>
                      </m:sup>
                    </m:sSup>
                    <m:r>
                      <a:rPr lang="ar-AE" b="0" i="1" smtClean="0">
                        <a:latin typeface="Cambria Math" panose="02040503050406030204" pitchFamily="18" charset="0"/>
                      </a:rPr>
                      <m:t>, …, </m:t>
                    </m:r>
                    <m:sSup>
                      <m:sSupPr>
                        <m:ctrlPr>
                          <a:rPr lang="ar-AE" b="0" i="1" smtClean="0">
                            <a:latin typeface="Cambria Math" panose="02040503050406030204" pitchFamily="18" charset="0"/>
                          </a:rPr>
                        </m:ctrlPr>
                      </m:sSupPr>
                      <m:e>
                        <m:r>
                          <a:rPr lang="ar-AE" b="0" i="1" smtClean="0">
                            <a:latin typeface="Cambria Math" panose="02040503050406030204" pitchFamily="18" charset="0"/>
                          </a:rPr>
                          <m:t>𝑋</m:t>
                        </m:r>
                      </m:e>
                      <m:sup>
                        <m:r>
                          <a:rPr lang="ar-AE" b="0" i="1" smtClean="0">
                            <a:latin typeface="Cambria Math" panose="02040503050406030204" pitchFamily="18" charset="0"/>
                          </a:rPr>
                          <m:t>(</m:t>
                        </m:r>
                        <m:r>
                          <a:rPr lang="ar-AE" b="0" i="1" smtClean="0">
                            <a:latin typeface="Cambria Math" panose="02040503050406030204" pitchFamily="18" charset="0"/>
                          </a:rPr>
                          <m:t>𝑘</m:t>
                        </m:r>
                        <m:r>
                          <a:rPr lang="ar-AE" b="0" i="1" smtClean="0">
                            <a:latin typeface="Cambria Math" panose="02040503050406030204" pitchFamily="18" charset="0"/>
                          </a:rPr>
                          <m:t>)</m:t>
                        </m:r>
                      </m:sup>
                    </m:sSup>
                  </m:oMath>
                </a14:m>
                <a:r>
                  <a:rPr lang="ar-AE" dirty="0"/>
                  <a:t> </a:t>
                </a:r>
                <a:r>
                  <a:rPr lang="es-ES" dirty="0"/>
                  <a:t>es la función G que representa la esperanza condicional de Y para unos valores dados de los predictores:</a:t>
                </a:r>
              </a:p>
              <a:p>
                <a:pPr lvl="1"/>
                <a14:m>
                  <m:oMath xmlns:m="http://schemas.openxmlformats.org/officeDocument/2006/math">
                    <m:r>
                      <a:rPr lang="es-ES" b="0" i="1" smtClean="0">
                        <a:latin typeface="Cambria Math" panose="02040503050406030204" pitchFamily="18" charset="0"/>
                      </a:rPr>
                      <m:t>𝐺</m:t>
                    </m:r>
                    <m:d>
                      <m:dPr>
                        <m:ctrlPr>
                          <a:rPr lang="ar-AE" b="0" i="1" smtClean="0">
                            <a:latin typeface="Cambria Math" panose="02040503050406030204" pitchFamily="18" charset="0"/>
                          </a:rPr>
                        </m:ctrlPr>
                      </m:dPr>
                      <m:e>
                        <m:sSup>
                          <m:sSupPr>
                            <m:ctrlPr>
                              <a:rPr lang="ar-AE" b="0" i="1" smtClean="0">
                                <a:latin typeface="Cambria Math" panose="02040503050406030204" pitchFamily="18" charset="0"/>
                              </a:rPr>
                            </m:ctrlPr>
                          </m:sSupPr>
                          <m:e>
                            <m:r>
                              <a:rPr lang="ar-AE" b="0" i="1" smtClean="0">
                                <a:latin typeface="Cambria Math" panose="02040503050406030204" pitchFamily="18" charset="0"/>
                              </a:rPr>
                              <m:t>𝑥</m:t>
                            </m:r>
                          </m:e>
                          <m:sup>
                            <m:d>
                              <m:dPr>
                                <m:ctrlPr>
                                  <a:rPr lang="ar-AE" b="0" i="1" smtClean="0">
                                    <a:latin typeface="Cambria Math" panose="02040503050406030204" pitchFamily="18" charset="0"/>
                                  </a:rPr>
                                </m:ctrlPr>
                              </m:dPr>
                              <m:e>
                                <m:r>
                                  <a:rPr lang="ar-AE" b="0" i="1" smtClean="0">
                                    <a:latin typeface="Cambria Math" panose="02040503050406030204" pitchFamily="18" charset="0"/>
                                  </a:rPr>
                                  <m:t>1</m:t>
                                </m:r>
                              </m:e>
                            </m:d>
                          </m:sup>
                        </m:sSup>
                        <m:r>
                          <a:rPr lang="ar-AE" b="0" i="1" smtClean="0">
                            <a:latin typeface="Cambria Math" panose="02040503050406030204" pitchFamily="18" charset="0"/>
                          </a:rPr>
                          <m:t>, …, </m:t>
                        </m:r>
                        <m:sSup>
                          <m:sSupPr>
                            <m:ctrlPr>
                              <a:rPr lang="ar-AE" b="0" i="1" smtClean="0">
                                <a:latin typeface="Cambria Math" panose="02040503050406030204" pitchFamily="18" charset="0"/>
                              </a:rPr>
                            </m:ctrlPr>
                          </m:sSupPr>
                          <m:e>
                            <m:r>
                              <a:rPr lang="ar-AE" b="0" i="1" smtClean="0">
                                <a:latin typeface="Cambria Math" panose="02040503050406030204" pitchFamily="18" charset="0"/>
                              </a:rPr>
                              <m:t>𝑥</m:t>
                            </m:r>
                          </m:e>
                          <m:sup>
                            <m:d>
                              <m:dPr>
                                <m:ctrlPr>
                                  <a:rPr lang="ar-AE" b="0" i="1" smtClean="0">
                                    <a:latin typeface="Cambria Math" panose="02040503050406030204" pitchFamily="18" charset="0"/>
                                  </a:rPr>
                                </m:ctrlPr>
                              </m:dPr>
                              <m:e>
                                <m:r>
                                  <a:rPr lang="ar-AE" b="0" i="1" smtClean="0">
                                    <a:latin typeface="Cambria Math" panose="02040503050406030204" pitchFamily="18" charset="0"/>
                                  </a:rPr>
                                  <m:t>𝑘</m:t>
                                </m:r>
                              </m:e>
                            </m:d>
                          </m:sup>
                        </m:sSup>
                      </m:e>
                    </m:d>
                    <m:r>
                      <a:rPr lang="ar-AE" b="0" i="1" smtClean="0">
                        <a:latin typeface="Cambria Math" panose="02040503050406030204" pitchFamily="18" charset="0"/>
                      </a:rPr>
                      <m:t>=</m:t>
                    </m:r>
                    <m:r>
                      <a:rPr lang="ar-AE" b="0" i="1" smtClean="0">
                        <a:latin typeface="Cambria Math" panose="02040503050406030204" pitchFamily="18" charset="0"/>
                      </a:rPr>
                      <m:t>𝐸</m:t>
                    </m:r>
                    <m:d>
                      <m:dPr>
                        <m:begChr m:val="{"/>
                        <m:endChr m:val="}"/>
                        <m:ctrlPr>
                          <a:rPr lang="ar-AE" b="0" i="1" smtClean="0">
                            <a:latin typeface="Cambria Math" panose="02040503050406030204" pitchFamily="18" charset="0"/>
                          </a:rPr>
                        </m:ctrlPr>
                      </m:dPr>
                      <m:e>
                        <m:sSup>
                          <m:sSupPr>
                            <m:ctrlPr>
                              <a:rPr lang="ar-AE" i="1">
                                <a:latin typeface="Cambria Math" panose="02040503050406030204" pitchFamily="18" charset="0"/>
                              </a:rPr>
                            </m:ctrlPr>
                          </m:sSupPr>
                          <m:e>
                            <m:d>
                              <m:dPr>
                                <m:begChr m:val=""/>
                                <m:endChr m:val="|"/>
                                <m:ctrlPr>
                                  <a:rPr lang="ar-AE" i="1" smtClean="0">
                                    <a:latin typeface="Cambria Math" panose="02040503050406030204" pitchFamily="18" charset="0"/>
                                  </a:rPr>
                                </m:ctrlPr>
                              </m:dPr>
                              <m:e>
                                <m:r>
                                  <a:rPr lang="es-ES" b="0" i="1" smtClean="0">
                                    <a:latin typeface="Cambria Math" panose="02040503050406030204" pitchFamily="18" charset="0"/>
                                  </a:rPr>
                                  <m:t>𝑌</m:t>
                                </m:r>
                              </m:e>
                            </m:d>
                            <m:r>
                              <a:rPr lang="ar-AE" i="1">
                                <a:latin typeface="Cambria Math" panose="02040503050406030204" pitchFamily="18" charset="0"/>
                              </a:rPr>
                              <m:t>𝑋</m:t>
                            </m:r>
                          </m:e>
                          <m:sup>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sup>
                        </m:sSup>
                        <m:r>
                          <a:rPr lang="ar-AE" i="1">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sup>
                        </m:sSup>
                        <m:r>
                          <a:rPr lang="ar-AE" i="1">
                            <a:latin typeface="Cambria Math" panose="02040503050406030204" pitchFamily="18" charset="0"/>
                          </a:rPr>
                          <m:t>, …,</m:t>
                        </m:r>
                        <m:sSup>
                          <m:sSupPr>
                            <m:ctrlPr>
                              <a:rPr lang="ar-AE" i="1">
                                <a:latin typeface="Cambria Math" panose="02040503050406030204" pitchFamily="18" charset="0"/>
                              </a:rPr>
                            </m:ctrlPr>
                          </m:sSupPr>
                          <m:e>
                            <m:r>
                              <a:rPr lang="ar-AE" i="1">
                                <a:latin typeface="Cambria Math" panose="02040503050406030204" pitchFamily="18" charset="0"/>
                              </a:rPr>
                              <m:t>𝑋</m:t>
                            </m:r>
                          </m:e>
                          <m:sup>
                            <m:r>
                              <a:rPr lang="ar-AE" i="1">
                                <a:latin typeface="Cambria Math" panose="02040503050406030204" pitchFamily="18" charset="0"/>
                              </a:rPr>
                              <m:t>(</m:t>
                            </m:r>
                            <m:r>
                              <a:rPr lang="ar-AE" i="1">
                                <a:latin typeface="Cambria Math" panose="02040503050406030204" pitchFamily="18" charset="0"/>
                              </a:rPr>
                              <m:t>𝑘</m:t>
                            </m:r>
                            <m:r>
                              <a:rPr lang="ar-AE" i="1">
                                <a:latin typeface="Cambria Math" panose="02040503050406030204" pitchFamily="18" charset="0"/>
                              </a:rPr>
                              <m:t>)</m:t>
                            </m:r>
                          </m:sup>
                        </m:sSup>
                        <m:r>
                          <a:rPr lang="ar-AE" i="1">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i="1">
                                <a:latin typeface="Cambria Math" panose="02040503050406030204" pitchFamily="18" charset="0"/>
                              </a:rPr>
                              <m:t>(</m:t>
                            </m:r>
                            <m:r>
                              <a:rPr lang="ar-AE" i="1">
                                <a:latin typeface="Cambria Math" panose="02040503050406030204" pitchFamily="18" charset="0"/>
                              </a:rPr>
                              <m:t>𝑘</m:t>
                            </m:r>
                            <m:r>
                              <a:rPr lang="ar-AE" i="1">
                                <a:latin typeface="Cambria Math" panose="02040503050406030204" pitchFamily="18" charset="0"/>
                              </a:rPr>
                              <m:t>)</m:t>
                            </m:r>
                          </m:sup>
                        </m:sSup>
                      </m:e>
                    </m:d>
                  </m:oMath>
                </a14:m>
                <a:endParaRPr lang="ar-AE" dirty="0"/>
              </a:p>
              <a:p>
                <a:pPr lvl="1"/>
                <a14:m>
                  <m:oMath xmlns:m="http://schemas.openxmlformats.org/officeDocument/2006/math">
                    <m:r>
                      <a:rPr lang="es-ES" i="1" dirty="0" smtClean="0">
                        <a:latin typeface="Cambria Math" panose="02040503050406030204" pitchFamily="18" charset="0"/>
                      </a:rPr>
                      <m:t>𝐺</m:t>
                    </m:r>
                  </m:oMath>
                </a14:m>
                <a:r>
                  <a:rPr lang="es-ES" dirty="0"/>
                  <a:t> Es una función de </a:t>
                </a:r>
                <a14:m>
                  <m:oMath xmlns:m="http://schemas.openxmlformats.org/officeDocument/2006/math">
                    <m:sSup>
                      <m:sSupPr>
                        <m:ctrlPr>
                          <a:rPr lang="ar-AE" i="1" smtClean="0">
                            <a:latin typeface="Cambria Math" panose="02040503050406030204" pitchFamily="18" charset="0"/>
                          </a:rPr>
                        </m:ctrlPr>
                      </m:sSupPr>
                      <m:e>
                        <m:r>
                          <a:rPr lang="ar-AE" b="0" i="1" smtClean="0">
                            <a:latin typeface="Cambria Math" panose="02040503050406030204" pitchFamily="18" charset="0"/>
                          </a:rPr>
                          <m:t>𝑥</m:t>
                        </m:r>
                      </m:e>
                      <m:sup>
                        <m:d>
                          <m:dPr>
                            <m:ctrlPr>
                              <a:rPr lang="ar-AE" b="0" i="1" smtClean="0">
                                <a:latin typeface="Cambria Math" panose="02040503050406030204" pitchFamily="18" charset="0"/>
                              </a:rPr>
                            </m:ctrlPr>
                          </m:dPr>
                          <m:e>
                            <m:r>
                              <a:rPr lang="ar-AE" b="0" i="1" smtClean="0">
                                <a:latin typeface="Cambria Math" panose="02040503050406030204" pitchFamily="18" charset="0"/>
                              </a:rPr>
                              <m:t>1</m:t>
                            </m:r>
                          </m:e>
                        </m:d>
                      </m:sup>
                    </m:sSup>
                    <m:r>
                      <a:rPr lang="ar-AE" b="0" i="1" smtClean="0">
                        <a:latin typeface="Cambria Math" panose="02040503050406030204" pitchFamily="18" charset="0"/>
                      </a:rPr>
                      <m:t>, …, </m:t>
                    </m:r>
                    <m:sSup>
                      <m:sSupPr>
                        <m:ctrlPr>
                          <a:rPr lang="ar-AE" b="0" i="1" smtClean="0">
                            <a:latin typeface="Cambria Math" panose="02040503050406030204" pitchFamily="18" charset="0"/>
                          </a:rPr>
                        </m:ctrlPr>
                      </m:sSupPr>
                      <m:e>
                        <m:r>
                          <a:rPr lang="ar-AE" b="0" i="1" smtClean="0">
                            <a:latin typeface="Cambria Math" panose="02040503050406030204" pitchFamily="18" charset="0"/>
                          </a:rPr>
                          <m:t>𝑥</m:t>
                        </m:r>
                      </m:e>
                      <m:sup>
                        <m:r>
                          <a:rPr lang="ar-AE" b="0" i="1" smtClean="0">
                            <a:latin typeface="Cambria Math" panose="02040503050406030204" pitchFamily="18" charset="0"/>
                          </a:rPr>
                          <m:t>(</m:t>
                        </m:r>
                        <m:r>
                          <a:rPr lang="ar-AE" b="0" i="1" smtClean="0">
                            <a:latin typeface="Cambria Math" panose="02040503050406030204" pitchFamily="18" charset="0"/>
                          </a:rPr>
                          <m:t>𝑘</m:t>
                        </m:r>
                        <m:r>
                          <a:rPr lang="ar-AE" b="0" i="1" smtClean="0">
                            <a:latin typeface="Cambria Math" panose="02040503050406030204" pitchFamily="18" charset="0"/>
                          </a:rPr>
                          <m:t>)</m:t>
                        </m:r>
                      </m:sup>
                    </m:sSup>
                  </m:oMath>
                </a14:m>
                <a:r>
                  <a:rPr lang="ar-AE" dirty="0"/>
                  <a:t> </a:t>
                </a:r>
                <a:r>
                  <a:rPr lang="es-ES" dirty="0"/>
                  <a:t>cuya forma se puede estimar a partir de los datos de una muestra.</a:t>
                </a:r>
              </a:p>
              <a:p>
                <a:r>
                  <a:rPr lang="es-ES" dirty="0"/>
                  <a:t>Si sólo hay un predictor, se denomina </a:t>
                </a:r>
                <a:r>
                  <a:rPr lang="es-ES" b="1" dirty="0"/>
                  <a:t>modelo de regresión simple</a:t>
                </a:r>
              </a:p>
              <a:p>
                <a:pPr lvl="1"/>
                <a14:m>
                  <m:oMath xmlns:m="http://schemas.openxmlformats.org/officeDocument/2006/math">
                    <m:r>
                      <a:rPr lang="es-ES" b="0" i="1" smtClean="0">
                        <a:latin typeface="Cambria Math" panose="02040503050406030204" pitchFamily="18" charset="0"/>
                      </a:rPr>
                      <m:t>𝐺</m:t>
                    </m:r>
                    <m:d>
                      <m:dPr>
                        <m:ctrlPr>
                          <a:rPr lang="ar-AE" b="0" i="1" smtClean="0">
                            <a:latin typeface="Cambria Math" panose="02040503050406030204" pitchFamily="18" charset="0"/>
                          </a:rPr>
                        </m:ctrlPr>
                      </m:dPr>
                      <m:e>
                        <m:r>
                          <a:rPr lang="es-ES" b="0" i="1" smtClean="0">
                            <a:latin typeface="Cambria Math" panose="02040503050406030204" pitchFamily="18" charset="0"/>
                          </a:rPr>
                          <m:t>𝑥</m:t>
                        </m:r>
                      </m:e>
                    </m:d>
                    <m:r>
                      <a:rPr lang="ar-AE" b="0" i="1" smtClean="0">
                        <a:latin typeface="Cambria Math" panose="02040503050406030204" pitchFamily="18" charset="0"/>
                      </a:rPr>
                      <m:t>=</m:t>
                    </m:r>
                    <m:r>
                      <a:rPr lang="ar-AE" b="0" i="1" smtClean="0">
                        <a:latin typeface="Cambria Math" panose="02040503050406030204" pitchFamily="18" charset="0"/>
                      </a:rPr>
                      <m:t>𝐸</m:t>
                    </m:r>
                    <m:d>
                      <m:dPr>
                        <m:begChr m:val="{"/>
                        <m:endChr m:val="}"/>
                        <m:ctrlPr>
                          <a:rPr lang="ar-AE" b="0" i="1" smtClean="0">
                            <a:latin typeface="Cambria Math" panose="02040503050406030204" pitchFamily="18" charset="0"/>
                          </a:rPr>
                        </m:ctrlPr>
                      </m:dPr>
                      <m:e>
                        <m:r>
                          <a:rPr lang="es-ES" b="0" i="1" smtClean="0">
                            <a:latin typeface="Cambria Math" panose="02040503050406030204" pitchFamily="18" charset="0"/>
                          </a:rPr>
                          <m:t>𝑌</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𝑥</m:t>
                            </m:r>
                          </m:e>
                        </m:d>
                      </m:e>
                    </m:d>
                  </m:oMath>
                </a14:m>
                <a:endParaRPr lang="es-ES" dirty="0"/>
              </a:p>
              <a:p>
                <a:pPr marL="0" indent="0">
                  <a:buNone/>
                </a:pPr>
                <a:endParaRPr dirty="0"/>
              </a:p>
            </p:txBody>
          </p:sp>
        </mc:Choice>
        <mc:Fallback xmlns="">
          <p:sp>
            <p:nvSpPr>
              <p:cNvPr id="3" name="Marcador de contenido 2">
                <a:extLst>
                  <a:ext uri="{FF2B5EF4-FFF2-40B4-BE49-F238E27FC236}">
                    <a16:creationId xmlns:a16="http://schemas.microsoft.com/office/drawing/2014/main" id="{B430BBA1-14B5-9188-783B-1FBF454A4233}"/>
                  </a:ext>
                </a:extLst>
              </p:cNvPr>
              <p:cNvSpPr>
                <a:spLocks noGrp="1" noRot="1" noChangeAspect="1" noMove="1" noResize="1" noEditPoints="1" noAdjustHandles="1" noChangeArrowheads="1" noChangeShapeType="1" noTextEdit="1"/>
              </p:cNvSpPr>
              <p:nvPr>
                <p:ph idx="1"/>
              </p:nvPr>
            </p:nvSpPr>
            <p:spPr>
              <a:blipFill>
                <a:blip r:embed="rId2"/>
                <a:stretch>
                  <a:fillRect l="-928" t="-2801" r="-580" b="-13725"/>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E0FDFAF0-72CA-DCCC-E32B-BAC80B1AB933}"/>
              </a:ext>
            </a:extLst>
          </p:cNvPr>
          <p:cNvSpPr>
            <a:spLocks noGrp="1"/>
          </p:cNvSpPr>
          <p:nvPr>
            <p:ph type="sldNum" sz="quarter" idx="12"/>
          </p:nvPr>
        </p:nvSpPr>
        <p:spPr/>
        <p:txBody>
          <a:bodyPr/>
          <a:lstStyle/>
          <a:p>
            <a:fld id="{336CAFD0-1F6E-4E11-9822-836563A02839}" type="slidenum">
              <a:rPr lang="es-ES" smtClean="0"/>
              <a:t>9</a:t>
            </a:fld>
            <a:endParaRPr lang="es-ES"/>
          </a:p>
        </p:txBody>
      </p:sp>
    </p:spTree>
    <p:extLst>
      <p:ext uri="{BB962C8B-B14F-4D97-AF65-F5344CB8AC3E}">
        <p14:creationId xmlns:p14="http://schemas.microsoft.com/office/powerpoint/2010/main" val="3536411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40B5DC-B060-CFAF-AF16-775E4E57D8BF}"/>
              </a:ext>
            </a:extLst>
          </p:cNvPr>
          <p:cNvSpPr>
            <a:spLocks noGrp="1"/>
          </p:cNvSpPr>
          <p:nvPr>
            <p:ph type="title"/>
          </p:nvPr>
        </p:nvSpPr>
        <p:spPr/>
        <p:txBody>
          <a:bodyPr/>
          <a:lstStyle/>
          <a:p>
            <a:r>
              <a:rPr lang="es-ES" dirty="0"/>
              <a:t>4. Modelo de regresión</a:t>
            </a:r>
            <a:br>
              <a:rPr lang="es-ES" dirty="0"/>
            </a:br>
            <a:r>
              <a:rPr dirty="0" err="1"/>
              <a:t>Ejemplo</a:t>
            </a:r>
            <a:r>
              <a:rPr dirty="0"/>
              <a:t> 11.1 (</a:t>
            </a:r>
            <a:r>
              <a:rPr dirty="0" err="1"/>
              <a:t>Población</a:t>
            </a:r>
            <a:r>
              <a:rPr dirty="0"/>
              <a:t> </a:t>
            </a:r>
            <a:r>
              <a:rPr dirty="0" err="1"/>
              <a:t>mundial</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430BBA1-14B5-9188-783B-1FBF454A4233}"/>
                  </a:ext>
                </a:extLst>
              </p:cNvPr>
              <p:cNvSpPr>
                <a:spLocks noGrp="1"/>
              </p:cNvSpPr>
              <p:nvPr>
                <p:ph idx="1"/>
              </p:nvPr>
            </p:nvSpPr>
            <p:spPr>
              <a:xfrm>
                <a:off x="838200" y="1825625"/>
                <a:ext cx="3566532" cy="4351338"/>
              </a:xfrm>
            </p:spPr>
            <p:txBody>
              <a:bodyPr>
                <a:normAutofit fontScale="77500" lnSpcReduction="20000"/>
              </a:bodyPr>
              <a:lstStyle/>
              <a:p>
                <a:r>
                  <a:rPr lang="es-ES" dirty="0"/>
                  <a:t>Variable respuesta = Población del mundo</a:t>
                </a:r>
              </a:p>
              <a:p>
                <a:r>
                  <a:rPr lang="es-ES" dirty="0"/>
                  <a:t>Predictor = Año</a:t>
                </a:r>
              </a:p>
              <a:p>
                <a:r>
                  <a:rPr lang="es-ES" dirty="0"/>
                  <a:t>Modelo de regresión simple de la población mundial sobre el año:</a:t>
                </a:r>
              </a:p>
              <a:p>
                <a:pPr lvl="1"/>
                <a14:m>
                  <m:oMath xmlns:m="http://schemas.openxmlformats.org/officeDocument/2006/math">
                    <m:r>
                      <a:rPr lang="es-ES" b="0" i="1" smtClean="0">
                        <a:latin typeface="Cambria Math" panose="02040503050406030204" pitchFamily="18" charset="0"/>
                      </a:rPr>
                      <m:t>𝑃𝑜𝑏𝑙𝑎𝑐𝑖</m:t>
                    </m:r>
                    <m:r>
                      <a:rPr lang="es-ES" b="0" i="1" smtClean="0">
                        <a:latin typeface="Cambria Math" panose="02040503050406030204" pitchFamily="18" charset="0"/>
                      </a:rPr>
                      <m:t>ó</m:t>
                    </m:r>
                    <m:r>
                      <a:rPr lang="es-ES" b="0" i="1" smtClean="0">
                        <a:latin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rPr>
                      <m:t>𝐺</m:t>
                    </m:r>
                    <m:r>
                      <a:rPr lang="es-ES" b="0" i="1" smtClean="0">
                        <a:latin typeface="Cambria Math" panose="02040503050406030204" pitchFamily="18" charset="0"/>
                      </a:rPr>
                      <m:t>(</m:t>
                    </m:r>
                    <m:r>
                      <a:rPr lang="es-ES" b="0" i="1" smtClean="0">
                        <a:latin typeface="Cambria Math" panose="02040503050406030204" pitchFamily="18" charset="0"/>
                      </a:rPr>
                      <m:t>𝑎</m:t>
                    </m:r>
                    <m:r>
                      <a:rPr lang="es-ES" b="0" i="1" smtClean="0">
                        <a:latin typeface="Cambria Math" panose="02040503050406030204" pitchFamily="18" charset="0"/>
                      </a:rPr>
                      <m:t>ñ</m:t>
                    </m:r>
                    <m:r>
                      <a:rPr lang="es-ES" b="0" i="1" smtClean="0">
                        <a:latin typeface="Cambria Math" panose="02040503050406030204" pitchFamily="18" charset="0"/>
                      </a:rPr>
                      <m:t>𝑜</m:t>
                    </m:r>
                    <m:r>
                      <a:rPr lang="es-ES" b="0" i="1" smtClean="0">
                        <a:latin typeface="Cambria Math" panose="02040503050406030204" pitchFamily="18" charset="0"/>
                      </a:rPr>
                      <m:t>)</m:t>
                    </m:r>
                  </m:oMath>
                </a14:m>
                <a:r>
                  <a:rPr lang="es-ES" dirty="0"/>
                  <a:t> </a:t>
                </a:r>
              </a:p>
              <a:p>
                <a:r>
                  <a:rPr lang="es-ES" dirty="0"/>
                  <a:t>La </a:t>
                </a:r>
                <a:r>
                  <a:rPr lang="es-ES" dirty="0" err="1"/>
                  <a:t>población</a:t>
                </a:r>
                <a:r>
                  <a:rPr lang="es-ES" dirty="0"/>
                  <a:t> </a:t>
                </a:r>
                <a:r>
                  <a:rPr lang="es-ES" dirty="0" err="1"/>
                  <a:t>aumenta</a:t>
                </a:r>
                <a:r>
                  <a:rPr lang="es-ES" dirty="0"/>
                  <a:t> </a:t>
                </a:r>
                <a:r>
                  <a:rPr lang="es-ES" dirty="0" err="1"/>
                  <a:t>cada</a:t>
                </a:r>
                <a:r>
                  <a:rPr lang="es-ES" dirty="0"/>
                  <a:t> </a:t>
                </a:r>
                <a:r>
                  <a:rPr lang="es-ES" dirty="0" err="1"/>
                  <a:t>año</a:t>
                </a:r>
                <a:r>
                  <a:rPr lang="es-ES" dirty="0"/>
                  <a:t>, y </a:t>
                </a:r>
                <a:r>
                  <a:rPr lang="es-ES" dirty="0" err="1"/>
                  <a:t>su</a:t>
                </a:r>
                <a:r>
                  <a:rPr lang="es-ES" dirty="0"/>
                  <a:t> </a:t>
                </a:r>
                <a:r>
                  <a:rPr lang="es-ES" dirty="0" err="1"/>
                  <a:t>crecimiento</a:t>
                </a:r>
                <a:r>
                  <a:rPr lang="es-ES" dirty="0"/>
                  <a:t> es </a:t>
                </a:r>
                <a:r>
                  <a:rPr lang="es-ES" dirty="0" err="1"/>
                  <a:t>casi</a:t>
                </a:r>
                <a:r>
                  <a:rPr lang="es-ES" dirty="0"/>
                  <a:t> lineal, </a:t>
                </a:r>
                <a:r>
                  <a:rPr lang="es-ES" dirty="0" err="1"/>
                  <a:t>por</a:t>
                </a:r>
                <a:r>
                  <a:rPr lang="es-ES" dirty="0"/>
                  <a:t> lo que </a:t>
                </a:r>
                <a:r>
                  <a:rPr lang="es-ES" i="1" dirty="0"/>
                  <a:t>G</a:t>
                </a:r>
                <a:r>
                  <a:rPr lang="es-ES" dirty="0"/>
                  <a:t> es </a:t>
                </a:r>
                <a:r>
                  <a:rPr lang="es-ES" dirty="0" err="1"/>
                  <a:t>una</a:t>
                </a:r>
                <a:r>
                  <a:rPr lang="es-ES" dirty="0"/>
                  <a:t> </a:t>
                </a:r>
                <a:r>
                  <a:rPr lang="es-ES" dirty="0" err="1"/>
                  <a:t>función</a:t>
                </a:r>
                <a:r>
                  <a:rPr lang="es-ES" dirty="0"/>
                  <a:t> lineal.</a:t>
                </a:r>
              </a:p>
              <a:p>
                <a:r>
                  <a:rPr lang="es-ES" dirty="0"/>
                  <a:t>Las previsiones para el año 2020 pueden estimarse calculando </a:t>
                </a:r>
                <a14:m>
                  <m:oMath xmlns:m="http://schemas.openxmlformats.org/officeDocument/2006/math">
                    <m:r>
                      <a:rPr lang="es-ES" i="1">
                        <a:latin typeface="Cambria Math" panose="02040503050406030204" pitchFamily="18" charset="0"/>
                      </a:rPr>
                      <m:t>𝐺</m:t>
                    </m:r>
                    <m:r>
                      <a:rPr lang="es-ES" i="1">
                        <a:latin typeface="Cambria Math" panose="02040503050406030204" pitchFamily="18" charset="0"/>
                      </a:rPr>
                      <m:t>(</m:t>
                    </m:r>
                    <m:r>
                      <a:rPr lang="es-ES" i="1">
                        <a:latin typeface="Cambria Math" panose="02040503050406030204" pitchFamily="18" charset="0"/>
                      </a:rPr>
                      <m:t>2020</m:t>
                    </m:r>
                    <m:r>
                      <a:rPr lang="es-ES" i="1">
                        <a:latin typeface="Cambria Math" panose="02040503050406030204" pitchFamily="18" charset="0"/>
                      </a:rPr>
                      <m:t>)</m:t>
                    </m:r>
                  </m:oMath>
                </a14:m>
                <a:r>
                  <a:rPr lang="es-ES" dirty="0"/>
                  <a:t>.</a:t>
                </a:r>
                <a:endParaRPr dirty="0"/>
              </a:p>
            </p:txBody>
          </p:sp>
        </mc:Choice>
        <mc:Fallback xmlns="">
          <p:sp>
            <p:nvSpPr>
              <p:cNvPr id="3" name="Marcador de contenido 2">
                <a:extLst>
                  <a:ext uri="{FF2B5EF4-FFF2-40B4-BE49-F238E27FC236}">
                    <a16:creationId xmlns:a16="http://schemas.microsoft.com/office/drawing/2014/main" id="{B430BBA1-14B5-9188-783B-1FBF454A4233}"/>
                  </a:ext>
                </a:extLst>
              </p:cNvPr>
              <p:cNvSpPr>
                <a:spLocks noGrp="1" noRot="1" noChangeAspect="1" noMove="1" noResize="1" noEditPoints="1" noAdjustHandles="1" noChangeArrowheads="1" noChangeShapeType="1" noTextEdit="1"/>
              </p:cNvSpPr>
              <p:nvPr>
                <p:ph idx="1"/>
              </p:nvPr>
            </p:nvSpPr>
            <p:spPr>
              <a:xfrm>
                <a:off x="838200" y="1825625"/>
                <a:ext cx="3566532" cy="4351338"/>
              </a:xfrm>
              <a:blipFill>
                <a:blip r:embed="rId2"/>
                <a:stretch>
                  <a:fillRect l="-2051" t="-2801" r="-513"/>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E0FDFAF0-72CA-DCCC-E32B-BAC80B1AB933}"/>
              </a:ext>
            </a:extLst>
          </p:cNvPr>
          <p:cNvSpPr>
            <a:spLocks noGrp="1"/>
          </p:cNvSpPr>
          <p:nvPr>
            <p:ph type="sldNum" sz="quarter" idx="12"/>
          </p:nvPr>
        </p:nvSpPr>
        <p:spPr/>
        <p:txBody>
          <a:bodyPr/>
          <a:lstStyle/>
          <a:p>
            <a:fld id="{336CAFD0-1F6E-4E11-9822-836563A02839}" type="slidenum">
              <a:rPr lang="es-ES" smtClean="0"/>
              <a:t>10</a:t>
            </a:fld>
            <a:endParaRPr lang="es-ES"/>
          </a:p>
        </p:txBody>
      </p:sp>
      <p:pic>
        <p:nvPicPr>
          <p:cNvPr id="6" name="Imagen 5">
            <a:extLst>
              <a:ext uri="{FF2B5EF4-FFF2-40B4-BE49-F238E27FC236}">
                <a16:creationId xmlns:a16="http://schemas.microsoft.com/office/drawing/2014/main" id="{E7A1E416-0F6A-08EC-8A2D-B46577446E7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638907" y="1825625"/>
            <a:ext cx="7309546" cy="3927631"/>
          </a:xfrm>
          <a:prstGeom prst="rect">
            <a:avLst/>
          </a:prstGeom>
        </p:spPr>
      </p:pic>
    </p:spTree>
    <p:extLst>
      <p:ext uri="{BB962C8B-B14F-4D97-AF65-F5344CB8AC3E}">
        <p14:creationId xmlns:p14="http://schemas.microsoft.com/office/powerpoint/2010/main" val="3056334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40B5DC-B060-CFAF-AF16-775E4E57D8BF}"/>
              </a:ext>
            </a:extLst>
          </p:cNvPr>
          <p:cNvSpPr>
            <a:spLocks noGrp="1"/>
          </p:cNvSpPr>
          <p:nvPr>
            <p:ph type="title"/>
          </p:nvPr>
        </p:nvSpPr>
        <p:spPr/>
        <p:txBody>
          <a:bodyPr>
            <a:normAutofit/>
          </a:bodyPr>
          <a:lstStyle/>
          <a:p>
            <a:r>
              <a:rPr lang="es-ES" dirty="0"/>
              <a:t>4. Modelo de regresión</a:t>
            </a:r>
            <a:br>
              <a:rPr lang="es-ES" dirty="0"/>
            </a:br>
            <a:r>
              <a:rPr dirty="0" err="1"/>
              <a:t>Ejemplo</a:t>
            </a:r>
            <a:r>
              <a:rPr dirty="0"/>
              <a:t> 11.2 (</a:t>
            </a:r>
            <a:r>
              <a:rPr dirty="0" err="1"/>
              <a:t>Precios</a:t>
            </a:r>
            <a:r>
              <a:rPr dirty="0"/>
              <a:t> de </a:t>
            </a:r>
            <a:r>
              <a:rPr lang="es-ES" dirty="0"/>
              <a:t>viviendas</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430BBA1-14B5-9188-783B-1FBF454A4233}"/>
                  </a:ext>
                </a:extLst>
              </p:cNvPr>
              <p:cNvSpPr>
                <a:spLocks noGrp="1"/>
              </p:cNvSpPr>
              <p:nvPr>
                <p:ph idx="1"/>
              </p:nvPr>
            </p:nvSpPr>
            <p:spPr>
              <a:xfrm>
                <a:off x="838200" y="1825625"/>
                <a:ext cx="3479800" cy="4351338"/>
              </a:xfrm>
            </p:spPr>
            <p:txBody>
              <a:bodyPr>
                <a:normAutofit fontScale="70000" lnSpcReduction="20000"/>
              </a:bodyPr>
              <a:lstStyle/>
              <a:p>
                <a:r>
                  <a:rPr lang="es-ES" dirty="0"/>
                  <a:t>Variable respuesta = precio de la vivienda</a:t>
                </a:r>
              </a:p>
              <a:p>
                <a:r>
                  <a:rPr lang="es-ES" dirty="0"/>
                  <a:t>Predictor = superficie de la vivienda</a:t>
                </a:r>
              </a:p>
              <a:p>
                <a:r>
                  <a:rPr lang="es-ES" dirty="0"/>
                  <a:t>Modelo de regresión simple del precio sobre la superficie:</a:t>
                </a:r>
              </a:p>
              <a:p>
                <a:pPr lvl="1"/>
                <a14:m>
                  <m:oMath xmlns:m="http://schemas.openxmlformats.org/officeDocument/2006/math">
                    <m:r>
                      <a:rPr lang="es-ES" b="0" i="1" smtClean="0">
                        <a:latin typeface="Cambria Math" panose="02040503050406030204" pitchFamily="18" charset="0"/>
                      </a:rPr>
                      <m:t>𝑃𝑟𝑒𝑐𝑖𝑜</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rPr>
                      <m:t>𝐺</m:t>
                    </m:r>
                    <m:r>
                      <a:rPr lang="es-ES" b="0" i="1" smtClean="0">
                        <a:latin typeface="Cambria Math" panose="02040503050406030204" pitchFamily="18" charset="0"/>
                      </a:rPr>
                      <m:t>(</m:t>
                    </m:r>
                    <m:r>
                      <a:rPr lang="es-ES" b="0" i="1" smtClean="0">
                        <a:latin typeface="Cambria Math" panose="02040503050406030204" pitchFamily="18" charset="0"/>
                      </a:rPr>
                      <m:t>𝑠𝑢𝑝𝑒𝑟𝑓𝑖𝑐𝑖𝑒</m:t>
                    </m:r>
                    <m:r>
                      <a:rPr lang="es-ES" b="0" i="1" smtClean="0">
                        <a:latin typeface="Cambria Math" panose="02040503050406030204" pitchFamily="18" charset="0"/>
                      </a:rPr>
                      <m:t>)</m:t>
                    </m:r>
                  </m:oMath>
                </a14:m>
                <a:r>
                  <a:rPr lang="es-ES" dirty="0"/>
                  <a:t> </a:t>
                </a:r>
              </a:p>
              <a:p>
                <a:r>
                  <a:rPr lang="es-ES" dirty="0"/>
                  <a:t>La tendencia no parece lineal, por lo que </a:t>
                </a:r>
                <a:r>
                  <a:rPr lang="es-ES" i="1" dirty="0"/>
                  <a:t>G</a:t>
                </a:r>
                <a:r>
                  <a:rPr lang="es-ES" dirty="0"/>
                  <a:t> no es una función lineal.</a:t>
                </a:r>
              </a:p>
              <a:p>
                <a:r>
                  <a:rPr lang="es-ES" dirty="0"/>
                  <a:t>El pronóstico para el precio de una vivienda con una superficie dada se puede estimar, pero la estimación no será tan precisa como en el ejemplo 11.1.</a:t>
                </a:r>
                <a:endParaRPr dirty="0"/>
              </a:p>
            </p:txBody>
          </p:sp>
        </mc:Choice>
        <mc:Fallback xmlns="">
          <p:sp>
            <p:nvSpPr>
              <p:cNvPr id="3" name="Marcador de contenido 2">
                <a:extLst>
                  <a:ext uri="{FF2B5EF4-FFF2-40B4-BE49-F238E27FC236}">
                    <a16:creationId xmlns:a16="http://schemas.microsoft.com/office/drawing/2014/main" id="{B430BBA1-14B5-9188-783B-1FBF454A4233}"/>
                  </a:ext>
                </a:extLst>
              </p:cNvPr>
              <p:cNvSpPr>
                <a:spLocks noGrp="1" noRot="1" noChangeAspect="1" noMove="1" noResize="1" noEditPoints="1" noAdjustHandles="1" noChangeArrowheads="1" noChangeShapeType="1" noTextEdit="1"/>
              </p:cNvSpPr>
              <p:nvPr>
                <p:ph idx="1"/>
              </p:nvPr>
            </p:nvSpPr>
            <p:spPr>
              <a:xfrm>
                <a:off x="838200" y="1825625"/>
                <a:ext cx="3479800" cy="4351338"/>
              </a:xfrm>
              <a:blipFill>
                <a:blip r:embed="rId2"/>
                <a:stretch>
                  <a:fillRect l="-1579" t="-2521" r="-193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E0FDFAF0-72CA-DCCC-E32B-BAC80B1AB933}"/>
              </a:ext>
            </a:extLst>
          </p:cNvPr>
          <p:cNvSpPr>
            <a:spLocks noGrp="1"/>
          </p:cNvSpPr>
          <p:nvPr>
            <p:ph type="sldNum" sz="quarter" idx="12"/>
          </p:nvPr>
        </p:nvSpPr>
        <p:spPr/>
        <p:txBody>
          <a:bodyPr/>
          <a:lstStyle/>
          <a:p>
            <a:fld id="{336CAFD0-1F6E-4E11-9822-836563A02839}" type="slidenum">
              <a:rPr lang="es-ES" smtClean="0"/>
              <a:t>11</a:t>
            </a:fld>
            <a:endParaRPr lang="es-ES"/>
          </a:p>
        </p:txBody>
      </p:sp>
      <p:pic>
        <p:nvPicPr>
          <p:cNvPr id="6" name="Imagen 5">
            <a:extLst>
              <a:ext uri="{FF2B5EF4-FFF2-40B4-BE49-F238E27FC236}">
                <a16:creationId xmlns:a16="http://schemas.microsoft.com/office/drawing/2014/main" id="{C2D6CC45-C4B5-2895-471A-0F4695AADE5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188109" y="1825624"/>
            <a:ext cx="6373972" cy="4530726"/>
          </a:xfrm>
          <a:prstGeom prst="rect">
            <a:avLst/>
          </a:prstGeom>
        </p:spPr>
      </p:pic>
    </p:spTree>
    <p:extLst>
      <p:ext uri="{BB962C8B-B14F-4D97-AF65-F5344CB8AC3E}">
        <p14:creationId xmlns:p14="http://schemas.microsoft.com/office/powerpoint/2010/main" val="2075938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3C0774-8C7F-5DB3-0BB6-5DF43940C222}"/>
              </a:ext>
            </a:extLst>
          </p:cNvPr>
          <p:cNvSpPr>
            <a:spLocks noGrp="1"/>
          </p:cNvSpPr>
          <p:nvPr>
            <p:ph type="title"/>
          </p:nvPr>
        </p:nvSpPr>
        <p:spPr/>
        <p:txBody>
          <a:bodyPr/>
          <a:lstStyle/>
          <a:p>
            <a:r>
              <a:rPr lang="es-ES" dirty="0"/>
              <a:t>4. Modelo de regresión</a:t>
            </a:r>
            <a:br>
              <a:rPr lang="es-ES" dirty="0"/>
            </a:br>
            <a:r>
              <a:rPr dirty="0" err="1"/>
              <a:t>Regresión</a:t>
            </a:r>
            <a:r>
              <a:rPr dirty="0"/>
              <a:t> m</a:t>
            </a:r>
            <a:r>
              <a:rPr lang="es-ES" dirty="0" err="1"/>
              <a:t>últiple</a:t>
            </a:r>
            <a:endParaRPr dirty="0"/>
          </a:p>
        </p:txBody>
      </p:sp>
      <p:sp>
        <p:nvSpPr>
          <p:cNvPr id="3" name="Marcador de contenido 2">
            <a:extLst>
              <a:ext uri="{FF2B5EF4-FFF2-40B4-BE49-F238E27FC236}">
                <a16:creationId xmlns:a16="http://schemas.microsoft.com/office/drawing/2014/main" id="{9C1DEB3E-0E59-B717-D269-E2FA0CA4F518}"/>
              </a:ext>
            </a:extLst>
          </p:cNvPr>
          <p:cNvSpPr>
            <a:spLocks noGrp="1"/>
          </p:cNvSpPr>
          <p:nvPr>
            <p:ph idx="1"/>
          </p:nvPr>
        </p:nvSpPr>
        <p:spPr/>
        <p:txBody>
          <a:bodyPr/>
          <a:lstStyle/>
          <a:p>
            <a:r>
              <a:rPr dirty="0"/>
              <a:t>Para </a:t>
            </a:r>
            <a:r>
              <a:rPr dirty="0" err="1"/>
              <a:t>mejorar</a:t>
            </a:r>
            <a:r>
              <a:rPr dirty="0"/>
              <a:t> </a:t>
            </a:r>
            <a:r>
              <a:rPr lang="es-ES" dirty="0"/>
              <a:t>la </a:t>
            </a:r>
            <a:r>
              <a:rPr dirty="0" err="1"/>
              <a:t>estimación</a:t>
            </a:r>
            <a:r>
              <a:rPr dirty="0"/>
              <a:t> en el </a:t>
            </a:r>
            <a:r>
              <a:rPr dirty="0" err="1"/>
              <a:t>ejemplo</a:t>
            </a:r>
            <a:r>
              <a:rPr dirty="0"/>
              <a:t> 11.2, </a:t>
            </a:r>
            <a:r>
              <a:rPr lang="es-ES" dirty="0"/>
              <a:t>se pueden </a:t>
            </a:r>
            <a:r>
              <a:rPr dirty="0" err="1"/>
              <a:t>tener</a:t>
            </a:r>
            <a:r>
              <a:rPr dirty="0"/>
              <a:t> en </a:t>
            </a:r>
            <a:r>
              <a:rPr dirty="0" err="1"/>
              <a:t>cuenta</a:t>
            </a:r>
            <a:r>
              <a:rPr dirty="0"/>
              <a:t> </a:t>
            </a:r>
            <a:r>
              <a:rPr dirty="0" err="1"/>
              <a:t>otros</a:t>
            </a:r>
            <a:r>
              <a:rPr dirty="0"/>
              <a:t> </a:t>
            </a:r>
            <a:r>
              <a:rPr dirty="0" err="1"/>
              <a:t>factores</a:t>
            </a:r>
            <a:r>
              <a:rPr dirty="0"/>
              <a:t>:</a:t>
            </a:r>
          </a:p>
          <a:p>
            <a:pPr lvl="1"/>
            <a:r>
              <a:rPr dirty="0"/>
              <a:t>el </a:t>
            </a:r>
            <a:r>
              <a:rPr dirty="0" err="1"/>
              <a:t>número</a:t>
            </a:r>
            <a:r>
              <a:rPr dirty="0"/>
              <a:t> de </a:t>
            </a:r>
            <a:r>
              <a:rPr dirty="0" err="1"/>
              <a:t>dormitorios</a:t>
            </a:r>
            <a:r>
              <a:rPr dirty="0"/>
              <a:t> y </a:t>
            </a:r>
            <a:r>
              <a:rPr dirty="0" err="1"/>
              <a:t>baños</a:t>
            </a:r>
            <a:r>
              <a:rPr dirty="0"/>
              <a:t>, </a:t>
            </a:r>
            <a:r>
              <a:rPr lang="es-ES" dirty="0"/>
              <a:t>la superficie del jardín</a:t>
            </a:r>
            <a:r>
              <a:rPr dirty="0"/>
              <a:t>, </a:t>
            </a:r>
            <a:r>
              <a:rPr lang="es-ES" dirty="0"/>
              <a:t>el salario </a:t>
            </a:r>
            <a:r>
              <a:rPr dirty="0" err="1"/>
              <a:t>promedio</a:t>
            </a:r>
            <a:r>
              <a:rPr dirty="0"/>
              <a:t> de</a:t>
            </a:r>
            <a:r>
              <a:rPr lang="es-ES" dirty="0"/>
              <a:t> los vecinos de</a:t>
            </a:r>
            <a:r>
              <a:rPr dirty="0"/>
              <a:t>l barrio, etc. </a:t>
            </a:r>
          </a:p>
          <a:p>
            <a:r>
              <a:rPr dirty="0"/>
              <a:t>Si </a:t>
            </a:r>
            <a:r>
              <a:rPr dirty="0" err="1"/>
              <a:t>todas</a:t>
            </a:r>
            <a:r>
              <a:rPr dirty="0"/>
              <a:t> las variables </a:t>
            </a:r>
            <a:r>
              <a:rPr dirty="0" err="1"/>
              <a:t>añadidas</a:t>
            </a:r>
            <a:r>
              <a:rPr dirty="0"/>
              <a:t> son </a:t>
            </a:r>
            <a:r>
              <a:rPr dirty="0" err="1"/>
              <a:t>relevantes</a:t>
            </a:r>
            <a:r>
              <a:rPr dirty="0"/>
              <a:t> para </a:t>
            </a:r>
            <a:r>
              <a:rPr dirty="0" err="1"/>
              <a:t>fijar</a:t>
            </a:r>
            <a:r>
              <a:rPr dirty="0"/>
              <a:t> el </a:t>
            </a:r>
            <a:r>
              <a:rPr dirty="0" err="1"/>
              <a:t>precio</a:t>
            </a:r>
            <a:r>
              <a:rPr dirty="0"/>
              <a:t> de </a:t>
            </a:r>
            <a:r>
              <a:rPr dirty="0" err="1"/>
              <a:t>una</a:t>
            </a:r>
            <a:r>
              <a:rPr dirty="0"/>
              <a:t> </a:t>
            </a:r>
            <a:r>
              <a:rPr lang="es-ES" dirty="0"/>
              <a:t>vivienda</a:t>
            </a:r>
            <a:r>
              <a:rPr dirty="0"/>
              <a:t>, </a:t>
            </a:r>
            <a:r>
              <a:rPr lang="es-ES" dirty="0"/>
              <a:t>el </a:t>
            </a:r>
            <a:r>
              <a:rPr dirty="0" err="1"/>
              <a:t>modelo</a:t>
            </a:r>
            <a:r>
              <a:rPr dirty="0"/>
              <a:t> </a:t>
            </a:r>
            <a:r>
              <a:rPr dirty="0" err="1"/>
              <a:t>tendrá</a:t>
            </a:r>
            <a:r>
              <a:rPr dirty="0"/>
              <a:t> un </a:t>
            </a:r>
            <a:r>
              <a:rPr dirty="0" err="1"/>
              <a:t>ajuste</a:t>
            </a:r>
            <a:r>
              <a:rPr dirty="0"/>
              <a:t> </a:t>
            </a:r>
            <a:r>
              <a:rPr dirty="0" err="1"/>
              <a:t>más</a:t>
            </a:r>
            <a:r>
              <a:rPr dirty="0"/>
              <a:t> </a:t>
            </a:r>
            <a:r>
              <a:rPr dirty="0" err="1"/>
              <a:t>cercano</a:t>
            </a:r>
            <a:r>
              <a:rPr dirty="0"/>
              <a:t> y </a:t>
            </a:r>
            <a:r>
              <a:rPr dirty="0" err="1"/>
              <a:t>proporcionará</a:t>
            </a:r>
            <a:r>
              <a:rPr dirty="0"/>
              <a:t> </a:t>
            </a:r>
            <a:r>
              <a:rPr dirty="0" err="1"/>
              <a:t>predicciones</a:t>
            </a:r>
            <a:r>
              <a:rPr dirty="0"/>
              <a:t> </a:t>
            </a:r>
            <a:r>
              <a:rPr dirty="0" err="1"/>
              <a:t>más</a:t>
            </a:r>
            <a:r>
              <a:rPr dirty="0"/>
              <a:t> </a:t>
            </a:r>
            <a:r>
              <a:rPr dirty="0" err="1"/>
              <a:t>precisas</a:t>
            </a:r>
            <a:r>
              <a:rPr dirty="0"/>
              <a:t>.</a:t>
            </a:r>
          </a:p>
          <a:p>
            <a:r>
              <a:rPr dirty="0"/>
              <a:t>Los </a:t>
            </a:r>
            <a:r>
              <a:rPr dirty="0" err="1"/>
              <a:t>modelos</a:t>
            </a:r>
            <a:r>
              <a:rPr dirty="0"/>
              <a:t> de </a:t>
            </a:r>
            <a:r>
              <a:rPr dirty="0" err="1"/>
              <a:t>regresión</a:t>
            </a:r>
            <a:r>
              <a:rPr dirty="0"/>
              <a:t> con </a:t>
            </a:r>
            <a:r>
              <a:rPr lang="es-ES" dirty="0"/>
              <a:t>varios </a:t>
            </a:r>
            <a:r>
              <a:rPr dirty="0" err="1"/>
              <a:t>predictores</a:t>
            </a:r>
            <a:r>
              <a:rPr dirty="0"/>
              <a:t> son </a:t>
            </a:r>
            <a:r>
              <a:rPr dirty="0" err="1"/>
              <a:t>modelos</a:t>
            </a:r>
            <a:r>
              <a:rPr dirty="0"/>
              <a:t> de </a:t>
            </a:r>
            <a:r>
              <a:rPr dirty="0" err="1"/>
              <a:t>regresión</a:t>
            </a:r>
            <a:r>
              <a:rPr dirty="0"/>
              <a:t> m</a:t>
            </a:r>
            <a:r>
              <a:rPr lang="es-ES" dirty="0" err="1"/>
              <a:t>últiple</a:t>
            </a:r>
            <a:r>
              <a:rPr lang="es-ES" dirty="0"/>
              <a:t>.</a:t>
            </a:r>
            <a:r>
              <a:rPr dirty="0"/>
              <a:t> </a:t>
            </a:r>
          </a:p>
        </p:txBody>
      </p:sp>
      <p:sp>
        <p:nvSpPr>
          <p:cNvPr id="4" name="Marcador de número de diapositiva 3">
            <a:extLst>
              <a:ext uri="{FF2B5EF4-FFF2-40B4-BE49-F238E27FC236}">
                <a16:creationId xmlns:a16="http://schemas.microsoft.com/office/drawing/2014/main" id="{915B03E9-9811-0EE6-8E82-A0C3ABFC42A9}"/>
              </a:ext>
            </a:extLst>
          </p:cNvPr>
          <p:cNvSpPr>
            <a:spLocks noGrp="1"/>
          </p:cNvSpPr>
          <p:nvPr>
            <p:ph type="sldNum" sz="quarter" idx="12"/>
          </p:nvPr>
        </p:nvSpPr>
        <p:spPr/>
        <p:txBody>
          <a:bodyPr/>
          <a:lstStyle/>
          <a:p>
            <a:fld id="{336CAFD0-1F6E-4E11-9822-836563A02839}" type="slidenum">
              <a:rPr lang="es-ES" smtClean="0"/>
              <a:t>12</a:t>
            </a:fld>
            <a:endParaRPr lang="es-ES"/>
          </a:p>
        </p:txBody>
      </p:sp>
    </p:spTree>
    <p:extLst>
      <p:ext uri="{BB962C8B-B14F-4D97-AF65-F5344CB8AC3E}">
        <p14:creationId xmlns:p14="http://schemas.microsoft.com/office/powerpoint/2010/main" val="942199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CD5372-EFBA-2407-B2F9-5A98C3B4EFA3}"/>
              </a:ext>
            </a:extLst>
          </p:cNvPr>
          <p:cNvSpPr>
            <a:spLocks noGrp="1"/>
          </p:cNvSpPr>
          <p:nvPr>
            <p:ph type="title"/>
          </p:nvPr>
        </p:nvSpPr>
        <p:spPr/>
        <p:txBody>
          <a:bodyPr/>
          <a:lstStyle/>
          <a:p>
            <a:r>
              <a:rPr lang="es-ES" dirty="0"/>
              <a:t>5. Regresión lineal simple</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D7FFE34-1261-0464-9020-6DF211FA24E8}"/>
                  </a:ext>
                </a:extLst>
              </p:cNvPr>
              <p:cNvSpPr>
                <a:spLocks noGrp="1"/>
              </p:cNvSpPr>
              <p:nvPr>
                <p:ph idx="1"/>
              </p:nvPr>
            </p:nvSpPr>
            <p:spPr>
              <a:xfrm>
                <a:off x="838200" y="1825624"/>
                <a:ext cx="10515600" cy="4808855"/>
              </a:xfrm>
            </p:spPr>
            <p:txBody>
              <a:bodyPr>
                <a:normAutofit/>
              </a:bodyPr>
              <a:lstStyle/>
              <a:p>
                <a:r>
                  <a:rPr lang="es-ES" dirty="0"/>
                  <a:t>Un modelo de regresión lineal simple asume que la esperanza condicional es una función lineal de x</a:t>
                </a:r>
              </a:p>
              <a:p>
                <a:pPr lvl="1"/>
                <a14:m>
                  <m:oMath xmlns:m="http://schemas.openxmlformats.org/officeDocument/2006/math">
                    <m:r>
                      <a:rPr lang="es-ES" b="0" i="1" smtClean="0">
                        <a:latin typeface="Cambria Math" panose="02040503050406030204" pitchFamily="18" charset="0"/>
                      </a:rPr>
                      <m:t>𝐺</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r>
                      <a:rPr lang="ar-AE" b="0" i="1" smtClean="0">
                        <a:latin typeface="Cambria Math" panose="02040503050406030204" pitchFamily="18" charset="0"/>
                      </a:rPr>
                      <m:t>𝐸</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𝑌</m:t>
                        </m:r>
                        <m:r>
                          <a:rPr lang="ar-AE" b="0" i="1" smtClean="0">
                            <a:latin typeface="Cambria Math" panose="02040503050406030204" pitchFamily="18" charset="0"/>
                          </a:rPr>
                          <m:t> </m:t>
                        </m:r>
                      </m:e>
                    </m:d>
                    <m:r>
                      <a:rPr lang="ar-AE" b="0" i="1" smtClean="0">
                        <a:latin typeface="Cambria Math" panose="02040503050406030204" pitchFamily="18" charset="0"/>
                      </a:rPr>
                      <m:t> </m:t>
                    </m:r>
                    <m:r>
                      <a:rPr lang="ar-AE" b="0" i="1" smtClean="0">
                        <a:latin typeface="Cambria Math" panose="02040503050406030204" pitchFamily="18" charset="0"/>
                      </a:rPr>
                      <m:t>𝑋</m:t>
                    </m:r>
                    <m:r>
                      <a:rPr lang="ar-AE" b="0" i="1" smtClean="0">
                        <a:latin typeface="Cambria Math" panose="02040503050406030204" pitchFamily="18" charset="0"/>
                      </a:rPr>
                      <m:t>=</m:t>
                    </m:r>
                    <m:r>
                      <a:rPr lang="ar-AE" b="0" i="1" smtClean="0">
                        <a:latin typeface="Cambria Math" panose="02040503050406030204" pitchFamily="18" charset="0"/>
                      </a:rPr>
                      <m:t>𝑥</m:t>
                    </m:r>
                    <m:r>
                      <a:rPr lang="ar-AE" b="0" i="1" smtClean="0">
                        <a:latin typeface="Cambria Math" panose="02040503050406030204" pitchFamily="18" charset="0"/>
                      </a:rPr>
                      <m:t>}=</m:t>
                    </m:r>
                    <m:sSub>
                      <m:sSubPr>
                        <m:ctrlPr>
                          <a:rPr lang="ar-AE" b="0" i="1" smtClean="0">
                            <a:latin typeface="Cambria Math" panose="02040503050406030204" pitchFamily="18" charset="0"/>
                          </a:rPr>
                        </m:ctrlPr>
                      </m:sSubPr>
                      <m:e>
                        <m:r>
                          <a:rPr lang="ar-AE" b="0" i="1" smtClean="0">
                            <a:latin typeface="Cambria Math" panose="02040503050406030204" pitchFamily="18" charset="0"/>
                            <a:ea typeface="Cambria Math" panose="02040503050406030204" pitchFamily="18" charset="0"/>
                          </a:rPr>
                          <m:t>𝛽</m:t>
                        </m:r>
                      </m:e>
                      <m:sub>
                        <m:r>
                          <a:rPr lang="ar-AE" b="0" i="1" smtClean="0">
                            <a:latin typeface="Cambria Math" panose="02040503050406030204" pitchFamily="18" charset="0"/>
                          </a:rPr>
                          <m:t>0</m:t>
                        </m:r>
                      </m:sub>
                    </m:sSub>
                    <m:r>
                      <a:rPr lang="ar-AE" b="0" i="1" smtClean="0">
                        <a:latin typeface="Cambria Math" panose="02040503050406030204" pitchFamily="18" charset="0"/>
                      </a:rPr>
                      <m:t>+</m:t>
                    </m:r>
                    <m:sSub>
                      <m:sSubPr>
                        <m:ctrlPr>
                          <a:rPr lang="ar-AE" b="0" i="1" smtClean="0">
                            <a:latin typeface="Cambria Math" panose="02040503050406030204" pitchFamily="18" charset="0"/>
                          </a:rPr>
                        </m:ctrlPr>
                      </m:sSubPr>
                      <m:e>
                        <m:r>
                          <a:rPr lang="ar-AE" b="0" i="1" smtClean="0">
                            <a:latin typeface="Cambria Math" panose="02040503050406030204" pitchFamily="18" charset="0"/>
                            <a:ea typeface="Cambria Math" panose="02040503050406030204" pitchFamily="18" charset="0"/>
                          </a:rPr>
                          <m:t>𝛽</m:t>
                        </m:r>
                      </m:e>
                      <m:sub>
                        <m:r>
                          <a:rPr lang="ar-AE" b="0" i="1" smtClean="0">
                            <a:latin typeface="Cambria Math" panose="02040503050406030204" pitchFamily="18" charset="0"/>
                          </a:rPr>
                          <m:t>1</m:t>
                        </m:r>
                      </m:sub>
                    </m:sSub>
                    <m:r>
                      <a:rPr lang="ar-AE" b="0" i="1" smtClean="0">
                        <a:latin typeface="Cambria Math" panose="02040503050406030204" pitchFamily="18" charset="0"/>
                      </a:rPr>
                      <m:t>𝑥</m:t>
                    </m:r>
                  </m:oMath>
                </a14:m>
                <a:endParaRPr lang="ar-AE" dirty="0"/>
              </a:p>
              <a:p>
                <a:r>
                  <a:rPr lang="es-ES" dirty="0"/>
                  <a:t>Se denomina </a:t>
                </a:r>
                <a:r>
                  <a:rPr lang="es-ES" b="1" dirty="0"/>
                  <a:t>recta de regresión</a:t>
                </a:r>
              </a:p>
              <a:p>
                <a:r>
                  <a:rPr lang="es-ES" dirty="0"/>
                  <a:t>Si calculásemos el valor (y) de la variable Y a partir de un valor (x) del predictor X usando la recta de regresión, el valor correcto de Y sería el de la esperanza que representa G(x) más un error aleatorio </a:t>
                </a:r>
                <a14:m>
                  <m:oMath xmlns:m="http://schemas.openxmlformats.org/officeDocument/2006/math">
                    <m:r>
                      <a:rPr lang="es-ES" b="0" i="1" smtClean="0">
                        <a:latin typeface="Cambria Math" panose="02040503050406030204" pitchFamily="18" charset="0"/>
                        <a:ea typeface="Cambria Math" panose="02040503050406030204" pitchFamily="18" charset="0"/>
                      </a:rPr>
                      <m:t>𝜀</m:t>
                    </m:r>
                    <m:r>
                      <a:rPr lang="es-ES" b="0" i="1" smtClean="0">
                        <a:latin typeface="Cambria Math" panose="02040503050406030204" pitchFamily="18" charset="0"/>
                        <a:ea typeface="Cambria Math" panose="02040503050406030204" pitchFamily="18" charset="0"/>
                      </a:rPr>
                      <m:t> </m:t>
                    </m:r>
                  </m:oMath>
                </a14:m>
                <a:r>
                  <a:rPr lang="es-ES" dirty="0"/>
                  <a:t>que se comete si el resultado no está en la recta</a:t>
                </a:r>
              </a:p>
              <a:p>
                <a:pPr lvl="1"/>
                <a14:m>
                  <m:oMath xmlns:m="http://schemas.openxmlformats.org/officeDocument/2006/math">
                    <m:r>
                      <a:rPr lang="es-ES" b="0" i="1" smtClean="0">
                        <a:latin typeface="Cambria Math" panose="02040503050406030204" pitchFamily="18" charset="0"/>
                      </a:rPr>
                      <m:t>𝑦</m:t>
                    </m:r>
                    <m:r>
                      <a:rPr lang="es-ES" i="1">
                        <a:latin typeface="Cambria Math" panose="02040503050406030204" pitchFamily="18" charset="0"/>
                      </a:rPr>
                      <m:t> =</m:t>
                    </m:r>
                    <m:r>
                      <a:rPr lang="es-ES" b="0" i="1" smtClean="0">
                        <a:latin typeface="Cambria Math" panose="02040503050406030204" pitchFamily="18" charset="0"/>
                      </a:rPr>
                      <m:t>𝐺</m:t>
                    </m:r>
                    <m:d>
                      <m:dPr>
                        <m:ctrlPr>
                          <a:rPr lang="es-ES" i="1">
                            <a:latin typeface="Cambria Math" panose="02040503050406030204" pitchFamily="18" charset="0"/>
                          </a:rPr>
                        </m:ctrlPr>
                      </m:dPr>
                      <m:e>
                        <m:r>
                          <a:rPr lang="es-ES" i="1">
                            <a:latin typeface="Cambria Math" panose="02040503050406030204" pitchFamily="18" charset="0"/>
                          </a:rPr>
                          <m:t>𝑥</m:t>
                        </m:r>
                      </m:e>
                    </m:d>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𝜀</m:t>
                    </m:r>
                    <m:r>
                      <a:rPr lang="es-ES" i="1">
                        <a:latin typeface="Cambria Math" panose="02040503050406030204" pitchFamily="18" charset="0"/>
                      </a:rPr>
                      <m:t>=</m:t>
                    </m:r>
                    <m:sSub>
                      <m:sSubPr>
                        <m:ctrlPr>
                          <a:rPr lang="es-ES" i="1">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𝛽</m:t>
                        </m:r>
                      </m:e>
                      <m:sub>
                        <m:r>
                          <a:rPr lang="es-ES" i="1">
                            <a:latin typeface="Cambria Math" panose="02040503050406030204" pitchFamily="18" charset="0"/>
                          </a:rPr>
                          <m:t>0</m:t>
                        </m:r>
                      </m:sub>
                    </m:sSub>
                    <m:r>
                      <a:rPr lang="es-ES" i="1">
                        <a:latin typeface="Cambria Math" panose="02040503050406030204" pitchFamily="18" charset="0"/>
                      </a:rPr>
                      <m:t>+</m:t>
                    </m:r>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1</m:t>
                        </m:r>
                      </m:sub>
                    </m:sSub>
                    <m:r>
                      <a:rPr lang="es-ES" i="1">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𝜀</m:t>
                    </m:r>
                  </m:oMath>
                </a14:m>
                <a:endParaRPr lang="es-ES" dirty="0"/>
              </a:p>
              <a:p>
                <a:endParaRPr lang="es-ES" dirty="0"/>
              </a:p>
            </p:txBody>
          </p:sp>
        </mc:Choice>
        <mc:Fallback xmlns="">
          <p:sp>
            <p:nvSpPr>
              <p:cNvPr id="3" name="Marcador de contenido 2">
                <a:extLst>
                  <a:ext uri="{FF2B5EF4-FFF2-40B4-BE49-F238E27FC236}">
                    <a16:creationId xmlns:a16="http://schemas.microsoft.com/office/drawing/2014/main" id="{0D7FFE34-1261-0464-9020-6DF211FA24E8}"/>
                  </a:ext>
                </a:extLst>
              </p:cNvPr>
              <p:cNvSpPr>
                <a:spLocks noGrp="1" noRot="1" noChangeAspect="1" noMove="1" noResize="1" noEditPoints="1" noAdjustHandles="1" noChangeArrowheads="1" noChangeShapeType="1" noTextEdit="1"/>
              </p:cNvSpPr>
              <p:nvPr>
                <p:ph idx="1"/>
              </p:nvPr>
            </p:nvSpPr>
            <p:spPr>
              <a:xfrm>
                <a:off x="838200" y="1825624"/>
                <a:ext cx="10515600" cy="4808855"/>
              </a:xfrm>
              <a:blipFill>
                <a:blip r:embed="rId2"/>
                <a:stretch>
                  <a:fillRect l="-1043" t="-2028" r="-168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E5396A5-09E1-EAB8-8BC4-A69824DCA6DE}"/>
              </a:ext>
            </a:extLst>
          </p:cNvPr>
          <p:cNvSpPr>
            <a:spLocks noGrp="1"/>
          </p:cNvSpPr>
          <p:nvPr>
            <p:ph type="sldNum" sz="quarter" idx="12"/>
          </p:nvPr>
        </p:nvSpPr>
        <p:spPr/>
        <p:txBody>
          <a:bodyPr/>
          <a:lstStyle/>
          <a:p>
            <a:fld id="{336CAFD0-1F6E-4E11-9822-836563A02839}" type="slidenum">
              <a:rPr lang="es-ES" smtClean="0"/>
              <a:pPr/>
              <a:t>13</a:t>
            </a:fld>
            <a:endParaRPr lang="es-ES"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77DED7C6-A74B-9E98-2C72-D6BE3E47180F}"/>
                  </a:ext>
                </a:extLst>
              </p:cNvPr>
              <p:cNvSpPr txBox="1"/>
              <p:nvPr/>
            </p:nvSpPr>
            <p:spPr>
              <a:xfrm>
                <a:off x="7995424" y="2453269"/>
                <a:ext cx="3544945" cy="646331"/>
              </a:xfrm>
              <a:prstGeom prst="rect">
                <a:avLst/>
              </a:prstGeom>
              <a:noFill/>
              <a:ln>
                <a:solidFill>
                  <a:schemeClr val="tx1"/>
                </a:solidFill>
              </a:ln>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r>
                        <a:rPr lang="es-ES" b="0" i="1" smtClean="0">
                          <a:latin typeface="Cambria Math" panose="02040503050406030204" pitchFamily="18" charset="0"/>
                        </a:rPr>
                        <m:t>𝑖𝑛𝑡𝑒𝑟𝑐𝑒𝑝𝑡</m:t>
                      </m:r>
                      <m:r>
                        <a:rPr lang="es-ES" b="0" i="1" smtClean="0">
                          <a:latin typeface="Cambria Math" panose="02040503050406030204" pitchFamily="18" charset="0"/>
                        </a:rPr>
                        <m:t> (</m:t>
                      </m:r>
                      <m:r>
                        <a:rPr lang="es-ES" b="0" i="1" smtClean="0">
                          <a:latin typeface="Cambria Math" panose="02040503050406030204" pitchFamily="18" charset="0"/>
                        </a:rPr>
                        <m:t>𝑡</m:t>
                      </m:r>
                      <m:r>
                        <a:rPr lang="es-ES" b="0" i="1" smtClean="0">
                          <a:latin typeface="Cambria Math" panose="02040503050406030204" pitchFamily="18" charset="0"/>
                        </a:rPr>
                        <m:t>é</m:t>
                      </m:r>
                      <m:r>
                        <a:rPr lang="es-ES" b="0" i="1" smtClean="0">
                          <a:latin typeface="Cambria Math" panose="02040503050406030204" pitchFamily="18" charset="0"/>
                        </a:rPr>
                        <m:t>𝑟𝑚𝑖𝑛𝑜</m:t>
                      </m:r>
                      <m:r>
                        <a:rPr lang="es-ES" b="0" i="1" smtClean="0">
                          <a:latin typeface="Cambria Math" panose="02040503050406030204" pitchFamily="18" charset="0"/>
                        </a:rPr>
                        <m:t> </m:t>
                      </m:r>
                      <m:r>
                        <a:rPr lang="es-ES" b="0" i="1" smtClean="0">
                          <a:latin typeface="Cambria Math" panose="02040503050406030204" pitchFamily="18" charset="0"/>
                        </a:rPr>
                        <m:t>𝑖𝑛𝑑𝑒𝑝</m:t>
                      </m:r>
                      <m:r>
                        <a:rPr lang="es-ES" b="0" i="1" smtClean="0">
                          <a:latin typeface="Cambria Math" panose="02040503050406030204" pitchFamily="18" charset="0"/>
                        </a:rPr>
                        <m:t>.)</m:t>
                      </m:r>
                    </m:oMath>
                  </m:oMathPara>
                </a14:m>
                <a:endParaRPr lang="es-ES" b="0" dirty="0"/>
              </a:p>
              <a:p>
                <a14:m>
                  <m:oMath xmlns:m="http://schemas.openxmlformats.org/officeDocument/2006/math">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rPr>
                      <m:t>=</m:t>
                    </m:r>
                    <m:r>
                      <a:rPr lang="es-ES" b="0" i="1" smtClean="0">
                        <a:latin typeface="Cambria Math" panose="02040503050406030204" pitchFamily="18" charset="0"/>
                      </a:rPr>
                      <m:t>𝑠𝑙𝑜𝑝𝑒</m:t>
                    </m:r>
                    <m:r>
                      <a:rPr lang="es-ES" b="0" i="1" smtClean="0">
                        <a:latin typeface="Cambria Math" panose="02040503050406030204" pitchFamily="18" charset="0"/>
                      </a:rPr>
                      <m:t> (</m:t>
                    </m:r>
                    <m:r>
                      <a:rPr lang="es-ES" b="0" i="1" smtClean="0">
                        <a:latin typeface="Cambria Math" panose="02040503050406030204" pitchFamily="18" charset="0"/>
                      </a:rPr>
                      <m:t>𝑝𝑒𝑛𝑑𝑖𝑒𝑛𝑡𝑒</m:t>
                    </m:r>
                  </m:oMath>
                </a14:m>
                <a:r>
                  <a:rPr lang="es-ES" b="0" dirty="0"/>
                  <a:t>)</a:t>
                </a:r>
              </a:p>
            </p:txBody>
          </p:sp>
        </mc:Choice>
        <mc:Fallback xmlns="">
          <p:sp>
            <p:nvSpPr>
              <p:cNvPr id="7" name="CuadroTexto 6">
                <a:extLst>
                  <a:ext uri="{FF2B5EF4-FFF2-40B4-BE49-F238E27FC236}">
                    <a16:creationId xmlns:a16="http://schemas.microsoft.com/office/drawing/2014/main" id="{77DED7C6-A74B-9E98-2C72-D6BE3E47180F}"/>
                  </a:ext>
                </a:extLst>
              </p:cNvPr>
              <p:cNvSpPr txBox="1">
                <a:spLocks noRot="1" noChangeAspect="1" noMove="1" noResize="1" noEditPoints="1" noAdjustHandles="1" noChangeArrowheads="1" noChangeShapeType="1" noTextEdit="1"/>
              </p:cNvSpPr>
              <p:nvPr/>
            </p:nvSpPr>
            <p:spPr>
              <a:xfrm>
                <a:off x="7995424" y="2453269"/>
                <a:ext cx="3544945" cy="646331"/>
              </a:xfrm>
              <a:prstGeom prst="rect">
                <a:avLst/>
              </a:prstGeom>
              <a:blipFill>
                <a:blip r:embed="rId3"/>
                <a:stretch>
                  <a:fillRect l="-343" b="-12963"/>
                </a:stretch>
              </a:blipFill>
              <a:ln>
                <a:solidFill>
                  <a:schemeClr val="tx1"/>
                </a:solidFill>
              </a:ln>
            </p:spPr>
            <p:txBody>
              <a:bodyPr/>
              <a:lstStyle/>
              <a:p>
                <a:r>
                  <a:rPr lang="es-ES">
                    <a:noFill/>
                  </a:rPr>
                  <a:t> </a:t>
                </a:r>
              </a:p>
            </p:txBody>
          </p:sp>
        </mc:Fallback>
      </mc:AlternateContent>
    </p:spTree>
    <p:extLst>
      <p:ext uri="{BB962C8B-B14F-4D97-AF65-F5344CB8AC3E}">
        <p14:creationId xmlns:p14="http://schemas.microsoft.com/office/powerpoint/2010/main" val="662556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5D9BBF-FCFF-335A-B4B8-4880B84E8DFC}"/>
              </a:ext>
            </a:extLst>
          </p:cNvPr>
          <p:cNvSpPr>
            <a:spLocks noGrp="1"/>
          </p:cNvSpPr>
          <p:nvPr>
            <p:ph type="title"/>
          </p:nvPr>
        </p:nvSpPr>
        <p:spPr/>
        <p:txBody>
          <a:bodyPr>
            <a:normAutofit/>
          </a:bodyPr>
          <a:lstStyle/>
          <a:p>
            <a:r>
              <a:rPr lang="es-ES" dirty="0"/>
              <a:t>5</a:t>
            </a:r>
            <a:r>
              <a:rPr dirty="0"/>
              <a:t>. </a:t>
            </a:r>
            <a:r>
              <a:rPr dirty="0" err="1"/>
              <a:t>Regresión</a:t>
            </a:r>
            <a:r>
              <a:rPr dirty="0"/>
              <a:t> lineal simple</a:t>
            </a:r>
            <a:br>
              <a:rPr lang="es-ES" dirty="0"/>
            </a:br>
            <a:r>
              <a:rPr lang="es-ES" dirty="0"/>
              <a:t>Método de mínimos cuadrados</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5DD1D24-0E47-3FDE-2A7E-92337546D46A}"/>
                  </a:ext>
                </a:extLst>
              </p:cNvPr>
              <p:cNvSpPr>
                <a:spLocks noGrp="1"/>
              </p:cNvSpPr>
              <p:nvPr>
                <p:ph idx="1"/>
              </p:nvPr>
            </p:nvSpPr>
            <p:spPr>
              <a:xfrm>
                <a:off x="838200" y="1825625"/>
                <a:ext cx="5354782" cy="4402455"/>
              </a:xfrm>
            </p:spPr>
            <p:txBody>
              <a:bodyPr>
                <a:normAutofit fontScale="92500" lnSpcReduction="20000"/>
              </a:bodyPr>
              <a:lstStyle/>
              <a:p>
                <a:r>
                  <a:rPr lang="es-ES" dirty="0"/>
                  <a:t>No se conocen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ea typeface="Cambria Math" panose="02040503050406030204" pitchFamily="18" charset="0"/>
                          </a:rPr>
                          <m:t>𝛽</m:t>
                        </m:r>
                      </m:e>
                      <m:sub>
                        <m:r>
                          <a:rPr lang="ar-AE" i="1">
                            <a:latin typeface="Cambria Math" panose="02040503050406030204" pitchFamily="18" charset="0"/>
                          </a:rPr>
                          <m:t>0</m:t>
                        </m:r>
                      </m:sub>
                    </m:sSub>
                    <m:r>
                      <a:rPr lang="ar-AE" i="1">
                        <a:latin typeface="Cambria Math" panose="02040503050406030204" pitchFamily="18" charset="0"/>
                      </a:rPr>
                      <m:t> </m:t>
                    </m:r>
                  </m:oMath>
                </a14:m>
                <a:r>
                  <a:rPr lang="es-ES" dirty="0"/>
                  <a:t>y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ea typeface="Cambria Math" panose="02040503050406030204" pitchFamily="18" charset="0"/>
                          </a:rPr>
                          <m:t>1</m:t>
                        </m:r>
                      </m:sub>
                    </m:sSub>
                  </m:oMath>
                </a14:m>
                <a:r>
                  <a:rPr lang="es-ES" dirty="0"/>
                  <a:t>, pero se pueden estimar a partir de una muestra de datos</a:t>
                </a:r>
              </a:p>
              <a:p>
                <a:r>
                  <a:rPr lang="es-ES" dirty="0"/>
                  <a:t>Se u</a:t>
                </a:r>
                <a:r>
                  <a:rPr lang="es-ES" dirty="0" err="1"/>
                  <a:t>tiliza</a:t>
                </a:r>
                <a:r>
                  <a:rPr lang="es-ES" dirty="0"/>
                  <a:t> el </a:t>
                </a:r>
                <a:r>
                  <a:rPr lang="es-ES" dirty="0" err="1"/>
                  <a:t>método</a:t>
                </a:r>
                <a:r>
                  <a:rPr lang="es-ES" dirty="0"/>
                  <a:t> de </a:t>
                </a:r>
                <a:r>
                  <a:rPr lang="es-ES" dirty="0">
                    <a:hlinkClick r:id="rId2"/>
                  </a:rPr>
                  <a:t>mínimos </a:t>
                </a:r>
                <a:r>
                  <a:rPr lang="es-ES" dirty="0" err="1">
                    <a:hlinkClick r:id="rId2"/>
                  </a:rPr>
                  <a:t>cuadrados</a:t>
                </a:r>
                <a:r>
                  <a:rPr lang="es-ES" dirty="0"/>
                  <a:t> para </a:t>
                </a:r>
                <a:r>
                  <a:rPr lang="es-ES" dirty="0" err="1"/>
                  <a:t>minimizar</a:t>
                </a:r>
                <a:r>
                  <a:rPr lang="es-ES" dirty="0"/>
                  <a:t> </a:t>
                </a:r>
                <a:r>
                  <a:rPr lang="es-ES" dirty="0" err="1"/>
                  <a:t>el</a:t>
                </a:r>
                <a:r>
                  <a:rPr lang="es-ES" dirty="0"/>
                  <a:t> error </a:t>
                </a:r>
                <a14:m>
                  <m:oMath xmlns:m="http://schemas.openxmlformats.org/officeDocument/2006/math">
                    <m:r>
                      <a:rPr lang="es-ES" b="0" i="1" smtClean="0">
                        <a:latin typeface="Cambria Math" panose="02040503050406030204" pitchFamily="18" charset="0"/>
                        <a:ea typeface="Cambria Math" panose="02040503050406030204" pitchFamily="18" charset="0"/>
                      </a:rPr>
                      <m:t>𝜀</m:t>
                    </m:r>
                  </m:oMath>
                </a14:m>
                <a:r>
                  <a:rPr lang="es-ES" dirty="0"/>
                  <a:t> o distancia a la recta de regresión, y poder estimar el valor de y para un x dado</a:t>
                </a:r>
              </a:p>
              <a:p>
                <a:pPr lvl="1"/>
                <a14:m>
                  <m:oMath xmlns:m="http://schemas.openxmlformats.org/officeDocument/2006/math">
                    <m:acc>
                      <m:accPr>
                        <m:chr m:val="̂"/>
                        <m:ctrlPr>
                          <a:rPr lang="ar-AE" i="1" smtClean="0">
                            <a:latin typeface="Cambria Math" panose="02040503050406030204" pitchFamily="18" charset="0"/>
                          </a:rPr>
                        </m:ctrlPr>
                      </m:accPr>
                      <m:e>
                        <m:r>
                          <a:rPr lang="ar-AE" i="1">
                            <a:latin typeface="Cambria Math" panose="02040503050406030204" pitchFamily="18" charset="0"/>
                          </a:rPr>
                          <m:t>𝑦</m:t>
                        </m:r>
                      </m:e>
                    </m:acc>
                    <m:r>
                      <a:rPr lang="ar-AE" i="1">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𝐺</m:t>
                        </m:r>
                      </m:e>
                    </m:acc>
                    <m:d>
                      <m:dPr>
                        <m:ctrlPr>
                          <a:rPr lang="ar-AE" i="1">
                            <a:latin typeface="Cambria Math" panose="02040503050406030204" pitchFamily="18" charset="0"/>
                          </a:rPr>
                        </m:ctrlPr>
                      </m:dPr>
                      <m:e>
                        <m:r>
                          <a:rPr lang="ar-AE" i="1">
                            <a:latin typeface="Cambria Math" panose="02040503050406030204" pitchFamily="18" charset="0"/>
                          </a:rPr>
                          <m:t>𝑥</m:t>
                        </m:r>
                      </m:e>
                    </m:d>
                    <m:r>
                      <a:rPr lang="ar-AE" i="1">
                        <a:latin typeface="Cambria Math" panose="02040503050406030204" pitchFamily="18" charset="0"/>
                      </a:rPr>
                      <m:t>=</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ea typeface="Cambria Math" panose="02040503050406030204" pitchFamily="18" charset="0"/>
                              </a:rPr>
                              <m:t>𝛽</m:t>
                            </m:r>
                          </m:e>
                        </m:acc>
                      </m:e>
                      <m:sub>
                        <m:r>
                          <a:rPr lang="ar-AE" i="1">
                            <a:latin typeface="Cambria Math" panose="02040503050406030204" pitchFamily="18" charset="0"/>
                          </a:rPr>
                          <m:t>0</m:t>
                        </m:r>
                      </m:sub>
                    </m:sSub>
                    <m:r>
                      <a:rPr lang="ar-AE" i="1">
                        <a:latin typeface="Cambria Math" panose="02040503050406030204" pitchFamily="18" charset="0"/>
                      </a:rPr>
                      <m:t>+</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ea typeface="Cambria Math" panose="02040503050406030204" pitchFamily="18" charset="0"/>
                              </a:rPr>
                              <m:t>𝛽</m:t>
                            </m:r>
                          </m:e>
                        </m:acc>
                      </m:e>
                      <m:sub>
                        <m:r>
                          <a:rPr lang="ar-AE" i="1">
                            <a:latin typeface="Cambria Math" panose="02040503050406030204" pitchFamily="18" charset="0"/>
                          </a:rPr>
                          <m:t>1</m:t>
                        </m:r>
                      </m:sub>
                    </m:sSub>
                    <m:r>
                      <a:rPr lang="ar-AE" i="1">
                        <a:latin typeface="Cambria Math" panose="02040503050406030204" pitchFamily="18" charset="0"/>
                      </a:rPr>
                      <m:t>𝑥</m:t>
                    </m:r>
                  </m:oMath>
                </a14:m>
                <a:endParaRPr lang="es-ES" dirty="0"/>
              </a:p>
              <a:p>
                <a:r>
                  <a:rPr lang="es-ES" dirty="0"/>
                  <a:t>El método de los mínimos cuadrados establece cómo calcular los estimadores </a:t>
                </a:r>
                <a14:m>
                  <m:oMath xmlns:m="http://schemas.openxmlformats.org/officeDocument/2006/math">
                    <m:sSub>
                      <m:sSubPr>
                        <m:ctrlPr>
                          <a:rPr lang="ar-AE" i="1" smtClean="0">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ea typeface="Cambria Math" panose="02040503050406030204" pitchFamily="18" charset="0"/>
                              </a:rPr>
                              <m:t>𝛽</m:t>
                            </m:r>
                          </m:e>
                        </m:acc>
                      </m:e>
                      <m:sub>
                        <m:r>
                          <a:rPr lang="ar-AE" i="1">
                            <a:latin typeface="Cambria Math" panose="02040503050406030204" pitchFamily="18" charset="0"/>
                          </a:rPr>
                          <m:t>0</m:t>
                        </m:r>
                      </m:sub>
                    </m:sSub>
                  </m:oMath>
                </a14:m>
                <a:r>
                  <a:rPr lang="es-ES" dirty="0"/>
                  <a:t> y </a:t>
                </a: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ea typeface="Cambria Math" panose="02040503050406030204" pitchFamily="18" charset="0"/>
                              </a:rPr>
                              <m:t>𝛽</m:t>
                            </m:r>
                          </m:e>
                        </m:acc>
                      </m:e>
                      <m:sub>
                        <m:r>
                          <a:rPr lang="es-ES" b="0" i="1" smtClean="0">
                            <a:latin typeface="Cambria Math" panose="02040503050406030204" pitchFamily="18" charset="0"/>
                            <a:ea typeface="Cambria Math" panose="02040503050406030204" pitchFamily="18" charset="0"/>
                          </a:rPr>
                          <m:t>1</m:t>
                        </m:r>
                      </m:sub>
                    </m:sSub>
                  </m:oMath>
                </a14:m>
                <a:r>
                  <a:rPr lang="es-ES" dirty="0"/>
                  <a:t> para minimizar el error.</a:t>
                </a:r>
                <a:endParaRPr lang="ar-AE" dirty="0"/>
              </a:p>
              <a:p>
                <a:endParaRPr lang="ar-AE" dirty="0"/>
              </a:p>
              <a:p>
                <a:pPr lvl="1"/>
                <a:endParaRPr lang="ar-AE" dirty="0"/>
              </a:p>
              <a:p>
                <a:pPr lvl="1"/>
                <a:endParaRPr dirty="0"/>
              </a:p>
            </p:txBody>
          </p:sp>
        </mc:Choice>
        <mc:Fallback xmlns="">
          <p:sp>
            <p:nvSpPr>
              <p:cNvPr id="3" name="Marcador de contenido 2">
                <a:extLst>
                  <a:ext uri="{FF2B5EF4-FFF2-40B4-BE49-F238E27FC236}">
                    <a16:creationId xmlns:a16="http://schemas.microsoft.com/office/drawing/2014/main" id="{95DD1D24-0E47-3FDE-2A7E-92337546D46A}"/>
                  </a:ext>
                </a:extLst>
              </p:cNvPr>
              <p:cNvSpPr>
                <a:spLocks noGrp="1" noRot="1" noChangeAspect="1" noMove="1" noResize="1" noEditPoints="1" noAdjustHandles="1" noChangeArrowheads="1" noChangeShapeType="1" noTextEdit="1"/>
              </p:cNvSpPr>
              <p:nvPr>
                <p:ph idx="1"/>
              </p:nvPr>
            </p:nvSpPr>
            <p:spPr>
              <a:xfrm>
                <a:off x="838200" y="1825625"/>
                <a:ext cx="5354782" cy="4402455"/>
              </a:xfrm>
              <a:blipFill>
                <a:blip r:embed="rId3"/>
                <a:stretch>
                  <a:fillRect l="-1822" t="-3458" r="-3075"/>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2805ED-C207-D442-9426-57BA3EECFC1A}"/>
              </a:ext>
            </a:extLst>
          </p:cNvPr>
          <p:cNvSpPr>
            <a:spLocks noGrp="1"/>
          </p:cNvSpPr>
          <p:nvPr>
            <p:ph type="sldNum" sz="quarter" idx="12"/>
          </p:nvPr>
        </p:nvSpPr>
        <p:spPr/>
        <p:txBody>
          <a:bodyPr/>
          <a:lstStyle/>
          <a:p>
            <a:fld id="{336CAFD0-1F6E-4E11-9822-836563A02839}" type="slidenum">
              <a:rPr lang="es-ES" smtClean="0"/>
              <a:t>14</a:t>
            </a:fld>
            <a:endParaRPr lang="es-ES"/>
          </a:p>
        </p:txBody>
      </p:sp>
      <p:pic>
        <p:nvPicPr>
          <p:cNvPr id="6" name="Imagen 5">
            <a:extLst>
              <a:ext uri="{FF2B5EF4-FFF2-40B4-BE49-F238E27FC236}">
                <a16:creationId xmlns:a16="http://schemas.microsoft.com/office/drawing/2014/main" id="{BEAEF632-8B45-D39F-7556-AE7BAD95823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367780" y="2822866"/>
            <a:ext cx="5737629" cy="2401305"/>
          </a:xfrm>
          <a:prstGeom prst="rect">
            <a:avLst/>
          </a:prstGeom>
        </p:spPr>
      </p:pic>
    </p:spTree>
    <p:extLst>
      <p:ext uri="{BB962C8B-B14F-4D97-AF65-F5344CB8AC3E}">
        <p14:creationId xmlns:p14="http://schemas.microsoft.com/office/powerpoint/2010/main" val="2236755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CF0FC4-0C63-ABC8-EEDF-C549E80BE51F}"/>
              </a:ext>
            </a:extLst>
          </p:cNvPr>
          <p:cNvSpPr>
            <a:spLocks noGrp="1"/>
          </p:cNvSpPr>
          <p:nvPr>
            <p:ph type="title"/>
          </p:nvPr>
        </p:nvSpPr>
        <p:spPr/>
        <p:txBody>
          <a:bodyPr>
            <a:normAutofit/>
          </a:bodyPr>
          <a:lstStyle/>
          <a:p>
            <a:r>
              <a:rPr lang="es-ES" dirty="0"/>
              <a:t>5</a:t>
            </a:r>
            <a:r>
              <a:rPr dirty="0"/>
              <a:t>. </a:t>
            </a:r>
            <a:r>
              <a:rPr dirty="0" err="1"/>
              <a:t>Regresión</a:t>
            </a:r>
            <a:r>
              <a:rPr dirty="0"/>
              <a:t> lineal simple</a:t>
            </a:r>
            <a:br>
              <a:rPr lang="es-ES" dirty="0"/>
            </a:br>
            <a:r>
              <a:rPr lang="es-ES" dirty="0"/>
              <a:t>Estimación de la variable respuesta</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8DD3302-1C6E-04F2-76B6-DAD643F1E4F1}"/>
                  </a:ext>
                </a:extLst>
              </p:cNvPr>
              <p:cNvSpPr>
                <a:spLocks noGrp="1"/>
              </p:cNvSpPr>
              <p:nvPr>
                <p:ph idx="1"/>
              </p:nvPr>
            </p:nvSpPr>
            <p:spPr>
              <a:xfrm>
                <a:off x="838200" y="1825624"/>
                <a:ext cx="10515600" cy="4667251"/>
              </a:xfrm>
            </p:spPr>
            <p:txBody>
              <a:bodyPr>
                <a:normAutofit fontScale="85000" lnSpcReduction="20000"/>
              </a:bodyPr>
              <a:lstStyle/>
              <a:p>
                <a:r>
                  <a:rPr lang="es-ES" dirty="0"/>
                  <a:t>Para estimar el valor de la variable Y para un valor dado de X, podemos usar como estimador el modelo de regresión:</a:t>
                </a:r>
              </a:p>
              <a:p>
                <a:pPr lvl="1"/>
                <a14:m>
                  <m:oMath xmlns:m="http://schemas.openxmlformats.org/officeDocument/2006/math">
                    <m:acc>
                      <m:accPr>
                        <m:chr m:val="̂"/>
                        <m:ctrlPr>
                          <a:rPr lang="es-ES" i="1">
                            <a:latin typeface="Cambria Math" panose="02040503050406030204" pitchFamily="18" charset="0"/>
                          </a:rPr>
                        </m:ctrlPr>
                      </m:accPr>
                      <m:e>
                        <m:r>
                          <a:rPr lang="es-ES" i="1">
                            <a:latin typeface="Cambria Math" panose="02040503050406030204" pitchFamily="18" charset="0"/>
                          </a:rPr>
                          <m:t>𝑦</m:t>
                        </m:r>
                      </m:e>
                    </m:acc>
                    <m:r>
                      <a:rPr lang="es-ES" i="1">
                        <a:latin typeface="Cambria Math" panose="02040503050406030204" pitchFamily="18" charset="0"/>
                      </a:rPr>
                      <m:t> =</m:t>
                    </m:r>
                    <m:acc>
                      <m:accPr>
                        <m:chr m:val="̂"/>
                        <m:ctrlPr>
                          <a:rPr lang="es-ES" i="1">
                            <a:latin typeface="Cambria Math" panose="02040503050406030204" pitchFamily="18" charset="0"/>
                          </a:rPr>
                        </m:ctrlPr>
                      </m:accPr>
                      <m:e>
                        <m:r>
                          <a:rPr lang="es-ES" i="1">
                            <a:latin typeface="Cambria Math" panose="02040503050406030204" pitchFamily="18" charset="0"/>
                          </a:rPr>
                          <m:t>𝐺</m:t>
                        </m:r>
                      </m:e>
                    </m:acc>
                    <m:d>
                      <m:dPr>
                        <m:ctrlPr>
                          <a:rPr lang="es-ES" i="1">
                            <a:latin typeface="Cambria Math" panose="02040503050406030204" pitchFamily="18" charset="0"/>
                          </a:rPr>
                        </m:ctrlPr>
                      </m:dPr>
                      <m:e>
                        <m:r>
                          <a:rPr lang="es-ES" i="1">
                            <a:latin typeface="Cambria Math" panose="02040503050406030204" pitchFamily="18" charset="0"/>
                          </a:rPr>
                          <m:t>𝑥</m:t>
                        </m:r>
                      </m:e>
                    </m:d>
                    <m:r>
                      <a:rPr lang="es-ES" i="1">
                        <a:latin typeface="Cambria Math" panose="02040503050406030204" pitchFamily="18" charset="0"/>
                      </a:rPr>
                      <m:t>=</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𝛽</m:t>
                            </m:r>
                          </m:e>
                        </m:acc>
                      </m:e>
                      <m:sub>
                        <m:r>
                          <a:rPr lang="es-ES" i="1">
                            <a:latin typeface="Cambria Math" panose="02040503050406030204" pitchFamily="18" charset="0"/>
                          </a:rPr>
                          <m:t>0</m:t>
                        </m:r>
                      </m:sub>
                    </m:sSub>
                    <m:r>
                      <a:rPr lang="es-ES" i="1">
                        <a:latin typeface="Cambria Math" panose="02040503050406030204" pitchFamily="18" charset="0"/>
                      </a:rPr>
                      <m:t>+</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𝛽</m:t>
                            </m:r>
                          </m:e>
                        </m:acc>
                      </m:e>
                      <m:sub>
                        <m:r>
                          <a:rPr lang="es-ES" i="1">
                            <a:latin typeface="Cambria Math" panose="02040503050406030204" pitchFamily="18" charset="0"/>
                          </a:rPr>
                          <m:t>1</m:t>
                        </m:r>
                      </m:sub>
                    </m:sSub>
                    <m:r>
                      <a:rPr lang="es-ES" i="1">
                        <a:latin typeface="Cambria Math" panose="02040503050406030204" pitchFamily="18" charset="0"/>
                      </a:rPr>
                      <m:t>𝑥</m:t>
                    </m:r>
                  </m:oMath>
                </a14:m>
                <a:endParaRPr lang="es-ES" dirty="0"/>
              </a:p>
              <a:p>
                <a:r>
                  <a:rPr lang="es-ES" dirty="0"/>
                  <a:t>Llamamos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0</m:t>
                        </m:r>
                      </m:sub>
                    </m:sSub>
                  </m:oMath>
                </a14:m>
                <a:r>
                  <a:rPr lang="ar-AE" dirty="0"/>
                  <a:t> </a:t>
                </a:r>
                <a:r>
                  <a:rPr lang="es-ES" dirty="0"/>
                  <a:t>y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1</m:t>
                        </m:r>
                      </m:sub>
                    </m:sSub>
                  </m:oMath>
                </a14:m>
                <a:r>
                  <a:rPr lang="es-ES" dirty="0"/>
                  <a:t>a los estimadores de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ea typeface="Cambria Math" panose="02040503050406030204" pitchFamily="18" charset="0"/>
                          </a:rPr>
                          <m:t>𝛽</m:t>
                        </m:r>
                      </m:e>
                      <m:sub>
                        <m:r>
                          <a:rPr lang="ar-AE" i="1">
                            <a:latin typeface="Cambria Math" panose="02040503050406030204" pitchFamily="18" charset="0"/>
                          </a:rPr>
                          <m:t>0</m:t>
                        </m:r>
                      </m:sub>
                    </m:sSub>
                  </m:oMath>
                </a14:m>
                <a:r>
                  <a:rPr lang="es-ES" dirty="0"/>
                  <a:t>y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ea typeface="Cambria Math" panose="02040503050406030204" pitchFamily="18" charset="0"/>
                          </a:rPr>
                          <m:t>1</m:t>
                        </m:r>
                      </m:sub>
                    </m:sSub>
                  </m:oMath>
                </a14:m>
                <a:r>
                  <a:rPr lang="es-ES" dirty="0"/>
                  <a:t>, que pueden calcularse de la siguiente forma, según el método de mínimos cuadrados:</a:t>
                </a:r>
              </a:p>
              <a:p>
                <a:pPr lvl="1"/>
                <a14:m>
                  <m:oMath xmlns:m="http://schemas.openxmlformats.org/officeDocument/2006/math">
                    <m:sSub>
                      <m:sSubPr>
                        <m:ctrlPr>
                          <a:rPr lang="ar-AE" b="0" i="1" smtClean="0">
                            <a:latin typeface="Cambria Math" panose="02040503050406030204" pitchFamily="18" charset="0"/>
                          </a:rPr>
                        </m:ctrlPr>
                      </m:sSubPr>
                      <m:e>
                        <m:acc>
                          <m:accPr>
                            <m:chr m:val="̂"/>
                            <m:ctrlPr>
                              <a:rPr lang="ar-AE" b="0" i="1" smtClean="0">
                                <a:latin typeface="Cambria Math" panose="02040503050406030204" pitchFamily="18" charset="0"/>
                              </a:rPr>
                            </m:ctrlPr>
                          </m:accPr>
                          <m:e>
                            <m:r>
                              <a:rPr lang="ar-AE" b="0" i="1" smtClean="0">
                                <a:latin typeface="Cambria Math" panose="02040503050406030204" pitchFamily="18" charset="0"/>
                                <a:ea typeface="Cambria Math" panose="02040503050406030204" pitchFamily="18" charset="0"/>
                              </a:rPr>
                              <m:t>𝛽</m:t>
                            </m:r>
                          </m:e>
                        </m:acc>
                      </m:e>
                      <m:sub>
                        <m:r>
                          <a:rPr lang="ar-AE" b="0" i="1" smtClean="0">
                            <a:latin typeface="Cambria Math" panose="02040503050406030204" pitchFamily="18" charset="0"/>
                          </a:rPr>
                          <m:t>0</m:t>
                        </m:r>
                      </m:sub>
                    </m:sSub>
                    <m:r>
                      <a:rPr lang="ar-AE" b="0" i="1" smtClean="0">
                        <a:latin typeface="Cambria Math" panose="02040503050406030204" pitchFamily="18" charset="0"/>
                      </a:rPr>
                      <m:t>=</m:t>
                    </m:r>
                    <m:sSub>
                      <m:sSubPr>
                        <m:ctrlPr>
                          <a:rPr lang="ar-AE" b="0" i="1" smtClean="0">
                            <a:latin typeface="Cambria Math" panose="02040503050406030204" pitchFamily="18" charset="0"/>
                          </a:rPr>
                        </m:ctrlPr>
                      </m:sSubPr>
                      <m:e>
                        <m:r>
                          <a:rPr lang="ar-AE" b="0" i="1" smtClean="0">
                            <a:latin typeface="Cambria Math" panose="02040503050406030204" pitchFamily="18" charset="0"/>
                          </a:rPr>
                          <m:t>𝑏</m:t>
                        </m:r>
                      </m:e>
                      <m:sub>
                        <m:r>
                          <a:rPr lang="ar-AE" b="0" i="1" smtClean="0">
                            <a:latin typeface="Cambria Math" panose="02040503050406030204" pitchFamily="18" charset="0"/>
                          </a:rPr>
                          <m:t>0</m:t>
                        </m:r>
                      </m:sub>
                    </m:sSub>
                    <m:r>
                      <a:rPr lang="ar-AE" b="0" i="1" smtClean="0">
                        <a:latin typeface="Cambria Math" panose="02040503050406030204" pitchFamily="18" charset="0"/>
                      </a:rPr>
                      <m:t>=</m:t>
                    </m:r>
                    <m:acc>
                      <m:accPr>
                        <m:chr m:val="̅"/>
                        <m:ctrlPr>
                          <a:rPr lang="ar-AE" b="0" i="1" smtClean="0">
                            <a:latin typeface="Cambria Math" panose="02040503050406030204" pitchFamily="18" charset="0"/>
                          </a:rPr>
                        </m:ctrlPr>
                      </m:accPr>
                      <m:e>
                        <m:r>
                          <a:rPr lang="ar-AE" b="0" i="1" smtClean="0">
                            <a:latin typeface="Cambria Math" panose="02040503050406030204" pitchFamily="18" charset="0"/>
                          </a:rPr>
                          <m:t>𝑦</m:t>
                        </m:r>
                      </m:e>
                    </m:acc>
                    <m:r>
                      <a:rPr lang="ar-AE" b="0" i="1" smtClean="0">
                        <a:latin typeface="Cambria Math" panose="02040503050406030204" pitchFamily="18" charset="0"/>
                      </a:rPr>
                      <m:t>−</m:t>
                    </m:r>
                    <m:sSub>
                      <m:sSubPr>
                        <m:ctrlPr>
                          <a:rPr lang="ar-AE" b="0" i="1" smtClean="0">
                            <a:latin typeface="Cambria Math" panose="02040503050406030204" pitchFamily="18" charset="0"/>
                          </a:rPr>
                        </m:ctrlPr>
                      </m:sSubPr>
                      <m:e>
                        <m:r>
                          <a:rPr lang="ar-AE" b="0" i="1" smtClean="0">
                            <a:latin typeface="Cambria Math" panose="02040503050406030204" pitchFamily="18" charset="0"/>
                          </a:rPr>
                          <m:t>𝑏</m:t>
                        </m:r>
                      </m:e>
                      <m:sub>
                        <m:r>
                          <a:rPr lang="ar-AE" b="0" i="1" smtClean="0">
                            <a:latin typeface="Cambria Math" panose="02040503050406030204" pitchFamily="18" charset="0"/>
                          </a:rPr>
                          <m:t>1</m:t>
                        </m:r>
                      </m:sub>
                    </m:sSub>
                    <m:acc>
                      <m:accPr>
                        <m:chr m:val="̅"/>
                        <m:ctrlPr>
                          <a:rPr lang="ar-AE" b="0" i="1" smtClean="0">
                            <a:latin typeface="Cambria Math" panose="02040503050406030204" pitchFamily="18" charset="0"/>
                          </a:rPr>
                        </m:ctrlPr>
                      </m:accPr>
                      <m:e>
                        <m:r>
                          <a:rPr lang="ar-AE" b="0" i="1" smtClean="0">
                            <a:latin typeface="Cambria Math" panose="02040503050406030204" pitchFamily="18" charset="0"/>
                          </a:rPr>
                          <m:t>𝑥</m:t>
                        </m:r>
                      </m:e>
                    </m:acc>
                  </m:oMath>
                </a14:m>
                <a:endParaRPr lang="ar-AE" dirty="0"/>
              </a:p>
              <a:p>
                <a:pPr lvl="1"/>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ea typeface="Cambria Math" panose="02040503050406030204" pitchFamily="18" charset="0"/>
                              </a:rPr>
                              <m:t>𝛽</m:t>
                            </m:r>
                          </m:e>
                        </m:acc>
                      </m:e>
                      <m:sub>
                        <m:r>
                          <a:rPr lang="es-ES" b="0" i="1" smtClean="0">
                            <a:latin typeface="Cambria Math" panose="02040503050406030204" pitchFamily="18" charset="0"/>
                            <a:ea typeface="Cambria Math" panose="02040503050406030204" pitchFamily="18" charset="0"/>
                          </a:rPr>
                          <m:t>1</m:t>
                        </m:r>
                      </m:sub>
                    </m:sSub>
                    <m:r>
                      <a:rPr lang="ar-AE" b="0" i="1" smtClean="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1</m:t>
                        </m:r>
                      </m:sub>
                    </m:sSub>
                    <m:r>
                      <a:rPr lang="ar-AE" b="0" i="1" smtClean="0">
                        <a:latin typeface="Cambria Math" panose="02040503050406030204" pitchFamily="18" charset="0"/>
                      </a:rPr>
                      <m:t>=</m:t>
                    </m:r>
                    <m:f>
                      <m:fPr>
                        <m:ctrlPr>
                          <a:rPr lang="ar-AE" b="0" i="1" smtClean="0">
                            <a:latin typeface="Cambria Math" panose="02040503050406030204" pitchFamily="18" charset="0"/>
                          </a:rPr>
                        </m:ctrlPr>
                      </m:fPr>
                      <m:num>
                        <m:sSub>
                          <m:sSubPr>
                            <m:ctrlPr>
                              <a:rPr lang="ar-AE" b="0" i="1" smtClean="0">
                                <a:latin typeface="Cambria Math" panose="02040503050406030204" pitchFamily="18" charset="0"/>
                              </a:rPr>
                            </m:ctrlPr>
                          </m:sSubPr>
                          <m:e>
                            <m:r>
                              <a:rPr lang="es-ES" b="0" i="1" smtClean="0">
                                <a:latin typeface="Cambria Math" panose="02040503050406030204" pitchFamily="18" charset="0"/>
                              </a:rPr>
                              <m:t>𝑠</m:t>
                            </m:r>
                          </m:e>
                          <m:sub>
                            <m:r>
                              <a:rPr lang="ar-AE" b="0" i="1" smtClean="0">
                                <a:latin typeface="Cambria Math" panose="02040503050406030204" pitchFamily="18" charset="0"/>
                              </a:rPr>
                              <m:t>𝑥𝑦</m:t>
                            </m:r>
                          </m:sub>
                        </m:sSub>
                      </m:num>
                      <m:den>
                        <m:sSubSup>
                          <m:sSubSupPr>
                            <m:ctrlPr>
                              <a:rPr lang="ar-AE"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𝑥</m:t>
                            </m:r>
                          </m:sub>
                          <m:sup>
                            <m:r>
                              <a:rPr lang="es-ES" i="1">
                                <a:latin typeface="Cambria Math" panose="02040503050406030204" pitchFamily="18" charset="0"/>
                              </a:rPr>
                              <m:t>2</m:t>
                            </m:r>
                          </m:sup>
                        </m:sSubSup>
                      </m:den>
                    </m:f>
                  </m:oMath>
                </a14:m>
                <a:endParaRPr lang="ar-AE" dirty="0"/>
              </a:p>
              <a:p>
                <a:r>
                  <a:rPr lang="es-ES" dirty="0"/>
                  <a:t>Donde</a:t>
                </a:r>
              </a:p>
              <a:p>
                <a:pPr lvl="1"/>
                <a14:m>
                  <m:oMath xmlns:m="http://schemas.openxmlformats.org/officeDocument/2006/math">
                    <m:sSub>
                      <m:sSubPr>
                        <m:ctrlPr>
                          <a:rPr lang="ar-AE" b="0" i="1" smtClean="0">
                            <a:latin typeface="Cambria Math" panose="02040503050406030204" pitchFamily="18" charset="0"/>
                          </a:rPr>
                        </m:ctrlPr>
                      </m:sSubPr>
                      <m:e>
                        <m:r>
                          <a:rPr lang="ar-AE" b="0" i="1" smtClean="0">
                            <a:latin typeface="Cambria Math" panose="02040503050406030204" pitchFamily="18" charset="0"/>
                          </a:rPr>
                          <m:t>𝑠</m:t>
                        </m:r>
                      </m:e>
                      <m:sub>
                        <m:r>
                          <a:rPr lang="ar-AE" b="0" i="1" smtClean="0">
                            <a:latin typeface="Cambria Math" panose="02040503050406030204" pitchFamily="18" charset="0"/>
                          </a:rPr>
                          <m:t>𝑥𝑦</m:t>
                        </m:r>
                      </m:sub>
                    </m:sSub>
                    <m:r>
                      <a:rPr lang="ar-AE" b="0" i="1" smtClean="0">
                        <a:latin typeface="Cambria Math" panose="02040503050406030204" pitchFamily="18" charset="0"/>
                      </a:rPr>
                      <m:t>=</m:t>
                    </m:r>
                    <m:r>
                      <m:rPr>
                        <m:nor/>
                      </m:rPr>
                      <a:rPr lang="es-ES" b="0" i="0" smtClean="0">
                        <a:latin typeface="Cambria Math" panose="02040503050406030204" pitchFamily="18" charset="0"/>
                      </a:rPr>
                      <m:t>covarianza</m:t>
                    </m:r>
                    <m:r>
                      <m:rPr>
                        <m:nor/>
                      </m:rPr>
                      <a:rPr lang="es-ES" b="0" i="0" smtClean="0">
                        <a:latin typeface="Cambria Math" panose="02040503050406030204" pitchFamily="18" charset="0"/>
                      </a:rPr>
                      <m:t> </m:t>
                    </m:r>
                    <m:r>
                      <m:rPr>
                        <m:nor/>
                      </m:rPr>
                      <a:rPr lang="es-ES" b="0" i="0" smtClean="0">
                        <a:latin typeface="Cambria Math" panose="02040503050406030204" pitchFamily="18" charset="0"/>
                      </a:rPr>
                      <m:t>muestral</m:t>
                    </m:r>
                    <m:r>
                      <a:rPr lang="es-ES" b="0" i="1" smtClean="0">
                        <a:latin typeface="Cambria Math" panose="02040503050406030204" pitchFamily="18" charset="0"/>
                      </a:rPr>
                      <m:t>=</m:t>
                    </m:r>
                    <m:f>
                      <m:fPr>
                        <m:ctrlPr>
                          <a:rPr lang="ar-AE" b="0" i="1" smtClean="0">
                            <a:latin typeface="Cambria Math" panose="02040503050406030204" pitchFamily="18" charset="0"/>
                          </a:rPr>
                        </m:ctrlPr>
                      </m:fPr>
                      <m:num>
                        <m:nary>
                          <m:naryPr>
                            <m:chr m:val="∑"/>
                            <m:ctrlPr>
                              <a:rPr lang="ar-AE" b="0" i="1" smtClean="0">
                                <a:latin typeface="Cambria Math" panose="02040503050406030204" pitchFamily="18" charset="0"/>
                              </a:rPr>
                            </m:ctrlPr>
                          </m:naryPr>
                          <m:sub>
                            <m:r>
                              <m:rPr>
                                <m:brk m:alnAt="23"/>
                              </m:rPr>
                              <a:rPr lang="ar-AE" b="0" i="1" smtClean="0">
                                <a:latin typeface="Cambria Math" panose="02040503050406030204" pitchFamily="18" charset="0"/>
                              </a:rPr>
                              <m:t>𝑖</m:t>
                            </m:r>
                            <m:r>
                              <a:rPr lang="ar-AE" b="0" i="1" smtClean="0">
                                <a:latin typeface="Cambria Math" panose="02040503050406030204" pitchFamily="18" charset="0"/>
                              </a:rPr>
                              <m:t>=</m:t>
                            </m:r>
                            <m:r>
                              <a:rPr lang="ar-AE" b="0" i="1" smtClean="0">
                                <a:latin typeface="Cambria Math" panose="02040503050406030204" pitchFamily="18" charset="0"/>
                              </a:rPr>
                              <m:t>1</m:t>
                            </m:r>
                          </m:sub>
                          <m:sup>
                            <m:r>
                              <a:rPr lang="ar-AE" b="0" i="1" smtClean="0">
                                <a:latin typeface="Cambria Math" panose="02040503050406030204" pitchFamily="18" charset="0"/>
                              </a:rPr>
                              <m:t>𝑛</m:t>
                            </m:r>
                          </m:sup>
                          <m:e>
                            <m:r>
                              <a:rPr lang="ar-AE" b="0" i="1" smtClean="0">
                                <a:latin typeface="Cambria Math" panose="02040503050406030204" pitchFamily="18" charset="0"/>
                              </a:rPr>
                              <m:t>(</m:t>
                            </m:r>
                            <m:sSub>
                              <m:sSubPr>
                                <m:ctrlPr>
                                  <a:rPr lang="ar-AE" b="0" i="1" smtClean="0">
                                    <a:latin typeface="Cambria Math" panose="02040503050406030204" pitchFamily="18" charset="0"/>
                                  </a:rPr>
                                </m:ctrlPr>
                              </m:sSubPr>
                              <m:e>
                                <m:r>
                                  <a:rPr lang="ar-AE" b="0" i="1" smtClean="0">
                                    <a:latin typeface="Cambria Math" panose="02040503050406030204" pitchFamily="18" charset="0"/>
                                  </a:rPr>
                                  <m:t>𝑥</m:t>
                                </m:r>
                              </m:e>
                              <m:sub>
                                <m:r>
                                  <a:rPr lang="ar-AE" b="0" i="1" smtClean="0">
                                    <a:latin typeface="Cambria Math" panose="02040503050406030204" pitchFamily="18" charset="0"/>
                                  </a:rPr>
                                  <m:t>𝑖</m:t>
                                </m:r>
                              </m:sub>
                            </m:sSub>
                            <m:r>
                              <a:rPr lang="ar-AE" b="0" i="1" smtClean="0">
                                <a:latin typeface="Cambria Math" panose="02040503050406030204" pitchFamily="18" charset="0"/>
                              </a:rPr>
                              <m:t>−</m:t>
                            </m:r>
                            <m:acc>
                              <m:accPr>
                                <m:chr m:val="̅"/>
                                <m:ctrlPr>
                                  <a:rPr lang="ar-AE" b="0" i="1" smtClean="0">
                                    <a:latin typeface="Cambria Math" panose="02040503050406030204" pitchFamily="18" charset="0"/>
                                  </a:rPr>
                                </m:ctrlPr>
                              </m:accPr>
                              <m:e>
                                <m:r>
                                  <a:rPr lang="ar-AE" b="0" i="1" smtClean="0">
                                    <a:latin typeface="Cambria Math" panose="02040503050406030204" pitchFamily="18" charset="0"/>
                                  </a:rPr>
                                  <m:t>𝑥</m:t>
                                </m:r>
                              </m:e>
                            </m:acc>
                            <m:r>
                              <a:rPr lang="ar-AE" i="1">
                                <a:latin typeface="Cambria Math" panose="02040503050406030204" pitchFamily="18" charset="0"/>
                              </a:rPr>
                              <m:t>)(</m:t>
                            </m:r>
                            <m:sSub>
                              <m:sSubPr>
                                <m:ctrlPr>
                                  <a:rPr lang="ar-AE" i="1">
                                    <a:latin typeface="Cambria Math" panose="02040503050406030204" pitchFamily="18" charset="0"/>
                                  </a:rPr>
                                </m:ctrlPr>
                              </m:sSubPr>
                              <m:e>
                                <m:r>
                                  <a:rPr lang="ar-AE" b="0" i="1" smtClean="0">
                                    <a:latin typeface="Cambria Math" panose="02040503050406030204" pitchFamily="18" charset="0"/>
                                  </a:rPr>
                                  <m:t>𝑦</m:t>
                                </m:r>
                              </m:e>
                              <m:sub>
                                <m:r>
                                  <a:rPr lang="ar-AE" i="1">
                                    <a:latin typeface="Cambria Math" panose="02040503050406030204" pitchFamily="18" charset="0"/>
                                  </a:rPr>
                                  <m:t>𝑖</m:t>
                                </m:r>
                              </m:sub>
                            </m:sSub>
                            <m:r>
                              <a:rPr lang="ar-AE" i="1">
                                <a:latin typeface="Cambria Math" panose="02040503050406030204" pitchFamily="18" charset="0"/>
                              </a:rPr>
                              <m:t>−</m:t>
                            </m:r>
                            <m:acc>
                              <m:accPr>
                                <m:chr m:val="̅"/>
                                <m:ctrlPr>
                                  <a:rPr lang="ar-AE" i="1">
                                    <a:latin typeface="Cambria Math" panose="02040503050406030204" pitchFamily="18" charset="0"/>
                                  </a:rPr>
                                </m:ctrlPr>
                              </m:accPr>
                              <m:e>
                                <m:r>
                                  <a:rPr lang="ar-AE" b="0" i="1" smtClean="0">
                                    <a:latin typeface="Cambria Math" panose="02040503050406030204" pitchFamily="18" charset="0"/>
                                  </a:rPr>
                                  <m:t>𝑦</m:t>
                                </m:r>
                              </m:e>
                            </m:acc>
                            <m:r>
                              <a:rPr lang="ar-AE" b="0" i="1" smtClean="0">
                                <a:latin typeface="Cambria Math" panose="02040503050406030204" pitchFamily="18" charset="0"/>
                              </a:rPr>
                              <m:t>)</m:t>
                            </m:r>
                          </m:e>
                        </m:nary>
                      </m:num>
                      <m:den>
                        <m:r>
                          <a:rPr lang="ar-AE" b="0" i="1" smtClean="0">
                            <a:latin typeface="Cambria Math" panose="02040503050406030204" pitchFamily="18" charset="0"/>
                          </a:rPr>
                          <m:t>𝑛</m:t>
                        </m:r>
                        <m:r>
                          <a:rPr lang="ar-AE" b="0" i="1" smtClean="0">
                            <a:latin typeface="Cambria Math" panose="02040503050406030204" pitchFamily="18" charset="0"/>
                          </a:rPr>
                          <m:t>−</m:t>
                        </m:r>
                        <m:r>
                          <a:rPr lang="ar-AE" b="0" i="1" smtClean="0">
                            <a:latin typeface="Cambria Math" panose="02040503050406030204" pitchFamily="18" charset="0"/>
                          </a:rPr>
                          <m:t>1</m:t>
                        </m:r>
                      </m:den>
                    </m:f>
                  </m:oMath>
                </a14:m>
                <a:endParaRPr lang="es-ES" b="0" i="1" dirty="0">
                  <a:latin typeface="Cambria Math" panose="02040503050406030204" pitchFamily="18" charset="0"/>
                </a:endParaRPr>
              </a:p>
              <a:p>
                <a:pPr lvl="1"/>
                <a14:m>
                  <m:oMath xmlns:m="http://schemas.openxmlformats.org/officeDocument/2006/math">
                    <m:sSubSup>
                      <m:sSubSupPr>
                        <m:ctrlPr>
                          <a:rPr lang="ar-AE" b="0" i="1" smtClean="0">
                            <a:latin typeface="Cambria Math" panose="02040503050406030204" pitchFamily="18" charset="0"/>
                          </a:rPr>
                        </m:ctrlPr>
                      </m:sSubSupPr>
                      <m:e>
                        <m:r>
                          <a:rPr lang="es-ES" b="0" i="1" smtClean="0">
                            <a:latin typeface="Cambria Math" panose="02040503050406030204" pitchFamily="18" charset="0"/>
                          </a:rPr>
                          <m:t>𝑠</m:t>
                        </m:r>
                      </m:e>
                      <m:sub>
                        <m:r>
                          <a:rPr lang="es-ES" b="0" i="1" smtClean="0">
                            <a:latin typeface="Cambria Math" panose="02040503050406030204" pitchFamily="18" charset="0"/>
                          </a:rPr>
                          <m:t>𝑥</m:t>
                        </m:r>
                      </m:sub>
                      <m:sup>
                        <m:r>
                          <a:rPr lang="es-ES" b="0" i="1" smtClean="0">
                            <a:latin typeface="Cambria Math" panose="02040503050406030204" pitchFamily="18" charset="0"/>
                          </a:rPr>
                          <m:t>2</m:t>
                        </m:r>
                      </m:sup>
                    </m:sSubSup>
                    <m:r>
                      <a:rPr lang="ar-AE" b="0" i="1" smtClean="0">
                        <a:latin typeface="Cambria Math" panose="02040503050406030204" pitchFamily="18" charset="0"/>
                      </a:rPr>
                      <m:t>=</m:t>
                    </m:r>
                    <m:r>
                      <m:rPr>
                        <m:nor/>
                      </m:rPr>
                      <a:rPr lang="es-ES" b="0" i="0" smtClean="0">
                        <a:latin typeface="Cambria Math" panose="02040503050406030204" pitchFamily="18" charset="0"/>
                      </a:rPr>
                      <m:t>varianza</m:t>
                    </m:r>
                    <m:r>
                      <m:rPr>
                        <m:nor/>
                      </m:rPr>
                      <a:rPr lang="es-ES" b="0" i="0" smtClean="0">
                        <a:latin typeface="Cambria Math" panose="02040503050406030204" pitchFamily="18" charset="0"/>
                      </a:rPr>
                      <m:t> </m:t>
                    </m:r>
                    <m:r>
                      <m:rPr>
                        <m:nor/>
                      </m:rPr>
                      <a:rPr lang="es-ES" b="0" i="0" smtClean="0">
                        <a:latin typeface="Cambria Math" panose="02040503050406030204" pitchFamily="18" charset="0"/>
                      </a:rPr>
                      <m:t>muestral</m:t>
                    </m:r>
                    <m:r>
                      <m:rPr>
                        <m:nor/>
                      </m:rPr>
                      <a:rPr lang="es-ES" b="0" i="0" smtClean="0">
                        <a:latin typeface="Cambria Math" panose="02040503050406030204" pitchFamily="18" charset="0"/>
                      </a:rPr>
                      <m:t> =</m:t>
                    </m:r>
                    <m:f>
                      <m:fPr>
                        <m:ctrlPr>
                          <a:rPr lang="ar-AE" b="0" i="1" smtClean="0">
                            <a:latin typeface="Cambria Math" panose="02040503050406030204" pitchFamily="18" charset="0"/>
                          </a:rPr>
                        </m:ctrlPr>
                      </m:fPr>
                      <m:num>
                        <m:nary>
                          <m:naryPr>
                            <m:chr m:val="∑"/>
                            <m:ctrlPr>
                              <a:rPr lang="ar-AE" b="0" i="1" smtClean="0">
                                <a:latin typeface="Cambria Math" panose="02040503050406030204" pitchFamily="18" charset="0"/>
                              </a:rPr>
                            </m:ctrlPr>
                          </m:naryPr>
                          <m:sub>
                            <m:r>
                              <m:rPr>
                                <m:brk m:alnAt="23"/>
                              </m:rPr>
                              <a:rPr lang="ar-AE" b="0" i="1" smtClean="0">
                                <a:latin typeface="Cambria Math" panose="02040503050406030204" pitchFamily="18" charset="0"/>
                              </a:rPr>
                              <m:t>𝑖</m:t>
                            </m:r>
                            <m:r>
                              <a:rPr lang="ar-AE" b="0" i="1" smtClean="0">
                                <a:latin typeface="Cambria Math" panose="02040503050406030204" pitchFamily="18" charset="0"/>
                              </a:rPr>
                              <m:t>=</m:t>
                            </m:r>
                            <m:r>
                              <a:rPr lang="ar-AE" b="0" i="1" smtClean="0">
                                <a:latin typeface="Cambria Math" panose="02040503050406030204" pitchFamily="18" charset="0"/>
                              </a:rPr>
                              <m:t>1</m:t>
                            </m:r>
                          </m:sub>
                          <m:sup>
                            <m:r>
                              <a:rPr lang="ar-AE" b="0" i="1" smtClean="0">
                                <a:latin typeface="Cambria Math" panose="02040503050406030204" pitchFamily="18" charset="0"/>
                              </a:rPr>
                              <m:t>𝑛</m:t>
                            </m:r>
                          </m:sup>
                          <m:e>
                            <m:sSup>
                              <m:sSupPr>
                                <m:ctrlPr>
                                  <a:rPr lang="ar-AE" b="0" i="1" smtClean="0">
                                    <a:latin typeface="Cambria Math" panose="02040503050406030204" pitchFamily="18" charset="0"/>
                                  </a:rPr>
                                </m:ctrlPr>
                              </m:sSupPr>
                              <m:e>
                                <m:r>
                                  <a:rPr lang="ar-AE" b="0" i="1" smtClean="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i="1">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b="0" i="1" smtClean="0">
                                    <a:latin typeface="Cambria Math" panose="02040503050406030204" pitchFamily="18" charset="0"/>
                                  </a:rPr>
                                  <m:t>)</m:t>
                                </m:r>
                              </m:e>
                              <m:sup>
                                <m:r>
                                  <a:rPr lang="ar-AE" b="0" i="1" smtClean="0">
                                    <a:latin typeface="Cambria Math" panose="02040503050406030204" pitchFamily="18" charset="0"/>
                                  </a:rPr>
                                  <m:t>2</m:t>
                                </m:r>
                              </m:sup>
                            </m:sSup>
                          </m:e>
                        </m:nary>
                      </m:num>
                      <m:den>
                        <m:r>
                          <a:rPr lang="ar-AE" b="0" i="1" smtClean="0">
                            <a:latin typeface="Cambria Math" panose="02040503050406030204" pitchFamily="18" charset="0"/>
                          </a:rPr>
                          <m:t>𝑛</m:t>
                        </m:r>
                        <m:r>
                          <a:rPr lang="ar-AE" b="0" i="1" smtClean="0">
                            <a:latin typeface="Cambria Math" panose="02040503050406030204" pitchFamily="18" charset="0"/>
                          </a:rPr>
                          <m:t>−</m:t>
                        </m:r>
                        <m:r>
                          <a:rPr lang="ar-AE" b="0" i="1" smtClean="0">
                            <a:latin typeface="Cambria Math" panose="02040503050406030204" pitchFamily="18" charset="0"/>
                          </a:rPr>
                          <m:t>1</m:t>
                        </m:r>
                      </m:den>
                    </m:f>
                  </m:oMath>
                </a14:m>
                <a:endParaRPr lang="es-ES" b="0" i="1" dirty="0">
                  <a:latin typeface="Cambria Math" panose="02040503050406030204" pitchFamily="18" charset="0"/>
                </a:endParaRPr>
              </a:p>
              <a:p>
                <a:r>
                  <a:rPr lang="es-ES" dirty="0"/>
                  <a:t>Por tanto, se puede estimar el valor de la variable respuesta (y)</a:t>
                </a:r>
              </a:p>
              <a:p>
                <a:pPr lvl="1"/>
                <a14:m>
                  <m:oMath xmlns:m="http://schemas.openxmlformats.org/officeDocument/2006/math">
                    <m:acc>
                      <m:accPr>
                        <m:chr m:val="̂"/>
                        <m:ctrlPr>
                          <a:rPr lang="es-ES" i="1" smtClean="0">
                            <a:latin typeface="Cambria Math" panose="02040503050406030204" pitchFamily="18" charset="0"/>
                          </a:rPr>
                        </m:ctrlPr>
                      </m:accPr>
                      <m:e>
                        <m:r>
                          <a:rPr lang="es-ES" i="1">
                            <a:latin typeface="Cambria Math" panose="02040503050406030204" pitchFamily="18" charset="0"/>
                          </a:rPr>
                          <m:t>𝑦</m:t>
                        </m:r>
                      </m:e>
                    </m:acc>
                    <m:r>
                      <a:rPr lang="es-ES" i="1">
                        <a:latin typeface="Cambria Math" panose="02040503050406030204" pitchFamily="18" charset="0"/>
                      </a:rPr>
                      <m:t> =</m:t>
                    </m:r>
                    <m:sSub>
                      <m:sSubPr>
                        <m:ctrlPr>
                          <a:rPr lang="es-ES" i="1">
                            <a:latin typeface="Cambria Math" panose="02040503050406030204" pitchFamily="18" charset="0"/>
                          </a:rPr>
                        </m:ctrlPr>
                      </m:sSubPr>
                      <m:e>
                        <m:r>
                          <a:rPr lang="es-ES" b="0" i="1" smtClean="0">
                            <a:latin typeface="Cambria Math" panose="02040503050406030204" pitchFamily="18" charset="0"/>
                          </a:rPr>
                          <m:t>𝑏</m:t>
                        </m:r>
                      </m:e>
                      <m:sub>
                        <m:r>
                          <a:rPr lang="es-ES" i="1">
                            <a:latin typeface="Cambria Math" panose="02040503050406030204" pitchFamily="18" charset="0"/>
                          </a:rPr>
                          <m:t>0</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𝑏</m:t>
                        </m:r>
                      </m:e>
                      <m:sub>
                        <m:r>
                          <a:rPr lang="es-ES" i="1">
                            <a:latin typeface="Cambria Math" panose="02040503050406030204" pitchFamily="18" charset="0"/>
                          </a:rPr>
                          <m:t>1</m:t>
                        </m:r>
                      </m:sub>
                    </m:sSub>
                    <m:r>
                      <a:rPr lang="es-ES" i="1">
                        <a:latin typeface="Cambria Math" panose="02040503050406030204" pitchFamily="18" charset="0"/>
                      </a:rPr>
                      <m:t>𝑥</m:t>
                    </m:r>
                  </m:oMath>
                </a14:m>
                <a:endParaRPr lang="es-ES" dirty="0"/>
              </a:p>
              <a:p>
                <a:pPr lvl="1"/>
                <a:endParaRPr lang="es-ES" dirty="0"/>
              </a:p>
              <a:p>
                <a:pPr lvl="1"/>
                <a:endParaRPr lang="es-ES" dirty="0"/>
              </a:p>
              <a:p>
                <a:pPr lvl="1"/>
                <a:endParaRPr lang="es-ES" b="0" dirty="0">
                  <a:latin typeface="Cambria Math" panose="02040503050406030204" pitchFamily="18" charset="0"/>
                </a:endParaRPr>
              </a:p>
              <a:p>
                <a:pPr lvl="1"/>
                <a:endParaRPr lang="ar-AE" b="0" i="1" dirty="0">
                  <a:latin typeface="Cambria Math" panose="02040503050406030204" pitchFamily="18" charset="0"/>
                </a:endParaRPr>
              </a:p>
              <a:p>
                <a:pPr lvl="1"/>
                <a:endParaRPr b="0" i="1" dirty="0">
                  <a:latin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48DD3302-1C6E-04F2-76B6-DAD643F1E4F1}"/>
                  </a:ext>
                </a:extLst>
              </p:cNvPr>
              <p:cNvSpPr>
                <a:spLocks noGrp="1" noRot="1" noChangeAspect="1" noMove="1" noResize="1" noEditPoints="1" noAdjustHandles="1" noChangeArrowheads="1" noChangeShapeType="1" noTextEdit="1"/>
              </p:cNvSpPr>
              <p:nvPr>
                <p:ph idx="1"/>
              </p:nvPr>
            </p:nvSpPr>
            <p:spPr>
              <a:xfrm>
                <a:off x="838200" y="1825624"/>
                <a:ext cx="10515600" cy="4667251"/>
              </a:xfrm>
              <a:blipFill>
                <a:blip r:embed="rId2"/>
                <a:stretch>
                  <a:fillRect l="-812" t="-3003"/>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1A29A46-EE33-315F-5EE1-96C99213577B}"/>
              </a:ext>
            </a:extLst>
          </p:cNvPr>
          <p:cNvSpPr>
            <a:spLocks noGrp="1"/>
          </p:cNvSpPr>
          <p:nvPr>
            <p:ph type="sldNum" sz="quarter" idx="12"/>
          </p:nvPr>
        </p:nvSpPr>
        <p:spPr/>
        <p:txBody>
          <a:bodyPr/>
          <a:lstStyle/>
          <a:p>
            <a:fld id="{336CAFD0-1F6E-4E11-9822-836563A02839}" type="slidenum">
              <a:rPr lang="es-ES" smtClean="0"/>
              <a:t>15</a:t>
            </a:fld>
            <a:endParaRPr lang="es-ES"/>
          </a:p>
        </p:txBody>
      </p:sp>
    </p:spTree>
    <p:extLst>
      <p:ext uri="{BB962C8B-B14F-4D97-AF65-F5344CB8AC3E}">
        <p14:creationId xmlns:p14="http://schemas.microsoft.com/office/powerpoint/2010/main" val="538216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CF0FC4-0C63-ABC8-EEDF-C549E80BE51F}"/>
              </a:ext>
            </a:extLst>
          </p:cNvPr>
          <p:cNvSpPr>
            <a:spLocks noGrp="1"/>
          </p:cNvSpPr>
          <p:nvPr>
            <p:ph type="title"/>
          </p:nvPr>
        </p:nvSpPr>
        <p:spPr/>
        <p:txBody>
          <a:bodyPr>
            <a:normAutofit fontScale="90000"/>
          </a:bodyPr>
          <a:lstStyle/>
          <a:p>
            <a:r>
              <a:rPr lang="es-ES" dirty="0"/>
              <a:t>5</a:t>
            </a:r>
            <a:r>
              <a:rPr dirty="0"/>
              <a:t>. </a:t>
            </a:r>
            <a:r>
              <a:rPr dirty="0" err="1"/>
              <a:t>Regresión</a:t>
            </a:r>
            <a:r>
              <a:rPr dirty="0"/>
              <a:t> lineal simple</a:t>
            </a:r>
            <a:br>
              <a:rPr lang="es-ES" dirty="0"/>
            </a:br>
            <a:r>
              <a:rPr lang="es-ES" dirty="0"/>
              <a:t>Estimación usando el coeficiente de correlación</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8DD3302-1C6E-04F2-76B6-DAD643F1E4F1}"/>
                  </a:ext>
                </a:extLst>
              </p:cNvPr>
              <p:cNvSpPr>
                <a:spLocks noGrp="1"/>
              </p:cNvSpPr>
              <p:nvPr>
                <p:ph idx="1"/>
              </p:nvPr>
            </p:nvSpPr>
            <p:spPr/>
            <p:txBody>
              <a:bodyPr>
                <a:normAutofit/>
              </a:bodyPr>
              <a:lstStyle/>
              <a:p>
                <a:r>
                  <a:rPr lang="es-ES" dirty="0"/>
                  <a:t>Si se dispone del valor del coeficiente de correlación muestral </a:t>
                </a:r>
                <a14:m>
                  <m:oMath xmlns:m="http://schemas.openxmlformats.org/officeDocument/2006/math">
                    <m:r>
                      <a:rPr lang="es-ES" i="1">
                        <a:latin typeface="Cambria Math" panose="02040503050406030204" pitchFamily="18" charset="0"/>
                      </a:rPr>
                      <m:t>𝑟</m:t>
                    </m:r>
                  </m:oMath>
                </a14:m>
                <a:r>
                  <a:rPr lang="es-ES" dirty="0"/>
                  <a:t>, el valor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1</m:t>
                        </m:r>
                      </m:sub>
                    </m:sSub>
                  </m:oMath>
                </a14:m>
                <a:r>
                  <a:rPr lang="es-ES" dirty="0"/>
                  <a:t> de la recta de regresión puede calcularse como</a:t>
                </a:r>
              </a:p>
              <a:p>
                <a:pPr lvl="1"/>
                <a14:m>
                  <m:oMath xmlns:m="http://schemas.openxmlformats.org/officeDocument/2006/math">
                    <m:sSub>
                      <m:sSubPr>
                        <m:ctrlPr>
                          <a:rPr lang="ar-AE" i="1" smtClean="0">
                            <a:latin typeface="Cambria Math" panose="02040503050406030204" pitchFamily="18" charset="0"/>
                          </a:rPr>
                        </m:ctrlPr>
                      </m:sSubPr>
                      <m:e>
                        <m:r>
                          <a:rPr lang="es-ES" b="0" i="1" smtClean="0">
                            <a:latin typeface="Cambria Math" panose="02040503050406030204" pitchFamily="18" charset="0"/>
                          </a:rPr>
                          <m:t>𝑏</m:t>
                        </m:r>
                      </m:e>
                      <m:sub>
                        <m:r>
                          <a:rPr lang="es-ES" b="0" i="1" smtClean="0">
                            <a:latin typeface="Cambria Math" panose="02040503050406030204" pitchFamily="18" charset="0"/>
                          </a:rPr>
                          <m:t>1</m:t>
                        </m:r>
                      </m:sub>
                    </m:sSub>
                    <m:r>
                      <a:rPr lang="ar-AE" b="0" i="1" smtClean="0">
                        <a:latin typeface="Cambria Math" panose="02040503050406030204" pitchFamily="18" charset="0"/>
                      </a:rPr>
                      <m:t>=</m:t>
                    </m:r>
                    <m:f>
                      <m:fPr>
                        <m:ctrlPr>
                          <a:rPr lang="ar-AE" b="0" i="1" smtClean="0">
                            <a:latin typeface="Cambria Math" panose="02040503050406030204" pitchFamily="18" charset="0"/>
                          </a:rPr>
                        </m:ctrlPr>
                      </m:fPr>
                      <m:num>
                        <m:sSub>
                          <m:sSubPr>
                            <m:ctrlPr>
                              <a:rPr lang="ar-AE" b="0" i="1" smtClean="0">
                                <a:latin typeface="Cambria Math" panose="02040503050406030204" pitchFamily="18" charset="0"/>
                              </a:rPr>
                            </m:ctrlPr>
                          </m:sSubPr>
                          <m:e>
                            <m:r>
                              <a:rPr lang="es-ES" b="0" i="1" smtClean="0">
                                <a:latin typeface="Cambria Math" panose="02040503050406030204" pitchFamily="18" charset="0"/>
                              </a:rPr>
                              <m:t>𝑠</m:t>
                            </m:r>
                          </m:e>
                          <m:sub>
                            <m:r>
                              <a:rPr lang="ar-AE" b="0" i="1" smtClean="0">
                                <a:latin typeface="Cambria Math" panose="02040503050406030204" pitchFamily="18" charset="0"/>
                              </a:rPr>
                              <m:t>𝑥𝑦</m:t>
                            </m:r>
                          </m:sub>
                        </m:sSub>
                      </m:num>
                      <m:den>
                        <m:sSubSup>
                          <m:sSubSupPr>
                            <m:ctrlPr>
                              <a:rPr lang="ar-AE"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𝑥</m:t>
                            </m:r>
                          </m:sub>
                          <m:sup>
                            <m:r>
                              <a:rPr lang="es-ES" i="1">
                                <a:latin typeface="Cambria Math" panose="02040503050406030204" pitchFamily="18" charset="0"/>
                              </a:rPr>
                              <m:t>2</m:t>
                            </m:r>
                          </m:sup>
                        </m:sSubSup>
                      </m:den>
                    </m:f>
                    <m:r>
                      <a:rPr lang="es-ES" b="0" i="1" smtClean="0">
                        <a:latin typeface="Cambria Math" panose="02040503050406030204" pitchFamily="18" charset="0"/>
                      </a:rPr>
                      <m:t>=</m:t>
                    </m:r>
                    <m:r>
                      <a:rPr lang="es-ES" b="0" i="1" smtClean="0">
                        <a:latin typeface="Cambria Math" panose="02040503050406030204" pitchFamily="18" charset="0"/>
                      </a:rPr>
                      <m:t>𝑟</m:t>
                    </m:r>
                    <m:d>
                      <m:dPr>
                        <m:ctrlPr>
                          <a:rPr lang="es-ES" b="0" i="1" smtClean="0">
                            <a:latin typeface="Cambria Math" panose="02040503050406030204" pitchFamily="18" charset="0"/>
                          </a:rPr>
                        </m:ctrlPr>
                      </m:dPr>
                      <m:e>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𝑦</m:t>
                                </m:r>
                              </m:sub>
                            </m:sSub>
                          </m:num>
                          <m:den>
                            <m:sSub>
                              <m:sSubPr>
                                <m:ctrlPr>
                                  <a:rPr lang="es-ES" b="0"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𝑥</m:t>
                                </m:r>
                              </m:sub>
                            </m:sSub>
                          </m:den>
                        </m:f>
                      </m:e>
                    </m:d>
                  </m:oMath>
                </a14:m>
                <a:endParaRPr lang="ar-AE" dirty="0"/>
              </a:p>
              <a:p>
                <a:r>
                  <a:rPr lang="es-ES" dirty="0"/>
                  <a:t>Donde</a:t>
                </a:r>
              </a:p>
              <a:p>
                <a:pPr lvl="1"/>
                <a14:m>
                  <m:oMath xmlns:m="http://schemas.openxmlformats.org/officeDocument/2006/math">
                    <m:sSub>
                      <m:sSubPr>
                        <m:ctrlPr>
                          <a:rPr lang="ar-AE"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𝑥</m:t>
                        </m:r>
                      </m:sub>
                    </m:sSub>
                    <m:r>
                      <a:rPr lang="ar-AE" i="1">
                        <a:latin typeface="Cambria Math" panose="02040503050406030204" pitchFamily="18" charset="0"/>
                      </a:rPr>
                      <m:t>=</m:t>
                    </m:r>
                    <m:r>
                      <m:rPr>
                        <m:nor/>
                      </m:rPr>
                      <a:rPr lang="es-ES" b="0" i="0" smtClean="0">
                        <a:latin typeface="Cambria Math" panose="02040503050406030204" pitchFamily="18" charset="0"/>
                      </a:rPr>
                      <m:t>desviaci</m:t>
                    </m:r>
                    <m:r>
                      <m:rPr>
                        <m:nor/>
                      </m:rPr>
                      <a:rPr lang="es-ES" b="0" i="0" smtClean="0">
                        <a:latin typeface="Cambria Math" panose="02040503050406030204" pitchFamily="18" charset="0"/>
                      </a:rPr>
                      <m:t>ó</m:t>
                    </m:r>
                    <m:r>
                      <m:rPr>
                        <m:nor/>
                      </m:rPr>
                      <a:rPr lang="es-ES" b="0" i="0" smtClean="0">
                        <a:latin typeface="Cambria Math" panose="02040503050406030204" pitchFamily="18" charset="0"/>
                      </a:rPr>
                      <m:t>n</m:t>
                    </m:r>
                    <m:r>
                      <m:rPr>
                        <m:nor/>
                      </m:rPr>
                      <a:rPr lang="es-ES" b="0" i="0" smtClean="0">
                        <a:latin typeface="Cambria Math" panose="02040503050406030204" pitchFamily="18" charset="0"/>
                      </a:rPr>
                      <m:t> </m:t>
                    </m:r>
                    <m:r>
                      <m:rPr>
                        <m:nor/>
                      </m:rPr>
                      <a:rPr lang="es-ES" b="0" i="0" smtClean="0">
                        <a:latin typeface="Cambria Math" panose="02040503050406030204" pitchFamily="18" charset="0"/>
                      </a:rPr>
                      <m:t>est</m:t>
                    </m:r>
                    <m:r>
                      <m:rPr>
                        <m:nor/>
                      </m:rPr>
                      <a:rPr lang="es-ES" b="0" i="0" smtClean="0">
                        <a:latin typeface="Cambria Math" panose="02040503050406030204" pitchFamily="18" charset="0"/>
                      </a:rPr>
                      <m:t>á</m:t>
                    </m:r>
                    <m:r>
                      <m:rPr>
                        <m:nor/>
                      </m:rPr>
                      <a:rPr lang="es-ES" b="0" i="0" smtClean="0">
                        <a:latin typeface="Cambria Math" panose="02040503050406030204" pitchFamily="18" charset="0"/>
                      </a:rPr>
                      <m:t>ndar</m:t>
                    </m:r>
                    <m:r>
                      <m:rPr>
                        <m:nor/>
                      </m:rPr>
                      <a:rPr lang="es-ES" b="0" i="0" smtClean="0">
                        <a:latin typeface="Cambria Math" panose="02040503050406030204" pitchFamily="18" charset="0"/>
                      </a:rPr>
                      <m:t> </m:t>
                    </m:r>
                    <m:r>
                      <m:rPr>
                        <m:nor/>
                      </m:rPr>
                      <a:rPr lang="es-ES">
                        <a:latin typeface="Cambria Math" panose="02040503050406030204" pitchFamily="18" charset="0"/>
                      </a:rPr>
                      <m:t>muestral</m:t>
                    </m:r>
                    <m:r>
                      <m:rPr>
                        <m:nor/>
                      </m:rPr>
                      <a:rPr lang="es-ES" b="0" i="0" smtClean="0">
                        <a:latin typeface="Cambria Math" panose="02040503050406030204" pitchFamily="18" charset="0"/>
                      </a:rPr>
                      <m:t> </m:t>
                    </m:r>
                    <m:r>
                      <m:rPr>
                        <m:nor/>
                      </m:rPr>
                      <a:rPr lang="es-ES" b="0" i="0" smtClean="0">
                        <a:latin typeface="Cambria Math" panose="02040503050406030204" pitchFamily="18" charset="0"/>
                      </a:rPr>
                      <m:t>de</m:t>
                    </m:r>
                    <m:r>
                      <m:rPr>
                        <m:nor/>
                      </m:rPr>
                      <a:rPr lang="es-ES" b="0" i="0" smtClean="0">
                        <a:latin typeface="Cambria Math" panose="02040503050406030204" pitchFamily="18" charset="0"/>
                      </a:rPr>
                      <m:t> </m:t>
                    </m:r>
                    <m:r>
                      <m:rPr>
                        <m:nor/>
                      </m:rPr>
                      <a:rPr lang="es-ES" b="0" i="0" smtClean="0">
                        <a:latin typeface="Cambria Math" panose="02040503050406030204" pitchFamily="18" charset="0"/>
                      </a:rPr>
                      <m:t>X</m:t>
                    </m:r>
                    <m:r>
                      <m:rPr>
                        <m:nor/>
                      </m:rPr>
                      <a:rPr lang="es-ES">
                        <a:latin typeface="Cambria Math" panose="02040503050406030204" pitchFamily="18" charset="0"/>
                      </a:rPr>
                      <m:t> =</m:t>
                    </m:r>
                    <m:rad>
                      <m:radPr>
                        <m:degHide m:val="on"/>
                        <m:ctrlPr>
                          <a:rPr lang="es-ES" i="1" smtClean="0">
                            <a:latin typeface="Cambria Math" panose="02040503050406030204" pitchFamily="18" charset="0"/>
                          </a:rPr>
                        </m:ctrlPr>
                      </m:radPr>
                      <m:deg/>
                      <m:e>
                        <m:f>
                          <m:fPr>
                            <m:ctrlPr>
                              <a:rPr lang="ar-AE" i="1">
                                <a:latin typeface="Cambria Math" panose="02040503050406030204" pitchFamily="18" charset="0"/>
                              </a:rPr>
                            </m:ctrlPr>
                          </m:fPr>
                          <m:num>
                            <m:nary>
                              <m:naryPr>
                                <m:chr m:val="∑"/>
                                <m:ctrlPr>
                                  <a:rPr lang="ar-AE" i="1">
                                    <a:latin typeface="Cambria Math" panose="02040503050406030204" pitchFamily="18" charset="0"/>
                                  </a:rPr>
                                </m:ctrlPr>
                              </m:naryPr>
                              <m:sub>
                                <m:r>
                                  <m:rPr>
                                    <m:brk m:alnAt="23"/>
                                  </m:rPr>
                                  <a:rPr lang="ar-AE" i="1">
                                    <a:latin typeface="Cambria Math" panose="02040503050406030204" pitchFamily="18" charset="0"/>
                                  </a:rPr>
                                  <m:t>𝑖</m:t>
                                </m:r>
                                <m:r>
                                  <a:rPr lang="ar-AE" i="1">
                                    <a:latin typeface="Cambria Math" panose="02040503050406030204" pitchFamily="18" charset="0"/>
                                  </a:rPr>
                                  <m:t>=</m:t>
                                </m:r>
                                <m:r>
                                  <a:rPr lang="ar-AE" i="1">
                                    <a:latin typeface="Cambria Math" panose="02040503050406030204" pitchFamily="18" charset="0"/>
                                  </a:rPr>
                                  <m:t>1</m:t>
                                </m:r>
                              </m:sub>
                              <m:sup>
                                <m:r>
                                  <a:rPr lang="ar-AE" i="1">
                                    <a:latin typeface="Cambria Math" panose="02040503050406030204" pitchFamily="18" charset="0"/>
                                  </a:rPr>
                                  <m:t>𝑛</m:t>
                                </m:r>
                              </m:sup>
                              <m:e>
                                <m:sSup>
                                  <m:sSupPr>
                                    <m:ctrlPr>
                                      <a:rPr lang="ar-AE" i="1">
                                        <a:latin typeface="Cambria Math" panose="02040503050406030204" pitchFamily="18" charset="0"/>
                                      </a:rPr>
                                    </m:ctrlPr>
                                  </m:sSupPr>
                                  <m:e>
                                    <m:r>
                                      <a:rPr lang="ar-AE" i="1">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i="1">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i="1">
                                        <a:latin typeface="Cambria Math" panose="02040503050406030204" pitchFamily="18" charset="0"/>
                                      </a:rPr>
                                      <m:t>)</m:t>
                                    </m:r>
                                  </m:e>
                                  <m:sup>
                                    <m:r>
                                      <a:rPr lang="ar-AE" i="1">
                                        <a:latin typeface="Cambria Math" panose="02040503050406030204" pitchFamily="18" charset="0"/>
                                      </a:rPr>
                                      <m:t>2</m:t>
                                    </m:r>
                                  </m:sup>
                                </m:sSup>
                              </m:e>
                            </m:nary>
                          </m:num>
                          <m:den>
                            <m:r>
                              <a:rPr lang="ar-AE" i="1">
                                <a:latin typeface="Cambria Math" panose="02040503050406030204" pitchFamily="18" charset="0"/>
                              </a:rPr>
                              <m:t>𝑛</m:t>
                            </m:r>
                            <m:r>
                              <a:rPr lang="ar-AE" i="1">
                                <a:latin typeface="Cambria Math" panose="02040503050406030204" pitchFamily="18" charset="0"/>
                              </a:rPr>
                              <m:t>−</m:t>
                            </m:r>
                            <m:r>
                              <a:rPr lang="ar-AE" i="1">
                                <a:latin typeface="Cambria Math" panose="02040503050406030204" pitchFamily="18" charset="0"/>
                              </a:rPr>
                              <m:t>1</m:t>
                            </m:r>
                          </m:den>
                        </m:f>
                      </m:e>
                    </m:rad>
                  </m:oMath>
                </a14:m>
                <a:endParaRPr lang="es-ES" i="1" dirty="0">
                  <a:latin typeface="Cambria Math" panose="02040503050406030204" pitchFamily="18" charset="0"/>
                </a:endParaRPr>
              </a:p>
              <a:p>
                <a:pPr lvl="1"/>
                <a14:m>
                  <m:oMath xmlns:m="http://schemas.openxmlformats.org/officeDocument/2006/math">
                    <m:sSub>
                      <m:sSubPr>
                        <m:ctrlPr>
                          <a:rPr lang="ar-AE" i="1">
                            <a:latin typeface="Cambria Math" panose="02040503050406030204" pitchFamily="18" charset="0"/>
                          </a:rPr>
                        </m:ctrlPr>
                      </m:sSubPr>
                      <m:e>
                        <m:r>
                          <a:rPr lang="es-ES" i="1">
                            <a:latin typeface="Cambria Math" panose="02040503050406030204" pitchFamily="18" charset="0"/>
                          </a:rPr>
                          <m:t>𝑠</m:t>
                        </m:r>
                      </m:e>
                      <m:sub>
                        <m:r>
                          <a:rPr lang="es-ES" b="0" i="1" smtClean="0">
                            <a:latin typeface="Cambria Math" panose="02040503050406030204" pitchFamily="18" charset="0"/>
                          </a:rPr>
                          <m:t>𝑦</m:t>
                        </m:r>
                      </m:sub>
                    </m:sSub>
                    <m:r>
                      <a:rPr lang="ar-AE" i="1">
                        <a:latin typeface="Cambria Math" panose="02040503050406030204" pitchFamily="18" charset="0"/>
                      </a:rPr>
                      <m:t>=</m:t>
                    </m:r>
                    <m:r>
                      <m:rPr>
                        <m:nor/>
                      </m:rPr>
                      <a:rPr lang="es-ES">
                        <a:latin typeface="Cambria Math" panose="02040503050406030204" pitchFamily="18" charset="0"/>
                      </a:rPr>
                      <m:t>desviaci</m:t>
                    </m:r>
                    <m:r>
                      <m:rPr>
                        <m:nor/>
                      </m:rPr>
                      <a:rPr lang="es-ES">
                        <a:latin typeface="Cambria Math" panose="02040503050406030204" pitchFamily="18" charset="0"/>
                      </a:rPr>
                      <m:t>ó</m:t>
                    </m:r>
                    <m:r>
                      <m:rPr>
                        <m:nor/>
                      </m:rPr>
                      <a:rPr lang="es-ES">
                        <a:latin typeface="Cambria Math" panose="02040503050406030204" pitchFamily="18" charset="0"/>
                      </a:rPr>
                      <m:t>n</m:t>
                    </m:r>
                    <m:r>
                      <m:rPr>
                        <m:nor/>
                      </m:rPr>
                      <a:rPr lang="es-ES">
                        <a:latin typeface="Cambria Math" panose="02040503050406030204" pitchFamily="18" charset="0"/>
                      </a:rPr>
                      <m:t> </m:t>
                    </m:r>
                    <m:r>
                      <m:rPr>
                        <m:nor/>
                      </m:rPr>
                      <a:rPr lang="es-ES">
                        <a:latin typeface="Cambria Math" panose="02040503050406030204" pitchFamily="18" charset="0"/>
                      </a:rPr>
                      <m:t>est</m:t>
                    </m:r>
                    <m:r>
                      <m:rPr>
                        <m:nor/>
                      </m:rPr>
                      <a:rPr lang="es-ES">
                        <a:latin typeface="Cambria Math" panose="02040503050406030204" pitchFamily="18" charset="0"/>
                      </a:rPr>
                      <m:t>á</m:t>
                    </m:r>
                    <m:r>
                      <m:rPr>
                        <m:nor/>
                      </m:rPr>
                      <a:rPr lang="es-ES">
                        <a:latin typeface="Cambria Math" panose="02040503050406030204" pitchFamily="18" charset="0"/>
                      </a:rPr>
                      <m:t>ndar</m:t>
                    </m:r>
                    <m:r>
                      <m:rPr>
                        <m:nor/>
                      </m:rPr>
                      <a:rPr lang="es-ES">
                        <a:latin typeface="Cambria Math" panose="02040503050406030204" pitchFamily="18" charset="0"/>
                      </a:rPr>
                      <m:t> </m:t>
                    </m:r>
                    <m:r>
                      <m:rPr>
                        <m:nor/>
                      </m:rPr>
                      <a:rPr lang="es-ES">
                        <a:latin typeface="Cambria Math" panose="02040503050406030204" pitchFamily="18" charset="0"/>
                      </a:rPr>
                      <m:t>muestral</m:t>
                    </m:r>
                    <m:r>
                      <m:rPr>
                        <m:nor/>
                      </m:rPr>
                      <a:rPr lang="es-ES" b="0" i="0" smtClean="0">
                        <a:latin typeface="Cambria Math" panose="02040503050406030204" pitchFamily="18" charset="0"/>
                      </a:rPr>
                      <m:t> </m:t>
                    </m:r>
                    <m:r>
                      <m:rPr>
                        <m:nor/>
                      </m:rPr>
                      <a:rPr lang="es-ES" b="0" i="0" smtClean="0">
                        <a:latin typeface="Cambria Math" panose="02040503050406030204" pitchFamily="18" charset="0"/>
                      </a:rPr>
                      <m:t>de</m:t>
                    </m:r>
                    <m:r>
                      <m:rPr>
                        <m:nor/>
                      </m:rPr>
                      <a:rPr lang="es-ES" b="0" i="0" smtClean="0">
                        <a:latin typeface="Cambria Math" panose="02040503050406030204" pitchFamily="18" charset="0"/>
                      </a:rPr>
                      <m:t> </m:t>
                    </m:r>
                    <m:r>
                      <m:rPr>
                        <m:nor/>
                      </m:rPr>
                      <a:rPr lang="es-ES" b="0" i="0" smtClean="0">
                        <a:latin typeface="Cambria Math" panose="02040503050406030204" pitchFamily="18" charset="0"/>
                      </a:rPr>
                      <m:t>Y</m:t>
                    </m:r>
                    <m:r>
                      <m:rPr>
                        <m:nor/>
                      </m:rPr>
                      <a:rPr lang="es-ES">
                        <a:latin typeface="Cambria Math" panose="02040503050406030204" pitchFamily="18" charset="0"/>
                      </a:rPr>
                      <m:t> =</m:t>
                    </m:r>
                    <m:rad>
                      <m:radPr>
                        <m:degHide m:val="on"/>
                        <m:ctrlPr>
                          <a:rPr lang="es-ES" i="1">
                            <a:latin typeface="Cambria Math" panose="02040503050406030204" pitchFamily="18" charset="0"/>
                          </a:rPr>
                        </m:ctrlPr>
                      </m:radPr>
                      <m:deg/>
                      <m:e>
                        <m:f>
                          <m:fPr>
                            <m:ctrlPr>
                              <a:rPr lang="ar-AE" i="1">
                                <a:latin typeface="Cambria Math" panose="02040503050406030204" pitchFamily="18" charset="0"/>
                              </a:rPr>
                            </m:ctrlPr>
                          </m:fPr>
                          <m:num>
                            <m:nary>
                              <m:naryPr>
                                <m:chr m:val="∑"/>
                                <m:ctrlPr>
                                  <a:rPr lang="ar-AE" i="1">
                                    <a:latin typeface="Cambria Math" panose="02040503050406030204" pitchFamily="18" charset="0"/>
                                  </a:rPr>
                                </m:ctrlPr>
                              </m:naryPr>
                              <m:sub>
                                <m:r>
                                  <m:rPr>
                                    <m:brk m:alnAt="23"/>
                                  </m:rPr>
                                  <a:rPr lang="ar-AE" i="1">
                                    <a:latin typeface="Cambria Math" panose="02040503050406030204" pitchFamily="18" charset="0"/>
                                  </a:rPr>
                                  <m:t>𝑖</m:t>
                                </m:r>
                                <m:r>
                                  <a:rPr lang="ar-AE" i="1">
                                    <a:latin typeface="Cambria Math" panose="02040503050406030204" pitchFamily="18" charset="0"/>
                                  </a:rPr>
                                  <m:t>=</m:t>
                                </m:r>
                                <m:r>
                                  <a:rPr lang="ar-AE" i="1">
                                    <a:latin typeface="Cambria Math" panose="02040503050406030204" pitchFamily="18" charset="0"/>
                                  </a:rPr>
                                  <m:t>1</m:t>
                                </m:r>
                              </m:sub>
                              <m:sup>
                                <m:r>
                                  <a:rPr lang="ar-AE" i="1">
                                    <a:latin typeface="Cambria Math" panose="02040503050406030204" pitchFamily="18" charset="0"/>
                                  </a:rPr>
                                  <m:t>𝑛</m:t>
                                </m:r>
                              </m:sup>
                              <m:e>
                                <m:sSup>
                                  <m:sSupPr>
                                    <m:ctrlPr>
                                      <a:rPr lang="ar-AE" i="1">
                                        <a:latin typeface="Cambria Math" panose="02040503050406030204" pitchFamily="18" charset="0"/>
                                      </a:rPr>
                                    </m:ctrlPr>
                                  </m:sSupPr>
                                  <m:e>
                                    <m:r>
                                      <a:rPr lang="ar-AE" i="1">
                                        <a:latin typeface="Cambria Math" panose="02040503050406030204" pitchFamily="18" charset="0"/>
                                      </a:rPr>
                                      <m:t>(</m:t>
                                    </m:r>
                                    <m:sSub>
                                      <m:sSubPr>
                                        <m:ctrlPr>
                                          <a:rPr lang="ar-AE" i="1">
                                            <a:latin typeface="Cambria Math" panose="02040503050406030204" pitchFamily="18" charset="0"/>
                                          </a:rPr>
                                        </m:ctrlPr>
                                      </m:sSubPr>
                                      <m:e>
                                        <m:r>
                                          <a:rPr lang="es-ES" b="0" i="1" smtClean="0">
                                            <a:latin typeface="Cambria Math" panose="02040503050406030204" pitchFamily="18" charset="0"/>
                                          </a:rPr>
                                          <m:t>𝑦</m:t>
                                        </m:r>
                                      </m:e>
                                      <m:sub>
                                        <m:r>
                                          <a:rPr lang="ar-AE" i="1">
                                            <a:latin typeface="Cambria Math" panose="02040503050406030204" pitchFamily="18" charset="0"/>
                                          </a:rPr>
                                          <m:t>𝑖</m:t>
                                        </m:r>
                                      </m:sub>
                                    </m:sSub>
                                    <m:r>
                                      <a:rPr lang="ar-AE" i="1">
                                        <a:latin typeface="Cambria Math" panose="02040503050406030204" pitchFamily="18" charset="0"/>
                                      </a:rPr>
                                      <m:t>−</m:t>
                                    </m:r>
                                    <m:acc>
                                      <m:accPr>
                                        <m:chr m:val="̅"/>
                                        <m:ctrlPr>
                                          <a:rPr lang="ar-AE" i="1">
                                            <a:latin typeface="Cambria Math" panose="02040503050406030204" pitchFamily="18" charset="0"/>
                                          </a:rPr>
                                        </m:ctrlPr>
                                      </m:accPr>
                                      <m:e>
                                        <m:r>
                                          <a:rPr lang="es-ES" b="0" i="1" smtClean="0">
                                            <a:latin typeface="Cambria Math" panose="02040503050406030204" pitchFamily="18" charset="0"/>
                                          </a:rPr>
                                          <m:t>𝑦</m:t>
                                        </m:r>
                                      </m:e>
                                    </m:acc>
                                    <m:r>
                                      <a:rPr lang="ar-AE" i="1">
                                        <a:latin typeface="Cambria Math" panose="02040503050406030204" pitchFamily="18" charset="0"/>
                                      </a:rPr>
                                      <m:t>)</m:t>
                                    </m:r>
                                  </m:e>
                                  <m:sup>
                                    <m:r>
                                      <a:rPr lang="ar-AE" i="1">
                                        <a:latin typeface="Cambria Math" panose="02040503050406030204" pitchFamily="18" charset="0"/>
                                      </a:rPr>
                                      <m:t>2</m:t>
                                    </m:r>
                                  </m:sup>
                                </m:sSup>
                              </m:e>
                            </m:nary>
                          </m:num>
                          <m:den>
                            <m:r>
                              <a:rPr lang="ar-AE" i="1">
                                <a:latin typeface="Cambria Math" panose="02040503050406030204" pitchFamily="18" charset="0"/>
                              </a:rPr>
                              <m:t>𝑛</m:t>
                            </m:r>
                            <m:r>
                              <a:rPr lang="ar-AE" i="1">
                                <a:latin typeface="Cambria Math" panose="02040503050406030204" pitchFamily="18" charset="0"/>
                              </a:rPr>
                              <m:t>−</m:t>
                            </m:r>
                            <m:r>
                              <a:rPr lang="ar-AE" i="1">
                                <a:latin typeface="Cambria Math" panose="02040503050406030204" pitchFamily="18" charset="0"/>
                              </a:rPr>
                              <m:t>1</m:t>
                            </m:r>
                          </m:den>
                        </m:f>
                      </m:e>
                    </m:rad>
                  </m:oMath>
                </a14:m>
                <a:endParaRPr lang="es-ES" i="1" dirty="0">
                  <a:latin typeface="Cambria Math" panose="02040503050406030204" pitchFamily="18" charset="0"/>
                </a:endParaRPr>
              </a:p>
              <a:p>
                <a:pPr lvl="1"/>
                <a:endParaRPr lang="es-ES" i="1" dirty="0">
                  <a:latin typeface="Cambria Math" panose="02040503050406030204" pitchFamily="18" charset="0"/>
                </a:endParaRPr>
              </a:p>
              <a:p>
                <a:pPr lvl="1"/>
                <a:endParaRPr lang="es-ES" i="1" dirty="0">
                  <a:latin typeface="Cambria Math" panose="02040503050406030204" pitchFamily="18" charset="0"/>
                </a:endParaRPr>
              </a:p>
              <a:p>
                <a:pPr lvl="1"/>
                <a:endParaRPr b="0" i="1" dirty="0">
                  <a:latin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48DD3302-1C6E-04F2-76B6-DAD643F1E4F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1A29A46-EE33-315F-5EE1-96C99213577B}"/>
              </a:ext>
            </a:extLst>
          </p:cNvPr>
          <p:cNvSpPr>
            <a:spLocks noGrp="1"/>
          </p:cNvSpPr>
          <p:nvPr>
            <p:ph type="sldNum" sz="quarter" idx="12"/>
          </p:nvPr>
        </p:nvSpPr>
        <p:spPr/>
        <p:txBody>
          <a:bodyPr/>
          <a:lstStyle/>
          <a:p>
            <a:fld id="{336CAFD0-1F6E-4E11-9822-836563A02839}" type="slidenum">
              <a:rPr lang="es-ES" smtClean="0"/>
              <a:t>16</a:t>
            </a:fld>
            <a:endParaRPr lang="es-ES"/>
          </a:p>
        </p:txBody>
      </p:sp>
    </p:spTree>
    <p:extLst>
      <p:ext uri="{BB962C8B-B14F-4D97-AF65-F5344CB8AC3E}">
        <p14:creationId xmlns:p14="http://schemas.microsoft.com/office/powerpoint/2010/main" val="2017803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3EC06C-E745-42B2-32F1-54BB84DA1E17}"/>
              </a:ext>
            </a:extLst>
          </p:cNvPr>
          <p:cNvSpPr>
            <a:spLocks noGrp="1"/>
          </p:cNvSpPr>
          <p:nvPr>
            <p:ph type="title"/>
          </p:nvPr>
        </p:nvSpPr>
        <p:spPr/>
        <p:txBody>
          <a:bodyPr/>
          <a:lstStyle/>
          <a:p>
            <a:r>
              <a:rPr lang="es-ES" dirty="0"/>
              <a:t>5</a:t>
            </a:r>
            <a:r>
              <a:rPr dirty="0"/>
              <a:t>. </a:t>
            </a:r>
            <a:r>
              <a:rPr dirty="0" err="1"/>
              <a:t>Regresión</a:t>
            </a:r>
            <a:r>
              <a:rPr dirty="0"/>
              <a:t> lineal simple</a:t>
            </a:r>
            <a:br>
              <a:rPr lang="es-ES" dirty="0"/>
            </a:br>
            <a:r>
              <a:rPr dirty="0" err="1"/>
              <a:t>Ejemplo</a:t>
            </a:r>
            <a:r>
              <a:rPr dirty="0"/>
              <a:t> 11.3 (</a:t>
            </a:r>
            <a:r>
              <a:rPr dirty="0" err="1"/>
              <a:t>Población</a:t>
            </a:r>
            <a:r>
              <a:rPr dirty="0"/>
              <a:t> </a:t>
            </a:r>
            <a:r>
              <a:rPr dirty="0" err="1"/>
              <a:t>mundial</a:t>
            </a:r>
            <a:r>
              <a:rPr dirty="0"/>
              <a:t>)</a:t>
            </a:r>
          </a:p>
        </p:txBody>
      </p:sp>
      <p:sp>
        <p:nvSpPr>
          <p:cNvPr id="3" name="Marcador de contenido 2">
            <a:extLst>
              <a:ext uri="{FF2B5EF4-FFF2-40B4-BE49-F238E27FC236}">
                <a16:creationId xmlns:a16="http://schemas.microsoft.com/office/drawing/2014/main" id="{67DFB296-932E-404E-2143-1A02EE478CFC}"/>
              </a:ext>
            </a:extLst>
          </p:cNvPr>
          <p:cNvSpPr>
            <a:spLocks noGrp="1"/>
          </p:cNvSpPr>
          <p:nvPr>
            <p:ph idx="1"/>
          </p:nvPr>
        </p:nvSpPr>
        <p:spPr/>
        <p:txBody>
          <a:bodyPr/>
          <a:lstStyle/>
          <a:p>
            <a:r>
              <a:rPr dirty="0" err="1"/>
              <a:t>Según</a:t>
            </a:r>
            <a:r>
              <a:rPr dirty="0"/>
              <a:t> la Base Internacional de </a:t>
            </a:r>
            <a:r>
              <a:rPr dirty="0" err="1"/>
              <a:t>Datos</a:t>
            </a:r>
            <a:r>
              <a:rPr dirty="0"/>
              <a:t> de la Oficina del </a:t>
            </a:r>
            <a:r>
              <a:rPr dirty="0" err="1"/>
              <a:t>Censo</a:t>
            </a:r>
            <a:r>
              <a:rPr dirty="0"/>
              <a:t> de los </a:t>
            </a:r>
            <a:r>
              <a:rPr dirty="0" err="1"/>
              <a:t>Estados</a:t>
            </a:r>
            <a:r>
              <a:rPr dirty="0"/>
              <a:t> </a:t>
            </a:r>
            <a:r>
              <a:rPr dirty="0" err="1"/>
              <a:t>Unidos</a:t>
            </a:r>
            <a:r>
              <a:rPr dirty="0"/>
              <a:t>, la </a:t>
            </a:r>
            <a:r>
              <a:rPr dirty="0" err="1"/>
              <a:t>población</a:t>
            </a:r>
            <a:r>
              <a:rPr dirty="0"/>
              <a:t> </a:t>
            </a:r>
            <a:r>
              <a:rPr dirty="0" err="1"/>
              <a:t>mundial</a:t>
            </a:r>
            <a:r>
              <a:rPr dirty="0"/>
              <a:t> </a:t>
            </a:r>
            <a:r>
              <a:rPr dirty="0" err="1"/>
              <a:t>crece</a:t>
            </a:r>
            <a:r>
              <a:rPr dirty="0"/>
              <a:t> </a:t>
            </a:r>
            <a:r>
              <a:rPr dirty="0" err="1"/>
              <a:t>según</a:t>
            </a:r>
            <a:r>
              <a:rPr dirty="0"/>
              <a:t> </a:t>
            </a:r>
            <a:r>
              <a:rPr dirty="0" err="1"/>
              <a:t>esta</a:t>
            </a:r>
            <a:r>
              <a:rPr dirty="0"/>
              <a:t> </a:t>
            </a:r>
            <a:r>
              <a:rPr dirty="0" err="1"/>
              <a:t>tabla</a:t>
            </a:r>
            <a:r>
              <a:rPr dirty="0"/>
              <a:t>.</a:t>
            </a:r>
          </a:p>
          <a:p>
            <a:r>
              <a:rPr dirty="0"/>
              <a:t>¿</a:t>
            </a:r>
            <a:r>
              <a:rPr dirty="0" err="1"/>
              <a:t>Cómo</a:t>
            </a:r>
            <a:r>
              <a:rPr dirty="0"/>
              <a:t> </a:t>
            </a:r>
            <a:r>
              <a:rPr dirty="0" err="1"/>
              <a:t>podemos</a:t>
            </a:r>
            <a:r>
              <a:rPr dirty="0"/>
              <a:t> </a:t>
            </a:r>
            <a:r>
              <a:rPr dirty="0" err="1"/>
              <a:t>utilizar</a:t>
            </a:r>
            <a:r>
              <a:rPr dirty="0"/>
              <a:t> </a:t>
            </a:r>
            <a:r>
              <a:rPr dirty="0" err="1"/>
              <a:t>estos</a:t>
            </a:r>
            <a:r>
              <a:rPr dirty="0"/>
              <a:t> </a:t>
            </a:r>
            <a:r>
              <a:rPr dirty="0" err="1"/>
              <a:t>datos</a:t>
            </a:r>
            <a:r>
              <a:rPr dirty="0"/>
              <a:t> para </a:t>
            </a:r>
            <a:r>
              <a:rPr dirty="0" err="1"/>
              <a:t>predecir</a:t>
            </a:r>
            <a:r>
              <a:rPr dirty="0"/>
              <a:t> la </a:t>
            </a:r>
            <a:r>
              <a:rPr dirty="0" err="1"/>
              <a:t>población</a:t>
            </a:r>
            <a:r>
              <a:rPr dirty="0"/>
              <a:t> </a:t>
            </a:r>
            <a:r>
              <a:rPr dirty="0" err="1"/>
              <a:t>mundial</a:t>
            </a:r>
            <a:r>
              <a:rPr dirty="0"/>
              <a:t> en los </a:t>
            </a:r>
            <a:r>
              <a:rPr dirty="0" err="1"/>
              <a:t>años</a:t>
            </a:r>
            <a:r>
              <a:rPr dirty="0"/>
              <a:t> 2015 y 2020?</a:t>
            </a:r>
          </a:p>
        </p:txBody>
      </p:sp>
      <p:sp>
        <p:nvSpPr>
          <p:cNvPr id="4" name="Marcador de número de diapositiva 3">
            <a:extLst>
              <a:ext uri="{FF2B5EF4-FFF2-40B4-BE49-F238E27FC236}">
                <a16:creationId xmlns:a16="http://schemas.microsoft.com/office/drawing/2014/main" id="{A32011D8-EF88-7A5D-AC3E-F7BA0D2F6475}"/>
              </a:ext>
            </a:extLst>
          </p:cNvPr>
          <p:cNvSpPr>
            <a:spLocks noGrp="1"/>
          </p:cNvSpPr>
          <p:nvPr>
            <p:ph type="sldNum" sz="quarter" idx="12"/>
          </p:nvPr>
        </p:nvSpPr>
        <p:spPr/>
        <p:txBody>
          <a:bodyPr/>
          <a:lstStyle/>
          <a:p>
            <a:fld id="{336CAFD0-1F6E-4E11-9822-836563A02839}" type="slidenum">
              <a:rPr lang="es-ES" smtClean="0"/>
              <a:t>17</a:t>
            </a:fld>
            <a:endParaRPr lang="es-ES"/>
          </a:p>
        </p:txBody>
      </p:sp>
      <p:pic>
        <p:nvPicPr>
          <p:cNvPr id="7" name="Imagen 6">
            <a:extLst>
              <a:ext uri="{FF2B5EF4-FFF2-40B4-BE49-F238E27FC236}">
                <a16:creationId xmlns:a16="http://schemas.microsoft.com/office/drawing/2014/main" id="{8ACBCB8A-9F86-47A6-0833-A109E5827B1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904984" y="3627120"/>
            <a:ext cx="7918003" cy="2729230"/>
          </a:xfrm>
          <a:prstGeom prst="rect">
            <a:avLst/>
          </a:prstGeom>
        </p:spPr>
      </p:pic>
    </p:spTree>
    <p:extLst>
      <p:ext uri="{BB962C8B-B14F-4D97-AF65-F5344CB8AC3E}">
        <p14:creationId xmlns:p14="http://schemas.microsoft.com/office/powerpoint/2010/main" val="2348156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8F35A8A-1594-F766-13DE-2672B6C6C645}"/>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12039" y="2956560"/>
            <a:ext cx="5227653" cy="3264854"/>
          </a:xfrm>
          <a:prstGeom prst="rect">
            <a:avLst/>
          </a:prstGeom>
        </p:spPr>
      </p:pic>
      <p:sp>
        <p:nvSpPr>
          <p:cNvPr id="2" name="Título 1">
            <a:extLst>
              <a:ext uri="{FF2B5EF4-FFF2-40B4-BE49-F238E27FC236}">
                <a16:creationId xmlns:a16="http://schemas.microsoft.com/office/drawing/2014/main" id="{C63EC06C-E745-42B2-32F1-54BB84DA1E17}"/>
              </a:ext>
            </a:extLst>
          </p:cNvPr>
          <p:cNvSpPr>
            <a:spLocks noGrp="1"/>
          </p:cNvSpPr>
          <p:nvPr>
            <p:ph type="title"/>
          </p:nvPr>
        </p:nvSpPr>
        <p:spPr/>
        <p:txBody>
          <a:bodyPr/>
          <a:lstStyle/>
          <a:p>
            <a:r>
              <a:rPr lang="es-ES" dirty="0"/>
              <a:t>5. Regresión lineal simple</a:t>
            </a:r>
            <a:br>
              <a:rPr lang="es-ES" dirty="0"/>
            </a:br>
            <a:r>
              <a:rPr lang="es-ES" dirty="0"/>
              <a:t>Ejemplo 11.3 (Solución)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7DFB296-932E-404E-2143-1A02EE478CFC}"/>
                  </a:ext>
                </a:extLst>
              </p:cNvPr>
              <p:cNvSpPr>
                <a:spLocks noGrp="1"/>
              </p:cNvSpPr>
              <p:nvPr>
                <p:ph idx="1"/>
              </p:nvPr>
            </p:nvSpPr>
            <p:spPr>
              <a:xfrm>
                <a:off x="838200" y="1825624"/>
                <a:ext cx="10515600" cy="5184776"/>
              </a:xfrm>
            </p:spPr>
            <p:txBody>
              <a:bodyPr>
                <a:normAutofit fontScale="55000" lnSpcReduction="20000"/>
              </a:bodyPr>
              <a:lstStyle/>
              <a:p>
                <a14:m>
                  <m:oMath xmlns:m="http://schemas.openxmlformats.org/officeDocument/2006/math">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𝐴</m:t>
                    </m:r>
                    <m:r>
                      <a:rPr lang="es-ES" b="0" i="1" smtClean="0">
                        <a:latin typeface="Cambria Math" panose="02040503050406030204" pitchFamily="18" charset="0"/>
                      </a:rPr>
                      <m:t>ñ</m:t>
                    </m:r>
                    <m:r>
                      <a:rPr lang="es-ES" b="0" i="1" smtClean="0">
                        <a:latin typeface="Cambria Math" panose="02040503050406030204" pitchFamily="18" charset="0"/>
                      </a:rPr>
                      <m:t>𝑜</m:t>
                    </m:r>
                    <m:r>
                      <a:rPr lang="es-ES" b="0" i="1" smtClean="0">
                        <a:latin typeface="Cambria Math" panose="02040503050406030204" pitchFamily="18" charset="0"/>
                      </a:rPr>
                      <m:t>→</m:t>
                    </m:r>
                    <m:r>
                      <a:rPr lang="es-ES" b="0" i="1" smtClean="0">
                        <a:latin typeface="Cambria Math" panose="02040503050406030204" pitchFamily="18" charset="0"/>
                      </a:rPr>
                      <m:t>𝑀𝑢𝑒𝑠𝑡𝑟𝑎</m:t>
                    </m:r>
                    <m:r>
                      <a:rPr lang="es-ES" b="0" i="1" smtClean="0">
                        <a:latin typeface="Cambria Math" panose="02040503050406030204" pitchFamily="18" charset="0"/>
                      </a:rPr>
                      <m:t>:</m:t>
                    </m:r>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1950</m:t>
                    </m:r>
                    <m:r>
                      <a:rPr lang="es-ES" b="0" i="1" smtClean="0">
                        <a:latin typeface="Cambria Math" panose="02040503050406030204" pitchFamily="18" charset="0"/>
                      </a:rPr>
                      <m:t>, </m:t>
                    </m:r>
                    <m:r>
                      <a:rPr lang="es-ES" b="0" i="1" smtClean="0">
                        <a:latin typeface="Cambria Math" panose="02040503050406030204" pitchFamily="18" charset="0"/>
                      </a:rPr>
                      <m:t>1955</m:t>
                    </m:r>
                    <m:r>
                      <a:rPr lang="es-ES" b="0" i="1" smtClean="0">
                        <a:latin typeface="Cambria Math" panose="02040503050406030204" pitchFamily="18" charset="0"/>
                      </a:rPr>
                      <m:t>, </m:t>
                    </m:r>
                    <m:r>
                      <a:rPr lang="es-ES" b="0" i="1" smtClean="0">
                        <a:latin typeface="Cambria Math" panose="02040503050406030204" pitchFamily="18" charset="0"/>
                      </a:rPr>
                      <m:t>1960</m:t>
                    </m:r>
                    <m:r>
                      <a:rPr lang="es-ES" b="0" i="1" smtClean="0">
                        <a:latin typeface="Cambria Math" panose="02040503050406030204" pitchFamily="18" charset="0"/>
                      </a:rPr>
                      <m:t>, </m:t>
                    </m:r>
                    <m:r>
                      <a:rPr lang="es-ES" b="0" i="1" smtClean="0">
                        <a:latin typeface="Cambria Math" panose="02040503050406030204" pitchFamily="18" charset="0"/>
                      </a:rPr>
                      <m:t>1965</m:t>
                    </m:r>
                    <m:r>
                      <a:rPr lang="es-ES" b="0" i="1" smtClean="0">
                        <a:latin typeface="Cambria Math" panose="02040503050406030204" pitchFamily="18" charset="0"/>
                      </a:rPr>
                      <m:t>, </m:t>
                    </m:r>
                    <m:r>
                      <a:rPr lang="es-ES" b="0" i="1" smtClean="0">
                        <a:latin typeface="Cambria Math" panose="02040503050406030204" pitchFamily="18" charset="0"/>
                      </a:rPr>
                      <m:t>1970</m:t>
                    </m:r>
                    <m:r>
                      <a:rPr lang="es-ES" b="0" i="1" smtClean="0">
                        <a:latin typeface="Cambria Math" panose="02040503050406030204" pitchFamily="18" charset="0"/>
                      </a:rPr>
                      <m:t>, </m:t>
                    </m:r>
                    <m:r>
                      <a:rPr lang="es-ES" b="0" i="1" smtClean="0">
                        <a:latin typeface="Cambria Math" panose="02040503050406030204" pitchFamily="18" charset="0"/>
                      </a:rPr>
                      <m:t>1975</m:t>
                    </m:r>
                    <m:r>
                      <a:rPr lang="es-ES" b="0" i="1" smtClean="0">
                        <a:latin typeface="Cambria Math" panose="02040503050406030204" pitchFamily="18" charset="0"/>
                      </a:rPr>
                      <m:t>, </m:t>
                    </m:r>
                    <m:r>
                      <a:rPr lang="es-ES" b="0" i="1" smtClean="0">
                        <a:latin typeface="Cambria Math" panose="02040503050406030204" pitchFamily="18" charset="0"/>
                      </a:rPr>
                      <m:t>1980</m:t>
                    </m:r>
                    <m:r>
                      <a:rPr lang="es-ES" b="0" i="1" smtClean="0">
                        <a:latin typeface="Cambria Math" panose="02040503050406030204" pitchFamily="18" charset="0"/>
                      </a:rPr>
                      <m:t>, </m:t>
                    </m:r>
                    <m:r>
                      <a:rPr lang="es-ES" b="0" i="1" smtClean="0">
                        <a:latin typeface="Cambria Math" panose="02040503050406030204" pitchFamily="18" charset="0"/>
                      </a:rPr>
                      <m:t>1985</m:t>
                    </m:r>
                    <m:r>
                      <a:rPr lang="es-ES" b="0" i="1" smtClean="0">
                        <a:latin typeface="Cambria Math" panose="02040503050406030204" pitchFamily="18" charset="0"/>
                      </a:rPr>
                      <m:t>, </m:t>
                    </m:r>
                    <m:r>
                      <a:rPr lang="es-ES" b="0" i="1" smtClean="0">
                        <a:latin typeface="Cambria Math" panose="02040503050406030204" pitchFamily="18" charset="0"/>
                      </a:rPr>
                      <m:t>1990</m:t>
                    </m:r>
                    <m:r>
                      <a:rPr lang="es-ES" b="0" i="1" smtClean="0">
                        <a:latin typeface="Cambria Math" panose="02040503050406030204" pitchFamily="18" charset="0"/>
                      </a:rPr>
                      <m:t>, </m:t>
                    </m:r>
                    <m:r>
                      <a:rPr lang="es-ES" b="0" i="1" smtClean="0">
                        <a:latin typeface="Cambria Math" panose="02040503050406030204" pitchFamily="18" charset="0"/>
                      </a:rPr>
                      <m:t>1995</m:t>
                    </m:r>
                    <m:r>
                      <a:rPr lang="es-ES" b="0" i="1" smtClean="0">
                        <a:latin typeface="Cambria Math" panose="02040503050406030204" pitchFamily="18" charset="0"/>
                      </a:rPr>
                      <m:t>, </m:t>
                    </m:r>
                    <m:r>
                      <a:rPr lang="es-ES" b="0" i="1" smtClean="0">
                        <a:latin typeface="Cambria Math" panose="02040503050406030204" pitchFamily="18" charset="0"/>
                      </a:rPr>
                      <m:t>2000</m:t>
                    </m:r>
                    <m:r>
                      <a:rPr lang="es-ES" b="0" i="1" smtClean="0">
                        <a:latin typeface="Cambria Math" panose="02040503050406030204" pitchFamily="18" charset="0"/>
                      </a:rPr>
                      <m:t>, </m:t>
                    </m:r>
                    <m:r>
                      <a:rPr lang="es-ES" b="0" i="1" smtClean="0">
                        <a:latin typeface="Cambria Math" panose="02040503050406030204" pitchFamily="18" charset="0"/>
                      </a:rPr>
                      <m:t>2005</m:t>
                    </m:r>
                    <m:r>
                      <a:rPr lang="es-ES" b="0" i="1" smtClean="0">
                        <a:latin typeface="Cambria Math" panose="02040503050406030204" pitchFamily="18" charset="0"/>
                      </a:rPr>
                      <m:t>, </m:t>
                    </m:r>
                    <m:r>
                      <a:rPr lang="es-ES" b="0" i="1" smtClean="0">
                        <a:latin typeface="Cambria Math" panose="02040503050406030204" pitchFamily="18" charset="0"/>
                      </a:rPr>
                      <m:t>2010</m:t>
                    </m:r>
                    <m:r>
                      <a:rPr lang="es-ES" b="0" i="1" smtClean="0">
                        <a:latin typeface="Cambria Math" panose="02040503050406030204" pitchFamily="18" charset="0"/>
                      </a:rPr>
                      <m:t>)</m:t>
                    </m:r>
                  </m:oMath>
                </a14:m>
                <a:endParaRPr lang="en-US" dirty="0"/>
              </a:p>
              <a:p>
                <a14:m>
                  <m:oMath xmlns:m="http://schemas.openxmlformats.org/officeDocument/2006/math">
                    <m:r>
                      <a:rPr lang="es-ES" b="0" i="1" smtClean="0">
                        <a:latin typeface="Cambria Math" panose="02040503050406030204" pitchFamily="18" charset="0"/>
                      </a:rPr>
                      <m:t>𝑌</m:t>
                    </m:r>
                    <m:r>
                      <a:rPr lang="es-ES" b="0" i="1" smtClean="0">
                        <a:latin typeface="Cambria Math" panose="02040503050406030204" pitchFamily="18" charset="0"/>
                      </a:rPr>
                      <m:t>=</m:t>
                    </m:r>
                    <m:r>
                      <a:rPr lang="es-ES" b="0" i="1" smtClean="0">
                        <a:latin typeface="Cambria Math" panose="02040503050406030204" pitchFamily="18" charset="0"/>
                      </a:rPr>
                      <m:t>𝑃𝑜𝑏𝑙𝑎𝑐𝑖</m:t>
                    </m:r>
                    <m:r>
                      <a:rPr lang="es-ES" b="0" i="1" smtClean="0">
                        <a:latin typeface="Cambria Math" panose="02040503050406030204" pitchFamily="18" charset="0"/>
                      </a:rPr>
                      <m:t>ó</m:t>
                    </m:r>
                    <m:r>
                      <a:rPr lang="es-ES" b="0" i="1" smtClean="0">
                        <a:latin typeface="Cambria Math" panose="02040503050406030204" pitchFamily="18" charset="0"/>
                      </a:rPr>
                      <m:t>𝑛</m:t>
                    </m:r>
                    <m:r>
                      <a:rPr lang="es-ES" b="0" i="1" smtClean="0">
                        <a:latin typeface="Cambria Math" panose="02040503050406030204" pitchFamily="18" charset="0"/>
                      </a:rPr>
                      <m:t> </m:t>
                    </m:r>
                    <m:r>
                      <a:rPr lang="es-ES" b="0" i="1" smtClean="0">
                        <a:latin typeface="Cambria Math" panose="02040503050406030204" pitchFamily="18" charset="0"/>
                      </a:rPr>
                      <m:t>𝑚𝑢𝑛𝑑𝑖𝑎𝑙</m:t>
                    </m:r>
                    <m:r>
                      <m:rPr>
                        <m:nor/>
                      </m:rPr>
                      <a:rPr lang="es-ES" b="0" i="0" smtClean="0">
                        <a:latin typeface="Cambria Math" panose="02040503050406030204" pitchFamily="18" charset="0"/>
                      </a:rPr>
                      <m:t> </m:t>
                    </m:r>
                    <m:r>
                      <a:rPr lang="es-ES" b="0" i="1" smtClean="0">
                        <a:latin typeface="Cambria Math" panose="02040503050406030204" pitchFamily="18" charset="0"/>
                      </a:rPr>
                      <m:t>→</m:t>
                    </m:r>
                    <m:r>
                      <a:rPr lang="es-ES" b="0" i="1" smtClean="0">
                        <a:latin typeface="Cambria Math" panose="02040503050406030204" pitchFamily="18" charset="0"/>
                      </a:rPr>
                      <m:t>𝑀𝑢𝑒𝑠𝑡𝑟𝑎</m:t>
                    </m:r>
                    <m:r>
                      <a:rPr lang="es-ES" b="0" i="1" smtClean="0">
                        <a:latin typeface="Cambria Math" panose="02040503050406030204" pitchFamily="18" charset="0"/>
                      </a:rPr>
                      <m:t>:</m:t>
                    </m:r>
                    <m:r>
                      <a:rPr lang="es-ES" b="0" i="1" smtClean="0">
                        <a:latin typeface="Cambria Math" panose="02040503050406030204" pitchFamily="18" charset="0"/>
                      </a:rPr>
                      <m:t>𝑦</m:t>
                    </m:r>
                    <m:r>
                      <a:rPr lang="es-ES" b="0" i="1" smtClean="0">
                        <a:latin typeface="Cambria Math" panose="02040503050406030204" pitchFamily="18" charset="0"/>
                      </a:rPr>
                      <m:t>=(</m:t>
                    </m:r>
                    <m:r>
                      <a:rPr lang="es-ES" b="0" i="1" smtClean="0">
                        <a:latin typeface="Cambria Math" panose="02040503050406030204" pitchFamily="18" charset="0"/>
                      </a:rPr>
                      <m:t>2558</m:t>
                    </m:r>
                    <m:r>
                      <a:rPr lang="es-ES" b="0" i="1" smtClean="0">
                        <a:latin typeface="Cambria Math" panose="02040503050406030204" pitchFamily="18" charset="0"/>
                      </a:rPr>
                      <m:t>, </m:t>
                    </m:r>
                    <m:r>
                      <a:rPr lang="es-ES" b="0" i="1" smtClean="0">
                        <a:latin typeface="Cambria Math" panose="02040503050406030204" pitchFamily="18" charset="0"/>
                      </a:rPr>
                      <m:t>2782</m:t>
                    </m:r>
                    <m:r>
                      <a:rPr lang="es-ES" b="0" i="1" smtClean="0">
                        <a:latin typeface="Cambria Math" panose="02040503050406030204" pitchFamily="18" charset="0"/>
                      </a:rPr>
                      <m:t>, </m:t>
                    </m:r>
                    <m:r>
                      <a:rPr lang="es-ES" b="0" i="1" smtClean="0">
                        <a:latin typeface="Cambria Math" panose="02040503050406030204" pitchFamily="18" charset="0"/>
                      </a:rPr>
                      <m:t>3043</m:t>
                    </m:r>
                    <m:r>
                      <a:rPr lang="es-ES" b="0" i="1" smtClean="0">
                        <a:latin typeface="Cambria Math" panose="02040503050406030204" pitchFamily="18" charset="0"/>
                      </a:rPr>
                      <m:t>, </m:t>
                    </m:r>
                    <m:r>
                      <a:rPr lang="es-ES" b="0" i="1" smtClean="0">
                        <a:latin typeface="Cambria Math" panose="02040503050406030204" pitchFamily="18" charset="0"/>
                      </a:rPr>
                      <m:t>3350</m:t>
                    </m:r>
                    <m:r>
                      <a:rPr lang="es-ES" b="0" i="1" smtClean="0">
                        <a:latin typeface="Cambria Math" panose="02040503050406030204" pitchFamily="18" charset="0"/>
                      </a:rPr>
                      <m:t>, </m:t>
                    </m:r>
                    <m:r>
                      <a:rPr lang="es-ES" b="0" i="1" smtClean="0">
                        <a:latin typeface="Cambria Math" panose="02040503050406030204" pitchFamily="18" charset="0"/>
                      </a:rPr>
                      <m:t>3712</m:t>
                    </m:r>
                    <m:r>
                      <a:rPr lang="es-ES" b="0" i="1" smtClean="0">
                        <a:latin typeface="Cambria Math" panose="02040503050406030204" pitchFamily="18" charset="0"/>
                      </a:rPr>
                      <m:t>, </m:t>
                    </m:r>
                    <m:r>
                      <a:rPr lang="es-ES" b="0" i="1" smtClean="0">
                        <a:latin typeface="Cambria Math" panose="02040503050406030204" pitchFamily="18" charset="0"/>
                      </a:rPr>
                      <m:t>4089</m:t>
                    </m:r>
                    <m:r>
                      <a:rPr lang="es-ES" b="0" i="1" smtClean="0">
                        <a:latin typeface="Cambria Math" panose="02040503050406030204" pitchFamily="18" charset="0"/>
                      </a:rPr>
                      <m:t>, </m:t>
                    </m:r>
                    <m:r>
                      <a:rPr lang="es-ES" i="1">
                        <a:latin typeface="Cambria Math" panose="02040503050406030204" pitchFamily="18" charset="0"/>
                      </a:rPr>
                      <m:t>4451</m:t>
                    </m:r>
                    <m:r>
                      <a:rPr lang="es-ES" i="1">
                        <a:latin typeface="Cambria Math" panose="02040503050406030204" pitchFamily="18" charset="0"/>
                      </a:rPr>
                      <m:t>, </m:t>
                    </m:r>
                    <m:r>
                      <a:rPr lang="es-ES" i="1">
                        <a:latin typeface="Cambria Math" panose="02040503050406030204" pitchFamily="18" charset="0"/>
                      </a:rPr>
                      <m:t>4855</m:t>
                    </m:r>
                    <m:r>
                      <a:rPr lang="es-ES" i="1">
                        <a:latin typeface="Cambria Math" panose="02040503050406030204" pitchFamily="18" charset="0"/>
                      </a:rPr>
                      <m:t>, </m:t>
                    </m:r>
                    <m:r>
                      <a:rPr lang="es-ES" i="1">
                        <a:latin typeface="Cambria Math" panose="02040503050406030204" pitchFamily="18" charset="0"/>
                      </a:rPr>
                      <m:t>5287</m:t>
                    </m:r>
                    <m:r>
                      <a:rPr lang="es-ES" i="1">
                        <a:latin typeface="Cambria Math" panose="02040503050406030204" pitchFamily="18" charset="0"/>
                      </a:rPr>
                      <m:t>, </m:t>
                    </m:r>
                    <m:r>
                      <a:rPr lang="es-ES" i="1">
                        <a:latin typeface="Cambria Math" panose="02040503050406030204" pitchFamily="18" charset="0"/>
                      </a:rPr>
                      <m:t>5700</m:t>
                    </m:r>
                    <m:r>
                      <a:rPr lang="es-ES" i="1">
                        <a:latin typeface="Cambria Math" panose="02040503050406030204" pitchFamily="18" charset="0"/>
                      </a:rPr>
                      <m:t>, </m:t>
                    </m:r>
                    <m:r>
                      <a:rPr lang="es-ES" i="1">
                        <a:latin typeface="Cambria Math" panose="02040503050406030204" pitchFamily="18" charset="0"/>
                      </a:rPr>
                      <m:t>6090</m:t>
                    </m:r>
                    <m:r>
                      <a:rPr lang="es-ES" i="1">
                        <a:latin typeface="Cambria Math" panose="02040503050406030204" pitchFamily="18" charset="0"/>
                      </a:rPr>
                      <m:t>, </m:t>
                    </m:r>
                    <m:r>
                      <a:rPr lang="es-ES" i="1">
                        <a:latin typeface="Cambria Math" panose="02040503050406030204" pitchFamily="18" charset="0"/>
                      </a:rPr>
                      <m:t>6474</m:t>
                    </m:r>
                    <m:r>
                      <a:rPr lang="es-ES" i="1">
                        <a:latin typeface="Cambria Math" panose="02040503050406030204" pitchFamily="18" charset="0"/>
                      </a:rPr>
                      <m:t>, </m:t>
                    </m:r>
                    <m:r>
                      <a:rPr lang="es-ES" i="1">
                        <a:latin typeface="Cambria Math" panose="02040503050406030204" pitchFamily="18" charset="0"/>
                      </a:rPr>
                      <m:t>6864</m:t>
                    </m:r>
                    <m:r>
                      <a:rPr lang="es-ES" b="0" i="1" smtClean="0">
                        <a:latin typeface="Cambria Math" panose="02040503050406030204" pitchFamily="18" charset="0"/>
                      </a:rPr>
                      <m:t>)</m:t>
                    </m:r>
                  </m:oMath>
                </a14:m>
                <a:endParaRPr lang="en-US" dirty="0"/>
              </a:p>
              <a:p>
                <a14:m>
                  <m:oMath xmlns:m="http://schemas.openxmlformats.org/officeDocument/2006/math">
                    <m:acc>
                      <m:accPr>
                        <m:chr m:val="̅"/>
                        <m:ctrlPr>
                          <a:rPr lang="en-US"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f>
                      <m:fPr>
                        <m:ctrlPr>
                          <a:rPr lang="es-ES" b="0" i="1" smtClean="0">
                            <a:latin typeface="Cambria Math" panose="02040503050406030204" pitchFamily="18" charset="0"/>
                          </a:rPr>
                        </m:ctrlPr>
                      </m:fPr>
                      <m:num>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m:t>
                            </m:r>
                            <m:r>
                              <a:rPr lang="es-ES" b="0" i="1" smtClean="0">
                                <a:latin typeface="Cambria Math" panose="02040503050406030204" pitchFamily="18" charset="0"/>
                              </a:rPr>
                              <m:t>1</m:t>
                            </m:r>
                          </m:sub>
                          <m:sup>
                            <m:r>
                              <a:rPr lang="es-ES" b="0" i="1" smtClean="0">
                                <a:latin typeface="Cambria Math" panose="02040503050406030204" pitchFamily="18" charset="0"/>
                              </a:rPr>
                              <m:t>13</m:t>
                            </m:r>
                          </m:sup>
                          <m:e>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𝑖</m:t>
                                </m:r>
                              </m:sub>
                            </m:sSub>
                          </m:e>
                        </m:nary>
                      </m:num>
                      <m:den>
                        <m:r>
                          <a:rPr lang="es-ES" b="0" i="1" smtClean="0">
                            <a:latin typeface="Cambria Math" panose="02040503050406030204" pitchFamily="18" charset="0"/>
                          </a:rPr>
                          <m:t>13</m:t>
                        </m:r>
                      </m:den>
                    </m:f>
                    <m:r>
                      <a:rPr lang="es-ES" b="0" i="1" smtClean="0">
                        <a:latin typeface="Cambria Math" panose="02040503050406030204" pitchFamily="18" charset="0"/>
                      </a:rPr>
                      <m:t>=</m:t>
                    </m:r>
                    <m:r>
                      <a:rPr lang="es-ES" b="0" i="1" smtClean="0">
                        <a:latin typeface="Cambria Math" panose="02040503050406030204" pitchFamily="18" charset="0"/>
                      </a:rPr>
                      <m:t>1980</m:t>
                    </m:r>
                  </m:oMath>
                </a14:m>
                <a:endParaRPr lang="en-US" dirty="0"/>
              </a:p>
              <a:p>
                <a14:m>
                  <m:oMath xmlns:m="http://schemas.openxmlformats.org/officeDocument/2006/math">
                    <m:acc>
                      <m:accPr>
                        <m:chr m:val="̅"/>
                        <m:ctrlPr>
                          <a:rPr lang="en-US" i="1" smtClean="0">
                            <a:latin typeface="Cambria Math" panose="02040503050406030204" pitchFamily="18" charset="0"/>
                          </a:rPr>
                        </m:ctrlPr>
                      </m:accPr>
                      <m:e>
                        <m:r>
                          <a:rPr lang="es-ES" b="0" i="1" smtClean="0">
                            <a:latin typeface="Cambria Math" panose="02040503050406030204" pitchFamily="18" charset="0"/>
                          </a:rPr>
                          <m:t>𝑦</m:t>
                        </m:r>
                      </m:e>
                    </m:acc>
                    <m:r>
                      <a:rPr lang="es-ES" b="0" i="1" smtClean="0">
                        <a:latin typeface="Cambria Math" panose="02040503050406030204" pitchFamily="18" charset="0"/>
                      </a:rPr>
                      <m:t>=</m:t>
                    </m:r>
                    <m:f>
                      <m:fPr>
                        <m:ctrlPr>
                          <a:rPr lang="es-ES" b="0" i="1" smtClean="0">
                            <a:latin typeface="Cambria Math" panose="02040503050406030204" pitchFamily="18" charset="0"/>
                          </a:rPr>
                        </m:ctrlPr>
                      </m:fPr>
                      <m:num>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m:t>
                            </m:r>
                            <m:r>
                              <a:rPr lang="es-ES" b="0" i="1" smtClean="0">
                                <a:latin typeface="Cambria Math" panose="02040503050406030204" pitchFamily="18" charset="0"/>
                              </a:rPr>
                              <m:t>1</m:t>
                            </m:r>
                          </m:sub>
                          <m:sup>
                            <m:r>
                              <a:rPr lang="es-ES" b="0" i="1" smtClean="0">
                                <a:latin typeface="Cambria Math" panose="02040503050406030204" pitchFamily="18" charset="0"/>
                              </a:rPr>
                              <m:t>13</m:t>
                            </m:r>
                          </m:sup>
                          <m:e>
                            <m:sSub>
                              <m:sSubPr>
                                <m:ctrlPr>
                                  <a:rPr lang="es-ES" b="0" i="1" smtClean="0">
                                    <a:latin typeface="Cambria Math" panose="02040503050406030204" pitchFamily="18" charset="0"/>
                                  </a:rPr>
                                </m:ctrlPr>
                              </m:sSubPr>
                              <m:e>
                                <m:r>
                                  <a:rPr lang="es-ES" b="0" i="1" smtClean="0">
                                    <a:latin typeface="Cambria Math" panose="02040503050406030204" pitchFamily="18" charset="0"/>
                                  </a:rPr>
                                  <m:t>𝑦</m:t>
                                </m:r>
                              </m:e>
                              <m:sub>
                                <m:r>
                                  <a:rPr lang="es-ES" b="0" i="1" smtClean="0">
                                    <a:latin typeface="Cambria Math" panose="02040503050406030204" pitchFamily="18" charset="0"/>
                                  </a:rPr>
                                  <m:t>𝑖</m:t>
                                </m:r>
                              </m:sub>
                            </m:sSub>
                          </m:e>
                        </m:nary>
                      </m:num>
                      <m:den>
                        <m:r>
                          <a:rPr lang="es-ES" b="0" i="1" smtClean="0">
                            <a:latin typeface="Cambria Math" panose="02040503050406030204" pitchFamily="18" charset="0"/>
                          </a:rPr>
                          <m:t>13</m:t>
                        </m:r>
                      </m:den>
                    </m:f>
                    <m:r>
                      <a:rPr lang="es-ES" b="0" i="1" smtClean="0">
                        <a:latin typeface="Cambria Math" panose="02040503050406030204" pitchFamily="18" charset="0"/>
                      </a:rPr>
                      <m:t>=</m:t>
                    </m:r>
                    <m:r>
                      <a:rPr lang="es-ES" b="0" i="1" smtClean="0">
                        <a:latin typeface="Cambria Math" panose="02040503050406030204" pitchFamily="18" charset="0"/>
                      </a:rPr>
                      <m:t>4558</m:t>
                    </m:r>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 </m:t>
                    </m:r>
                    <m:r>
                      <m:rPr>
                        <m:nor/>
                      </m:rPr>
                      <a:rPr lang="es-ES" b="0" i="0" smtClean="0">
                        <a:latin typeface="Cambria Math" panose="02040503050406030204" pitchFamily="18" charset="0"/>
                      </a:rPr>
                      <m:t>millones</m:t>
                    </m:r>
                    <m:r>
                      <m:rPr>
                        <m:nor/>
                      </m:rPr>
                      <a:rPr lang="es-ES" b="0" i="0" smtClean="0">
                        <a:latin typeface="Cambria Math" panose="02040503050406030204" pitchFamily="18" charset="0"/>
                      </a:rPr>
                      <m:t> </m:t>
                    </m:r>
                    <m:r>
                      <m:rPr>
                        <m:nor/>
                      </m:rPr>
                      <a:rPr lang="es-ES" b="0" i="0" smtClean="0">
                        <a:latin typeface="Cambria Math" panose="02040503050406030204" pitchFamily="18" charset="0"/>
                      </a:rPr>
                      <m:t>de</m:t>
                    </m:r>
                    <m:r>
                      <m:rPr>
                        <m:nor/>
                      </m:rPr>
                      <a:rPr lang="es-ES" b="0" i="0" smtClean="0">
                        <a:latin typeface="Cambria Math" panose="02040503050406030204" pitchFamily="18" charset="0"/>
                      </a:rPr>
                      <m:t> </m:t>
                    </m:r>
                    <m:r>
                      <m:rPr>
                        <m:nor/>
                      </m:rPr>
                      <a:rPr lang="es-ES" b="0" i="0" smtClean="0">
                        <a:latin typeface="Cambria Math" panose="02040503050406030204" pitchFamily="18" charset="0"/>
                      </a:rPr>
                      <m:t>personas</m:t>
                    </m:r>
                  </m:oMath>
                </a14:m>
                <a:endParaRPr lang="en-US" dirty="0"/>
              </a:p>
              <a:p>
                <a14:m>
                  <m:oMath xmlns:m="http://schemas.openxmlformats.org/officeDocument/2006/math">
                    <m:sSubSup>
                      <m:sSubSupPr>
                        <m:ctrlPr>
                          <a:rPr lang="ar-AE"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𝑥</m:t>
                        </m:r>
                      </m:sub>
                      <m:sup>
                        <m:r>
                          <a:rPr lang="es-ES" i="1">
                            <a:latin typeface="Cambria Math" panose="02040503050406030204" pitchFamily="18" charset="0"/>
                          </a:rPr>
                          <m:t>2</m:t>
                        </m:r>
                      </m:sup>
                    </m:sSubSup>
                    <m:r>
                      <a:rPr lang="es-ES" b="0" i="1" smtClean="0">
                        <a:latin typeface="Cambria Math" panose="02040503050406030204" pitchFamily="18" charset="0"/>
                      </a:rPr>
                      <m:t>=</m:t>
                    </m:r>
                    <m:f>
                      <m:fPr>
                        <m:ctrlPr>
                          <a:rPr lang="es-ES" b="0" i="1" smtClean="0">
                            <a:latin typeface="Cambria Math" panose="02040503050406030204" pitchFamily="18" charset="0"/>
                          </a:rPr>
                        </m:ctrlPr>
                      </m:fPr>
                      <m:num>
                        <m:nary>
                          <m:naryPr>
                            <m:chr m:val="∑"/>
                            <m:ctrlPr>
                              <a:rPr lang="es-ES" i="1">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m:t>
                            </m:r>
                            <m:r>
                              <a:rPr lang="es-ES" i="1">
                                <a:latin typeface="Cambria Math" panose="02040503050406030204" pitchFamily="18" charset="0"/>
                              </a:rPr>
                              <m:t>1</m:t>
                            </m:r>
                          </m:sub>
                          <m:sup>
                            <m:r>
                              <a:rPr lang="es-ES" i="1">
                                <a:latin typeface="Cambria Math" panose="02040503050406030204" pitchFamily="18" charset="0"/>
                              </a:rPr>
                              <m:t>13</m:t>
                            </m:r>
                          </m:sup>
                          <m:e>
                            <m:sSup>
                              <m:sSupPr>
                                <m:ctrlPr>
                                  <a:rPr lang="es-ES" i="1">
                                    <a:latin typeface="Cambria Math" panose="02040503050406030204" pitchFamily="18" charset="0"/>
                                  </a:rPr>
                                </m:ctrlPr>
                              </m:sSupPr>
                              <m:e>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𝑖</m:t>
                                    </m:r>
                                  </m:sub>
                                </m:sSub>
                                <m:r>
                                  <a:rPr lang="es-ES" i="1">
                                    <a:latin typeface="Cambria Math" panose="02040503050406030204" pitchFamily="18" charset="0"/>
                                  </a:rPr>
                                  <m:t>−</m:t>
                                </m:r>
                                <m:r>
                                  <a:rPr lang="es-ES" i="1">
                                    <a:latin typeface="Cambria Math" panose="02040503050406030204" pitchFamily="18" charset="0"/>
                                  </a:rPr>
                                  <m:t>1980</m:t>
                                </m:r>
                                <m:r>
                                  <a:rPr lang="es-ES" i="1">
                                    <a:latin typeface="Cambria Math" panose="02040503050406030204" pitchFamily="18" charset="0"/>
                                  </a:rPr>
                                  <m:t>)</m:t>
                                </m:r>
                              </m:e>
                              <m:sup>
                                <m:r>
                                  <a:rPr lang="es-ES" i="1">
                                    <a:latin typeface="Cambria Math" panose="02040503050406030204" pitchFamily="18" charset="0"/>
                                  </a:rPr>
                                  <m:t>2</m:t>
                                </m:r>
                              </m:sup>
                            </m:sSup>
                          </m:e>
                        </m:nary>
                      </m:num>
                      <m:den>
                        <m:r>
                          <a:rPr lang="es-ES" b="0" i="1" smtClean="0">
                            <a:latin typeface="Cambria Math" panose="02040503050406030204" pitchFamily="18" charset="0"/>
                          </a:rPr>
                          <m:t>13</m:t>
                        </m:r>
                        <m:r>
                          <a:rPr lang="es-ES" b="0" i="1" smtClean="0">
                            <a:latin typeface="Cambria Math" panose="02040503050406030204" pitchFamily="18" charset="0"/>
                          </a:rPr>
                          <m:t>−</m:t>
                        </m:r>
                        <m:r>
                          <a:rPr lang="es-ES" b="0" i="1" smtClean="0">
                            <a:latin typeface="Cambria Math" panose="02040503050406030204" pitchFamily="18" charset="0"/>
                          </a:rPr>
                          <m:t>1</m:t>
                        </m:r>
                      </m:den>
                    </m:f>
                    <m:r>
                      <a:rPr lang="es-ES" b="0" i="1" smtClean="0">
                        <a:latin typeface="Cambria Math" panose="02040503050406030204" pitchFamily="18" charset="0"/>
                      </a:rPr>
                      <m:t>=</m:t>
                    </m:r>
                    <m:r>
                      <a:rPr lang="es-ES" b="0" i="1" smtClean="0">
                        <a:latin typeface="Cambria Math" panose="02040503050406030204" pitchFamily="18" charset="0"/>
                      </a:rPr>
                      <m:t>379</m:t>
                    </m:r>
                    <m:r>
                      <a:rPr lang="es-ES" b="0" i="1" smtClean="0">
                        <a:latin typeface="Cambria Math" panose="02040503050406030204" pitchFamily="18" charset="0"/>
                      </a:rPr>
                      <m:t>.</m:t>
                    </m:r>
                    <m:r>
                      <a:rPr lang="es-ES" b="0" i="1" smtClean="0">
                        <a:latin typeface="Cambria Math" panose="02040503050406030204" pitchFamily="18" charset="0"/>
                      </a:rPr>
                      <m:t>2</m:t>
                    </m:r>
                    <m:r>
                      <a:rPr lang="es-ES" b="0" i="1" smtClean="0">
                        <a:latin typeface="Cambria Math" panose="02040503050406030204" pitchFamily="18" charset="0"/>
                      </a:rPr>
                      <m:t> </m:t>
                    </m:r>
                  </m:oMath>
                </a14:m>
                <a:r>
                  <a:rPr lang="en-US" dirty="0"/>
                  <a:t> </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𝑥𝑦</m:t>
                        </m:r>
                      </m:sub>
                    </m:sSub>
                    <m:r>
                      <a:rPr lang="es-ES" b="0" i="1" smtClean="0">
                        <a:latin typeface="Cambria Math" panose="02040503050406030204" pitchFamily="18" charset="0"/>
                      </a:rPr>
                      <m:t>=</m:t>
                    </m:r>
                    <m:f>
                      <m:fPr>
                        <m:ctrlPr>
                          <a:rPr lang="es-ES" b="0" i="1" smtClean="0">
                            <a:latin typeface="Cambria Math" panose="02040503050406030204" pitchFamily="18" charset="0"/>
                          </a:rPr>
                        </m:ctrlPr>
                      </m:fPr>
                      <m:num>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m:t>
                            </m:r>
                            <m:r>
                              <a:rPr lang="es-ES" b="0" i="1" smtClean="0">
                                <a:latin typeface="Cambria Math" panose="02040503050406030204" pitchFamily="18" charset="0"/>
                              </a:rPr>
                              <m:t>1</m:t>
                            </m:r>
                          </m:sub>
                          <m:sup>
                            <m:r>
                              <a:rPr lang="es-ES" b="0" i="1" smtClean="0">
                                <a:latin typeface="Cambria Math" panose="02040503050406030204" pitchFamily="18" charset="0"/>
                              </a:rPr>
                              <m:t>13</m:t>
                            </m:r>
                          </m:sup>
                          <m:e>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𝑖</m:t>
                                </m:r>
                              </m:sub>
                            </m:sSub>
                            <m:r>
                              <a:rPr lang="es-ES" b="0" i="1" smtClean="0">
                                <a:latin typeface="Cambria Math" panose="02040503050406030204" pitchFamily="18" charset="0"/>
                              </a:rPr>
                              <m:t>−</m:t>
                            </m:r>
                            <m:r>
                              <a:rPr lang="es-ES" b="0" i="1" smtClean="0">
                                <a:latin typeface="Cambria Math" panose="02040503050406030204" pitchFamily="18" charset="0"/>
                              </a:rPr>
                              <m:t>1980</m:t>
                            </m:r>
                            <m:r>
                              <a:rPr lang="es-ES" i="1">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𝑦</m:t>
                                </m:r>
                              </m:e>
                              <m:sub>
                                <m:r>
                                  <a:rPr lang="es-ES" i="1">
                                    <a:latin typeface="Cambria Math" panose="02040503050406030204" pitchFamily="18" charset="0"/>
                                  </a:rPr>
                                  <m:t>𝑖</m:t>
                                </m:r>
                              </m:sub>
                            </m:sSub>
                            <m:r>
                              <a:rPr lang="es-ES" i="1">
                                <a:latin typeface="Cambria Math" panose="02040503050406030204" pitchFamily="18" charset="0"/>
                              </a:rPr>
                              <m:t>−</m:t>
                            </m:r>
                            <m:r>
                              <a:rPr lang="es-ES" b="0" i="1" smtClean="0">
                                <a:latin typeface="Cambria Math" panose="02040503050406030204" pitchFamily="18" charset="0"/>
                              </a:rPr>
                              <m:t>4558</m:t>
                            </m:r>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m:t>
                            </m:r>
                          </m:e>
                        </m:nary>
                      </m:num>
                      <m:den>
                        <m:r>
                          <a:rPr lang="es-ES" b="0" i="1" smtClean="0">
                            <a:latin typeface="Cambria Math" panose="02040503050406030204" pitchFamily="18" charset="0"/>
                          </a:rPr>
                          <m:t>13</m:t>
                        </m:r>
                        <m:r>
                          <a:rPr lang="es-ES" b="0" i="1" smtClean="0">
                            <a:latin typeface="Cambria Math" panose="02040503050406030204" pitchFamily="18" charset="0"/>
                          </a:rPr>
                          <m:t>−</m:t>
                        </m:r>
                        <m:r>
                          <a:rPr lang="es-ES" b="0" i="1" smtClean="0">
                            <a:latin typeface="Cambria Math" panose="02040503050406030204" pitchFamily="18" charset="0"/>
                          </a:rPr>
                          <m:t>1</m:t>
                        </m:r>
                      </m:den>
                    </m:f>
                    <m:r>
                      <a:rPr lang="es-ES" b="0" i="1" smtClean="0">
                        <a:latin typeface="Cambria Math" panose="02040503050406030204" pitchFamily="18" charset="0"/>
                      </a:rPr>
                      <m:t>=</m:t>
                    </m:r>
                    <m:r>
                      <a:rPr lang="es-ES" b="0" i="1" smtClean="0">
                        <a:latin typeface="Cambria Math" panose="02040503050406030204" pitchFamily="18" charset="0"/>
                      </a:rPr>
                      <m:t>28104</m:t>
                    </m:r>
                    <m:r>
                      <a:rPr lang="es-ES" b="0" i="1" smtClean="0">
                        <a:latin typeface="Cambria Math" panose="02040503050406030204" pitchFamily="18" charset="0"/>
                      </a:rPr>
                      <m:t>.</m:t>
                    </m:r>
                    <m:r>
                      <a:rPr lang="es-ES" b="0" i="1" smtClean="0">
                        <a:latin typeface="Cambria Math" panose="02040503050406030204" pitchFamily="18" charset="0"/>
                      </a:rPr>
                      <m:t>2</m:t>
                    </m:r>
                  </m:oMath>
                </a14:m>
                <a:endParaRPr lang="en-US" dirty="0">
                  <a:highlight>
                    <a:srgbClr val="FFFF00"/>
                  </a:highlight>
                </a:endParaRPr>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𝑏</m:t>
                        </m:r>
                      </m:e>
                      <m:sub>
                        <m:r>
                          <a:rPr lang="es-ES" b="0" i="1" smtClean="0">
                            <a:latin typeface="Cambria Math" panose="02040503050406030204" pitchFamily="18" charset="0"/>
                          </a:rPr>
                          <m:t>1</m:t>
                        </m:r>
                      </m:sub>
                    </m:sSub>
                    <m:r>
                      <a:rPr lang="es-ES" b="0" i="1" smtClean="0">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es-ES" i="1">
                                <a:latin typeface="Cambria Math" panose="02040503050406030204" pitchFamily="18" charset="0"/>
                              </a:rPr>
                              <m:t>𝑠</m:t>
                            </m:r>
                          </m:e>
                          <m:sub>
                            <m:r>
                              <a:rPr lang="ar-AE" i="1">
                                <a:latin typeface="Cambria Math" panose="02040503050406030204" pitchFamily="18" charset="0"/>
                              </a:rPr>
                              <m:t>𝑥𝑦</m:t>
                            </m:r>
                          </m:sub>
                        </m:sSub>
                      </m:num>
                      <m:den>
                        <m:sSubSup>
                          <m:sSubSupPr>
                            <m:ctrlPr>
                              <a:rPr lang="ar-AE"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𝑥</m:t>
                            </m:r>
                          </m:sub>
                          <m:sup>
                            <m:r>
                              <a:rPr lang="es-ES" i="1">
                                <a:latin typeface="Cambria Math" panose="02040503050406030204" pitchFamily="18" charset="0"/>
                              </a:rPr>
                              <m:t>2</m:t>
                            </m:r>
                          </m:sup>
                        </m:sSubSup>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28104</m:t>
                        </m:r>
                        <m:r>
                          <a:rPr lang="es-ES" b="0" i="1" smtClean="0">
                            <a:latin typeface="Cambria Math" panose="02040503050406030204" pitchFamily="18" charset="0"/>
                          </a:rPr>
                          <m:t>.</m:t>
                        </m:r>
                        <m:r>
                          <a:rPr lang="es-ES" b="0" i="1" smtClean="0">
                            <a:latin typeface="Cambria Math" panose="02040503050406030204" pitchFamily="18" charset="0"/>
                          </a:rPr>
                          <m:t>2</m:t>
                        </m:r>
                      </m:num>
                      <m:den>
                        <m:r>
                          <a:rPr lang="es-ES" b="0" i="1" smtClean="0">
                            <a:latin typeface="Cambria Math" panose="02040503050406030204" pitchFamily="18" charset="0"/>
                          </a:rPr>
                          <m:t>379</m:t>
                        </m:r>
                        <m:r>
                          <a:rPr lang="es-ES" b="0" i="1" smtClean="0">
                            <a:latin typeface="Cambria Math" panose="02040503050406030204" pitchFamily="18" charset="0"/>
                          </a:rPr>
                          <m:t>.</m:t>
                        </m:r>
                        <m:r>
                          <a:rPr lang="es-ES" b="0" i="1" smtClean="0">
                            <a:latin typeface="Cambria Math" panose="02040503050406030204" pitchFamily="18" charset="0"/>
                          </a:rPr>
                          <m:t>2</m:t>
                        </m:r>
                      </m:den>
                    </m:f>
                    <m:r>
                      <a:rPr lang="es-ES" b="0" i="1" smtClean="0">
                        <a:latin typeface="Cambria Math" panose="02040503050406030204" pitchFamily="18" charset="0"/>
                      </a:rPr>
                      <m:t>=</m:t>
                    </m:r>
                    <m:r>
                      <a:rPr lang="es-ES" b="0" i="1" smtClean="0">
                        <a:latin typeface="Cambria Math" panose="02040503050406030204" pitchFamily="18" charset="0"/>
                      </a:rPr>
                      <m:t>74</m:t>
                    </m:r>
                    <m:r>
                      <a:rPr lang="es-ES" b="0" i="1" smtClean="0">
                        <a:latin typeface="Cambria Math" panose="02040503050406030204" pitchFamily="18" charset="0"/>
                      </a:rPr>
                      <m:t>.</m:t>
                    </m:r>
                    <m:r>
                      <a:rPr lang="es-ES" b="0" i="1" smtClean="0">
                        <a:latin typeface="Cambria Math" panose="02040503050406030204" pitchFamily="18" charset="0"/>
                      </a:rPr>
                      <m:t>1</m:t>
                    </m:r>
                  </m:oMath>
                </a14:m>
                <a:endParaRPr lang="en-US" dirty="0"/>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𝑏</m:t>
                        </m:r>
                      </m:e>
                      <m:sub>
                        <m:r>
                          <a:rPr lang="es-ES" b="0" i="1" smtClean="0">
                            <a:latin typeface="Cambria Math" panose="02040503050406030204" pitchFamily="18" charset="0"/>
                          </a:rPr>
                          <m:t>0</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𝑦</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𝑏</m:t>
                        </m:r>
                      </m:e>
                      <m:sub>
                        <m:r>
                          <a:rPr lang="es-ES" b="0" i="1" smtClean="0">
                            <a:latin typeface="Cambria Math" panose="02040503050406030204" pitchFamily="18" charset="0"/>
                          </a:rPr>
                          <m:t>1</m:t>
                        </m:r>
                      </m:sub>
                    </m:sSub>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r>
                      <a:rPr lang="es-ES" b="0" i="1" smtClean="0">
                        <a:latin typeface="Cambria Math" panose="02040503050406030204" pitchFamily="18" charset="0"/>
                      </a:rPr>
                      <m:t>4558</m:t>
                    </m:r>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74</m:t>
                        </m:r>
                        <m:r>
                          <a:rPr lang="es-ES" b="0" i="1" smtClean="0">
                            <a:latin typeface="Cambria Math" panose="02040503050406030204" pitchFamily="18" charset="0"/>
                          </a:rPr>
                          <m:t>.</m:t>
                        </m:r>
                        <m:r>
                          <a:rPr lang="es-ES" b="0" i="1" smtClean="0">
                            <a:latin typeface="Cambria Math" panose="02040503050406030204" pitchFamily="18" charset="0"/>
                          </a:rPr>
                          <m:t>1</m:t>
                        </m:r>
                      </m:e>
                    </m:d>
                    <m:d>
                      <m:dPr>
                        <m:ctrlPr>
                          <a:rPr lang="es-ES" b="0" i="1" smtClean="0">
                            <a:latin typeface="Cambria Math" panose="02040503050406030204" pitchFamily="18" charset="0"/>
                          </a:rPr>
                        </m:ctrlPr>
                      </m:dPr>
                      <m:e>
                        <m:r>
                          <a:rPr lang="es-ES" b="0" i="1" smtClean="0">
                            <a:latin typeface="Cambria Math" panose="02040503050406030204" pitchFamily="18" charset="0"/>
                          </a:rPr>
                          <m:t>1980</m:t>
                        </m:r>
                      </m:e>
                    </m:d>
                    <m:r>
                      <a:rPr lang="es-ES" b="0" i="1" smtClean="0">
                        <a:latin typeface="Cambria Math" panose="02040503050406030204" pitchFamily="18" charset="0"/>
                      </a:rPr>
                      <m:t>=−</m:t>
                    </m:r>
                    <m:r>
                      <a:rPr lang="es-ES" b="0" i="1" smtClean="0">
                        <a:latin typeface="Cambria Math" panose="02040503050406030204" pitchFamily="18" charset="0"/>
                      </a:rPr>
                      <m:t>142201</m:t>
                    </m:r>
                  </m:oMath>
                </a14:m>
                <a:endParaRPr lang="es-ES" dirty="0"/>
              </a:p>
              <a:p>
                <a14:m>
                  <m:oMath xmlns:m="http://schemas.openxmlformats.org/officeDocument/2006/math">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𝑦</m:t>
                        </m:r>
                      </m:e>
                    </m:acc>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𝐺</m:t>
                        </m:r>
                      </m:e>
                    </m:acc>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𝑏</m:t>
                        </m:r>
                      </m:e>
                      <m:sub>
                        <m:r>
                          <a:rPr lang="es-ES" b="0" i="1" smtClean="0">
                            <a:latin typeface="Cambria Math" panose="02040503050406030204" pitchFamily="18" charset="0"/>
                          </a:rPr>
                          <m:t>0</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𝑏</m:t>
                        </m:r>
                      </m:e>
                      <m:sub>
                        <m:r>
                          <a:rPr lang="es-ES" b="0" i="1" smtClean="0">
                            <a:latin typeface="Cambria Math" panose="02040503050406030204" pitchFamily="18" charset="0"/>
                          </a:rPr>
                          <m:t>1</m:t>
                        </m:r>
                      </m:sub>
                    </m:sSub>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142201</m:t>
                    </m:r>
                    <m:r>
                      <a:rPr lang="es-ES" b="0" i="1" smtClean="0">
                        <a:latin typeface="Cambria Math" panose="02040503050406030204" pitchFamily="18" charset="0"/>
                      </a:rPr>
                      <m:t>+</m:t>
                    </m:r>
                    <m:r>
                      <a:rPr lang="es-ES" b="0" i="1" smtClean="0">
                        <a:latin typeface="Cambria Math" panose="02040503050406030204" pitchFamily="18" charset="0"/>
                      </a:rPr>
                      <m:t>74</m:t>
                    </m:r>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𝑥</m:t>
                    </m:r>
                  </m:oMath>
                </a14:m>
                <a:endParaRPr lang="en-US" dirty="0"/>
              </a:p>
              <a:p>
                <a14:m>
                  <m:oMath xmlns:m="http://schemas.openxmlformats.org/officeDocument/2006/math">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𝐺</m:t>
                        </m:r>
                      </m:e>
                    </m:acc>
                    <m:d>
                      <m:dPr>
                        <m:ctrlPr>
                          <a:rPr lang="es-ES" b="0" i="1" smtClean="0">
                            <a:latin typeface="Cambria Math" panose="02040503050406030204" pitchFamily="18" charset="0"/>
                          </a:rPr>
                        </m:ctrlPr>
                      </m:dPr>
                      <m:e>
                        <m:r>
                          <a:rPr lang="es-ES" b="0" i="1" smtClean="0">
                            <a:latin typeface="Cambria Math" panose="02040503050406030204" pitchFamily="18" charset="0"/>
                          </a:rPr>
                          <m:t>2015</m:t>
                        </m:r>
                      </m:e>
                    </m:d>
                    <m:r>
                      <a:rPr lang="es-ES" b="0" i="1" smtClean="0">
                        <a:latin typeface="Cambria Math" panose="02040503050406030204" pitchFamily="18" charset="0"/>
                      </a:rPr>
                      <m:t>=−</m:t>
                    </m:r>
                    <m:r>
                      <a:rPr lang="es-ES" b="0" i="1" smtClean="0">
                        <a:latin typeface="Cambria Math" panose="02040503050406030204" pitchFamily="18" charset="0"/>
                      </a:rPr>
                      <m:t>142201</m:t>
                    </m:r>
                    <m:r>
                      <a:rPr lang="es-ES" b="0" i="1" smtClean="0">
                        <a:latin typeface="Cambria Math" panose="02040503050406030204" pitchFamily="18" charset="0"/>
                      </a:rPr>
                      <m:t>+</m:t>
                    </m:r>
                    <m:r>
                      <a:rPr lang="es-ES" b="0" i="1" smtClean="0">
                        <a:latin typeface="Cambria Math" panose="02040503050406030204" pitchFamily="18" charset="0"/>
                      </a:rPr>
                      <m:t>74</m:t>
                    </m:r>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2015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7152</m:t>
                    </m:r>
                    <m:r>
                      <a:rPr lang="es-ES" b="0" i="1"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millones</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de</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personas</m:t>
                    </m:r>
                  </m:oMath>
                </a14:m>
                <a:endParaRPr lang="en-US" dirty="0"/>
              </a:p>
              <a:p>
                <a14:m>
                  <m:oMath xmlns:m="http://schemas.openxmlformats.org/officeDocument/2006/math">
                    <m:acc>
                      <m:accPr>
                        <m:chr m:val="̂"/>
                        <m:ctrlPr>
                          <a:rPr lang="es-ES" i="1">
                            <a:latin typeface="Cambria Math" panose="02040503050406030204" pitchFamily="18" charset="0"/>
                          </a:rPr>
                        </m:ctrlPr>
                      </m:accPr>
                      <m:e>
                        <m:r>
                          <a:rPr lang="es-ES" i="1">
                            <a:latin typeface="Cambria Math" panose="02040503050406030204" pitchFamily="18" charset="0"/>
                          </a:rPr>
                          <m:t>𝐺</m:t>
                        </m:r>
                      </m:e>
                    </m:acc>
                    <m:d>
                      <m:dPr>
                        <m:ctrlPr>
                          <a:rPr lang="es-ES" i="1">
                            <a:latin typeface="Cambria Math" panose="02040503050406030204" pitchFamily="18" charset="0"/>
                          </a:rPr>
                        </m:ctrlPr>
                      </m:dPr>
                      <m:e>
                        <m:r>
                          <a:rPr lang="es-ES" i="1">
                            <a:latin typeface="Cambria Math" panose="02040503050406030204" pitchFamily="18" charset="0"/>
                          </a:rPr>
                          <m:t>20</m:t>
                        </m:r>
                        <m:r>
                          <a:rPr lang="es-ES" b="0" i="1" smtClean="0">
                            <a:latin typeface="Cambria Math" panose="02040503050406030204" pitchFamily="18" charset="0"/>
                          </a:rPr>
                          <m:t>20</m:t>
                        </m:r>
                      </m:e>
                    </m:d>
                    <m:r>
                      <a:rPr lang="es-ES" i="1">
                        <a:latin typeface="Cambria Math" panose="02040503050406030204" pitchFamily="18" charset="0"/>
                      </a:rPr>
                      <m:t>=−</m:t>
                    </m:r>
                    <m:r>
                      <a:rPr lang="es-ES" i="1">
                        <a:latin typeface="Cambria Math" panose="02040503050406030204" pitchFamily="18" charset="0"/>
                      </a:rPr>
                      <m:t>142201</m:t>
                    </m:r>
                    <m:r>
                      <a:rPr lang="es-ES" i="1">
                        <a:latin typeface="Cambria Math" panose="02040503050406030204" pitchFamily="18" charset="0"/>
                      </a:rPr>
                      <m:t>+</m:t>
                    </m:r>
                    <m:r>
                      <a:rPr lang="es-ES" i="1">
                        <a:latin typeface="Cambria Math" panose="02040503050406030204" pitchFamily="18" charset="0"/>
                      </a:rPr>
                      <m:t>74</m:t>
                    </m:r>
                    <m:r>
                      <a:rPr lang="es-ES" i="1">
                        <a:latin typeface="Cambria Math" panose="02040503050406030204" pitchFamily="18" charset="0"/>
                      </a:rPr>
                      <m:t>.</m:t>
                    </m:r>
                    <m:r>
                      <a:rPr lang="es-ES" i="1">
                        <a:latin typeface="Cambria Math" panose="02040503050406030204" pitchFamily="18" charset="0"/>
                      </a:rPr>
                      <m:t>1</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2020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7523</m:t>
                    </m:r>
                    <m:r>
                      <a:rPr lang="es-ES" i="1">
                        <a:latin typeface="Cambria Math" panose="02040503050406030204" pitchFamily="18" charset="0"/>
                        <a:ea typeface="Cambria Math" panose="02040503050406030204" pitchFamily="18" charset="0"/>
                      </a:rPr>
                      <m:t> </m:t>
                    </m:r>
                    <m:r>
                      <m:rPr>
                        <m:nor/>
                      </m:rPr>
                      <a:rPr lang="es-ES">
                        <a:latin typeface="Cambria Math" panose="02040503050406030204" pitchFamily="18" charset="0"/>
                        <a:ea typeface="Cambria Math" panose="02040503050406030204" pitchFamily="18" charset="0"/>
                      </a:rPr>
                      <m:t>mill</m:t>
                    </m:r>
                    <m:r>
                      <m:rPr>
                        <m:nor/>
                      </m:rPr>
                      <a:rPr lang="es-ES" b="0" i="0" smtClean="0">
                        <a:latin typeface="Cambria Math" panose="02040503050406030204" pitchFamily="18" charset="0"/>
                        <a:ea typeface="Cambria Math" panose="02040503050406030204" pitchFamily="18" charset="0"/>
                      </a:rPr>
                      <m:t>ones</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de</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personas</m:t>
                    </m:r>
                  </m:oMath>
                </a14:m>
                <a:endParaRPr lang="en-US" dirty="0"/>
              </a:p>
            </p:txBody>
          </p:sp>
        </mc:Choice>
        <mc:Fallback xmlns="">
          <p:sp>
            <p:nvSpPr>
              <p:cNvPr id="3" name="Marcador de contenido 2">
                <a:extLst>
                  <a:ext uri="{FF2B5EF4-FFF2-40B4-BE49-F238E27FC236}">
                    <a16:creationId xmlns:a16="http://schemas.microsoft.com/office/drawing/2014/main" id="{67DFB296-932E-404E-2143-1A02EE478CFC}"/>
                  </a:ext>
                </a:extLst>
              </p:cNvPr>
              <p:cNvSpPr>
                <a:spLocks noGrp="1" noRot="1" noChangeAspect="1" noMove="1" noResize="1" noEditPoints="1" noAdjustHandles="1" noChangeArrowheads="1" noChangeShapeType="1" noTextEdit="1"/>
              </p:cNvSpPr>
              <p:nvPr>
                <p:ph idx="1"/>
              </p:nvPr>
            </p:nvSpPr>
            <p:spPr>
              <a:xfrm>
                <a:off x="838200" y="1825624"/>
                <a:ext cx="10515600" cy="5184776"/>
              </a:xfrm>
              <a:blipFill>
                <a:blip r:embed="rId3"/>
                <a:stretch>
                  <a:fillRect l="-174" t="-353"/>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A32011D8-EF88-7A5D-AC3E-F7BA0D2F6475}"/>
              </a:ext>
            </a:extLst>
          </p:cNvPr>
          <p:cNvSpPr>
            <a:spLocks noGrp="1"/>
          </p:cNvSpPr>
          <p:nvPr>
            <p:ph type="sldNum" sz="quarter" idx="12"/>
          </p:nvPr>
        </p:nvSpPr>
        <p:spPr/>
        <p:txBody>
          <a:bodyPr/>
          <a:lstStyle/>
          <a:p>
            <a:fld id="{336CAFD0-1F6E-4E11-9822-836563A02839}" type="slidenum">
              <a:rPr lang="es-ES" smtClean="0"/>
              <a:pPr/>
              <a:t>18</a:t>
            </a:fld>
            <a:endParaRPr lang="es-ES" dirty="0"/>
          </a:p>
        </p:txBody>
      </p:sp>
    </p:spTree>
    <p:extLst>
      <p:ext uri="{BB962C8B-B14F-4D97-AF65-F5344CB8AC3E}">
        <p14:creationId xmlns:p14="http://schemas.microsoft.com/office/powerpoint/2010/main" val="3659453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BC7853-1FC7-7B9A-C140-16C323EBDBB8}"/>
              </a:ext>
            </a:extLst>
          </p:cNvPr>
          <p:cNvSpPr>
            <a:spLocks noGrp="1"/>
          </p:cNvSpPr>
          <p:nvPr>
            <p:ph type="title"/>
          </p:nvPr>
        </p:nvSpPr>
        <p:spPr/>
        <p:txBody>
          <a:bodyPr/>
          <a:lstStyle/>
          <a:p>
            <a:r>
              <a:rPr lang="es-ES" dirty="0"/>
              <a:t>5. Regresión lineal simple</a:t>
            </a:r>
            <a:br>
              <a:rPr lang="es-ES" dirty="0"/>
            </a:br>
            <a:r>
              <a:rPr dirty="0" err="1"/>
              <a:t>Coeficiente</a:t>
            </a:r>
            <a:r>
              <a:rPr dirty="0"/>
              <a:t> de </a:t>
            </a:r>
            <a:r>
              <a:rPr dirty="0" err="1"/>
              <a:t>determinación</a:t>
            </a:r>
            <a:r>
              <a:rPr dirty="0"/>
              <a:t> (</a:t>
            </a:r>
            <a:r>
              <a:rPr lang="es-ES" dirty="0"/>
              <a:t>R-cuadrado</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99E49E7-19DB-E4C8-D0D4-E5B054043335}"/>
                  </a:ext>
                </a:extLst>
              </p:cNvPr>
              <p:cNvSpPr>
                <a:spLocks noGrp="1"/>
              </p:cNvSpPr>
              <p:nvPr>
                <p:ph idx="1"/>
              </p:nvPr>
            </p:nvSpPr>
            <p:spPr/>
            <p:txBody>
              <a:bodyPr>
                <a:normAutofit fontScale="85000" lnSpcReduction="20000"/>
              </a:bodyPr>
              <a:lstStyle/>
              <a:p>
                <a:r>
                  <a:rPr lang="es-ES" dirty="0"/>
                  <a:t>El coeficiente de determinación (denominado R-cuadrado o R</a:t>
                </a:r>
                <a:r>
                  <a:rPr lang="es-ES" baseline="30000" dirty="0"/>
                  <a:t>2</a:t>
                </a:r>
                <a:r>
                  <a:rPr lang="es-ES" dirty="0"/>
                  <a:t>) indica la calidad del modelo de regresión</a:t>
                </a:r>
              </a:p>
              <a:p>
                <a:r>
                  <a:rPr lang="es-ES" dirty="0"/>
                  <a:t>Tiene un valor entre 0 y 1, y valores altos que generalmente sugieren un buen ajuste del modelo.</a:t>
                </a:r>
              </a:p>
              <a:p>
                <a:r>
                  <a:rPr lang="es-ES" dirty="0"/>
                  <a:t>En la regresión lineal simple, el coeficiente de determinación es igual al coeficiente de correlación </a:t>
                </a:r>
                <a:r>
                  <a:rPr lang="es-ES" dirty="0" err="1"/>
                  <a:t>muestral</a:t>
                </a:r>
                <a:r>
                  <a:rPr lang="es-ES" dirty="0"/>
                  <a:t> elevado al cuadrado</a:t>
                </a:r>
              </a:p>
              <a:p>
                <a:pPr lvl="1"/>
                <a14:m>
                  <m:oMath xmlns:m="http://schemas.openxmlformats.org/officeDocument/2006/math">
                    <m:sSup>
                      <m:sSupPr>
                        <m:ctrlPr>
                          <a:rPr lang="es-ES" b="0" i="1" smtClean="0">
                            <a:latin typeface="Cambria Math" panose="02040503050406030204" pitchFamily="18" charset="0"/>
                          </a:rPr>
                        </m:ctrlPr>
                      </m:sSupPr>
                      <m:e>
                        <m:r>
                          <a:rPr lang="es-ES" b="0" i="1" smtClean="0">
                            <a:latin typeface="Cambria Math" panose="02040503050406030204" pitchFamily="18" charset="0"/>
                          </a:rPr>
                          <m:t>𝑅</m:t>
                        </m:r>
                      </m:e>
                      <m:sup>
                        <m:r>
                          <a:rPr lang="es-ES" b="0" i="1" smtClean="0">
                            <a:latin typeface="Cambria Math" panose="02040503050406030204" pitchFamily="18" charset="0"/>
                          </a:rPr>
                          <m:t>2</m:t>
                        </m:r>
                      </m:sup>
                    </m:sSup>
                    <m:r>
                      <a:rPr lang="es-ES" b="0" i="1" smtClean="0">
                        <a:latin typeface="Cambria Math" panose="02040503050406030204" pitchFamily="18" charset="0"/>
                      </a:rPr>
                      <m:t>=</m:t>
                    </m:r>
                    <m:sSup>
                      <m:sSupPr>
                        <m:ctrlPr>
                          <a:rPr lang="ar-AE" b="0" i="1" smtClean="0">
                            <a:latin typeface="Cambria Math" panose="02040503050406030204" pitchFamily="18" charset="0"/>
                          </a:rPr>
                        </m:ctrlPr>
                      </m:sSupPr>
                      <m:e>
                        <m:r>
                          <a:rPr lang="ar-AE" b="0" i="1" smtClean="0">
                            <a:latin typeface="Cambria Math" panose="02040503050406030204" pitchFamily="18" charset="0"/>
                          </a:rPr>
                          <m:t>𝑟</m:t>
                        </m:r>
                      </m:e>
                      <m:sup>
                        <m:r>
                          <a:rPr lang="ar-AE" b="0" i="1" smtClean="0">
                            <a:latin typeface="Cambria Math" panose="02040503050406030204" pitchFamily="18" charset="0"/>
                          </a:rPr>
                          <m:t>2</m:t>
                        </m:r>
                      </m:sup>
                    </m:sSup>
                  </m:oMath>
                </a14:m>
                <a:endParaRPr lang="ar-AE" dirty="0"/>
              </a:p>
              <a:p>
                <a:r>
                  <a:rPr lang="es-ES" dirty="0" err="1"/>
                  <a:t>Ejemplo</a:t>
                </a:r>
                <a:r>
                  <a:rPr lang="es-ES" dirty="0"/>
                  <a:t> 11.3</a:t>
                </a:r>
              </a:p>
              <a:p>
                <a:pPr lvl="1"/>
                <a14:m>
                  <m:oMath xmlns:m="http://schemas.openxmlformats.org/officeDocument/2006/math">
                    <m:sSup>
                      <m:sSupPr>
                        <m:ctrlPr>
                          <a:rPr lang="ar-AE" i="1" smtClean="0">
                            <a:latin typeface="Cambria Math" panose="02040503050406030204" pitchFamily="18" charset="0"/>
                          </a:rPr>
                        </m:ctrlPr>
                      </m:sSupPr>
                      <m:e>
                        <m:r>
                          <a:rPr lang="ar-AE" b="0" i="1" smtClean="0">
                            <a:latin typeface="Cambria Math" panose="02040503050406030204" pitchFamily="18" charset="0"/>
                          </a:rPr>
                          <m:t>𝑅</m:t>
                        </m:r>
                      </m:e>
                      <m:sup>
                        <m:r>
                          <a:rPr lang="ar-AE" b="0" i="1" smtClean="0">
                            <a:latin typeface="Cambria Math" panose="02040503050406030204" pitchFamily="18" charset="0"/>
                          </a:rPr>
                          <m:t>2</m:t>
                        </m:r>
                      </m:sup>
                    </m:sSup>
                    <m:r>
                      <a:rPr lang="ar-AE" b="0" i="1" smtClean="0">
                        <a:latin typeface="Cambria Math" panose="02040503050406030204" pitchFamily="18" charset="0"/>
                      </a:rPr>
                      <m:t>=</m:t>
                    </m:r>
                    <m:sSup>
                      <m:sSupPr>
                        <m:ctrlPr>
                          <a:rPr lang="ar-AE" b="0" i="1" smtClean="0">
                            <a:latin typeface="Cambria Math" panose="02040503050406030204" pitchFamily="18" charset="0"/>
                          </a:rPr>
                        </m:ctrlPr>
                      </m:sSupPr>
                      <m:e>
                        <m:r>
                          <a:rPr lang="ar-AE" b="0" i="1" smtClean="0">
                            <a:latin typeface="Cambria Math" panose="02040503050406030204" pitchFamily="18" charset="0"/>
                          </a:rPr>
                          <m:t>𝑟</m:t>
                        </m:r>
                      </m:e>
                      <m:sup>
                        <m:r>
                          <a:rPr lang="ar-AE" b="0" i="1" smtClean="0">
                            <a:latin typeface="Cambria Math" panose="02040503050406030204" pitchFamily="18" charset="0"/>
                          </a:rPr>
                          <m:t>2</m:t>
                        </m:r>
                      </m:sup>
                    </m:sSup>
                    <m:r>
                      <a:rPr lang="es-ES" b="0" i="1" smtClean="0">
                        <a:latin typeface="Cambria Math" panose="02040503050406030204" pitchFamily="18" charset="0"/>
                      </a:rPr>
                      <m:t>=</m:t>
                    </m:r>
                    <m:f>
                      <m:fPr>
                        <m:ctrlPr>
                          <a:rPr lang="ar-AE" i="1">
                            <a:latin typeface="Cambria Math" panose="02040503050406030204" pitchFamily="18" charset="0"/>
                          </a:rPr>
                        </m:ctrlPr>
                      </m:fPr>
                      <m:num>
                        <m:sSup>
                          <m:sSupPr>
                            <m:ctrlPr>
                              <a:rPr lang="es-ES" b="0" i="1" smtClean="0">
                                <a:latin typeface="Cambria Math" panose="02040503050406030204" pitchFamily="18" charset="0"/>
                              </a:rPr>
                            </m:ctrlPr>
                          </m:sSupPr>
                          <m:e>
                            <m:sSub>
                              <m:sSubPr>
                                <m:ctrlPr>
                                  <a:rPr lang="ar-AE" i="1">
                                    <a:latin typeface="Cambria Math" panose="02040503050406030204" pitchFamily="18" charset="0"/>
                                  </a:rPr>
                                </m:ctrlPr>
                              </m:sSubPr>
                              <m:e>
                                <m:r>
                                  <a:rPr lang="es-ES" i="1">
                                    <a:latin typeface="Cambria Math" panose="02040503050406030204" pitchFamily="18" charset="0"/>
                                  </a:rPr>
                                  <m:t>(</m:t>
                                </m:r>
                                <m:r>
                                  <a:rPr lang="es-ES" i="1">
                                    <a:latin typeface="Cambria Math" panose="02040503050406030204" pitchFamily="18" charset="0"/>
                                  </a:rPr>
                                  <m:t>𝑠</m:t>
                                </m:r>
                              </m:e>
                              <m:sub>
                                <m:r>
                                  <a:rPr lang="ar-AE" i="1">
                                    <a:latin typeface="Cambria Math" panose="02040503050406030204" pitchFamily="18" charset="0"/>
                                  </a:rPr>
                                  <m:t>𝑥𝑦</m:t>
                                </m:r>
                              </m:sub>
                            </m:sSub>
                            <m:r>
                              <a:rPr lang="es-ES" i="1">
                                <a:latin typeface="Cambria Math" panose="02040503050406030204" pitchFamily="18" charset="0"/>
                              </a:rPr>
                              <m:t>)</m:t>
                            </m:r>
                          </m:e>
                          <m:sup>
                            <m:r>
                              <a:rPr lang="es-ES" b="0" i="1" smtClean="0">
                                <a:latin typeface="Cambria Math" panose="02040503050406030204" pitchFamily="18" charset="0"/>
                              </a:rPr>
                              <m:t>2</m:t>
                            </m:r>
                          </m:sup>
                        </m:sSup>
                      </m:num>
                      <m:den>
                        <m:sSubSup>
                          <m:sSubSupPr>
                            <m:ctrlPr>
                              <a:rPr lang="ar-AE"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𝑥</m:t>
                            </m:r>
                          </m:sub>
                          <m:sup>
                            <m:r>
                              <a:rPr lang="es-ES" i="1">
                                <a:latin typeface="Cambria Math" panose="02040503050406030204" pitchFamily="18" charset="0"/>
                              </a:rPr>
                              <m:t>2</m:t>
                            </m:r>
                          </m:sup>
                        </m:sSubSup>
                        <m:sSubSup>
                          <m:sSubSupPr>
                            <m:ctrlPr>
                              <a:rPr lang="ar-AE" i="1">
                                <a:latin typeface="Cambria Math" panose="02040503050406030204" pitchFamily="18" charset="0"/>
                              </a:rPr>
                            </m:ctrlPr>
                          </m:sSubSupPr>
                          <m:e>
                            <m:r>
                              <a:rPr lang="es-ES" i="1">
                                <a:latin typeface="Cambria Math" panose="02040503050406030204" pitchFamily="18" charset="0"/>
                              </a:rPr>
                              <m:t>𝑠</m:t>
                            </m:r>
                          </m:e>
                          <m:sub>
                            <m:r>
                              <a:rPr lang="es-ES" b="0" i="1" smtClean="0">
                                <a:latin typeface="Cambria Math" panose="02040503050406030204" pitchFamily="18" charset="0"/>
                              </a:rPr>
                              <m:t>𝑦</m:t>
                            </m:r>
                          </m:sub>
                          <m:sup>
                            <m:r>
                              <a:rPr lang="es-ES" i="1">
                                <a:latin typeface="Cambria Math" panose="02040503050406030204" pitchFamily="18" charset="0"/>
                              </a:rPr>
                              <m:t>2</m:t>
                            </m:r>
                          </m:sup>
                        </m:sSubSup>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sSup>
                          <m:sSupPr>
                            <m:ctrlPr>
                              <a:rPr lang="es-ES" b="0" i="1" smtClean="0">
                                <a:latin typeface="Cambria Math" panose="02040503050406030204" pitchFamily="18" charset="0"/>
                              </a:rPr>
                            </m:ctrlPr>
                          </m:sSupPr>
                          <m:e>
                            <m:r>
                              <a:rPr lang="es-ES" b="0" i="1" smtClean="0">
                                <a:latin typeface="Cambria Math" panose="02040503050406030204" pitchFamily="18" charset="0"/>
                              </a:rPr>
                              <m:t>(</m:t>
                            </m:r>
                            <m:r>
                              <a:rPr lang="es-ES" i="1">
                                <a:latin typeface="Cambria Math" panose="02040503050406030204" pitchFamily="18" charset="0"/>
                              </a:rPr>
                              <m:t>28104</m:t>
                            </m:r>
                            <m:r>
                              <a:rPr lang="es-ES" i="1">
                                <a:latin typeface="Cambria Math" panose="02040503050406030204" pitchFamily="18" charset="0"/>
                              </a:rPr>
                              <m:t>.</m:t>
                            </m:r>
                            <m:r>
                              <a:rPr lang="es-ES" i="1">
                                <a:latin typeface="Cambria Math" panose="02040503050406030204" pitchFamily="18" charset="0"/>
                              </a:rPr>
                              <m:t>2</m:t>
                            </m:r>
                            <m:r>
                              <a:rPr lang="es-ES" b="0" i="1" smtClean="0">
                                <a:latin typeface="Cambria Math" panose="02040503050406030204" pitchFamily="18" charset="0"/>
                              </a:rPr>
                              <m:t>)</m:t>
                            </m:r>
                          </m:e>
                          <m:sup>
                            <m:r>
                              <a:rPr lang="es-ES" b="0" i="1" smtClean="0">
                                <a:latin typeface="Cambria Math" panose="02040503050406030204" pitchFamily="18" charset="0"/>
                              </a:rPr>
                              <m:t>2</m:t>
                            </m:r>
                          </m:sup>
                        </m:sSup>
                      </m:num>
                      <m:den>
                        <m:r>
                          <a:rPr lang="es-ES" b="0" i="1" smtClean="0">
                            <a:latin typeface="Cambria Math" panose="02040503050406030204" pitchFamily="18" charset="0"/>
                          </a:rPr>
                          <m:t>(</m:t>
                        </m:r>
                        <m:r>
                          <a:rPr lang="es-ES" i="1">
                            <a:latin typeface="Cambria Math" panose="02040503050406030204" pitchFamily="18" charset="0"/>
                          </a:rPr>
                          <m:t>379</m:t>
                        </m:r>
                        <m:r>
                          <a:rPr lang="es-ES" i="1">
                            <a:latin typeface="Cambria Math" panose="02040503050406030204" pitchFamily="18" charset="0"/>
                          </a:rPr>
                          <m:t>.</m:t>
                        </m:r>
                        <m:r>
                          <a:rPr lang="es-ES" i="1">
                            <a:latin typeface="Cambria Math" panose="02040503050406030204" pitchFamily="18" charset="0"/>
                          </a:rPr>
                          <m:t>2</m:t>
                        </m:r>
                        <m:r>
                          <a:rPr lang="es-ES" b="0" i="1" smtClean="0">
                            <a:latin typeface="Cambria Math" panose="02040503050406030204" pitchFamily="18" charset="0"/>
                          </a:rPr>
                          <m:t>)(</m:t>
                        </m:r>
                        <m:r>
                          <a:rPr lang="es-ES" b="0" i="1" smtClean="0">
                            <a:latin typeface="Cambria Math" panose="02040503050406030204" pitchFamily="18" charset="0"/>
                          </a:rPr>
                          <m:t>2092943</m:t>
                        </m:r>
                        <m:r>
                          <a:rPr lang="es-ES" b="0" i="1" smtClean="0">
                            <a:latin typeface="Cambria Math" panose="02040503050406030204" pitchFamily="18" charset="0"/>
                          </a:rPr>
                          <m:t>)</m:t>
                        </m:r>
                      </m:den>
                    </m:f>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995</m:t>
                    </m:r>
                    <m:r>
                      <a:rPr lang="ar-AE" b="0" i="1" smtClean="0">
                        <a:latin typeface="Cambria Math" panose="02040503050406030204" pitchFamily="18" charset="0"/>
                      </a:rPr>
                      <m:t> </m:t>
                    </m:r>
                    <m:r>
                      <m:rPr>
                        <m:nor/>
                      </m:rPr>
                      <a:rPr lang="es-ES" b="0" i="0" smtClean="0">
                        <a:latin typeface="Cambria Math" panose="02040503050406030204" pitchFamily="18" charset="0"/>
                      </a:rPr>
                      <m:t>o</m:t>
                    </m:r>
                    <m:r>
                      <m:rPr>
                        <m:nor/>
                      </m:rPr>
                      <a:rPr lang="es-ES" b="0" i="0" smtClean="0">
                        <a:latin typeface="Cambria Math" panose="02040503050406030204" pitchFamily="18" charset="0"/>
                      </a:rPr>
                      <m:t> </m:t>
                    </m:r>
                    <m:r>
                      <a:rPr lang="es-ES" b="0" i="1" smtClean="0">
                        <a:latin typeface="Cambria Math" panose="02040503050406030204" pitchFamily="18" charset="0"/>
                      </a:rPr>
                      <m:t>99</m:t>
                    </m:r>
                    <m:r>
                      <a:rPr lang="es-ES" b="0" i="1" smtClean="0">
                        <a:latin typeface="Cambria Math" panose="02040503050406030204" pitchFamily="18" charset="0"/>
                      </a:rPr>
                      <m:t>.</m:t>
                    </m:r>
                    <m:r>
                      <a:rPr lang="es-ES" b="0" i="1" smtClean="0">
                        <a:latin typeface="Cambria Math" panose="02040503050406030204" pitchFamily="18" charset="0"/>
                      </a:rPr>
                      <m:t>5</m:t>
                    </m:r>
                    <m:r>
                      <a:rPr lang="es-ES" b="0" i="1" smtClean="0">
                        <a:latin typeface="Cambria Math" panose="02040503050406030204" pitchFamily="18" charset="0"/>
                      </a:rPr>
                      <m:t>%</m:t>
                    </m:r>
                  </m:oMath>
                </a14:m>
                <a:endParaRPr lang="es-ES" dirty="0"/>
              </a:p>
              <a:p>
                <a:pPr lvl="1"/>
                <a14:m>
                  <m:oMath xmlns:m="http://schemas.openxmlformats.org/officeDocument/2006/math">
                    <m:sSub>
                      <m:sSubPr>
                        <m:ctrlPr>
                          <a:rPr lang="ar-AE" i="1">
                            <a:latin typeface="Cambria Math" panose="02040503050406030204" pitchFamily="18" charset="0"/>
                          </a:rPr>
                        </m:ctrlPr>
                      </m:sSubPr>
                      <m:e>
                        <m:r>
                          <a:rPr lang="es-ES" i="1">
                            <a:latin typeface="Cambria Math" panose="02040503050406030204" pitchFamily="18" charset="0"/>
                          </a:rPr>
                          <m:t>𝑠</m:t>
                        </m:r>
                      </m:e>
                      <m:sub>
                        <m:r>
                          <a:rPr lang="ar-AE" i="1">
                            <a:latin typeface="Cambria Math" panose="02040503050406030204" pitchFamily="18" charset="0"/>
                          </a:rPr>
                          <m:t>𝑥𝑦</m:t>
                        </m:r>
                      </m:sub>
                    </m:sSub>
                  </m:oMath>
                </a14:m>
                <a:r>
                  <a:rPr lang="es-ES" dirty="0"/>
                  <a:t> y </a:t>
                </a:r>
                <a14:m>
                  <m:oMath xmlns:m="http://schemas.openxmlformats.org/officeDocument/2006/math">
                    <m:sSubSup>
                      <m:sSubSupPr>
                        <m:ctrlPr>
                          <a:rPr lang="ar-AE"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𝑥</m:t>
                        </m:r>
                      </m:sub>
                      <m:sup>
                        <m:r>
                          <a:rPr lang="es-ES" i="1">
                            <a:latin typeface="Cambria Math" panose="02040503050406030204" pitchFamily="18" charset="0"/>
                          </a:rPr>
                          <m:t>2</m:t>
                        </m:r>
                      </m:sup>
                    </m:sSubSup>
                  </m:oMath>
                </a14:m>
                <a:r>
                  <a:rPr lang="es-ES" dirty="0"/>
                  <a:t> se calcularon anteriormente, y </a:t>
                </a:r>
                <a14:m>
                  <m:oMath xmlns:m="http://schemas.openxmlformats.org/officeDocument/2006/math">
                    <m:sSubSup>
                      <m:sSubSupPr>
                        <m:ctrlPr>
                          <a:rPr lang="ar-AE"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𝑦</m:t>
                        </m:r>
                      </m:sub>
                      <m:sup>
                        <m:r>
                          <a:rPr lang="es-ES" i="1">
                            <a:latin typeface="Cambria Math" panose="02040503050406030204" pitchFamily="18" charset="0"/>
                          </a:rPr>
                          <m:t>2</m:t>
                        </m:r>
                      </m:sup>
                    </m:sSubSup>
                    <m:r>
                      <a:rPr lang="es-ES" i="1">
                        <a:latin typeface="Cambria Math" panose="02040503050406030204" pitchFamily="18" charset="0"/>
                      </a:rPr>
                      <m:t>=</m:t>
                    </m:r>
                    <m:f>
                      <m:fPr>
                        <m:ctrlPr>
                          <a:rPr lang="es-ES" i="1">
                            <a:latin typeface="Cambria Math" panose="02040503050406030204" pitchFamily="18" charset="0"/>
                          </a:rPr>
                        </m:ctrlPr>
                      </m:fPr>
                      <m:num>
                        <m:nary>
                          <m:naryPr>
                            <m:chr m:val="∑"/>
                            <m:ctrlPr>
                              <a:rPr lang="es-ES" i="1">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m:t>
                            </m:r>
                            <m:r>
                              <a:rPr lang="es-ES" i="1">
                                <a:latin typeface="Cambria Math" panose="02040503050406030204" pitchFamily="18" charset="0"/>
                              </a:rPr>
                              <m:t>1</m:t>
                            </m:r>
                          </m:sub>
                          <m:sup>
                            <m:r>
                              <a:rPr lang="es-ES" i="1">
                                <a:latin typeface="Cambria Math" panose="02040503050406030204" pitchFamily="18" charset="0"/>
                              </a:rPr>
                              <m:t>13</m:t>
                            </m:r>
                          </m:sup>
                          <m:e>
                            <m:sSup>
                              <m:sSupPr>
                                <m:ctrlPr>
                                  <a:rPr lang="es-ES" i="1">
                                    <a:latin typeface="Cambria Math" panose="02040503050406030204" pitchFamily="18" charset="0"/>
                                  </a:rPr>
                                </m:ctrlPr>
                              </m:sSupPr>
                              <m:e>
                                <m:r>
                                  <a:rPr lang="es-ES" i="1">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𝑦</m:t>
                                    </m:r>
                                  </m:e>
                                  <m:sub>
                                    <m:r>
                                      <a:rPr lang="es-ES" i="1">
                                        <a:latin typeface="Cambria Math" panose="02040503050406030204" pitchFamily="18" charset="0"/>
                                      </a:rPr>
                                      <m:t>𝑖</m:t>
                                    </m:r>
                                  </m:sub>
                                </m:sSub>
                                <m:r>
                                  <a:rPr lang="es-ES" i="1">
                                    <a:latin typeface="Cambria Math" panose="02040503050406030204" pitchFamily="18" charset="0"/>
                                  </a:rPr>
                                  <m:t>−</m:t>
                                </m:r>
                                <m:r>
                                  <a:rPr lang="es-ES" i="1">
                                    <a:latin typeface="Cambria Math" panose="02040503050406030204" pitchFamily="18" charset="0"/>
                                  </a:rPr>
                                  <m:t>4558</m:t>
                                </m:r>
                                <m:r>
                                  <a:rPr lang="es-ES" i="1">
                                    <a:latin typeface="Cambria Math" panose="02040503050406030204" pitchFamily="18" charset="0"/>
                                  </a:rPr>
                                  <m:t>.</m:t>
                                </m:r>
                                <m:r>
                                  <a:rPr lang="es-ES" i="1">
                                    <a:latin typeface="Cambria Math" panose="02040503050406030204" pitchFamily="18" charset="0"/>
                                  </a:rPr>
                                  <m:t>1</m:t>
                                </m:r>
                                <m:r>
                                  <a:rPr lang="es-ES" i="1">
                                    <a:latin typeface="Cambria Math" panose="02040503050406030204" pitchFamily="18" charset="0"/>
                                  </a:rPr>
                                  <m:t>)</m:t>
                                </m:r>
                              </m:e>
                              <m:sup>
                                <m:r>
                                  <a:rPr lang="es-ES" i="1">
                                    <a:latin typeface="Cambria Math" panose="02040503050406030204" pitchFamily="18" charset="0"/>
                                  </a:rPr>
                                  <m:t>2</m:t>
                                </m:r>
                              </m:sup>
                            </m:sSup>
                          </m:e>
                        </m:nary>
                      </m:num>
                      <m:den>
                        <m:r>
                          <a:rPr lang="es-ES" i="1">
                            <a:latin typeface="Cambria Math" panose="02040503050406030204" pitchFamily="18" charset="0"/>
                          </a:rPr>
                          <m:t>13</m:t>
                        </m:r>
                        <m:r>
                          <a:rPr lang="es-ES" i="1">
                            <a:latin typeface="Cambria Math" panose="02040503050406030204" pitchFamily="18" charset="0"/>
                          </a:rPr>
                          <m:t>−</m:t>
                        </m:r>
                        <m:r>
                          <a:rPr lang="es-ES" i="1">
                            <a:latin typeface="Cambria Math" panose="02040503050406030204" pitchFamily="18" charset="0"/>
                          </a:rPr>
                          <m:t>1</m:t>
                        </m:r>
                      </m:den>
                    </m:f>
                    <m:r>
                      <a:rPr lang="es-ES" i="1">
                        <a:latin typeface="Cambria Math" panose="02040503050406030204" pitchFamily="18" charset="0"/>
                      </a:rPr>
                      <m:t>=</m:t>
                    </m:r>
                    <m:r>
                      <a:rPr lang="es-ES" i="1">
                        <a:latin typeface="Cambria Math" panose="02040503050406030204" pitchFamily="18" charset="0"/>
                      </a:rPr>
                      <m:t>2092943</m:t>
                    </m:r>
                  </m:oMath>
                </a14:m>
                <a:endParaRPr lang="es-ES" dirty="0"/>
              </a:p>
              <a:p>
                <a:pPr lvl="1"/>
                <a:r>
                  <a:rPr lang="es-ES" dirty="0"/>
                  <a:t>El valor del 99.5% del coeficiente de determinación indica que el modelo es un ajuste muy bueno, aunque es mejorable en un 0,5 % agregando términos no lineales al modelo.</a:t>
                </a:r>
                <a:endParaRPr dirty="0"/>
              </a:p>
            </p:txBody>
          </p:sp>
        </mc:Choice>
        <mc:Fallback xmlns="">
          <p:sp>
            <p:nvSpPr>
              <p:cNvPr id="3" name="Marcador de contenido 2">
                <a:extLst>
                  <a:ext uri="{FF2B5EF4-FFF2-40B4-BE49-F238E27FC236}">
                    <a16:creationId xmlns:a16="http://schemas.microsoft.com/office/drawing/2014/main" id="{E99E49E7-19DB-E4C8-D0D4-E5B054043335}"/>
                  </a:ext>
                </a:extLst>
              </p:cNvPr>
              <p:cNvSpPr>
                <a:spLocks noGrp="1" noRot="1" noChangeAspect="1" noMove="1" noResize="1" noEditPoints="1" noAdjustHandles="1" noChangeArrowheads="1" noChangeShapeType="1" noTextEdit="1"/>
              </p:cNvSpPr>
              <p:nvPr>
                <p:ph idx="1"/>
              </p:nvPr>
            </p:nvSpPr>
            <p:spPr>
              <a:blipFill>
                <a:blip r:embed="rId2"/>
                <a:stretch>
                  <a:fillRect l="-812" t="-322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A0831753-17CB-1380-05E6-ABC264BBEC4B}"/>
              </a:ext>
            </a:extLst>
          </p:cNvPr>
          <p:cNvSpPr>
            <a:spLocks noGrp="1"/>
          </p:cNvSpPr>
          <p:nvPr>
            <p:ph type="sldNum" sz="quarter" idx="12"/>
          </p:nvPr>
        </p:nvSpPr>
        <p:spPr/>
        <p:txBody>
          <a:bodyPr/>
          <a:lstStyle/>
          <a:p>
            <a:fld id="{336CAFD0-1F6E-4E11-9822-836563A02839}" type="slidenum">
              <a:rPr lang="es-ES" smtClean="0"/>
              <a:t>19</a:t>
            </a:fld>
            <a:endParaRPr lang="es-ES"/>
          </a:p>
        </p:txBody>
      </p:sp>
    </p:spTree>
    <p:extLst>
      <p:ext uri="{BB962C8B-B14F-4D97-AF65-F5344CB8AC3E}">
        <p14:creationId xmlns:p14="http://schemas.microsoft.com/office/powerpoint/2010/main" val="34037008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B3D42A-D345-2AA4-4C63-5867493DE4F3}"/>
              </a:ext>
            </a:extLst>
          </p:cNvPr>
          <p:cNvSpPr>
            <a:spLocks noGrp="1"/>
          </p:cNvSpPr>
          <p:nvPr>
            <p:ph type="title"/>
          </p:nvPr>
        </p:nvSpPr>
        <p:spPr/>
        <p:txBody>
          <a:bodyPr/>
          <a:lstStyle/>
          <a:p>
            <a:r>
              <a:rPr lang="es-ES" dirty="0"/>
              <a:t>5. Regresión lineal simple</a:t>
            </a:r>
            <a:br>
              <a:rPr lang="es-ES" dirty="0"/>
            </a:br>
            <a:r>
              <a:rPr lang="es-ES" dirty="0"/>
              <a:t>Intervalo de confianza de una predicción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E8C810D-0E5F-3955-25AE-9B04D26BBC5B}"/>
                  </a:ext>
                </a:extLst>
              </p:cNvPr>
              <p:cNvSpPr>
                <a:spLocks noGrp="1"/>
              </p:cNvSpPr>
              <p:nvPr>
                <p:ph idx="1"/>
              </p:nvPr>
            </p:nvSpPr>
            <p:spPr>
              <a:xfrm>
                <a:off x="838200" y="1825625"/>
                <a:ext cx="6822688" cy="4351338"/>
              </a:xfrm>
            </p:spPr>
            <p:txBody>
              <a:bodyPr>
                <a:normAutofit fontScale="92500" lnSpcReduction="10000"/>
              </a:bodyPr>
              <a:lstStyle/>
              <a:p>
                <a:r>
                  <a:rPr lang="es-ES" dirty="0"/>
                  <a:t>Un intervalo </a:t>
                </a:r>
                <a14:m>
                  <m:oMath xmlns:m="http://schemas.openxmlformats.org/officeDocument/2006/math">
                    <m:d>
                      <m:dPr>
                        <m:begChr m:val="["/>
                        <m:endChr m:val="]"/>
                        <m:ctrlPr>
                          <a:rPr lang="es-ES" i="1" smtClean="0">
                            <a:latin typeface="Cambria Math" panose="02040503050406030204" pitchFamily="18" charset="0"/>
                          </a:rPr>
                        </m:ctrlPr>
                      </m:dPr>
                      <m:e>
                        <m:r>
                          <a:rPr lang="es-ES" b="0" i="1" smtClean="0">
                            <a:latin typeface="Cambria Math" panose="02040503050406030204" pitchFamily="18" charset="0"/>
                          </a:rPr>
                          <m:t>𝑎</m:t>
                        </m:r>
                        <m:r>
                          <a:rPr lang="es-ES" b="0" i="1" smtClean="0">
                            <a:latin typeface="Cambria Math" panose="02040503050406030204" pitchFamily="18" charset="0"/>
                          </a:rPr>
                          <m:t>,</m:t>
                        </m:r>
                        <m:r>
                          <a:rPr lang="es-ES" b="0" i="1" smtClean="0">
                            <a:latin typeface="Cambria Math" panose="02040503050406030204" pitchFamily="18" charset="0"/>
                          </a:rPr>
                          <m:t>𝑏</m:t>
                        </m:r>
                      </m:e>
                    </m:d>
                  </m:oMath>
                </a14:m>
                <a:r>
                  <a:rPr lang="es-ES" dirty="0"/>
                  <a:t> es un intervalo de confianza para el valor de </a:t>
                </a:r>
                <a14:m>
                  <m:oMath xmlns:m="http://schemas.openxmlformats.org/officeDocument/2006/math">
                    <m:r>
                      <a:rPr lang="es-ES" i="1" dirty="0" smtClean="0">
                        <a:latin typeface="Cambria Math" panose="02040503050406030204" pitchFamily="18" charset="0"/>
                      </a:rPr>
                      <m:t>𝑌</m:t>
                    </m:r>
                  </m:oMath>
                </a14:m>
                <a:r>
                  <a:rPr lang="es-ES" dirty="0"/>
                  <a:t> correspondiente al predictor </a:t>
                </a:r>
                <a14:m>
                  <m:oMath xmlns:m="http://schemas.openxmlformats.org/officeDocument/2006/math">
                    <m:r>
                      <a:rPr lang="es-ES" b="0" i="1" smtClean="0">
                        <a:latin typeface="Cambria Math" panose="02040503050406030204" pitchFamily="18" charset="0"/>
                      </a:rPr>
                      <m:t>𝑋</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𝑜</m:t>
                        </m:r>
                      </m:sub>
                    </m:sSub>
                  </m:oMath>
                </a14:m>
                <a:r>
                  <a:rPr lang="es-ES" dirty="0"/>
                  <a:t>, con un nivel de confianza de </a:t>
                </a:r>
                <a14:m>
                  <m:oMath xmlns:m="http://schemas.openxmlformats.org/officeDocument/2006/math">
                    <m:d>
                      <m:dPr>
                        <m:ctrlPr>
                          <a:rPr lang="es-ES"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𝛼</m:t>
                        </m:r>
                      </m:e>
                    </m:d>
                  </m:oMath>
                </a14:m>
                <a:r>
                  <a:rPr lang="es-ES" dirty="0"/>
                  <a:t>, si el intervalo contiene el valor de </a:t>
                </a:r>
                <a14:m>
                  <m:oMath xmlns:m="http://schemas.openxmlformats.org/officeDocument/2006/math">
                    <m:r>
                      <a:rPr lang="es-ES" i="1" dirty="0" smtClean="0">
                        <a:latin typeface="Cambria Math" panose="02040503050406030204" pitchFamily="18" charset="0"/>
                      </a:rPr>
                      <m:t>𝑌</m:t>
                    </m:r>
                  </m:oMath>
                </a14:m>
                <a:r>
                  <a:rPr lang="es-ES" dirty="0"/>
                  <a:t> con una probabilidad de </a:t>
                </a:r>
                <a14:m>
                  <m:oMath xmlns:m="http://schemas.openxmlformats.org/officeDocument/2006/math">
                    <m:d>
                      <m:dPr>
                        <m:ctrlPr>
                          <a:rPr lang="es-ES" i="1">
                            <a:latin typeface="Cambria Math" panose="02040503050406030204" pitchFamily="18" charset="0"/>
                          </a:rPr>
                        </m:ctrlPr>
                      </m:dPr>
                      <m:e>
                        <m:r>
                          <a:rPr lang="es-ES" i="1">
                            <a:latin typeface="Cambria Math" panose="02040503050406030204" pitchFamily="18" charset="0"/>
                          </a:rPr>
                          <m:t>1</m:t>
                        </m:r>
                        <m:r>
                          <a:rPr lang="es-ES" i="1">
                            <a:latin typeface="Cambria Math" panose="02040503050406030204" pitchFamily="18" charset="0"/>
                          </a:rPr>
                          <m:t>−</m:t>
                        </m:r>
                        <m:r>
                          <a:rPr lang="es-ES" i="1">
                            <a:latin typeface="Cambria Math" panose="02040503050406030204" pitchFamily="18" charset="0"/>
                            <a:ea typeface="Cambria Math" panose="02040503050406030204" pitchFamily="18" charset="0"/>
                          </a:rPr>
                          <m:t>𝛼</m:t>
                        </m:r>
                      </m:e>
                    </m:d>
                  </m:oMath>
                </a14:m>
                <a:r>
                  <a:rPr lang="es-ES" dirty="0"/>
                  <a:t>.</a:t>
                </a:r>
              </a:p>
              <a:p>
                <a:pPr lvl="1"/>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𝑎</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𝑏</m:t>
                        </m:r>
                        <m:d>
                          <m:dPr>
                            <m:begChr m:val="|"/>
                            <m:endChr m:val=""/>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𝑥</m:t>
                                </m:r>
                              </m:e>
                              <m:sub>
                                <m:r>
                                  <a:rPr lang="es-ES" b="0" i="1" smtClean="0">
                                    <a:latin typeface="Cambria Math" panose="02040503050406030204" pitchFamily="18" charset="0"/>
                                    <a:ea typeface="Cambria Math" panose="02040503050406030204" pitchFamily="18" charset="0"/>
                                  </a:rPr>
                                  <m:t>𝑜</m:t>
                                </m:r>
                              </m:sub>
                            </m:sSub>
                          </m:e>
                        </m:d>
                      </m:e>
                    </m:d>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𝛼</m:t>
                    </m:r>
                  </m:oMath>
                </a14:m>
                <a:endParaRPr lang="es-ES" dirty="0"/>
              </a:p>
              <a:p>
                <a:r>
                  <a:rPr lang="es-ES" dirty="0"/>
                  <a:t>Se considera que el estimador </a:t>
                </a:r>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𝑌</m:t>
                        </m:r>
                      </m:e>
                    </m:acc>
                  </m:oMath>
                </a14:m>
                <a:r>
                  <a:rPr lang="es-ES" dirty="0"/>
                  <a:t> de </a:t>
                </a:r>
                <a14:m>
                  <m:oMath xmlns:m="http://schemas.openxmlformats.org/officeDocument/2006/math">
                    <m:r>
                      <a:rPr lang="es-ES" i="1" dirty="0" smtClean="0">
                        <a:latin typeface="Cambria Math" panose="02040503050406030204" pitchFamily="18" charset="0"/>
                      </a:rPr>
                      <m:t>𝑌</m:t>
                    </m:r>
                  </m:oMath>
                </a14:m>
                <a:r>
                  <a:rPr lang="es-ES" dirty="0"/>
                  <a:t> es una variable aleatoria con</a:t>
                </a:r>
              </a:p>
              <a:p>
                <a:pPr lvl="1"/>
                <a:r>
                  <a:rPr lang="es-ES" dirty="0"/>
                  <a:t>Esperanza:</a:t>
                </a:r>
                <a14:m>
                  <m:oMath xmlns:m="http://schemas.openxmlformats.org/officeDocument/2006/math">
                    <m:r>
                      <a:rPr lang="es-ES" dirty="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𝐸</m:t>
                    </m:r>
                    <m:d>
                      <m:dPr>
                        <m:ctrlPr>
                          <a:rPr lang="es-ES" b="0" i="1" smtClean="0">
                            <a:latin typeface="Cambria Math" panose="02040503050406030204" pitchFamily="18" charset="0"/>
                            <a:ea typeface="Cambria Math" panose="02040503050406030204" pitchFamily="18" charset="0"/>
                          </a:rPr>
                        </m:ctrlPr>
                      </m:dPr>
                      <m:e>
                        <m:acc>
                          <m:accPr>
                            <m:chr m:val="̂"/>
                            <m:ctrlPr>
                              <a:rPr lang="es-ES" b="0" i="1" smtClean="0">
                                <a:latin typeface="Cambria Math" panose="02040503050406030204" pitchFamily="18" charset="0"/>
                                <a:ea typeface="Cambria Math" panose="02040503050406030204" pitchFamily="18" charset="0"/>
                              </a:rPr>
                            </m:ctrlPr>
                          </m:accPr>
                          <m:e>
                            <m:r>
                              <a:rPr lang="es-ES" b="0" i="1" smtClean="0">
                                <a:latin typeface="Cambria Math" panose="02040503050406030204" pitchFamily="18" charset="0"/>
                                <a:ea typeface="Cambria Math" panose="02040503050406030204" pitchFamily="18" charset="0"/>
                              </a:rPr>
                              <m:t>𝑌</m:t>
                            </m:r>
                          </m:e>
                        </m:acc>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𝑦</m:t>
                            </m:r>
                          </m:e>
                        </m:acc>
                        <m:d>
                          <m:dPr>
                            <m:begChr m:val="|"/>
                            <m:endChr m:val=""/>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𝑥</m:t>
                            </m:r>
                            <m:r>
                              <a:rPr lang="es-ES" i="1">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ea typeface="Cambria Math" panose="02040503050406030204" pitchFamily="18" charset="0"/>
                                  </a:rPr>
                                </m:ctrlPr>
                              </m:sSubPr>
                              <m:e>
                                <m:r>
                                  <a:rPr lang="es-ES" i="1">
                                    <a:latin typeface="Cambria Math" panose="02040503050406030204" pitchFamily="18" charset="0"/>
                                    <a:ea typeface="Cambria Math" panose="02040503050406030204" pitchFamily="18" charset="0"/>
                                  </a:rPr>
                                  <m:t>𝑥</m:t>
                                </m:r>
                              </m:e>
                              <m:sub>
                                <m:r>
                                  <a:rPr lang="es-ES" b="0" i="1" smtClean="0">
                                    <a:latin typeface="Cambria Math" panose="02040503050406030204" pitchFamily="18" charset="0"/>
                                    <a:ea typeface="Cambria Math" panose="02040503050406030204" pitchFamily="18" charset="0"/>
                                  </a:rPr>
                                  <m:t>𝑜</m:t>
                                </m:r>
                              </m:sub>
                            </m:sSub>
                          </m:e>
                        </m:d>
                      </m:e>
                    </m:d>
                    <m:r>
                      <a:rPr lang="es-ES" b="0" i="1" smtClean="0">
                        <a:latin typeface="Cambria Math" panose="02040503050406030204" pitchFamily="18" charset="0"/>
                        <a:ea typeface="Cambria Math" panose="02040503050406030204" pitchFamily="18" charset="0"/>
                      </a:rPr>
                      <m:t>=</m:t>
                    </m:r>
                    <m:sSub>
                      <m:sSubPr>
                        <m:ctrlPr>
                          <a:rPr lang="es-ES" i="1" smtClean="0">
                            <a:latin typeface="Cambria Math" panose="02040503050406030204" pitchFamily="18" charset="0"/>
                          </a:rPr>
                        </m:ctrlPr>
                      </m:sSubPr>
                      <m:e>
                        <m:r>
                          <a:rPr lang="es-ES" i="1">
                            <a:latin typeface="Cambria Math" panose="02040503050406030204" pitchFamily="18" charset="0"/>
                          </a:rPr>
                          <m:t>𝑏</m:t>
                        </m:r>
                      </m:e>
                      <m:sub>
                        <m:r>
                          <a:rPr lang="es-ES" i="1">
                            <a:latin typeface="Cambria Math" panose="02040503050406030204" pitchFamily="18" charset="0"/>
                          </a:rPr>
                          <m:t>0</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𝑏</m:t>
                        </m:r>
                      </m:e>
                      <m:sub>
                        <m:r>
                          <a:rPr lang="es-ES" i="1">
                            <a:latin typeface="Cambria Math" panose="02040503050406030204" pitchFamily="18" charset="0"/>
                          </a:rPr>
                          <m:t>1</m:t>
                        </m:r>
                      </m:sub>
                    </m:sSub>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b="0" i="1" smtClean="0">
                            <a:latin typeface="Cambria Math" panose="02040503050406030204" pitchFamily="18" charset="0"/>
                          </a:rPr>
                          <m:t>𝑜</m:t>
                        </m:r>
                      </m:sub>
                    </m:sSub>
                  </m:oMath>
                </a14:m>
                <a:endParaRPr lang="es-ES" dirty="0"/>
              </a:p>
              <a:p>
                <a:pPr lvl="1"/>
                <a:r>
                  <a:rPr lang="es-ES" dirty="0"/>
                  <a:t>Varianza: </a:t>
                </a:r>
                <a14:m>
                  <m:oMath xmlns:m="http://schemas.openxmlformats.org/officeDocument/2006/math">
                    <m:sSup>
                      <m:sSupPr>
                        <m:ctrlPr>
                          <a:rPr lang="es-ES" b="0" i="1" smtClean="0">
                            <a:latin typeface="Cambria Math" panose="02040503050406030204" pitchFamily="18" charset="0"/>
                          </a:rPr>
                        </m:ctrlPr>
                      </m:sSupPr>
                      <m:e>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𝑌</m:t>
                                </m:r>
                              </m:e>
                            </m:acc>
                          </m:e>
                        </m:d>
                        <m:r>
                          <a:rPr lang="es-ES" b="0" i="1" smtClean="0">
                            <a:latin typeface="Cambria Math" panose="02040503050406030204" pitchFamily="18" charset="0"/>
                          </a:rPr>
                          <m:t>=</m:t>
                        </m:r>
                        <m:r>
                          <a:rPr lang="es-ES" b="0" i="1" smtClean="0">
                            <a:latin typeface="Cambria Math" panose="02040503050406030204" pitchFamily="18" charset="0"/>
                          </a:rPr>
                          <m:t>𝑠</m:t>
                        </m:r>
                      </m:e>
                      <m:sup>
                        <m:r>
                          <a:rPr lang="es-ES" b="0" i="1" smtClean="0">
                            <a:latin typeface="Cambria Math" panose="02040503050406030204" pitchFamily="18" charset="0"/>
                          </a:rPr>
                          <m:t>2</m:t>
                        </m:r>
                      </m:sup>
                    </m:sSup>
                    <m:r>
                      <a:rPr lang="es-ES" b="0" i="1" smtClean="0">
                        <a:latin typeface="Cambria Math" panose="02040503050406030204" pitchFamily="18" charset="0"/>
                      </a:rPr>
                      <m:t>=</m:t>
                    </m:r>
                    <m:f>
                      <m:fPr>
                        <m:ctrlPr>
                          <a:rPr lang="es-ES" b="0" i="1" smtClean="0">
                            <a:latin typeface="Cambria Math" panose="02040503050406030204" pitchFamily="18" charset="0"/>
                          </a:rPr>
                        </m:ctrlPr>
                      </m:fPr>
                      <m:num>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m:t>
                            </m:r>
                            <m:r>
                              <a:rPr lang="es-ES" b="0" i="1" smtClean="0">
                                <a:latin typeface="Cambria Math" panose="02040503050406030204" pitchFamily="18" charset="0"/>
                              </a:rPr>
                              <m:t>1</m:t>
                            </m:r>
                          </m:sub>
                          <m:sup>
                            <m:r>
                              <a:rPr lang="es-ES" b="0" i="1" smtClean="0">
                                <a:latin typeface="Cambria Math" panose="02040503050406030204" pitchFamily="18" charset="0"/>
                              </a:rPr>
                              <m:t>𝑛</m:t>
                            </m:r>
                          </m:sup>
                          <m:e>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𝑦</m:t>
                                        </m:r>
                                      </m:e>
                                      <m:sub>
                                        <m:r>
                                          <a:rPr lang="es-ES" b="0" i="1" smtClean="0">
                                            <a:latin typeface="Cambria Math" panose="02040503050406030204" pitchFamily="18" charset="0"/>
                                          </a:rPr>
                                          <m:t>𝑖</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𝑦</m:t>
                                            </m:r>
                                          </m:e>
                                        </m:acc>
                                      </m:e>
                                      <m:sub>
                                        <m:r>
                                          <a:rPr lang="es-ES" b="0" i="1" smtClean="0">
                                            <a:latin typeface="Cambria Math" panose="02040503050406030204" pitchFamily="18" charset="0"/>
                                          </a:rPr>
                                          <m:t>𝑖</m:t>
                                        </m:r>
                                      </m:sub>
                                    </m:sSub>
                                  </m:e>
                                </m:d>
                              </m:e>
                              <m:sup>
                                <m:r>
                                  <a:rPr lang="es-ES" b="0" i="1" smtClean="0">
                                    <a:latin typeface="Cambria Math" panose="02040503050406030204" pitchFamily="18" charset="0"/>
                                  </a:rPr>
                                  <m:t>2</m:t>
                                </m:r>
                              </m:sup>
                            </m:sSup>
                          </m:e>
                        </m:nary>
                      </m:num>
                      <m:den>
                        <m:r>
                          <a:rPr lang="es-ES" b="0" i="1" smtClean="0">
                            <a:latin typeface="Cambria Math" panose="02040503050406030204" pitchFamily="18" charset="0"/>
                          </a:rPr>
                          <m:t>𝑛</m:t>
                        </m:r>
                        <m:r>
                          <a:rPr lang="es-ES" b="0" i="1" smtClean="0">
                            <a:latin typeface="Cambria Math" panose="02040503050406030204" pitchFamily="18" charset="0"/>
                          </a:rPr>
                          <m:t>−</m:t>
                        </m:r>
                        <m:r>
                          <a:rPr lang="es-ES" b="0" i="1" smtClean="0">
                            <a:latin typeface="Cambria Math" panose="02040503050406030204" pitchFamily="18" charset="0"/>
                          </a:rPr>
                          <m:t>2</m:t>
                        </m:r>
                      </m:den>
                    </m:f>
                  </m:oMath>
                </a14:m>
                <a:endParaRPr lang="es-ES" dirty="0"/>
              </a:p>
              <a:p>
                <a:pPr lvl="1"/>
                <a:r>
                  <a:rPr lang="es-ES" dirty="0"/>
                  <a:t>Se asume una distribución T-</a:t>
                </a:r>
                <a:r>
                  <a:rPr lang="es-ES" dirty="0" err="1"/>
                  <a:t>Student</a:t>
                </a:r>
                <a:r>
                  <a:rPr lang="es-ES" dirty="0"/>
                  <a:t> con n-2 grados de libertad</a:t>
                </a:r>
              </a:p>
              <a:p>
                <a:pPr marL="0" indent="0">
                  <a:buNone/>
                </a:pPr>
                <a:endParaRPr lang="es-ES" dirty="0"/>
              </a:p>
            </p:txBody>
          </p:sp>
        </mc:Choice>
        <mc:Fallback xmlns="">
          <p:sp>
            <p:nvSpPr>
              <p:cNvPr id="3" name="Marcador de contenido 2">
                <a:extLst>
                  <a:ext uri="{FF2B5EF4-FFF2-40B4-BE49-F238E27FC236}">
                    <a16:creationId xmlns:a16="http://schemas.microsoft.com/office/drawing/2014/main" id="{AE8C810D-0E5F-3955-25AE-9B04D26BBC5B}"/>
                  </a:ext>
                </a:extLst>
              </p:cNvPr>
              <p:cNvSpPr>
                <a:spLocks noGrp="1" noRot="1" noChangeAspect="1" noMove="1" noResize="1" noEditPoints="1" noAdjustHandles="1" noChangeArrowheads="1" noChangeShapeType="1" noTextEdit="1"/>
              </p:cNvSpPr>
              <p:nvPr>
                <p:ph idx="1"/>
              </p:nvPr>
            </p:nvSpPr>
            <p:spPr>
              <a:xfrm>
                <a:off x="838200" y="1825625"/>
                <a:ext cx="6822688" cy="4351338"/>
              </a:xfrm>
              <a:blipFill>
                <a:blip r:embed="rId2"/>
                <a:stretch>
                  <a:fillRect l="-1430" t="-2801" r="-983" b="-196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5621DCA1-E069-C4A8-34A9-020E0336F082}"/>
              </a:ext>
            </a:extLst>
          </p:cNvPr>
          <p:cNvSpPr>
            <a:spLocks noGrp="1"/>
          </p:cNvSpPr>
          <p:nvPr>
            <p:ph type="sldNum" sz="quarter" idx="12"/>
          </p:nvPr>
        </p:nvSpPr>
        <p:spPr/>
        <p:txBody>
          <a:bodyPr/>
          <a:lstStyle/>
          <a:p>
            <a:fld id="{336CAFD0-1F6E-4E11-9822-836563A02839}" type="slidenum">
              <a:rPr lang="es-ES" smtClean="0"/>
              <a:pPr/>
              <a:t>20</a:t>
            </a:fld>
            <a:endParaRPr lang="es-ES" dirty="0"/>
          </a:p>
        </p:txBody>
      </p:sp>
      <p:pic>
        <p:nvPicPr>
          <p:cNvPr id="5" name="Imagen 4">
            <a:extLst>
              <a:ext uri="{FF2B5EF4-FFF2-40B4-BE49-F238E27FC236}">
                <a16:creationId xmlns:a16="http://schemas.microsoft.com/office/drawing/2014/main" id="{5AC16190-7260-FD86-BD09-03B67A73B7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172007" y="2916692"/>
            <a:ext cx="5019993" cy="2514145"/>
          </a:xfrm>
          <a:prstGeom prst="rect">
            <a:avLst/>
          </a:prstGeom>
        </p:spPr>
      </p:pic>
      <p:sp>
        <p:nvSpPr>
          <p:cNvPr id="6" name="CuadroTexto 5">
            <a:extLst>
              <a:ext uri="{FF2B5EF4-FFF2-40B4-BE49-F238E27FC236}">
                <a16:creationId xmlns:a16="http://schemas.microsoft.com/office/drawing/2014/main" id="{D581ADA5-1E4D-DA90-2A44-E8F99A71FB49}"/>
              </a:ext>
            </a:extLst>
          </p:cNvPr>
          <p:cNvSpPr txBox="1"/>
          <p:nvPr/>
        </p:nvSpPr>
        <p:spPr>
          <a:xfrm>
            <a:off x="9052535" y="5451760"/>
            <a:ext cx="2457596" cy="307777"/>
          </a:xfrm>
          <a:prstGeom prst="rect">
            <a:avLst/>
          </a:prstGeom>
          <a:noFill/>
        </p:spPr>
        <p:txBody>
          <a:bodyPr wrap="none" rtlCol="0">
            <a:spAutoFit/>
          </a:bodyPr>
          <a:lstStyle/>
          <a:p>
            <a:r>
              <a:rPr lang="es-ES" sz="1400" dirty="0"/>
              <a:t>Imagen: </a:t>
            </a:r>
            <a:r>
              <a:rPr lang="es-ES" sz="1400" dirty="0" err="1">
                <a:hlinkClick r:id="rId4"/>
              </a:rPr>
              <a:t>Runger</a:t>
            </a:r>
            <a:r>
              <a:rPr lang="es-ES" sz="1400" dirty="0">
                <a:hlinkClick r:id="rId4"/>
              </a:rPr>
              <a:t> y Montgomery</a:t>
            </a:r>
            <a:endParaRPr lang="es-ES" sz="1400" dirty="0"/>
          </a:p>
        </p:txBody>
      </p:sp>
      <p:sp>
        <p:nvSpPr>
          <p:cNvPr id="7" name="Rectángulo 6">
            <a:extLst>
              <a:ext uri="{FF2B5EF4-FFF2-40B4-BE49-F238E27FC236}">
                <a16:creationId xmlns:a16="http://schemas.microsoft.com/office/drawing/2014/main" id="{87E40715-D0B5-208F-2B12-A4B4640BCD0B}"/>
              </a:ext>
              <a:ext uri="{C183D7F6-B498-43B3-948B-1728B52AA6E4}">
                <adec:decorative xmlns:adec="http://schemas.microsoft.com/office/drawing/2017/decorative" val="1"/>
              </a:ext>
            </a:extLst>
          </p:cNvPr>
          <p:cNvSpPr/>
          <p:nvPr/>
        </p:nvSpPr>
        <p:spPr>
          <a:xfrm>
            <a:off x="7270595" y="3178098"/>
            <a:ext cx="914400" cy="1371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CBE735CF-7F76-ED92-8A44-2279E7B94795}"/>
              </a:ext>
              <a:ext uri="{C183D7F6-B498-43B3-948B-1728B52AA6E4}">
                <adec:decorative xmlns:adec="http://schemas.microsoft.com/office/drawing/2017/decorative" val="1"/>
              </a:ext>
            </a:extLst>
          </p:cNvPr>
          <p:cNvSpPr/>
          <p:nvPr/>
        </p:nvSpPr>
        <p:spPr>
          <a:xfrm>
            <a:off x="8968324" y="5147335"/>
            <a:ext cx="1671797" cy="2821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8">
            <a:extLst>
              <a:ext uri="{FF2B5EF4-FFF2-40B4-BE49-F238E27FC236}">
                <a16:creationId xmlns:a16="http://schemas.microsoft.com/office/drawing/2014/main" id="{432929C2-EA3B-12DD-A8B1-AA0CB62C81E0}"/>
              </a:ext>
              <a:ext uri="{C183D7F6-B498-43B3-948B-1728B52AA6E4}">
                <adec:decorative xmlns:adec="http://schemas.microsoft.com/office/drawing/2017/decorative" val="1"/>
              </a:ext>
            </a:extLst>
          </p:cNvPr>
          <p:cNvSpPr/>
          <p:nvPr/>
        </p:nvSpPr>
        <p:spPr>
          <a:xfrm>
            <a:off x="10848853" y="5147336"/>
            <a:ext cx="1183314" cy="261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9">
            <a:extLst>
              <a:ext uri="{FF2B5EF4-FFF2-40B4-BE49-F238E27FC236}">
                <a16:creationId xmlns:a16="http://schemas.microsoft.com/office/drawing/2014/main" id="{E354977D-28A1-230C-CD0C-B6CC29F3E50A}"/>
              </a:ext>
              <a:ext uri="{C183D7F6-B498-43B3-948B-1728B52AA6E4}">
                <adec:decorative xmlns:adec="http://schemas.microsoft.com/office/drawing/2017/decorative" val="1"/>
              </a:ext>
            </a:extLst>
          </p:cNvPr>
          <p:cNvSpPr/>
          <p:nvPr/>
        </p:nvSpPr>
        <p:spPr>
          <a:xfrm>
            <a:off x="10826552" y="3456545"/>
            <a:ext cx="1183314" cy="7875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028997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4B9AF6-4F3E-DD7A-FC5D-0F04867B0050}"/>
              </a:ext>
            </a:extLst>
          </p:cNvPr>
          <p:cNvSpPr>
            <a:spLocks noGrp="1"/>
          </p:cNvSpPr>
          <p:nvPr>
            <p:ph type="title"/>
          </p:nvPr>
        </p:nvSpPr>
        <p:spPr/>
        <p:txBody>
          <a:bodyPr>
            <a:normAutofit fontScale="90000"/>
          </a:bodyPr>
          <a:lstStyle/>
          <a:p>
            <a:r>
              <a:rPr lang="es-ES" dirty="0"/>
              <a:t>5. Regresión lineal simple</a:t>
            </a:r>
            <a:br>
              <a:rPr lang="es-ES" dirty="0"/>
            </a:br>
            <a:r>
              <a:rPr lang="es-ES" dirty="0"/>
              <a:t>Intervalo de confianza de una predicción (cálculo)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E212CED-3421-FF58-E795-27962BCF005B}"/>
                  </a:ext>
                </a:extLst>
              </p:cNvPr>
              <p:cNvSpPr>
                <a:spLocks noGrp="1"/>
              </p:cNvSpPr>
              <p:nvPr>
                <p:ph idx="1"/>
              </p:nvPr>
            </p:nvSpPr>
            <p:spPr>
              <a:xfrm>
                <a:off x="838200" y="1825625"/>
                <a:ext cx="10515600" cy="4895850"/>
              </a:xfrm>
            </p:spPr>
            <p:txBody>
              <a:bodyPr>
                <a:normAutofit fontScale="77500" lnSpcReduction="20000"/>
              </a:bodyPr>
              <a:lstStyle/>
              <a:p>
                <a:r>
                  <a:rPr lang="es-ES" dirty="0"/>
                  <a:t>Si la recta de regresión es</a:t>
                </a:r>
              </a:p>
              <a:p>
                <a:pPr lvl="1"/>
                <a14:m>
                  <m:oMath xmlns:m="http://schemas.openxmlformats.org/officeDocument/2006/math">
                    <m:acc>
                      <m:accPr>
                        <m:chr m:val="̂"/>
                        <m:ctrlPr>
                          <a:rPr lang="es-ES" i="1" smtClean="0">
                            <a:latin typeface="Cambria Math" panose="02040503050406030204" pitchFamily="18" charset="0"/>
                          </a:rPr>
                        </m:ctrlPr>
                      </m:accPr>
                      <m:e>
                        <m:r>
                          <a:rPr lang="es-ES" i="1">
                            <a:latin typeface="Cambria Math" panose="02040503050406030204" pitchFamily="18" charset="0"/>
                          </a:rPr>
                          <m:t>𝑦</m:t>
                        </m:r>
                      </m:e>
                    </m:acc>
                    <m:r>
                      <a:rPr lang="es-ES" i="1">
                        <a:latin typeface="Cambria Math" panose="02040503050406030204" pitchFamily="18" charset="0"/>
                      </a:rPr>
                      <m:t> =</m:t>
                    </m:r>
                    <m:sSub>
                      <m:sSubPr>
                        <m:ctrlPr>
                          <a:rPr lang="es-ES" i="1">
                            <a:latin typeface="Cambria Math" panose="02040503050406030204" pitchFamily="18" charset="0"/>
                          </a:rPr>
                        </m:ctrlPr>
                      </m:sSubPr>
                      <m:e>
                        <m:r>
                          <a:rPr lang="es-ES" b="0" i="1" smtClean="0">
                            <a:latin typeface="Cambria Math" panose="02040503050406030204" pitchFamily="18" charset="0"/>
                          </a:rPr>
                          <m:t>𝑏</m:t>
                        </m:r>
                      </m:e>
                      <m:sub>
                        <m:r>
                          <a:rPr lang="es-ES" i="1">
                            <a:latin typeface="Cambria Math" panose="02040503050406030204" pitchFamily="18" charset="0"/>
                          </a:rPr>
                          <m:t>0</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𝑏</m:t>
                        </m:r>
                      </m:e>
                      <m:sub>
                        <m:r>
                          <a:rPr lang="es-ES" i="1">
                            <a:latin typeface="Cambria Math" panose="02040503050406030204" pitchFamily="18" charset="0"/>
                          </a:rPr>
                          <m:t>1</m:t>
                        </m:r>
                      </m:sub>
                    </m:sSub>
                    <m:r>
                      <a:rPr lang="es-ES" i="1">
                        <a:latin typeface="Cambria Math" panose="02040503050406030204" pitchFamily="18" charset="0"/>
                      </a:rPr>
                      <m:t>𝑥</m:t>
                    </m:r>
                  </m:oMath>
                </a14:m>
                <a:endParaRPr lang="es-ES" dirty="0"/>
              </a:p>
              <a:p>
                <a:r>
                  <a:rPr lang="es-ES" dirty="0"/>
                  <a:t>El intervalo de confianza para </a:t>
                </a:r>
                <a14:m>
                  <m:oMath xmlns:m="http://schemas.openxmlformats.org/officeDocument/2006/math">
                    <m:r>
                      <a:rPr lang="es-ES" i="1" dirty="0" smtClean="0">
                        <a:latin typeface="Cambria Math" panose="02040503050406030204" pitchFamily="18" charset="0"/>
                      </a:rPr>
                      <m:t>𝑌</m:t>
                    </m:r>
                  </m:oMath>
                </a14:m>
                <a:r>
                  <a:rPr lang="es-ES" dirty="0"/>
                  <a:t> cuando </a:t>
                </a:r>
                <a14:m>
                  <m:oMath xmlns:m="http://schemas.openxmlformats.org/officeDocument/2006/math">
                    <m:r>
                      <a:rPr lang="es-ES" i="1" dirty="0" smtClean="0">
                        <a:latin typeface="Cambria Math" panose="02040503050406030204" pitchFamily="18" charset="0"/>
                      </a:rPr>
                      <m:t>𝑋</m:t>
                    </m:r>
                    <m:r>
                      <a:rPr lang="es-ES" i="1" dirty="0" smtClean="0">
                        <a:latin typeface="Cambria Math" panose="02040503050406030204" pitchFamily="18" charset="0"/>
                      </a:rPr>
                      <m:t>=</m:t>
                    </m:r>
                    <m:sSub>
                      <m:sSubPr>
                        <m:ctrlPr>
                          <a:rPr lang="es-ES" i="1" dirty="0" smtClean="0">
                            <a:latin typeface="Cambria Math" panose="02040503050406030204" pitchFamily="18" charset="0"/>
                          </a:rPr>
                        </m:ctrlPr>
                      </m:sSubPr>
                      <m:e>
                        <m:r>
                          <a:rPr lang="es-ES" b="0" i="1" dirty="0" smtClean="0">
                            <a:latin typeface="Cambria Math" panose="02040503050406030204" pitchFamily="18" charset="0"/>
                          </a:rPr>
                          <m:t>𝑥</m:t>
                        </m:r>
                      </m:e>
                      <m:sub>
                        <m:r>
                          <a:rPr lang="es-ES" b="0" i="1" dirty="0" smtClean="0">
                            <a:latin typeface="Cambria Math" panose="02040503050406030204" pitchFamily="18" charset="0"/>
                          </a:rPr>
                          <m:t>𝑜</m:t>
                        </m:r>
                      </m:sub>
                    </m:sSub>
                  </m:oMath>
                </a14:m>
                <a:endParaRPr lang="es-ES" dirty="0"/>
              </a:p>
              <a:p>
                <a:pPr lvl="1"/>
                <a14:m>
                  <m:oMath xmlns:m="http://schemas.openxmlformats.org/officeDocument/2006/math">
                    <m:r>
                      <a:rPr lang="es-ES" b="0" i="1" smtClean="0">
                        <a:latin typeface="Cambria Math" panose="02040503050406030204" pitchFamily="18" charset="0"/>
                        <a:ea typeface="Cambria Math" panose="02040503050406030204" pitchFamily="18" charset="0"/>
                      </a:rPr>
                      <m:t>𝐼𝐶</m:t>
                    </m:r>
                    <m:r>
                      <a:rPr lang="es-ES" b="0"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ea typeface="Cambria Math" panose="02040503050406030204" pitchFamily="18" charset="0"/>
                          </a:rPr>
                        </m:ctrlPr>
                      </m:sSub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𝑦</m:t>
                            </m:r>
                          </m:e>
                        </m:acc>
                      </m:e>
                      <m:sub>
                        <m:r>
                          <a:rPr lang="es-ES" i="1">
                            <a:latin typeface="Cambria Math" panose="02040503050406030204" pitchFamily="18" charset="0"/>
                            <a:ea typeface="Cambria Math" panose="02040503050406030204" pitchFamily="18" charset="0"/>
                          </a:rPr>
                          <m:t>𝑜</m:t>
                        </m:r>
                      </m:sub>
                    </m:sSub>
                    <m:r>
                      <a:rPr lang="es-ES" i="1">
                        <a:latin typeface="Cambria Math" panose="02040503050406030204" pitchFamily="18" charset="0"/>
                        <a:ea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m:t>
                        </m:r>
                      </m:sub>
                    </m:sSub>
                    <m:r>
                      <a:rPr lang="es-ES" b="0" i="1" smtClean="0">
                        <a:latin typeface="Cambria Math" panose="02040503050406030204" pitchFamily="18" charset="0"/>
                        <a:ea typeface="Cambria Math" panose="02040503050406030204" pitchFamily="18" charset="0"/>
                      </a:rPr>
                      <m:t>𝑠</m:t>
                    </m:r>
                    <m:rad>
                      <m:radPr>
                        <m:degHide m:val="on"/>
                        <m:ctrlPr>
                          <a:rPr lang="es-ES" b="0" i="1" smtClean="0">
                            <a:latin typeface="Cambria Math" panose="02040503050406030204" pitchFamily="18" charset="0"/>
                            <a:ea typeface="Cambria Math" panose="02040503050406030204" pitchFamily="18" charset="0"/>
                          </a:rPr>
                        </m:ctrlPr>
                      </m:radPr>
                      <m:deg/>
                      <m:e>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1</m:t>
                            </m:r>
                          </m:num>
                          <m:den>
                            <m:r>
                              <a:rPr lang="es-ES" b="0" i="1" smtClean="0">
                                <a:latin typeface="Cambria Math" panose="02040503050406030204" pitchFamily="18" charset="0"/>
                                <a:ea typeface="Cambria Math" panose="02040503050406030204" pitchFamily="18" charset="0"/>
                              </a:rPr>
                              <m:t>𝑛</m:t>
                            </m:r>
                          </m:den>
                        </m:f>
                        <m:r>
                          <a:rPr lang="es-ES" b="0" i="1" smtClean="0">
                            <a:latin typeface="Cambria Math" panose="02040503050406030204" pitchFamily="18" charset="0"/>
                            <a:ea typeface="Cambria Math" panose="02040503050406030204" pitchFamily="18" charset="0"/>
                          </a:rPr>
                          <m:t>+</m:t>
                        </m:r>
                        <m:f>
                          <m:fPr>
                            <m:ctrlPr>
                              <a:rPr lang="es-ES" b="0" i="1" smtClean="0">
                                <a:latin typeface="Cambria Math" panose="02040503050406030204" pitchFamily="18" charset="0"/>
                                <a:ea typeface="Cambria Math" panose="02040503050406030204" pitchFamily="18" charset="0"/>
                              </a:rPr>
                            </m:ctrlPr>
                          </m:fPr>
                          <m:num>
                            <m:sSup>
                              <m:sSupPr>
                                <m:ctrlPr>
                                  <a:rPr lang="es-ES" b="0" i="1" smtClean="0">
                                    <a:latin typeface="Cambria Math" panose="02040503050406030204" pitchFamily="18" charset="0"/>
                                    <a:ea typeface="Cambria Math" panose="02040503050406030204" pitchFamily="18" charset="0"/>
                                  </a:rPr>
                                </m:ctrlPr>
                              </m:sSupPr>
                              <m:e>
                                <m:d>
                                  <m:dPr>
                                    <m:ctrlPr>
                                      <a:rPr lang="es-ES" b="0" i="1" smtClean="0">
                                        <a:latin typeface="Cambria Math" panose="02040503050406030204" pitchFamily="18" charset="0"/>
                                        <a:ea typeface="Cambria Math" panose="02040503050406030204" pitchFamily="18" charset="0"/>
                                      </a:rPr>
                                    </m:ctrlPr>
                                  </m:dPr>
                                  <m:e>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𝑥</m:t>
                                        </m:r>
                                      </m:e>
                                      <m:sub>
                                        <m:r>
                                          <a:rPr lang="es-ES" b="0" i="1" smtClean="0">
                                            <a:latin typeface="Cambria Math" panose="02040503050406030204" pitchFamily="18" charset="0"/>
                                            <a:ea typeface="Cambria Math" panose="02040503050406030204" pitchFamily="18" charset="0"/>
                                          </a:rPr>
                                          <m:t>𝑜</m:t>
                                        </m:r>
                                      </m:sub>
                                    </m:sSub>
                                    <m:r>
                                      <a:rPr lang="es-ES" b="0" i="1" smtClean="0">
                                        <a:latin typeface="Cambria Math" panose="02040503050406030204" pitchFamily="18" charset="0"/>
                                        <a:ea typeface="Cambria Math" panose="02040503050406030204" pitchFamily="18" charset="0"/>
                                      </a:rPr>
                                      <m:t>−</m:t>
                                    </m:r>
                                    <m:acc>
                                      <m:accPr>
                                        <m:chr m:val="̅"/>
                                        <m:ctrlPr>
                                          <a:rPr lang="es-ES" b="0" i="1" smtClean="0">
                                            <a:latin typeface="Cambria Math" panose="02040503050406030204" pitchFamily="18" charset="0"/>
                                            <a:ea typeface="Cambria Math" panose="02040503050406030204" pitchFamily="18" charset="0"/>
                                          </a:rPr>
                                        </m:ctrlPr>
                                      </m:accPr>
                                      <m:e>
                                        <m:r>
                                          <a:rPr lang="es-ES" b="0" i="1" smtClean="0">
                                            <a:latin typeface="Cambria Math" panose="02040503050406030204" pitchFamily="18" charset="0"/>
                                            <a:ea typeface="Cambria Math" panose="02040503050406030204" pitchFamily="18" charset="0"/>
                                          </a:rPr>
                                          <m:t>𝑥</m:t>
                                        </m:r>
                                      </m:e>
                                    </m:acc>
                                  </m:e>
                                </m:d>
                              </m:e>
                              <m:sup>
                                <m:r>
                                  <a:rPr lang="es-ES" b="0" i="1" smtClean="0">
                                    <a:latin typeface="Cambria Math" panose="02040503050406030204" pitchFamily="18" charset="0"/>
                                    <a:ea typeface="Cambria Math" panose="02040503050406030204" pitchFamily="18" charset="0"/>
                                  </a:rPr>
                                  <m:t>2</m:t>
                                </m:r>
                              </m:sup>
                            </m:sSup>
                          </m:num>
                          <m:den>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𝑆</m:t>
                                </m:r>
                              </m:e>
                              <m:sub>
                                <m:r>
                                  <a:rPr lang="es-ES" b="0" i="1" smtClean="0">
                                    <a:latin typeface="Cambria Math" panose="02040503050406030204" pitchFamily="18" charset="0"/>
                                    <a:ea typeface="Cambria Math" panose="02040503050406030204" pitchFamily="18" charset="0"/>
                                  </a:rPr>
                                  <m:t>𝑥𝑥</m:t>
                                </m:r>
                              </m:sub>
                            </m:sSub>
                          </m:den>
                        </m:f>
                      </m:e>
                    </m:rad>
                  </m:oMath>
                </a14:m>
                <a:endParaRPr lang="es-ES" dirty="0"/>
              </a:p>
              <a:p>
                <a:pPr lvl="1"/>
                <a:r>
                  <a:rPr lang="es-ES" dirty="0">
                    <a:ea typeface="Cambria Math" panose="02040503050406030204" pitchFamily="18" charset="0"/>
                  </a:rPr>
                  <a:t>Siendo: </a:t>
                </a:r>
                <a14:m>
                  <m:oMath xmlns:m="http://schemas.openxmlformats.org/officeDocument/2006/math">
                    <m:sSub>
                      <m:sSubPr>
                        <m:ctrlPr>
                          <a:rPr lang="es-ES" i="1">
                            <a:latin typeface="Cambria Math" panose="02040503050406030204" pitchFamily="18" charset="0"/>
                            <a:ea typeface="Cambria Math" panose="02040503050406030204" pitchFamily="18" charset="0"/>
                          </a:rPr>
                        </m:ctrlPr>
                      </m:sSub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𝑦</m:t>
                            </m:r>
                          </m:e>
                        </m:acc>
                      </m:e>
                      <m:sub>
                        <m:r>
                          <a:rPr lang="es-ES" i="1">
                            <a:latin typeface="Cambria Math" panose="02040503050406030204" pitchFamily="18" charset="0"/>
                            <a:ea typeface="Cambria Math" panose="02040503050406030204" pitchFamily="18" charset="0"/>
                          </a:rPr>
                          <m:t>𝑜</m:t>
                        </m:r>
                      </m:sub>
                    </m:sSub>
                    <m:r>
                      <a:rPr lang="es-ES" b="0" i="1" smtClean="0">
                        <a:latin typeface="Cambria Math" panose="02040503050406030204" pitchFamily="18" charset="0"/>
                        <a:ea typeface="Cambria Math" panose="02040503050406030204" pitchFamily="18" charset="0"/>
                      </a:rPr>
                      <m:t>=</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𝑦</m:t>
                            </m:r>
                          </m:e>
                        </m:acc>
                        <m:d>
                          <m:dPr>
                            <m:begChr m:val="|"/>
                            <m:endChr m:val=""/>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𝑥</m:t>
                            </m:r>
                            <m:r>
                              <a:rPr lang="es-ES" i="1">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ea typeface="Cambria Math" panose="02040503050406030204" pitchFamily="18" charset="0"/>
                                  </a:rPr>
                                </m:ctrlPr>
                              </m:sSubPr>
                              <m:e>
                                <m:r>
                                  <a:rPr lang="es-ES" i="1">
                                    <a:latin typeface="Cambria Math" panose="02040503050406030204" pitchFamily="18" charset="0"/>
                                    <a:ea typeface="Cambria Math" panose="02040503050406030204" pitchFamily="18" charset="0"/>
                                  </a:rPr>
                                  <m:t>𝑥</m:t>
                                </m:r>
                              </m:e>
                              <m:sub>
                                <m:r>
                                  <a:rPr lang="es-ES" b="0" i="1" smtClean="0">
                                    <a:latin typeface="Cambria Math" panose="02040503050406030204" pitchFamily="18" charset="0"/>
                                    <a:ea typeface="Cambria Math" panose="02040503050406030204" pitchFamily="18" charset="0"/>
                                  </a:rPr>
                                  <m:t>𝑜</m:t>
                                </m:r>
                              </m:sub>
                            </m:sSub>
                          </m:e>
                        </m:d>
                      </m:e>
                    </m:d>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𝑏</m:t>
                        </m:r>
                      </m:e>
                      <m:sub>
                        <m:r>
                          <a:rPr lang="es-ES" i="1">
                            <a:latin typeface="Cambria Math" panose="02040503050406030204" pitchFamily="18" charset="0"/>
                          </a:rPr>
                          <m:t>0</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𝑏</m:t>
                        </m:r>
                      </m:e>
                      <m:sub>
                        <m:r>
                          <a:rPr lang="es-ES" i="1">
                            <a:latin typeface="Cambria Math" panose="02040503050406030204" pitchFamily="18" charset="0"/>
                          </a:rPr>
                          <m:t>1</m:t>
                        </m:r>
                      </m:sub>
                    </m:sSub>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b="0" i="1" smtClean="0">
                            <a:latin typeface="Cambria Math" panose="02040503050406030204" pitchFamily="18" charset="0"/>
                          </a:rPr>
                          <m:t>𝑜</m:t>
                        </m:r>
                      </m:sub>
                    </m:sSub>
                  </m:oMath>
                </a14:m>
                <a:endParaRPr lang="es-ES" dirty="0"/>
              </a:p>
              <a:p>
                <a:r>
                  <a:rPr lang="es-ES" dirty="0"/>
                  <a:t>Los límites del intervalo se calculan como:</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𝑏</m:t>
                        </m:r>
                      </m:e>
                      <m:sub>
                        <m:r>
                          <a:rPr lang="es-ES" i="1">
                            <a:latin typeface="Cambria Math" panose="02040503050406030204" pitchFamily="18" charset="0"/>
                          </a:rPr>
                          <m:t>0</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𝑏</m:t>
                        </m:r>
                      </m:e>
                      <m:sub>
                        <m:r>
                          <a:rPr lang="es-ES" i="1">
                            <a:latin typeface="Cambria Math" panose="02040503050406030204" pitchFamily="18" charset="0"/>
                          </a:rPr>
                          <m:t>1</m:t>
                        </m:r>
                      </m:sub>
                    </m:sSub>
                    <m:sSub>
                      <m:sSubPr>
                        <m:ctrlPr>
                          <a:rPr lang="es-ES"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𝑜</m:t>
                        </m:r>
                      </m:sub>
                    </m:sSub>
                    <m:r>
                      <a:rPr lang="es-ES" b="0" i="1" smtClean="0">
                        <a:latin typeface="Cambria Math" panose="02040503050406030204" pitchFamily="18" charset="0"/>
                      </a:rPr>
                      <m:t>−</m:t>
                    </m:r>
                    <m:d>
                      <m:dPr>
                        <m:ctrlPr>
                          <a:rPr lang="es-ES" b="0" i="1" smtClean="0">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2</m:t>
                            </m:r>
                          </m:sub>
                        </m:sSub>
                      </m:e>
                    </m:d>
                    <m:r>
                      <a:rPr lang="es-ES" b="0" i="1" smtClean="0">
                        <a:latin typeface="Cambria Math" panose="02040503050406030204" pitchFamily="18" charset="0"/>
                        <a:ea typeface="Cambria Math" panose="02040503050406030204" pitchFamily="18" charset="0"/>
                      </a:rPr>
                      <m:t>∙</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𝑠</m:t>
                        </m:r>
                      </m:e>
                    </m:d>
                    <m:r>
                      <a:rPr lang="es-ES" b="0" i="1" smtClean="0">
                        <a:latin typeface="Cambria Math" panose="02040503050406030204" pitchFamily="18" charset="0"/>
                        <a:ea typeface="Cambria Math" panose="02040503050406030204" pitchFamily="18" charset="0"/>
                      </a:rPr>
                      <m:t>∙</m:t>
                    </m:r>
                    <m:rad>
                      <m:radPr>
                        <m:degHide m:val="on"/>
                        <m:ctrlPr>
                          <a:rPr lang="es-ES" b="0" i="1" smtClean="0">
                            <a:latin typeface="Cambria Math" panose="02040503050406030204" pitchFamily="18" charset="0"/>
                            <a:ea typeface="Cambria Math" panose="02040503050406030204" pitchFamily="18" charset="0"/>
                          </a:rPr>
                        </m:ctrlPr>
                      </m:radPr>
                      <m:deg/>
                      <m:e>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1</m:t>
                            </m:r>
                          </m:num>
                          <m:den>
                            <m:r>
                              <a:rPr lang="es-ES" b="0" i="1" smtClean="0">
                                <a:latin typeface="Cambria Math" panose="02040503050406030204" pitchFamily="18" charset="0"/>
                                <a:ea typeface="Cambria Math" panose="02040503050406030204" pitchFamily="18" charset="0"/>
                              </a:rPr>
                              <m:t>𝑛</m:t>
                            </m:r>
                          </m:den>
                        </m:f>
                        <m:r>
                          <a:rPr lang="es-ES" b="0" i="1" smtClean="0">
                            <a:latin typeface="Cambria Math" panose="02040503050406030204" pitchFamily="18" charset="0"/>
                            <a:ea typeface="Cambria Math" panose="02040503050406030204" pitchFamily="18" charset="0"/>
                          </a:rPr>
                          <m:t>+</m:t>
                        </m:r>
                        <m:f>
                          <m:fPr>
                            <m:ctrlPr>
                              <a:rPr lang="es-ES" b="0" i="1" smtClean="0">
                                <a:latin typeface="Cambria Math" panose="02040503050406030204" pitchFamily="18" charset="0"/>
                                <a:ea typeface="Cambria Math" panose="02040503050406030204" pitchFamily="18" charset="0"/>
                              </a:rPr>
                            </m:ctrlPr>
                          </m:fPr>
                          <m:num>
                            <m:sSup>
                              <m:sSupPr>
                                <m:ctrlPr>
                                  <a:rPr lang="es-ES" b="0" i="1" smtClean="0">
                                    <a:latin typeface="Cambria Math" panose="02040503050406030204" pitchFamily="18" charset="0"/>
                                    <a:ea typeface="Cambria Math" panose="02040503050406030204" pitchFamily="18" charset="0"/>
                                  </a:rPr>
                                </m:ctrlPr>
                              </m:sSupPr>
                              <m:e>
                                <m:d>
                                  <m:dPr>
                                    <m:ctrlPr>
                                      <a:rPr lang="es-ES" b="0" i="1" smtClean="0">
                                        <a:latin typeface="Cambria Math" panose="02040503050406030204" pitchFamily="18" charset="0"/>
                                        <a:ea typeface="Cambria Math" panose="02040503050406030204" pitchFamily="18" charset="0"/>
                                      </a:rPr>
                                    </m:ctrlPr>
                                  </m:dPr>
                                  <m:e>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𝑥</m:t>
                                        </m:r>
                                      </m:e>
                                      <m:sub>
                                        <m:r>
                                          <a:rPr lang="es-ES" b="0" i="1" smtClean="0">
                                            <a:latin typeface="Cambria Math" panose="02040503050406030204" pitchFamily="18" charset="0"/>
                                            <a:ea typeface="Cambria Math" panose="02040503050406030204" pitchFamily="18" charset="0"/>
                                          </a:rPr>
                                          <m:t>𝑜</m:t>
                                        </m:r>
                                      </m:sub>
                                    </m:sSub>
                                    <m:r>
                                      <a:rPr lang="es-ES" b="0" i="1" smtClean="0">
                                        <a:latin typeface="Cambria Math" panose="02040503050406030204" pitchFamily="18" charset="0"/>
                                        <a:ea typeface="Cambria Math" panose="02040503050406030204" pitchFamily="18" charset="0"/>
                                      </a:rPr>
                                      <m:t>−</m:t>
                                    </m:r>
                                    <m:acc>
                                      <m:accPr>
                                        <m:chr m:val="̅"/>
                                        <m:ctrlPr>
                                          <a:rPr lang="es-ES" b="0" i="1" smtClean="0">
                                            <a:latin typeface="Cambria Math" panose="02040503050406030204" pitchFamily="18" charset="0"/>
                                            <a:ea typeface="Cambria Math" panose="02040503050406030204" pitchFamily="18" charset="0"/>
                                          </a:rPr>
                                        </m:ctrlPr>
                                      </m:accPr>
                                      <m:e>
                                        <m:r>
                                          <a:rPr lang="es-ES" b="0" i="1" smtClean="0">
                                            <a:latin typeface="Cambria Math" panose="02040503050406030204" pitchFamily="18" charset="0"/>
                                            <a:ea typeface="Cambria Math" panose="02040503050406030204" pitchFamily="18" charset="0"/>
                                          </a:rPr>
                                          <m:t>𝑥</m:t>
                                        </m:r>
                                      </m:e>
                                    </m:acc>
                                  </m:e>
                                </m:d>
                              </m:e>
                              <m:sup>
                                <m:r>
                                  <a:rPr lang="es-ES" b="0" i="1" smtClean="0">
                                    <a:latin typeface="Cambria Math" panose="02040503050406030204" pitchFamily="18" charset="0"/>
                                    <a:ea typeface="Cambria Math" panose="02040503050406030204" pitchFamily="18" charset="0"/>
                                  </a:rPr>
                                  <m:t>2</m:t>
                                </m:r>
                              </m:sup>
                            </m:sSup>
                          </m:num>
                          <m:den>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𝑆</m:t>
                                </m:r>
                              </m:e>
                              <m:sub>
                                <m:r>
                                  <a:rPr lang="es-ES" b="0" i="1" smtClean="0">
                                    <a:latin typeface="Cambria Math" panose="02040503050406030204" pitchFamily="18" charset="0"/>
                                    <a:ea typeface="Cambria Math" panose="02040503050406030204" pitchFamily="18" charset="0"/>
                                  </a:rPr>
                                  <m:t>𝑥𝑥</m:t>
                                </m:r>
                              </m:sub>
                            </m:sSub>
                          </m:den>
                        </m:f>
                      </m:e>
                    </m:rad>
                  </m:oMath>
                </a14:m>
                <a:endParaRPr lang="es-ES"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𝑏</m:t>
                        </m:r>
                      </m:e>
                      <m:sub>
                        <m:r>
                          <a:rPr lang="es-ES" i="1">
                            <a:latin typeface="Cambria Math" panose="02040503050406030204" pitchFamily="18" charset="0"/>
                          </a:rPr>
                          <m:t>0</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𝑏</m:t>
                        </m:r>
                      </m:e>
                      <m:sub>
                        <m:r>
                          <a:rPr lang="es-ES" i="1">
                            <a:latin typeface="Cambria Math" panose="02040503050406030204" pitchFamily="18" charset="0"/>
                          </a:rPr>
                          <m:t>1</m:t>
                        </m:r>
                      </m:sub>
                    </m:sSub>
                    <m:sSub>
                      <m:sSubPr>
                        <m:ctrlPr>
                          <a:rPr lang="es-ES"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𝑜</m:t>
                        </m:r>
                      </m:sub>
                    </m:sSub>
                    <m:r>
                      <a:rPr lang="es-ES" b="0" i="1" smtClean="0">
                        <a:latin typeface="Cambria Math" panose="02040503050406030204" pitchFamily="18" charset="0"/>
                      </a:rPr>
                      <m:t>+</m:t>
                    </m:r>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2</m:t>
                            </m:r>
                          </m:sub>
                        </m:sSub>
                      </m:e>
                    </m:d>
                    <m:r>
                      <a:rPr lang="es-ES" i="1">
                        <a:latin typeface="Cambria Math" panose="02040503050406030204" pitchFamily="18" charset="0"/>
                        <a:ea typeface="Cambria Math" panose="02040503050406030204" pitchFamily="18" charset="0"/>
                      </a:rPr>
                      <m:t>∙</m:t>
                    </m:r>
                    <m:d>
                      <m:dPr>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𝑠</m:t>
                        </m:r>
                      </m:e>
                    </m:d>
                    <m:r>
                      <a:rPr lang="es-ES" i="1">
                        <a:latin typeface="Cambria Math" panose="02040503050406030204" pitchFamily="18" charset="0"/>
                        <a:ea typeface="Cambria Math" panose="02040503050406030204" pitchFamily="18" charset="0"/>
                      </a:rPr>
                      <m:t>∙</m:t>
                    </m:r>
                    <m:rad>
                      <m:radPr>
                        <m:degHide m:val="on"/>
                        <m:ctrlPr>
                          <a:rPr lang="es-ES" i="1">
                            <a:latin typeface="Cambria Math" panose="02040503050406030204" pitchFamily="18" charset="0"/>
                            <a:ea typeface="Cambria Math" panose="02040503050406030204" pitchFamily="18" charset="0"/>
                          </a:rPr>
                        </m:ctrlPr>
                      </m:radPr>
                      <m:deg/>
                      <m:e>
                        <m:r>
                          <a:rPr lang="es-ES" i="1">
                            <a:latin typeface="Cambria Math" panose="02040503050406030204" pitchFamily="18" charset="0"/>
                            <a:ea typeface="Cambria Math" panose="02040503050406030204" pitchFamily="18" charset="0"/>
                          </a:rPr>
                          <m:t>1</m:t>
                        </m:r>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1</m:t>
                            </m:r>
                          </m:num>
                          <m:den>
                            <m:r>
                              <a:rPr lang="es-ES" i="1">
                                <a:latin typeface="Cambria Math" panose="02040503050406030204" pitchFamily="18" charset="0"/>
                                <a:ea typeface="Cambria Math" panose="02040503050406030204" pitchFamily="18" charset="0"/>
                              </a:rPr>
                              <m:t>𝑛</m:t>
                            </m:r>
                          </m:den>
                        </m:f>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d>
                                  <m:dPr>
                                    <m:ctrlPr>
                                      <a:rPr lang="es-ES" i="1">
                                        <a:latin typeface="Cambria Math" panose="02040503050406030204" pitchFamily="18" charset="0"/>
                                        <a:ea typeface="Cambria Math" panose="02040503050406030204" pitchFamily="18" charset="0"/>
                                      </a:rPr>
                                    </m:ctrlPr>
                                  </m:dPr>
                                  <m:e>
                                    <m:sSub>
                                      <m:sSubPr>
                                        <m:ctrlPr>
                                          <a:rPr lang="es-ES" i="1">
                                            <a:latin typeface="Cambria Math" panose="02040503050406030204" pitchFamily="18" charset="0"/>
                                            <a:ea typeface="Cambria Math" panose="02040503050406030204" pitchFamily="18" charset="0"/>
                                          </a:rPr>
                                        </m:ctrlPr>
                                      </m:sSubPr>
                                      <m:e>
                                        <m:r>
                                          <a:rPr lang="es-ES" i="1">
                                            <a:latin typeface="Cambria Math" panose="02040503050406030204" pitchFamily="18" charset="0"/>
                                            <a:ea typeface="Cambria Math" panose="02040503050406030204" pitchFamily="18" charset="0"/>
                                          </a:rPr>
                                          <m:t>𝑥</m:t>
                                        </m:r>
                                      </m:e>
                                      <m:sub>
                                        <m:r>
                                          <a:rPr lang="es-ES" b="0" i="1" smtClean="0">
                                            <a:latin typeface="Cambria Math" panose="02040503050406030204" pitchFamily="18" charset="0"/>
                                            <a:ea typeface="Cambria Math" panose="02040503050406030204" pitchFamily="18" charset="0"/>
                                          </a:rPr>
                                          <m:t>𝑜</m:t>
                                        </m:r>
                                      </m:sub>
                                    </m:sSub>
                                    <m:r>
                                      <a:rPr lang="es-ES" i="1">
                                        <a:latin typeface="Cambria Math" panose="02040503050406030204" pitchFamily="18" charset="0"/>
                                        <a:ea typeface="Cambria Math" panose="02040503050406030204" pitchFamily="18" charset="0"/>
                                      </a:rPr>
                                      <m:t>−</m:t>
                                    </m:r>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𝑥</m:t>
                                        </m:r>
                                      </m:e>
                                    </m:acc>
                                  </m:e>
                                </m:d>
                              </m:e>
                              <m:sup>
                                <m:r>
                                  <a:rPr lang="es-ES" i="1">
                                    <a:latin typeface="Cambria Math" panose="02040503050406030204" pitchFamily="18" charset="0"/>
                                    <a:ea typeface="Cambria Math" panose="02040503050406030204" pitchFamily="18" charset="0"/>
                                  </a:rPr>
                                  <m:t>2</m:t>
                                </m:r>
                              </m:sup>
                            </m:sSup>
                          </m:num>
                          <m:den>
                            <m:sSub>
                              <m:sSubPr>
                                <m:ctrlPr>
                                  <a:rPr lang="es-ES" i="1">
                                    <a:latin typeface="Cambria Math" panose="02040503050406030204" pitchFamily="18" charset="0"/>
                                    <a:ea typeface="Cambria Math" panose="02040503050406030204" pitchFamily="18" charset="0"/>
                                  </a:rPr>
                                </m:ctrlPr>
                              </m:sSubPr>
                              <m:e>
                                <m:r>
                                  <a:rPr lang="es-ES" i="1">
                                    <a:latin typeface="Cambria Math" panose="02040503050406030204" pitchFamily="18" charset="0"/>
                                    <a:ea typeface="Cambria Math" panose="02040503050406030204" pitchFamily="18" charset="0"/>
                                  </a:rPr>
                                  <m:t>𝑆</m:t>
                                </m:r>
                              </m:e>
                              <m:sub>
                                <m:r>
                                  <a:rPr lang="es-ES" i="1">
                                    <a:latin typeface="Cambria Math" panose="02040503050406030204" pitchFamily="18" charset="0"/>
                                    <a:ea typeface="Cambria Math" panose="02040503050406030204" pitchFamily="18" charset="0"/>
                                  </a:rPr>
                                  <m:t>𝑥𝑥</m:t>
                                </m:r>
                              </m:sub>
                            </m:sSub>
                          </m:den>
                        </m:f>
                      </m:e>
                    </m:rad>
                  </m:oMath>
                </a14:m>
                <a:endParaRPr lang="es-ES" dirty="0"/>
              </a:p>
              <a:p>
                <a:pPr lvl="1"/>
                <a:r>
                  <a:rPr lang="es-ES" dirty="0"/>
                  <a:t>Siendo</a:t>
                </a:r>
              </a:p>
              <a:p>
                <a:pPr lvl="2"/>
                <a14:m>
                  <m:oMath xmlns:m="http://schemas.openxmlformats.org/officeDocument/2006/math">
                    <m:r>
                      <a:rPr lang="es-ES" i="1">
                        <a:latin typeface="Cambria Math" panose="02040503050406030204" pitchFamily="18" charset="0"/>
                      </a:rPr>
                      <m:t>𝑠</m:t>
                    </m:r>
                    <m:r>
                      <a:rPr lang="es-ES" i="1">
                        <a:latin typeface="Cambria Math" panose="02040503050406030204" pitchFamily="18" charset="0"/>
                      </a:rPr>
                      <m:t>=</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nary>
                              <m:naryPr>
                                <m:chr m:val="∑"/>
                                <m:ctrlPr>
                                  <a:rPr lang="es-ES" i="1">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m:t>
                                </m:r>
                                <m:r>
                                  <m:rPr>
                                    <m:brk m:alnAt="23"/>
                                  </m:rPr>
                                  <a:rPr lang="es-ES" i="1">
                                    <a:latin typeface="Cambria Math" panose="02040503050406030204" pitchFamily="18" charset="0"/>
                                  </a:rPr>
                                  <m:t>1</m:t>
                                </m:r>
                              </m:sub>
                              <m:sup>
                                <m:r>
                                  <a:rPr lang="es-ES" i="1">
                                    <a:latin typeface="Cambria Math" panose="02040503050406030204" pitchFamily="18" charset="0"/>
                                  </a:rPr>
                                  <m:t>𝑛</m:t>
                                </m:r>
                              </m:sup>
                              <m:e>
                                <m:sSup>
                                  <m:sSupPr>
                                    <m:ctrlPr>
                                      <a:rPr lang="es-ES" i="1">
                                        <a:latin typeface="Cambria Math" panose="02040503050406030204" pitchFamily="18" charset="0"/>
                                      </a:rPr>
                                    </m:ctrlPr>
                                  </m:sSupPr>
                                  <m:e>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𝑦</m:t>
                                            </m:r>
                                          </m:e>
                                          <m:sub>
                                            <m:r>
                                              <a:rPr lang="es-ES" i="1">
                                                <a:latin typeface="Cambria Math" panose="02040503050406030204" pitchFamily="18" charset="0"/>
                                              </a:rPr>
                                              <m:t>𝑖</m:t>
                                            </m:r>
                                          </m:sub>
                                        </m:sSub>
                                        <m:r>
                                          <a:rPr lang="es-ES" i="1">
                                            <a:latin typeface="Cambria Math" panose="02040503050406030204" pitchFamily="18" charset="0"/>
                                          </a:rPr>
                                          <m:t>−</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𝑦</m:t>
                                                </m:r>
                                              </m:e>
                                            </m:acc>
                                          </m:e>
                                          <m:sub>
                                            <m:r>
                                              <a:rPr lang="es-ES" i="1">
                                                <a:latin typeface="Cambria Math" panose="02040503050406030204" pitchFamily="18" charset="0"/>
                                              </a:rPr>
                                              <m:t>𝑖</m:t>
                                            </m:r>
                                          </m:sub>
                                        </m:sSub>
                                      </m:e>
                                    </m:d>
                                  </m:e>
                                  <m:sup>
                                    <m:r>
                                      <a:rPr lang="es-ES" i="1">
                                        <a:latin typeface="Cambria Math" panose="02040503050406030204" pitchFamily="18" charset="0"/>
                                      </a:rPr>
                                      <m:t>2</m:t>
                                    </m:r>
                                  </m:sup>
                                </m:sSup>
                              </m:e>
                            </m:nary>
                          </m:num>
                          <m:den>
                            <m:r>
                              <a:rPr lang="es-ES" i="1">
                                <a:latin typeface="Cambria Math" panose="02040503050406030204" pitchFamily="18" charset="0"/>
                              </a:rPr>
                              <m:t>𝑛</m:t>
                            </m:r>
                            <m:r>
                              <a:rPr lang="es-ES" i="1">
                                <a:latin typeface="Cambria Math" panose="02040503050406030204" pitchFamily="18" charset="0"/>
                              </a:rPr>
                              <m:t>−</m:t>
                            </m:r>
                            <m:r>
                              <a:rPr lang="es-ES" i="1">
                                <a:latin typeface="Cambria Math" panose="02040503050406030204" pitchFamily="18" charset="0"/>
                              </a:rPr>
                              <m:t>2</m:t>
                            </m:r>
                          </m:den>
                        </m:f>
                      </m:e>
                    </m:rad>
                    <m:r>
                      <a:rPr lang="es-ES" i="1">
                        <a:latin typeface="Cambria Math" panose="02040503050406030204" pitchFamily="18" charset="0"/>
                      </a:rPr>
                      <m:t>=</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1</m:t>
                                </m:r>
                                <m:r>
                                  <a:rPr lang="es-ES" i="1">
                                    <a:latin typeface="Cambria Math" panose="02040503050406030204" pitchFamily="18" charset="0"/>
                                  </a:rPr>
                                  <m:t>−</m:t>
                                </m:r>
                                <m:sSup>
                                  <m:sSupPr>
                                    <m:ctrlPr>
                                      <a:rPr lang="es-ES" i="1">
                                        <a:latin typeface="Cambria Math" panose="02040503050406030204" pitchFamily="18" charset="0"/>
                                      </a:rPr>
                                    </m:ctrlPr>
                                  </m:sSupPr>
                                  <m:e>
                                    <m:r>
                                      <a:rPr lang="es-ES" i="1">
                                        <a:latin typeface="Cambria Math" panose="02040503050406030204" pitchFamily="18" charset="0"/>
                                      </a:rPr>
                                      <m:t>𝑟</m:t>
                                    </m:r>
                                  </m:e>
                                  <m:sup>
                                    <m:r>
                                      <a:rPr lang="es-ES" i="1">
                                        <a:latin typeface="Cambria Math" panose="02040503050406030204" pitchFamily="18" charset="0"/>
                                      </a:rPr>
                                      <m:t>2</m:t>
                                    </m:r>
                                  </m:sup>
                                </m:sSup>
                              </m:e>
                            </m:d>
                            <m:r>
                              <a:rPr lang="es-ES" i="1">
                                <a:latin typeface="Cambria Math" panose="02040503050406030204" pitchFamily="18" charset="0"/>
                                <a:ea typeface="Cambria Math" panose="02040503050406030204" pitchFamily="18" charset="0"/>
                              </a:rPr>
                              <m:t>∙</m:t>
                            </m:r>
                            <m:sSubSup>
                              <m:sSubSupPr>
                                <m:ctrlPr>
                                  <a:rPr lang="ar-AE"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𝑦</m:t>
                                </m:r>
                              </m:sub>
                              <m:sup>
                                <m:r>
                                  <a:rPr lang="es-ES" i="1">
                                    <a:latin typeface="Cambria Math" panose="02040503050406030204" pitchFamily="18" charset="0"/>
                                  </a:rPr>
                                  <m:t>2</m:t>
                                </m:r>
                              </m:sup>
                            </m:sSubSup>
                            <m:r>
                              <a:rPr lang="es-ES" i="1">
                                <a:latin typeface="Cambria Math" panose="02040503050406030204" pitchFamily="18" charset="0"/>
                                <a:ea typeface="Cambria Math" panose="02040503050406030204" pitchFamily="18" charset="0"/>
                              </a:rPr>
                              <m:t>∙</m:t>
                            </m:r>
                            <m:d>
                              <m:dPr>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m:t>
                                </m:r>
                              </m:e>
                            </m:d>
                          </m:num>
                          <m:den>
                            <m:r>
                              <a:rPr lang="es-ES" i="1">
                                <a:latin typeface="Cambria Math" panose="02040503050406030204" pitchFamily="18" charset="0"/>
                              </a:rPr>
                              <m:t>𝑛</m:t>
                            </m:r>
                            <m:r>
                              <a:rPr lang="es-ES" i="1">
                                <a:latin typeface="Cambria Math" panose="02040503050406030204" pitchFamily="18" charset="0"/>
                              </a:rPr>
                              <m:t>−</m:t>
                            </m:r>
                            <m:r>
                              <a:rPr lang="es-ES" i="1">
                                <a:latin typeface="Cambria Math" panose="02040503050406030204" pitchFamily="18" charset="0"/>
                              </a:rPr>
                              <m:t>2</m:t>
                            </m:r>
                          </m:den>
                        </m:f>
                      </m:e>
                    </m:rad>
                  </m:oMath>
                </a14:m>
                <a:endParaRPr lang="es-ES" i="1" dirty="0">
                  <a:latin typeface="Cambria Math" panose="02040503050406030204" pitchFamily="18" charset="0"/>
                </a:endParaRPr>
              </a:p>
              <a:p>
                <a:pPr lvl="2"/>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𝑆</m:t>
                        </m:r>
                      </m:e>
                      <m:sub>
                        <m:r>
                          <a:rPr lang="es-ES" b="0" i="1" smtClean="0">
                            <a:latin typeface="Cambria Math" panose="02040503050406030204" pitchFamily="18" charset="0"/>
                          </a:rPr>
                          <m:t>𝑥𝑥</m:t>
                        </m:r>
                      </m:sub>
                    </m:sSub>
                    <m:r>
                      <a:rPr lang="es-ES" b="0" i="1" smtClean="0">
                        <a:latin typeface="Cambria Math" panose="02040503050406030204" pitchFamily="18" charset="0"/>
                      </a:rPr>
                      <m:t>=</m:t>
                    </m:r>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m:t>
                        </m:r>
                        <m:r>
                          <m:rPr>
                            <m:brk m:alnAt="23"/>
                          </m:rPr>
                          <a:rPr lang="es-ES" b="0" i="1" smtClean="0">
                            <a:latin typeface="Cambria Math" panose="02040503050406030204" pitchFamily="18" charset="0"/>
                          </a:rPr>
                          <m:t>1</m:t>
                        </m:r>
                      </m:sub>
                      <m:sup>
                        <m:r>
                          <a:rPr lang="es-ES" b="0" i="1" smtClean="0">
                            <a:latin typeface="Cambria Math" panose="02040503050406030204" pitchFamily="18" charset="0"/>
                          </a:rPr>
                          <m:t>𝑛</m:t>
                        </m:r>
                      </m:sup>
                      <m:e>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e>
                            </m:d>
                          </m:e>
                          <m:sup>
                            <m:r>
                              <a:rPr lang="es-ES" b="0" i="1" smtClean="0">
                                <a:latin typeface="Cambria Math" panose="02040503050406030204" pitchFamily="18" charset="0"/>
                              </a:rPr>
                              <m:t>2</m:t>
                            </m:r>
                          </m:sup>
                        </m:sSup>
                      </m:e>
                    </m:nary>
                  </m:oMath>
                </a14:m>
                <a:endParaRPr lang="es-ES" dirty="0"/>
              </a:p>
              <a:p>
                <a:pPr lvl="2"/>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m:t>
                        </m:r>
                        <m:r>
                          <a:rPr lang="es-ES" i="1">
                            <a:latin typeface="Cambria Math" panose="02040503050406030204" pitchFamily="18" charset="0"/>
                          </a:rPr>
                          <m:t>2</m:t>
                        </m:r>
                      </m:sub>
                    </m:sSub>
                    <m:r>
                      <a:rPr lang="es-ES" i="1">
                        <a:latin typeface="Cambria Math" panose="02040503050406030204" pitchFamily="18" charset="0"/>
                      </a:rPr>
                      <m:t>=</m:t>
                    </m:r>
                    <m:r>
                      <a:rPr lang="es-ES" i="1">
                        <a:latin typeface="Cambria Math" panose="02040503050406030204" pitchFamily="18" charset="0"/>
                      </a:rPr>
                      <m:t>𝑐𝑢𝑎𝑛𝑡𝑖𝑙</m:t>
                    </m:r>
                    <m:d>
                      <m:dPr>
                        <m:ctrlPr>
                          <a:rPr lang="es-ES" i="1">
                            <a:latin typeface="Cambria Math" panose="02040503050406030204" pitchFamily="18" charset="0"/>
                          </a:rPr>
                        </m:ctrlPr>
                      </m:dPr>
                      <m:e>
                        <m:r>
                          <a:rPr lang="es-ES" i="1">
                            <a:latin typeface="Cambria Math" panose="02040503050406030204" pitchFamily="18" charset="0"/>
                          </a:rPr>
                          <m:t>1</m:t>
                        </m:r>
                        <m:r>
                          <a:rPr lang="es-ES" i="1">
                            <a:latin typeface="Cambria Math" panose="02040503050406030204" pitchFamily="18" charset="0"/>
                          </a:rPr>
                          <m:t>−</m:t>
                        </m:r>
                        <m:f>
                          <m:fPr>
                            <m:ctrlPr>
                              <a:rPr lang="es-ES" i="1">
                                <a:latin typeface="Cambria Math" panose="02040503050406030204" pitchFamily="18" charset="0"/>
                              </a:rPr>
                            </m:ctrlPr>
                          </m:fPr>
                          <m:num>
                            <m:r>
                              <a:rPr lang="el-GR" i="1">
                                <a:latin typeface="Cambria Math" panose="02040503050406030204" pitchFamily="18" charset="0"/>
                              </a:rPr>
                              <m:t>𝛼</m:t>
                            </m:r>
                          </m:num>
                          <m:den>
                            <m:r>
                              <a:rPr lang="es-ES" i="1">
                                <a:latin typeface="Cambria Math" panose="02040503050406030204" pitchFamily="18" charset="0"/>
                              </a:rPr>
                              <m:t>2</m:t>
                            </m:r>
                          </m:den>
                        </m:f>
                      </m:e>
                    </m:d>
                    <m:r>
                      <m:rPr>
                        <m:nor/>
                      </m:rPr>
                      <a:rPr lang="es-ES"/>
                      <m:t>de</m:t>
                    </m:r>
                    <m:r>
                      <m:rPr>
                        <m:nor/>
                      </m:rPr>
                      <a:rPr lang="es-ES"/>
                      <m:t> </m:t>
                    </m:r>
                    <m:r>
                      <m:rPr>
                        <m:nor/>
                      </m:rPr>
                      <a:rPr lang="es-ES"/>
                      <m:t>T</m:t>
                    </m:r>
                    <m:r>
                      <m:rPr>
                        <m:nor/>
                      </m:rPr>
                      <a:rPr lang="es-ES"/>
                      <m:t>: </m:t>
                    </m:r>
                    <m:r>
                      <m:rPr>
                        <m:nor/>
                      </m:rPr>
                      <a:rPr lang="es-ES"/>
                      <m:t>Student</m:t>
                    </m:r>
                    <m:r>
                      <m:rPr>
                        <m:nor/>
                      </m:rPr>
                      <a:rPr lang="es-ES"/>
                      <m:t>(</m:t>
                    </m:r>
                    <m:r>
                      <m:rPr>
                        <m:nor/>
                      </m:rPr>
                      <a:rPr lang="es-ES"/>
                      <m:t>n</m:t>
                    </m:r>
                    <m:r>
                      <m:rPr>
                        <m:nor/>
                      </m:rPr>
                      <a:rPr lang="es-ES" b="0" i="1" smtClean="0"/>
                      <m:t>−</m:t>
                    </m:r>
                    <m:r>
                      <m:rPr>
                        <m:nor/>
                      </m:rPr>
                      <a:rPr lang="es-ES" b="0" i="1" smtClean="0"/>
                      <m:t>2</m:t>
                    </m:r>
                    <m:r>
                      <m:rPr>
                        <m:nor/>
                      </m:rPr>
                      <a:rPr lang="es-ES"/>
                      <m:t>)</m:t>
                    </m:r>
                    <m:r>
                      <a:rPr lang="es-ES" i="1">
                        <a:latin typeface="Cambria Math" panose="02040503050406030204" pitchFamily="18" charset="0"/>
                      </a:rPr>
                      <m:t> →</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𝑇</m:t>
                        </m:r>
                        <m:r>
                          <a:rPr lang="es-ES" i="1">
                            <a:latin typeface="Cambria Math" panose="020405030504060302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m:t>
                            </m:r>
                            <m:r>
                              <a:rPr lang="es-ES" i="1">
                                <a:latin typeface="Cambria Math" panose="02040503050406030204" pitchFamily="18" charset="0"/>
                              </a:rPr>
                              <m:t>2</m:t>
                            </m:r>
                          </m:sub>
                        </m:sSub>
                      </m:e>
                    </m:d>
                    <m:r>
                      <a:rPr lang="es-ES" i="1">
                        <a:latin typeface="Cambria Math" panose="02040503050406030204" pitchFamily="18" charset="0"/>
                      </a:rPr>
                      <m:t>=</m:t>
                    </m:r>
                    <m:r>
                      <a:rPr lang="es-ES" i="1">
                        <a:latin typeface="Cambria Math" panose="02040503050406030204" pitchFamily="18" charset="0"/>
                      </a:rPr>
                      <m:t>1</m:t>
                    </m:r>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   →   </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𝑇</m:t>
                        </m:r>
                        <m:r>
                          <a:rPr lang="es-ES" i="1">
                            <a:latin typeface="Cambria Math" panose="02040503050406030204" pitchFamily="18" charset="0"/>
                          </a:rPr>
                          <m:t>&gt;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m:t>
                            </m:r>
                            <m:r>
                              <a:rPr lang="es-ES" i="1">
                                <a:latin typeface="Cambria Math" panose="02040503050406030204" pitchFamily="18" charset="0"/>
                              </a:rPr>
                              <m:t>2</m:t>
                            </m:r>
                          </m:sub>
                        </m:sSub>
                      </m:e>
                    </m:d>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oMath>
                </a14:m>
                <a:r>
                  <a:rPr lang="es-ES" dirty="0"/>
                  <a:t>     (Tabla A5)</a:t>
                </a:r>
              </a:p>
            </p:txBody>
          </p:sp>
        </mc:Choice>
        <mc:Fallback xmlns="">
          <p:sp>
            <p:nvSpPr>
              <p:cNvPr id="3" name="Marcador de contenido 2">
                <a:extLst>
                  <a:ext uri="{FF2B5EF4-FFF2-40B4-BE49-F238E27FC236}">
                    <a16:creationId xmlns:a16="http://schemas.microsoft.com/office/drawing/2014/main" id="{3E212CED-3421-FF58-E795-27962BCF005B}"/>
                  </a:ext>
                </a:extLst>
              </p:cNvPr>
              <p:cNvSpPr>
                <a:spLocks noGrp="1" noRot="1" noChangeAspect="1" noMove="1" noResize="1" noEditPoints="1" noAdjustHandles="1" noChangeArrowheads="1" noChangeShapeType="1" noTextEdit="1"/>
              </p:cNvSpPr>
              <p:nvPr>
                <p:ph idx="1"/>
              </p:nvPr>
            </p:nvSpPr>
            <p:spPr>
              <a:xfrm>
                <a:off x="838200" y="1825625"/>
                <a:ext cx="10515600" cy="4895850"/>
              </a:xfrm>
              <a:blipFill>
                <a:blip r:embed="rId2"/>
                <a:stretch>
                  <a:fillRect l="-696" t="-2488" b="-410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EC35D404-EA45-2514-B0A2-0026763838AA}"/>
              </a:ext>
            </a:extLst>
          </p:cNvPr>
          <p:cNvSpPr>
            <a:spLocks noGrp="1"/>
          </p:cNvSpPr>
          <p:nvPr>
            <p:ph type="sldNum" sz="quarter" idx="12"/>
          </p:nvPr>
        </p:nvSpPr>
        <p:spPr/>
        <p:txBody>
          <a:bodyPr/>
          <a:lstStyle/>
          <a:p>
            <a:fld id="{336CAFD0-1F6E-4E11-9822-836563A02839}" type="slidenum">
              <a:rPr lang="es-ES" smtClean="0"/>
              <a:pPr/>
              <a:t>21</a:t>
            </a:fld>
            <a:endParaRPr lang="es-ES" dirty="0"/>
          </a:p>
        </p:txBody>
      </p:sp>
    </p:spTree>
    <p:extLst>
      <p:ext uri="{BB962C8B-B14F-4D97-AF65-F5344CB8AC3E}">
        <p14:creationId xmlns:p14="http://schemas.microsoft.com/office/powerpoint/2010/main" val="77799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1FC30-F7CB-1520-84E8-8D1923A8FB1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4C84712-A69C-862F-6D4C-4C42D3414167}"/>
              </a:ext>
            </a:extLst>
          </p:cNvPr>
          <p:cNvSpPr>
            <a:spLocks noGrp="1"/>
          </p:cNvSpPr>
          <p:nvPr>
            <p:ph type="title"/>
          </p:nvPr>
        </p:nvSpPr>
        <p:spPr/>
        <p:txBody>
          <a:bodyPr>
            <a:normAutofit/>
          </a:bodyPr>
          <a:lstStyle/>
          <a:p>
            <a:r>
              <a:rPr lang="es-ES" dirty="0"/>
              <a:t>5. Regresión lineal simple</a:t>
            </a:r>
            <a:br>
              <a:rPr lang="es-ES" dirty="0"/>
            </a:br>
            <a:r>
              <a:rPr lang="es-ES" dirty="0"/>
              <a:t>Intervalo de confianza (Ejemplo 11.7)</a:t>
            </a:r>
          </a:p>
        </p:txBody>
      </p:sp>
      <p:sp>
        <p:nvSpPr>
          <p:cNvPr id="3" name="Marcador de contenido 2">
            <a:extLst>
              <a:ext uri="{FF2B5EF4-FFF2-40B4-BE49-F238E27FC236}">
                <a16:creationId xmlns:a16="http://schemas.microsoft.com/office/drawing/2014/main" id="{FAD0451E-5AA5-694D-6042-B3E6B6C1E528}"/>
              </a:ext>
            </a:extLst>
          </p:cNvPr>
          <p:cNvSpPr>
            <a:spLocks noGrp="1"/>
          </p:cNvSpPr>
          <p:nvPr>
            <p:ph idx="1"/>
          </p:nvPr>
        </p:nvSpPr>
        <p:spPr/>
        <p:txBody>
          <a:bodyPr>
            <a:normAutofit fontScale="85000" lnSpcReduction="20000"/>
          </a:bodyPr>
          <a:lstStyle/>
          <a:p>
            <a:r>
              <a:rPr lang="es-ES" dirty="0"/>
              <a:t>Un administrador necesita saber cómo la eficiencia de un nuevo programa informático depende del tamaño de los datos de entrada</a:t>
            </a:r>
          </a:p>
          <a:p>
            <a:r>
              <a:rPr lang="es-ES" dirty="0"/>
              <a:t>La eficiencia se mide como el número de peticiones procesadas por hora</a:t>
            </a:r>
          </a:p>
          <a:p>
            <a:r>
              <a:rPr lang="es-ES" dirty="0"/>
              <a:t>Se ha tomado una muestra de peticiones procesadas con 7 diferentes conjuntos de datos de entrada</a:t>
            </a:r>
          </a:p>
          <a:p>
            <a:endParaRPr lang="es-ES" dirty="0"/>
          </a:p>
          <a:p>
            <a:endParaRPr lang="es-ES" dirty="0"/>
          </a:p>
          <a:p>
            <a:endParaRPr lang="es-ES" dirty="0"/>
          </a:p>
          <a:p>
            <a:r>
              <a:rPr lang="es-ES" dirty="0"/>
              <a:t>a) Obtener y dibujar la recta de regresión</a:t>
            </a:r>
          </a:p>
          <a:p>
            <a:r>
              <a:rPr lang="es-ES" dirty="0"/>
              <a:t>b) Calcular el intervalo de confianza de la predicción del número de peticiones procesadas si el tamaño de datos de entrada fuese 16 GB</a:t>
            </a:r>
          </a:p>
          <a:p>
            <a:r>
              <a:rPr lang="es-ES" dirty="0"/>
              <a:t>d) Dibujar el diagrama bandas de predicción, con la predicción para 16 GB </a:t>
            </a:r>
          </a:p>
          <a:p>
            <a:endParaRPr lang="es-ES" dirty="0"/>
          </a:p>
        </p:txBody>
      </p:sp>
      <p:sp>
        <p:nvSpPr>
          <p:cNvPr id="4" name="Marcador de número de diapositiva 3">
            <a:extLst>
              <a:ext uri="{FF2B5EF4-FFF2-40B4-BE49-F238E27FC236}">
                <a16:creationId xmlns:a16="http://schemas.microsoft.com/office/drawing/2014/main" id="{A1237895-9B75-D259-1687-F922519BBA11}"/>
              </a:ext>
            </a:extLst>
          </p:cNvPr>
          <p:cNvSpPr>
            <a:spLocks noGrp="1"/>
          </p:cNvSpPr>
          <p:nvPr>
            <p:ph type="sldNum" sz="quarter" idx="12"/>
          </p:nvPr>
        </p:nvSpPr>
        <p:spPr/>
        <p:txBody>
          <a:bodyPr/>
          <a:lstStyle/>
          <a:p>
            <a:fld id="{336CAFD0-1F6E-4E11-9822-836563A02839}" type="slidenum">
              <a:rPr lang="es-ES" smtClean="0"/>
              <a:pPr/>
              <a:t>22</a:t>
            </a:fld>
            <a:endParaRPr lang="es-ES" dirty="0"/>
          </a:p>
        </p:txBody>
      </p:sp>
      <p:graphicFrame>
        <p:nvGraphicFramePr>
          <p:cNvPr id="5" name="Tabla 4">
            <a:extLst>
              <a:ext uri="{FF2B5EF4-FFF2-40B4-BE49-F238E27FC236}">
                <a16:creationId xmlns:a16="http://schemas.microsoft.com/office/drawing/2014/main" id="{067EA8A4-8159-FA41-DF84-A1182AB6D7F1}"/>
              </a:ext>
            </a:extLst>
          </p:cNvPr>
          <p:cNvGraphicFramePr>
            <a:graphicFrameLocks noGrp="1"/>
          </p:cNvGraphicFramePr>
          <p:nvPr>
            <p:extLst>
              <p:ext uri="{D42A27DB-BD31-4B8C-83A1-F6EECF244321}">
                <p14:modId xmlns:p14="http://schemas.microsoft.com/office/powerpoint/2010/main" val="2702264165"/>
              </p:ext>
            </p:extLst>
          </p:nvPr>
        </p:nvGraphicFramePr>
        <p:xfrm>
          <a:off x="2800817" y="3552078"/>
          <a:ext cx="6345042" cy="741680"/>
        </p:xfrm>
        <a:graphic>
          <a:graphicData uri="http://schemas.openxmlformats.org/drawingml/2006/table">
            <a:tbl>
              <a:tblPr firstCol="1">
                <a:tableStyleId>{616DA210-FB5B-4158-B5E0-FEB733F419BA}</a:tableStyleId>
              </a:tblPr>
              <a:tblGrid>
                <a:gridCol w="2591296">
                  <a:extLst>
                    <a:ext uri="{9D8B030D-6E8A-4147-A177-3AD203B41FA5}">
                      <a16:colId xmlns:a16="http://schemas.microsoft.com/office/drawing/2014/main" val="2330966461"/>
                    </a:ext>
                  </a:extLst>
                </a:gridCol>
                <a:gridCol w="520681">
                  <a:extLst>
                    <a:ext uri="{9D8B030D-6E8A-4147-A177-3AD203B41FA5}">
                      <a16:colId xmlns:a16="http://schemas.microsoft.com/office/drawing/2014/main" val="2211160885"/>
                    </a:ext>
                  </a:extLst>
                </a:gridCol>
                <a:gridCol w="519221">
                  <a:extLst>
                    <a:ext uri="{9D8B030D-6E8A-4147-A177-3AD203B41FA5}">
                      <a16:colId xmlns:a16="http://schemas.microsoft.com/office/drawing/2014/main" val="613093317"/>
                    </a:ext>
                  </a:extLst>
                </a:gridCol>
                <a:gridCol w="509641">
                  <a:extLst>
                    <a:ext uri="{9D8B030D-6E8A-4147-A177-3AD203B41FA5}">
                      <a16:colId xmlns:a16="http://schemas.microsoft.com/office/drawing/2014/main" val="3855977739"/>
                    </a:ext>
                  </a:extLst>
                </a:gridCol>
                <a:gridCol w="573348">
                  <a:extLst>
                    <a:ext uri="{9D8B030D-6E8A-4147-A177-3AD203B41FA5}">
                      <a16:colId xmlns:a16="http://schemas.microsoft.com/office/drawing/2014/main" val="2348462488"/>
                    </a:ext>
                  </a:extLst>
                </a:gridCol>
                <a:gridCol w="509643">
                  <a:extLst>
                    <a:ext uri="{9D8B030D-6E8A-4147-A177-3AD203B41FA5}">
                      <a16:colId xmlns:a16="http://schemas.microsoft.com/office/drawing/2014/main" val="3201842772"/>
                    </a:ext>
                  </a:extLst>
                </a:gridCol>
                <a:gridCol w="560606">
                  <a:extLst>
                    <a:ext uri="{9D8B030D-6E8A-4147-A177-3AD203B41FA5}">
                      <a16:colId xmlns:a16="http://schemas.microsoft.com/office/drawing/2014/main" val="444865032"/>
                    </a:ext>
                  </a:extLst>
                </a:gridCol>
                <a:gridCol w="560606">
                  <a:extLst>
                    <a:ext uri="{9D8B030D-6E8A-4147-A177-3AD203B41FA5}">
                      <a16:colId xmlns:a16="http://schemas.microsoft.com/office/drawing/2014/main" val="1096837967"/>
                    </a:ext>
                  </a:extLst>
                </a:gridCol>
              </a:tblGrid>
              <a:tr h="370840">
                <a:tc>
                  <a:txBody>
                    <a:bodyPr/>
                    <a:lstStyle/>
                    <a:p>
                      <a:r>
                        <a:rPr lang="es-ES" dirty="0"/>
                        <a:t>X=Tamaño datos en GB</a:t>
                      </a:r>
                    </a:p>
                  </a:txBody>
                  <a:tcPr/>
                </a:tc>
                <a:tc>
                  <a:txBody>
                    <a:bodyPr/>
                    <a:lstStyle/>
                    <a:p>
                      <a:r>
                        <a:rPr lang="es-ES" dirty="0"/>
                        <a:t>6</a:t>
                      </a:r>
                    </a:p>
                  </a:txBody>
                  <a:tcPr/>
                </a:tc>
                <a:tc>
                  <a:txBody>
                    <a:bodyPr/>
                    <a:lstStyle/>
                    <a:p>
                      <a:r>
                        <a:rPr lang="es-ES" dirty="0"/>
                        <a:t>7</a:t>
                      </a:r>
                    </a:p>
                  </a:txBody>
                  <a:tcPr/>
                </a:tc>
                <a:tc>
                  <a:txBody>
                    <a:bodyPr/>
                    <a:lstStyle/>
                    <a:p>
                      <a:r>
                        <a:rPr lang="es-ES" dirty="0"/>
                        <a:t>7</a:t>
                      </a:r>
                    </a:p>
                  </a:txBody>
                  <a:tcPr/>
                </a:tc>
                <a:tc>
                  <a:txBody>
                    <a:bodyPr/>
                    <a:lstStyle/>
                    <a:p>
                      <a:r>
                        <a:rPr lang="es-ES" dirty="0"/>
                        <a:t>8</a:t>
                      </a:r>
                    </a:p>
                  </a:txBody>
                  <a:tcPr/>
                </a:tc>
                <a:tc>
                  <a:txBody>
                    <a:bodyPr/>
                    <a:lstStyle/>
                    <a:p>
                      <a:r>
                        <a:rPr lang="es-ES" dirty="0"/>
                        <a:t>10</a:t>
                      </a:r>
                    </a:p>
                  </a:txBody>
                  <a:tcPr/>
                </a:tc>
                <a:tc>
                  <a:txBody>
                    <a:bodyPr/>
                    <a:lstStyle/>
                    <a:p>
                      <a:r>
                        <a:rPr lang="es-ES" dirty="0"/>
                        <a:t>10</a:t>
                      </a:r>
                    </a:p>
                  </a:txBody>
                  <a:tcPr/>
                </a:tc>
                <a:tc>
                  <a:txBody>
                    <a:bodyPr/>
                    <a:lstStyle/>
                    <a:p>
                      <a:r>
                        <a:rPr lang="es-ES" dirty="0"/>
                        <a:t>15</a:t>
                      </a:r>
                    </a:p>
                  </a:txBody>
                  <a:tcPr/>
                </a:tc>
                <a:extLst>
                  <a:ext uri="{0D108BD9-81ED-4DB2-BD59-A6C34878D82A}">
                    <a16:rowId xmlns:a16="http://schemas.microsoft.com/office/drawing/2014/main" val="4186047695"/>
                  </a:ext>
                </a:extLst>
              </a:tr>
              <a:tr h="370840">
                <a:tc>
                  <a:txBody>
                    <a:bodyPr/>
                    <a:lstStyle/>
                    <a:p>
                      <a:r>
                        <a:rPr lang="es-ES" dirty="0"/>
                        <a:t>Y=Peticiones procesadas</a:t>
                      </a:r>
                    </a:p>
                  </a:txBody>
                  <a:tcPr/>
                </a:tc>
                <a:tc>
                  <a:txBody>
                    <a:bodyPr/>
                    <a:lstStyle/>
                    <a:p>
                      <a:r>
                        <a:rPr lang="es-ES" dirty="0"/>
                        <a:t>40</a:t>
                      </a:r>
                    </a:p>
                  </a:txBody>
                  <a:tcPr/>
                </a:tc>
                <a:tc>
                  <a:txBody>
                    <a:bodyPr/>
                    <a:lstStyle/>
                    <a:p>
                      <a:r>
                        <a:rPr lang="es-ES" dirty="0"/>
                        <a:t>55</a:t>
                      </a:r>
                    </a:p>
                  </a:txBody>
                  <a:tcPr/>
                </a:tc>
                <a:tc>
                  <a:txBody>
                    <a:bodyPr/>
                    <a:lstStyle/>
                    <a:p>
                      <a:r>
                        <a:rPr lang="es-ES" dirty="0"/>
                        <a:t>50</a:t>
                      </a:r>
                    </a:p>
                  </a:txBody>
                  <a:tcPr/>
                </a:tc>
                <a:tc>
                  <a:txBody>
                    <a:bodyPr/>
                    <a:lstStyle/>
                    <a:p>
                      <a:r>
                        <a:rPr lang="es-ES" dirty="0"/>
                        <a:t>41</a:t>
                      </a:r>
                    </a:p>
                  </a:txBody>
                  <a:tcPr/>
                </a:tc>
                <a:tc>
                  <a:txBody>
                    <a:bodyPr/>
                    <a:lstStyle/>
                    <a:p>
                      <a:r>
                        <a:rPr lang="es-ES" dirty="0"/>
                        <a:t>17</a:t>
                      </a:r>
                    </a:p>
                  </a:txBody>
                  <a:tcPr/>
                </a:tc>
                <a:tc>
                  <a:txBody>
                    <a:bodyPr/>
                    <a:lstStyle/>
                    <a:p>
                      <a:r>
                        <a:rPr lang="es-ES" dirty="0"/>
                        <a:t>26</a:t>
                      </a:r>
                    </a:p>
                  </a:txBody>
                  <a:tcPr/>
                </a:tc>
                <a:tc>
                  <a:txBody>
                    <a:bodyPr/>
                    <a:lstStyle/>
                    <a:p>
                      <a:r>
                        <a:rPr lang="es-ES" dirty="0"/>
                        <a:t>16</a:t>
                      </a:r>
                    </a:p>
                  </a:txBody>
                  <a:tcPr/>
                </a:tc>
                <a:extLst>
                  <a:ext uri="{0D108BD9-81ED-4DB2-BD59-A6C34878D82A}">
                    <a16:rowId xmlns:a16="http://schemas.microsoft.com/office/drawing/2014/main" val="3442920527"/>
                  </a:ext>
                </a:extLst>
              </a:tr>
            </a:tbl>
          </a:graphicData>
        </a:graphic>
      </p:graphicFrame>
    </p:spTree>
    <p:extLst>
      <p:ext uri="{BB962C8B-B14F-4D97-AF65-F5344CB8AC3E}">
        <p14:creationId xmlns:p14="http://schemas.microsoft.com/office/powerpoint/2010/main" val="2103069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C2B9E0-B5A5-1632-A728-77F4F3B64932}"/>
              </a:ext>
            </a:extLst>
          </p:cNvPr>
          <p:cNvSpPr>
            <a:spLocks noGrp="1"/>
          </p:cNvSpPr>
          <p:nvPr>
            <p:ph type="title"/>
          </p:nvPr>
        </p:nvSpPr>
        <p:spPr/>
        <p:txBody>
          <a:bodyPr>
            <a:normAutofit fontScale="90000"/>
          </a:bodyPr>
          <a:lstStyle/>
          <a:p>
            <a:r>
              <a:rPr lang="es-ES" dirty="0"/>
              <a:t>5. Regresión lineal simple</a:t>
            </a:r>
            <a:br>
              <a:rPr lang="es-ES" dirty="0"/>
            </a:br>
            <a:r>
              <a:rPr lang="es-ES" dirty="0"/>
              <a:t>Intervalo de confianza (Ejemplo 11.7)(Solución)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5DF9873-AEBE-E246-0F4C-D8421EE271E5}"/>
                  </a:ext>
                </a:extLst>
              </p:cNvPr>
              <p:cNvSpPr>
                <a:spLocks noGrp="1"/>
              </p:cNvSpPr>
              <p:nvPr>
                <p:ph idx="1"/>
              </p:nvPr>
            </p:nvSpPr>
            <p:spPr>
              <a:xfrm>
                <a:off x="838199" y="1825625"/>
                <a:ext cx="10803673" cy="4351338"/>
              </a:xfrm>
            </p:spPr>
            <p:txBody>
              <a:bodyPr>
                <a:normAutofit fontScale="77500" lnSpcReduction="20000"/>
              </a:bodyPr>
              <a:lstStyle/>
              <a:p>
                <a:pPr marL="0" indent="0">
                  <a:buNone/>
                </a:pPr>
                <a:r>
                  <a:rPr lang="es-ES" dirty="0"/>
                  <a:t>a) Recta de regresión</a:t>
                </a:r>
              </a:p>
              <a:p>
                <a14:m>
                  <m:oMath xmlns:m="http://schemas.openxmlformats.org/officeDocument/2006/math">
                    <m:acc>
                      <m:accPr>
                        <m:chr m:val="̅"/>
                        <m:ctrlPr>
                          <a:rPr lang="en-US"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f>
                      <m:fPr>
                        <m:ctrlPr>
                          <a:rPr lang="es-ES" b="0" i="1" smtClean="0">
                            <a:latin typeface="Cambria Math" panose="02040503050406030204" pitchFamily="18" charset="0"/>
                          </a:rPr>
                        </m:ctrlPr>
                      </m:fPr>
                      <m:num>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m:t>
                            </m:r>
                            <m:r>
                              <a:rPr lang="es-ES" b="0" i="1" smtClean="0">
                                <a:latin typeface="Cambria Math" panose="02040503050406030204" pitchFamily="18" charset="0"/>
                              </a:rPr>
                              <m:t>1</m:t>
                            </m:r>
                          </m:sub>
                          <m:sup>
                            <m:r>
                              <a:rPr lang="es-ES" b="0" i="1" smtClean="0">
                                <a:latin typeface="Cambria Math" panose="02040503050406030204" pitchFamily="18" charset="0"/>
                              </a:rPr>
                              <m:t>7</m:t>
                            </m:r>
                          </m:sup>
                          <m:e>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𝑖</m:t>
                                </m:r>
                              </m:sub>
                            </m:sSub>
                          </m:e>
                        </m:nary>
                      </m:num>
                      <m:den>
                        <m:r>
                          <a:rPr lang="es-ES" b="0" i="1" smtClean="0">
                            <a:latin typeface="Cambria Math" panose="02040503050406030204" pitchFamily="18" charset="0"/>
                          </a:rPr>
                          <m:t>7</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6</m:t>
                        </m:r>
                        <m:r>
                          <a:rPr lang="es-ES" b="0" i="1" smtClean="0">
                            <a:latin typeface="Cambria Math" panose="02040503050406030204" pitchFamily="18" charset="0"/>
                          </a:rPr>
                          <m:t>+</m:t>
                        </m:r>
                        <m:r>
                          <a:rPr lang="es-ES" b="0" i="1" smtClean="0">
                            <a:latin typeface="Cambria Math" panose="02040503050406030204" pitchFamily="18" charset="0"/>
                          </a:rPr>
                          <m:t>7</m:t>
                        </m:r>
                        <m:r>
                          <a:rPr lang="es-ES" b="0" i="1" smtClean="0">
                            <a:latin typeface="Cambria Math" panose="02040503050406030204" pitchFamily="18" charset="0"/>
                          </a:rPr>
                          <m:t>+</m:t>
                        </m:r>
                        <m:r>
                          <a:rPr lang="es-ES" b="0" i="1" smtClean="0">
                            <a:latin typeface="Cambria Math" panose="02040503050406030204" pitchFamily="18" charset="0"/>
                          </a:rPr>
                          <m:t>7</m:t>
                        </m:r>
                        <m:r>
                          <a:rPr lang="es-ES" b="0" i="1" smtClean="0">
                            <a:latin typeface="Cambria Math" panose="02040503050406030204" pitchFamily="18" charset="0"/>
                          </a:rPr>
                          <m:t>+</m:t>
                        </m:r>
                        <m:r>
                          <a:rPr lang="es-ES" b="0" i="1" smtClean="0">
                            <a:latin typeface="Cambria Math" panose="02040503050406030204" pitchFamily="18" charset="0"/>
                          </a:rPr>
                          <m:t>8</m:t>
                        </m:r>
                        <m:r>
                          <a:rPr lang="es-ES" b="0" i="1" smtClean="0">
                            <a:latin typeface="Cambria Math" panose="02040503050406030204" pitchFamily="18" charset="0"/>
                          </a:rPr>
                          <m:t>+</m:t>
                        </m:r>
                        <m:r>
                          <a:rPr lang="es-ES" b="0" i="1" smtClean="0">
                            <a:latin typeface="Cambria Math" panose="02040503050406030204" pitchFamily="18" charset="0"/>
                          </a:rPr>
                          <m:t>10</m:t>
                        </m:r>
                        <m:r>
                          <a:rPr lang="es-ES" b="0" i="1" smtClean="0">
                            <a:latin typeface="Cambria Math" panose="02040503050406030204" pitchFamily="18" charset="0"/>
                          </a:rPr>
                          <m:t>+</m:t>
                        </m:r>
                        <m:r>
                          <a:rPr lang="es-ES" b="0" i="1" smtClean="0">
                            <a:latin typeface="Cambria Math" panose="02040503050406030204" pitchFamily="18" charset="0"/>
                          </a:rPr>
                          <m:t>10</m:t>
                        </m:r>
                        <m:r>
                          <a:rPr lang="es-ES" b="0" i="1" smtClean="0">
                            <a:latin typeface="Cambria Math" panose="02040503050406030204" pitchFamily="18" charset="0"/>
                          </a:rPr>
                          <m:t>+</m:t>
                        </m:r>
                        <m:r>
                          <a:rPr lang="es-ES" b="0" i="1" smtClean="0">
                            <a:latin typeface="Cambria Math" panose="02040503050406030204" pitchFamily="18" charset="0"/>
                          </a:rPr>
                          <m:t>15</m:t>
                        </m:r>
                      </m:num>
                      <m:den>
                        <m:r>
                          <a:rPr lang="es-ES" b="0" i="1" smtClean="0">
                            <a:latin typeface="Cambria Math" panose="02040503050406030204" pitchFamily="18" charset="0"/>
                          </a:rPr>
                          <m:t>7</m:t>
                        </m:r>
                      </m:den>
                    </m:f>
                    <m:r>
                      <a:rPr lang="es-ES" b="0" i="1" smtClean="0">
                        <a:latin typeface="Cambria Math" panose="02040503050406030204" pitchFamily="18" charset="0"/>
                      </a:rPr>
                      <m:t>=</m:t>
                    </m:r>
                    <m:r>
                      <a:rPr lang="es-ES" b="0" i="1" smtClean="0">
                        <a:latin typeface="Cambria Math" panose="02040503050406030204" pitchFamily="18" charset="0"/>
                      </a:rPr>
                      <m:t>9</m:t>
                    </m:r>
                    <m:r>
                      <a:rPr lang="es-ES" b="0" i="1" smtClean="0">
                        <a:latin typeface="Cambria Math" panose="02040503050406030204" pitchFamily="18" charset="0"/>
                      </a:rPr>
                      <m:t> </m:t>
                    </m:r>
                    <m:r>
                      <a:rPr lang="es-ES" b="0" i="1" smtClean="0">
                        <a:latin typeface="Cambria Math" panose="02040503050406030204" pitchFamily="18" charset="0"/>
                      </a:rPr>
                      <m:t>𝐺𝐵</m:t>
                    </m:r>
                  </m:oMath>
                </a14:m>
                <a:endParaRPr lang="en-US" dirty="0"/>
              </a:p>
              <a:p>
                <a14:m>
                  <m:oMath xmlns:m="http://schemas.openxmlformats.org/officeDocument/2006/math">
                    <m:acc>
                      <m:accPr>
                        <m:chr m:val="̅"/>
                        <m:ctrlPr>
                          <a:rPr lang="en-US" i="1" smtClean="0">
                            <a:latin typeface="Cambria Math" panose="02040503050406030204" pitchFamily="18" charset="0"/>
                          </a:rPr>
                        </m:ctrlPr>
                      </m:accPr>
                      <m:e>
                        <m:r>
                          <a:rPr lang="es-ES" b="0" i="1" smtClean="0">
                            <a:latin typeface="Cambria Math" panose="02040503050406030204" pitchFamily="18" charset="0"/>
                          </a:rPr>
                          <m:t>𝑦</m:t>
                        </m:r>
                      </m:e>
                    </m:acc>
                    <m:r>
                      <a:rPr lang="es-ES" b="0" i="1" smtClean="0">
                        <a:latin typeface="Cambria Math" panose="02040503050406030204" pitchFamily="18" charset="0"/>
                      </a:rPr>
                      <m:t>=</m:t>
                    </m:r>
                    <m:f>
                      <m:fPr>
                        <m:ctrlPr>
                          <a:rPr lang="es-ES" b="0" i="1" smtClean="0">
                            <a:latin typeface="Cambria Math" panose="02040503050406030204" pitchFamily="18" charset="0"/>
                          </a:rPr>
                        </m:ctrlPr>
                      </m:fPr>
                      <m:num>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m:t>
                            </m:r>
                            <m:r>
                              <a:rPr lang="es-ES" b="0" i="1" smtClean="0">
                                <a:latin typeface="Cambria Math" panose="02040503050406030204" pitchFamily="18" charset="0"/>
                              </a:rPr>
                              <m:t>1</m:t>
                            </m:r>
                          </m:sub>
                          <m:sup>
                            <m:r>
                              <a:rPr lang="es-ES" b="0" i="1" smtClean="0">
                                <a:latin typeface="Cambria Math" panose="02040503050406030204" pitchFamily="18" charset="0"/>
                              </a:rPr>
                              <m:t>7</m:t>
                            </m:r>
                          </m:sup>
                          <m:e>
                            <m:sSub>
                              <m:sSubPr>
                                <m:ctrlPr>
                                  <a:rPr lang="es-ES" b="0" i="1" smtClean="0">
                                    <a:latin typeface="Cambria Math" panose="02040503050406030204" pitchFamily="18" charset="0"/>
                                  </a:rPr>
                                </m:ctrlPr>
                              </m:sSubPr>
                              <m:e>
                                <m:r>
                                  <a:rPr lang="es-ES" b="0" i="1" smtClean="0">
                                    <a:latin typeface="Cambria Math" panose="02040503050406030204" pitchFamily="18" charset="0"/>
                                  </a:rPr>
                                  <m:t>𝑦</m:t>
                                </m:r>
                              </m:e>
                              <m:sub>
                                <m:r>
                                  <a:rPr lang="es-ES" b="0" i="1" smtClean="0">
                                    <a:latin typeface="Cambria Math" panose="02040503050406030204" pitchFamily="18" charset="0"/>
                                  </a:rPr>
                                  <m:t>𝑖</m:t>
                                </m:r>
                              </m:sub>
                            </m:sSub>
                          </m:e>
                        </m:nary>
                      </m:num>
                      <m:den>
                        <m:r>
                          <a:rPr lang="es-ES" b="0" i="1" smtClean="0">
                            <a:latin typeface="Cambria Math" panose="02040503050406030204" pitchFamily="18" charset="0"/>
                          </a:rPr>
                          <m:t>7</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40</m:t>
                        </m:r>
                        <m:r>
                          <a:rPr lang="es-ES" b="0" i="1" smtClean="0">
                            <a:latin typeface="Cambria Math" panose="02040503050406030204" pitchFamily="18" charset="0"/>
                          </a:rPr>
                          <m:t>+</m:t>
                        </m:r>
                        <m:r>
                          <a:rPr lang="es-ES" b="0" i="1" smtClean="0">
                            <a:latin typeface="Cambria Math" panose="02040503050406030204" pitchFamily="18" charset="0"/>
                          </a:rPr>
                          <m:t>55</m:t>
                        </m:r>
                        <m:r>
                          <a:rPr lang="es-ES" b="0" i="1" smtClean="0">
                            <a:latin typeface="Cambria Math" panose="02040503050406030204" pitchFamily="18" charset="0"/>
                          </a:rPr>
                          <m:t>+</m:t>
                        </m:r>
                        <m:r>
                          <a:rPr lang="es-ES" b="0" i="1" smtClean="0">
                            <a:latin typeface="Cambria Math" panose="02040503050406030204" pitchFamily="18" charset="0"/>
                          </a:rPr>
                          <m:t>50</m:t>
                        </m:r>
                        <m:r>
                          <a:rPr lang="es-ES" b="0" i="1" smtClean="0">
                            <a:latin typeface="Cambria Math" panose="02040503050406030204" pitchFamily="18" charset="0"/>
                          </a:rPr>
                          <m:t>+</m:t>
                        </m:r>
                        <m:r>
                          <a:rPr lang="es-ES" b="0" i="1" smtClean="0">
                            <a:latin typeface="Cambria Math" panose="02040503050406030204" pitchFamily="18" charset="0"/>
                          </a:rPr>
                          <m:t>41</m:t>
                        </m:r>
                        <m:r>
                          <a:rPr lang="es-ES" b="0" i="1" smtClean="0">
                            <a:latin typeface="Cambria Math" panose="02040503050406030204" pitchFamily="18" charset="0"/>
                          </a:rPr>
                          <m:t>+</m:t>
                        </m:r>
                        <m:r>
                          <a:rPr lang="es-ES" b="0" i="1" smtClean="0">
                            <a:latin typeface="Cambria Math" panose="02040503050406030204" pitchFamily="18" charset="0"/>
                          </a:rPr>
                          <m:t>17</m:t>
                        </m:r>
                        <m:r>
                          <a:rPr lang="es-ES" b="0" i="1" smtClean="0">
                            <a:latin typeface="Cambria Math" panose="02040503050406030204" pitchFamily="18" charset="0"/>
                          </a:rPr>
                          <m:t>+</m:t>
                        </m:r>
                        <m:r>
                          <a:rPr lang="es-ES" b="0" i="1" smtClean="0">
                            <a:latin typeface="Cambria Math" panose="02040503050406030204" pitchFamily="18" charset="0"/>
                          </a:rPr>
                          <m:t>26</m:t>
                        </m:r>
                        <m:r>
                          <a:rPr lang="es-ES" b="0" i="1" smtClean="0">
                            <a:latin typeface="Cambria Math" panose="02040503050406030204" pitchFamily="18" charset="0"/>
                          </a:rPr>
                          <m:t>+</m:t>
                        </m:r>
                        <m:r>
                          <a:rPr lang="es-ES" b="0" i="1" smtClean="0">
                            <a:latin typeface="Cambria Math" panose="02040503050406030204" pitchFamily="18" charset="0"/>
                          </a:rPr>
                          <m:t>16</m:t>
                        </m:r>
                      </m:num>
                      <m:den>
                        <m:r>
                          <a:rPr lang="es-ES" b="0" i="1" smtClean="0">
                            <a:latin typeface="Cambria Math" panose="02040503050406030204" pitchFamily="18" charset="0"/>
                          </a:rPr>
                          <m:t>7</m:t>
                        </m:r>
                      </m:den>
                    </m:f>
                    <m:r>
                      <a:rPr lang="es-ES" b="0" i="1" smtClean="0">
                        <a:latin typeface="Cambria Math" panose="02040503050406030204" pitchFamily="18" charset="0"/>
                      </a:rPr>
                      <m:t>=</m:t>
                    </m:r>
                    <m:r>
                      <a:rPr lang="es-ES" b="0" i="1" smtClean="0">
                        <a:latin typeface="Cambria Math" panose="02040503050406030204" pitchFamily="18" charset="0"/>
                      </a:rPr>
                      <m:t>35</m:t>
                    </m:r>
                    <m:r>
                      <a:rPr lang="es-ES" b="0" i="1" smtClean="0">
                        <a:latin typeface="Cambria Math" panose="02040503050406030204" pitchFamily="18" charset="0"/>
                      </a:rPr>
                      <m:t> </m:t>
                    </m:r>
                    <m:r>
                      <a:rPr lang="es-ES" b="0" i="1" smtClean="0">
                        <a:latin typeface="Cambria Math" panose="02040503050406030204" pitchFamily="18" charset="0"/>
                      </a:rPr>
                      <m:t>𝑝𝑒𝑡𝑖𝑐𝑖𝑜𝑛𝑒𝑠</m:t>
                    </m:r>
                    <m:r>
                      <a:rPr lang="es-ES" b="0" i="1" smtClean="0">
                        <a:latin typeface="Cambria Math" panose="02040503050406030204" pitchFamily="18" charset="0"/>
                      </a:rPr>
                      <m:t> </m:t>
                    </m:r>
                    <m:r>
                      <a:rPr lang="es-ES" b="0" i="1" smtClean="0">
                        <a:latin typeface="Cambria Math" panose="02040503050406030204" pitchFamily="18" charset="0"/>
                      </a:rPr>
                      <m:t>𝑝𝑟𝑜𝑐𝑒𝑠𝑎𝑑𝑎𝑠</m:t>
                    </m:r>
                    <m:r>
                      <a:rPr lang="es-ES" b="0" i="1" smtClean="0">
                        <a:latin typeface="Cambria Math" panose="02040503050406030204" pitchFamily="18" charset="0"/>
                      </a:rPr>
                      <m:t> </m:t>
                    </m:r>
                  </m:oMath>
                </a14:m>
                <a:endParaRPr lang="en-US" dirty="0"/>
              </a:p>
              <a:p>
                <a14:m>
                  <m:oMath xmlns:m="http://schemas.openxmlformats.org/officeDocument/2006/math">
                    <m:sSubSup>
                      <m:sSubSupPr>
                        <m:ctrlPr>
                          <a:rPr lang="ar-AE"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𝑥</m:t>
                        </m:r>
                      </m:sub>
                      <m:sup>
                        <m:r>
                          <a:rPr lang="es-ES" i="1">
                            <a:latin typeface="Cambria Math" panose="02040503050406030204" pitchFamily="18" charset="0"/>
                          </a:rPr>
                          <m:t>2</m:t>
                        </m:r>
                      </m:sup>
                    </m:sSubSup>
                    <m:r>
                      <a:rPr lang="es-ES" b="0" i="1" smtClean="0">
                        <a:latin typeface="Cambria Math" panose="02040503050406030204" pitchFamily="18" charset="0"/>
                      </a:rPr>
                      <m:t>=</m:t>
                    </m:r>
                    <m:f>
                      <m:fPr>
                        <m:ctrlPr>
                          <a:rPr lang="es-ES" b="0" i="1" smtClean="0">
                            <a:latin typeface="Cambria Math" panose="02040503050406030204" pitchFamily="18" charset="0"/>
                          </a:rPr>
                        </m:ctrlPr>
                      </m:fPr>
                      <m:num>
                        <m:nary>
                          <m:naryPr>
                            <m:chr m:val="∑"/>
                            <m:ctrlPr>
                              <a:rPr lang="es-ES" i="1">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m:t>
                            </m:r>
                            <m:r>
                              <a:rPr lang="es-ES" i="1">
                                <a:latin typeface="Cambria Math" panose="02040503050406030204" pitchFamily="18" charset="0"/>
                              </a:rPr>
                              <m:t>1</m:t>
                            </m:r>
                          </m:sub>
                          <m:sup>
                            <m:r>
                              <a:rPr lang="es-ES" b="0" i="1" smtClean="0">
                                <a:latin typeface="Cambria Math" panose="02040503050406030204" pitchFamily="18" charset="0"/>
                              </a:rPr>
                              <m:t>7</m:t>
                            </m:r>
                          </m:sup>
                          <m:e>
                            <m:sSup>
                              <m:sSupPr>
                                <m:ctrlPr>
                                  <a:rPr lang="es-ES" i="1">
                                    <a:latin typeface="Cambria Math" panose="02040503050406030204" pitchFamily="18" charset="0"/>
                                  </a:rPr>
                                </m:ctrlPr>
                              </m:sSupPr>
                              <m:e>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𝑖</m:t>
                                    </m:r>
                                  </m:sub>
                                </m:sSub>
                                <m:r>
                                  <a:rPr lang="es-ES" i="1">
                                    <a:latin typeface="Cambria Math" panose="02040503050406030204" pitchFamily="18" charset="0"/>
                                  </a:rPr>
                                  <m:t>−</m:t>
                                </m:r>
                                <m:r>
                                  <a:rPr lang="es-ES" i="1">
                                    <a:latin typeface="Cambria Math" panose="02040503050406030204" pitchFamily="18" charset="0"/>
                                  </a:rPr>
                                  <m:t>9</m:t>
                                </m:r>
                                <m:r>
                                  <a:rPr lang="es-ES" i="1">
                                    <a:latin typeface="Cambria Math" panose="02040503050406030204" pitchFamily="18" charset="0"/>
                                  </a:rPr>
                                  <m:t>)</m:t>
                                </m:r>
                              </m:e>
                              <m:sup>
                                <m:r>
                                  <a:rPr lang="es-ES" i="1">
                                    <a:latin typeface="Cambria Math" panose="02040503050406030204" pitchFamily="18" charset="0"/>
                                  </a:rPr>
                                  <m:t>2</m:t>
                                </m:r>
                              </m:sup>
                            </m:sSup>
                          </m:e>
                        </m:nary>
                      </m:num>
                      <m:den>
                        <m:r>
                          <a:rPr lang="es-ES" b="0" i="1" smtClean="0">
                            <a:latin typeface="Cambria Math" panose="02040503050406030204" pitchFamily="18" charset="0"/>
                          </a:rPr>
                          <m:t>7</m:t>
                        </m:r>
                        <m:r>
                          <a:rPr lang="es-ES" b="0" i="1" smtClean="0">
                            <a:latin typeface="Cambria Math" panose="02040503050406030204" pitchFamily="18" charset="0"/>
                          </a:rPr>
                          <m:t>−</m:t>
                        </m:r>
                        <m:r>
                          <a:rPr lang="es-ES" b="0" i="1" smtClean="0">
                            <a:latin typeface="Cambria Math" panose="02040503050406030204" pitchFamily="18" charset="0"/>
                          </a:rPr>
                          <m:t>1</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r>
                                  <a:rPr lang="es-ES" b="0" i="1" smtClean="0">
                                    <a:latin typeface="Cambria Math" panose="02040503050406030204" pitchFamily="18" charset="0"/>
                                  </a:rPr>
                                  <m:t>6</m:t>
                                </m:r>
                                <m:r>
                                  <a:rPr lang="es-ES" b="0" i="1" smtClean="0">
                                    <a:latin typeface="Cambria Math" panose="02040503050406030204" pitchFamily="18" charset="0"/>
                                  </a:rPr>
                                  <m:t>−</m:t>
                                </m:r>
                                <m:r>
                                  <a:rPr lang="es-ES" b="0" i="1" smtClean="0">
                                    <a:latin typeface="Cambria Math" panose="02040503050406030204" pitchFamily="18" charset="0"/>
                                  </a:rPr>
                                  <m:t>9</m:t>
                                </m:r>
                              </m:e>
                            </m:d>
                          </m:e>
                          <m:sup>
                            <m:r>
                              <a:rPr lang="es-ES" b="0" i="1" smtClean="0">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7</m:t>
                                </m:r>
                                <m:r>
                                  <a:rPr lang="es-ES" i="1">
                                    <a:latin typeface="Cambria Math" panose="02040503050406030204" pitchFamily="18" charset="0"/>
                                  </a:rPr>
                                  <m:t>−</m:t>
                                </m:r>
                                <m:r>
                                  <a:rPr lang="es-ES" i="1">
                                    <a:latin typeface="Cambria Math" panose="02040503050406030204" pitchFamily="18" charset="0"/>
                                  </a:rPr>
                                  <m:t>9</m:t>
                                </m:r>
                              </m:e>
                            </m:d>
                          </m:e>
                          <m:sup>
                            <m:r>
                              <a:rPr lang="es-ES" i="1">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7</m:t>
                                </m:r>
                                <m:r>
                                  <a:rPr lang="es-ES" i="1">
                                    <a:latin typeface="Cambria Math" panose="02040503050406030204" pitchFamily="18" charset="0"/>
                                  </a:rPr>
                                  <m:t>−</m:t>
                                </m:r>
                                <m:r>
                                  <a:rPr lang="es-ES" i="1">
                                    <a:latin typeface="Cambria Math" panose="02040503050406030204" pitchFamily="18" charset="0"/>
                                  </a:rPr>
                                  <m:t>9</m:t>
                                </m:r>
                              </m:e>
                            </m:d>
                          </m:e>
                          <m:sup>
                            <m:r>
                              <a:rPr lang="es-ES" i="1">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8</m:t>
                                </m:r>
                                <m:r>
                                  <a:rPr lang="es-ES" i="1">
                                    <a:latin typeface="Cambria Math" panose="02040503050406030204" pitchFamily="18" charset="0"/>
                                  </a:rPr>
                                  <m:t>−</m:t>
                                </m:r>
                                <m:r>
                                  <a:rPr lang="es-ES" i="1">
                                    <a:latin typeface="Cambria Math" panose="02040503050406030204" pitchFamily="18" charset="0"/>
                                  </a:rPr>
                                  <m:t>9</m:t>
                                </m:r>
                              </m:e>
                            </m:d>
                          </m:e>
                          <m:sup>
                            <m:r>
                              <a:rPr lang="es-ES" i="1">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10</m:t>
                                </m:r>
                                <m:r>
                                  <a:rPr lang="es-ES" i="1">
                                    <a:latin typeface="Cambria Math" panose="02040503050406030204" pitchFamily="18" charset="0"/>
                                  </a:rPr>
                                  <m:t>−</m:t>
                                </m:r>
                                <m:r>
                                  <a:rPr lang="es-ES" i="1">
                                    <a:latin typeface="Cambria Math" panose="02040503050406030204" pitchFamily="18" charset="0"/>
                                  </a:rPr>
                                  <m:t>9</m:t>
                                </m:r>
                              </m:e>
                            </m:d>
                          </m:e>
                          <m:sup>
                            <m:r>
                              <a:rPr lang="es-ES" i="1">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10</m:t>
                                </m:r>
                                <m:r>
                                  <a:rPr lang="es-ES" i="1">
                                    <a:latin typeface="Cambria Math" panose="02040503050406030204" pitchFamily="18" charset="0"/>
                                  </a:rPr>
                                  <m:t>−</m:t>
                                </m:r>
                                <m:r>
                                  <a:rPr lang="es-ES" i="1">
                                    <a:latin typeface="Cambria Math" panose="02040503050406030204" pitchFamily="18" charset="0"/>
                                  </a:rPr>
                                  <m:t>9</m:t>
                                </m:r>
                              </m:e>
                            </m:d>
                          </m:e>
                          <m:sup>
                            <m:r>
                              <a:rPr lang="es-ES" i="1">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15</m:t>
                                </m:r>
                                <m:r>
                                  <a:rPr lang="es-ES" i="1">
                                    <a:latin typeface="Cambria Math" panose="02040503050406030204" pitchFamily="18" charset="0"/>
                                  </a:rPr>
                                  <m:t>−</m:t>
                                </m:r>
                                <m:r>
                                  <a:rPr lang="es-ES" i="1">
                                    <a:latin typeface="Cambria Math" panose="02040503050406030204" pitchFamily="18" charset="0"/>
                                  </a:rPr>
                                  <m:t>9</m:t>
                                </m:r>
                              </m:e>
                            </m:d>
                          </m:e>
                          <m:sup>
                            <m:r>
                              <a:rPr lang="es-ES" i="1">
                                <a:latin typeface="Cambria Math" panose="02040503050406030204" pitchFamily="18" charset="0"/>
                              </a:rPr>
                              <m:t>2</m:t>
                            </m:r>
                          </m:sup>
                        </m:sSup>
                      </m:num>
                      <m:den>
                        <m:r>
                          <a:rPr lang="es-ES" b="0" i="1" smtClean="0">
                            <a:latin typeface="Cambria Math" panose="02040503050406030204" pitchFamily="18" charset="0"/>
                          </a:rPr>
                          <m:t>6</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56</m:t>
                        </m:r>
                      </m:num>
                      <m:den>
                        <m:r>
                          <a:rPr lang="es-ES" b="0" i="1" smtClean="0">
                            <a:latin typeface="Cambria Math" panose="02040503050406030204" pitchFamily="18" charset="0"/>
                          </a:rPr>
                          <m:t>6</m:t>
                        </m:r>
                      </m:den>
                    </m:f>
                    <m:r>
                      <a:rPr lang="es-ES" b="0" i="1" smtClean="0">
                        <a:latin typeface="Cambria Math" panose="02040503050406030204" pitchFamily="18" charset="0"/>
                      </a:rPr>
                      <m:t>=</m:t>
                    </m:r>
                    <m:r>
                      <a:rPr lang="es-ES" b="0" i="1" smtClean="0">
                        <a:latin typeface="Cambria Math" panose="02040503050406030204" pitchFamily="18" charset="0"/>
                      </a:rPr>
                      <m:t>9</m:t>
                    </m:r>
                    <m:r>
                      <a:rPr lang="es-ES" b="0" i="1" smtClean="0">
                        <a:latin typeface="Cambria Math" panose="02040503050406030204" pitchFamily="18" charset="0"/>
                      </a:rPr>
                      <m:t>.</m:t>
                    </m:r>
                    <m:r>
                      <a:rPr lang="es-ES" b="0" i="1" smtClean="0">
                        <a:latin typeface="Cambria Math" panose="02040503050406030204" pitchFamily="18" charset="0"/>
                      </a:rPr>
                      <m:t>33</m:t>
                    </m:r>
                    <m:r>
                      <a:rPr lang="es-ES" b="0" i="1" smtClean="0">
                        <a:latin typeface="Cambria Math" panose="02040503050406030204" pitchFamily="18" charset="0"/>
                      </a:rPr>
                      <m:t> </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𝐺𝐵</m:t>
                        </m:r>
                      </m:e>
                      <m:sup>
                        <m:r>
                          <a:rPr lang="es-ES" b="0" i="1" smtClean="0">
                            <a:latin typeface="Cambria Math" panose="02040503050406030204" pitchFamily="18" charset="0"/>
                          </a:rPr>
                          <m:t>2</m:t>
                        </m:r>
                      </m:sup>
                    </m:sSup>
                  </m:oMath>
                </a14:m>
                <a:endParaRPr lang="en-US"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𝑥𝑦</m:t>
                        </m:r>
                      </m:sub>
                    </m:sSub>
                    <m:r>
                      <a:rPr lang="es-ES" b="0" i="1" smtClean="0">
                        <a:latin typeface="Cambria Math" panose="02040503050406030204" pitchFamily="18" charset="0"/>
                      </a:rPr>
                      <m:t>=</m:t>
                    </m:r>
                    <m:f>
                      <m:fPr>
                        <m:ctrlPr>
                          <a:rPr lang="es-ES" b="0" i="1" smtClean="0">
                            <a:latin typeface="Cambria Math" panose="02040503050406030204" pitchFamily="18" charset="0"/>
                          </a:rPr>
                        </m:ctrlPr>
                      </m:fPr>
                      <m:num>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m:t>
                            </m:r>
                            <m:r>
                              <a:rPr lang="es-ES" b="0" i="1" smtClean="0">
                                <a:latin typeface="Cambria Math" panose="02040503050406030204" pitchFamily="18" charset="0"/>
                              </a:rPr>
                              <m:t>1</m:t>
                            </m:r>
                          </m:sub>
                          <m:sup>
                            <m:r>
                              <a:rPr lang="es-ES" b="0" i="1" smtClean="0">
                                <a:latin typeface="Cambria Math" panose="02040503050406030204" pitchFamily="18" charset="0"/>
                              </a:rPr>
                              <m:t>7</m:t>
                            </m:r>
                          </m:sup>
                          <m:e>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𝑖</m:t>
                                </m:r>
                              </m:sub>
                            </m:sSub>
                            <m:r>
                              <a:rPr lang="es-ES" b="0" i="1" smtClean="0">
                                <a:latin typeface="Cambria Math" panose="02040503050406030204" pitchFamily="18" charset="0"/>
                              </a:rPr>
                              <m:t>−</m:t>
                            </m:r>
                            <m:r>
                              <a:rPr lang="es-ES" b="0" i="1" smtClean="0">
                                <a:latin typeface="Cambria Math" panose="02040503050406030204" pitchFamily="18" charset="0"/>
                              </a:rPr>
                              <m:t>9</m:t>
                            </m:r>
                            <m:r>
                              <a:rPr lang="es-ES" i="1" smtClean="0">
                                <a:latin typeface="Cambria Math" panose="02040503050406030204" pitchFamily="18" charset="0"/>
                              </a:rPr>
                              <m:t>)</m:t>
                            </m:r>
                            <m:r>
                              <a:rPr lang="es-ES" i="1">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𝑦</m:t>
                                </m:r>
                              </m:e>
                              <m:sub>
                                <m:r>
                                  <a:rPr lang="es-ES" i="1">
                                    <a:latin typeface="Cambria Math" panose="02040503050406030204" pitchFamily="18" charset="0"/>
                                  </a:rPr>
                                  <m:t>𝑖</m:t>
                                </m:r>
                              </m:sub>
                            </m:sSub>
                            <m:r>
                              <a:rPr lang="es-ES" i="1">
                                <a:latin typeface="Cambria Math" panose="02040503050406030204" pitchFamily="18" charset="0"/>
                              </a:rPr>
                              <m:t>−</m:t>
                            </m:r>
                            <m:r>
                              <a:rPr lang="es-ES" b="0" i="1" smtClean="0">
                                <a:latin typeface="Cambria Math" panose="02040503050406030204" pitchFamily="18" charset="0"/>
                              </a:rPr>
                              <m:t>35</m:t>
                            </m:r>
                            <m:r>
                              <a:rPr lang="es-ES" b="0" i="1" smtClean="0">
                                <a:latin typeface="Cambria Math" panose="02040503050406030204" pitchFamily="18" charset="0"/>
                              </a:rPr>
                              <m:t>)</m:t>
                            </m:r>
                          </m:e>
                        </m:nary>
                      </m:num>
                      <m:den>
                        <m:r>
                          <a:rPr lang="es-ES" b="0" i="1" smtClean="0">
                            <a:latin typeface="Cambria Math" panose="02040503050406030204" pitchFamily="18" charset="0"/>
                          </a:rPr>
                          <m:t>7</m:t>
                        </m:r>
                        <m:r>
                          <a:rPr lang="es-ES" b="0" i="1" smtClean="0">
                            <a:latin typeface="Cambria Math" panose="02040503050406030204" pitchFamily="18" charset="0"/>
                          </a:rPr>
                          <m:t>−</m:t>
                        </m:r>
                        <m:r>
                          <a:rPr lang="es-ES" b="0" i="1" smtClean="0">
                            <a:latin typeface="Cambria Math" panose="02040503050406030204" pitchFamily="18" charset="0"/>
                          </a:rPr>
                          <m:t>1</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d>
                          <m:dPr>
                            <m:ctrlPr>
                              <a:rPr lang="es-ES" b="0" i="1" smtClean="0">
                                <a:latin typeface="Cambria Math" panose="02040503050406030204" pitchFamily="18" charset="0"/>
                              </a:rPr>
                            </m:ctrlPr>
                          </m:dPr>
                          <m:e>
                            <m:r>
                              <a:rPr lang="es-ES" b="0" i="1" smtClean="0">
                                <a:latin typeface="Cambria Math" panose="02040503050406030204" pitchFamily="18" charset="0"/>
                              </a:rPr>
                              <m:t>6</m:t>
                            </m:r>
                            <m:r>
                              <a:rPr lang="es-ES" b="0" i="1" smtClean="0">
                                <a:latin typeface="Cambria Math" panose="02040503050406030204" pitchFamily="18" charset="0"/>
                              </a:rPr>
                              <m:t>−</m:t>
                            </m:r>
                            <m:r>
                              <a:rPr lang="es-ES" b="0" i="1" smtClean="0">
                                <a:latin typeface="Cambria Math" panose="02040503050406030204" pitchFamily="18" charset="0"/>
                              </a:rPr>
                              <m:t>9</m:t>
                            </m:r>
                          </m:e>
                        </m:d>
                        <m:d>
                          <m:dPr>
                            <m:ctrlPr>
                              <a:rPr lang="es-ES" b="0" i="1" smtClean="0">
                                <a:latin typeface="Cambria Math" panose="02040503050406030204" pitchFamily="18" charset="0"/>
                              </a:rPr>
                            </m:ctrlPr>
                          </m:dPr>
                          <m:e>
                            <m:r>
                              <a:rPr lang="es-ES" b="0" i="1" smtClean="0">
                                <a:latin typeface="Cambria Math" panose="02040503050406030204" pitchFamily="18" charset="0"/>
                              </a:rPr>
                              <m:t>40</m:t>
                            </m:r>
                            <m:r>
                              <a:rPr lang="es-ES" b="0" i="1" smtClean="0">
                                <a:latin typeface="Cambria Math" panose="02040503050406030204" pitchFamily="18" charset="0"/>
                              </a:rPr>
                              <m:t>−</m:t>
                            </m:r>
                            <m:r>
                              <a:rPr lang="es-ES" b="0" i="1" smtClean="0">
                                <a:latin typeface="Cambria Math" panose="02040503050406030204" pitchFamily="18" charset="0"/>
                              </a:rPr>
                              <m:t>35</m:t>
                            </m:r>
                          </m:e>
                        </m:d>
                        <m:r>
                          <a:rPr lang="es-ES" b="0" i="1" smtClean="0">
                            <a:latin typeface="Cambria Math" panose="02040503050406030204" pitchFamily="18" charset="0"/>
                          </a:rPr>
                          <m:t>+…+</m:t>
                        </m:r>
                        <m:d>
                          <m:dPr>
                            <m:ctrlPr>
                              <a:rPr lang="es-ES" i="1">
                                <a:latin typeface="Cambria Math" panose="02040503050406030204" pitchFamily="18" charset="0"/>
                              </a:rPr>
                            </m:ctrlPr>
                          </m:dPr>
                          <m:e>
                            <m:r>
                              <a:rPr lang="es-ES" b="0" i="1" smtClean="0">
                                <a:latin typeface="Cambria Math" panose="02040503050406030204" pitchFamily="18" charset="0"/>
                              </a:rPr>
                              <m:t>15</m:t>
                            </m:r>
                            <m:r>
                              <a:rPr lang="es-ES" i="1">
                                <a:latin typeface="Cambria Math" panose="02040503050406030204" pitchFamily="18" charset="0"/>
                              </a:rPr>
                              <m:t>−</m:t>
                            </m:r>
                            <m:r>
                              <a:rPr lang="es-ES" i="1">
                                <a:latin typeface="Cambria Math" panose="02040503050406030204" pitchFamily="18" charset="0"/>
                              </a:rPr>
                              <m:t>9</m:t>
                            </m:r>
                          </m:e>
                        </m:d>
                        <m:d>
                          <m:dPr>
                            <m:ctrlPr>
                              <a:rPr lang="es-ES" i="1">
                                <a:latin typeface="Cambria Math" panose="02040503050406030204" pitchFamily="18" charset="0"/>
                              </a:rPr>
                            </m:ctrlPr>
                          </m:dPr>
                          <m:e>
                            <m:r>
                              <a:rPr lang="es-ES" b="0" i="1" smtClean="0">
                                <a:latin typeface="Cambria Math" panose="02040503050406030204" pitchFamily="18" charset="0"/>
                              </a:rPr>
                              <m:t>16</m:t>
                            </m:r>
                            <m:r>
                              <a:rPr lang="es-ES" i="1">
                                <a:latin typeface="Cambria Math" panose="02040503050406030204" pitchFamily="18" charset="0"/>
                              </a:rPr>
                              <m:t>−</m:t>
                            </m:r>
                            <m:r>
                              <a:rPr lang="es-ES" i="1">
                                <a:latin typeface="Cambria Math" panose="02040503050406030204" pitchFamily="18" charset="0"/>
                              </a:rPr>
                              <m:t>35</m:t>
                            </m:r>
                          </m:e>
                        </m:d>
                      </m:num>
                      <m:den>
                        <m:r>
                          <a:rPr lang="es-ES" b="0" i="1" smtClean="0">
                            <a:latin typeface="Cambria Math" panose="02040503050406030204" pitchFamily="18" charset="0"/>
                          </a:rPr>
                          <m:t>6</m:t>
                        </m:r>
                      </m:den>
                    </m:f>
                    <m:r>
                      <a:rPr lang="es-ES" b="0" i="1" smtClean="0">
                        <a:latin typeface="Cambria Math" panose="02040503050406030204" pitchFamily="18" charset="0"/>
                      </a:rPr>
                      <m:t>=−</m:t>
                    </m:r>
                    <m:r>
                      <a:rPr lang="es-ES" b="0" i="1" smtClean="0">
                        <a:latin typeface="Cambria Math" panose="02040503050406030204" pitchFamily="18" charset="0"/>
                      </a:rPr>
                      <m:t>38</m:t>
                    </m:r>
                    <m:r>
                      <a:rPr lang="es-ES" b="0" i="1" smtClean="0">
                        <a:latin typeface="Cambria Math" panose="02040503050406030204" pitchFamily="18" charset="0"/>
                      </a:rPr>
                      <m:t>.</m:t>
                    </m:r>
                    <m:r>
                      <a:rPr lang="es-ES" b="0" i="1" smtClean="0">
                        <a:latin typeface="Cambria Math" panose="02040503050406030204" pitchFamily="18" charset="0"/>
                      </a:rPr>
                      <m:t>67</m:t>
                    </m:r>
                  </m:oMath>
                </a14:m>
                <a:endParaRPr lang="en-US" dirty="0">
                  <a:highlight>
                    <a:srgbClr val="FFFF00"/>
                  </a:highlight>
                </a:endParaRPr>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𝑏</m:t>
                        </m:r>
                      </m:e>
                      <m:sub>
                        <m:r>
                          <a:rPr lang="es-ES" b="0" i="1" smtClean="0">
                            <a:latin typeface="Cambria Math" panose="02040503050406030204" pitchFamily="18" charset="0"/>
                          </a:rPr>
                          <m:t>1</m:t>
                        </m:r>
                      </m:sub>
                    </m:sSub>
                    <m:r>
                      <a:rPr lang="es-ES" b="0" i="1" smtClean="0">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es-ES" i="1">
                                <a:latin typeface="Cambria Math" panose="02040503050406030204" pitchFamily="18" charset="0"/>
                              </a:rPr>
                              <m:t>𝑠</m:t>
                            </m:r>
                          </m:e>
                          <m:sub>
                            <m:r>
                              <a:rPr lang="ar-AE" i="1">
                                <a:latin typeface="Cambria Math" panose="02040503050406030204" pitchFamily="18" charset="0"/>
                              </a:rPr>
                              <m:t>𝑥𝑦</m:t>
                            </m:r>
                          </m:sub>
                        </m:sSub>
                      </m:num>
                      <m:den>
                        <m:sSubSup>
                          <m:sSubSupPr>
                            <m:ctrlPr>
                              <a:rPr lang="ar-AE"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𝑥</m:t>
                            </m:r>
                          </m:sub>
                          <m:sup>
                            <m:r>
                              <a:rPr lang="es-ES" i="1">
                                <a:latin typeface="Cambria Math" panose="02040503050406030204" pitchFamily="18" charset="0"/>
                              </a:rPr>
                              <m:t>2</m:t>
                            </m:r>
                          </m:sup>
                        </m:sSubSup>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m:t>
                        </m:r>
                        <m:r>
                          <a:rPr lang="es-ES" b="0" i="1" smtClean="0">
                            <a:latin typeface="Cambria Math" panose="02040503050406030204" pitchFamily="18" charset="0"/>
                          </a:rPr>
                          <m:t>38</m:t>
                        </m:r>
                        <m:r>
                          <a:rPr lang="es-ES" b="0" i="1" smtClean="0">
                            <a:latin typeface="Cambria Math" panose="02040503050406030204" pitchFamily="18" charset="0"/>
                          </a:rPr>
                          <m:t>.</m:t>
                        </m:r>
                        <m:r>
                          <a:rPr lang="es-ES" b="0" i="1" smtClean="0">
                            <a:latin typeface="Cambria Math" panose="02040503050406030204" pitchFamily="18" charset="0"/>
                          </a:rPr>
                          <m:t>67</m:t>
                        </m:r>
                      </m:num>
                      <m:den>
                        <m:r>
                          <a:rPr lang="es-ES" b="0" i="1" smtClean="0">
                            <a:latin typeface="Cambria Math" panose="02040503050406030204" pitchFamily="18" charset="0"/>
                          </a:rPr>
                          <m:t>9</m:t>
                        </m:r>
                        <m:r>
                          <a:rPr lang="es-ES" b="0" i="1" smtClean="0">
                            <a:latin typeface="Cambria Math" panose="02040503050406030204" pitchFamily="18" charset="0"/>
                          </a:rPr>
                          <m:t>.</m:t>
                        </m:r>
                        <m:r>
                          <a:rPr lang="es-ES" b="0" i="1" smtClean="0">
                            <a:latin typeface="Cambria Math" panose="02040503050406030204" pitchFamily="18" charset="0"/>
                          </a:rPr>
                          <m:t>33</m:t>
                        </m:r>
                      </m:den>
                    </m:f>
                    <m:r>
                      <a:rPr lang="es-ES" b="0" i="1" smtClean="0">
                        <a:latin typeface="Cambria Math" panose="02040503050406030204" pitchFamily="18" charset="0"/>
                      </a:rPr>
                      <m:t>=−</m:t>
                    </m:r>
                    <m:r>
                      <a:rPr lang="es-ES" b="0" i="1" smtClean="0">
                        <a:latin typeface="Cambria Math" panose="02040503050406030204" pitchFamily="18" charset="0"/>
                      </a:rPr>
                      <m:t>4</m:t>
                    </m:r>
                    <m:r>
                      <a:rPr lang="es-ES" b="0" i="1" smtClean="0">
                        <a:latin typeface="Cambria Math" panose="02040503050406030204" pitchFamily="18" charset="0"/>
                      </a:rPr>
                      <m:t>.</m:t>
                    </m:r>
                    <m:r>
                      <a:rPr lang="es-ES" b="0" i="1" smtClean="0">
                        <a:latin typeface="Cambria Math" panose="02040503050406030204" pitchFamily="18" charset="0"/>
                      </a:rPr>
                      <m:t>14</m:t>
                    </m:r>
                  </m:oMath>
                </a14:m>
                <a:endParaRPr lang="en-US" dirty="0"/>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𝑏</m:t>
                        </m:r>
                      </m:e>
                      <m:sub>
                        <m:r>
                          <a:rPr lang="es-ES" b="0" i="1" smtClean="0">
                            <a:latin typeface="Cambria Math" panose="02040503050406030204" pitchFamily="18" charset="0"/>
                          </a:rPr>
                          <m:t>0</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𝑦</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𝑏</m:t>
                        </m:r>
                      </m:e>
                      <m:sub>
                        <m:r>
                          <a:rPr lang="es-ES" b="0" i="1" smtClean="0">
                            <a:latin typeface="Cambria Math" panose="02040503050406030204" pitchFamily="18" charset="0"/>
                          </a:rPr>
                          <m:t>1</m:t>
                        </m:r>
                      </m:sub>
                    </m:sSub>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r>
                      <a:rPr lang="es-ES" b="0" i="1" smtClean="0">
                        <a:latin typeface="Cambria Math" panose="02040503050406030204" pitchFamily="18" charset="0"/>
                      </a:rPr>
                      <m:t>35</m:t>
                    </m:r>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m:t>
                        </m:r>
                        <m:r>
                          <a:rPr lang="es-ES" b="0" i="1" smtClean="0">
                            <a:latin typeface="Cambria Math" panose="02040503050406030204" pitchFamily="18" charset="0"/>
                          </a:rPr>
                          <m:t>4</m:t>
                        </m:r>
                        <m:r>
                          <a:rPr lang="es-ES" b="0" i="1" smtClean="0">
                            <a:latin typeface="Cambria Math" panose="02040503050406030204" pitchFamily="18" charset="0"/>
                          </a:rPr>
                          <m:t>.</m:t>
                        </m:r>
                        <m:r>
                          <a:rPr lang="es-ES" b="0" i="1" smtClean="0">
                            <a:latin typeface="Cambria Math" panose="02040503050406030204" pitchFamily="18" charset="0"/>
                          </a:rPr>
                          <m:t>14</m:t>
                        </m:r>
                      </m:e>
                    </m:d>
                    <m:d>
                      <m:dPr>
                        <m:ctrlPr>
                          <a:rPr lang="es-ES" b="0" i="1" smtClean="0">
                            <a:latin typeface="Cambria Math" panose="02040503050406030204" pitchFamily="18" charset="0"/>
                          </a:rPr>
                        </m:ctrlPr>
                      </m:dPr>
                      <m:e>
                        <m:r>
                          <a:rPr lang="es-ES" b="0" i="1" smtClean="0">
                            <a:latin typeface="Cambria Math" panose="02040503050406030204" pitchFamily="18" charset="0"/>
                          </a:rPr>
                          <m:t>9</m:t>
                        </m:r>
                      </m:e>
                    </m:d>
                    <m:r>
                      <a:rPr lang="es-ES" b="0" i="1" smtClean="0">
                        <a:latin typeface="Cambria Math" panose="02040503050406030204" pitchFamily="18" charset="0"/>
                      </a:rPr>
                      <m:t>=</m:t>
                    </m:r>
                    <m:r>
                      <a:rPr lang="es-ES" b="0" i="1" smtClean="0">
                        <a:latin typeface="Cambria Math" panose="02040503050406030204" pitchFamily="18" charset="0"/>
                      </a:rPr>
                      <m:t>72</m:t>
                    </m:r>
                    <m:r>
                      <a:rPr lang="es-ES" b="0" i="1" smtClean="0">
                        <a:latin typeface="Cambria Math" panose="02040503050406030204" pitchFamily="18" charset="0"/>
                      </a:rPr>
                      <m:t>.</m:t>
                    </m:r>
                    <m:r>
                      <a:rPr lang="es-ES" b="0" i="1" smtClean="0">
                        <a:latin typeface="Cambria Math" panose="02040503050406030204" pitchFamily="18" charset="0"/>
                      </a:rPr>
                      <m:t>3</m:t>
                    </m:r>
                  </m:oMath>
                </a14:m>
                <a:endParaRPr lang="es-ES" dirty="0"/>
              </a:p>
              <a:p>
                <a14:m>
                  <m:oMath xmlns:m="http://schemas.openxmlformats.org/officeDocument/2006/math">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𝑦</m:t>
                        </m:r>
                      </m:e>
                    </m:acc>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𝐺</m:t>
                        </m:r>
                      </m:e>
                    </m:acc>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𝑏</m:t>
                        </m:r>
                      </m:e>
                      <m:sub>
                        <m:r>
                          <a:rPr lang="es-ES" b="0" i="1" smtClean="0">
                            <a:latin typeface="Cambria Math" panose="02040503050406030204" pitchFamily="18" charset="0"/>
                          </a:rPr>
                          <m:t>0</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𝑏</m:t>
                        </m:r>
                      </m:e>
                      <m:sub>
                        <m:r>
                          <a:rPr lang="es-ES" b="0" i="1" smtClean="0">
                            <a:latin typeface="Cambria Math" panose="02040503050406030204" pitchFamily="18" charset="0"/>
                          </a:rPr>
                          <m:t>1</m:t>
                        </m:r>
                      </m:sub>
                    </m:sSub>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72</m:t>
                    </m:r>
                    <m:r>
                      <a:rPr lang="es-ES" b="0" i="1" smtClean="0">
                        <a:latin typeface="Cambria Math" panose="02040503050406030204" pitchFamily="18" charset="0"/>
                      </a:rPr>
                      <m:t>.</m:t>
                    </m:r>
                    <m:r>
                      <a:rPr lang="es-ES" b="0" i="1" smtClean="0">
                        <a:latin typeface="Cambria Math" panose="02040503050406030204" pitchFamily="18" charset="0"/>
                      </a:rPr>
                      <m:t>3</m:t>
                    </m:r>
                    <m:r>
                      <a:rPr lang="es-ES" b="0" i="1" smtClean="0">
                        <a:latin typeface="Cambria Math" panose="02040503050406030204" pitchFamily="18" charset="0"/>
                      </a:rPr>
                      <m:t>−</m:t>
                    </m:r>
                    <m:r>
                      <a:rPr lang="es-ES" b="0" i="1" smtClean="0">
                        <a:latin typeface="Cambria Math" panose="02040503050406030204" pitchFamily="18" charset="0"/>
                      </a:rPr>
                      <m:t>4</m:t>
                    </m:r>
                    <m:r>
                      <a:rPr lang="es-ES" b="0" i="1" smtClean="0">
                        <a:latin typeface="Cambria Math" panose="02040503050406030204" pitchFamily="18" charset="0"/>
                      </a:rPr>
                      <m:t>.</m:t>
                    </m:r>
                    <m:r>
                      <a:rPr lang="es-ES" b="0" i="1" smtClean="0">
                        <a:latin typeface="Cambria Math" panose="02040503050406030204" pitchFamily="18" charset="0"/>
                      </a:rPr>
                      <m:t>14</m:t>
                    </m:r>
                    <m:r>
                      <a:rPr lang="es-ES" b="0" i="1" smtClean="0">
                        <a:latin typeface="Cambria Math" panose="02040503050406030204" pitchFamily="18" charset="0"/>
                      </a:rPr>
                      <m:t>𝑥</m:t>
                    </m:r>
                  </m:oMath>
                </a14:m>
                <a:endParaRPr lang="en-US" dirty="0"/>
              </a:p>
              <a:p>
                <a:endParaRPr lang="es-ES" dirty="0"/>
              </a:p>
            </p:txBody>
          </p:sp>
        </mc:Choice>
        <mc:Fallback xmlns="">
          <p:sp>
            <p:nvSpPr>
              <p:cNvPr id="3" name="Marcador de contenido 2">
                <a:extLst>
                  <a:ext uri="{FF2B5EF4-FFF2-40B4-BE49-F238E27FC236}">
                    <a16:creationId xmlns:a16="http://schemas.microsoft.com/office/drawing/2014/main" id="{B5DF9873-AEBE-E246-0F4C-D8421EE271E5}"/>
                  </a:ext>
                </a:extLst>
              </p:cNvPr>
              <p:cNvSpPr>
                <a:spLocks noGrp="1" noRot="1" noChangeAspect="1" noMove="1" noResize="1" noEditPoints="1" noAdjustHandles="1" noChangeArrowheads="1" noChangeShapeType="1" noTextEdit="1"/>
              </p:cNvSpPr>
              <p:nvPr>
                <p:ph idx="1"/>
              </p:nvPr>
            </p:nvSpPr>
            <p:spPr>
              <a:xfrm>
                <a:off x="838199" y="1825625"/>
                <a:ext cx="10803673" cy="4351338"/>
              </a:xfrm>
              <a:blipFill>
                <a:blip r:embed="rId3"/>
                <a:stretch>
                  <a:fillRect l="-677" t="-280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5DD1E557-746B-9440-11A6-23D42D86C438}"/>
              </a:ext>
            </a:extLst>
          </p:cNvPr>
          <p:cNvSpPr>
            <a:spLocks noGrp="1"/>
          </p:cNvSpPr>
          <p:nvPr>
            <p:ph type="sldNum" sz="quarter" idx="12"/>
          </p:nvPr>
        </p:nvSpPr>
        <p:spPr/>
        <p:txBody>
          <a:bodyPr/>
          <a:lstStyle/>
          <a:p>
            <a:fld id="{336CAFD0-1F6E-4E11-9822-836563A02839}" type="slidenum">
              <a:rPr lang="es-ES" smtClean="0"/>
              <a:pPr/>
              <a:t>23</a:t>
            </a:fld>
            <a:endParaRPr lang="es-ES" dirty="0"/>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4ACD48FB-6DDA-436E-86E4-34695F3675D2}"/>
                  </a:ext>
                </a:extLst>
              </p:cNvPr>
              <p:cNvSpPr txBox="1"/>
              <p:nvPr/>
            </p:nvSpPr>
            <p:spPr>
              <a:xfrm rot="16200000">
                <a:off x="6051664" y="5370736"/>
                <a:ext cx="487865" cy="369332"/>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𝑦</m:t>
                          </m:r>
                        </m:e>
                      </m:acc>
                    </m:oMath>
                  </m:oMathPara>
                </a14:m>
                <a:endParaRPr lang="es-ES" dirty="0"/>
              </a:p>
            </p:txBody>
          </p:sp>
        </mc:Choice>
        <mc:Fallback xmlns="">
          <p:sp>
            <p:nvSpPr>
              <p:cNvPr id="11" name="CuadroTexto 10">
                <a:extLst>
                  <a:ext uri="{FF2B5EF4-FFF2-40B4-BE49-F238E27FC236}">
                    <a16:creationId xmlns:a16="http://schemas.microsoft.com/office/drawing/2014/main" id="{4ACD48FB-6DDA-436E-86E4-34695F3675D2}"/>
                  </a:ext>
                </a:extLst>
              </p:cNvPr>
              <p:cNvSpPr txBox="1">
                <a:spLocks noRot="1" noChangeAspect="1" noMove="1" noResize="1" noEditPoints="1" noAdjustHandles="1" noChangeArrowheads="1" noChangeShapeType="1" noTextEdit="1"/>
              </p:cNvSpPr>
              <p:nvPr/>
            </p:nvSpPr>
            <p:spPr>
              <a:xfrm rot="16200000">
                <a:off x="6051664" y="5370736"/>
                <a:ext cx="487865" cy="369332"/>
              </a:xfrm>
              <a:prstGeom prst="rect">
                <a:avLst/>
              </a:prstGeom>
              <a:blipFill>
                <a:blip r:embed="rId4"/>
                <a:stretch>
                  <a:fillRect l="-6557" t="-23750" r="-655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2A45E9C5-3309-D056-A742-BAE902D5FD96}"/>
                  </a:ext>
                </a:extLst>
              </p:cNvPr>
              <p:cNvSpPr txBox="1"/>
              <p:nvPr/>
            </p:nvSpPr>
            <p:spPr>
              <a:xfrm>
                <a:off x="8767269" y="6471441"/>
                <a:ext cx="58822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𝑥</m:t>
                      </m:r>
                    </m:oMath>
                  </m:oMathPara>
                </a14:m>
                <a:endParaRPr lang="es-ES" dirty="0"/>
              </a:p>
            </p:txBody>
          </p:sp>
        </mc:Choice>
        <mc:Fallback xmlns="">
          <p:sp>
            <p:nvSpPr>
              <p:cNvPr id="13" name="CuadroTexto 12">
                <a:extLst>
                  <a:ext uri="{FF2B5EF4-FFF2-40B4-BE49-F238E27FC236}">
                    <a16:creationId xmlns:a16="http://schemas.microsoft.com/office/drawing/2014/main" id="{2A45E9C5-3309-D056-A742-BAE902D5FD96}"/>
                  </a:ext>
                </a:extLst>
              </p:cNvPr>
              <p:cNvSpPr txBox="1">
                <a:spLocks noRot="1" noChangeAspect="1" noMove="1" noResize="1" noEditPoints="1" noAdjustHandles="1" noChangeArrowheads="1" noChangeShapeType="1" noTextEdit="1"/>
              </p:cNvSpPr>
              <p:nvPr/>
            </p:nvSpPr>
            <p:spPr>
              <a:xfrm>
                <a:off x="8767269" y="6471441"/>
                <a:ext cx="588227" cy="369332"/>
              </a:xfrm>
              <a:prstGeom prst="rect">
                <a:avLst/>
              </a:prstGeom>
              <a:blipFill>
                <a:blip r:embed="rId5"/>
                <a:stretch>
                  <a:fillRect/>
                </a:stretch>
              </a:blipFill>
            </p:spPr>
            <p:txBody>
              <a:bodyPr/>
              <a:lstStyle/>
              <a:p>
                <a:r>
                  <a:rPr lang="es-ES">
                    <a:noFill/>
                  </a:rPr>
                  <a:t> </a:t>
                </a:r>
              </a:p>
            </p:txBody>
          </p:sp>
        </mc:Fallback>
      </mc:AlternateContent>
      <p:pic>
        <p:nvPicPr>
          <p:cNvPr id="17" name="Imagen 16">
            <a:extLst>
              <a:ext uri="{FF2B5EF4-FFF2-40B4-BE49-F238E27FC236}">
                <a16:creationId xmlns:a16="http://schemas.microsoft.com/office/drawing/2014/main" id="{80220135-C650-2BED-7565-2E8066ACDDA3}"/>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80262" y="4513237"/>
            <a:ext cx="4672842" cy="2084333"/>
          </a:xfrm>
          <a:prstGeom prst="rect">
            <a:avLst/>
          </a:prstGeom>
        </p:spPr>
      </p:pic>
    </p:spTree>
    <p:extLst>
      <p:ext uri="{BB962C8B-B14F-4D97-AF65-F5344CB8AC3E}">
        <p14:creationId xmlns:p14="http://schemas.microsoft.com/office/powerpoint/2010/main" val="3353216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4E13B-2C42-F2F3-B242-48C9CAEF75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A249B8D-B8A0-27C0-E214-882B91C92206}"/>
              </a:ext>
            </a:extLst>
          </p:cNvPr>
          <p:cNvSpPr>
            <a:spLocks noGrp="1"/>
          </p:cNvSpPr>
          <p:nvPr>
            <p:ph type="title"/>
          </p:nvPr>
        </p:nvSpPr>
        <p:spPr/>
        <p:txBody>
          <a:bodyPr>
            <a:normAutofit fontScale="90000"/>
          </a:bodyPr>
          <a:lstStyle/>
          <a:p>
            <a:r>
              <a:rPr lang="es-ES" dirty="0"/>
              <a:t>5. Regresión lineal simple</a:t>
            </a:r>
            <a:br>
              <a:rPr lang="es-ES" dirty="0"/>
            </a:br>
            <a:r>
              <a:rPr lang="es-ES" dirty="0"/>
              <a:t>Intervalo de confianza (Ejemplo 11.7)(Solución)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A29405E-0158-C08A-7D92-F34D72D5FD9C}"/>
                  </a:ext>
                </a:extLst>
              </p:cNvPr>
              <p:cNvSpPr>
                <a:spLocks noGrp="1"/>
              </p:cNvSpPr>
              <p:nvPr>
                <p:ph idx="1"/>
              </p:nvPr>
            </p:nvSpPr>
            <p:spPr>
              <a:xfrm>
                <a:off x="838199" y="1825625"/>
                <a:ext cx="11004395" cy="4351338"/>
              </a:xfrm>
            </p:spPr>
            <p:txBody>
              <a:bodyPr>
                <a:normAutofit fontScale="77500" lnSpcReduction="20000"/>
              </a:bodyPr>
              <a:lstStyle/>
              <a:p>
                <a:pPr marL="0" indent="0">
                  <a:buNone/>
                </a:pPr>
                <a:r>
                  <a:rPr lang="es-ES" dirty="0"/>
                  <a:t>b) Intervalo de confianza para </a:t>
                </a:r>
                <a14:m>
                  <m:oMath xmlns:m="http://schemas.openxmlformats.org/officeDocument/2006/math">
                    <m:r>
                      <a:rPr lang="es-ES" i="1" dirty="0" smtClean="0">
                        <a:latin typeface="Cambria Math" panose="02040503050406030204" pitchFamily="18" charset="0"/>
                      </a:rPr>
                      <m:t>𝑋</m:t>
                    </m:r>
                    <m:r>
                      <a:rPr lang="es-ES" i="1" dirty="0" smtClean="0">
                        <a:latin typeface="Cambria Math" panose="02040503050406030204" pitchFamily="18" charset="0"/>
                      </a:rPr>
                      <m:t>=</m:t>
                    </m:r>
                    <m:sSub>
                      <m:sSubPr>
                        <m:ctrlPr>
                          <a:rPr lang="es-ES" i="1" dirty="0" smtClean="0">
                            <a:latin typeface="Cambria Math" panose="02040503050406030204" pitchFamily="18" charset="0"/>
                          </a:rPr>
                        </m:ctrlPr>
                      </m:sSubPr>
                      <m:e>
                        <m:r>
                          <a:rPr lang="es-ES" b="0" i="1" dirty="0" smtClean="0">
                            <a:latin typeface="Cambria Math" panose="02040503050406030204" pitchFamily="18" charset="0"/>
                          </a:rPr>
                          <m:t>𝑥</m:t>
                        </m:r>
                      </m:e>
                      <m:sub>
                        <m:r>
                          <a:rPr lang="es-ES" b="0" i="1" dirty="0" smtClean="0">
                            <a:latin typeface="Cambria Math" panose="02040503050406030204" pitchFamily="18" charset="0"/>
                          </a:rPr>
                          <m:t>𝑜</m:t>
                        </m:r>
                      </m:sub>
                    </m:sSub>
                    <m:r>
                      <a:rPr lang="es-ES" b="0" i="1" dirty="0" smtClean="0">
                        <a:latin typeface="Cambria Math" panose="02040503050406030204" pitchFamily="18" charset="0"/>
                      </a:rPr>
                      <m:t>=</m:t>
                    </m:r>
                    <m:r>
                      <a:rPr lang="es-ES" i="1" dirty="0" smtClean="0">
                        <a:latin typeface="Cambria Math" panose="02040503050406030204" pitchFamily="18" charset="0"/>
                      </a:rPr>
                      <m:t>16</m:t>
                    </m:r>
                    <m:r>
                      <a:rPr lang="es-ES" b="0" i="1" dirty="0" smtClean="0">
                        <a:latin typeface="Cambria Math" panose="02040503050406030204" pitchFamily="18" charset="0"/>
                      </a:rPr>
                      <m:t> </m:t>
                    </m:r>
                    <m:r>
                      <a:rPr lang="es-ES" i="1" dirty="0" smtClean="0">
                        <a:latin typeface="Cambria Math" panose="02040503050406030204" pitchFamily="18" charset="0"/>
                      </a:rPr>
                      <m:t>𝐺𝐵</m:t>
                    </m:r>
                  </m:oMath>
                </a14:m>
                <a:endParaRPr lang="es-ES" dirty="0"/>
              </a:p>
              <a:p>
                <a14:m>
                  <m:oMath xmlns:m="http://schemas.openxmlformats.org/officeDocument/2006/math">
                    <m:sSub>
                      <m:sSubPr>
                        <m:ctrlPr>
                          <a:rPr lang="es-ES" i="1" smtClean="0">
                            <a:latin typeface="Cambria Math" panose="02040503050406030204" pitchFamily="18" charset="0"/>
                            <a:ea typeface="Cambria Math" panose="02040503050406030204" pitchFamily="18" charset="0"/>
                          </a:rPr>
                        </m:ctrlPr>
                      </m:sSubPr>
                      <m:e>
                        <m:acc>
                          <m:accPr>
                            <m:chr m:val="̂"/>
                            <m:ctrlPr>
                              <a:rPr lang="es-ES" i="1" smtClean="0">
                                <a:latin typeface="Cambria Math" panose="02040503050406030204" pitchFamily="18" charset="0"/>
                                <a:ea typeface="Cambria Math" panose="02040503050406030204" pitchFamily="18" charset="0"/>
                              </a:rPr>
                            </m:ctrlPr>
                          </m:accPr>
                          <m:e>
                            <m:r>
                              <a:rPr lang="es-ES" b="0" i="1" smtClean="0">
                                <a:latin typeface="Cambria Math" panose="02040503050406030204" pitchFamily="18" charset="0"/>
                                <a:ea typeface="Cambria Math" panose="02040503050406030204" pitchFamily="18" charset="0"/>
                              </a:rPr>
                              <m:t>𝑦</m:t>
                            </m:r>
                          </m:e>
                        </m:acc>
                      </m:e>
                      <m:sub>
                        <m:r>
                          <a:rPr lang="es-ES" b="0" i="1" smtClean="0">
                            <a:latin typeface="Cambria Math" panose="02040503050406030204" pitchFamily="18" charset="0"/>
                            <a:ea typeface="Cambria Math" panose="02040503050406030204" pitchFamily="18" charset="0"/>
                          </a:rPr>
                          <m:t>𝑜</m:t>
                        </m:r>
                      </m:sub>
                    </m:sSub>
                    <m:r>
                      <a:rPr lang="es-ES" b="0" i="1" smtClean="0">
                        <a:latin typeface="Cambria Math" panose="02040503050406030204" pitchFamily="18" charset="0"/>
                        <a:ea typeface="Cambria Math" panose="02040503050406030204" pitchFamily="18" charset="0"/>
                      </a:rPr>
                      <m:t>=</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𝑦</m:t>
                            </m:r>
                          </m:e>
                        </m:acc>
                        <m:d>
                          <m:dPr>
                            <m:begChr m:val="|"/>
                            <m:endChr m:val=""/>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𝑥</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16</m:t>
                            </m:r>
                          </m:e>
                        </m:d>
                      </m:e>
                    </m:d>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72</m:t>
                    </m:r>
                    <m:r>
                      <a:rPr lang="es-ES" i="1">
                        <a:latin typeface="Cambria Math" panose="02040503050406030204" pitchFamily="18" charset="0"/>
                      </a:rPr>
                      <m:t>.</m:t>
                    </m:r>
                    <m:r>
                      <a:rPr lang="es-ES" i="1">
                        <a:latin typeface="Cambria Math" panose="02040503050406030204" pitchFamily="18" charset="0"/>
                      </a:rPr>
                      <m:t>3</m:t>
                    </m:r>
                    <m:r>
                      <a:rPr lang="es-ES" i="1">
                        <a:latin typeface="Cambria Math" panose="02040503050406030204" pitchFamily="18" charset="0"/>
                      </a:rPr>
                      <m:t>−</m:t>
                    </m:r>
                    <m:r>
                      <a:rPr lang="es-ES" i="1">
                        <a:latin typeface="Cambria Math" panose="02040503050406030204" pitchFamily="18" charset="0"/>
                      </a:rPr>
                      <m:t>4</m:t>
                    </m:r>
                    <m:r>
                      <a:rPr lang="es-ES" i="1">
                        <a:latin typeface="Cambria Math" panose="02040503050406030204" pitchFamily="18" charset="0"/>
                      </a:rPr>
                      <m:t>.</m:t>
                    </m:r>
                    <m:r>
                      <a:rPr lang="es-ES" i="1">
                        <a:latin typeface="Cambria Math" panose="02040503050406030204" pitchFamily="18" charset="0"/>
                      </a:rPr>
                      <m:t>14</m:t>
                    </m:r>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16</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6</m:t>
                    </m:r>
                    <m:r>
                      <a:rPr lang="es-ES" b="0" i="1"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peticiones</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procesadas</m:t>
                    </m:r>
                  </m:oMath>
                </a14:m>
                <a:endParaRPr lang="en-US" dirty="0"/>
              </a:p>
              <a:p>
                <a:r>
                  <a:rPr lang="en-US" dirty="0" err="1"/>
                  <a:t>Límites</a:t>
                </a:r>
                <a:r>
                  <a:rPr lang="en-US" dirty="0"/>
                  <a:t> del </a:t>
                </a:r>
                <a:r>
                  <a:rPr lang="en-US" dirty="0" err="1"/>
                  <a:t>intervalo</a:t>
                </a:r>
                <a:endParaRPr lang="en-US"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r>
                      <a:rPr lang="es-ES" i="1" smtClean="0">
                        <a:latin typeface="Cambria Math" panose="02040503050406030204" pitchFamily="18" charset="0"/>
                      </a:rPr>
                      <m:t>6</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ea typeface="Cambria Math" panose="02040503050406030204" pitchFamily="18" charset="0"/>
                      </a:rPr>
                      <m:t>𝑠</m:t>
                    </m:r>
                    <m:rad>
                      <m:radPr>
                        <m:degHide m:val="on"/>
                        <m:ctrlPr>
                          <a:rPr lang="es-ES" b="0" i="1" smtClean="0">
                            <a:latin typeface="Cambria Math" panose="02040503050406030204" pitchFamily="18" charset="0"/>
                            <a:ea typeface="Cambria Math" panose="02040503050406030204" pitchFamily="18" charset="0"/>
                          </a:rPr>
                        </m:ctrlPr>
                      </m:radPr>
                      <m:deg/>
                      <m:e>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1</m:t>
                            </m:r>
                          </m:num>
                          <m:den>
                            <m:r>
                              <a:rPr lang="es-ES" b="0" i="1" smtClean="0">
                                <a:latin typeface="Cambria Math" panose="02040503050406030204" pitchFamily="18" charset="0"/>
                                <a:ea typeface="Cambria Math" panose="02040503050406030204" pitchFamily="18" charset="0"/>
                              </a:rPr>
                              <m:t>𝑛</m:t>
                            </m:r>
                          </m:den>
                        </m:f>
                        <m:r>
                          <a:rPr lang="es-ES" b="0" i="1" smtClean="0">
                            <a:latin typeface="Cambria Math" panose="02040503050406030204" pitchFamily="18" charset="0"/>
                            <a:ea typeface="Cambria Math" panose="02040503050406030204" pitchFamily="18" charset="0"/>
                          </a:rPr>
                          <m:t>+</m:t>
                        </m:r>
                        <m:f>
                          <m:fPr>
                            <m:ctrlPr>
                              <a:rPr lang="es-ES" b="0" i="1" smtClean="0">
                                <a:latin typeface="Cambria Math" panose="02040503050406030204" pitchFamily="18" charset="0"/>
                                <a:ea typeface="Cambria Math" panose="02040503050406030204" pitchFamily="18" charset="0"/>
                              </a:rPr>
                            </m:ctrlPr>
                          </m:fPr>
                          <m:num>
                            <m:sSup>
                              <m:sSupPr>
                                <m:ctrlPr>
                                  <a:rPr lang="es-ES" b="0" i="1" smtClean="0">
                                    <a:latin typeface="Cambria Math" panose="02040503050406030204" pitchFamily="18" charset="0"/>
                                    <a:ea typeface="Cambria Math" panose="02040503050406030204" pitchFamily="18" charset="0"/>
                                  </a:rPr>
                                </m:ctrlPr>
                              </m:sSupPr>
                              <m:e>
                                <m:d>
                                  <m:dPr>
                                    <m:ctrlPr>
                                      <a:rPr lang="es-ES" b="0" i="1" smtClean="0">
                                        <a:latin typeface="Cambria Math" panose="02040503050406030204" pitchFamily="18" charset="0"/>
                                        <a:ea typeface="Cambria Math" panose="02040503050406030204" pitchFamily="18" charset="0"/>
                                      </a:rPr>
                                    </m:ctrlPr>
                                  </m:dPr>
                                  <m:e>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𝑥</m:t>
                                        </m:r>
                                      </m:e>
                                      <m:sub>
                                        <m:r>
                                          <a:rPr lang="es-ES" b="0" i="1" smtClean="0">
                                            <a:latin typeface="Cambria Math" panose="02040503050406030204" pitchFamily="18" charset="0"/>
                                            <a:ea typeface="Cambria Math" panose="02040503050406030204" pitchFamily="18" charset="0"/>
                                          </a:rPr>
                                          <m:t>𝑜</m:t>
                                        </m:r>
                                      </m:sub>
                                    </m:sSub>
                                    <m:r>
                                      <a:rPr lang="es-ES" b="0" i="1" smtClean="0">
                                        <a:latin typeface="Cambria Math" panose="02040503050406030204" pitchFamily="18" charset="0"/>
                                        <a:ea typeface="Cambria Math" panose="02040503050406030204" pitchFamily="18" charset="0"/>
                                      </a:rPr>
                                      <m:t>−</m:t>
                                    </m:r>
                                    <m:acc>
                                      <m:accPr>
                                        <m:chr m:val="̅"/>
                                        <m:ctrlPr>
                                          <a:rPr lang="es-ES" b="0" i="1" smtClean="0">
                                            <a:latin typeface="Cambria Math" panose="02040503050406030204" pitchFamily="18" charset="0"/>
                                            <a:ea typeface="Cambria Math" panose="02040503050406030204" pitchFamily="18" charset="0"/>
                                          </a:rPr>
                                        </m:ctrlPr>
                                      </m:accPr>
                                      <m:e>
                                        <m:r>
                                          <a:rPr lang="es-ES" b="0" i="1" smtClean="0">
                                            <a:latin typeface="Cambria Math" panose="02040503050406030204" pitchFamily="18" charset="0"/>
                                            <a:ea typeface="Cambria Math" panose="02040503050406030204" pitchFamily="18" charset="0"/>
                                          </a:rPr>
                                          <m:t>𝑥</m:t>
                                        </m:r>
                                      </m:e>
                                    </m:acc>
                                  </m:e>
                                </m:d>
                              </m:e>
                              <m:sup>
                                <m:r>
                                  <a:rPr lang="es-ES" b="0" i="1" smtClean="0">
                                    <a:latin typeface="Cambria Math" panose="02040503050406030204" pitchFamily="18" charset="0"/>
                                    <a:ea typeface="Cambria Math" panose="02040503050406030204" pitchFamily="18" charset="0"/>
                                  </a:rPr>
                                  <m:t>2</m:t>
                                </m:r>
                              </m:sup>
                            </m:sSup>
                          </m:num>
                          <m:den>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𝑆</m:t>
                                </m:r>
                              </m:e>
                              <m:sub>
                                <m:r>
                                  <a:rPr lang="es-ES" b="0" i="1" smtClean="0">
                                    <a:latin typeface="Cambria Math" panose="02040503050406030204" pitchFamily="18" charset="0"/>
                                    <a:ea typeface="Cambria Math" panose="02040503050406030204" pitchFamily="18" charset="0"/>
                                  </a:rPr>
                                  <m:t>𝑥𝑥</m:t>
                                </m:r>
                              </m:sub>
                            </m:sSub>
                          </m:den>
                        </m:f>
                      </m:e>
                    </m:rad>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6</m:t>
                    </m:r>
                    <m:r>
                      <a:rPr lang="es-ES" i="1" smtClean="0">
                        <a:latin typeface="Cambria Math" panose="02040503050406030204" pitchFamily="18" charset="0"/>
                      </a:rPr>
                      <m:t>−</m:t>
                    </m:r>
                    <m:r>
                      <a:rPr lang="es-ES" b="0" i="1" smtClean="0">
                        <a:latin typeface="Cambria Math" panose="02040503050406030204" pitchFamily="18" charset="0"/>
                      </a:rPr>
                      <m:t>2</m:t>
                    </m:r>
                    <m:r>
                      <a:rPr lang="es-ES" b="0" i="1" smtClean="0">
                        <a:latin typeface="Cambria Math" panose="02040503050406030204" pitchFamily="18" charset="0"/>
                      </a:rPr>
                      <m:t>.</m:t>
                    </m:r>
                    <m:r>
                      <a:rPr lang="es-ES" b="0" i="1" smtClean="0">
                        <a:latin typeface="Cambria Math" panose="02040503050406030204" pitchFamily="18" charset="0"/>
                      </a:rPr>
                      <m:t>57</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9</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9</m:t>
                    </m:r>
                    <m:r>
                      <a:rPr lang="es-ES" b="0" i="1" smtClean="0">
                        <a:latin typeface="Cambria Math" panose="02040503050406030204" pitchFamily="18" charset="0"/>
                        <a:ea typeface="Cambria Math" panose="02040503050406030204" pitchFamily="18" charset="0"/>
                      </a:rPr>
                      <m:t>∙</m:t>
                    </m:r>
                    <m:rad>
                      <m:radPr>
                        <m:degHide m:val="on"/>
                        <m:ctrlPr>
                          <a:rPr lang="es-ES" i="1">
                            <a:latin typeface="Cambria Math" panose="02040503050406030204" pitchFamily="18" charset="0"/>
                            <a:ea typeface="Cambria Math" panose="02040503050406030204" pitchFamily="18" charset="0"/>
                          </a:rPr>
                        </m:ctrlPr>
                      </m:radPr>
                      <m:deg/>
                      <m:e>
                        <m:r>
                          <a:rPr lang="es-ES" i="1">
                            <a:latin typeface="Cambria Math" panose="02040503050406030204" pitchFamily="18" charset="0"/>
                            <a:ea typeface="Cambria Math" panose="02040503050406030204" pitchFamily="18" charset="0"/>
                          </a:rPr>
                          <m:t>1</m:t>
                        </m:r>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1</m:t>
                            </m:r>
                          </m:num>
                          <m:den>
                            <m:r>
                              <a:rPr lang="es-ES" b="0" i="1" smtClean="0">
                                <a:latin typeface="Cambria Math" panose="02040503050406030204" pitchFamily="18" charset="0"/>
                                <a:ea typeface="Cambria Math" panose="02040503050406030204" pitchFamily="18" charset="0"/>
                              </a:rPr>
                              <m:t>7</m:t>
                            </m:r>
                          </m:den>
                        </m:f>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d>
                                  <m:dPr>
                                    <m:ctrlPr>
                                      <a:rPr lang="es-ES" i="1">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16</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9</m:t>
                                    </m:r>
                                  </m:e>
                                </m:d>
                              </m:e>
                              <m:sup>
                                <m:r>
                                  <a:rPr lang="es-ES" i="1">
                                    <a:latin typeface="Cambria Math" panose="02040503050406030204" pitchFamily="18" charset="0"/>
                                    <a:ea typeface="Cambria Math" panose="02040503050406030204" pitchFamily="18" charset="0"/>
                                  </a:rPr>
                                  <m:t>2</m:t>
                                </m:r>
                              </m:sup>
                            </m:sSup>
                          </m:num>
                          <m:den>
                            <m:r>
                              <a:rPr lang="es-ES" b="0" i="1" smtClean="0">
                                <a:latin typeface="Cambria Math" panose="02040503050406030204" pitchFamily="18" charset="0"/>
                                <a:ea typeface="Cambria Math" panose="02040503050406030204" pitchFamily="18" charset="0"/>
                              </a:rPr>
                              <m:t>56</m:t>
                            </m:r>
                          </m:den>
                        </m:f>
                      </m:e>
                    </m:ra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30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18</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peticiones</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proc</m:t>
                    </m:r>
                    <m:r>
                      <m:rPr>
                        <m:nor/>
                      </m:rPr>
                      <a:rPr lang="es-ES" b="0" i="0" smtClean="0">
                        <a:latin typeface="Cambria Math" panose="02040503050406030204" pitchFamily="18" charset="0"/>
                        <a:ea typeface="Cambria Math" panose="02040503050406030204" pitchFamily="18" charset="0"/>
                      </a:rPr>
                      <m:t>.</m:t>
                    </m:r>
                  </m:oMath>
                </a14:m>
                <a:endParaRPr lang="en-US"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r>
                      <a:rPr lang="es-ES" i="1" smtClean="0">
                        <a:latin typeface="Cambria Math" panose="02040503050406030204" pitchFamily="18" charset="0"/>
                      </a:rPr>
                      <m:t>6</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ea typeface="Cambria Math" panose="02040503050406030204" pitchFamily="18" charset="0"/>
                      </a:rPr>
                      <m:t>𝑠</m:t>
                    </m:r>
                    <m:rad>
                      <m:radPr>
                        <m:degHide m:val="on"/>
                        <m:ctrlPr>
                          <a:rPr lang="es-ES" b="0" i="1" smtClean="0">
                            <a:latin typeface="Cambria Math" panose="02040503050406030204" pitchFamily="18" charset="0"/>
                            <a:ea typeface="Cambria Math" panose="02040503050406030204" pitchFamily="18" charset="0"/>
                          </a:rPr>
                        </m:ctrlPr>
                      </m:radPr>
                      <m:deg/>
                      <m:e>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1</m:t>
                            </m:r>
                          </m:num>
                          <m:den>
                            <m:r>
                              <a:rPr lang="es-ES" b="0" i="1" smtClean="0">
                                <a:latin typeface="Cambria Math" panose="02040503050406030204" pitchFamily="18" charset="0"/>
                                <a:ea typeface="Cambria Math" panose="02040503050406030204" pitchFamily="18" charset="0"/>
                              </a:rPr>
                              <m:t>𝑛</m:t>
                            </m:r>
                          </m:den>
                        </m:f>
                        <m:r>
                          <a:rPr lang="es-ES" b="0" i="1" smtClean="0">
                            <a:latin typeface="Cambria Math" panose="02040503050406030204" pitchFamily="18" charset="0"/>
                            <a:ea typeface="Cambria Math" panose="02040503050406030204" pitchFamily="18" charset="0"/>
                          </a:rPr>
                          <m:t>+</m:t>
                        </m:r>
                        <m:f>
                          <m:fPr>
                            <m:ctrlPr>
                              <a:rPr lang="es-ES" b="0" i="1" smtClean="0">
                                <a:latin typeface="Cambria Math" panose="02040503050406030204" pitchFamily="18" charset="0"/>
                                <a:ea typeface="Cambria Math" panose="02040503050406030204" pitchFamily="18" charset="0"/>
                              </a:rPr>
                            </m:ctrlPr>
                          </m:fPr>
                          <m:num>
                            <m:sSup>
                              <m:sSupPr>
                                <m:ctrlPr>
                                  <a:rPr lang="es-ES" b="0" i="1" smtClean="0">
                                    <a:latin typeface="Cambria Math" panose="02040503050406030204" pitchFamily="18" charset="0"/>
                                    <a:ea typeface="Cambria Math" panose="02040503050406030204" pitchFamily="18" charset="0"/>
                                  </a:rPr>
                                </m:ctrlPr>
                              </m:sSupPr>
                              <m:e>
                                <m:d>
                                  <m:dPr>
                                    <m:ctrlPr>
                                      <a:rPr lang="es-ES" b="0" i="1" smtClean="0">
                                        <a:latin typeface="Cambria Math" panose="02040503050406030204" pitchFamily="18" charset="0"/>
                                        <a:ea typeface="Cambria Math" panose="02040503050406030204" pitchFamily="18" charset="0"/>
                                      </a:rPr>
                                    </m:ctrlPr>
                                  </m:dPr>
                                  <m:e>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𝑥</m:t>
                                        </m:r>
                                      </m:e>
                                      <m:sub>
                                        <m:r>
                                          <a:rPr lang="es-ES" b="0" i="1" smtClean="0">
                                            <a:latin typeface="Cambria Math" panose="02040503050406030204" pitchFamily="18" charset="0"/>
                                            <a:ea typeface="Cambria Math" panose="02040503050406030204" pitchFamily="18" charset="0"/>
                                          </a:rPr>
                                          <m:t>𝑜</m:t>
                                        </m:r>
                                      </m:sub>
                                    </m:sSub>
                                    <m:r>
                                      <a:rPr lang="es-ES" b="0" i="1" smtClean="0">
                                        <a:latin typeface="Cambria Math" panose="02040503050406030204" pitchFamily="18" charset="0"/>
                                        <a:ea typeface="Cambria Math" panose="02040503050406030204" pitchFamily="18" charset="0"/>
                                      </a:rPr>
                                      <m:t>−</m:t>
                                    </m:r>
                                    <m:acc>
                                      <m:accPr>
                                        <m:chr m:val="̅"/>
                                        <m:ctrlPr>
                                          <a:rPr lang="es-ES" b="0" i="1" smtClean="0">
                                            <a:latin typeface="Cambria Math" panose="02040503050406030204" pitchFamily="18" charset="0"/>
                                            <a:ea typeface="Cambria Math" panose="02040503050406030204" pitchFamily="18" charset="0"/>
                                          </a:rPr>
                                        </m:ctrlPr>
                                      </m:accPr>
                                      <m:e>
                                        <m:r>
                                          <a:rPr lang="es-ES" b="0" i="1" smtClean="0">
                                            <a:latin typeface="Cambria Math" panose="02040503050406030204" pitchFamily="18" charset="0"/>
                                            <a:ea typeface="Cambria Math" panose="02040503050406030204" pitchFamily="18" charset="0"/>
                                          </a:rPr>
                                          <m:t>𝑥</m:t>
                                        </m:r>
                                      </m:e>
                                    </m:acc>
                                  </m:e>
                                </m:d>
                              </m:e>
                              <m:sup>
                                <m:r>
                                  <a:rPr lang="es-ES" b="0" i="1" smtClean="0">
                                    <a:latin typeface="Cambria Math" panose="02040503050406030204" pitchFamily="18" charset="0"/>
                                    <a:ea typeface="Cambria Math" panose="02040503050406030204" pitchFamily="18" charset="0"/>
                                  </a:rPr>
                                  <m:t>2</m:t>
                                </m:r>
                              </m:sup>
                            </m:sSup>
                          </m:num>
                          <m:den>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𝑆</m:t>
                                </m:r>
                              </m:e>
                              <m:sub>
                                <m:r>
                                  <a:rPr lang="es-ES" b="0" i="1" smtClean="0">
                                    <a:latin typeface="Cambria Math" panose="02040503050406030204" pitchFamily="18" charset="0"/>
                                    <a:ea typeface="Cambria Math" panose="02040503050406030204" pitchFamily="18" charset="0"/>
                                  </a:rPr>
                                  <m:t>𝑥𝑥</m:t>
                                </m:r>
                              </m:sub>
                            </m:sSub>
                          </m:den>
                        </m:f>
                      </m:e>
                    </m:rad>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6</m:t>
                    </m:r>
                    <m:r>
                      <a:rPr lang="es-ES" b="0" i="1" smtClean="0">
                        <a:latin typeface="Cambria Math" panose="02040503050406030204" pitchFamily="18" charset="0"/>
                      </a:rPr>
                      <m:t>+</m:t>
                    </m:r>
                    <m:r>
                      <a:rPr lang="es-ES" i="1">
                        <a:latin typeface="Cambria Math" panose="02040503050406030204" pitchFamily="18" charset="0"/>
                      </a:rPr>
                      <m:t>2</m:t>
                    </m:r>
                    <m:r>
                      <a:rPr lang="es-ES" i="1">
                        <a:latin typeface="Cambria Math" panose="02040503050406030204" pitchFamily="18" charset="0"/>
                      </a:rPr>
                      <m:t>.</m:t>
                    </m:r>
                    <m:r>
                      <a:rPr lang="es-ES" i="1">
                        <a:latin typeface="Cambria Math" panose="02040503050406030204" pitchFamily="18" charset="0"/>
                      </a:rPr>
                      <m:t>57</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9</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9</m:t>
                    </m:r>
                    <m:r>
                      <a:rPr lang="es-ES" i="1">
                        <a:latin typeface="Cambria Math" panose="02040503050406030204" pitchFamily="18" charset="0"/>
                        <a:ea typeface="Cambria Math" panose="02040503050406030204" pitchFamily="18" charset="0"/>
                      </a:rPr>
                      <m:t>∙</m:t>
                    </m:r>
                    <m:rad>
                      <m:radPr>
                        <m:degHide m:val="on"/>
                        <m:ctrlPr>
                          <a:rPr lang="es-ES" i="1">
                            <a:latin typeface="Cambria Math" panose="02040503050406030204" pitchFamily="18" charset="0"/>
                            <a:ea typeface="Cambria Math" panose="02040503050406030204" pitchFamily="18" charset="0"/>
                          </a:rPr>
                        </m:ctrlPr>
                      </m:radPr>
                      <m:deg/>
                      <m:e>
                        <m:r>
                          <a:rPr lang="es-ES" i="1">
                            <a:latin typeface="Cambria Math" panose="02040503050406030204" pitchFamily="18" charset="0"/>
                            <a:ea typeface="Cambria Math" panose="02040503050406030204" pitchFamily="18" charset="0"/>
                          </a:rPr>
                          <m:t>1</m:t>
                        </m:r>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1</m:t>
                            </m:r>
                          </m:num>
                          <m:den>
                            <m:r>
                              <a:rPr lang="es-ES" i="1">
                                <a:latin typeface="Cambria Math" panose="02040503050406030204" pitchFamily="18" charset="0"/>
                                <a:ea typeface="Cambria Math" panose="02040503050406030204" pitchFamily="18" charset="0"/>
                              </a:rPr>
                              <m:t>7</m:t>
                            </m:r>
                          </m:den>
                        </m:f>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d>
                                  <m:dPr>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16</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9</m:t>
                                    </m:r>
                                  </m:e>
                                </m:d>
                              </m:e>
                              <m:sup>
                                <m:r>
                                  <a:rPr lang="es-ES" i="1">
                                    <a:latin typeface="Cambria Math" panose="02040503050406030204" pitchFamily="18" charset="0"/>
                                    <a:ea typeface="Cambria Math" panose="02040503050406030204" pitchFamily="18" charset="0"/>
                                  </a:rPr>
                                  <m:t>2</m:t>
                                </m:r>
                              </m:sup>
                            </m:sSup>
                          </m:num>
                          <m:den>
                            <m:r>
                              <a:rPr lang="es-ES" i="1">
                                <a:latin typeface="Cambria Math" panose="02040503050406030204" pitchFamily="18" charset="0"/>
                                <a:ea typeface="Cambria Math" panose="02040503050406030204" pitchFamily="18" charset="0"/>
                              </a:rPr>
                              <m:t>56</m:t>
                            </m:r>
                          </m:den>
                        </m:f>
                      </m:e>
                    </m:rad>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42</m:t>
                    </m:r>
                    <m:r>
                      <a:rPr lang="es-ES" b="0" i="1"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peticiones</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procesadas</m:t>
                    </m:r>
                  </m:oMath>
                </a14:m>
                <a:endParaRPr lang="en-US" dirty="0"/>
              </a:p>
              <a:p>
                <a:r>
                  <a:rPr lang="en-US" dirty="0" err="1"/>
                  <a:t>Siendo</a:t>
                </a:r>
                <a:endParaRPr lang="en-US"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𝑆</m:t>
                        </m:r>
                      </m:e>
                      <m:sub>
                        <m:r>
                          <a:rPr lang="es-ES" b="0" i="1" smtClean="0">
                            <a:latin typeface="Cambria Math" panose="02040503050406030204" pitchFamily="18" charset="0"/>
                          </a:rPr>
                          <m:t>𝑥𝑥</m:t>
                        </m:r>
                      </m:sub>
                    </m:sSub>
                    <m:r>
                      <a:rPr lang="es-ES" b="0" i="1" smtClean="0">
                        <a:latin typeface="Cambria Math" panose="02040503050406030204" pitchFamily="18" charset="0"/>
                      </a:rPr>
                      <m:t>=</m:t>
                    </m:r>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m:t>
                        </m:r>
                        <m:r>
                          <m:rPr>
                            <m:brk m:alnAt="23"/>
                          </m:rPr>
                          <a:rPr lang="es-ES" b="0" i="1" smtClean="0">
                            <a:latin typeface="Cambria Math" panose="02040503050406030204" pitchFamily="18" charset="0"/>
                          </a:rPr>
                          <m:t>1</m:t>
                        </m:r>
                      </m:sub>
                      <m:sup>
                        <m:r>
                          <a:rPr lang="es-ES" b="0" i="1" smtClean="0">
                            <a:latin typeface="Cambria Math" panose="02040503050406030204" pitchFamily="18" charset="0"/>
                          </a:rPr>
                          <m:t>𝑛</m:t>
                        </m:r>
                      </m:sup>
                      <m:e>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e>
                            </m:d>
                          </m:e>
                          <m:sup>
                            <m:r>
                              <a:rPr lang="es-ES" b="0" i="1" smtClean="0">
                                <a:latin typeface="Cambria Math" panose="02040503050406030204" pitchFamily="18" charset="0"/>
                              </a:rPr>
                              <m:t>2</m:t>
                            </m:r>
                          </m:sup>
                        </m:sSup>
                      </m:e>
                    </m:nary>
                    <m:r>
                      <a:rPr lang="es-ES" b="0" i="1" smtClean="0">
                        <a:latin typeface="Cambria Math" panose="02040503050406030204" pitchFamily="18" charset="0"/>
                      </a:rPr>
                      <m:t>=</m:t>
                    </m:r>
                    <m:r>
                      <a:rPr lang="es-ES" b="0" i="1" smtClean="0">
                        <a:latin typeface="Cambria Math" panose="02040503050406030204" pitchFamily="18" charset="0"/>
                      </a:rPr>
                      <m:t>56</m:t>
                    </m:r>
                    <m:r>
                      <a:rPr lang="es-ES" b="0" i="1" smtClean="0">
                        <a:latin typeface="Cambria Math" panose="02040503050406030204" pitchFamily="18" charset="0"/>
                      </a:rPr>
                      <m:t> </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𝐺𝐵</m:t>
                        </m:r>
                      </m:e>
                      <m:sup>
                        <m:r>
                          <a:rPr lang="es-ES" b="0" i="1" smtClean="0">
                            <a:latin typeface="Cambria Math" panose="02040503050406030204" pitchFamily="18" charset="0"/>
                          </a:rPr>
                          <m:t>2</m:t>
                        </m:r>
                      </m:sup>
                    </m:sSup>
                  </m:oMath>
                </a14:m>
                <a:endParaRPr lang="es-ES" b="0" i="1" dirty="0">
                  <a:latin typeface="Cambria Math" panose="02040503050406030204" pitchFamily="18" charset="0"/>
                </a:endParaRPr>
              </a:p>
              <a:p>
                <a:pPr lvl="1"/>
                <a14:m>
                  <m:oMath xmlns:m="http://schemas.openxmlformats.org/officeDocument/2006/math">
                    <m:r>
                      <a:rPr lang="es-ES" b="0" i="1" smtClean="0">
                        <a:latin typeface="Cambria Math" panose="02040503050406030204" pitchFamily="18" charset="0"/>
                      </a:rPr>
                      <m:t>𝑠</m:t>
                    </m:r>
                    <m:r>
                      <a:rPr lang="es-ES" b="0" i="1" smtClean="0">
                        <a:latin typeface="Cambria Math" panose="02040503050406030204" pitchFamily="18" charset="0"/>
                      </a:rPr>
                      <m:t>=</m:t>
                    </m:r>
                    <m:rad>
                      <m:radPr>
                        <m:degHide m:val="on"/>
                        <m:ctrlPr>
                          <a:rPr lang="es-ES" b="0" i="1" smtClean="0">
                            <a:latin typeface="Cambria Math" panose="02040503050406030204" pitchFamily="18" charset="0"/>
                          </a:rPr>
                        </m:ctrlPr>
                      </m:radPr>
                      <m:deg/>
                      <m:e>
                        <m:f>
                          <m:fPr>
                            <m:ctrlPr>
                              <a:rPr lang="es-ES" b="0" i="1" smtClean="0">
                                <a:latin typeface="Cambria Math" panose="02040503050406030204" pitchFamily="18" charset="0"/>
                              </a:rPr>
                            </m:ctrlPr>
                          </m:fPr>
                          <m:num>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m:t>
                                </m:r>
                                <m:r>
                                  <a:rPr lang="es-ES" b="0" i="1" smtClean="0">
                                    <a:latin typeface="Cambria Math" panose="02040503050406030204" pitchFamily="18" charset="0"/>
                                  </a:rPr>
                                  <m:t>1</m:t>
                                </m:r>
                              </m:sub>
                              <m:sup>
                                <m:r>
                                  <a:rPr lang="es-ES" b="0" i="1" smtClean="0">
                                    <a:latin typeface="Cambria Math" panose="02040503050406030204" pitchFamily="18" charset="0"/>
                                  </a:rPr>
                                  <m:t>𝑛</m:t>
                                </m:r>
                              </m:sup>
                              <m:e>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𝑦</m:t>
                                            </m:r>
                                          </m:e>
                                          <m:sub>
                                            <m:r>
                                              <a:rPr lang="es-ES" b="0" i="1" smtClean="0">
                                                <a:latin typeface="Cambria Math" panose="02040503050406030204" pitchFamily="18" charset="0"/>
                                              </a:rPr>
                                              <m:t>𝑖</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𝑦</m:t>
                                                </m:r>
                                              </m:e>
                                            </m:acc>
                                          </m:e>
                                          <m:sub>
                                            <m:r>
                                              <a:rPr lang="es-ES" b="0" i="1" smtClean="0">
                                                <a:latin typeface="Cambria Math" panose="02040503050406030204" pitchFamily="18" charset="0"/>
                                              </a:rPr>
                                              <m:t>𝑖</m:t>
                                            </m:r>
                                          </m:sub>
                                        </m:sSub>
                                      </m:e>
                                    </m:d>
                                  </m:e>
                                  <m:sup>
                                    <m:r>
                                      <a:rPr lang="es-ES" b="0" i="1" smtClean="0">
                                        <a:latin typeface="Cambria Math" panose="02040503050406030204" pitchFamily="18" charset="0"/>
                                      </a:rPr>
                                      <m:t>2</m:t>
                                    </m:r>
                                  </m:sup>
                                </m:sSup>
                              </m:e>
                            </m:nary>
                          </m:num>
                          <m:den>
                            <m:r>
                              <a:rPr lang="es-ES" b="0" i="1" smtClean="0">
                                <a:latin typeface="Cambria Math" panose="02040503050406030204" pitchFamily="18" charset="0"/>
                              </a:rPr>
                              <m:t>𝑛</m:t>
                            </m:r>
                            <m:r>
                              <a:rPr lang="es-ES" b="0" i="1" smtClean="0">
                                <a:latin typeface="Cambria Math" panose="02040503050406030204" pitchFamily="18" charset="0"/>
                              </a:rPr>
                              <m:t>−</m:t>
                            </m:r>
                            <m:r>
                              <a:rPr lang="es-ES" b="0" i="1" smtClean="0">
                                <a:latin typeface="Cambria Math" panose="02040503050406030204" pitchFamily="18" charset="0"/>
                              </a:rPr>
                              <m:t>2</m:t>
                            </m:r>
                          </m:den>
                        </m:f>
                      </m:e>
                    </m:rad>
                    <m:r>
                      <a:rPr lang="es-ES" i="1">
                        <a:latin typeface="Cambria Math" panose="02040503050406030204" pitchFamily="18" charset="0"/>
                      </a:rPr>
                      <m:t>=</m:t>
                    </m:r>
                    <m:r>
                      <a:rPr lang="es-ES" b="0" i="1" smtClean="0">
                        <a:latin typeface="Cambria Math" panose="02040503050406030204" pitchFamily="18" charset="0"/>
                      </a:rPr>
                      <m:t>9</m:t>
                    </m:r>
                    <m:r>
                      <a:rPr lang="es-ES" b="0" i="1" smtClean="0">
                        <a:latin typeface="Cambria Math" panose="02040503050406030204" pitchFamily="18" charset="0"/>
                      </a:rPr>
                      <m:t>.</m:t>
                    </m:r>
                    <m:r>
                      <a:rPr lang="es-ES" b="0" i="1" smtClean="0">
                        <a:latin typeface="Cambria Math" panose="02040503050406030204" pitchFamily="18" charset="0"/>
                      </a:rPr>
                      <m:t>9</m:t>
                    </m:r>
                    <m:r>
                      <a:rPr lang="es-ES" b="0" i="1" smtClean="0">
                        <a:latin typeface="Cambria Math" panose="02040503050406030204" pitchFamily="18" charset="0"/>
                      </a:rPr>
                      <m:t> </m:t>
                    </m:r>
                    <m:r>
                      <m:rPr>
                        <m:nor/>
                      </m:rPr>
                      <a:rPr lang="es-ES" b="0" i="0" smtClean="0">
                        <a:latin typeface="Cambria Math" panose="02040503050406030204" pitchFamily="18" charset="0"/>
                      </a:rPr>
                      <m:t>peticiones</m:t>
                    </m:r>
                    <m:r>
                      <m:rPr>
                        <m:nor/>
                      </m:rPr>
                      <a:rPr lang="es-ES" b="0" i="0" smtClean="0">
                        <a:latin typeface="Cambria Math" panose="02040503050406030204" pitchFamily="18" charset="0"/>
                      </a:rPr>
                      <m:t> </m:t>
                    </m:r>
                    <m:r>
                      <m:rPr>
                        <m:nor/>
                      </m:rPr>
                      <a:rPr lang="es-ES" b="0" i="0" smtClean="0">
                        <a:latin typeface="Cambria Math" panose="02040503050406030204" pitchFamily="18" charset="0"/>
                      </a:rPr>
                      <m:t>procesadas</m:t>
                    </m:r>
                  </m:oMath>
                </a14:m>
                <a:endParaRPr lang="en-US" dirty="0"/>
              </a:p>
              <a:p>
                <a:pPr lvl="1"/>
                <a14:m>
                  <m:oMath xmlns:m="http://schemas.openxmlformats.org/officeDocument/2006/math">
                    <m:r>
                      <a:rPr lang="es-ES" i="1" smtClean="0">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𝑇</m:t>
                        </m:r>
                        <m:r>
                          <a:rPr lang="es-ES" i="1">
                            <a:latin typeface="Cambria Math" panose="02040503050406030204" pitchFamily="18" charset="0"/>
                          </a:rPr>
                          <m:t>&gt;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m:t>
                            </m:r>
                            <m:r>
                              <a:rPr lang="es-ES" i="1">
                                <a:latin typeface="Cambria Math" panose="02040503050406030204" pitchFamily="18" charset="0"/>
                              </a:rPr>
                              <m:t>2</m:t>
                            </m:r>
                          </m:sub>
                        </m:sSub>
                      </m:e>
                    </m:d>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𝑇</m:t>
                        </m:r>
                        <m:r>
                          <a:rPr lang="es-ES" i="1">
                            <a:latin typeface="Cambria Math" panose="02040503050406030204" pitchFamily="18" charset="0"/>
                          </a:rPr>
                          <m:t>&gt;</m:t>
                        </m:r>
                        <m:sSub>
                          <m:sSubPr>
                            <m:ctrlPr>
                              <a:rPr lang="es-ES" i="1">
                                <a:latin typeface="Cambria Math" panose="02040503050406030204" pitchFamily="18" charset="0"/>
                              </a:rPr>
                            </m:ctrlPr>
                          </m:sSubPr>
                          <m:e>
                            <m:r>
                              <a:rPr lang="es-ES" i="1">
                                <a:latin typeface="Cambria Math" panose="02040503050406030204" pitchFamily="18" charset="0"/>
                              </a:rPr>
                              <m:t>𝑡</m:t>
                            </m:r>
                          </m:e>
                          <m:sub>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025</m:t>
                            </m:r>
                            <m:r>
                              <a:rPr lang="es-ES" b="0" i="1" smtClean="0">
                                <a:latin typeface="Cambria Math" panose="02040503050406030204" pitchFamily="18" charset="0"/>
                              </a:rPr>
                              <m:t>,   </m:t>
                            </m:r>
                            <m:r>
                              <a:rPr lang="es-ES" b="0" i="1" smtClean="0">
                                <a:latin typeface="Cambria Math" panose="02040503050406030204" pitchFamily="18" charset="0"/>
                              </a:rPr>
                              <m:t>5</m:t>
                            </m:r>
                          </m:sub>
                        </m:sSub>
                      </m:e>
                    </m:d>
                    <m:r>
                      <a:rPr lang="es-ES" i="1">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025</m:t>
                    </m:r>
                  </m:oMath>
                </a14:m>
                <a:r>
                  <a:rPr lang="en-US" dirty="0"/>
                  <a:t> </a:t>
                </a:r>
                <a:r>
                  <a:rPr lang="en-US" dirty="0">
                    <a:sym typeface="Wingdings" panose="05000000000000000000" pitchFamily="2" charset="2"/>
                  </a:rPr>
                  <a:t> </a:t>
                </a:r>
                <a:r>
                  <a:rPr lang="en-US" dirty="0" err="1">
                    <a:sym typeface="Wingdings" panose="05000000000000000000" pitchFamily="2" charset="2"/>
                  </a:rPr>
                  <a:t>Según</a:t>
                </a:r>
                <a:r>
                  <a:rPr lang="en-US" dirty="0">
                    <a:sym typeface="Wingdings" panose="05000000000000000000" pitchFamily="2" charset="2"/>
                  </a:rPr>
                  <a:t> </a:t>
                </a:r>
                <a:r>
                  <a:rPr lang="en-US" dirty="0" err="1">
                    <a:sym typeface="Wingdings" panose="05000000000000000000" pitchFamily="2" charset="2"/>
                  </a:rPr>
                  <a:t>Tabla</a:t>
                </a:r>
                <a:r>
                  <a:rPr lang="en-US" dirty="0">
                    <a:sym typeface="Wingdings" panose="05000000000000000000" pitchFamily="2" charset="2"/>
                  </a:rPr>
                  <a:t> A5 </a:t>
                </a:r>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𝑡</m:t>
                        </m:r>
                      </m:e>
                      <m:sub>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025</m:t>
                        </m:r>
                        <m:r>
                          <a:rPr lang="es-ES" i="1">
                            <a:latin typeface="Cambria Math" panose="02040503050406030204" pitchFamily="18" charset="0"/>
                          </a:rPr>
                          <m:t>,   </m:t>
                        </m:r>
                        <m:r>
                          <a:rPr lang="es-ES" i="1">
                            <a:latin typeface="Cambria Math" panose="02040503050406030204" pitchFamily="18" charset="0"/>
                          </a:rPr>
                          <m:t>5</m:t>
                        </m:r>
                      </m:sub>
                    </m:sSub>
                    <m:r>
                      <a:rPr lang="es-ES" b="0" i="1" smtClean="0">
                        <a:latin typeface="Cambria Math" panose="02040503050406030204" pitchFamily="18" charset="0"/>
                      </a:rPr>
                      <m:t>=</m:t>
                    </m:r>
                    <m:r>
                      <a:rPr lang="es-ES" b="0" i="1" smtClean="0">
                        <a:latin typeface="Cambria Math" panose="02040503050406030204" pitchFamily="18" charset="0"/>
                      </a:rPr>
                      <m:t>2</m:t>
                    </m:r>
                    <m:r>
                      <a:rPr lang="es-ES" b="0" i="1" smtClean="0">
                        <a:latin typeface="Cambria Math" panose="02040503050406030204" pitchFamily="18" charset="0"/>
                      </a:rPr>
                      <m:t>.</m:t>
                    </m:r>
                    <m:r>
                      <a:rPr lang="es-ES" b="0" i="1" smtClean="0">
                        <a:latin typeface="Cambria Math" panose="02040503050406030204" pitchFamily="18" charset="0"/>
                      </a:rPr>
                      <m:t>57</m:t>
                    </m:r>
                  </m:oMath>
                </a14:m>
                <a:endParaRPr lang="en-US" dirty="0"/>
              </a:p>
              <a:p>
                <a:pPr lvl="1"/>
                <a:endParaRPr lang="en-US" dirty="0"/>
              </a:p>
              <a:p>
                <a:pPr lvl="1"/>
                <a:endParaRPr lang="es-ES" dirty="0"/>
              </a:p>
              <a:p>
                <a:pPr lvl="1"/>
                <a:endParaRPr lang="es-ES" dirty="0"/>
              </a:p>
            </p:txBody>
          </p:sp>
        </mc:Choice>
        <mc:Fallback xmlns="">
          <p:sp>
            <p:nvSpPr>
              <p:cNvPr id="3" name="Marcador de contenido 2">
                <a:extLst>
                  <a:ext uri="{FF2B5EF4-FFF2-40B4-BE49-F238E27FC236}">
                    <a16:creationId xmlns:a16="http://schemas.microsoft.com/office/drawing/2014/main" id="{7A29405E-0158-C08A-7D92-F34D72D5FD9C}"/>
                  </a:ext>
                </a:extLst>
              </p:cNvPr>
              <p:cNvSpPr>
                <a:spLocks noGrp="1" noRot="1" noChangeAspect="1" noMove="1" noResize="1" noEditPoints="1" noAdjustHandles="1" noChangeArrowheads="1" noChangeShapeType="1" noTextEdit="1"/>
              </p:cNvSpPr>
              <p:nvPr>
                <p:ph idx="1"/>
              </p:nvPr>
            </p:nvSpPr>
            <p:spPr>
              <a:xfrm>
                <a:off x="838199" y="1825625"/>
                <a:ext cx="11004395" cy="4351338"/>
              </a:xfrm>
              <a:blipFill>
                <a:blip r:embed="rId2"/>
                <a:stretch>
                  <a:fillRect l="-664" t="-5042"/>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E11D1CF6-1B71-DBC7-C6B6-05B12CF6044E}"/>
              </a:ext>
            </a:extLst>
          </p:cNvPr>
          <p:cNvSpPr>
            <a:spLocks noGrp="1"/>
          </p:cNvSpPr>
          <p:nvPr>
            <p:ph type="sldNum" sz="quarter" idx="12"/>
          </p:nvPr>
        </p:nvSpPr>
        <p:spPr/>
        <p:txBody>
          <a:bodyPr/>
          <a:lstStyle/>
          <a:p>
            <a:fld id="{336CAFD0-1F6E-4E11-9822-836563A02839}" type="slidenum">
              <a:rPr lang="es-ES" smtClean="0"/>
              <a:pPr/>
              <a:t>24</a:t>
            </a:fld>
            <a:endParaRPr lang="es-ES" dirty="0"/>
          </a:p>
        </p:txBody>
      </p:sp>
    </p:spTree>
    <p:extLst>
      <p:ext uri="{BB962C8B-B14F-4D97-AF65-F5344CB8AC3E}">
        <p14:creationId xmlns:p14="http://schemas.microsoft.com/office/powerpoint/2010/main" val="1025890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7459D-0ADD-1BE7-A1AE-60355B75D6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F4E8E9A-1277-20FF-8A8B-401115F6E8CA}"/>
              </a:ext>
            </a:extLst>
          </p:cNvPr>
          <p:cNvSpPr>
            <a:spLocks noGrp="1"/>
          </p:cNvSpPr>
          <p:nvPr>
            <p:ph type="title"/>
          </p:nvPr>
        </p:nvSpPr>
        <p:spPr/>
        <p:txBody>
          <a:bodyPr>
            <a:normAutofit fontScale="90000"/>
          </a:bodyPr>
          <a:lstStyle/>
          <a:p>
            <a:r>
              <a:rPr lang="es-ES" dirty="0"/>
              <a:t>5. Regresión lineal simple</a:t>
            </a:r>
            <a:br>
              <a:rPr lang="es-ES" dirty="0"/>
            </a:br>
            <a:r>
              <a:rPr lang="es-ES" dirty="0"/>
              <a:t>Intervalo de confianza (Ejemplo 11.7)(Solución)(II)</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1F4F01-438E-EB90-DD8F-2D62562BA80E}"/>
                  </a:ext>
                </a:extLst>
              </p:cNvPr>
              <p:cNvSpPr>
                <a:spLocks noGrp="1"/>
              </p:cNvSpPr>
              <p:nvPr>
                <p:ph idx="1"/>
              </p:nvPr>
            </p:nvSpPr>
            <p:spPr/>
            <p:txBody>
              <a:bodyPr>
                <a:normAutofit/>
              </a:bodyPr>
              <a:lstStyle/>
              <a:p>
                <a:r>
                  <a:rPr lang="es-ES" dirty="0"/>
                  <a:t>Cálculo de la “desviación estándar” del estimador </a:t>
                </a:r>
                <a14:m>
                  <m:oMath xmlns:m="http://schemas.openxmlformats.org/officeDocument/2006/math">
                    <m:acc>
                      <m:accPr>
                        <m:chr m:val="̂"/>
                        <m:ctrlPr>
                          <a:rPr lang="es-ES" i="1" dirty="0" smtClean="0">
                            <a:latin typeface="Cambria Math" panose="02040503050406030204" pitchFamily="18" charset="0"/>
                          </a:rPr>
                        </m:ctrlPr>
                      </m:accPr>
                      <m:e>
                        <m:r>
                          <a:rPr lang="es-ES" b="0" i="1" dirty="0" smtClean="0">
                            <a:latin typeface="Cambria Math" panose="02040503050406030204" pitchFamily="18" charset="0"/>
                          </a:rPr>
                          <m:t>𝑌</m:t>
                        </m:r>
                      </m:e>
                    </m:acc>
                  </m:oMath>
                </a14:m>
                <a:r>
                  <a:rPr lang="es-ES" dirty="0"/>
                  <a:t> (opción 1)</a:t>
                </a:r>
              </a:p>
              <a:p>
                <a:pPr lvl="1"/>
                <a14:m>
                  <m:oMath xmlns:m="http://schemas.openxmlformats.org/officeDocument/2006/math">
                    <m:r>
                      <a:rPr lang="es-ES" b="0" i="1" smtClean="0">
                        <a:latin typeface="Cambria Math" panose="02040503050406030204" pitchFamily="18" charset="0"/>
                      </a:rPr>
                      <m:t>𝑠</m:t>
                    </m:r>
                    <m:r>
                      <a:rPr lang="es-ES" b="0" i="1" smtClean="0">
                        <a:latin typeface="Cambria Math" panose="02040503050406030204" pitchFamily="18" charset="0"/>
                      </a:rPr>
                      <m:t>=</m:t>
                    </m:r>
                    <m:rad>
                      <m:radPr>
                        <m:degHide m:val="on"/>
                        <m:ctrlPr>
                          <a:rPr lang="es-ES" b="0" i="1" smtClean="0">
                            <a:latin typeface="Cambria Math" panose="02040503050406030204" pitchFamily="18" charset="0"/>
                          </a:rPr>
                        </m:ctrlPr>
                      </m:radPr>
                      <m:deg/>
                      <m:e>
                        <m:f>
                          <m:fPr>
                            <m:ctrlPr>
                              <a:rPr lang="es-ES" b="0" i="1" smtClean="0">
                                <a:latin typeface="Cambria Math" panose="02040503050406030204" pitchFamily="18" charset="0"/>
                              </a:rPr>
                            </m:ctrlPr>
                          </m:fPr>
                          <m:num>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m:t>
                                </m:r>
                                <m:r>
                                  <a:rPr lang="es-ES" b="0" i="1" smtClean="0">
                                    <a:latin typeface="Cambria Math" panose="02040503050406030204" pitchFamily="18" charset="0"/>
                                  </a:rPr>
                                  <m:t>1</m:t>
                                </m:r>
                              </m:sub>
                              <m:sup>
                                <m:r>
                                  <a:rPr lang="es-ES" b="0" i="1" smtClean="0">
                                    <a:latin typeface="Cambria Math" panose="02040503050406030204" pitchFamily="18" charset="0"/>
                                  </a:rPr>
                                  <m:t>𝑛</m:t>
                                </m:r>
                              </m:sup>
                              <m:e>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𝑦</m:t>
                                            </m:r>
                                          </m:e>
                                          <m:sub>
                                            <m:r>
                                              <a:rPr lang="es-ES" b="0" i="1" smtClean="0">
                                                <a:latin typeface="Cambria Math" panose="02040503050406030204" pitchFamily="18" charset="0"/>
                                              </a:rPr>
                                              <m:t>𝑖</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𝑦</m:t>
                                                </m:r>
                                              </m:e>
                                            </m:acc>
                                          </m:e>
                                          <m:sub>
                                            <m:r>
                                              <a:rPr lang="es-ES" b="0" i="1" smtClean="0">
                                                <a:latin typeface="Cambria Math" panose="02040503050406030204" pitchFamily="18" charset="0"/>
                                              </a:rPr>
                                              <m:t>𝑖</m:t>
                                            </m:r>
                                          </m:sub>
                                        </m:sSub>
                                      </m:e>
                                    </m:d>
                                  </m:e>
                                  <m:sup>
                                    <m:r>
                                      <a:rPr lang="es-ES" b="0" i="1" smtClean="0">
                                        <a:latin typeface="Cambria Math" panose="02040503050406030204" pitchFamily="18" charset="0"/>
                                      </a:rPr>
                                      <m:t>2</m:t>
                                    </m:r>
                                  </m:sup>
                                </m:sSup>
                              </m:e>
                            </m:nary>
                          </m:num>
                          <m:den>
                            <m:r>
                              <a:rPr lang="es-ES" b="0" i="1" smtClean="0">
                                <a:latin typeface="Cambria Math" panose="02040503050406030204" pitchFamily="18" charset="0"/>
                              </a:rPr>
                              <m:t>𝑛</m:t>
                            </m:r>
                            <m:r>
                              <a:rPr lang="es-ES" b="0" i="1" smtClean="0">
                                <a:latin typeface="Cambria Math" panose="02040503050406030204" pitchFamily="18" charset="0"/>
                              </a:rPr>
                              <m:t>−</m:t>
                            </m:r>
                            <m:r>
                              <a:rPr lang="es-ES" b="0" i="1" smtClean="0">
                                <a:latin typeface="Cambria Math" panose="02040503050406030204" pitchFamily="18" charset="0"/>
                              </a:rPr>
                              <m:t>2</m:t>
                            </m:r>
                          </m:den>
                        </m:f>
                      </m:e>
                    </m:rad>
                    <m:r>
                      <a:rPr lang="es-ES" b="0" i="1" smtClean="0">
                        <a:latin typeface="Cambria Math" panose="02040503050406030204" pitchFamily="18" charset="0"/>
                      </a:rPr>
                      <m:t>=</m:t>
                    </m:r>
                    <m:rad>
                      <m:radPr>
                        <m:degHide m:val="on"/>
                        <m:ctrlPr>
                          <a:rPr lang="es-ES" b="0" i="1" smtClean="0">
                            <a:latin typeface="Cambria Math" panose="02040503050406030204" pitchFamily="18" charset="0"/>
                          </a:rPr>
                        </m:ctrlPr>
                      </m:radPr>
                      <m:deg/>
                      <m:e>
                        <m:f>
                          <m:fPr>
                            <m:ctrlPr>
                              <a:rPr lang="es-ES" b="0" i="1" smtClean="0">
                                <a:latin typeface="Cambria Math" panose="02040503050406030204" pitchFamily="18" charset="0"/>
                              </a:rPr>
                            </m:ctrlPr>
                          </m:fPr>
                          <m:num>
                            <m:r>
                              <a:rPr lang="es-ES" b="0" i="1" smtClean="0">
                                <a:latin typeface="Cambria Math" panose="02040503050406030204" pitchFamily="18" charset="0"/>
                              </a:rPr>
                              <m:t>55</m:t>
                            </m:r>
                            <m:r>
                              <a:rPr lang="es-ES" b="0" i="1" smtClean="0">
                                <a:latin typeface="Cambria Math" panose="02040503050406030204" pitchFamily="18" charset="0"/>
                              </a:rPr>
                              <m:t>.</m:t>
                            </m:r>
                            <m:r>
                              <a:rPr lang="es-ES" b="0" i="1" smtClean="0">
                                <a:latin typeface="Cambria Math" panose="02040503050406030204" pitchFamily="18" charset="0"/>
                              </a:rPr>
                              <m:t>65</m:t>
                            </m:r>
                            <m:r>
                              <a:rPr lang="es-ES" b="0" i="1" smtClean="0">
                                <a:latin typeface="Cambria Math" panose="02040503050406030204" pitchFamily="18" charset="0"/>
                              </a:rPr>
                              <m:t>+</m:t>
                            </m:r>
                            <m:r>
                              <a:rPr lang="es-ES" b="0" i="1" smtClean="0">
                                <a:latin typeface="Cambria Math" panose="02040503050406030204" pitchFamily="18" charset="0"/>
                              </a:rPr>
                              <m:t>136</m:t>
                            </m:r>
                            <m:r>
                              <a:rPr lang="es-ES" b="0" i="1" smtClean="0">
                                <a:latin typeface="Cambria Math" panose="02040503050406030204" pitchFamily="18" charset="0"/>
                              </a:rPr>
                              <m:t>.</m:t>
                            </m:r>
                            <m:r>
                              <a:rPr lang="es-ES" b="0" i="1" smtClean="0">
                                <a:latin typeface="Cambria Math" panose="02040503050406030204" pitchFamily="18" charset="0"/>
                              </a:rPr>
                              <m:t>42</m:t>
                            </m:r>
                            <m:r>
                              <a:rPr lang="es-ES" b="0" i="1" smtClean="0">
                                <a:latin typeface="Cambria Math" panose="02040503050406030204" pitchFamily="18" charset="0"/>
                              </a:rPr>
                              <m:t>+</m:t>
                            </m:r>
                            <m:r>
                              <a:rPr lang="es-ES" b="0" i="1" smtClean="0">
                                <a:latin typeface="Cambria Math" panose="02040503050406030204" pitchFamily="18" charset="0"/>
                              </a:rPr>
                              <m:t>44</m:t>
                            </m:r>
                            <m:r>
                              <a:rPr lang="es-ES" b="0" i="1" smtClean="0">
                                <a:latin typeface="Cambria Math" panose="02040503050406030204" pitchFamily="18" charset="0"/>
                              </a:rPr>
                              <m:t>.</m:t>
                            </m:r>
                            <m:r>
                              <a:rPr lang="es-ES" b="0" i="1" smtClean="0">
                                <a:latin typeface="Cambria Math" panose="02040503050406030204" pitchFamily="18" charset="0"/>
                              </a:rPr>
                              <m:t>62</m:t>
                            </m:r>
                            <m:r>
                              <a:rPr lang="es-ES" b="0" i="1" smtClean="0">
                                <a:latin typeface="Cambria Math" panose="02040503050406030204" pitchFamily="18" charset="0"/>
                              </a:rPr>
                              <m:t>+</m:t>
                            </m:r>
                            <m:r>
                              <a:rPr lang="es-ES" b="0" i="1" smtClean="0">
                                <a:latin typeface="Cambria Math" panose="02040503050406030204" pitchFamily="18" charset="0"/>
                              </a:rPr>
                              <m:t>3</m:t>
                            </m:r>
                            <m:r>
                              <a:rPr lang="es-ES" b="0" i="1" smtClean="0">
                                <a:latin typeface="Cambria Math" panose="02040503050406030204" pitchFamily="18" charset="0"/>
                              </a:rPr>
                              <m:t>.</m:t>
                            </m:r>
                            <m:r>
                              <a:rPr lang="es-ES" b="0" i="1" smtClean="0">
                                <a:latin typeface="Cambria Math" panose="02040503050406030204" pitchFamily="18" charset="0"/>
                              </a:rPr>
                              <m:t>31</m:t>
                            </m:r>
                            <m:r>
                              <a:rPr lang="es-ES" b="0" i="1" smtClean="0">
                                <a:latin typeface="Cambria Math" panose="02040503050406030204" pitchFamily="18" charset="0"/>
                              </a:rPr>
                              <m:t>+</m:t>
                            </m:r>
                            <m:r>
                              <a:rPr lang="es-ES" b="0" i="1" smtClean="0">
                                <a:latin typeface="Cambria Math" panose="02040503050406030204" pitchFamily="18" charset="0"/>
                              </a:rPr>
                              <m:t>193</m:t>
                            </m:r>
                            <m:r>
                              <a:rPr lang="es-ES" b="0" i="1" smtClean="0">
                                <a:latin typeface="Cambria Math" panose="02040503050406030204" pitchFamily="18" charset="0"/>
                              </a:rPr>
                              <m:t>.</m:t>
                            </m:r>
                            <m:r>
                              <a:rPr lang="es-ES" b="0" i="1" smtClean="0">
                                <a:latin typeface="Cambria Math" panose="02040503050406030204" pitchFamily="18" charset="0"/>
                              </a:rPr>
                              <m:t>21</m:t>
                            </m:r>
                            <m:r>
                              <a:rPr lang="es-ES" b="0" i="1" smtClean="0">
                                <a:latin typeface="Cambria Math" panose="02040503050406030204" pitchFamily="18" charset="0"/>
                              </a:rPr>
                              <m:t>+</m:t>
                            </m:r>
                            <m:r>
                              <a:rPr lang="es-ES" b="0" i="1" smtClean="0">
                                <a:latin typeface="Cambria Math" panose="02040503050406030204" pitchFamily="18" charset="0"/>
                              </a:rPr>
                              <m:t>24</m:t>
                            </m:r>
                            <m:r>
                              <a:rPr lang="es-ES" b="0" i="1" smtClean="0">
                                <a:latin typeface="Cambria Math" panose="02040503050406030204" pitchFamily="18" charset="0"/>
                              </a:rPr>
                              <m:t>.</m:t>
                            </m:r>
                            <m:r>
                              <a:rPr lang="es-ES" b="0" i="1" smtClean="0">
                                <a:latin typeface="Cambria Math" panose="02040503050406030204" pitchFamily="18" charset="0"/>
                              </a:rPr>
                              <m:t>01</m:t>
                            </m:r>
                            <m:r>
                              <a:rPr lang="es-ES" b="0" i="1" smtClean="0">
                                <a:latin typeface="Cambria Math" panose="02040503050406030204" pitchFamily="18" charset="0"/>
                              </a:rPr>
                              <m:t>+</m:t>
                            </m:r>
                            <m:r>
                              <a:rPr lang="es-ES" b="0" i="1" smtClean="0">
                                <a:latin typeface="Cambria Math" panose="02040503050406030204" pitchFamily="18" charset="0"/>
                              </a:rPr>
                              <m:t>33</m:t>
                            </m:r>
                            <m:r>
                              <a:rPr lang="es-ES" b="0" i="1" smtClean="0">
                                <a:latin typeface="Cambria Math" panose="02040503050406030204" pitchFamily="18" charset="0"/>
                              </a:rPr>
                              <m:t>.</m:t>
                            </m:r>
                            <m:r>
                              <a:rPr lang="es-ES" b="0" i="1" smtClean="0">
                                <a:latin typeface="Cambria Math" panose="02040503050406030204" pitchFamily="18" charset="0"/>
                              </a:rPr>
                              <m:t>64</m:t>
                            </m:r>
                          </m:num>
                          <m:den>
                            <m:r>
                              <a:rPr lang="es-ES" b="0" i="1" smtClean="0">
                                <a:latin typeface="Cambria Math" panose="02040503050406030204" pitchFamily="18" charset="0"/>
                              </a:rPr>
                              <m:t>5</m:t>
                            </m:r>
                          </m:den>
                        </m:f>
                      </m:e>
                    </m:rad>
                    <m:r>
                      <a:rPr lang="es-ES" b="0" i="1" smtClean="0">
                        <a:latin typeface="Cambria Math" panose="02040503050406030204" pitchFamily="18" charset="0"/>
                      </a:rPr>
                      <m:t>=</m:t>
                    </m:r>
                    <m:r>
                      <a:rPr lang="es-ES" b="0" i="1" smtClean="0">
                        <a:latin typeface="Cambria Math" panose="02040503050406030204" pitchFamily="18" charset="0"/>
                      </a:rPr>
                      <m:t>9</m:t>
                    </m:r>
                    <m:r>
                      <a:rPr lang="es-ES" b="0" i="1" smtClean="0">
                        <a:latin typeface="Cambria Math" panose="02040503050406030204" pitchFamily="18" charset="0"/>
                      </a:rPr>
                      <m:t>.</m:t>
                    </m:r>
                    <m:r>
                      <a:rPr lang="es-ES" b="0" i="1" smtClean="0">
                        <a:latin typeface="Cambria Math" panose="02040503050406030204" pitchFamily="18" charset="0"/>
                      </a:rPr>
                      <m:t>9</m:t>
                    </m:r>
                  </m:oMath>
                </a14:m>
                <a:endParaRPr lang="es-ES" dirty="0"/>
              </a:p>
              <a:p>
                <a:pPr marL="0" indent="0">
                  <a:buNone/>
                </a:pPr>
                <a:endParaRPr lang="es-ES" dirty="0"/>
              </a:p>
              <a:p>
                <a:pPr lvl="1"/>
                <a:endParaRPr lang="es-ES" dirty="0"/>
              </a:p>
            </p:txBody>
          </p:sp>
        </mc:Choice>
        <mc:Fallback xmlns="">
          <p:sp>
            <p:nvSpPr>
              <p:cNvPr id="3" name="Marcador de contenido 2">
                <a:extLst>
                  <a:ext uri="{FF2B5EF4-FFF2-40B4-BE49-F238E27FC236}">
                    <a16:creationId xmlns:a16="http://schemas.microsoft.com/office/drawing/2014/main" id="{3C1F4F01-438E-EB90-DD8F-2D62562BA80E}"/>
                  </a:ext>
                </a:extLst>
              </p:cNvPr>
              <p:cNvSpPr>
                <a:spLocks noGrp="1" noRot="1" noChangeAspect="1" noMove="1" noResize="1" noEditPoints="1" noAdjustHandles="1" noChangeArrowheads="1" noChangeShapeType="1" noTextEdit="1"/>
              </p:cNvSpPr>
              <p:nvPr>
                <p:ph idx="1"/>
              </p:nvPr>
            </p:nvSpPr>
            <p:spPr>
              <a:blipFill>
                <a:blip r:embed="rId2"/>
                <a:stretch>
                  <a:fillRect l="-1043" t="-196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202C3B82-F204-C326-BB97-1F76BDFEE233}"/>
              </a:ext>
            </a:extLst>
          </p:cNvPr>
          <p:cNvSpPr>
            <a:spLocks noGrp="1"/>
          </p:cNvSpPr>
          <p:nvPr>
            <p:ph type="sldNum" sz="quarter" idx="12"/>
          </p:nvPr>
        </p:nvSpPr>
        <p:spPr/>
        <p:txBody>
          <a:bodyPr/>
          <a:lstStyle/>
          <a:p>
            <a:fld id="{336CAFD0-1F6E-4E11-9822-836563A02839}" type="slidenum">
              <a:rPr lang="es-ES" smtClean="0"/>
              <a:pPr/>
              <a:t>25</a:t>
            </a:fld>
            <a:endParaRPr lang="es-ES" dirty="0"/>
          </a:p>
        </p:txBody>
      </p:sp>
      <mc:AlternateContent xmlns:mc="http://schemas.openxmlformats.org/markup-compatibility/2006" xmlns:a14="http://schemas.microsoft.com/office/drawing/2010/main">
        <mc:Choice Requires="a14">
          <p:graphicFrame>
            <p:nvGraphicFramePr>
              <p:cNvPr id="6" name="Tabla 5">
                <a:extLst>
                  <a:ext uri="{FF2B5EF4-FFF2-40B4-BE49-F238E27FC236}">
                    <a16:creationId xmlns:a16="http://schemas.microsoft.com/office/drawing/2014/main" id="{8686E1BA-B73D-B10B-2D61-C258536B801F}"/>
                  </a:ext>
                </a:extLst>
              </p:cNvPr>
              <p:cNvGraphicFramePr>
                <a:graphicFrameLocks noGrp="1"/>
              </p:cNvGraphicFramePr>
              <p:nvPr>
                <p:extLst>
                  <p:ext uri="{D42A27DB-BD31-4B8C-83A1-F6EECF244321}">
                    <p14:modId xmlns:p14="http://schemas.microsoft.com/office/powerpoint/2010/main" val="749539613"/>
                  </p:ext>
                </p:extLst>
              </p:nvPr>
            </p:nvGraphicFramePr>
            <p:xfrm>
              <a:off x="2341757" y="3429000"/>
              <a:ext cx="7560523" cy="2926080"/>
            </p:xfrm>
            <a:graphic>
              <a:graphicData uri="http://schemas.openxmlformats.org/drawingml/2006/table">
                <a:tbl>
                  <a:tblPr firstRow="1" bandRow="1">
                    <a:tableStyleId>{5940675A-B579-460E-94D1-54222C63F5DA}</a:tableStyleId>
                  </a:tblPr>
                  <a:tblGrid>
                    <a:gridCol w="713677">
                      <a:extLst>
                        <a:ext uri="{9D8B030D-6E8A-4147-A177-3AD203B41FA5}">
                          <a16:colId xmlns:a16="http://schemas.microsoft.com/office/drawing/2014/main" val="786569268"/>
                        </a:ext>
                      </a:extLst>
                    </a:gridCol>
                    <a:gridCol w="735981">
                      <a:extLst>
                        <a:ext uri="{9D8B030D-6E8A-4147-A177-3AD203B41FA5}">
                          <a16:colId xmlns:a16="http://schemas.microsoft.com/office/drawing/2014/main" val="2436489510"/>
                        </a:ext>
                      </a:extLst>
                    </a:gridCol>
                    <a:gridCol w="906084">
                      <a:extLst>
                        <a:ext uri="{9D8B030D-6E8A-4147-A177-3AD203B41FA5}">
                          <a16:colId xmlns:a16="http://schemas.microsoft.com/office/drawing/2014/main" val="2024977898"/>
                        </a:ext>
                      </a:extLst>
                    </a:gridCol>
                    <a:gridCol w="2170510">
                      <a:extLst>
                        <a:ext uri="{9D8B030D-6E8A-4147-A177-3AD203B41FA5}">
                          <a16:colId xmlns:a16="http://schemas.microsoft.com/office/drawing/2014/main" val="1198128712"/>
                        </a:ext>
                      </a:extLst>
                    </a:gridCol>
                    <a:gridCol w="1554383">
                      <a:extLst>
                        <a:ext uri="{9D8B030D-6E8A-4147-A177-3AD203B41FA5}">
                          <a16:colId xmlns:a16="http://schemas.microsoft.com/office/drawing/2014/main" val="2279621001"/>
                        </a:ext>
                      </a:extLst>
                    </a:gridCol>
                    <a:gridCol w="1479888">
                      <a:extLst>
                        <a:ext uri="{9D8B030D-6E8A-4147-A177-3AD203B41FA5}">
                          <a16:colId xmlns:a16="http://schemas.microsoft.com/office/drawing/2014/main" val="2370535785"/>
                        </a:ext>
                      </a:extLst>
                    </a:gridCol>
                  </a:tblGrid>
                  <a:tr h="257015">
                    <a:tc>
                      <a:txBody>
                        <a:bodyPr/>
                        <a:lstStyle/>
                        <a:p>
                          <a:pPr/>
                          <a14:m>
                            <m:oMathPara xmlns:m="http://schemas.openxmlformats.org/officeDocument/2006/math">
                              <m:oMathParaPr>
                                <m:jc m:val="centerGroup"/>
                              </m:oMathParaPr>
                              <m:oMath xmlns:m="http://schemas.openxmlformats.org/officeDocument/2006/math">
                                <m:r>
                                  <a:rPr lang="es-ES" sz="1800" i="1" dirty="0" smtClean="0">
                                    <a:latin typeface="Cambria Math" panose="02040503050406030204" pitchFamily="18" charset="0"/>
                                  </a:rPr>
                                  <m:t>𝑖</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𝑥</m:t>
                                    </m:r>
                                  </m:e>
                                  <m:sub>
                                    <m:r>
                                      <a:rPr lang="es-ES" sz="1800" b="0" i="1" smtClean="0">
                                        <a:latin typeface="Cambria Math" panose="02040503050406030204" pitchFamily="18" charset="0"/>
                                      </a:rPr>
                                      <m:t>𝑖</m:t>
                                    </m:r>
                                  </m:sub>
                                </m:sSub>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𝑦</m:t>
                                    </m:r>
                                  </m:e>
                                  <m:sub>
                                    <m:r>
                                      <a:rPr lang="es-ES" sz="1800" b="0" i="1" smtClean="0">
                                        <a:latin typeface="Cambria Math" panose="02040503050406030204" pitchFamily="18" charset="0"/>
                                      </a:rPr>
                                      <m:t>𝑖</m:t>
                                    </m:r>
                                  </m:sub>
                                </m:sSub>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s-ES" sz="1800" b="0" i="1" smtClean="0">
                                        <a:latin typeface="Cambria Math" panose="02040503050406030204" pitchFamily="18" charset="0"/>
                                      </a:rPr>
                                    </m:ctrlPr>
                                  </m:sSubPr>
                                  <m:e>
                                    <m:acc>
                                      <m:accPr>
                                        <m:chr m:val="̂"/>
                                        <m:ctrlPr>
                                          <a:rPr lang="es-ES" sz="1800" b="0" i="1" smtClean="0">
                                            <a:latin typeface="Cambria Math" panose="02040503050406030204" pitchFamily="18" charset="0"/>
                                          </a:rPr>
                                        </m:ctrlPr>
                                      </m:accPr>
                                      <m:e>
                                        <m:r>
                                          <a:rPr lang="es-ES" sz="1800" b="0" i="1" smtClean="0">
                                            <a:latin typeface="Cambria Math" panose="02040503050406030204" pitchFamily="18" charset="0"/>
                                          </a:rPr>
                                          <m:t>𝑦</m:t>
                                        </m:r>
                                      </m:e>
                                    </m:acc>
                                  </m:e>
                                  <m:sub>
                                    <m:r>
                                      <a:rPr lang="es-ES" sz="1800" b="0" i="1" smtClean="0">
                                        <a:latin typeface="Cambria Math" panose="02040503050406030204" pitchFamily="18" charset="0"/>
                                      </a:rPr>
                                      <m:t>𝑖</m:t>
                                    </m:r>
                                  </m:sub>
                                </m:sSub>
                                <m:r>
                                  <a:rPr lang="es-ES" sz="1800" b="0" i="1" smtClean="0">
                                    <a:latin typeface="Cambria Math" panose="02040503050406030204" pitchFamily="18" charset="0"/>
                                  </a:rPr>
                                  <m:t>=</m:t>
                                </m:r>
                                <m:r>
                                  <a:rPr lang="es-ES" i="1" smtClean="0">
                                    <a:latin typeface="Cambria Math" panose="02040503050406030204" pitchFamily="18" charset="0"/>
                                  </a:rPr>
                                  <m:t>72</m:t>
                                </m:r>
                                <m:r>
                                  <a:rPr lang="es-ES" i="1" smtClean="0">
                                    <a:latin typeface="Cambria Math" panose="02040503050406030204" pitchFamily="18" charset="0"/>
                                  </a:rPr>
                                  <m:t>.</m:t>
                                </m:r>
                                <m:r>
                                  <a:rPr lang="es-ES" i="1" smtClean="0">
                                    <a:latin typeface="Cambria Math" panose="02040503050406030204" pitchFamily="18" charset="0"/>
                                  </a:rPr>
                                  <m:t>3</m:t>
                                </m:r>
                                <m:r>
                                  <a:rPr lang="es-ES" i="1" smtClean="0">
                                    <a:latin typeface="Cambria Math" panose="02040503050406030204" pitchFamily="18" charset="0"/>
                                  </a:rPr>
                                  <m:t>−</m:t>
                                </m:r>
                                <m:r>
                                  <a:rPr lang="es-ES" i="1" smtClean="0">
                                    <a:latin typeface="Cambria Math" panose="02040503050406030204" pitchFamily="18" charset="0"/>
                                  </a:rPr>
                                  <m:t>4</m:t>
                                </m:r>
                                <m:r>
                                  <a:rPr lang="es-ES" i="1" smtClean="0">
                                    <a:latin typeface="Cambria Math" panose="02040503050406030204" pitchFamily="18" charset="0"/>
                                  </a:rPr>
                                  <m:t>.</m:t>
                                </m:r>
                                <m:r>
                                  <a:rPr lang="es-ES" i="1" smtClean="0">
                                    <a:latin typeface="Cambria Math" panose="02040503050406030204" pitchFamily="18" charset="0"/>
                                  </a:rPr>
                                  <m:t>14</m:t>
                                </m:r>
                                <m:r>
                                  <a:rPr lang="es-ES" i="1" smtClean="0">
                                    <a:latin typeface="Cambria Math" panose="02040503050406030204" pitchFamily="18" charset="0"/>
                                    <a:ea typeface="Cambria Math" panose="02040503050406030204" pitchFamily="18" charset="0"/>
                                  </a:rPr>
                                  <m:t>∙</m:t>
                                </m:r>
                                <m:sSub>
                                  <m:sSubPr>
                                    <m:ctrlPr>
                                      <a:rPr lang="es-ES"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𝑥</m:t>
                                    </m:r>
                                  </m:e>
                                  <m:sub>
                                    <m:r>
                                      <a:rPr lang="es-ES" b="0" i="1" smtClean="0">
                                        <a:latin typeface="Cambria Math" panose="02040503050406030204" pitchFamily="18" charset="0"/>
                                        <a:ea typeface="Cambria Math" panose="02040503050406030204" pitchFamily="18" charset="0"/>
                                      </a:rPr>
                                      <m:t>𝑖</m:t>
                                    </m:r>
                                  </m:sub>
                                </m:sSub>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𝑦</m:t>
                                    </m:r>
                                  </m:e>
                                  <m:sub>
                                    <m:r>
                                      <a:rPr lang="es-ES" sz="1800" b="0" i="1" smtClean="0">
                                        <a:latin typeface="Cambria Math" panose="02040503050406030204" pitchFamily="18" charset="0"/>
                                      </a:rPr>
                                      <m:t>𝑖</m:t>
                                    </m:r>
                                  </m:sub>
                                </m:sSub>
                                <m:r>
                                  <a:rPr lang="es-ES" sz="1800" b="0" i="1" smtClean="0">
                                    <a:latin typeface="Cambria Math" panose="02040503050406030204" pitchFamily="18" charset="0"/>
                                  </a:rPr>
                                  <m:t>−</m:t>
                                </m:r>
                                <m:sSub>
                                  <m:sSubPr>
                                    <m:ctrlPr>
                                      <a:rPr lang="es-ES" sz="1800" b="0" i="1" smtClean="0">
                                        <a:latin typeface="Cambria Math" panose="02040503050406030204" pitchFamily="18" charset="0"/>
                                      </a:rPr>
                                    </m:ctrlPr>
                                  </m:sSubPr>
                                  <m:e>
                                    <m:acc>
                                      <m:accPr>
                                        <m:chr m:val="̂"/>
                                        <m:ctrlPr>
                                          <a:rPr lang="es-ES" sz="1800" b="0" i="1" smtClean="0">
                                            <a:latin typeface="Cambria Math" panose="02040503050406030204" pitchFamily="18" charset="0"/>
                                          </a:rPr>
                                        </m:ctrlPr>
                                      </m:accPr>
                                      <m:e>
                                        <m:r>
                                          <a:rPr lang="es-ES" sz="1800" b="0" i="1" smtClean="0">
                                            <a:latin typeface="Cambria Math" panose="02040503050406030204" pitchFamily="18" charset="0"/>
                                          </a:rPr>
                                          <m:t>𝑦</m:t>
                                        </m:r>
                                      </m:e>
                                    </m:acc>
                                  </m:e>
                                  <m:sub>
                                    <m:r>
                                      <a:rPr lang="es-ES" sz="1800" b="0" i="1" smtClean="0">
                                        <a:latin typeface="Cambria Math" panose="02040503050406030204" pitchFamily="18" charset="0"/>
                                      </a:rPr>
                                      <m:t>𝑖</m:t>
                                    </m:r>
                                  </m:sub>
                                </m:sSub>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s-ES" sz="1800" b="0" i="1" smtClean="0">
                                        <a:latin typeface="Cambria Math" panose="02040503050406030204" pitchFamily="18" charset="0"/>
                                      </a:rPr>
                                    </m:ctrlPr>
                                  </m:sSupPr>
                                  <m:e>
                                    <m:d>
                                      <m:dPr>
                                        <m:ctrlPr>
                                          <a:rPr lang="es-ES" sz="1800" b="0" i="1" smtClean="0">
                                            <a:latin typeface="Cambria Math" panose="02040503050406030204" pitchFamily="18" charset="0"/>
                                          </a:rPr>
                                        </m:ctrlPr>
                                      </m:dPr>
                                      <m:e>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𝑦</m:t>
                                            </m:r>
                                          </m:e>
                                          <m:sub>
                                            <m:r>
                                              <a:rPr lang="es-ES" sz="1800" b="0" i="1" smtClean="0">
                                                <a:latin typeface="Cambria Math" panose="02040503050406030204" pitchFamily="18" charset="0"/>
                                              </a:rPr>
                                              <m:t>𝑖</m:t>
                                            </m:r>
                                          </m:sub>
                                        </m:sSub>
                                        <m:r>
                                          <a:rPr lang="es-ES" sz="1800" b="0" i="1" smtClean="0">
                                            <a:latin typeface="Cambria Math" panose="02040503050406030204" pitchFamily="18" charset="0"/>
                                          </a:rPr>
                                          <m:t>−</m:t>
                                        </m:r>
                                        <m:sSub>
                                          <m:sSubPr>
                                            <m:ctrlPr>
                                              <a:rPr lang="es-ES" sz="1800" b="0" i="1" smtClean="0">
                                                <a:latin typeface="Cambria Math" panose="02040503050406030204" pitchFamily="18" charset="0"/>
                                              </a:rPr>
                                            </m:ctrlPr>
                                          </m:sSubPr>
                                          <m:e>
                                            <m:acc>
                                              <m:accPr>
                                                <m:chr m:val="̂"/>
                                                <m:ctrlPr>
                                                  <a:rPr lang="es-ES" sz="1800" b="0" i="1" smtClean="0">
                                                    <a:latin typeface="Cambria Math" panose="02040503050406030204" pitchFamily="18" charset="0"/>
                                                  </a:rPr>
                                                </m:ctrlPr>
                                              </m:accPr>
                                              <m:e>
                                                <m:r>
                                                  <a:rPr lang="es-ES" sz="1800" b="0" i="1" smtClean="0">
                                                    <a:latin typeface="Cambria Math" panose="02040503050406030204" pitchFamily="18" charset="0"/>
                                                  </a:rPr>
                                                  <m:t>𝑦</m:t>
                                                </m:r>
                                              </m:e>
                                            </m:acc>
                                          </m:e>
                                          <m:sub>
                                            <m:r>
                                              <a:rPr lang="es-ES" sz="1800" b="0" i="1" smtClean="0">
                                                <a:latin typeface="Cambria Math" panose="02040503050406030204" pitchFamily="18" charset="0"/>
                                              </a:rPr>
                                              <m:t>𝑖</m:t>
                                            </m:r>
                                          </m:sub>
                                        </m:sSub>
                                      </m:e>
                                    </m:d>
                                  </m:e>
                                  <m:sup>
                                    <m:r>
                                      <a:rPr lang="es-ES" sz="1800" b="0" i="1" smtClean="0">
                                        <a:latin typeface="Cambria Math" panose="02040503050406030204" pitchFamily="18" charset="0"/>
                                      </a:rPr>
                                      <m:t>2</m:t>
                                    </m:r>
                                  </m:sup>
                                </m:sSup>
                              </m:oMath>
                            </m:oMathPara>
                          </a14:m>
                          <a:endParaRPr lang="es-ES" sz="1800" dirty="0"/>
                        </a:p>
                      </a:txBody>
                      <a:tcPr/>
                    </a:tc>
                    <a:extLst>
                      <a:ext uri="{0D108BD9-81ED-4DB2-BD59-A6C34878D82A}">
                        <a16:rowId xmlns:a16="http://schemas.microsoft.com/office/drawing/2014/main" val="1486170572"/>
                      </a:ext>
                    </a:extLst>
                  </a:tr>
                  <a:tr h="257015">
                    <a:tc>
                      <a:txBody>
                        <a:bodyPr/>
                        <a:lstStyle/>
                        <a:p>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rPr>
                                  <m:t>1</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6</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40</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47</m:t>
                                </m:r>
                                <m:r>
                                  <a:rPr lang="es-ES" sz="1800" b="0" i="1" dirty="0" smtClean="0">
                                    <a:latin typeface="Cambria Math" panose="02040503050406030204" pitchFamily="18" charset="0"/>
                                  </a:rPr>
                                  <m:t>.</m:t>
                                </m:r>
                                <m:r>
                                  <a:rPr lang="es-ES" sz="1800" b="0" i="1" dirty="0" smtClean="0">
                                    <a:latin typeface="Cambria Math" panose="02040503050406030204" pitchFamily="18" charset="0"/>
                                  </a:rPr>
                                  <m:t>46</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7</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46</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55</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65</m:t>
                                </m:r>
                              </m:oMath>
                            </m:oMathPara>
                          </a14:m>
                          <a:endParaRPr lang="es-ES" sz="1800" dirty="0"/>
                        </a:p>
                      </a:txBody>
                      <a:tcPr/>
                    </a:tc>
                    <a:extLst>
                      <a:ext uri="{0D108BD9-81ED-4DB2-BD59-A6C34878D82A}">
                        <a16:rowId xmlns:a16="http://schemas.microsoft.com/office/drawing/2014/main" val="1506304884"/>
                      </a:ext>
                    </a:extLst>
                  </a:tr>
                  <a:tr h="257015">
                    <a:tc>
                      <a:txBody>
                        <a:bodyPr/>
                        <a:lstStyle/>
                        <a:p>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rPr>
                                  <m:t>2</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7</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55</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43</m:t>
                                </m:r>
                                <m:r>
                                  <a:rPr lang="es-ES" sz="1800" b="0" i="1" dirty="0" smtClean="0">
                                    <a:latin typeface="Cambria Math" panose="02040503050406030204" pitchFamily="18" charset="0"/>
                                  </a:rPr>
                                  <m:t>.</m:t>
                                </m:r>
                                <m:r>
                                  <a:rPr lang="es-ES" sz="1800" b="0" i="1" dirty="0" smtClean="0">
                                    <a:latin typeface="Cambria Math" panose="02040503050406030204" pitchFamily="18" charset="0"/>
                                  </a:rPr>
                                  <m:t>32</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11</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68</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136</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42</m:t>
                                </m:r>
                              </m:oMath>
                            </m:oMathPara>
                          </a14:m>
                          <a:endParaRPr lang="es-ES" sz="1800" dirty="0"/>
                        </a:p>
                      </a:txBody>
                      <a:tcPr/>
                    </a:tc>
                    <a:extLst>
                      <a:ext uri="{0D108BD9-81ED-4DB2-BD59-A6C34878D82A}">
                        <a16:rowId xmlns:a16="http://schemas.microsoft.com/office/drawing/2014/main" val="347686765"/>
                      </a:ext>
                    </a:extLst>
                  </a:tr>
                  <a:tr h="257015">
                    <a:tc>
                      <a:txBody>
                        <a:bodyPr/>
                        <a:lstStyle/>
                        <a:p>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rPr>
                                  <m:t>3</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7</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50</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43</m:t>
                                </m:r>
                                <m:r>
                                  <a:rPr lang="es-ES" sz="1800" b="0" i="1" dirty="0" smtClean="0">
                                    <a:latin typeface="Cambria Math" panose="02040503050406030204" pitchFamily="18" charset="0"/>
                                  </a:rPr>
                                  <m:t>.</m:t>
                                </m:r>
                                <m:r>
                                  <a:rPr lang="es-ES" sz="1800" b="0" i="1" dirty="0" smtClean="0">
                                    <a:latin typeface="Cambria Math" panose="02040503050406030204" pitchFamily="18" charset="0"/>
                                  </a:rPr>
                                  <m:t>32</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6</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68</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44</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62</m:t>
                                </m:r>
                              </m:oMath>
                            </m:oMathPara>
                          </a14:m>
                          <a:endParaRPr lang="es-ES" sz="1800" dirty="0"/>
                        </a:p>
                      </a:txBody>
                      <a:tcPr/>
                    </a:tc>
                    <a:extLst>
                      <a:ext uri="{0D108BD9-81ED-4DB2-BD59-A6C34878D82A}">
                        <a16:rowId xmlns:a16="http://schemas.microsoft.com/office/drawing/2014/main" val="225899205"/>
                      </a:ext>
                    </a:extLst>
                  </a:tr>
                  <a:tr h="257015">
                    <a:tc>
                      <a:txBody>
                        <a:bodyPr/>
                        <a:lstStyle/>
                        <a:p>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rPr>
                                  <m:t>4</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8</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41</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39</m:t>
                                </m:r>
                                <m:r>
                                  <a:rPr lang="es-ES" sz="1800" b="0" i="1" dirty="0" smtClean="0">
                                    <a:latin typeface="Cambria Math" panose="02040503050406030204" pitchFamily="18" charset="0"/>
                                  </a:rPr>
                                  <m:t>.</m:t>
                                </m:r>
                                <m:r>
                                  <a:rPr lang="es-ES" sz="1800" b="0" i="1" dirty="0" smtClean="0">
                                    <a:latin typeface="Cambria Math" panose="02040503050406030204" pitchFamily="18" charset="0"/>
                                  </a:rPr>
                                  <m:t>18</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82</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3</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31</m:t>
                                </m:r>
                              </m:oMath>
                            </m:oMathPara>
                          </a14:m>
                          <a:endParaRPr lang="es-ES" sz="1800" dirty="0"/>
                        </a:p>
                      </a:txBody>
                      <a:tcPr/>
                    </a:tc>
                    <a:extLst>
                      <a:ext uri="{0D108BD9-81ED-4DB2-BD59-A6C34878D82A}">
                        <a16:rowId xmlns:a16="http://schemas.microsoft.com/office/drawing/2014/main" val="1140489656"/>
                      </a:ext>
                    </a:extLst>
                  </a:tr>
                  <a:tr h="257015">
                    <a:tc>
                      <a:txBody>
                        <a:bodyPr/>
                        <a:lstStyle/>
                        <a:p>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rPr>
                                  <m:t>5</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10</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17</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30</m:t>
                                </m:r>
                                <m:r>
                                  <a:rPr lang="es-ES" sz="1800" b="0" i="1" dirty="0" smtClean="0">
                                    <a:latin typeface="Cambria Math" panose="02040503050406030204" pitchFamily="18" charset="0"/>
                                  </a:rPr>
                                  <m:t>.</m:t>
                                </m:r>
                                <m:r>
                                  <a:rPr lang="es-ES" sz="1800" b="0" i="1" dirty="0" smtClean="0">
                                    <a:latin typeface="Cambria Math" panose="02040503050406030204" pitchFamily="18" charset="0"/>
                                  </a:rPr>
                                  <m:t>09</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13</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90</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193</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21</m:t>
                                </m:r>
                              </m:oMath>
                            </m:oMathPara>
                          </a14:m>
                          <a:endParaRPr lang="es-ES" sz="1800" dirty="0"/>
                        </a:p>
                      </a:txBody>
                      <a:tcPr/>
                    </a:tc>
                    <a:extLst>
                      <a:ext uri="{0D108BD9-81ED-4DB2-BD59-A6C34878D82A}">
                        <a16:rowId xmlns:a16="http://schemas.microsoft.com/office/drawing/2014/main" val="1967292381"/>
                      </a:ext>
                    </a:extLst>
                  </a:tr>
                  <a:tr h="257015">
                    <a:tc>
                      <a:txBody>
                        <a:bodyPr/>
                        <a:lstStyle/>
                        <a:p>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rPr>
                                  <m:t>6</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rPr>
                                  <m:t>10</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26</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30</m:t>
                                </m:r>
                                <m:r>
                                  <a:rPr lang="es-ES" sz="1800" b="0" i="1" dirty="0" smtClean="0">
                                    <a:latin typeface="Cambria Math" panose="02040503050406030204" pitchFamily="18" charset="0"/>
                                  </a:rPr>
                                  <m:t>.</m:t>
                                </m:r>
                                <m:r>
                                  <a:rPr lang="es-ES" sz="1800" b="0" i="1" dirty="0" smtClean="0">
                                    <a:latin typeface="Cambria Math" panose="02040503050406030204" pitchFamily="18" charset="0"/>
                                  </a:rPr>
                                  <m:t>9</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90</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24</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01</m:t>
                                </m:r>
                              </m:oMath>
                            </m:oMathPara>
                          </a14:m>
                          <a:endParaRPr lang="es-ES" sz="1800" dirty="0"/>
                        </a:p>
                      </a:txBody>
                      <a:tcPr/>
                    </a:tc>
                    <a:extLst>
                      <a:ext uri="{0D108BD9-81ED-4DB2-BD59-A6C34878D82A}">
                        <a16:rowId xmlns:a16="http://schemas.microsoft.com/office/drawing/2014/main" val="2980960332"/>
                      </a:ext>
                    </a:extLst>
                  </a:tr>
                  <a:tr h="257015">
                    <a:tc>
                      <a:txBody>
                        <a:bodyPr/>
                        <a:lstStyle/>
                        <a:p>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rPr>
                                  <m:t>7</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rPr>
                                  <m:t>15</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16</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lang="es-ES" sz="1800" b="0" i="1" dirty="0" smtClean="0">
                                    <a:latin typeface="Cambria Math" panose="02040503050406030204" pitchFamily="18" charset="0"/>
                                  </a:rPr>
                                  <m:t>10</m:t>
                                </m:r>
                                <m:r>
                                  <a:rPr lang="es-ES" sz="1800" b="0" i="1" dirty="0" smtClean="0">
                                    <a:latin typeface="Cambria Math" panose="02040503050406030204" pitchFamily="18" charset="0"/>
                                  </a:rPr>
                                  <m:t>.</m:t>
                                </m:r>
                                <m:r>
                                  <a:rPr lang="es-ES" sz="1800" b="0" i="1" dirty="0" smtClean="0">
                                    <a:latin typeface="Cambria Math" panose="02040503050406030204" pitchFamily="18" charset="0"/>
                                  </a:rPr>
                                  <m:t>2</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5</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80</m:t>
                                </m:r>
                              </m:oMath>
                            </m:oMathPara>
                          </a14:m>
                          <a:endParaRPr lang="es-ES" sz="1800" dirty="0"/>
                        </a:p>
                      </a:txBody>
                      <a:tcPr/>
                    </a:tc>
                    <a:tc>
                      <a:txBody>
                        <a:bodyPr/>
                        <a:lstStyle/>
                        <a:p>
                          <a:pPr/>
                          <a14:m>
                            <m:oMathPara xmlns:m="http://schemas.openxmlformats.org/officeDocument/2006/math">
                              <m:oMathParaPr>
                                <m:jc m:val="centerGroup"/>
                              </m:oMathParaPr>
                              <m:oMath xmlns:m="http://schemas.openxmlformats.org/officeDocument/2006/math">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33</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64</m:t>
                                </m:r>
                              </m:oMath>
                            </m:oMathPara>
                          </a14:m>
                          <a:endParaRPr lang="es-ES" sz="1800" dirty="0"/>
                        </a:p>
                      </a:txBody>
                      <a:tcPr/>
                    </a:tc>
                    <a:extLst>
                      <a:ext uri="{0D108BD9-81ED-4DB2-BD59-A6C34878D82A}">
                        <a16:rowId xmlns:a16="http://schemas.microsoft.com/office/drawing/2014/main" val="3895957804"/>
                      </a:ext>
                    </a:extLst>
                  </a:tr>
                </a:tbl>
              </a:graphicData>
            </a:graphic>
          </p:graphicFrame>
        </mc:Choice>
        <mc:Fallback xmlns="">
          <p:graphicFrame>
            <p:nvGraphicFramePr>
              <p:cNvPr id="6" name="Tabla 5">
                <a:extLst>
                  <a:ext uri="{FF2B5EF4-FFF2-40B4-BE49-F238E27FC236}">
                    <a16:creationId xmlns:a16="http://schemas.microsoft.com/office/drawing/2014/main" id="{8686E1BA-B73D-B10B-2D61-C258536B801F}"/>
                  </a:ext>
                </a:extLst>
              </p:cNvPr>
              <p:cNvGraphicFramePr>
                <a:graphicFrameLocks noGrp="1"/>
              </p:cNvGraphicFramePr>
              <p:nvPr>
                <p:extLst>
                  <p:ext uri="{D42A27DB-BD31-4B8C-83A1-F6EECF244321}">
                    <p14:modId xmlns:p14="http://schemas.microsoft.com/office/powerpoint/2010/main" val="749539613"/>
                  </p:ext>
                </p:extLst>
              </p:nvPr>
            </p:nvGraphicFramePr>
            <p:xfrm>
              <a:off x="2341757" y="3429000"/>
              <a:ext cx="7560523" cy="2926080"/>
            </p:xfrm>
            <a:graphic>
              <a:graphicData uri="http://schemas.openxmlformats.org/drawingml/2006/table">
                <a:tbl>
                  <a:tblPr firstRow="1" bandRow="1">
                    <a:tableStyleId>{5940675A-B579-460E-94D1-54222C63F5DA}</a:tableStyleId>
                  </a:tblPr>
                  <a:tblGrid>
                    <a:gridCol w="713677">
                      <a:extLst>
                        <a:ext uri="{9D8B030D-6E8A-4147-A177-3AD203B41FA5}">
                          <a16:colId xmlns:a16="http://schemas.microsoft.com/office/drawing/2014/main" val="786569268"/>
                        </a:ext>
                      </a:extLst>
                    </a:gridCol>
                    <a:gridCol w="735981">
                      <a:extLst>
                        <a:ext uri="{9D8B030D-6E8A-4147-A177-3AD203B41FA5}">
                          <a16:colId xmlns:a16="http://schemas.microsoft.com/office/drawing/2014/main" val="2436489510"/>
                        </a:ext>
                      </a:extLst>
                    </a:gridCol>
                    <a:gridCol w="906084">
                      <a:extLst>
                        <a:ext uri="{9D8B030D-6E8A-4147-A177-3AD203B41FA5}">
                          <a16:colId xmlns:a16="http://schemas.microsoft.com/office/drawing/2014/main" val="2024977898"/>
                        </a:ext>
                      </a:extLst>
                    </a:gridCol>
                    <a:gridCol w="2170510">
                      <a:extLst>
                        <a:ext uri="{9D8B030D-6E8A-4147-A177-3AD203B41FA5}">
                          <a16:colId xmlns:a16="http://schemas.microsoft.com/office/drawing/2014/main" val="1198128712"/>
                        </a:ext>
                      </a:extLst>
                    </a:gridCol>
                    <a:gridCol w="1554383">
                      <a:extLst>
                        <a:ext uri="{9D8B030D-6E8A-4147-A177-3AD203B41FA5}">
                          <a16:colId xmlns:a16="http://schemas.microsoft.com/office/drawing/2014/main" val="2279621001"/>
                        </a:ext>
                      </a:extLst>
                    </a:gridCol>
                    <a:gridCol w="1479888">
                      <a:extLst>
                        <a:ext uri="{9D8B030D-6E8A-4147-A177-3AD203B41FA5}">
                          <a16:colId xmlns:a16="http://schemas.microsoft.com/office/drawing/2014/main" val="2370535785"/>
                        </a:ext>
                      </a:extLst>
                    </a:gridCol>
                  </a:tblGrid>
                  <a:tr h="365760">
                    <a:tc>
                      <a:txBody>
                        <a:bodyPr/>
                        <a:lstStyle/>
                        <a:p>
                          <a:endParaRPr lang="es-ES"/>
                        </a:p>
                      </a:txBody>
                      <a:tcPr>
                        <a:blipFill>
                          <a:blip r:embed="rId3"/>
                          <a:stretch>
                            <a:fillRect l="-855" t="-5000" r="-962393" b="-705000"/>
                          </a:stretch>
                        </a:blipFill>
                      </a:tcPr>
                    </a:tc>
                    <a:tc>
                      <a:txBody>
                        <a:bodyPr/>
                        <a:lstStyle/>
                        <a:p>
                          <a:endParaRPr lang="es-ES"/>
                        </a:p>
                      </a:txBody>
                      <a:tcPr>
                        <a:blipFill>
                          <a:blip r:embed="rId3"/>
                          <a:stretch>
                            <a:fillRect l="-97521" t="-5000" r="-830579" b="-705000"/>
                          </a:stretch>
                        </a:blipFill>
                      </a:tcPr>
                    </a:tc>
                    <a:tc>
                      <a:txBody>
                        <a:bodyPr/>
                        <a:lstStyle/>
                        <a:p>
                          <a:endParaRPr lang="es-ES"/>
                        </a:p>
                      </a:txBody>
                      <a:tcPr>
                        <a:blipFill>
                          <a:blip r:embed="rId3"/>
                          <a:stretch>
                            <a:fillRect l="-160403" t="-5000" r="-574497" b="-705000"/>
                          </a:stretch>
                        </a:blipFill>
                      </a:tcPr>
                    </a:tc>
                    <a:tc>
                      <a:txBody>
                        <a:bodyPr/>
                        <a:lstStyle/>
                        <a:p>
                          <a:endParaRPr lang="es-ES"/>
                        </a:p>
                      </a:txBody>
                      <a:tcPr>
                        <a:blipFill>
                          <a:blip r:embed="rId3"/>
                          <a:stretch>
                            <a:fillRect l="-108989" t="-5000" r="-140449" b="-705000"/>
                          </a:stretch>
                        </a:blipFill>
                      </a:tcPr>
                    </a:tc>
                    <a:tc>
                      <a:txBody>
                        <a:bodyPr/>
                        <a:lstStyle/>
                        <a:p>
                          <a:endParaRPr lang="es-ES"/>
                        </a:p>
                      </a:txBody>
                      <a:tcPr>
                        <a:blipFill>
                          <a:blip r:embed="rId3"/>
                          <a:stretch>
                            <a:fillRect l="-291765" t="-5000" r="-96078" b="-705000"/>
                          </a:stretch>
                        </a:blipFill>
                      </a:tcPr>
                    </a:tc>
                    <a:tc>
                      <a:txBody>
                        <a:bodyPr/>
                        <a:lstStyle/>
                        <a:p>
                          <a:endParaRPr lang="es-ES"/>
                        </a:p>
                      </a:txBody>
                      <a:tcPr>
                        <a:blipFill>
                          <a:blip r:embed="rId3"/>
                          <a:stretch>
                            <a:fillRect l="-411111" t="-5000" r="-823" b="-705000"/>
                          </a:stretch>
                        </a:blipFill>
                      </a:tcPr>
                    </a:tc>
                    <a:extLst>
                      <a:ext uri="{0D108BD9-81ED-4DB2-BD59-A6C34878D82A}">
                        <a16:rowId xmlns:a16="http://schemas.microsoft.com/office/drawing/2014/main" val="1486170572"/>
                      </a:ext>
                    </a:extLst>
                  </a:tr>
                  <a:tr h="365760">
                    <a:tc>
                      <a:txBody>
                        <a:bodyPr/>
                        <a:lstStyle/>
                        <a:p>
                          <a:endParaRPr lang="es-ES"/>
                        </a:p>
                      </a:txBody>
                      <a:tcPr>
                        <a:blipFill>
                          <a:blip r:embed="rId3"/>
                          <a:stretch>
                            <a:fillRect l="-855" t="-105000" r="-962393" b="-605000"/>
                          </a:stretch>
                        </a:blipFill>
                      </a:tcPr>
                    </a:tc>
                    <a:tc>
                      <a:txBody>
                        <a:bodyPr/>
                        <a:lstStyle/>
                        <a:p>
                          <a:endParaRPr lang="es-ES"/>
                        </a:p>
                      </a:txBody>
                      <a:tcPr>
                        <a:blipFill>
                          <a:blip r:embed="rId3"/>
                          <a:stretch>
                            <a:fillRect l="-97521" t="-105000" r="-830579" b="-605000"/>
                          </a:stretch>
                        </a:blipFill>
                      </a:tcPr>
                    </a:tc>
                    <a:tc>
                      <a:txBody>
                        <a:bodyPr/>
                        <a:lstStyle/>
                        <a:p>
                          <a:endParaRPr lang="es-ES"/>
                        </a:p>
                      </a:txBody>
                      <a:tcPr>
                        <a:blipFill>
                          <a:blip r:embed="rId3"/>
                          <a:stretch>
                            <a:fillRect l="-160403" t="-105000" r="-574497" b="-605000"/>
                          </a:stretch>
                        </a:blipFill>
                      </a:tcPr>
                    </a:tc>
                    <a:tc>
                      <a:txBody>
                        <a:bodyPr/>
                        <a:lstStyle/>
                        <a:p>
                          <a:endParaRPr lang="es-ES"/>
                        </a:p>
                      </a:txBody>
                      <a:tcPr>
                        <a:blipFill>
                          <a:blip r:embed="rId3"/>
                          <a:stretch>
                            <a:fillRect l="-108989" t="-105000" r="-140449" b="-605000"/>
                          </a:stretch>
                        </a:blipFill>
                      </a:tcPr>
                    </a:tc>
                    <a:tc>
                      <a:txBody>
                        <a:bodyPr/>
                        <a:lstStyle/>
                        <a:p>
                          <a:endParaRPr lang="es-ES"/>
                        </a:p>
                      </a:txBody>
                      <a:tcPr>
                        <a:blipFill>
                          <a:blip r:embed="rId3"/>
                          <a:stretch>
                            <a:fillRect l="-291765" t="-105000" r="-96078" b="-605000"/>
                          </a:stretch>
                        </a:blipFill>
                      </a:tcPr>
                    </a:tc>
                    <a:tc>
                      <a:txBody>
                        <a:bodyPr/>
                        <a:lstStyle/>
                        <a:p>
                          <a:endParaRPr lang="es-ES"/>
                        </a:p>
                      </a:txBody>
                      <a:tcPr>
                        <a:blipFill>
                          <a:blip r:embed="rId3"/>
                          <a:stretch>
                            <a:fillRect l="-411111" t="-105000" r="-823" b="-605000"/>
                          </a:stretch>
                        </a:blipFill>
                      </a:tcPr>
                    </a:tc>
                    <a:extLst>
                      <a:ext uri="{0D108BD9-81ED-4DB2-BD59-A6C34878D82A}">
                        <a16:rowId xmlns:a16="http://schemas.microsoft.com/office/drawing/2014/main" val="1506304884"/>
                      </a:ext>
                    </a:extLst>
                  </a:tr>
                  <a:tr h="365760">
                    <a:tc>
                      <a:txBody>
                        <a:bodyPr/>
                        <a:lstStyle/>
                        <a:p>
                          <a:endParaRPr lang="es-ES"/>
                        </a:p>
                      </a:txBody>
                      <a:tcPr>
                        <a:blipFill>
                          <a:blip r:embed="rId3"/>
                          <a:stretch>
                            <a:fillRect l="-855" t="-205000" r="-962393" b="-505000"/>
                          </a:stretch>
                        </a:blipFill>
                      </a:tcPr>
                    </a:tc>
                    <a:tc>
                      <a:txBody>
                        <a:bodyPr/>
                        <a:lstStyle/>
                        <a:p>
                          <a:endParaRPr lang="es-ES"/>
                        </a:p>
                      </a:txBody>
                      <a:tcPr>
                        <a:blipFill>
                          <a:blip r:embed="rId3"/>
                          <a:stretch>
                            <a:fillRect l="-97521" t="-205000" r="-830579" b="-505000"/>
                          </a:stretch>
                        </a:blipFill>
                      </a:tcPr>
                    </a:tc>
                    <a:tc>
                      <a:txBody>
                        <a:bodyPr/>
                        <a:lstStyle/>
                        <a:p>
                          <a:endParaRPr lang="es-ES"/>
                        </a:p>
                      </a:txBody>
                      <a:tcPr>
                        <a:blipFill>
                          <a:blip r:embed="rId3"/>
                          <a:stretch>
                            <a:fillRect l="-160403" t="-205000" r="-574497" b="-505000"/>
                          </a:stretch>
                        </a:blipFill>
                      </a:tcPr>
                    </a:tc>
                    <a:tc>
                      <a:txBody>
                        <a:bodyPr/>
                        <a:lstStyle/>
                        <a:p>
                          <a:endParaRPr lang="es-ES"/>
                        </a:p>
                      </a:txBody>
                      <a:tcPr>
                        <a:blipFill>
                          <a:blip r:embed="rId3"/>
                          <a:stretch>
                            <a:fillRect l="-108989" t="-205000" r="-140449" b="-505000"/>
                          </a:stretch>
                        </a:blipFill>
                      </a:tcPr>
                    </a:tc>
                    <a:tc>
                      <a:txBody>
                        <a:bodyPr/>
                        <a:lstStyle/>
                        <a:p>
                          <a:endParaRPr lang="es-ES"/>
                        </a:p>
                      </a:txBody>
                      <a:tcPr>
                        <a:blipFill>
                          <a:blip r:embed="rId3"/>
                          <a:stretch>
                            <a:fillRect l="-291765" t="-205000" r="-96078" b="-505000"/>
                          </a:stretch>
                        </a:blipFill>
                      </a:tcPr>
                    </a:tc>
                    <a:tc>
                      <a:txBody>
                        <a:bodyPr/>
                        <a:lstStyle/>
                        <a:p>
                          <a:endParaRPr lang="es-ES"/>
                        </a:p>
                      </a:txBody>
                      <a:tcPr>
                        <a:blipFill>
                          <a:blip r:embed="rId3"/>
                          <a:stretch>
                            <a:fillRect l="-411111" t="-205000" r="-823" b="-505000"/>
                          </a:stretch>
                        </a:blipFill>
                      </a:tcPr>
                    </a:tc>
                    <a:extLst>
                      <a:ext uri="{0D108BD9-81ED-4DB2-BD59-A6C34878D82A}">
                        <a16:rowId xmlns:a16="http://schemas.microsoft.com/office/drawing/2014/main" val="347686765"/>
                      </a:ext>
                    </a:extLst>
                  </a:tr>
                  <a:tr h="365760">
                    <a:tc>
                      <a:txBody>
                        <a:bodyPr/>
                        <a:lstStyle/>
                        <a:p>
                          <a:endParaRPr lang="es-ES"/>
                        </a:p>
                      </a:txBody>
                      <a:tcPr>
                        <a:blipFill>
                          <a:blip r:embed="rId3"/>
                          <a:stretch>
                            <a:fillRect l="-855" t="-300000" r="-962393" b="-396721"/>
                          </a:stretch>
                        </a:blipFill>
                      </a:tcPr>
                    </a:tc>
                    <a:tc>
                      <a:txBody>
                        <a:bodyPr/>
                        <a:lstStyle/>
                        <a:p>
                          <a:endParaRPr lang="es-ES"/>
                        </a:p>
                      </a:txBody>
                      <a:tcPr>
                        <a:blipFill>
                          <a:blip r:embed="rId3"/>
                          <a:stretch>
                            <a:fillRect l="-97521" t="-300000" r="-830579" b="-396721"/>
                          </a:stretch>
                        </a:blipFill>
                      </a:tcPr>
                    </a:tc>
                    <a:tc>
                      <a:txBody>
                        <a:bodyPr/>
                        <a:lstStyle/>
                        <a:p>
                          <a:endParaRPr lang="es-ES"/>
                        </a:p>
                      </a:txBody>
                      <a:tcPr>
                        <a:blipFill>
                          <a:blip r:embed="rId3"/>
                          <a:stretch>
                            <a:fillRect l="-160403" t="-300000" r="-574497" b="-396721"/>
                          </a:stretch>
                        </a:blipFill>
                      </a:tcPr>
                    </a:tc>
                    <a:tc>
                      <a:txBody>
                        <a:bodyPr/>
                        <a:lstStyle/>
                        <a:p>
                          <a:endParaRPr lang="es-ES"/>
                        </a:p>
                      </a:txBody>
                      <a:tcPr>
                        <a:blipFill>
                          <a:blip r:embed="rId3"/>
                          <a:stretch>
                            <a:fillRect l="-108989" t="-300000" r="-140449" b="-396721"/>
                          </a:stretch>
                        </a:blipFill>
                      </a:tcPr>
                    </a:tc>
                    <a:tc>
                      <a:txBody>
                        <a:bodyPr/>
                        <a:lstStyle/>
                        <a:p>
                          <a:endParaRPr lang="es-ES"/>
                        </a:p>
                      </a:txBody>
                      <a:tcPr>
                        <a:blipFill>
                          <a:blip r:embed="rId3"/>
                          <a:stretch>
                            <a:fillRect l="-291765" t="-300000" r="-96078" b="-396721"/>
                          </a:stretch>
                        </a:blipFill>
                      </a:tcPr>
                    </a:tc>
                    <a:tc>
                      <a:txBody>
                        <a:bodyPr/>
                        <a:lstStyle/>
                        <a:p>
                          <a:endParaRPr lang="es-ES"/>
                        </a:p>
                      </a:txBody>
                      <a:tcPr>
                        <a:blipFill>
                          <a:blip r:embed="rId3"/>
                          <a:stretch>
                            <a:fillRect l="-411111" t="-300000" r="-823" b="-396721"/>
                          </a:stretch>
                        </a:blipFill>
                      </a:tcPr>
                    </a:tc>
                    <a:extLst>
                      <a:ext uri="{0D108BD9-81ED-4DB2-BD59-A6C34878D82A}">
                        <a16:rowId xmlns:a16="http://schemas.microsoft.com/office/drawing/2014/main" val="225899205"/>
                      </a:ext>
                    </a:extLst>
                  </a:tr>
                  <a:tr h="365760">
                    <a:tc>
                      <a:txBody>
                        <a:bodyPr/>
                        <a:lstStyle/>
                        <a:p>
                          <a:endParaRPr lang="es-ES"/>
                        </a:p>
                      </a:txBody>
                      <a:tcPr>
                        <a:blipFill>
                          <a:blip r:embed="rId3"/>
                          <a:stretch>
                            <a:fillRect l="-855" t="-406667" r="-962393" b="-303333"/>
                          </a:stretch>
                        </a:blipFill>
                      </a:tcPr>
                    </a:tc>
                    <a:tc>
                      <a:txBody>
                        <a:bodyPr/>
                        <a:lstStyle/>
                        <a:p>
                          <a:endParaRPr lang="es-ES"/>
                        </a:p>
                      </a:txBody>
                      <a:tcPr>
                        <a:blipFill>
                          <a:blip r:embed="rId3"/>
                          <a:stretch>
                            <a:fillRect l="-97521" t="-406667" r="-830579" b="-303333"/>
                          </a:stretch>
                        </a:blipFill>
                      </a:tcPr>
                    </a:tc>
                    <a:tc>
                      <a:txBody>
                        <a:bodyPr/>
                        <a:lstStyle/>
                        <a:p>
                          <a:endParaRPr lang="es-ES"/>
                        </a:p>
                      </a:txBody>
                      <a:tcPr>
                        <a:blipFill>
                          <a:blip r:embed="rId3"/>
                          <a:stretch>
                            <a:fillRect l="-160403" t="-406667" r="-574497" b="-303333"/>
                          </a:stretch>
                        </a:blipFill>
                      </a:tcPr>
                    </a:tc>
                    <a:tc>
                      <a:txBody>
                        <a:bodyPr/>
                        <a:lstStyle/>
                        <a:p>
                          <a:endParaRPr lang="es-ES"/>
                        </a:p>
                      </a:txBody>
                      <a:tcPr>
                        <a:blipFill>
                          <a:blip r:embed="rId3"/>
                          <a:stretch>
                            <a:fillRect l="-108989" t="-406667" r="-140449" b="-303333"/>
                          </a:stretch>
                        </a:blipFill>
                      </a:tcPr>
                    </a:tc>
                    <a:tc>
                      <a:txBody>
                        <a:bodyPr/>
                        <a:lstStyle/>
                        <a:p>
                          <a:endParaRPr lang="es-ES"/>
                        </a:p>
                      </a:txBody>
                      <a:tcPr>
                        <a:blipFill>
                          <a:blip r:embed="rId3"/>
                          <a:stretch>
                            <a:fillRect l="-291765" t="-406667" r="-96078" b="-303333"/>
                          </a:stretch>
                        </a:blipFill>
                      </a:tcPr>
                    </a:tc>
                    <a:tc>
                      <a:txBody>
                        <a:bodyPr/>
                        <a:lstStyle/>
                        <a:p>
                          <a:endParaRPr lang="es-ES"/>
                        </a:p>
                      </a:txBody>
                      <a:tcPr>
                        <a:blipFill>
                          <a:blip r:embed="rId3"/>
                          <a:stretch>
                            <a:fillRect l="-411111" t="-406667" r="-823" b="-303333"/>
                          </a:stretch>
                        </a:blipFill>
                      </a:tcPr>
                    </a:tc>
                    <a:extLst>
                      <a:ext uri="{0D108BD9-81ED-4DB2-BD59-A6C34878D82A}">
                        <a16:rowId xmlns:a16="http://schemas.microsoft.com/office/drawing/2014/main" val="1140489656"/>
                      </a:ext>
                    </a:extLst>
                  </a:tr>
                  <a:tr h="365760">
                    <a:tc>
                      <a:txBody>
                        <a:bodyPr/>
                        <a:lstStyle/>
                        <a:p>
                          <a:endParaRPr lang="es-ES"/>
                        </a:p>
                      </a:txBody>
                      <a:tcPr>
                        <a:blipFill>
                          <a:blip r:embed="rId3"/>
                          <a:stretch>
                            <a:fillRect l="-855" t="-506667" r="-962393" b="-203333"/>
                          </a:stretch>
                        </a:blipFill>
                      </a:tcPr>
                    </a:tc>
                    <a:tc>
                      <a:txBody>
                        <a:bodyPr/>
                        <a:lstStyle/>
                        <a:p>
                          <a:endParaRPr lang="es-ES"/>
                        </a:p>
                      </a:txBody>
                      <a:tcPr>
                        <a:blipFill>
                          <a:blip r:embed="rId3"/>
                          <a:stretch>
                            <a:fillRect l="-97521" t="-506667" r="-830579" b="-203333"/>
                          </a:stretch>
                        </a:blipFill>
                      </a:tcPr>
                    </a:tc>
                    <a:tc>
                      <a:txBody>
                        <a:bodyPr/>
                        <a:lstStyle/>
                        <a:p>
                          <a:endParaRPr lang="es-ES"/>
                        </a:p>
                      </a:txBody>
                      <a:tcPr>
                        <a:blipFill>
                          <a:blip r:embed="rId3"/>
                          <a:stretch>
                            <a:fillRect l="-160403" t="-506667" r="-574497" b="-203333"/>
                          </a:stretch>
                        </a:blipFill>
                      </a:tcPr>
                    </a:tc>
                    <a:tc>
                      <a:txBody>
                        <a:bodyPr/>
                        <a:lstStyle/>
                        <a:p>
                          <a:endParaRPr lang="es-ES"/>
                        </a:p>
                      </a:txBody>
                      <a:tcPr>
                        <a:blipFill>
                          <a:blip r:embed="rId3"/>
                          <a:stretch>
                            <a:fillRect l="-108989" t="-506667" r="-140449" b="-203333"/>
                          </a:stretch>
                        </a:blipFill>
                      </a:tcPr>
                    </a:tc>
                    <a:tc>
                      <a:txBody>
                        <a:bodyPr/>
                        <a:lstStyle/>
                        <a:p>
                          <a:endParaRPr lang="es-ES"/>
                        </a:p>
                      </a:txBody>
                      <a:tcPr>
                        <a:blipFill>
                          <a:blip r:embed="rId3"/>
                          <a:stretch>
                            <a:fillRect l="-291765" t="-506667" r="-96078" b="-203333"/>
                          </a:stretch>
                        </a:blipFill>
                      </a:tcPr>
                    </a:tc>
                    <a:tc>
                      <a:txBody>
                        <a:bodyPr/>
                        <a:lstStyle/>
                        <a:p>
                          <a:endParaRPr lang="es-ES"/>
                        </a:p>
                      </a:txBody>
                      <a:tcPr>
                        <a:blipFill>
                          <a:blip r:embed="rId3"/>
                          <a:stretch>
                            <a:fillRect l="-411111" t="-506667" r="-823" b="-203333"/>
                          </a:stretch>
                        </a:blipFill>
                      </a:tcPr>
                    </a:tc>
                    <a:extLst>
                      <a:ext uri="{0D108BD9-81ED-4DB2-BD59-A6C34878D82A}">
                        <a16:rowId xmlns:a16="http://schemas.microsoft.com/office/drawing/2014/main" val="1967292381"/>
                      </a:ext>
                    </a:extLst>
                  </a:tr>
                  <a:tr h="365760">
                    <a:tc>
                      <a:txBody>
                        <a:bodyPr/>
                        <a:lstStyle/>
                        <a:p>
                          <a:endParaRPr lang="es-ES"/>
                        </a:p>
                      </a:txBody>
                      <a:tcPr>
                        <a:blipFill>
                          <a:blip r:embed="rId3"/>
                          <a:stretch>
                            <a:fillRect l="-855" t="-606667" r="-962393" b="-103333"/>
                          </a:stretch>
                        </a:blipFill>
                      </a:tcPr>
                    </a:tc>
                    <a:tc>
                      <a:txBody>
                        <a:bodyPr/>
                        <a:lstStyle/>
                        <a:p>
                          <a:endParaRPr lang="es-ES"/>
                        </a:p>
                      </a:txBody>
                      <a:tcPr>
                        <a:blipFill>
                          <a:blip r:embed="rId3"/>
                          <a:stretch>
                            <a:fillRect l="-97521" t="-606667" r="-830579" b="-103333"/>
                          </a:stretch>
                        </a:blipFill>
                      </a:tcPr>
                    </a:tc>
                    <a:tc>
                      <a:txBody>
                        <a:bodyPr/>
                        <a:lstStyle/>
                        <a:p>
                          <a:endParaRPr lang="es-ES"/>
                        </a:p>
                      </a:txBody>
                      <a:tcPr>
                        <a:blipFill>
                          <a:blip r:embed="rId3"/>
                          <a:stretch>
                            <a:fillRect l="-160403" t="-606667" r="-574497" b="-103333"/>
                          </a:stretch>
                        </a:blipFill>
                      </a:tcPr>
                    </a:tc>
                    <a:tc>
                      <a:txBody>
                        <a:bodyPr/>
                        <a:lstStyle/>
                        <a:p>
                          <a:endParaRPr lang="es-ES"/>
                        </a:p>
                      </a:txBody>
                      <a:tcPr>
                        <a:blipFill>
                          <a:blip r:embed="rId3"/>
                          <a:stretch>
                            <a:fillRect l="-108989" t="-606667" r="-140449" b="-103333"/>
                          </a:stretch>
                        </a:blipFill>
                      </a:tcPr>
                    </a:tc>
                    <a:tc>
                      <a:txBody>
                        <a:bodyPr/>
                        <a:lstStyle/>
                        <a:p>
                          <a:endParaRPr lang="es-ES"/>
                        </a:p>
                      </a:txBody>
                      <a:tcPr>
                        <a:blipFill>
                          <a:blip r:embed="rId3"/>
                          <a:stretch>
                            <a:fillRect l="-291765" t="-606667" r="-96078" b="-103333"/>
                          </a:stretch>
                        </a:blipFill>
                      </a:tcPr>
                    </a:tc>
                    <a:tc>
                      <a:txBody>
                        <a:bodyPr/>
                        <a:lstStyle/>
                        <a:p>
                          <a:endParaRPr lang="es-ES"/>
                        </a:p>
                      </a:txBody>
                      <a:tcPr>
                        <a:blipFill>
                          <a:blip r:embed="rId3"/>
                          <a:stretch>
                            <a:fillRect l="-411111" t="-606667" r="-823" b="-103333"/>
                          </a:stretch>
                        </a:blipFill>
                      </a:tcPr>
                    </a:tc>
                    <a:extLst>
                      <a:ext uri="{0D108BD9-81ED-4DB2-BD59-A6C34878D82A}">
                        <a16:rowId xmlns:a16="http://schemas.microsoft.com/office/drawing/2014/main" val="2980960332"/>
                      </a:ext>
                    </a:extLst>
                  </a:tr>
                  <a:tr h="365760">
                    <a:tc>
                      <a:txBody>
                        <a:bodyPr/>
                        <a:lstStyle/>
                        <a:p>
                          <a:endParaRPr lang="es-ES"/>
                        </a:p>
                      </a:txBody>
                      <a:tcPr>
                        <a:blipFill>
                          <a:blip r:embed="rId3"/>
                          <a:stretch>
                            <a:fillRect l="-855" t="-706667" r="-962393" b="-3333"/>
                          </a:stretch>
                        </a:blipFill>
                      </a:tcPr>
                    </a:tc>
                    <a:tc>
                      <a:txBody>
                        <a:bodyPr/>
                        <a:lstStyle/>
                        <a:p>
                          <a:endParaRPr lang="es-ES"/>
                        </a:p>
                      </a:txBody>
                      <a:tcPr>
                        <a:blipFill>
                          <a:blip r:embed="rId3"/>
                          <a:stretch>
                            <a:fillRect l="-97521" t="-706667" r="-830579" b="-3333"/>
                          </a:stretch>
                        </a:blipFill>
                      </a:tcPr>
                    </a:tc>
                    <a:tc>
                      <a:txBody>
                        <a:bodyPr/>
                        <a:lstStyle/>
                        <a:p>
                          <a:endParaRPr lang="es-ES"/>
                        </a:p>
                      </a:txBody>
                      <a:tcPr>
                        <a:blipFill>
                          <a:blip r:embed="rId3"/>
                          <a:stretch>
                            <a:fillRect l="-160403" t="-706667" r="-574497" b="-3333"/>
                          </a:stretch>
                        </a:blipFill>
                      </a:tcPr>
                    </a:tc>
                    <a:tc>
                      <a:txBody>
                        <a:bodyPr/>
                        <a:lstStyle/>
                        <a:p>
                          <a:endParaRPr lang="es-ES"/>
                        </a:p>
                      </a:txBody>
                      <a:tcPr>
                        <a:blipFill>
                          <a:blip r:embed="rId3"/>
                          <a:stretch>
                            <a:fillRect l="-108989" t="-706667" r="-140449" b="-3333"/>
                          </a:stretch>
                        </a:blipFill>
                      </a:tcPr>
                    </a:tc>
                    <a:tc>
                      <a:txBody>
                        <a:bodyPr/>
                        <a:lstStyle/>
                        <a:p>
                          <a:endParaRPr lang="es-ES"/>
                        </a:p>
                      </a:txBody>
                      <a:tcPr>
                        <a:blipFill>
                          <a:blip r:embed="rId3"/>
                          <a:stretch>
                            <a:fillRect l="-291765" t="-706667" r="-96078" b="-3333"/>
                          </a:stretch>
                        </a:blipFill>
                      </a:tcPr>
                    </a:tc>
                    <a:tc>
                      <a:txBody>
                        <a:bodyPr/>
                        <a:lstStyle/>
                        <a:p>
                          <a:endParaRPr lang="es-ES"/>
                        </a:p>
                      </a:txBody>
                      <a:tcPr>
                        <a:blipFill>
                          <a:blip r:embed="rId3"/>
                          <a:stretch>
                            <a:fillRect l="-411111" t="-706667" r="-823" b="-3333"/>
                          </a:stretch>
                        </a:blipFill>
                      </a:tcPr>
                    </a:tc>
                    <a:extLst>
                      <a:ext uri="{0D108BD9-81ED-4DB2-BD59-A6C34878D82A}">
                        <a16:rowId xmlns:a16="http://schemas.microsoft.com/office/drawing/2014/main" val="3895957804"/>
                      </a:ext>
                    </a:extLst>
                  </a:tr>
                </a:tbl>
              </a:graphicData>
            </a:graphic>
          </p:graphicFrame>
        </mc:Fallback>
      </mc:AlternateContent>
    </p:spTree>
    <p:extLst>
      <p:ext uri="{BB962C8B-B14F-4D97-AF65-F5344CB8AC3E}">
        <p14:creationId xmlns:p14="http://schemas.microsoft.com/office/powerpoint/2010/main" val="19690921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484C-D1B7-A052-DC97-A9F37C19D8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07D4C7F-6DA9-EAF2-A25D-87C70AA6362D}"/>
              </a:ext>
            </a:extLst>
          </p:cNvPr>
          <p:cNvSpPr>
            <a:spLocks noGrp="1"/>
          </p:cNvSpPr>
          <p:nvPr>
            <p:ph type="title"/>
          </p:nvPr>
        </p:nvSpPr>
        <p:spPr/>
        <p:txBody>
          <a:bodyPr>
            <a:normAutofit fontScale="90000"/>
          </a:bodyPr>
          <a:lstStyle/>
          <a:p>
            <a:r>
              <a:rPr lang="es-ES" dirty="0"/>
              <a:t>5. Regresión lineal simple</a:t>
            </a:r>
            <a:br>
              <a:rPr lang="es-ES" dirty="0"/>
            </a:br>
            <a:r>
              <a:rPr lang="es-ES" dirty="0"/>
              <a:t>Intervalo de confianza (Ejemplo 11.7)(Solución)(II)</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5F71E63-620D-75C1-8EC7-EA01EBA00A9D}"/>
                  </a:ext>
                </a:extLst>
              </p:cNvPr>
              <p:cNvSpPr>
                <a:spLocks noGrp="1"/>
              </p:cNvSpPr>
              <p:nvPr>
                <p:ph idx="1"/>
              </p:nvPr>
            </p:nvSpPr>
            <p:spPr/>
            <p:txBody>
              <a:bodyPr>
                <a:normAutofit/>
              </a:bodyPr>
              <a:lstStyle/>
              <a:p>
                <a:r>
                  <a:rPr lang="es-ES" dirty="0"/>
                  <a:t>Cálculo de la “desviación estándar” del estimador </a:t>
                </a:r>
                <a14:m>
                  <m:oMath xmlns:m="http://schemas.openxmlformats.org/officeDocument/2006/math">
                    <m:acc>
                      <m:accPr>
                        <m:chr m:val="̂"/>
                        <m:ctrlPr>
                          <a:rPr lang="es-ES" i="1" dirty="0" smtClean="0">
                            <a:latin typeface="Cambria Math" panose="02040503050406030204" pitchFamily="18" charset="0"/>
                          </a:rPr>
                        </m:ctrlPr>
                      </m:accPr>
                      <m:e>
                        <m:r>
                          <a:rPr lang="es-ES" b="0" i="1" dirty="0" smtClean="0">
                            <a:latin typeface="Cambria Math" panose="02040503050406030204" pitchFamily="18" charset="0"/>
                          </a:rPr>
                          <m:t>𝑌</m:t>
                        </m:r>
                      </m:e>
                    </m:acc>
                  </m:oMath>
                </a14:m>
                <a:r>
                  <a:rPr lang="es-ES" dirty="0"/>
                  <a:t> (opción 2)</a:t>
                </a:r>
              </a:p>
              <a:p>
                <a:pPr lvl="1"/>
                <a14:m>
                  <m:oMath xmlns:m="http://schemas.openxmlformats.org/officeDocument/2006/math">
                    <m:r>
                      <a:rPr lang="es-ES" b="0" i="1" smtClean="0">
                        <a:latin typeface="Cambria Math" panose="02040503050406030204" pitchFamily="18" charset="0"/>
                      </a:rPr>
                      <m:t>𝑠</m:t>
                    </m:r>
                    <m:r>
                      <a:rPr lang="es-ES" b="0" i="1" smtClean="0">
                        <a:latin typeface="Cambria Math" panose="02040503050406030204" pitchFamily="18" charset="0"/>
                      </a:rPr>
                      <m:t>=</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1</m:t>
                                </m:r>
                                <m:r>
                                  <a:rPr lang="es-ES" i="1">
                                    <a:latin typeface="Cambria Math" panose="02040503050406030204" pitchFamily="18" charset="0"/>
                                  </a:rPr>
                                  <m:t>−</m:t>
                                </m:r>
                                <m:sSup>
                                  <m:sSupPr>
                                    <m:ctrlPr>
                                      <a:rPr lang="es-ES" i="1">
                                        <a:latin typeface="Cambria Math" panose="02040503050406030204" pitchFamily="18" charset="0"/>
                                      </a:rPr>
                                    </m:ctrlPr>
                                  </m:sSupPr>
                                  <m:e>
                                    <m:r>
                                      <a:rPr lang="es-ES" i="1">
                                        <a:latin typeface="Cambria Math" panose="02040503050406030204" pitchFamily="18" charset="0"/>
                                      </a:rPr>
                                      <m:t>𝑟</m:t>
                                    </m:r>
                                  </m:e>
                                  <m:sup>
                                    <m:r>
                                      <a:rPr lang="es-ES" i="1">
                                        <a:latin typeface="Cambria Math" panose="02040503050406030204" pitchFamily="18" charset="0"/>
                                      </a:rPr>
                                      <m:t>2</m:t>
                                    </m:r>
                                  </m:sup>
                                </m:sSup>
                              </m:e>
                            </m:d>
                            <m:r>
                              <a:rPr lang="es-ES" i="1">
                                <a:latin typeface="Cambria Math" panose="02040503050406030204" pitchFamily="18" charset="0"/>
                                <a:ea typeface="Cambria Math" panose="02040503050406030204" pitchFamily="18" charset="0"/>
                              </a:rPr>
                              <m:t>∙</m:t>
                            </m:r>
                            <m:sSubSup>
                              <m:sSubSupPr>
                                <m:ctrlPr>
                                  <a:rPr lang="ar-AE"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𝑦</m:t>
                                </m:r>
                              </m:sub>
                              <m:sup>
                                <m:r>
                                  <a:rPr lang="es-ES" i="1">
                                    <a:latin typeface="Cambria Math" panose="02040503050406030204" pitchFamily="18" charset="0"/>
                                  </a:rPr>
                                  <m:t>2</m:t>
                                </m:r>
                              </m:sup>
                            </m:sSubSup>
                            <m:r>
                              <a:rPr lang="es-ES" i="1">
                                <a:latin typeface="Cambria Math" panose="02040503050406030204" pitchFamily="18" charset="0"/>
                                <a:ea typeface="Cambria Math" panose="02040503050406030204" pitchFamily="18" charset="0"/>
                              </a:rPr>
                              <m:t>∙</m:t>
                            </m:r>
                            <m:d>
                              <m:dPr>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m:t>
                                </m:r>
                              </m:e>
                            </m:d>
                          </m:num>
                          <m:den>
                            <m:r>
                              <a:rPr lang="es-ES" i="1">
                                <a:latin typeface="Cambria Math" panose="02040503050406030204" pitchFamily="18" charset="0"/>
                              </a:rPr>
                              <m:t>𝑛</m:t>
                            </m:r>
                            <m:r>
                              <a:rPr lang="es-ES" i="1">
                                <a:latin typeface="Cambria Math" panose="02040503050406030204" pitchFamily="18" charset="0"/>
                              </a:rPr>
                              <m:t>−</m:t>
                            </m:r>
                            <m:r>
                              <a:rPr lang="es-ES" i="1">
                                <a:latin typeface="Cambria Math" panose="02040503050406030204" pitchFamily="18" charset="0"/>
                              </a:rPr>
                              <m:t>2</m:t>
                            </m:r>
                          </m:den>
                        </m:f>
                      </m:e>
                    </m:rad>
                    <m:r>
                      <a:rPr lang="es-ES" b="0" i="1" smtClean="0">
                        <a:latin typeface="Cambria Math" panose="02040503050406030204" pitchFamily="18" charset="0"/>
                      </a:rPr>
                      <m:t>=</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1</m:t>
                                </m:r>
                                <m:r>
                                  <a:rPr lang="es-ES" i="1">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66</m:t>
                                </m:r>
                              </m:e>
                            </m:d>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242</m:t>
                            </m:r>
                            <m:r>
                              <a:rPr lang="es-ES" i="1">
                                <a:latin typeface="Cambria Math" panose="02040503050406030204" pitchFamily="18" charset="0"/>
                                <a:ea typeface="Cambria Math" panose="02040503050406030204" pitchFamily="18" charset="0"/>
                              </a:rPr>
                              <m:t>∙</m:t>
                            </m:r>
                            <m:d>
                              <m:dPr>
                                <m:ctrlPr>
                                  <a:rPr lang="es-ES" i="1">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7</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m:t>
                                </m:r>
                              </m:e>
                            </m:d>
                          </m:num>
                          <m:den>
                            <m:r>
                              <a:rPr lang="es-ES" b="0" i="1" smtClean="0">
                                <a:latin typeface="Cambria Math" panose="02040503050406030204" pitchFamily="18" charset="0"/>
                                <a:ea typeface="Cambria Math" panose="02040503050406030204" pitchFamily="18" charset="0"/>
                              </a:rPr>
                              <m:t>7</m:t>
                            </m:r>
                            <m:r>
                              <a:rPr lang="es-ES" i="1">
                                <a:latin typeface="Cambria Math" panose="02040503050406030204" pitchFamily="18" charset="0"/>
                              </a:rPr>
                              <m:t>−</m:t>
                            </m:r>
                            <m:r>
                              <a:rPr lang="es-ES" i="1">
                                <a:latin typeface="Cambria Math" panose="02040503050406030204" pitchFamily="18" charset="0"/>
                              </a:rPr>
                              <m:t>2</m:t>
                            </m:r>
                          </m:den>
                        </m:f>
                      </m:e>
                    </m:rad>
                    <m:r>
                      <a:rPr lang="es-ES" b="0" i="1" smtClean="0">
                        <a:latin typeface="Cambria Math" panose="02040503050406030204" pitchFamily="18" charset="0"/>
                      </a:rPr>
                      <m:t>=</m:t>
                    </m:r>
                    <m:r>
                      <a:rPr lang="es-ES" b="0" i="1" smtClean="0">
                        <a:latin typeface="Cambria Math" panose="02040503050406030204" pitchFamily="18" charset="0"/>
                      </a:rPr>
                      <m:t>9</m:t>
                    </m:r>
                    <m:r>
                      <a:rPr lang="es-ES" b="0" i="1" smtClean="0">
                        <a:latin typeface="Cambria Math" panose="02040503050406030204" pitchFamily="18" charset="0"/>
                      </a:rPr>
                      <m:t>.</m:t>
                    </m:r>
                    <m:r>
                      <a:rPr lang="es-ES" b="0" i="1" smtClean="0">
                        <a:latin typeface="Cambria Math" panose="02040503050406030204" pitchFamily="18" charset="0"/>
                      </a:rPr>
                      <m:t>9</m:t>
                    </m:r>
                  </m:oMath>
                </a14:m>
                <a:endParaRPr lang="es-ES" dirty="0"/>
              </a:p>
              <a:p>
                <a:pPr lvl="1"/>
                <a:r>
                  <a:rPr lang="es-ES" dirty="0"/>
                  <a:t>Siendo</a:t>
                </a:r>
              </a:p>
              <a:p>
                <a:pPr lvl="2"/>
                <a14:m>
                  <m:oMath xmlns:m="http://schemas.openxmlformats.org/officeDocument/2006/math">
                    <m:sSubSup>
                      <m:sSubSupPr>
                        <m:ctrlPr>
                          <a:rPr lang="ar-AE" i="1" smtClean="0">
                            <a:latin typeface="Cambria Math" panose="02040503050406030204" pitchFamily="18" charset="0"/>
                          </a:rPr>
                        </m:ctrlPr>
                      </m:sSubSupPr>
                      <m:e>
                        <m:r>
                          <a:rPr lang="es-ES" i="1">
                            <a:latin typeface="Cambria Math" panose="02040503050406030204" pitchFamily="18" charset="0"/>
                          </a:rPr>
                          <m:t>𝑠</m:t>
                        </m:r>
                      </m:e>
                      <m:sub>
                        <m:r>
                          <a:rPr lang="es-ES" b="0" i="1" smtClean="0">
                            <a:latin typeface="Cambria Math" panose="02040503050406030204" pitchFamily="18" charset="0"/>
                          </a:rPr>
                          <m:t>𝑦</m:t>
                        </m:r>
                      </m:sub>
                      <m:sup>
                        <m:r>
                          <a:rPr lang="es-ES" i="1">
                            <a:latin typeface="Cambria Math" panose="02040503050406030204" pitchFamily="18" charset="0"/>
                          </a:rPr>
                          <m:t>2</m:t>
                        </m:r>
                      </m:sup>
                    </m:sSubSup>
                    <m:r>
                      <a:rPr lang="es-ES" b="0" i="1" smtClean="0">
                        <a:latin typeface="Cambria Math" panose="02040503050406030204" pitchFamily="18" charset="0"/>
                      </a:rPr>
                      <m:t>=</m:t>
                    </m:r>
                    <m:f>
                      <m:fPr>
                        <m:ctrlPr>
                          <a:rPr lang="es-ES" b="0" i="1" smtClean="0">
                            <a:latin typeface="Cambria Math" panose="02040503050406030204" pitchFamily="18" charset="0"/>
                          </a:rPr>
                        </m:ctrlPr>
                      </m:fPr>
                      <m:num>
                        <m:nary>
                          <m:naryPr>
                            <m:chr m:val="∑"/>
                            <m:ctrlPr>
                              <a:rPr lang="es-ES" i="1">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m:t>
                            </m:r>
                            <m:r>
                              <a:rPr lang="es-ES" i="1">
                                <a:latin typeface="Cambria Math" panose="02040503050406030204" pitchFamily="18" charset="0"/>
                              </a:rPr>
                              <m:t>1</m:t>
                            </m:r>
                          </m:sub>
                          <m:sup>
                            <m:r>
                              <a:rPr lang="es-ES" b="0" i="1" smtClean="0">
                                <a:latin typeface="Cambria Math" panose="02040503050406030204" pitchFamily="18" charset="0"/>
                              </a:rPr>
                              <m:t>7</m:t>
                            </m:r>
                          </m:sup>
                          <m:e>
                            <m:sSup>
                              <m:sSupPr>
                                <m:ctrlPr>
                                  <a:rPr lang="es-ES" i="1">
                                    <a:latin typeface="Cambria Math" panose="02040503050406030204" pitchFamily="18" charset="0"/>
                                  </a:rPr>
                                </m:ctrlPr>
                              </m:sSupPr>
                              <m:e>
                                <m:r>
                                  <a:rPr lang="es-ES" i="1">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𝑦</m:t>
                                    </m:r>
                                  </m:e>
                                  <m:sub>
                                    <m:r>
                                      <a:rPr lang="es-ES" i="1">
                                        <a:latin typeface="Cambria Math" panose="02040503050406030204" pitchFamily="18" charset="0"/>
                                      </a:rPr>
                                      <m:t>𝑖</m:t>
                                    </m:r>
                                  </m:sub>
                                </m:sSub>
                                <m:r>
                                  <a:rPr lang="es-ES" i="1">
                                    <a:latin typeface="Cambria Math" panose="02040503050406030204" pitchFamily="18" charset="0"/>
                                  </a:rPr>
                                  <m:t>−</m:t>
                                </m:r>
                                <m:r>
                                  <a:rPr lang="es-ES" b="0" i="1" smtClean="0">
                                    <a:latin typeface="Cambria Math" panose="02040503050406030204" pitchFamily="18" charset="0"/>
                                  </a:rPr>
                                  <m:t>35</m:t>
                                </m:r>
                                <m:r>
                                  <a:rPr lang="es-ES" i="1">
                                    <a:latin typeface="Cambria Math" panose="02040503050406030204" pitchFamily="18" charset="0"/>
                                  </a:rPr>
                                  <m:t>)</m:t>
                                </m:r>
                              </m:e>
                              <m:sup>
                                <m:r>
                                  <a:rPr lang="es-ES" i="1">
                                    <a:latin typeface="Cambria Math" panose="02040503050406030204" pitchFamily="18" charset="0"/>
                                  </a:rPr>
                                  <m:t>2</m:t>
                                </m:r>
                              </m:sup>
                            </m:sSup>
                          </m:e>
                        </m:nary>
                      </m:num>
                      <m:den>
                        <m:r>
                          <a:rPr lang="es-ES" b="0" i="1" smtClean="0">
                            <a:latin typeface="Cambria Math" panose="02040503050406030204" pitchFamily="18" charset="0"/>
                          </a:rPr>
                          <m:t>7</m:t>
                        </m:r>
                        <m:r>
                          <a:rPr lang="es-ES" b="0" i="1" smtClean="0">
                            <a:latin typeface="Cambria Math" panose="02040503050406030204" pitchFamily="18" charset="0"/>
                          </a:rPr>
                          <m:t>−</m:t>
                        </m:r>
                        <m:r>
                          <a:rPr lang="es-ES" b="0" i="1" smtClean="0">
                            <a:latin typeface="Cambria Math" panose="02040503050406030204" pitchFamily="18" charset="0"/>
                          </a:rPr>
                          <m:t>1</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r>
                                  <a:rPr lang="es-ES" b="0" i="1" smtClean="0">
                                    <a:latin typeface="Cambria Math" panose="02040503050406030204" pitchFamily="18" charset="0"/>
                                  </a:rPr>
                                  <m:t>40</m:t>
                                </m:r>
                                <m:r>
                                  <a:rPr lang="es-ES" b="0" i="1" smtClean="0">
                                    <a:latin typeface="Cambria Math" panose="02040503050406030204" pitchFamily="18" charset="0"/>
                                  </a:rPr>
                                  <m:t>−</m:t>
                                </m:r>
                                <m:r>
                                  <a:rPr lang="es-ES" b="0" i="1" smtClean="0">
                                    <a:latin typeface="Cambria Math" panose="02040503050406030204" pitchFamily="18" charset="0"/>
                                  </a:rPr>
                                  <m:t>35</m:t>
                                </m:r>
                              </m:e>
                            </m:d>
                          </m:e>
                          <m:sup>
                            <m:r>
                              <a:rPr lang="es-ES" b="0" i="1" smtClean="0">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55</m:t>
                                </m:r>
                                <m:r>
                                  <a:rPr lang="es-ES" i="1">
                                    <a:latin typeface="Cambria Math" panose="02040503050406030204" pitchFamily="18" charset="0"/>
                                  </a:rPr>
                                  <m:t>−</m:t>
                                </m:r>
                                <m:r>
                                  <a:rPr lang="es-ES" b="0" i="1" smtClean="0">
                                    <a:latin typeface="Cambria Math" panose="02040503050406030204" pitchFamily="18" charset="0"/>
                                  </a:rPr>
                                  <m:t>35</m:t>
                                </m:r>
                              </m:e>
                            </m:d>
                          </m:e>
                          <m:sup>
                            <m:r>
                              <a:rPr lang="es-ES" i="1">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50</m:t>
                                </m:r>
                                <m:r>
                                  <a:rPr lang="es-ES" i="1">
                                    <a:latin typeface="Cambria Math" panose="02040503050406030204" pitchFamily="18" charset="0"/>
                                  </a:rPr>
                                  <m:t>−</m:t>
                                </m:r>
                                <m:r>
                                  <a:rPr lang="es-ES" b="0" i="1" smtClean="0">
                                    <a:latin typeface="Cambria Math" panose="02040503050406030204" pitchFamily="18" charset="0"/>
                                  </a:rPr>
                                  <m:t>35</m:t>
                                </m:r>
                              </m:e>
                            </m:d>
                          </m:e>
                          <m:sup>
                            <m:r>
                              <a:rPr lang="es-ES" i="1">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41</m:t>
                                </m:r>
                                <m:r>
                                  <a:rPr lang="es-ES" i="1">
                                    <a:latin typeface="Cambria Math" panose="02040503050406030204" pitchFamily="18" charset="0"/>
                                  </a:rPr>
                                  <m:t>−</m:t>
                                </m:r>
                                <m:r>
                                  <a:rPr lang="es-ES" b="0" i="1" smtClean="0">
                                    <a:latin typeface="Cambria Math" panose="02040503050406030204" pitchFamily="18" charset="0"/>
                                  </a:rPr>
                                  <m:t>35</m:t>
                                </m:r>
                              </m:e>
                            </m:d>
                          </m:e>
                          <m:sup>
                            <m:r>
                              <a:rPr lang="es-ES" i="1">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17</m:t>
                                </m:r>
                                <m:r>
                                  <a:rPr lang="es-ES" i="1">
                                    <a:latin typeface="Cambria Math" panose="02040503050406030204" pitchFamily="18" charset="0"/>
                                  </a:rPr>
                                  <m:t>−</m:t>
                                </m:r>
                                <m:r>
                                  <a:rPr lang="es-ES" b="0" i="1" smtClean="0">
                                    <a:latin typeface="Cambria Math" panose="02040503050406030204" pitchFamily="18" charset="0"/>
                                  </a:rPr>
                                  <m:t>35</m:t>
                                </m:r>
                              </m:e>
                            </m:d>
                          </m:e>
                          <m:sup>
                            <m:r>
                              <a:rPr lang="es-ES" i="1">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26</m:t>
                                </m:r>
                                <m:r>
                                  <a:rPr lang="es-ES" i="1">
                                    <a:latin typeface="Cambria Math" panose="02040503050406030204" pitchFamily="18" charset="0"/>
                                  </a:rPr>
                                  <m:t>−</m:t>
                                </m:r>
                                <m:r>
                                  <a:rPr lang="es-ES" b="0" i="1" smtClean="0">
                                    <a:latin typeface="Cambria Math" panose="02040503050406030204" pitchFamily="18" charset="0"/>
                                  </a:rPr>
                                  <m:t>35</m:t>
                                </m:r>
                              </m:e>
                            </m:d>
                          </m:e>
                          <m:sup>
                            <m:r>
                              <a:rPr lang="es-ES" i="1">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16</m:t>
                                </m:r>
                                <m:r>
                                  <a:rPr lang="es-ES" i="1">
                                    <a:latin typeface="Cambria Math" panose="02040503050406030204" pitchFamily="18" charset="0"/>
                                  </a:rPr>
                                  <m:t>−</m:t>
                                </m:r>
                                <m:r>
                                  <a:rPr lang="es-ES" b="0" i="1" smtClean="0">
                                    <a:latin typeface="Cambria Math" panose="02040503050406030204" pitchFamily="18" charset="0"/>
                                  </a:rPr>
                                  <m:t>35</m:t>
                                </m:r>
                              </m:e>
                            </m:d>
                          </m:e>
                          <m:sup>
                            <m:r>
                              <a:rPr lang="es-ES" i="1">
                                <a:latin typeface="Cambria Math" panose="02040503050406030204" pitchFamily="18" charset="0"/>
                              </a:rPr>
                              <m:t>2</m:t>
                            </m:r>
                          </m:sup>
                        </m:sSup>
                      </m:num>
                      <m:den>
                        <m:r>
                          <a:rPr lang="es-ES" b="0" i="1" smtClean="0">
                            <a:latin typeface="Cambria Math" panose="02040503050406030204" pitchFamily="18" charset="0"/>
                          </a:rPr>
                          <m:t>6</m:t>
                        </m:r>
                      </m:den>
                    </m:f>
                    <m:r>
                      <a:rPr lang="es-ES" b="0" i="1" smtClean="0">
                        <a:latin typeface="Cambria Math" panose="02040503050406030204" pitchFamily="18" charset="0"/>
                      </a:rPr>
                      <m:t>=</m:t>
                    </m:r>
                    <m:r>
                      <a:rPr lang="es-ES" b="0" i="1" smtClean="0">
                        <a:latin typeface="Cambria Math" panose="02040503050406030204" pitchFamily="18" charset="0"/>
                      </a:rPr>
                      <m:t>242</m:t>
                    </m:r>
                  </m:oMath>
                </a14:m>
                <a:r>
                  <a:rPr lang="es-ES" dirty="0"/>
                  <a:t> </a:t>
                </a:r>
              </a:p>
              <a:p>
                <a:pPr lvl="2"/>
                <a14:m>
                  <m:oMath xmlns:m="http://schemas.openxmlformats.org/officeDocument/2006/math">
                    <m:sSup>
                      <m:sSupPr>
                        <m:ctrlPr>
                          <a:rPr lang="es-ES" b="0" i="1" smtClean="0">
                            <a:latin typeface="Cambria Math" panose="02040503050406030204" pitchFamily="18" charset="0"/>
                          </a:rPr>
                        </m:ctrlPr>
                      </m:sSupPr>
                      <m:e>
                        <m:r>
                          <a:rPr lang="es-ES" b="0" i="1" smtClean="0">
                            <a:latin typeface="Cambria Math" panose="02040503050406030204" pitchFamily="18" charset="0"/>
                          </a:rPr>
                          <m:t>𝑟</m:t>
                        </m:r>
                      </m:e>
                      <m:sup>
                        <m:r>
                          <a:rPr lang="es-ES" b="0" i="1" smtClean="0">
                            <a:latin typeface="Cambria Math" panose="02040503050406030204" pitchFamily="18" charset="0"/>
                          </a:rPr>
                          <m:t>2</m:t>
                        </m:r>
                      </m:sup>
                    </m:sSup>
                    <m:r>
                      <a:rPr lang="es-ES" b="0" i="0" smtClean="0">
                        <a:latin typeface="Cambria Math" panose="02040503050406030204" pitchFamily="18" charset="0"/>
                      </a:rPr>
                      <m:t>=</m:t>
                    </m:r>
                    <m:f>
                      <m:fPr>
                        <m:ctrlPr>
                          <a:rPr lang="ar-AE" i="1" smtClean="0">
                            <a:latin typeface="Cambria Math" panose="02040503050406030204" pitchFamily="18" charset="0"/>
                          </a:rPr>
                        </m:ctrlPr>
                      </m:fPr>
                      <m:num>
                        <m:sSubSup>
                          <m:sSubSupPr>
                            <m:ctrlPr>
                              <a:rPr lang="ar-AE" i="1">
                                <a:latin typeface="Cambria Math" panose="02040503050406030204" pitchFamily="18" charset="0"/>
                              </a:rPr>
                            </m:ctrlPr>
                          </m:sSubSupPr>
                          <m:e>
                            <m:r>
                              <a:rPr lang="es-ES" i="1">
                                <a:latin typeface="Cambria Math" panose="02040503050406030204" pitchFamily="18" charset="0"/>
                              </a:rPr>
                              <m:t>𝑠</m:t>
                            </m:r>
                          </m:e>
                          <m:sub>
                            <m:r>
                              <a:rPr lang="es-ES" b="0" i="1" smtClean="0">
                                <a:latin typeface="Cambria Math" panose="02040503050406030204" pitchFamily="18" charset="0"/>
                              </a:rPr>
                              <m:t>𝑥</m:t>
                            </m:r>
                            <m:r>
                              <a:rPr lang="es-ES" i="1">
                                <a:latin typeface="Cambria Math" panose="02040503050406030204" pitchFamily="18" charset="0"/>
                              </a:rPr>
                              <m:t>𝑦</m:t>
                            </m:r>
                          </m:sub>
                          <m:sup>
                            <m:r>
                              <a:rPr lang="es-ES" i="1">
                                <a:latin typeface="Cambria Math" panose="02040503050406030204" pitchFamily="18" charset="0"/>
                              </a:rPr>
                              <m:t>2</m:t>
                            </m:r>
                          </m:sup>
                        </m:sSubSup>
                      </m:num>
                      <m:den>
                        <m:sSubSup>
                          <m:sSubSupPr>
                            <m:ctrlPr>
                              <a:rPr lang="ar-AE" i="1">
                                <a:latin typeface="Cambria Math" panose="02040503050406030204" pitchFamily="18" charset="0"/>
                              </a:rPr>
                            </m:ctrlPr>
                          </m:sSubSupPr>
                          <m:e>
                            <m:r>
                              <a:rPr lang="es-ES" i="1">
                                <a:latin typeface="Cambria Math" panose="02040503050406030204" pitchFamily="18" charset="0"/>
                              </a:rPr>
                              <m:t>𝑠</m:t>
                            </m:r>
                          </m:e>
                          <m:sub>
                            <m:r>
                              <a:rPr lang="es-ES" b="0" i="1" smtClean="0">
                                <a:latin typeface="Cambria Math" panose="02040503050406030204" pitchFamily="18" charset="0"/>
                              </a:rPr>
                              <m:t>𝑥</m:t>
                            </m:r>
                          </m:sub>
                          <m:sup>
                            <m:r>
                              <a:rPr lang="es-ES" i="1">
                                <a:latin typeface="Cambria Math" panose="02040503050406030204" pitchFamily="18" charset="0"/>
                              </a:rPr>
                              <m:t>2</m:t>
                            </m:r>
                          </m:sup>
                        </m:sSubSup>
                        <m:sSubSup>
                          <m:sSubSupPr>
                            <m:ctrlPr>
                              <a:rPr lang="ar-AE"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𝑦</m:t>
                            </m:r>
                          </m:sub>
                          <m:sup>
                            <m:r>
                              <a:rPr lang="es-ES" i="1">
                                <a:latin typeface="Cambria Math" panose="02040503050406030204" pitchFamily="18" charset="0"/>
                              </a:rPr>
                              <m:t>2</m:t>
                            </m:r>
                          </m:sup>
                        </m:sSubSup>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r>
                                  <a:rPr lang="es-ES" b="0" i="1" smtClean="0">
                                    <a:latin typeface="Cambria Math" panose="02040503050406030204" pitchFamily="18" charset="0"/>
                                  </a:rPr>
                                  <m:t>−</m:t>
                                </m:r>
                                <m:r>
                                  <a:rPr lang="es-ES" b="0" i="1" smtClean="0">
                                    <a:latin typeface="Cambria Math" panose="02040503050406030204" pitchFamily="18" charset="0"/>
                                  </a:rPr>
                                  <m:t>38</m:t>
                                </m:r>
                                <m:r>
                                  <a:rPr lang="es-ES" b="0" i="1" smtClean="0">
                                    <a:latin typeface="Cambria Math" panose="02040503050406030204" pitchFamily="18" charset="0"/>
                                  </a:rPr>
                                  <m:t>.</m:t>
                                </m:r>
                                <m:r>
                                  <a:rPr lang="es-ES" b="0" i="1" smtClean="0">
                                    <a:latin typeface="Cambria Math" panose="02040503050406030204" pitchFamily="18" charset="0"/>
                                  </a:rPr>
                                  <m:t>67</m:t>
                                </m:r>
                              </m:e>
                            </m:d>
                          </m:e>
                          <m:sup>
                            <m:r>
                              <a:rPr lang="es-ES" b="0" i="1" smtClean="0">
                                <a:latin typeface="Cambria Math" panose="02040503050406030204" pitchFamily="18" charset="0"/>
                              </a:rPr>
                              <m:t>2</m:t>
                            </m:r>
                          </m:sup>
                        </m:sSup>
                      </m:num>
                      <m:den>
                        <m:r>
                          <a:rPr lang="es-ES" b="0" i="1" smtClean="0">
                            <a:latin typeface="Cambria Math" panose="02040503050406030204" pitchFamily="18" charset="0"/>
                          </a:rPr>
                          <m:t>9</m:t>
                        </m:r>
                        <m:r>
                          <a:rPr lang="es-ES" b="0" i="1" smtClean="0">
                            <a:latin typeface="Cambria Math" panose="02040503050406030204" pitchFamily="18" charset="0"/>
                          </a:rPr>
                          <m:t>.</m:t>
                        </m:r>
                        <m:r>
                          <a:rPr lang="es-ES" b="0" i="1" smtClean="0">
                            <a:latin typeface="Cambria Math" panose="02040503050406030204" pitchFamily="18" charset="0"/>
                          </a:rPr>
                          <m:t>33</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242</m:t>
                        </m:r>
                      </m:den>
                    </m:f>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66</m:t>
                    </m:r>
                  </m:oMath>
                </a14:m>
                <a:endParaRPr lang="es-ES" dirty="0"/>
              </a:p>
              <a:p>
                <a:pPr lvl="2"/>
                <a:endParaRPr lang="es-ES" dirty="0"/>
              </a:p>
              <a:p>
                <a:pPr lvl="1"/>
                <a:endParaRPr lang="es-ES" dirty="0"/>
              </a:p>
              <a:p>
                <a:pPr lvl="2"/>
                <a:endParaRPr lang="es-ES" dirty="0"/>
              </a:p>
              <a:p>
                <a:pPr marL="0" indent="0">
                  <a:buNone/>
                </a:pPr>
                <a:endParaRPr lang="es-ES" dirty="0"/>
              </a:p>
              <a:p>
                <a:pPr lvl="1"/>
                <a:endParaRPr lang="es-ES" dirty="0"/>
              </a:p>
            </p:txBody>
          </p:sp>
        </mc:Choice>
        <mc:Fallback xmlns="">
          <p:sp>
            <p:nvSpPr>
              <p:cNvPr id="3" name="Marcador de contenido 2">
                <a:extLst>
                  <a:ext uri="{FF2B5EF4-FFF2-40B4-BE49-F238E27FC236}">
                    <a16:creationId xmlns:a16="http://schemas.microsoft.com/office/drawing/2014/main" id="{75F71E63-620D-75C1-8EC7-EA01EBA00A9D}"/>
                  </a:ext>
                </a:extLst>
              </p:cNvPr>
              <p:cNvSpPr>
                <a:spLocks noGrp="1" noRot="1" noChangeAspect="1" noMove="1" noResize="1" noEditPoints="1" noAdjustHandles="1" noChangeArrowheads="1" noChangeShapeType="1" noTextEdit="1"/>
              </p:cNvSpPr>
              <p:nvPr>
                <p:ph idx="1"/>
              </p:nvPr>
            </p:nvSpPr>
            <p:spPr>
              <a:blipFill>
                <a:blip r:embed="rId4"/>
                <a:stretch>
                  <a:fillRect l="-1043" t="-196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5226F7E1-3B91-8ADF-C1B6-8BDC0F4E9838}"/>
              </a:ext>
            </a:extLst>
          </p:cNvPr>
          <p:cNvSpPr>
            <a:spLocks noGrp="1"/>
          </p:cNvSpPr>
          <p:nvPr>
            <p:ph type="sldNum" sz="quarter" idx="12"/>
          </p:nvPr>
        </p:nvSpPr>
        <p:spPr/>
        <p:txBody>
          <a:bodyPr/>
          <a:lstStyle/>
          <a:p>
            <a:fld id="{336CAFD0-1F6E-4E11-9822-836563A02839}" type="slidenum">
              <a:rPr lang="es-ES" smtClean="0"/>
              <a:pPr/>
              <a:t>26</a:t>
            </a:fld>
            <a:endParaRPr lang="es-ES" dirty="0"/>
          </a:p>
        </p:txBody>
      </p:sp>
    </p:spTree>
    <p:extLst>
      <p:ext uri="{BB962C8B-B14F-4D97-AF65-F5344CB8AC3E}">
        <p14:creationId xmlns:p14="http://schemas.microsoft.com/office/powerpoint/2010/main" val="1766576842"/>
      </p:ext>
    </p:extLst>
  </p:cSld>
  <p:clrMapOvr>
    <a:masterClrMapping/>
  </p:clrMapOvr>
  <mc:AlternateContent xmlns:mc="http://schemas.openxmlformats.org/markup-compatibility/2006" xmlns:p14="http://schemas.microsoft.com/office/powerpoint/2010/main">
    <mc:Choice Requires="p14">
      <p:transition spd="slow" p14:dur="2000" advTm="38147"/>
    </mc:Choice>
    <mc:Fallback xmlns="">
      <p:transition spd="slow" advTm="38147"/>
    </mc:Fallback>
  </mc:AlternateContent>
  <p:extLst>
    <p:ext uri="{3A86A75C-4F4B-4683-9AE1-C65F6400EC91}">
      <p14:laserTraceLst xmlns:p14="http://schemas.microsoft.com/office/powerpoint/2010/main">
        <p14:tracePtLst>
          <p14:tracePt t="2832" x="1903413" y="2733675"/>
          <p14:tracePt t="2843" x="1895475" y="2733675"/>
          <p14:tracePt t="2859" x="1885950" y="2725738"/>
          <p14:tracePt t="2868" x="1868488" y="2716213"/>
          <p14:tracePt t="2883" x="1860550" y="2716213"/>
          <p14:tracePt t="2899" x="1833563" y="2708275"/>
          <p14:tracePt t="2916" x="1816100" y="2698750"/>
          <p14:tracePt t="2933" x="1808163" y="2690813"/>
          <p14:tracePt t="2950" x="1790700" y="2673350"/>
          <p14:tracePt t="2967" x="1773238" y="2655888"/>
          <p14:tracePt t="2983" x="1755775" y="2638425"/>
          <p14:tracePt t="2986" x="1746250" y="2628900"/>
          <p14:tracePt t="3000" x="1738313" y="2628900"/>
          <p14:tracePt t="3016" x="1728788" y="2611438"/>
          <p14:tracePt t="3019" x="1720850" y="2611438"/>
          <p14:tracePt t="3034" x="1711325" y="2611438"/>
          <p14:tracePt t="3051" x="1703388" y="2611438"/>
          <p14:tracePt t="3067" x="1693863" y="2611438"/>
          <p14:tracePt t="3082" x="1668463" y="2611438"/>
          <p14:tracePt t="3099" x="1633538" y="2620963"/>
          <p14:tracePt t="3116" x="1581150" y="2638425"/>
          <p14:tracePt t="3132" x="1511300" y="2646363"/>
          <p14:tracePt t="3149" x="1476375" y="2655888"/>
          <p14:tracePt t="3166" x="1449388" y="2673350"/>
          <p14:tracePt t="3183" x="1441450" y="2690813"/>
          <p14:tracePt t="3201" x="1441450" y="2725738"/>
          <p14:tracePt t="3203" x="1441450" y="2733675"/>
          <p14:tracePt t="3217" x="1441450" y="2770188"/>
          <p14:tracePt t="3218" x="1441450" y="2787650"/>
          <p14:tracePt t="3233" x="1441450" y="2805113"/>
          <p14:tracePt t="3237" x="1449388" y="2822575"/>
          <p14:tracePt t="3250" x="1466850" y="2865438"/>
          <p14:tracePt t="3268" x="1476375" y="2909888"/>
          <p14:tracePt t="3283" x="1493838" y="2927350"/>
          <p14:tracePt t="3300" x="1511300" y="2944813"/>
          <p14:tracePt t="3316" x="1528763" y="2952750"/>
          <p14:tracePt t="3333" x="1536700" y="2952750"/>
          <p14:tracePt t="3349" x="1546225" y="2952750"/>
          <p14:tracePt t="3365" x="1554163" y="2952750"/>
          <p14:tracePt t="3383" x="1571625" y="2952750"/>
          <p14:tracePt t="3399" x="1581150" y="2952750"/>
          <p14:tracePt t="3533" x="0" y="0"/>
        </p14:tracePtLst>
        <p14:tracePtLst>
          <p14:tracePt t="6671" x="2908300" y="2366963"/>
          <p14:tracePt t="6851" x="2898775" y="2366963"/>
          <p14:tracePt t="6859" x="2881313" y="2366963"/>
          <p14:tracePt t="6869" x="2863850" y="2376488"/>
          <p14:tracePt t="6882" x="2855913" y="2384425"/>
          <p14:tracePt t="6899" x="2828925" y="2401888"/>
          <p14:tracePt t="6915" x="2811463" y="2411413"/>
          <p14:tracePt t="6932" x="2803525" y="2419350"/>
          <p14:tracePt t="6950" x="2803525" y="2436813"/>
          <p14:tracePt t="6966" x="2794000" y="2454275"/>
          <p14:tracePt t="6984" x="2794000" y="2471738"/>
          <p14:tracePt t="6986" x="2794000" y="2489200"/>
          <p14:tracePt t="7003" x="2786063" y="2498725"/>
          <p14:tracePt t="7016" x="2786063" y="2506663"/>
          <p14:tracePt t="7034" x="2786063" y="2533650"/>
          <p14:tracePt t="7050" x="2786063" y="2551113"/>
          <p14:tracePt t="7066" x="2786063" y="2568575"/>
          <p14:tracePt t="7083" x="2794000" y="2593975"/>
          <p14:tracePt t="7100" x="2803525" y="2620963"/>
          <p14:tracePt t="7116" x="2803525" y="2628900"/>
          <p14:tracePt t="7132" x="2811463" y="2646363"/>
          <p14:tracePt t="7149" x="2828925" y="2673350"/>
          <p14:tracePt t="7165" x="2838450" y="2673350"/>
          <p14:tracePt t="7182" x="2846388" y="2690813"/>
          <p14:tracePt t="7315" x="2855913" y="2663825"/>
          <p14:tracePt t="7323" x="2863850" y="2646363"/>
          <p14:tracePt t="7333" x="2873375" y="2638425"/>
          <p14:tracePt t="7348" x="2881313" y="2611438"/>
          <p14:tracePt t="7365" x="2881313" y="2603500"/>
          <p14:tracePt t="7382" x="2890838" y="2586038"/>
          <p14:tracePt t="7475" x="2890838" y="2576513"/>
          <p14:tracePt t="7490" x="2890838" y="2568575"/>
          <p14:tracePt t="7499" x="2890838" y="2559050"/>
          <p14:tracePt t="7701" x="0" y="0"/>
        </p14:tracePtLst>
        <p14:tracePtLst>
          <p14:tracePt t="8503" x="3292475" y="2541588"/>
          <p14:tracePt t="8540" x="3284538" y="2533650"/>
          <p14:tracePt t="8547" x="3275013" y="2533650"/>
          <p14:tracePt t="8563" x="3275013" y="2524125"/>
          <p14:tracePt t="8579" x="3267075" y="2524125"/>
          <p14:tracePt t="8594" x="3257550" y="2524125"/>
          <p14:tracePt t="8643" x="3249613" y="2524125"/>
          <p14:tracePt t="8691" x="3240088" y="2524125"/>
          <p14:tracePt t="8707" x="3240088" y="2533650"/>
          <p14:tracePt t="8773" x="3240088" y="2541588"/>
          <p14:tracePt t="8778" x="3240088" y="2568575"/>
          <p14:tracePt t="8786" x="3232150" y="2586038"/>
          <p14:tracePt t="8803" x="3222625" y="2593975"/>
          <p14:tracePt t="8815" x="3222625" y="2603500"/>
          <p14:tracePt t="8833" x="3222625" y="2628900"/>
          <p14:tracePt t="8849" x="3222625" y="2638425"/>
          <p14:tracePt t="8850" x="3232150" y="2646363"/>
          <p14:tracePt t="8866" x="3240088" y="2655888"/>
          <p14:tracePt t="8882" x="3249613" y="2673350"/>
          <p14:tracePt t="8898" x="3267075" y="2681288"/>
          <p14:tracePt t="8915" x="3284538" y="2698750"/>
          <p14:tracePt t="8932" x="3292475" y="2698750"/>
          <p14:tracePt t="8948" x="3319463" y="2708275"/>
          <p14:tracePt t="8966" x="3336925" y="2716213"/>
          <p14:tracePt t="8983" x="3362325" y="2716213"/>
          <p14:tracePt t="8986" x="3371850" y="2716213"/>
          <p14:tracePt t="8999" x="3379788" y="2716213"/>
          <p14:tracePt t="9016" x="3397250" y="2708275"/>
          <p14:tracePt t="9021" x="3406775" y="2698750"/>
          <p14:tracePt t="9032" x="3414713" y="2690813"/>
          <p14:tracePt t="9049" x="3424238" y="2681288"/>
          <p14:tracePt t="9053" x="3432175" y="2681288"/>
          <p14:tracePt t="9067" x="3449638" y="2673350"/>
          <p14:tracePt t="9083" x="3449638" y="2663825"/>
          <p14:tracePt t="9115" x="3449638" y="2655888"/>
          <p14:tracePt t="9123" x="3449638" y="2646363"/>
          <p14:tracePt t="9132" x="3449638" y="2638425"/>
          <p14:tracePt t="9149" x="3449638" y="2620963"/>
          <p14:tracePt t="9165" x="3449638" y="2593975"/>
          <p14:tracePt t="9181" x="3449638" y="2576513"/>
          <p14:tracePt t="9199" x="3449638" y="2559050"/>
          <p14:tracePt t="9332" x="3441700" y="2559050"/>
          <p14:tracePt t="9338" x="3432175" y="2559050"/>
          <p14:tracePt t="10148" x="0" y="0"/>
        </p14:tracePtLst>
        <p14:tracePtLst>
          <p14:tracePt t="13414" x="2262188" y="3476625"/>
          <p14:tracePt t="13499" x="2244725" y="3476625"/>
          <p14:tracePt t="13507" x="2227263" y="3494088"/>
          <p14:tracePt t="13516" x="2217738" y="3503613"/>
          <p14:tracePt t="13531" x="2174875" y="3529013"/>
          <p14:tracePt t="13548" x="2130425" y="3563938"/>
          <p14:tracePt t="13564" x="2070100" y="3590925"/>
          <p14:tracePt t="13581" x="2035175" y="3608388"/>
          <p14:tracePt t="13598" x="2025650" y="3616325"/>
          <p14:tracePt t="13614" x="2017713" y="3625850"/>
          <p14:tracePt t="13631" x="2017713" y="3633788"/>
          <p14:tracePt t="13652" x="2017713" y="3643313"/>
          <p14:tracePt t="13664" x="2017713" y="3651250"/>
          <p14:tracePt t="13683" x="2017713" y="3660775"/>
          <p14:tracePt t="13699" x="2025650" y="3678238"/>
          <p14:tracePt t="13714" x="2035175" y="3686175"/>
          <p14:tracePt t="13732" x="2052638" y="3695700"/>
          <p14:tracePt t="13747" x="2060575" y="3721100"/>
          <p14:tracePt t="13765" x="2078038" y="3738563"/>
          <p14:tracePt t="13781" x="2095500" y="3748088"/>
          <p14:tracePt t="13797" x="2105025" y="3765550"/>
          <p14:tracePt t="13814" x="2122488" y="3773488"/>
          <p14:tracePt t="13830" x="2130425" y="3800475"/>
          <p14:tracePt t="13847" x="2157413" y="3808413"/>
          <p14:tracePt t="13864" x="2165350" y="3825875"/>
          <p14:tracePt t="13866" x="2174875" y="3835400"/>
          <p14:tracePt t="13881" x="2182813" y="3835400"/>
          <p14:tracePt t="13882" x="2182813" y="3843338"/>
          <p14:tracePt t="13898" x="2200275" y="3852863"/>
          <p14:tracePt t="14154" x="2209800" y="3852863"/>
          <p14:tracePt t="15164" x="0" y="0"/>
        </p14:tracePtLst>
        <p14:tracePtLst>
          <p14:tracePt t="15791" x="2244725" y="4586288"/>
          <p14:tracePt t="15899" x="2244725" y="4578350"/>
          <p14:tracePt t="15906" x="2244725" y="4560888"/>
          <p14:tracePt t="15915" x="2244725" y="4508500"/>
          <p14:tracePt t="15930" x="2244725" y="4446588"/>
          <p14:tracePt t="15947" x="2235200" y="4438650"/>
          <p14:tracePt t="15965" x="2227263" y="4421188"/>
          <p14:tracePt t="16115" x="2209800" y="4421188"/>
          <p14:tracePt t="16122" x="2112963" y="4456113"/>
          <p14:tracePt t="16130" x="2043113" y="4473575"/>
          <p14:tracePt t="16147" x="1895475" y="4481513"/>
          <p14:tracePt t="16164" x="1728788" y="4508500"/>
          <p14:tracePt t="16181" x="1685925" y="4525963"/>
          <p14:tracePt t="16197" x="1676400" y="4533900"/>
          <p14:tracePt t="16214" x="1676400" y="4543425"/>
          <p14:tracePt t="16231" x="1693863" y="4551363"/>
          <p14:tracePt t="16248" x="1711325" y="4560888"/>
          <p14:tracePt t="16250" x="1720850" y="4568825"/>
          <p14:tracePt t="16264" x="1728788" y="4568825"/>
          <p14:tracePt t="16266" x="1738313" y="4578350"/>
          <p14:tracePt t="16282" x="1781175" y="4613275"/>
          <p14:tracePt t="16297" x="1790700" y="4630738"/>
          <p14:tracePt t="16299" x="1808163" y="4638675"/>
          <p14:tracePt t="16315" x="1843088" y="4665663"/>
          <p14:tracePt t="16332" x="1860550" y="4683125"/>
          <p14:tracePt t="16347" x="1895475" y="4700588"/>
          <p14:tracePt t="16365" x="1912938" y="4700588"/>
          <p14:tracePt t="16381" x="1955800" y="4700588"/>
          <p14:tracePt t="16398" x="1982788" y="4683125"/>
          <p14:tracePt t="16416" x="2017713" y="4673600"/>
          <p14:tracePt t="16419" x="2035175" y="4665663"/>
          <p14:tracePt t="16433" x="2060575" y="4656138"/>
          <p14:tracePt t="16435" x="2078038" y="4638675"/>
          <p14:tracePt t="16447" x="2087563" y="4621213"/>
          <p14:tracePt t="16464" x="2095500" y="4613275"/>
          <p14:tracePt t="16482" x="2095500" y="4603750"/>
          <p14:tracePt t="16725" x="0" y="0"/>
        </p14:tracePtLst>
        <p14:tracePtLst>
          <p14:tracePt t="21192" x="2898775" y="4464050"/>
          <p14:tracePt t="21459" x="2908300" y="4464050"/>
          <p14:tracePt t="21468" x="2916238" y="4464050"/>
          <p14:tracePt t="21491" x="2925763" y="4464050"/>
          <p14:tracePt t="21499" x="2933700" y="4464050"/>
          <p14:tracePt t="21539" x="2933700" y="4456113"/>
          <p14:tracePt t="21571" x="2943225" y="4456113"/>
          <p14:tracePt t="21635" x="2943225" y="4446588"/>
          <p14:tracePt t="21684" x="0" y="0"/>
        </p14:tracePtLst>
        <p14:tracePtLst>
          <p14:tracePt t="22783" x="2741613" y="4691063"/>
          <p14:tracePt t="22948" x="2751138" y="4700588"/>
          <p14:tracePt t="22963" x="2759075" y="4708525"/>
          <p14:tracePt t="22979" x="2768600" y="4708525"/>
          <p14:tracePt t="22995" x="2776538" y="4708525"/>
          <p14:tracePt t="23002" x="2786063" y="4708525"/>
          <p14:tracePt t="23013" x="2786063" y="4718050"/>
          <p14:tracePt t="23030" x="2803525" y="4718050"/>
          <p14:tracePt t="23048" x="2803525" y="4725988"/>
          <p14:tracePt t="23155" x="2811463" y="4735513"/>
          <p14:tracePt t="23163" x="2820988" y="4743450"/>
          <p14:tracePt t="23171" x="2820988" y="4752975"/>
          <p14:tracePt t="23179" x="2828925" y="4752975"/>
          <p14:tracePt t="23196" x="2828925" y="4770438"/>
          <p14:tracePt t="23213" x="2828925" y="4778375"/>
          <p14:tracePt t="23229" x="2838450" y="4795838"/>
          <p14:tracePt t="23499" x="2838450" y="4805363"/>
          <p14:tracePt t="24061" x="0" y="0"/>
        </p14:tracePtLst>
        <p14:tracePtLst>
          <p14:tracePt t="25512" x="2601913" y="3678238"/>
          <p14:tracePt t="25749" x="0" y="0"/>
        </p14:tracePtLst>
        <p14:tracePtLst>
          <p14:tracePt t="26287" x="3930650" y="4237038"/>
          <p14:tracePt t="26363" x="3921125" y="4237038"/>
          <p14:tracePt t="26371" x="3895725" y="4237038"/>
          <p14:tracePt t="26378" x="3878263" y="4237038"/>
          <p14:tracePt t="26397" x="3816350" y="4237038"/>
          <p14:tracePt t="26415" x="3686175" y="4237038"/>
          <p14:tracePt t="26429" x="3616325" y="4237038"/>
          <p14:tracePt t="26447" x="3571875" y="4254500"/>
          <p14:tracePt t="26462" x="3536950" y="4271963"/>
          <p14:tracePt t="26480" x="3536950" y="4281488"/>
          <p14:tracePt t="26495" x="3519488" y="4298950"/>
          <p14:tracePt t="26513" x="3511550" y="4333875"/>
          <p14:tracePt t="26530" x="3494088" y="4341813"/>
          <p14:tracePt t="26546" x="3484563" y="4368800"/>
          <p14:tracePt t="26564" x="3467100" y="4394200"/>
          <p14:tracePt t="26580" x="3459163" y="4411663"/>
          <p14:tracePt t="26596" x="3449638" y="4456113"/>
          <p14:tracePt t="26613" x="3441700" y="4473575"/>
          <p14:tracePt t="26630" x="3441700" y="4498975"/>
          <p14:tracePt t="26634" x="3441700" y="4508500"/>
          <p14:tracePt t="26645" x="3441700" y="4516438"/>
          <p14:tracePt t="26664" x="3441700" y="4525963"/>
          <p14:tracePt t="26667" x="3441700" y="4533900"/>
          <p14:tracePt t="26678" x="3449638" y="4543425"/>
          <p14:tracePt t="26696" x="3467100" y="4551363"/>
          <p14:tracePt t="26698" x="3467100" y="4560888"/>
          <p14:tracePt t="26712" x="3484563" y="4568825"/>
          <p14:tracePt t="26729" x="3494088" y="4568825"/>
          <p14:tracePt t="26730" x="3502025" y="4568825"/>
          <p14:tracePt t="26747" x="3511550" y="4568825"/>
          <p14:tracePt t="26779" x="3519488" y="4568825"/>
          <p14:tracePt t="26844" x="0" y="0"/>
        </p14:tracePtLst>
        <p14:tracePtLst>
          <p14:tracePt t="27646" x="4899025" y="4683125"/>
          <p14:tracePt t="27739" x="4916488" y="4683125"/>
          <p14:tracePt t="27747" x="5038725" y="4665663"/>
          <p14:tracePt t="27754" x="5073650" y="4648200"/>
          <p14:tracePt t="27764" x="5100638" y="4630738"/>
          <p14:tracePt t="27780" x="5178425" y="4595813"/>
          <p14:tracePt t="27795" x="5213350" y="4543425"/>
          <p14:tracePt t="27812" x="5230813" y="4525963"/>
          <p14:tracePt t="27829" x="5230813" y="4516438"/>
          <p14:tracePt t="27845" x="5230813" y="4498975"/>
          <p14:tracePt t="27867" x="5222875" y="4498975"/>
          <p14:tracePt t="27878" x="5222875" y="4491038"/>
          <p14:tracePt t="27895" x="5213350" y="4473575"/>
          <p14:tracePt t="27912" x="5178425" y="4429125"/>
          <p14:tracePt t="27914" x="5160963" y="4403725"/>
          <p14:tracePt t="27929" x="5135563" y="4368800"/>
          <p14:tracePt t="27931" x="5073650" y="4341813"/>
          <p14:tracePt t="27945" x="4995863" y="4306888"/>
          <p14:tracePt t="27947" x="4908550" y="4281488"/>
          <p14:tracePt t="27963" x="4724400" y="4237038"/>
          <p14:tracePt t="27979" x="4646613" y="4219575"/>
          <p14:tracePt t="27996" x="4541838" y="4211638"/>
          <p14:tracePt t="28014" x="4489450" y="4211638"/>
          <p14:tracePt t="28030" x="4454525" y="4211638"/>
          <p14:tracePt t="28047" x="4392613" y="4219575"/>
          <p14:tracePt t="28062" x="4349750" y="4237038"/>
          <p14:tracePt t="28079" x="4279900" y="4264025"/>
          <p14:tracePt t="28095" x="4252913" y="4289425"/>
          <p14:tracePt t="28112" x="4227513" y="4306888"/>
          <p14:tracePt t="28114" x="4227513" y="4324350"/>
          <p14:tracePt t="28128" x="4227513" y="4341813"/>
          <p14:tracePt t="28145" x="4227513" y="4351338"/>
          <p14:tracePt t="28147" x="4227513" y="4359275"/>
          <p14:tracePt t="28162" x="4235450" y="4376738"/>
          <p14:tracePt t="28179" x="4262438" y="4394200"/>
          <p14:tracePt t="28195" x="4287838" y="4421188"/>
          <p14:tracePt t="28212" x="4314825" y="4456113"/>
          <p14:tracePt t="28230" x="4332288" y="4473575"/>
          <p14:tracePt t="28246" x="4349750" y="4491038"/>
          <p14:tracePt t="28262" x="4357688" y="4498975"/>
          <p14:tracePt t="28279" x="4367213" y="4498975"/>
          <p14:tracePt t="28295" x="4375150" y="4498975"/>
          <p14:tracePt t="28363" x="4384675" y="4498975"/>
          <p14:tracePt t="28371" x="4402138" y="4498975"/>
          <p14:tracePt t="28411" x="4402138" y="4508500"/>
          <p14:tracePt t="28418" x="4410075" y="4508500"/>
          <p14:tracePt t="28450" x="4419600" y="4508500"/>
          <p14:tracePt t="28541" x="4427538" y="4508500"/>
          <p14:tracePt t="28546" x="4437063" y="4516438"/>
          <p14:tracePt t="28554" x="4445000" y="4516438"/>
          <p14:tracePt t="28579" x="4454525" y="4525963"/>
          <p14:tracePt t="28595" x="4462463" y="4525963"/>
          <p14:tracePt t="28724" x="0" y="0"/>
        </p14:tracePtLst>
        <p14:tracePtLst>
          <p14:tracePt t="29375" x="2297113" y="4456113"/>
          <p14:tracePt t="29426" x="2287588" y="4456113"/>
          <p14:tracePt t="29435" x="2287588" y="4446588"/>
          <p14:tracePt t="29445" x="2287588" y="4438650"/>
          <p14:tracePt t="29462" x="2287588" y="4403725"/>
          <p14:tracePt t="29478" x="2287588" y="4376738"/>
          <p14:tracePt t="29496" x="2279650" y="4341813"/>
          <p14:tracePt t="29513" x="2252663" y="4316413"/>
          <p14:tracePt t="29515" x="2235200" y="4298950"/>
          <p14:tracePt t="29531" x="2209800" y="4281488"/>
          <p14:tracePt t="29546" x="2192338" y="4271963"/>
          <p14:tracePt t="29562" x="2174875" y="4271963"/>
          <p14:tracePt t="29580" x="2157413" y="4281488"/>
          <p14:tracePt t="29597" x="2130425" y="4298950"/>
          <p14:tracePt t="29611" x="2105025" y="4324350"/>
          <p14:tracePt t="29629" x="2070100" y="4351338"/>
          <p14:tracePt t="29646" x="2043113" y="4376738"/>
          <p14:tracePt t="29662" x="2025650" y="4394200"/>
          <p14:tracePt t="29678" x="2017713" y="4421188"/>
          <p14:tracePt t="29695" x="2008188" y="4438650"/>
          <p14:tracePt t="29712" x="2008188" y="4456113"/>
          <p14:tracePt t="29714" x="2008188" y="4464050"/>
          <p14:tracePt t="29728" x="2008188" y="4473575"/>
          <p14:tracePt t="29730" x="2008188" y="4481513"/>
          <p14:tracePt t="29747" x="2008188" y="4498975"/>
          <p14:tracePt t="29763" x="2008188" y="4525963"/>
          <p14:tracePt t="29779" x="2017713" y="4551363"/>
          <p14:tracePt t="29796" x="2025650" y="4560888"/>
          <p14:tracePt t="29812" x="2043113" y="4586288"/>
          <p14:tracePt t="29829" x="2060575" y="4595813"/>
          <p14:tracePt t="29846" x="2060575" y="4603750"/>
          <p14:tracePt t="29867" x="2070100" y="4603750"/>
          <p14:tracePt t="29883" x="2078038" y="4613275"/>
          <p14:tracePt t="29899" x="2078038" y="4621213"/>
          <p14:tracePt t="29912" x="2087563" y="4621213"/>
          <p14:tracePt t="29928" x="2105025" y="4630738"/>
          <p14:tracePt t="29955" x="2112963" y="4630738"/>
          <p14:tracePt t="29962" x="2122488" y="4630738"/>
          <p14:tracePt t="29995" x="2130425" y="4630738"/>
          <p14:tracePt t="30002" x="2139950" y="4630738"/>
          <p14:tracePt t="30012" x="2147888" y="4630738"/>
          <p14:tracePt t="30197" x="0" y="0"/>
        </p14:tracePtLst>
        <p14:tracePtLst>
          <p14:tracePt t="32087" x="4759325" y="2778125"/>
          <p14:tracePt t="32171" x="4776788" y="2778125"/>
          <p14:tracePt t="32178" x="4838700" y="2778125"/>
          <p14:tracePt t="32187" x="4926013" y="2778125"/>
          <p14:tracePt t="32194" x="5073650" y="2778125"/>
          <p14:tracePt t="32211" x="5318125" y="2787650"/>
          <p14:tracePt t="32228" x="5659438" y="2787650"/>
          <p14:tracePt t="32244" x="5842000" y="2787650"/>
          <p14:tracePt t="32263" x="5886450" y="2787650"/>
          <p14:tracePt t="32302" x="0" y="0"/>
        </p14:tracePtLst>
      </p14:laserTraceLst>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B82F71-549B-BD08-3C3C-28648FE66972}"/>
              </a:ext>
            </a:extLst>
          </p:cNvPr>
          <p:cNvSpPr>
            <a:spLocks noGrp="1"/>
          </p:cNvSpPr>
          <p:nvPr>
            <p:ph type="title"/>
          </p:nvPr>
        </p:nvSpPr>
        <p:spPr/>
        <p:txBody>
          <a:bodyPr>
            <a:normAutofit fontScale="90000"/>
          </a:bodyPr>
          <a:lstStyle/>
          <a:p>
            <a:r>
              <a:rPr lang="es-ES" dirty="0"/>
              <a:t>5. Regresión lineal simple</a:t>
            </a:r>
            <a:br>
              <a:rPr lang="es-ES" dirty="0"/>
            </a:br>
            <a:r>
              <a:rPr lang="es-ES" dirty="0"/>
              <a:t>Intervalo de confianza (Ejemplo 11.7)(Solución)(III)</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E6E81B4-6E9B-70AE-A0B9-A261D67E4C99}"/>
                  </a:ext>
                </a:extLst>
              </p:cNvPr>
              <p:cNvSpPr>
                <a:spLocks noGrp="1"/>
              </p:cNvSpPr>
              <p:nvPr>
                <p:ph idx="1"/>
              </p:nvPr>
            </p:nvSpPr>
            <p:spPr/>
            <p:txBody>
              <a:bodyPr/>
              <a:lstStyle/>
              <a:p>
                <a:pPr marL="0" indent="0">
                  <a:buNone/>
                </a:pPr>
                <a:r>
                  <a:rPr lang="es-ES" dirty="0"/>
                  <a:t>c) Diagrama de bandas de predicción y predicción para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𝑜</m:t>
                        </m:r>
                      </m:sub>
                    </m:sSub>
                    <m:r>
                      <a:rPr lang="es-ES" b="0" i="1" smtClean="0">
                        <a:latin typeface="Cambria Math" panose="02040503050406030204" pitchFamily="18" charset="0"/>
                      </a:rPr>
                      <m:t>=16 </m:t>
                    </m:r>
                    <m:r>
                      <a:rPr lang="es-ES" b="0" i="1" smtClean="0">
                        <a:latin typeface="Cambria Math" panose="02040503050406030204" pitchFamily="18" charset="0"/>
                      </a:rPr>
                      <m:t>𝐺𝐵</m:t>
                    </m:r>
                  </m:oMath>
                </a14:m>
                <a:endParaRPr lang="es-ES" dirty="0"/>
              </a:p>
            </p:txBody>
          </p:sp>
        </mc:Choice>
        <mc:Fallback xmlns="">
          <p:sp>
            <p:nvSpPr>
              <p:cNvPr id="3" name="Marcador de contenido 2">
                <a:extLst>
                  <a:ext uri="{FF2B5EF4-FFF2-40B4-BE49-F238E27FC236}">
                    <a16:creationId xmlns:a16="http://schemas.microsoft.com/office/drawing/2014/main" id="{8E6E81B4-6E9B-70AE-A0B9-A261D67E4C99}"/>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5040AB63-2D78-1BE4-3C69-409EBE9C5B74}"/>
              </a:ext>
            </a:extLst>
          </p:cNvPr>
          <p:cNvSpPr>
            <a:spLocks noGrp="1"/>
          </p:cNvSpPr>
          <p:nvPr>
            <p:ph type="sldNum" sz="quarter" idx="12"/>
          </p:nvPr>
        </p:nvSpPr>
        <p:spPr/>
        <p:txBody>
          <a:bodyPr/>
          <a:lstStyle/>
          <a:p>
            <a:fld id="{336CAFD0-1F6E-4E11-9822-836563A02839}" type="slidenum">
              <a:rPr lang="es-ES" smtClean="0"/>
              <a:pPr/>
              <a:t>27</a:t>
            </a:fld>
            <a:endParaRPr lang="es-ES" dirty="0"/>
          </a:p>
        </p:txBody>
      </p:sp>
      <p:pic>
        <p:nvPicPr>
          <p:cNvPr id="7" name="Imagen 6">
            <a:extLst>
              <a:ext uri="{FF2B5EF4-FFF2-40B4-BE49-F238E27FC236}">
                <a16:creationId xmlns:a16="http://schemas.microsoft.com/office/drawing/2014/main" id="{DADB5A96-6F35-EC21-9E3C-6731A44F96B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80296" y="2833688"/>
            <a:ext cx="7296150" cy="3343275"/>
          </a:xfrm>
          <a:prstGeom prst="rect">
            <a:avLst/>
          </a:prstGeom>
        </p:spPr>
      </p:pic>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66CFD3CE-8B61-F76B-4E4D-0634D8C37A57}"/>
                  </a:ext>
                </a:extLst>
              </p:cNvPr>
              <p:cNvSpPr txBox="1"/>
              <p:nvPr/>
            </p:nvSpPr>
            <p:spPr>
              <a:xfrm rot="16200000">
                <a:off x="1692225" y="4076726"/>
                <a:ext cx="487865" cy="369332"/>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𝑦</m:t>
                          </m:r>
                        </m:e>
                      </m:acc>
                    </m:oMath>
                  </m:oMathPara>
                </a14:m>
                <a:endParaRPr lang="es-ES" dirty="0"/>
              </a:p>
            </p:txBody>
          </p:sp>
        </mc:Choice>
        <mc:Fallback xmlns="">
          <p:sp>
            <p:nvSpPr>
              <p:cNvPr id="8" name="CuadroTexto 7">
                <a:extLst>
                  <a:ext uri="{FF2B5EF4-FFF2-40B4-BE49-F238E27FC236}">
                    <a16:creationId xmlns:a16="http://schemas.microsoft.com/office/drawing/2014/main" id="{66CFD3CE-8B61-F76B-4E4D-0634D8C37A57}"/>
                  </a:ext>
                </a:extLst>
              </p:cNvPr>
              <p:cNvSpPr txBox="1">
                <a:spLocks noRot="1" noChangeAspect="1" noMove="1" noResize="1" noEditPoints="1" noAdjustHandles="1" noChangeArrowheads="1" noChangeShapeType="1" noTextEdit="1"/>
              </p:cNvSpPr>
              <p:nvPr/>
            </p:nvSpPr>
            <p:spPr>
              <a:xfrm rot="16200000">
                <a:off x="1692225" y="4076726"/>
                <a:ext cx="487865" cy="369332"/>
              </a:xfrm>
              <a:prstGeom prst="rect">
                <a:avLst/>
              </a:prstGeom>
              <a:blipFill>
                <a:blip r:embed="rId4"/>
                <a:stretch>
                  <a:fillRect l="-6557" t="-23750" r="-655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D7C44DF3-BFC3-0007-852C-55BCE200D831}"/>
                  </a:ext>
                </a:extLst>
              </p:cNvPr>
              <p:cNvSpPr txBox="1"/>
              <p:nvPr/>
            </p:nvSpPr>
            <p:spPr>
              <a:xfrm>
                <a:off x="5534257" y="6127234"/>
                <a:ext cx="58822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𝑥</m:t>
                      </m:r>
                    </m:oMath>
                  </m:oMathPara>
                </a14:m>
                <a:endParaRPr lang="es-ES" dirty="0"/>
              </a:p>
            </p:txBody>
          </p:sp>
        </mc:Choice>
        <mc:Fallback xmlns="">
          <p:sp>
            <p:nvSpPr>
              <p:cNvPr id="9" name="CuadroTexto 8">
                <a:extLst>
                  <a:ext uri="{FF2B5EF4-FFF2-40B4-BE49-F238E27FC236}">
                    <a16:creationId xmlns:a16="http://schemas.microsoft.com/office/drawing/2014/main" id="{D7C44DF3-BFC3-0007-852C-55BCE200D831}"/>
                  </a:ext>
                </a:extLst>
              </p:cNvPr>
              <p:cNvSpPr txBox="1">
                <a:spLocks noRot="1" noChangeAspect="1" noMove="1" noResize="1" noEditPoints="1" noAdjustHandles="1" noChangeArrowheads="1" noChangeShapeType="1" noTextEdit="1"/>
              </p:cNvSpPr>
              <p:nvPr/>
            </p:nvSpPr>
            <p:spPr>
              <a:xfrm>
                <a:off x="5534257" y="6127234"/>
                <a:ext cx="588227" cy="369332"/>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2DBD8294-2BC0-5CDE-93EB-86B6B893ACAD}"/>
                  </a:ext>
                </a:extLst>
              </p:cNvPr>
              <p:cNvSpPr txBox="1"/>
              <p:nvPr/>
            </p:nvSpPr>
            <p:spPr>
              <a:xfrm>
                <a:off x="7856033" y="3749837"/>
                <a:ext cx="947853" cy="3440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(16, 42)</m:t>
                      </m:r>
                    </m:oMath>
                  </m:oMathPara>
                </a14:m>
                <a:endParaRPr lang="es-ES" sz="1600" dirty="0"/>
              </a:p>
            </p:txBody>
          </p:sp>
        </mc:Choice>
        <mc:Fallback xmlns="">
          <p:sp>
            <p:nvSpPr>
              <p:cNvPr id="10" name="CuadroTexto 9">
                <a:extLst>
                  <a:ext uri="{FF2B5EF4-FFF2-40B4-BE49-F238E27FC236}">
                    <a16:creationId xmlns:a16="http://schemas.microsoft.com/office/drawing/2014/main" id="{2DBD8294-2BC0-5CDE-93EB-86B6B893ACAD}"/>
                  </a:ext>
                </a:extLst>
              </p:cNvPr>
              <p:cNvSpPr txBox="1">
                <a:spLocks noRot="1" noChangeAspect="1" noMove="1" noResize="1" noEditPoints="1" noAdjustHandles="1" noChangeArrowheads="1" noChangeShapeType="1" noTextEdit="1"/>
              </p:cNvSpPr>
              <p:nvPr/>
            </p:nvSpPr>
            <p:spPr>
              <a:xfrm>
                <a:off x="7856033" y="3749837"/>
                <a:ext cx="947853" cy="344010"/>
              </a:xfrm>
              <a:prstGeom prst="rect">
                <a:avLst/>
              </a:prstGeom>
              <a:blipFill>
                <a:blip r:embed="rId6"/>
                <a:stretch>
                  <a:fillRect b="-701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B22DA526-F0E4-06FC-B655-20A8E0C1019A}"/>
                  </a:ext>
                </a:extLst>
              </p:cNvPr>
              <p:cNvSpPr txBox="1"/>
              <p:nvPr/>
            </p:nvSpPr>
            <p:spPr>
              <a:xfrm>
                <a:off x="7822580" y="4333320"/>
                <a:ext cx="947853" cy="3440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(16, 6)</m:t>
                      </m:r>
                    </m:oMath>
                  </m:oMathPara>
                </a14:m>
                <a:endParaRPr lang="es-ES" sz="1600" dirty="0"/>
              </a:p>
            </p:txBody>
          </p:sp>
        </mc:Choice>
        <mc:Fallback xmlns="">
          <p:sp>
            <p:nvSpPr>
              <p:cNvPr id="11" name="CuadroTexto 10">
                <a:extLst>
                  <a:ext uri="{FF2B5EF4-FFF2-40B4-BE49-F238E27FC236}">
                    <a16:creationId xmlns:a16="http://schemas.microsoft.com/office/drawing/2014/main" id="{B22DA526-F0E4-06FC-B655-20A8E0C1019A}"/>
                  </a:ext>
                </a:extLst>
              </p:cNvPr>
              <p:cNvSpPr txBox="1">
                <a:spLocks noRot="1" noChangeAspect="1" noMove="1" noResize="1" noEditPoints="1" noAdjustHandles="1" noChangeArrowheads="1" noChangeShapeType="1" noTextEdit="1"/>
              </p:cNvSpPr>
              <p:nvPr/>
            </p:nvSpPr>
            <p:spPr>
              <a:xfrm>
                <a:off x="7822580" y="4333320"/>
                <a:ext cx="947853" cy="344010"/>
              </a:xfrm>
              <a:prstGeom prst="rect">
                <a:avLst/>
              </a:prstGeom>
              <a:blipFill>
                <a:blip r:embed="rId7"/>
                <a:stretch>
                  <a:fillRect b="-892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3CCB4775-6440-E8F1-FAC8-3C99084076FB}"/>
                  </a:ext>
                </a:extLst>
              </p:cNvPr>
              <p:cNvSpPr txBox="1"/>
              <p:nvPr/>
            </p:nvSpPr>
            <p:spPr>
              <a:xfrm>
                <a:off x="7889486" y="5007362"/>
                <a:ext cx="947853" cy="3440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(16, −30)</m:t>
                      </m:r>
                    </m:oMath>
                  </m:oMathPara>
                </a14:m>
                <a:endParaRPr lang="es-ES" sz="1600" dirty="0"/>
              </a:p>
            </p:txBody>
          </p:sp>
        </mc:Choice>
        <mc:Fallback xmlns="">
          <p:sp>
            <p:nvSpPr>
              <p:cNvPr id="12" name="CuadroTexto 11">
                <a:extLst>
                  <a:ext uri="{FF2B5EF4-FFF2-40B4-BE49-F238E27FC236}">
                    <a16:creationId xmlns:a16="http://schemas.microsoft.com/office/drawing/2014/main" id="{3CCB4775-6440-E8F1-FAC8-3C99084076FB}"/>
                  </a:ext>
                </a:extLst>
              </p:cNvPr>
              <p:cNvSpPr txBox="1">
                <a:spLocks noRot="1" noChangeAspect="1" noMove="1" noResize="1" noEditPoints="1" noAdjustHandles="1" noChangeArrowheads="1" noChangeShapeType="1" noTextEdit="1"/>
              </p:cNvSpPr>
              <p:nvPr/>
            </p:nvSpPr>
            <p:spPr>
              <a:xfrm>
                <a:off x="7889486" y="5007362"/>
                <a:ext cx="947853" cy="344010"/>
              </a:xfrm>
              <a:prstGeom prst="rect">
                <a:avLst/>
              </a:prstGeom>
              <a:blipFill>
                <a:blip r:embed="rId8"/>
                <a:stretch>
                  <a:fillRect r="-8974" b="-7018"/>
                </a:stretch>
              </a:blipFill>
            </p:spPr>
            <p:txBody>
              <a:bodyPr/>
              <a:lstStyle/>
              <a:p>
                <a:r>
                  <a:rPr lang="es-ES">
                    <a:noFill/>
                  </a:rPr>
                  <a:t> </a:t>
                </a:r>
              </a:p>
            </p:txBody>
          </p:sp>
        </mc:Fallback>
      </mc:AlternateContent>
    </p:spTree>
    <p:extLst>
      <p:ext uri="{BB962C8B-B14F-4D97-AF65-F5344CB8AC3E}">
        <p14:creationId xmlns:p14="http://schemas.microsoft.com/office/powerpoint/2010/main" val="610226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A7965B-5291-679F-D77A-E98F56C1C240}"/>
              </a:ext>
            </a:extLst>
          </p:cNvPr>
          <p:cNvSpPr>
            <a:spLocks noGrp="1"/>
          </p:cNvSpPr>
          <p:nvPr>
            <p:ph type="title"/>
          </p:nvPr>
        </p:nvSpPr>
        <p:spPr/>
        <p:txBody>
          <a:bodyPr>
            <a:normAutofit/>
          </a:bodyPr>
          <a:lstStyle/>
          <a:p>
            <a:r>
              <a:rPr lang="es-ES" dirty="0"/>
              <a:t>5. Regresión lineal simple</a:t>
            </a:r>
            <a:br>
              <a:rPr lang="es-ES" dirty="0"/>
            </a:br>
            <a:r>
              <a:rPr lang="es-ES" dirty="0"/>
              <a:t>Ejemplos de la vida real (Artículos)</a:t>
            </a:r>
          </a:p>
        </p:txBody>
      </p:sp>
      <p:sp>
        <p:nvSpPr>
          <p:cNvPr id="3" name="Marcador de contenido 2">
            <a:extLst>
              <a:ext uri="{FF2B5EF4-FFF2-40B4-BE49-F238E27FC236}">
                <a16:creationId xmlns:a16="http://schemas.microsoft.com/office/drawing/2014/main" id="{168BBA23-82CF-F068-9278-1A4731ADE51C}"/>
              </a:ext>
            </a:extLst>
          </p:cNvPr>
          <p:cNvSpPr>
            <a:spLocks noGrp="1"/>
          </p:cNvSpPr>
          <p:nvPr>
            <p:ph idx="1"/>
          </p:nvPr>
        </p:nvSpPr>
        <p:spPr/>
        <p:txBody>
          <a:bodyPr>
            <a:normAutofit fontScale="85000" lnSpcReduction="20000"/>
          </a:bodyPr>
          <a:lstStyle/>
          <a:p>
            <a:r>
              <a:rPr lang="es-ES" dirty="0"/>
              <a:t>Ergonomía:</a:t>
            </a:r>
          </a:p>
          <a:p>
            <a:pPr lvl="1"/>
            <a:r>
              <a:rPr lang="en-US" dirty="0"/>
              <a:t>Limon, M., et al. (2023). </a:t>
            </a:r>
            <a:r>
              <a:rPr lang="en-US" dirty="0">
                <a:hlinkClick r:id="rId2"/>
              </a:rPr>
              <a:t>Development of new shoe sizing system for women based on regression analysis of foot shapes</a:t>
            </a:r>
            <a:r>
              <a:rPr lang="en-US" dirty="0"/>
              <a:t>. International Journal of Industrial Ergonomics, 94, 103408.</a:t>
            </a:r>
          </a:p>
          <a:p>
            <a:r>
              <a:rPr lang="en-US" dirty="0" err="1"/>
              <a:t>Geografía</a:t>
            </a:r>
            <a:r>
              <a:rPr lang="en-US" dirty="0"/>
              <a:t>:</a:t>
            </a:r>
          </a:p>
          <a:p>
            <a:pPr lvl="1"/>
            <a:r>
              <a:rPr lang="en-US" dirty="0" err="1"/>
              <a:t>Suravi</a:t>
            </a:r>
            <a:r>
              <a:rPr lang="en-US" dirty="0"/>
              <a:t>, r., et al. (2023). </a:t>
            </a:r>
            <a:r>
              <a:rPr lang="en-US" dirty="0">
                <a:hlinkClick r:id="rId3"/>
              </a:rPr>
              <a:t>A study on comparative analysis to predict the future population growth in India, Bangladesh, and Pakistan</a:t>
            </a:r>
            <a:r>
              <a:rPr lang="en-US" dirty="0"/>
              <a:t>. International Journal of Mathematics and Computer, Vol. 13, Issue 1, 1–16.</a:t>
            </a:r>
          </a:p>
          <a:p>
            <a:r>
              <a:rPr lang="es-ES" dirty="0"/>
              <a:t>Redes sociales:</a:t>
            </a:r>
          </a:p>
          <a:p>
            <a:pPr lvl="1"/>
            <a:r>
              <a:rPr lang="en-US" dirty="0"/>
              <a:t>Ramadan, A. (2023). </a:t>
            </a:r>
            <a:r>
              <a:rPr lang="en-US" dirty="0">
                <a:hlinkClick r:id="rId4"/>
              </a:rPr>
              <a:t>The Relationship between Social Media use and Depression Symptoms in </a:t>
            </a:r>
            <a:r>
              <a:rPr lang="en-US" dirty="0" err="1">
                <a:hlinkClick r:id="rId4"/>
              </a:rPr>
              <a:t>Jazan</a:t>
            </a:r>
            <a:r>
              <a:rPr lang="en-US" dirty="0">
                <a:hlinkClick r:id="rId4"/>
              </a:rPr>
              <a:t> region In the Point of View of the Social Work Profession</a:t>
            </a:r>
            <a:r>
              <a:rPr lang="en-US" dirty="0"/>
              <a:t>. Egyptian Journal of Social Work.</a:t>
            </a:r>
          </a:p>
          <a:p>
            <a:r>
              <a:rPr lang="en-US" dirty="0" err="1"/>
              <a:t>Economía</a:t>
            </a:r>
            <a:r>
              <a:rPr lang="en-US" dirty="0"/>
              <a:t>:</a:t>
            </a:r>
          </a:p>
          <a:p>
            <a:pPr lvl="1"/>
            <a:r>
              <a:rPr lang="en-US" dirty="0"/>
              <a:t>Rehman, M. (2022). </a:t>
            </a:r>
            <a:r>
              <a:rPr lang="en-US" dirty="0">
                <a:hlinkClick r:id="rId5"/>
              </a:rPr>
              <a:t>Correlation of Workplace surveillance with Psychological Health, Productivity, and Privacy of employees</a:t>
            </a:r>
            <a:r>
              <a:rPr lang="en-US" dirty="0"/>
              <a:t>. International Journal of Scientific &amp; Engineering Research, Vol.13, Issue 11.</a:t>
            </a:r>
            <a:endParaRPr lang="es-ES" dirty="0"/>
          </a:p>
          <a:p>
            <a:endParaRPr lang="en-US" dirty="0"/>
          </a:p>
          <a:p>
            <a:endParaRPr lang="en-US" dirty="0"/>
          </a:p>
          <a:p>
            <a:endParaRPr lang="en-US" dirty="0"/>
          </a:p>
          <a:p>
            <a:endParaRPr lang="en-US" dirty="0"/>
          </a:p>
          <a:p>
            <a:endParaRPr lang="en-US" dirty="0"/>
          </a:p>
          <a:p>
            <a:endParaRPr lang="es-ES" dirty="0"/>
          </a:p>
        </p:txBody>
      </p:sp>
      <p:sp>
        <p:nvSpPr>
          <p:cNvPr id="4" name="Marcador de número de diapositiva 3">
            <a:extLst>
              <a:ext uri="{FF2B5EF4-FFF2-40B4-BE49-F238E27FC236}">
                <a16:creationId xmlns:a16="http://schemas.microsoft.com/office/drawing/2014/main" id="{4BDCB2A7-B795-8150-C79D-8EAC22230770}"/>
              </a:ext>
            </a:extLst>
          </p:cNvPr>
          <p:cNvSpPr>
            <a:spLocks noGrp="1"/>
          </p:cNvSpPr>
          <p:nvPr>
            <p:ph type="sldNum" sz="quarter" idx="12"/>
          </p:nvPr>
        </p:nvSpPr>
        <p:spPr/>
        <p:txBody>
          <a:bodyPr/>
          <a:lstStyle/>
          <a:p>
            <a:fld id="{336CAFD0-1F6E-4E11-9822-836563A02839}" type="slidenum">
              <a:rPr lang="es-ES" smtClean="0"/>
              <a:pPr/>
              <a:t>28</a:t>
            </a:fld>
            <a:endParaRPr lang="es-ES" dirty="0"/>
          </a:p>
        </p:txBody>
      </p:sp>
    </p:spTree>
    <p:extLst>
      <p:ext uri="{BB962C8B-B14F-4D97-AF65-F5344CB8AC3E}">
        <p14:creationId xmlns:p14="http://schemas.microsoft.com/office/powerpoint/2010/main" val="11368215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lstStyle/>
          <a:p>
            <a:r>
              <a:rPr lang="es-ES" dirty="0"/>
              <a:t>5</a:t>
            </a:r>
            <a:r>
              <a:rPr dirty="0"/>
              <a:t>. </a:t>
            </a:r>
            <a:r>
              <a:rPr dirty="0" err="1"/>
              <a:t>Regresión</a:t>
            </a:r>
            <a:r>
              <a:rPr dirty="0"/>
              <a:t> lineal simple</a:t>
            </a:r>
            <a:br>
              <a:rPr lang="es-ES" dirty="0"/>
            </a:br>
            <a:r>
              <a:rPr dirty="0" err="1"/>
              <a:t>Ejercicios</a:t>
            </a:r>
            <a:r>
              <a:rPr dirty="0"/>
              <a:t> </a:t>
            </a:r>
            <a:r>
              <a:rPr dirty="0" err="1"/>
              <a:t>propuestos</a:t>
            </a:r>
            <a:endParaRPr dirty="0"/>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r>
              <a:rPr dirty="0" err="1"/>
              <a:t>Ejercicios</a:t>
            </a:r>
            <a:r>
              <a:rPr dirty="0"/>
              <a:t> 11.1, 11.2(a), 11.3</a:t>
            </a:r>
            <a:r>
              <a:rPr lang="es-ES" dirty="0"/>
              <a:t>(</a:t>
            </a:r>
            <a:r>
              <a:rPr lang="es-ES" dirty="0" err="1"/>
              <a:t>a,c</a:t>
            </a:r>
            <a:r>
              <a:rPr lang="es-ES" dirty="0"/>
              <a:t>), 11.4(c),</a:t>
            </a:r>
            <a:r>
              <a:rPr dirty="0"/>
              <a:t> 11.8(a</a:t>
            </a:r>
            <a:r>
              <a:rPr lang="es-ES" dirty="0"/>
              <a:t>,b</a:t>
            </a:r>
            <a:r>
              <a:rPr dirty="0"/>
              <a:t>)</a:t>
            </a:r>
            <a:r>
              <a:rPr lang="es-ES" dirty="0"/>
              <a:t>, 11.10(</a:t>
            </a:r>
            <a:r>
              <a:rPr lang="es-ES" dirty="0" err="1"/>
              <a:t>a,c</a:t>
            </a:r>
            <a:r>
              <a:rPr lang="es-ES" dirty="0"/>
              <a:t>)</a:t>
            </a:r>
            <a:r>
              <a:rPr dirty="0"/>
              <a:t> del </a:t>
            </a:r>
            <a:r>
              <a:rPr dirty="0" err="1"/>
              <a:t>libro</a:t>
            </a:r>
            <a:endParaRPr dirty="0"/>
          </a:p>
          <a:p>
            <a:pPr lvl="1"/>
            <a:r>
              <a:rPr dirty="0"/>
              <a:t>La </a:t>
            </a:r>
            <a:r>
              <a:rPr dirty="0" err="1"/>
              <a:t>respuesta</a:t>
            </a:r>
            <a:r>
              <a:rPr dirty="0"/>
              <a:t> de</a:t>
            </a:r>
            <a:r>
              <a:rPr lang="es-ES" dirty="0"/>
              <a:t> los ejercicios</a:t>
            </a:r>
            <a:r>
              <a:rPr dirty="0"/>
              <a:t> 11.2</a:t>
            </a:r>
            <a:r>
              <a:rPr lang="es-ES" dirty="0"/>
              <a:t> y 11.10 </a:t>
            </a:r>
            <a:r>
              <a:rPr dirty="0" err="1"/>
              <a:t>está</a:t>
            </a:r>
            <a:r>
              <a:rPr dirty="0"/>
              <a:t> disponible en </a:t>
            </a:r>
            <a:r>
              <a:rPr lang="es-ES" dirty="0"/>
              <a:t>el libro</a:t>
            </a:r>
            <a:endParaRPr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29</a:t>
            </a:fld>
            <a:endParaRPr lang="es-ES"/>
          </a:p>
        </p:txBody>
      </p:sp>
    </p:spTree>
    <p:extLst>
      <p:ext uri="{BB962C8B-B14F-4D97-AF65-F5344CB8AC3E}">
        <p14:creationId xmlns:p14="http://schemas.microsoft.com/office/powerpoint/2010/main" val="3922035310"/>
      </p:ext>
    </p:extLst>
  </p:cSld>
  <p:clrMapOvr>
    <a:masterClrMapping/>
  </p:clrMapOvr>
  <mc:AlternateContent xmlns:mc="http://schemas.openxmlformats.org/markup-compatibility/2006" xmlns:p14="http://schemas.microsoft.com/office/powerpoint/2010/main">
    <mc:Choice Requires="p14">
      <p:transition spd="slow" p14:dur="2000" advTm="22383"/>
    </mc:Choice>
    <mc:Fallback xmlns="">
      <p:transition spd="slow" advTm="22383"/>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FCAB70-ABB7-B7B8-0606-9B4DC78CE70B}"/>
              </a:ext>
            </a:extLst>
          </p:cNvPr>
          <p:cNvSpPr>
            <a:spLocks noGrp="1"/>
          </p:cNvSpPr>
          <p:nvPr>
            <p:ph type="title"/>
          </p:nvPr>
        </p:nvSpPr>
        <p:spPr/>
        <p:txBody>
          <a:bodyPr/>
          <a:lstStyle/>
          <a:p>
            <a:r>
              <a:rPr lang="es-ES" dirty="0"/>
              <a:t>6</a:t>
            </a:r>
            <a:r>
              <a:rPr dirty="0"/>
              <a:t>. </a:t>
            </a:r>
            <a:r>
              <a:rPr dirty="0" err="1"/>
              <a:t>Regresión</a:t>
            </a:r>
            <a:r>
              <a:rPr dirty="0"/>
              <a:t> lineal </a:t>
            </a:r>
            <a:r>
              <a:rPr dirty="0" err="1"/>
              <a:t>múltiple</a:t>
            </a:r>
            <a:r>
              <a:rPr dirty="0"/>
              <a:t> </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C088E9A-3FE8-7503-9A5C-640A405A7AE2}"/>
                  </a:ext>
                </a:extLst>
              </p:cNvPr>
              <p:cNvSpPr>
                <a:spLocks noGrp="1"/>
              </p:cNvSpPr>
              <p:nvPr>
                <p:ph idx="1"/>
              </p:nvPr>
            </p:nvSpPr>
            <p:spPr/>
            <p:txBody>
              <a:bodyPr>
                <a:normAutofit lnSpcReduction="10000"/>
              </a:bodyPr>
              <a:lstStyle/>
              <a:p>
                <a:r>
                  <a:rPr lang="es-ES" dirty="0"/>
                  <a:t>Un </a:t>
                </a:r>
                <a:r>
                  <a:rPr lang="es-ES" dirty="0" err="1"/>
                  <a:t>modelo</a:t>
                </a:r>
                <a:r>
                  <a:rPr lang="es-ES" dirty="0"/>
                  <a:t> de </a:t>
                </a:r>
                <a:r>
                  <a:rPr lang="es-ES" dirty="0" err="1"/>
                  <a:t>regresión</a:t>
                </a:r>
                <a:r>
                  <a:rPr lang="es-ES" dirty="0"/>
                  <a:t> lineal </a:t>
                </a:r>
                <a:r>
                  <a:rPr lang="es-ES" dirty="0" err="1"/>
                  <a:t>múltiple</a:t>
                </a:r>
                <a:r>
                  <a:rPr lang="es-ES" dirty="0"/>
                  <a:t> relaciona </a:t>
                </a:r>
                <a:r>
                  <a:rPr lang="es-ES" dirty="0" err="1"/>
                  <a:t>una</a:t>
                </a:r>
                <a:r>
                  <a:rPr lang="es-ES" dirty="0"/>
                  <a:t> variable </a:t>
                </a:r>
                <a:r>
                  <a:rPr lang="es-ES" dirty="0" err="1"/>
                  <a:t>respuesta</a:t>
                </a:r>
                <a:r>
                  <a:rPr lang="es-ES" dirty="0"/>
                  <a:t> Y con var</a:t>
                </a:r>
                <a:r>
                  <a:rPr lang="es-ES" dirty="0" err="1"/>
                  <a:t>ios</a:t>
                </a:r>
                <a:r>
                  <a:rPr lang="es-ES" dirty="0"/>
                  <a:t> predictores </a:t>
                </a:r>
                <a14:m>
                  <m:oMath xmlns:m="http://schemas.openxmlformats.org/officeDocument/2006/math">
                    <m:sSup>
                      <m:sSupPr>
                        <m:ctrlPr>
                          <a:rPr lang="ar-AE" i="1" smtClean="0">
                            <a:latin typeface="Cambria Math" panose="02040503050406030204" pitchFamily="18" charset="0"/>
                          </a:rPr>
                        </m:ctrlPr>
                      </m:sSupPr>
                      <m:e>
                        <m:r>
                          <a:rPr lang="ar-AE" i="1">
                            <a:latin typeface="Cambria Math" panose="02040503050406030204" pitchFamily="18" charset="0"/>
                          </a:rPr>
                          <m:t>𝑋</m:t>
                        </m:r>
                      </m:e>
                      <m:sup>
                        <m:d>
                          <m:dPr>
                            <m:ctrlPr>
                              <a:rPr lang="ar-AE" i="1">
                                <a:latin typeface="Cambria Math" panose="02040503050406030204" pitchFamily="18" charset="0"/>
                              </a:rPr>
                            </m:ctrlPr>
                          </m:dPr>
                          <m:e>
                            <m:r>
                              <a:rPr lang="ar-AE" i="1">
                                <a:latin typeface="Cambria Math" panose="02040503050406030204" pitchFamily="18" charset="0"/>
                              </a:rPr>
                              <m:t>1</m:t>
                            </m:r>
                          </m:e>
                        </m:d>
                      </m:sup>
                    </m:sSup>
                    <m:r>
                      <a:rPr lang="ar-AE" i="1">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𝑋</m:t>
                        </m:r>
                      </m:e>
                      <m:sup>
                        <m:d>
                          <m:dPr>
                            <m:ctrlPr>
                              <a:rPr lang="ar-AE" i="1">
                                <a:latin typeface="Cambria Math" panose="02040503050406030204" pitchFamily="18" charset="0"/>
                              </a:rPr>
                            </m:ctrlPr>
                          </m:dPr>
                          <m:e>
                            <m:r>
                              <a:rPr lang="es-ES" b="0" i="1" smtClean="0">
                                <a:latin typeface="Cambria Math" panose="02040503050406030204" pitchFamily="18" charset="0"/>
                              </a:rPr>
                              <m:t>2</m:t>
                            </m:r>
                          </m:e>
                        </m:d>
                      </m:sup>
                    </m:sSup>
                    <m:r>
                      <a:rPr lang="es-ES" b="0" i="1" smtClean="0">
                        <a:latin typeface="Cambria Math" panose="02040503050406030204" pitchFamily="18" charset="0"/>
                      </a:rPr>
                      <m:t>,</m:t>
                    </m:r>
                    <m:r>
                      <a:rPr lang="ar-AE" i="1">
                        <a:latin typeface="Cambria Math" panose="02040503050406030204" pitchFamily="18" charset="0"/>
                      </a:rPr>
                      <m:t>…, </m:t>
                    </m:r>
                    <m:sSup>
                      <m:sSupPr>
                        <m:ctrlPr>
                          <a:rPr lang="ar-AE" i="1">
                            <a:latin typeface="Cambria Math" panose="02040503050406030204" pitchFamily="18" charset="0"/>
                          </a:rPr>
                        </m:ctrlPr>
                      </m:sSupPr>
                      <m:e>
                        <m:r>
                          <a:rPr lang="ar-AE" i="1">
                            <a:latin typeface="Cambria Math" panose="02040503050406030204" pitchFamily="18" charset="0"/>
                          </a:rPr>
                          <m:t>𝑋</m:t>
                        </m:r>
                      </m:e>
                      <m:sup>
                        <m:r>
                          <a:rPr lang="ar-AE" i="1">
                            <a:latin typeface="Cambria Math" panose="02040503050406030204" pitchFamily="18" charset="0"/>
                          </a:rPr>
                          <m:t>(</m:t>
                        </m:r>
                        <m:r>
                          <a:rPr lang="ar-AE" i="1">
                            <a:latin typeface="Cambria Math" panose="02040503050406030204" pitchFamily="18" charset="0"/>
                          </a:rPr>
                          <m:t>𝑘</m:t>
                        </m:r>
                        <m:r>
                          <a:rPr lang="ar-AE" i="1">
                            <a:latin typeface="Cambria Math" panose="02040503050406030204" pitchFamily="18" charset="0"/>
                          </a:rPr>
                          <m:t>)</m:t>
                        </m:r>
                      </m:sup>
                    </m:sSup>
                  </m:oMath>
                </a14:m>
                <a:r>
                  <a:rPr lang="ar-AE" dirty="0"/>
                  <a:t>.</a:t>
                </a:r>
              </a:p>
              <a:p>
                <a:pPr lvl="1"/>
                <a14:m>
                  <m:oMath xmlns:m="http://schemas.openxmlformats.org/officeDocument/2006/math">
                    <m:acc>
                      <m:accPr>
                        <m:chr m:val="̂"/>
                        <m:ctrlPr>
                          <a:rPr lang="ar-AE" b="0" i="1" smtClean="0">
                            <a:latin typeface="Cambria Math" panose="02040503050406030204" pitchFamily="18" charset="0"/>
                          </a:rPr>
                        </m:ctrlPr>
                      </m:accPr>
                      <m:e>
                        <m:r>
                          <a:rPr lang="es-ES" b="0" i="1" smtClean="0">
                            <a:latin typeface="Cambria Math" panose="02040503050406030204" pitchFamily="18" charset="0"/>
                          </a:rPr>
                          <m:t>𝑦</m:t>
                        </m:r>
                      </m:e>
                    </m:acc>
                    <m:r>
                      <a:rPr lang="es-ES" b="0" i="1" smtClean="0">
                        <a:latin typeface="Cambria Math" panose="02040503050406030204" pitchFamily="18" charset="0"/>
                      </a:rPr>
                      <m:t>=</m:t>
                    </m:r>
                    <m:acc>
                      <m:accPr>
                        <m:chr m:val="̂"/>
                        <m:ctrlPr>
                          <a:rPr lang="ar-AE" b="0" i="1" smtClean="0">
                            <a:latin typeface="Cambria Math" panose="02040503050406030204" pitchFamily="18" charset="0"/>
                          </a:rPr>
                        </m:ctrlPr>
                      </m:accPr>
                      <m:e>
                        <m:r>
                          <a:rPr lang="ar-AE" b="0" i="1" smtClean="0">
                            <a:latin typeface="Cambria Math" panose="02040503050406030204" pitchFamily="18" charset="0"/>
                          </a:rPr>
                          <m:t>𝐺</m:t>
                        </m:r>
                      </m:e>
                    </m:acc>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sSub>
                      <m:sSubPr>
                        <m:ctrlPr>
                          <a:rPr lang="ar-AE" b="0" i="1" smtClean="0">
                            <a:latin typeface="Cambria Math" panose="02040503050406030204" pitchFamily="18" charset="0"/>
                          </a:rPr>
                        </m:ctrlPr>
                      </m:sSubPr>
                      <m:e>
                        <m:r>
                          <a:rPr lang="ar-AE" b="0" i="1" smtClean="0">
                            <a:latin typeface="Cambria Math" panose="02040503050406030204" pitchFamily="18" charset="0"/>
                          </a:rPr>
                          <m:t>𝑏</m:t>
                        </m:r>
                      </m:e>
                      <m:sub>
                        <m:r>
                          <a:rPr lang="ar-AE" b="0" i="1" smtClean="0">
                            <a:latin typeface="Cambria Math" panose="02040503050406030204" pitchFamily="18" charset="0"/>
                          </a:rPr>
                          <m:t>0</m:t>
                        </m:r>
                      </m:sub>
                    </m:sSub>
                    <m:r>
                      <a:rPr lang="ar-AE" b="0" i="1" smtClean="0">
                        <a:latin typeface="Cambria Math" panose="02040503050406030204" pitchFamily="18" charset="0"/>
                      </a:rPr>
                      <m:t>+</m:t>
                    </m:r>
                    <m:sSub>
                      <m:sSubPr>
                        <m:ctrlPr>
                          <a:rPr lang="ar-AE" b="0" i="1" smtClean="0">
                            <a:latin typeface="Cambria Math" panose="02040503050406030204" pitchFamily="18" charset="0"/>
                          </a:rPr>
                        </m:ctrlPr>
                      </m:sSubPr>
                      <m:e>
                        <m:r>
                          <a:rPr lang="ar-AE" b="0" i="1" smtClean="0">
                            <a:latin typeface="Cambria Math" panose="02040503050406030204" pitchFamily="18" charset="0"/>
                          </a:rPr>
                          <m:t>𝑏</m:t>
                        </m:r>
                      </m:e>
                      <m:sub>
                        <m:r>
                          <a:rPr lang="ar-AE" b="0" i="1" smtClean="0">
                            <a:latin typeface="Cambria Math" panose="02040503050406030204" pitchFamily="18" charset="0"/>
                          </a:rPr>
                          <m:t>1</m:t>
                        </m:r>
                      </m:sub>
                    </m:sSub>
                    <m:sSup>
                      <m:sSupPr>
                        <m:ctrlPr>
                          <a:rPr lang="ar-AE" b="0" i="1" smtClean="0">
                            <a:latin typeface="Cambria Math" panose="02040503050406030204" pitchFamily="18" charset="0"/>
                          </a:rPr>
                        </m:ctrlPr>
                      </m:sSupPr>
                      <m:e>
                        <m:r>
                          <a:rPr lang="ar-AE" b="0" i="1" smtClean="0">
                            <a:latin typeface="Cambria Math" panose="02040503050406030204" pitchFamily="18" charset="0"/>
                          </a:rPr>
                          <m:t>𝑥</m:t>
                        </m:r>
                      </m:e>
                      <m:sup>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sup>
                    </m:sSup>
                    <m:r>
                      <a:rPr lang="ar-AE" b="0" i="1" smtClean="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b="0" i="1" smtClean="0">
                            <a:latin typeface="Cambria Math" panose="02040503050406030204" pitchFamily="18" charset="0"/>
                          </a:rPr>
                          <m:t>2</m:t>
                        </m:r>
                      </m:sub>
                    </m:sSub>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i="1">
                            <a:latin typeface="Cambria Math" panose="02040503050406030204" pitchFamily="18" charset="0"/>
                          </a:rPr>
                          <m:t>(</m:t>
                        </m:r>
                        <m:r>
                          <a:rPr lang="ar-AE" b="0" i="1" smtClean="0">
                            <a:latin typeface="Cambria Math" panose="02040503050406030204" pitchFamily="18" charset="0"/>
                          </a:rPr>
                          <m:t>2</m:t>
                        </m:r>
                        <m:r>
                          <a:rPr lang="ar-AE" i="1">
                            <a:latin typeface="Cambria Math" panose="02040503050406030204" pitchFamily="18" charset="0"/>
                          </a:rPr>
                          <m:t>)</m:t>
                        </m:r>
                      </m:sup>
                    </m:sSup>
                    <m:r>
                      <a:rPr lang="ar-AE" b="0" i="1" smtClean="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b="0" i="1" smtClean="0">
                            <a:latin typeface="Cambria Math" panose="02040503050406030204" pitchFamily="18" charset="0"/>
                          </a:rPr>
                          <m:t>𝑘</m:t>
                        </m:r>
                      </m:sub>
                    </m:sSub>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i="1">
                            <a:latin typeface="Cambria Math" panose="02040503050406030204" pitchFamily="18" charset="0"/>
                          </a:rPr>
                          <m:t>(</m:t>
                        </m:r>
                        <m:r>
                          <a:rPr lang="ar-AE" b="0" i="1" smtClean="0">
                            <a:latin typeface="Cambria Math" panose="02040503050406030204" pitchFamily="18" charset="0"/>
                          </a:rPr>
                          <m:t>𝑘</m:t>
                        </m:r>
                        <m:r>
                          <a:rPr lang="ar-AE" i="1">
                            <a:latin typeface="Cambria Math" panose="02040503050406030204" pitchFamily="18" charset="0"/>
                          </a:rPr>
                          <m:t>)</m:t>
                        </m:r>
                      </m:sup>
                    </m:sSup>
                  </m:oMath>
                </a14:m>
                <a:endParaRPr lang="ar-AE" dirty="0"/>
              </a:p>
              <a:p>
                <a:r>
                  <a:rPr lang="es-ES" dirty="0"/>
                  <a:t>Como en el caso de la regresión lineal simple, se puede utilizar el método de mínimos cuadrados para calcular </a:t>
                </a:r>
                <a14:m>
                  <m:oMath xmlns:m="http://schemas.openxmlformats.org/officeDocument/2006/math">
                    <m:sSub>
                      <m:sSubPr>
                        <m:ctrlPr>
                          <a:rPr lang="ar-AE" b="0" i="1" smtClean="0">
                            <a:latin typeface="Cambria Math" panose="02040503050406030204" pitchFamily="18" charset="0"/>
                          </a:rPr>
                        </m:ctrlPr>
                      </m:sSubPr>
                      <m:e>
                        <m:r>
                          <a:rPr lang="ar-AE" b="0" i="1" smtClean="0">
                            <a:latin typeface="Cambria Math" panose="02040503050406030204" pitchFamily="18" charset="0"/>
                          </a:rPr>
                          <m:t>𝑏</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es-ES" b="0" i="1" smtClean="0">
                            <a:latin typeface="Cambria Math" panose="02040503050406030204" pitchFamily="18" charset="0"/>
                          </a:rPr>
                          <m:t>2</m:t>
                        </m:r>
                      </m:sub>
                    </m:sSub>
                  </m:oMath>
                </a14:m>
                <a:r>
                  <a:rPr lang="es-ES" dirty="0"/>
                  <a:t>,…,</a:t>
                </a:r>
                <a:r>
                  <a:rPr lang="ar-AE" dirty="0"/>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𝑏</m:t>
                        </m:r>
                      </m:e>
                      <m:sub>
                        <m:r>
                          <a:rPr lang="es-ES" b="0" i="1" smtClean="0">
                            <a:latin typeface="Cambria Math" panose="02040503050406030204" pitchFamily="18" charset="0"/>
                          </a:rPr>
                          <m:t>𝑘</m:t>
                        </m:r>
                      </m:sub>
                    </m:sSub>
                  </m:oMath>
                </a14:m>
                <a:r>
                  <a:rPr lang="es-ES" dirty="0"/>
                  <a:t> y el valor en el origen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𝑏</m:t>
                        </m:r>
                      </m:e>
                      <m:sub>
                        <m:r>
                          <a:rPr lang="es-ES" b="0" i="1" smtClean="0">
                            <a:latin typeface="Cambria Math" panose="02040503050406030204" pitchFamily="18" charset="0"/>
                          </a:rPr>
                          <m:t>0</m:t>
                        </m:r>
                      </m:sub>
                    </m:sSub>
                    <m:r>
                      <a:rPr lang="ar-AE" i="1">
                        <a:latin typeface="Cambria Math" panose="02040503050406030204" pitchFamily="18" charset="0"/>
                      </a:rPr>
                      <m:t> </m:t>
                    </m:r>
                  </m:oMath>
                </a14:m>
                <a:r>
                  <a:rPr lang="es-ES" dirty="0"/>
                  <a:t>que minimice el error o distancia a la función de regresión.</a:t>
                </a:r>
              </a:p>
              <a:p>
                <a:endParaRPr lang="es-ES" dirty="0"/>
              </a:p>
              <a:p>
                <a:r>
                  <a:rPr lang="es-ES" dirty="0"/>
                  <a:t>Nota: Se </a:t>
                </a:r>
                <a:r>
                  <a:rPr lang="es-ES" dirty="0" err="1"/>
                  <a:t>recomienda</a:t>
                </a:r>
                <a:r>
                  <a:rPr lang="es-ES" dirty="0"/>
                  <a:t> leer la </a:t>
                </a:r>
                <a:r>
                  <a:rPr lang="es-ES" dirty="0" err="1"/>
                  <a:t>sección</a:t>
                </a:r>
                <a:r>
                  <a:rPr lang="es-ES" dirty="0"/>
                  <a:t> 11.3 del </a:t>
                </a:r>
                <a:r>
                  <a:rPr lang="es-ES" dirty="0" err="1"/>
                  <a:t>libro</a:t>
                </a:r>
                <a:r>
                  <a:rPr lang="es-ES" dirty="0"/>
                  <a:t> de </a:t>
                </a:r>
                <a:r>
                  <a:rPr lang="es-ES" dirty="0" err="1"/>
                  <a:t>referencia</a:t>
                </a:r>
                <a:r>
                  <a:rPr lang="es-ES" dirty="0"/>
                  <a:t>, y también el </a:t>
                </a:r>
                <a:r>
                  <a:rPr lang="es-ES" dirty="0" err="1"/>
                  <a:t>capítulo</a:t>
                </a:r>
                <a:r>
                  <a:rPr lang="es-ES" dirty="0"/>
                  <a:t> 12 del </a:t>
                </a:r>
                <a:r>
                  <a:rPr lang="es-ES" dirty="0" err="1"/>
                  <a:t>libro</a:t>
                </a:r>
                <a:r>
                  <a:rPr lang="es-ES" dirty="0"/>
                  <a:t> </a:t>
                </a:r>
                <a:r>
                  <a:rPr lang="es-ES" dirty="0">
                    <a:hlinkClick r:id="rId2"/>
                  </a:rPr>
                  <a:t>Estadística a</a:t>
                </a:r>
                <a:r>
                  <a:rPr lang="es-ES" dirty="0" err="1">
                    <a:hlinkClick r:id="rId2"/>
                  </a:rPr>
                  <a:t>plicada</a:t>
                </a:r>
                <a:r>
                  <a:rPr lang="es-ES" dirty="0">
                    <a:hlinkClick r:id="rId2"/>
                  </a:rPr>
                  <a:t> y </a:t>
                </a:r>
                <a:r>
                  <a:rPr lang="es-ES" dirty="0" err="1">
                    <a:hlinkClick r:id="rId2"/>
                  </a:rPr>
                  <a:t>probabilidad</a:t>
                </a:r>
                <a:r>
                  <a:rPr lang="es-ES" dirty="0">
                    <a:hlinkClick r:id="rId2"/>
                  </a:rPr>
                  <a:t> para </a:t>
                </a:r>
                <a:r>
                  <a:rPr lang="es-ES" dirty="0" err="1">
                    <a:hlinkClick r:id="rId2"/>
                  </a:rPr>
                  <a:t>ingenieros</a:t>
                </a:r>
                <a:r>
                  <a:rPr lang="es-ES" dirty="0"/>
                  <a:t>, 5ª </a:t>
                </a:r>
                <a:r>
                  <a:rPr lang="es-ES" dirty="0" err="1"/>
                  <a:t>edición</a:t>
                </a:r>
                <a:r>
                  <a:rPr lang="es-ES" dirty="0"/>
                  <a:t>, de G. </a:t>
                </a:r>
                <a:r>
                  <a:rPr lang="es-ES" dirty="0" err="1"/>
                  <a:t>Runger</a:t>
                </a:r>
                <a:r>
                  <a:rPr lang="es-ES" dirty="0"/>
                  <a:t> y D. Montgomery</a:t>
                </a:r>
              </a:p>
              <a:p>
                <a:pPr lvl="1"/>
                <a:endParaRPr lang="es-ES" dirty="0"/>
              </a:p>
              <a:p>
                <a:endParaRPr lang="es-ES" dirty="0"/>
              </a:p>
              <a:p>
                <a:endParaRPr lang="es-ES" dirty="0"/>
              </a:p>
              <a:p>
                <a:endParaRPr dirty="0"/>
              </a:p>
            </p:txBody>
          </p:sp>
        </mc:Choice>
        <mc:Fallback xmlns="">
          <p:sp>
            <p:nvSpPr>
              <p:cNvPr id="3" name="Marcador de contenido 2">
                <a:extLst>
                  <a:ext uri="{FF2B5EF4-FFF2-40B4-BE49-F238E27FC236}">
                    <a16:creationId xmlns:a16="http://schemas.microsoft.com/office/drawing/2014/main" id="{CC088E9A-3FE8-7503-9A5C-640A405A7AE2}"/>
                  </a:ext>
                </a:extLst>
              </p:cNvPr>
              <p:cNvSpPr>
                <a:spLocks noGrp="1" noRot="1" noChangeAspect="1" noMove="1" noResize="1" noEditPoints="1" noAdjustHandles="1" noChangeArrowheads="1" noChangeShapeType="1" noTextEdit="1"/>
              </p:cNvSpPr>
              <p:nvPr>
                <p:ph idx="1"/>
              </p:nvPr>
            </p:nvSpPr>
            <p:spPr>
              <a:blipFill>
                <a:blip r:embed="rId3"/>
                <a:stretch>
                  <a:fillRect l="-1043" t="-3081" r="-986" b="-336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6AC2334D-EC5D-D0DC-8389-EC7E8BD6D627}"/>
              </a:ext>
            </a:extLst>
          </p:cNvPr>
          <p:cNvSpPr>
            <a:spLocks noGrp="1"/>
          </p:cNvSpPr>
          <p:nvPr>
            <p:ph type="sldNum" sz="quarter" idx="12"/>
          </p:nvPr>
        </p:nvSpPr>
        <p:spPr/>
        <p:txBody>
          <a:bodyPr/>
          <a:lstStyle/>
          <a:p>
            <a:fld id="{336CAFD0-1F6E-4E11-9822-836563A02839}" type="slidenum">
              <a:rPr lang="es-ES" smtClean="0"/>
              <a:t>30</a:t>
            </a:fld>
            <a:endParaRPr lang="es-ES"/>
          </a:p>
        </p:txBody>
      </p:sp>
    </p:spTree>
    <p:extLst>
      <p:ext uri="{BB962C8B-B14F-4D97-AF65-F5344CB8AC3E}">
        <p14:creationId xmlns:p14="http://schemas.microsoft.com/office/powerpoint/2010/main" val="3450402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A7965B-5291-679F-D77A-E98F56C1C240}"/>
              </a:ext>
            </a:extLst>
          </p:cNvPr>
          <p:cNvSpPr>
            <a:spLocks noGrp="1"/>
          </p:cNvSpPr>
          <p:nvPr>
            <p:ph type="title"/>
          </p:nvPr>
        </p:nvSpPr>
        <p:spPr/>
        <p:txBody>
          <a:bodyPr>
            <a:normAutofit/>
          </a:bodyPr>
          <a:lstStyle/>
          <a:p>
            <a:r>
              <a:rPr lang="es-ES" dirty="0"/>
              <a:t>6. Regresión lineal múltiple </a:t>
            </a:r>
            <a:br>
              <a:rPr lang="es-ES" dirty="0"/>
            </a:br>
            <a:r>
              <a:rPr lang="es-ES" dirty="0"/>
              <a:t>Ejemplos de la vida real (Artículos)</a:t>
            </a:r>
          </a:p>
        </p:txBody>
      </p:sp>
      <p:sp>
        <p:nvSpPr>
          <p:cNvPr id="3" name="Marcador de contenido 2">
            <a:extLst>
              <a:ext uri="{FF2B5EF4-FFF2-40B4-BE49-F238E27FC236}">
                <a16:creationId xmlns:a16="http://schemas.microsoft.com/office/drawing/2014/main" id="{168BBA23-82CF-F068-9278-1A4731ADE51C}"/>
              </a:ext>
            </a:extLst>
          </p:cNvPr>
          <p:cNvSpPr>
            <a:spLocks noGrp="1"/>
          </p:cNvSpPr>
          <p:nvPr>
            <p:ph idx="1"/>
          </p:nvPr>
        </p:nvSpPr>
        <p:spPr/>
        <p:txBody>
          <a:bodyPr>
            <a:normAutofit fontScale="85000" lnSpcReduction="10000"/>
          </a:bodyPr>
          <a:lstStyle/>
          <a:p>
            <a:r>
              <a:rPr lang="en-US" dirty="0"/>
              <a:t>Ingeniería del software:</a:t>
            </a:r>
          </a:p>
          <a:p>
            <a:pPr lvl="1"/>
            <a:r>
              <a:rPr lang="en-US" dirty="0"/>
              <a:t>Sharma, A., et al. (2020). </a:t>
            </a:r>
            <a:r>
              <a:rPr lang="en-US" dirty="0">
                <a:hlinkClick r:id="rId2"/>
              </a:rPr>
              <a:t>Linear regression model for agile software development effort estimation</a:t>
            </a:r>
            <a:r>
              <a:rPr lang="en-US" dirty="0"/>
              <a:t>. In 2020 5th IEEE International Conference on Recent Advances and Innovations in Engineering (ICRAIE) (pp. 1-4). IEEE.</a:t>
            </a:r>
          </a:p>
          <a:p>
            <a:r>
              <a:rPr lang="es-ES" dirty="0"/>
              <a:t>Ingeniería civil:</a:t>
            </a:r>
          </a:p>
          <a:p>
            <a:pPr lvl="1"/>
            <a:r>
              <a:rPr lang="en-US" dirty="0" err="1"/>
              <a:t>Plebankiewicz</a:t>
            </a:r>
            <a:r>
              <a:rPr lang="en-US" dirty="0"/>
              <a:t>, E., et al. (2023). </a:t>
            </a:r>
            <a:r>
              <a:rPr lang="en-US" dirty="0">
                <a:hlinkClick r:id="rId3"/>
              </a:rPr>
              <a:t>Analysis and Prediction of Universities’ Buildings’ Renovation Costs Using a Regression Model</a:t>
            </a:r>
            <a:r>
              <a:rPr lang="en-US" dirty="0"/>
              <a:t>. Applied Sciences, 13(1), 401.</a:t>
            </a:r>
          </a:p>
          <a:p>
            <a:r>
              <a:rPr lang="es-ES" dirty="0"/>
              <a:t>Marketing:</a:t>
            </a:r>
          </a:p>
          <a:p>
            <a:pPr lvl="1"/>
            <a:r>
              <a:rPr lang="en-US" dirty="0" err="1"/>
              <a:t>Dewi</a:t>
            </a:r>
            <a:r>
              <a:rPr lang="en-US" dirty="0"/>
              <a:t>, I., et al. (2023). </a:t>
            </a:r>
            <a:r>
              <a:rPr lang="en-US" dirty="0">
                <a:hlinkClick r:id="rId4"/>
              </a:rPr>
              <a:t>The Factors That Influence TikTok Popularity As A Digital Marketing Technique To Grow Customer Engagement</a:t>
            </a:r>
            <a:r>
              <a:rPr lang="en-US" dirty="0"/>
              <a:t>. International Journal of Economics, Business and Innovation Research, 2(02), 103-111.</a:t>
            </a:r>
          </a:p>
          <a:p>
            <a:r>
              <a:rPr lang="en-US" dirty="0" err="1"/>
              <a:t>Agricultura</a:t>
            </a:r>
            <a:r>
              <a:rPr lang="en-US" dirty="0"/>
              <a:t>:</a:t>
            </a:r>
          </a:p>
          <a:p>
            <a:pPr lvl="1"/>
            <a:r>
              <a:rPr lang="en-US" dirty="0"/>
              <a:t>Han, X., et al. (2023). </a:t>
            </a:r>
            <a:r>
              <a:rPr lang="en-US" dirty="0">
                <a:hlinkClick r:id="rId5"/>
              </a:rPr>
              <a:t>Effects of Meteorological Factors on Apple Yield Based on Multilinear Regression Analysis: A Case Study of Yantai Area</a:t>
            </a:r>
            <a:r>
              <a:rPr lang="en-US" dirty="0"/>
              <a:t>, China. Atmosphere, 14(1), 183.</a:t>
            </a:r>
          </a:p>
          <a:p>
            <a:endParaRPr lang="en-US" dirty="0"/>
          </a:p>
          <a:p>
            <a:endParaRPr lang="en-US" dirty="0"/>
          </a:p>
          <a:p>
            <a:endParaRPr lang="en-US" dirty="0"/>
          </a:p>
          <a:p>
            <a:endParaRPr lang="en-US" dirty="0"/>
          </a:p>
          <a:p>
            <a:endParaRPr lang="en-US" dirty="0"/>
          </a:p>
          <a:p>
            <a:endParaRPr lang="es-ES" dirty="0"/>
          </a:p>
        </p:txBody>
      </p:sp>
      <p:sp>
        <p:nvSpPr>
          <p:cNvPr id="4" name="Marcador de número de diapositiva 3">
            <a:extLst>
              <a:ext uri="{FF2B5EF4-FFF2-40B4-BE49-F238E27FC236}">
                <a16:creationId xmlns:a16="http://schemas.microsoft.com/office/drawing/2014/main" id="{4BDCB2A7-B795-8150-C79D-8EAC22230770}"/>
              </a:ext>
            </a:extLst>
          </p:cNvPr>
          <p:cNvSpPr>
            <a:spLocks noGrp="1"/>
          </p:cNvSpPr>
          <p:nvPr>
            <p:ph type="sldNum" sz="quarter" idx="12"/>
          </p:nvPr>
        </p:nvSpPr>
        <p:spPr/>
        <p:txBody>
          <a:bodyPr/>
          <a:lstStyle/>
          <a:p>
            <a:fld id="{336CAFD0-1F6E-4E11-9822-836563A02839}" type="slidenum">
              <a:rPr lang="es-ES" smtClean="0"/>
              <a:pPr/>
              <a:t>31</a:t>
            </a:fld>
            <a:endParaRPr lang="es-ES" dirty="0"/>
          </a:p>
        </p:txBody>
      </p:sp>
    </p:spTree>
    <p:extLst>
      <p:ext uri="{BB962C8B-B14F-4D97-AF65-F5344CB8AC3E}">
        <p14:creationId xmlns:p14="http://schemas.microsoft.com/office/powerpoint/2010/main" val="9235695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C31602-0173-86DB-1B87-31E0298D1528}"/>
              </a:ext>
            </a:extLst>
          </p:cNvPr>
          <p:cNvSpPr>
            <a:spLocks noGrp="1"/>
          </p:cNvSpPr>
          <p:nvPr>
            <p:ph type="title"/>
          </p:nvPr>
        </p:nvSpPr>
        <p:spPr/>
        <p:txBody>
          <a:bodyPr/>
          <a:lstStyle/>
          <a:p>
            <a:r>
              <a:rPr lang="es-ES" dirty="0"/>
              <a:t>7</a:t>
            </a:r>
            <a:r>
              <a:rPr dirty="0"/>
              <a:t>. Resumen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7C24067-56F0-60D2-7DCF-60718F0077D8}"/>
                  </a:ext>
                </a:extLst>
              </p:cNvPr>
              <p:cNvSpPr>
                <a:spLocks noGrp="1"/>
              </p:cNvSpPr>
              <p:nvPr>
                <p:ph idx="1"/>
              </p:nvPr>
            </p:nvSpPr>
            <p:spPr>
              <a:xfrm>
                <a:off x="838200" y="1825624"/>
                <a:ext cx="10515600" cy="4530725"/>
              </a:xfrm>
            </p:spPr>
            <p:txBody>
              <a:bodyPr>
                <a:normAutofit fontScale="85000" lnSpcReduction="20000"/>
              </a:bodyPr>
              <a:lstStyle/>
              <a:p>
                <a:r>
                  <a:rPr lang="es-ES" dirty="0"/>
                  <a:t>Los modelos de regresión proporcionan métodos para estimar relaciones matemáticas entre una o varias variables predictoras y una variable de respuesta</a:t>
                </a:r>
              </a:p>
              <a:p>
                <a:r>
                  <a:rPr lang="es-ES" dirty="0"/>
                  <a:t>Los resultados se utilizan para explicar el comportamiento de la respuesta y para predecir su valor para cualquier nuevo conjunto de predictores</a:t>
                </a:r>
              </a:p>
              <a:p>
                <a:r>
                  <a:rPr lang="es-ES" dirty="0"/>
                  <a:t>El método de mínimos cuadrados se utiliza para estimar los parámetros de regresión</a:t>
                </a:r>
              </a:p>
              <a:p>
                <a:r>
                  <a:rPr lang="es-ES" dirty="0"/>
                  <a:t>El coeficiente de determinación (denominado R-cuadrado o </a:t>
                </a:r>
                <a14:m>
                  <m:oMath xmlns:m="http://schemas.openxmlformats.org/officeDocument/2006/math">
                    <m:sSup>
                      <m:sSupPr>
                        <m:ctrlPr>
                          <a:rPr lang="ar-AE" i="1" smtClean="0">
                            <a:latin typeface="Cambria Math" panose="02040503050406030204" pitchFamily="18" charset="0"/>
                          </a:rPr>
                        </m:ctrlPr>
                      </m:sSupPr>
                      <m:e>
                        <m:r>
                          <a:rPr lang="ar-AE" b="0" i="1" smtClean="0">
                            <a:latin typeface="Cambria Math" panose="02040503050406030204" pitchFamily="18" charset="0"/>
                          </a:rPr>
                          <m:t>𝑅</m:t>
                        </m:r>
                      </m:e>
                      <m:sup>
                        <m:r>
                          <a:rPr lang="ar-AE" b="0" i="1" smtClean="0">
                            <a:latin typeface="Cambria Math" panose="02040503050406030204" pitchFamily="18" charset="0"/>
                          </a:rPr>
                          <m:t>2</m:t>
                        </m:r>
                      </m:sup>
                    </m:sSup>
                    <m:r>
                      <a:rPr lang="ar-AE" b="0" i="1" smtClean="0">
                        <a:latin typeface="Cambria Math" panose="02040503050406030204" pitchFamily="18" charset="0"/>
                      </a:rPr>
                      <m:t>)</m:t>
                    </m:r>
                  </m:oMath>
                </a14:m>
                <a:r>
                  <a:rPr lang="ar-AE" dirty="0"/>
                  <a:t> </a:t>
                </a:r>
                <a:r>
                  <a:rPr lang="es-ES" dirty="0"/>
                  <a:t>indica la calidad del modelo de regresión</a:t>
                </a:r>
              </a:p>
              <a:p>
                <a:pPr lvl="1"/>
                <a:r>
                  <a:rPr lang="es-ES" dirty="0"/>
                  <a:t>En un modelo de regresión línea es el cuadrado del coeficiente de correlación</a:t>
                </a:r>
              </a:p>
              <a:p>
                <a:r>
                  <a:rPr lang="es-ES" dirty="0"/>
                  <a:t>Posibles predicciones</a:t>
                </a:r>
              </a:p>
              <a:p>
                <a:pPr lvl="1"/>
                <a:r>
                  <a:rPr lang="es-ES" dirty="0"/>
                  <a:t>El modelo de regresión obtiene el valor de un estimador de la variable respuesta para un valor de la variable predictora, calculando la esperanza de la variable respuesta para ese valor de la variable predictora.  </a:t>
                </a:r>
              </a:p>
              <a:p>
                <a:pPr lvl="1"/>
                <a:r>
                  <a:rPr lang="es-ES" dirty="0"/>
                  <a:t>Se </a:t>
                </a:r>
                <a:r>
                  <a:rPr lang="es-ES" dirty="0" err="1"/>
                  <a:t>pueden</a:t>
                </a:r>
                <a:r>
                  <a:rPr lang="es-ES" dirty="0"/>
                  <a:t> calcular </a:t>
                </a:r>
                <a:r>
                  <a:rPr lang="es-ES" dirty="0" err="1"/>
                  <a:t>intervalos</a:t>
                </a:r>
                <a:r>
                  <a:rPr lang="es-ES" dirty="0"/>
                  <a:t> de </a:t>
                </a:r>
                <a:r>
                  <a:rPr lang="es-ES" dirty="0" err="1"/>
                  <a:t>confianza</a:t>
                </a:r>
                <a:r>
                  <a:rPr lang="es-ES" dirty="0"/>
                  <a:t> para el valor de la variable respuesta para un valor de la variable predictora</a:t>
                </a:r>
              </a:p>
            </p:txBody>
          </p:sp>
        </mc:Choice>
        <mc:Fallback xmlns="">
          <p:sp>
            <p:nvSpPr>
              <p:cNvPr id="3" name="Marcador de contenido 2">
                <a:extLst>
                  <a:ext uri="{FF2B5EF4-FFF2-40B4-BE49-F238E27FC236}">
                    <a16:creationId xmlns:a16="http://schemas.microsoft.com/office/drawing/2014/main" id="{C7C24067-56F0-60D2-7DCF-60718F0077D8}"/>
                  </a:ext>
                </a:extLst>
              </p:cNvPr>
              <p:cNvSpPr>
                <a:spLocks noGrp="1" noRot="1" noChangeAspect="1" noMove="1" noResize="1" noEditPoints="1" noAdjustHandles="1" noChangeArrowheads="1" noChangeShapeType="1" noTextEdit="1"/>
              </p:cNvSpPr>
              <p:nvPr>
                <p:ph idx="1"/>
              </p:nvPr>
            </p:nvSpPr>
            <p:spPr>
              <a:xfrm>
                <a:off x="838200" y="1825624"/>
                <a:ext cx="10515600" cy="4530725"/>
              </a:xfrm>
              <a:blipFill>
                <a:blip r:embed="rId4"/>
                <a:stretch>
                  <a:fillRect l="-812" t="-3091" r="-1043"/>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F88EA456-A29C-8A97-B441-9F7D407B7C25}"/>
              </a:ext>
            </a:extLst>
          </p:cNvPr>
          <p:cNvSpPr>
            <a:spLocks noGrp="1"/>
          </p:cNvSpPr>
          <p:nvPr>
            <p:ph type="sldNum" sz="quarter" idx="12"/>
          </p:nvPr>
        </p:nvSpPr>
        <p:spPr/>
        <p:txBody>
          <a:bodyPr/>
          <a:lstStyle/>
          <a:p>
            <a:fld id="{336CAFD0-1F6E-4E11-9822-836563A02839}" type="slidenum">
              <a:rPr lang="es-ES" smtClean="0"/>
              <a:t>32</a:t>
            </a:fld>
            <a:endParaRPr lang="es-ES"/>
          </a:p>
        </p:txBody>
      </p:sp>
    </p:spTree>
    <p:extLst>
      <p:ext uri="{BB962C8B-B14F-4D97-AF65-F5344CB8AC3E}">
        <p14:creationId xmlns:p14="http://schemas.microsoft.com/office/powerpoint/2010/main" val="740572736"/>
      </p:ext>
    </p:extLst>
  </p:cSld>
  <p:clrMapOvr>
    <a:masterClrMapping/>
  </p:clrMapOvr>
  <mc:AlternateContent xmlns:mc="http://schemas.openxmlformats.org/markup-compatibility/2006" xmlns:p14="http://schemas.microsoft.com/office/powerpoint/2010/main">
    <mc:Choice Requires="p14">
      <p:transition spd="slow" p14:dur="2000" advTm="159743"/>
    </mc:Choice>
    <mc:Fallback xmlns="">
      <p:transition spd="slow" advTm="159743"/>
    </mc:Fallback>
  </mc:AlternateContent>
</p:sld>
</file>

<file path=ppt/theme/theme1.xml><?xml version="1.0" encoding="utf-8"?>
<a:theme xmlns:a="http://schemas.openxmlformats.org/drawingml/2006/main" name="Tema de Office">
  <a:themeElements>
    <a:clrScheme name="Personalizado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4216</TotalTime>
  <Words>3265</Words>
  <Application>Microsoft Office PowerPoint</Application>
  <PresentationFormat>Panorámica</PresentationFormat>
  <Paragraphs>368</Paragraphs>
  <Slides>32</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32</vt:i4>
      </vt:variant>
    </vt:vector>
  </HeadingPairs>
  <TitlesOfParts>
    <vt:vector size="38" baseType="lpstr">
      <vt:lpstr>Arial</vt:lpstr>
      <vt:lpstr>Calibri</vt:lpstr>
      <vt:lpstr>Calibri Light</vt:lpstr>
      <vt:lpstr>Cambria Math</vt:lpstr>
      <vt:lpstr>Wingdings</vt:lpstr>
      <vt:lpstr>Tema de Office</vt:lpstr>
      <vt:lpstr>Correlación y regresión</vt:lpstr>
      <vt:lpstr>Contenido</vt:lpstr>
      <vt:lpstr>1. Objetivos</vt:lpstr>
      <vt:lpstr>2. Introducción</vt:lpstr>
      <vt:lpstr>2. Introducción Utilidad</vt:lpstr>
      <vt:lpstr>2. Introducción Definiciones</vt:lpstr>
      <vt:lpstr>3. Coeficiente de correlación (de Pearson)</vt:lpstr>
      <vt:lpstr>3. Coeficiente de correlación (de Pearson) Cálculo del coeficiente de correlación muestral</vt:lpstr>
      <vt:lpstr>4. Modelo de regresión</vt:lpstr>
      <vt:lpstr>4. Modelo de regresión Ejemplo 11.1 (Población mundial)</vt:lpstr>
      <vt:lpstr>4. Modelo de regresión Ejemplo 11.2 (Precios de viviendas)</vt:lpstr>
      <vt:lpstr>4. Modelo de regresión Regresión múltiple</vt:lpstr>
      <vt:lpstr>5. Regresión lineal simple</vt:lpstr>
      <vt:lpstr>5. Regresión lineal simple Método de mínimos cuadrados</vt:lpstr>
      <vt:lpstr>5. Regresión lineal simple Estimación de la variable respuesta</vt:lpstr>
      <vt:lpstr>5. Regresión lineal simple Estimación usando el coeficiente de correlación</vt:lpstr>
      <vt:lpstr>5. Regresión lineal simple Ejemplo 11.3 (Población mundial)</vt:lpstr>
      <vt:lpstr>5. Regresión lineal simple Ejemplo 11.3 (Solución)</vt:lpstr>
      <vt:lpstr>5. Regresión lineal simple Coeficiente de determinación (R-cuadrado)</vt:lpstr>
      <vt:lpstr>5. Regresión lineal simple Intervalo de confianza de una predicción</vt:lpstr>
      <vt:lpstr>5. Regresión lineal simple Intervalo de confianza de una predicción (cálculo)</vt:lpstr>
      <vt:lpstr>5. Regresión lineal simple Intervalo de confianza (Ejemplo 11.7)</vt:lpstr>
      <vt:lpstr>5. Regresión lineal simple Intervalo de confianza (Ejemplo 11.7)(Solución)</vt:lpstr>
      <vt:lpstr>5. Regresión lineal simple Intervalo de confianza (Ejemplo 11.7)(Solución)</vt:lpstr>
      <vt:lpstr>5. Regresión lineal simple Intervalo de confianza (Ejemplo 11.7)(Solución)(II)</vt:lpstr>
      <vt:lpstr>5. Regresión lineal simple Intervalo de confianza (Ejemplo 11.7)(Solución)(II)</vt:lpstr>
      <vt:lpstr>5. Regresión lineal simple Intervalo de confianza (Ejemplo 11.7)(Solución)(III)</vt:lpstr>
      <vt:lpstr>5. Regresión lineal simple Ejemplos de la vida real (Artículos)</vt:lpstr>
      <vt:lpstr>5. Regresión lineal simple Ejercicios propuestos</vt:lpstr>
      <vt:lpstr>6. Regresión lineal múltiple </vt:lpstr>
      <vt:lpstr>6. Regresión lineal múltiple  Ejemplos de la vida real (Artículos)</vt:lpstr>
      <vt:lpstr>7. Resumen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Correlación y regresión</dc:title>
  <dc:creator/>
  <cp:lastModifiedBy>jose hilera</cp:lastModifiedBy>
  <cp:revision>118</cp:revision>
  <dcterms:created xsi:type="dcterms:W3CDTF">2022-12-26T19:51:11Z</dcterms:created>
  <dcterms:modified xsi:type="dcterms:W3CDTF">2024-12-03T21:41:06Z</dcterms:modified>
</cp:coreProperties>
</file>