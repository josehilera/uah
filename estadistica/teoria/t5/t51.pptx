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335" r:id="rId2"/>
    <p:sldId id="455" r:id="rId3"/>
    <p:sldId id="407" r:id="rId4"/>
    <p:sldId id="276" r:id="rId5"/>
    <p:sldId id="258" r:id="rId6"/>
    <p:sldId id="260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271" r:id="rId15"/>
    <p:sldId id="343" r:id="rId16"/>
    <p:sldId id="27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286" r:id="rId25"/>
    <p:sldId id="287" r:id="rId26"/>
    <p:sldId id="415" r:id="rId27"/>
    <p:sldId id="416" r:id="rId28"/>
    <p:sldId id="417" r:id="rId29"/>
    <p:sldId id="418" r:id="rId30"/>
    <p:sldId id="419" r:id="rId31"/>
    <p:sldId id="421" r:id="rId32"/>
    <p:sldId id="422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3" r:id="rId42"/>
    <p:sldId id="434" r:id="rId43"/>
    <p:sldId id="435" r:id="rId44"/>
    <p:sldId id="431" r:id="rId45"/>
    <p:sldId id="432" r:id="rId46"/>
    <p:sldId id="436" r:id="rId47"/>
    <p:sldId id="456" r:id="rId48"/>
    <p:sldId id="437" r:id="rId49"/>
    <p:sldId id="438" r:id="rId50"/>
    <p:sldId id="439" r:id="rId51"/>
    <p:sldId id="440" r:id="rId52"/>
    <p:sldId id="441" r:id="rId53"/>
    <p:sldId id="442" r:id="rId54"/>
    <p:sldId id="443" r:id="rId55"/>
    <p:sldId id="444" r:id="rId56"/>
    <p:sldId id="445" r:id="rId57"/>
    <p:sldId id="446" r:id="rId58"/>
    <p:sldId id="447" r:id="rId59"/>
    <p:sldId id="448" r:id="rId60"/>
    <p:sldId id="449" r:id="rId61"/>
    <p:sldId id="450" r:id="rId62"/>
    <p:sldId id="451" r:id="rId63"/>
    <p:sldId id="452" r:id="rId64"/>
    <p:sldId id="453" r:id="rId65"/>
    <p:sldId id="327" r:id="rId6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2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16/11/2023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16/11/2023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16/11/2023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16/11/2023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16/11/2023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16/11/2023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16/11/2023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16/11/2023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16/11/2023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16/11/2023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16/11/2023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16/11/2023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16/11/2023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eilly.com/library-access/?next=/library/view/Probability-and-statistics/9781439875919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0.png"/><Relationship Id="rId7" Type="http://schemas.openxmlformats.org/officeDocument/2006/relationships/image" Target="../media/image3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.png"/><Relationship Id="rId5" Type="http://schemas.openxmlformats.org/officeDocument/2006/relationships/image" Target="../media/image300.png"/><Relationship Id="rId10" Type="http://schemas.openxmlformats.org/officeDocument/2006/relationships/image" Target="../media/image35.png"/><Relationship Id="rId4" Type="http://schemas.openxmlformats.org/officeDocument/2006/relationships/image" Target="../media/image290.png"/><Relationship Id="rId9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estocásticos</a:t>
            </a:r>
            <a:endParaRPr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AD6E3-038F-4B94-A53F-314F15850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Contenidos</a:t>
            </a:r>
            <a:r>
              <a:rPr dirty="0"/>
              <a:t> </a:t>
            </a:r>
            <a:r>
              <a:rPr dirty="0" err="1"/>
              <a:t>adaptados</a:t>
            </a:r>
            <a:r>
              <a:rPr dirty="0"/>
              <a:t> del </a:t>
            </a:r>
            <a:r>
              <a:rPr dirty="0" err="1"/>
              <a:t>libro</a:t>
            </a:r>
            <a:r>
              <a:rPr dirty="0"/>
              <a:t> «</a:t>
            </a:r>
            <a:r>
              <a:rPr dirty="0" err="1">
                <a:hlinkClick r:id="rId2"/>
              </a:rPr>
              <a:t>Probabilidad</a:t>
            </a:r>
            <a:r>
              <a:rPr dirty="0">
                <a:hlinkClick r:id="rId2"/>
              </a:rPr>
              <a:t> y </a:t>
            </a:r>
            <a:r>
              <a:rPr dirty="0" err="1">
                <a:hlinkClick r:id="rId2"/>
              </a:rPr>
              <a:t>estadística</a:t>
            </a:r>
            <a:r>
              <a:rPr dirty="0">
                <a:hlinkClick r:id="rId2"/>
              </a:rPr>
              <a:t> para </a:t>
            </a:r>
            <a:r>
              <a:rPr dirty="0" err="1">
                <a:hlinkClick r:id="rId2"/>
              </a:rPr>
              <a:t>informáticos</a:t>
            </a:r>
            <a:r>
              <a:rPr dirty="0">
                <a:hlinkClick r:id="rId2"/>
              </a:rPr>
              <a:t>, </a:t>
            </a:r>
            <a:r>
              <a:rPr dirty="0" err="1">
                <a:hlinkClick r:id="rId2"/>
              </a:rPr>
              <a:t>segunda</a:t>
            </a:r>
            <a:r>
              <a:rPr dirty="0">
                <a:hlinkClick r:id="rId2"/>
              </a:rPr>
              <a:t> </a:t>
            </a:r>
            <a:r>
              <a:rPr dirty="0" err="1">
                <a:hlinkClick r:id="rId2"/>
              </a:rPr>
              <a:t>edición</a:t>
            </a:r>
            <a:r>
              <a:rPr dirty="0">
                <a:hlinkClick r:id="rId2"/>
              </a:rPr>
              <a:t>, M. Baron</a:t>
            </a:r>
            <a:r>
              <a:rPr dirty="0"/>
              <a:t>» (</a:t>
            </a:r>
            <a:r>
              <a:rPr dirty="0" err="1"/>
              <a:t>Capítulo</a:t>
            </a:r>
            <a:r>
              <a:rPr dirty="0"/>
              <a:t> 6)</a:t>
            </a:r>
          </a:p>
        </p:txBody>
      </p:sp>
    </p:spTree>
    <p:extLst>
      <p:ext uri="{BB962C8B-B14F-4D97-AF65-F5344CB8AC3E}">
        <p14:creationId xmlns:p14="http://schemas.microsoft.com/office/powerpoint/2010/main" val="225679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0BF6A-4F76-40F2-AADF-4A9781E2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641DE-CE43-4099-914E-C8A920DB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Objetivos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Definiciones</a:t>
            </a:r>
            <a:r>
              <a:rPr dirty="0"/>
              <a:t> y </a:t>
            </a:r>
            <a:r>
              <a:rPr dirty="0" err="1"/>
              <a:t>clasificaciones</a:t>
            </a:r>
            <a:endParaRPr dirty="0"/>
          </a:p>
          <a:p>
            <a:pPr marL="457200" lvl="1" indent="0">
              <a:buNone/>
            </a:pPr>
            <a:r>
              <a:rPr lang="es-ES" dirty="0"/>
              <a:t> 2.1 </a:t>
            </a:r>
            <a:r>
              <a:rPr dirty="0" err="1"/>
              <a:t>Definición</a:t>
            </a:r>
            <a:r>
              <a:rPr dirty="0"/>
              <a:t> de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endParaRPr dirty="0"/>
          </a:p>
          <a:p>
            <a:pPr marL="457200" lvl="1" indent="0">
              <a:buNone/>
            </a:pPr>
            <a:r>
              <a:rPr lang="es-ES" dirty="0"/>
              <a:t> 2.2 </a:t>
            </a:r>
            <a:r>
              <a:rPr dirty="0" err="1"/>
              <a:t>Clasificaci</a:t>
            </a:r>
            <a:r>
              <a:rPr lang="es-ES" dirty="0" err="1"/>
              <a:t>ón</a:t>
            </a:r>
            <a:r>
              <a:rPr dirty="0"/>
              <a:t> de los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estocásticos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Procesos</a:t>
            </a:r>
            <a:r>
              <a:rPr dirty="0"/>
              <a:t> de Markov y </a:t>
            </a:r>
            <a:r>
              <a:rPr dirty="0" err="1"/>
              <a:t>cadenas</a:t>
            </a:r>
            <a:r>
              <a:rPr dirty="0"/>
              <a:t> de Markov</a:t>
            </a:r>
          </a:p>
          <a:p>
            <a:pPr marL="457200" lvl="1" indent="0">
              <a:buNone/>
            </a:pPr>
            <a:r>
              <a:rPr lang="es-ES" dirty="0"/>
              <a:t> 3.1 </a:t>
            </a:r>
            <a:r>
              <a:rPr dirty="0" err="1"/>
              <a:t>Cadenas</a:t>
            </a:r>
            <a:r>
              <a:rPr dirty="0"/>
              <a:t> de Markov</a:t>
            </a:r>
          </a:p>
          <a:p>
            <a:pPr marL="457200" lvl="1" indent="0">
              <a:buNone/>
            </a:pPr>
            <a:r>
              <a:rPr lang="es-ES" dirty="0"/>
              <a:t> 3.2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matricial</a:t>
            </a:r>
            <a:endParaRPr dirty="0"/>
          </a:p>
          <a:p>
            <a:pPr marL="457200" lvl="1" indent="0">
              <a:buNone/>
            </a:pPr>
            <a:r>
              <a:rPr lang="es-ES" dirty="0"/>
              <a:t> 3.3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lang="es-ES" dirty="0"/>
              <a:t>e</a:t>
            </a:r>
            <a:r>
              <a:rPr dirty="0" err="1"/>
              <a:t>stacionari</a:t>
            </a:r>
            <a:r>
              <a:rPr lang="es-ES" dirty="0"/>
              <a:t>a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conteo</a:t>
            </a:r>
            <a:endParaRPr dirty="0"/>
          </a:p>
          <a:p>
            <a:pPr marL="457200" lvl="1" indent="0">
              <a:buNone/>
            </a:pPr>
            <a:r>
              <a:rPr lang="es-ES" dirty="0"/>
              <a:t> 4.1 </a:t>
            </a:r>
            <a:r>
              <a:rPr dirty="0" err="1"/>
              <a:t>Proceso</a:t>
            </a:r>
            <a:r>
              <a:rPr dirty="0"/>
              <a:t> binomial</a:t>
            </a:r>
          </a:p>
          <a:p>
            <a:pPr marL="457200" lvl="1" indent="0">
              <a:buNone/>
            </a:pPr>
            <a:r>
              <a:rPr lang="es-ES" dirty="0"/>
              <a:t> 4.2 </a:t>
            </a:r>
            <a:r>
              <a:rPr dirty="0" err="1"/>
              <a:t>Proceso</a:t>
            </a:r>
            <a:r>
              <a:rPr dirty="0"/>
              <a:t> de Poisson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Resumen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184F0A-2B41-D9D8-BF21-77971EAE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2492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88110-C1AC-CF5E-0110-8E2A3FC1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2208F-81FD-3A6A-3B34-7D1B5CF27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Familiarizarse con los conceptos y herramientas para manejar procesos estocásticos (RA5).</a:t>
            </a:r>
          </a:p>
          <a:p>
            <a:r>
              <a:rPr lang="es-ES" dirty="0"/>
              <a:t>Distinguir tipos de procesos estocásticos dependiendo de los instantes de observación y de los resultados observados (RA5). </a:t>
            </a:r>
          </a:p>
          <a:p>
            <a:r>
              <a:rPr lang="es-ES" dirty="0"/>
              <a:t>Conocer las propiedades básicas de las cadenas de </a:t>
            </a:r>
            <a:r>
              <a:rPr lang="es-ES" dirty="0" err="1"/>
              <a:t>Markov</a:t>
            </a:r>
            <a:r>
              <a:rPr lang="es-ES" dirty="0"/>
              <a:t> en tiempo Discreto (RA5).</a:t>
            </a:r>
          </a:p>
          <a:p>
            <a:r>
              <a:rPr lang="es-ES" dirty="0"/>
              <a:t>Clasificar los estados de las cadenas </a:t>
            </a:r>
            <a:r>
              <a:rPr lang="es-ES" dirty="0" err="1"/>
              <a:t>Markov</a:t>
            </a:r>
            <a:r>
              <a:rPr lang="es-ES" dirty="0"/>
              <a:t> (RA5). </a:t>
            </a:r>
          </a:p>
          <a:p>
            <a:r>
              <a:rPr lang="es-ES" dirty="0"/>
              <a:t>Conocer las propiedades y características más relevantes del Proceso de Poisson y de otros procesos en tiempo continuo (RA6).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AD5FBD-D86E-31E4-F426-3B558645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595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2C548-D817-6832-A529-F95FB7CE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Definiciones y clasificaciones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B45E26-A1AA-28A8-DE00-11AE4C74F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2.1 Definición de proceso estocástico</a:t>
            </a:r>
          </a:p>
          <a:p>
            <a:r>
              <a:rPr lang="es-ES" dirty="0"/>
              <a:t>2</a:t>
            </a:r>
            <a:r>
              <a:rPr lang="es-ES"/>
              <a:t>.2 </a:t>
            </a:r>
            <a:r>
              <a:rPr lang="es-ES" dirty="0"/>
              <a:t>Clasificaciones de procesos estocásticos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556083-00E7-701C-BB0C-742687A6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963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C1B36-3157-4B6D-89FC-56D3ACE6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2.1 Definición de </a:t>
            </a:r>
            <a:r>
              <a:rPr lang="es-ES" i="1" dirty="0"/>
              <a:t>proceso estocástico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16F29-FF7B-4D57-9EEC-D13B51D2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Un proceso estocástico es una variable aleatoria que también depende del tiempo.</a:t>
            </a:r>
          </a:p>
          <a:p>
            <a:r>
              <a:rPr lang="es-ES" dirty="0"/>
              <a:t>Por lo tanto, es una función con dos argumentos, </a:t>
            </a:r>
            <a:r>
              <a:rPr lang="en-US" dirty="0"/>
              <a:t>X(t, ω)</a:t>
            </a:r>
            <a:endParaRPr lang="es-ES" dirty="0"/>
          </a:p>
          <a:p>
            <a:pPr lvl="1"/>
            <a:r>
              <a:rPr lang="en-US" dirty="0"/>
              <a:t>t ∈ T </a:t>
            </a:r>
            <a:r>
              <a:rPr lang="es-ES" dirty="0"/>
              <a:t>es el tiempo, siendo T un conjunto de tiempos posibles, normalmente </a:t>
            </a:r>
            <a:r>
              <a:rPr lang="en-US" dirty="0"/>
              <a:t>[0,∞), (−∞,∞), {0, 1, 2, . . .}, o {. . . ,−2,−1, 0, 1, 2, . . .}</a:t>
            </a:r>
            <a:endParaRPr lang="es-ES" dirty="0"/>
          </a:p>
          <a:p>
            <a:pPr lvl="1"/>
            <a:r>
              <a:rPr lang="en-US" dirty="0"/>
              <a:t>ω ∈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es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/>
              <a:t>resultado de un experimento aleatorio,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/>
              <a:t>es todo el espacio muestral.</a:t>
            </a:r>
          </a:p>
          <a:p>
            <a:r>
              <a:rPr lang="en-US" dirty="0"/>
              <a:t>Los </a:t>
            </a:r>
            <a:r>
              <a:rPr lang="en-US" dirty="0" err="1"/>
              <a:t>valores</a:t>
            </a:r>
            <a:r>
              <a:rPr lang="en-US" dirty="0"/>
              <a:t> de X(t, ω) se </a:t>
            </a:r>
            <a:r>
              <a:rPr lang="en-US" dirty="0" err="1"/>
              <a:t>denominan</a:t>
            </a:r>
            <a:r>
              <a:rPr lang="en-US" dirty="0"/>
              <a:t> </a:t>
            </a:r>
            <a:r>
              <a:rPr lang="en-US" dirty="0" err="1"/>
              <a:t>estados</a:t>
            </a:r>
            <a:r>
              <a:rPr lang="en-US" dirty="0"/>
              <a:t>.</a:t>
            </a:r>
          </a:p>
          <a:p>
            <a:r>
              <a:rPr lang="en-US" dirty="0"/>
              <a:t>Por </a:t>
            </a:r>
            <a:r>
              <a:rPr lang="en-US" dirty="0" err="1"/>
              <a:t>simplicidad</a:t>
            </a:r>
            <a:r>
              <a:rPr lang="en-US" dirty="0"/>
              <a:t>, </a:t>
            </a:r>
            <a:r>
              <a:rPr lang="en-US" dirty="0" err="1"/>
              <a:t>normalmente</a:t>
            </a:r>
            <a:r>
              <a:rPr lang="en-US" dirty="0"/>
              <a:t> no </a:t>
            </a:r>
            <a:r>
              <a:rPr lang="en-US" dirty="0" err="1"/>
              <a:t>escribiremos</a:t>
            </a:r>
            <a:r>
              <a:rPr lang="en-US" dirty="0"/>
              <a:t> ω </a:t>
            </a:r>
            <a:r>
              <a:rPr lang="en-US" dirty="0" err="1"/>
              <a:t>como</a:t>
            </a:r>
            <a:r>
              <a:rPr lang="en-US" dirty="0"/>
              <a:t> un </a:t>
            </a:r>
            <a:r>
              <a:rPr lang="en-US" dirty="0" err="1"/>
              <a:t>argumento</a:t>
            </a:r>
            <a:r>
              <a:rPr lang="en-US" dirty="0"/>
              <a:t> de X(t, ω)</a:t>
            </a:r>
          </a:p>
          <a:p>
            <a:pPr lvl="1"/>
            <a:r>
              <a:rPr lang="en-US" dirty="0"/>
              <a:t>X(t, ω) = X(t)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7FE5C3-CCFB-5642-180B-3712A106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190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AADA-D292-451C-9D42-A5DF7B45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2.1 Definición de </a:t>
            </a:r>
            <a:r>
              <a:rPr lang="es-ES" i="1" dirty="0"/>
              <a:t>proceso estocástico</a:t>
            </a:r>
            <a:b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6.1 (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Uso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CPU)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D424D7-030C-4EFA-AE54-3E14B97AD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75518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El uso de la CPU de un ordenador es un proceso estocástico</a:t>
            </a:r>
          </a:p>
          <a:p>
            <a:r>
              <a:rPr lang="es-ES" dirty="0"/>
              <a:t>Observando el uso pasado de la CPU de un ordenador, podemos tener una realización de este proceso hasta el momento actual (Figura 6.1.a)</a:t>
            </a:r>
          </a:p>
          <a:p>
            <a:r>
              <a:rPr lang="es-ES" dirty="0"/>
              <a:t>Sin embargo, el comportamiento futuro del proceso no está claro, es un proceso aleatorio y puede desarrollarse de diferentes maneras o trayectorias (Figura 6.1b)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5512EF-7FDD-48E8-825A-D9DF04B2D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393" y="3836081"/>
            <a:ext cx="6715378" cy="3021920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42B226-1285-75C1-B241-7086CF5F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022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C1B36-3157-4B6D-89FC-56D3ACE6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</a:t>
            </a:r>
            <a:r>
              <a:rPr dirty="0"/>
              <a:t>2 </a:t>
            </a:r>
            <a:r>
              <a:rPr dirty="0" err="1"/>
              <a:t>Clasificaciones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estocásticos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16F29-FF7B-4D57-9EEC-D13B51D2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</a:t>
            </a:r>
            <a:r>
              <a:rPr dirty="0" err="1"/>
              <a:t>estado</a:t>
            </a:r>
            <a:endParaRPr dirty="0"/>
          </a:p>
          <a:p>
            <a:pPr marL="914400" lvl="1" indent="-457200">
              <a:buFont typeface="+mj-lt"/>
              <a:buAutoNum type="alphaLcParenR"/>
            </a:pPr>
            <a:r>
              <a:rPr dirty="0"/>
              <a:t>El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</a:t>
            </a:r>
            <a:r>
              <a:rPr lang="en-US" dirty="0"/>
              <a:t>X(t, ω) </a:t>
            </a:r>
            <a:r>
              <a:rPr dirty="0"/>
              <a:t>es un </a:t>
            </a:r>
            <a:r>
              <a:rPr b="1" dirty="0" err="1"/>
              <a:t>proceso</a:t>
            </a:r>
            <a:r>
              <a:rPr b="1" dirty="0"/>
              <a:t> </a:t>
            </a:r>
            <a:r>
              <a:rPr lang="es-ES" b="1" dirty="0"/>
              <a:t>de</a:t>
            </a:r>
            <a:r>
              <a:rPr b="1" dirty="0"/>
              <a:t> </a:t>
            </a:r>
            <a:r>
              <a:rPr b="1" dirty="0" err="1"/>
              <a:t>estado</a:t>
            </a:r>
            <a:r>
              <a:rPr b="1" dirty="0"/>
              <a:t> </a:t>
            </a:r>
            <a:r>
              <a:rPr b="1" dirty="0" err="1"/>
              <a:t>discreto</a:t>
            </a:r>
            <a:r>
              <a:rPr b="1" dirty="0"/>
              <a:t> </a:t>
            </a:r>
            <a:r>
              <a:rPr dirty="0" err="1"/>
              <a:t>si</a:t>
            </a:r>
            <a:r>
              <a:rPr dirty="0"/>
              <a:t> la variable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(ω) </a:t>
            </a:r>
            <a:r>
              <a:rPr lang="es-ES" dirty="0"/>
              <a:t>e</a:t>
            </a:r>
            <a:r>
              <a:rPr dirty="0"/>
              <a:t>s </a:t>
            </a:r>
            <a:r>
              <a:rPr dirty="0" err="1"/>
              <a:t>discreta</a:t>
            </a:r>
            <a:r>
              <a:rPr dirty="0"/>
              <a:t> para </a:t>
            </a:r>
            <a:r>
              <a:rPr dirty="0" err="1"/>
              <a:t>cada</a:t>
            </a:r>
            <a:r>
              <a:rPr dirty="0"/>
              <a:t> </a:t>
            </a:r>
            <a:r>
              <a:rPr lang="es-ES" dirty="0"/>
              <a:t>instante </a:t>
            </a:r>
            <a:r>
              <a:rPr dirty="0"/>
              <a:t>t.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/>
              <a:t>Se </a:t>
            </a:r>
            <a:r>
              <a:rPr dirty="0" err="1"/>
              <a:t>trata</a:t>
            </a:r>
            <a:r>
              <a:rPr dirty="0"/>
              <a:t> de un </a:t>
            </a:r>
            <a:r>
              <a:rPr b="1" dirty="0" err="1"/>
              <a:t>proceso</a:t>
            </a:r>
            <a:r>
              <a:rPr b="1" dirty="0"/>
              <a:t> </a:t>
            </a:r>
            <a:r>
              <a:rPr lang="es-ES" b="1" dirty="0"/>
              <a:t>de</a:t>
            </a:r>
            <a:r>
              <a:rPr b="1" dirty="0"/>
              <a:t> </a:t>
            </a:r>
            <a:r>
              <a:rPr b="1" dirty="0" err="1"/>
              <a:t>estado</a:t>
            </a:r>
            <a:r>
              <a:rPr b="1" dirty="0"/>
              <a:t> continuo </a:t>
            </a:r>
            <a:r>
              <a:rPr dirty="0" err="1"/>
              <a:t>si</a:t>
            </a:r>
            <a:r>
              <a:rPr dirty="0"/>
              <a:t>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(ω) </a:t>
            </a:r>
            <a:r>
              <a:rPr lang="es-ES" dirty="0"/>
              <a:t>e</a:t>
            </a:r>
            <a:r>
              <a:rPr dirty="0"/>
              <a:t>s </a:t>
            </a:r>
            <a:r>
              <a:rPr dirty="0" err="1"/>
              <a:t>continu</a:t>
            </a:r>
            <a:r>
              <a:rPr lang="es-ES" dirty="0"/>
              <a:t>a</a:t>
            </a:r>
            <a:r>
              <a:rPr dirty="0"/>
              <a:t>.</a:t>
            </a:r>
          </a:p>
          <a:p>
            <a:pPr lvl="1"/>
            <a:endParaRPr dirty="0"/>
          </a:p>
          <a:p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el </a:t>
            </a:r>
            <a:r>
              <a:rPr dirty="0" err="1"/>
              <a:t>tiempo</a:t>
            </a:r>
            <a:endParaRPr dirty="0"/>
          </a:p>
          <a:p>
            <a:pPr marL="914400" lvl="1" indent="-457200">
              <a:buFont typeface="+mj-lt"/>
              <a:buAutoNum type="alphaLcParenR"/>
            </a:pPr>
            <a:r>
              <a:rPr dirty="0"/>
              <a:t>El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</a:t>
            </a:r>
            <a:r>
              <a:rPr lang="en-US" dirty="0"/>
              <a:t>X(t, ω) </a:t>
            </a:r>
            <a:r>
              <a:rPr dirty="0"/>
              <a:t>es un </a:t>
            </a:r>
            <a:r>
              <a:rPr b="1" dirty="0" err="1"/>
              <a:t>proceso</a:t>
            </a:r>
            <a:r>
              <a:rPr b="1" dirty="0"/>
              <a:t> </a:t>
            </a:r>
            <a:r>
              <a:rPr lang="es-ES" b="1" dirty="0"/>
              <a:t>de </a:t>
            </a:r>
            <a:r>
              <a:rPr b="1" dirty="0" err="1"/>
              <a:t>tiempo</a:t>
            </a:r>
            <a:r>
              <a:rPr b="1" dirty="0"/>
              <a:t> </a:t>
            </a:r>
            <a:r>
              <a:rPr b="1" dirty="0" err="1"/>
              <a:t>discreto</a:t>
            </a:r>
            <a:r>
              <a:rPr b="1" dirty="0"/>
              <a:t> </a:t>
            </a:r>
            <a:r>
              <a:rPr dirty="0" err="1"/>
              <a:t>si</a:t>
            </a:r>
            <a:r>
              <a:rPr dirty="0"/>
              <a:t> el conjunto de </a:t>
            </a:r>
            <a:r>
              <a:rPr lang="es-ES" dirty="0" err="1"/>
              <a:t>intantes</a:t>
            </a:r>
            <a:r>
              <a:rPr lang="es-ES" dirty="0"/>
              <a:t> </a:t>
            </a:r>
            <a:r>
              <a:rPr dirty="0"/>
              <a:t>T es </a:t>
            </a:r>
            <a:r>
              <a:rPr dirty="0" err="1"/>
              <a:t>discreto</a:t>
            </a:r>
            <a:r>
              <a:rPr dirty="0"/>
              <a:t>, es </a:t>
            </a:r>
            <a:r>
              <a:rPr dirty="0" err="1"/>
              <a:t>decir</a:t>
            </a:r>
            <a:r>
              <a:rPr dirty="0"/>
              <a:t>, </a:t>
            </a:r>
            <a:r>
              <a:rPr dirty="0" err="1"/>
              <a:t>consiste</a:t>
            </a:r>
            <a:r>
              <a:rPr dirty="0"/>
              <a:t> en </a:t>
            </a:r>
            <a:r>
              <a:rPr dirty="0" err="1"/>
              <a:t>puntos</a:t>
            </a:r>
            <a:r>
              <a:rPr dirty="0"/>
              <a:t> </a:t>
            </a:r>
            <a:r>
              <a:rPr dirty="0" err="1"/>
              <a:t>separados</a:t>
            </a:r>
            <a:r>
              <a:rPr dirty="0"/>
              <a:t> y </a:t>
            </a:r>
            <a:r>
              <a:rPr dirty="0" err="1"/>
              <a:t>aislados</a:t>
            </a:r>
            <a:r>
              <a:rPr dirty="0"/>
              <a:t>. 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/>
              <a:t>Es un </a:t>
            </a:r>
            <a:r>
              <a:rPr b="1" dirty="0" err="1"/>
              <a:t>proceso</a:t>
            </a:r>
            <a:r>
              <a:rPr dirty="0"/>
              <a:t> </a:t>
            </a:r>
            <a:r>
              <a:rPr lang="es-ES" dirty="0"/>
              <a:t>de</a:t>
            </a:r>
            <a:r>
              <a:rPr b="1" dirty="0"/>
              <a:t> </a:t>
            </a:r>
            <a:r>
              <a:rPr b="1" dirty="0" err="1"/>
              <a:t>tiempo</a:t>
            </a:r>
            <a:r>
              <a:rPr b="1" dirty="0"/>
              <a:t> continuo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T es </a:t>
            </a:r>
            <a:r>
              <a:rPr lang="es-ES" dirty="0"/>
              <a:t>continuo</a:t>
            </a:r>
            <a:r>
              <a:rPr dirty="0"/>
              <a:t>, </a:t>
            </a:r>
            <a:r>
              <a:rPr dirty="0" err="1"/>
              <a:t>posiblemente</a:t>
            </a:r>
            <a:r>
              <a:rPr dirty="0"/>
              <a:t> sin </a:t>
            </a:r>
            <a:r>
              <a:rPr dirty="0" err="1"/>
              <a:t>límites</a:t>
            </a:r>
            <a:r>
              <a:rPr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55FF33-8809-A3BB-CBC5-77EC086C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226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FD9AC-F6EE-4390-8B7E-810A8BE4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</a:t>
            </a:r>
            <a:r>
              <a:rPr dirty="0"/>
              <a:t>2 </a:t>
            </a:r>
            <a:r>
              <a:rPr dirty="0" err="1"/>
              <a:t>Clasificaciones</a:t>
            </a:r>
            <a:r>
              <a:rPr dirty="0"/>
              <a:t> de </a:t>
            </a:r>
            <a:r>
              <a:rPr dirty="0" err="1"/>
              <a:t>procesos</a:t>
            </a:r>
            <a:r>
              <a:rPr lang="es-ES" dirty="0"/>
              <a:t> </a:t>
            </a:r>
            <a:r>
              <a:rPr dirty="0" err="1"/>
              <a:t>estocásticos</a:t>
            </a:r>
            <a:br>
              <a:rPr lang="es-ES" dirty="0"/>
            </a:br>
            <a:r>
              <a:rPr dirty="0" err="1"/>
              <a:t>Ejemplos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F1CD8F-80EC-4B92-8248-F34141DC4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Ejemplo</a:t>
            </a:r>
            <a:r>
              <a:rPr dirty="0"/>
              <a:t> 6.2. </a:t>
            </a:r>
          </a:p>
          <a:p>
            <a:pPr lvl="1"/>
            <a:r>
              <a:rPr dirty="0"/>
              <a:t>El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de la CPU, en </a:t>
            </a:r>
            <a:r>
              <a:rPr dirty="0" err="1"/>
              <a:t>porcentajes</a:t>
            </a:r>
            <a:r>
              <a:rPr dirty="0"/>
              <a:t>, es un </a:t>
            </a:r>
            <a:r>
              <a:rPr dirty="0" err="1"/>
              <a:t>proceso</a:t>
            </a:r>
            <a:r>
              <a:rPr dirty="0"/>
              <a:t> de </a:t>
            </a:r>
            <a:r>
              <a:rPr b="1" dirty="0" err="1"/>
              <a:t>estado</a:t>
            </a:r>
            <a:r>
              <a:rPr b="1" dirty="0"/>
              <a:t> continuo y </a:t>
            </a:r>
            <a:r>
              <a:rPr b="1" dirty="0" err="1"/>
              <a:t>tiempo</a:t>
            </a:r>
            <a:r>
              <a:rPr dirty="0"/>
              <a:t> </a:t>
            </a:r>
            <a:r>
              <a:rPr b="1" dirty="0"/>
              <a:t>continuo</a:t>
            </a:r>
            <a:r>
              <a:rPr dirty="0"/>
              <a:t>.</a:t>
            </a:r>
          </a:p>
          <a:p>
            <a:r>
              <a:rPr dirty="0" err="1"/>
              <a:t>Ejemplo</a:t>
            </a:r>
            <a:r>
              <a:rPr dirty="0"/>
              <a:t> 6.3. </a:t>
            </a:r>
          </a:p>
          <a:p>
            <a:pPr lvl="1"/>
            <a:r>
              <a:rPr dirty="0"/>
              <a:t>La </a:t>
            </a:r>
            <a:r>
              <a:rPr dirty="0" err="1"/>
              <a:t>temperatura</a:t>
            </a:r>
            <a:r>
              <a:rPr dirty="0"/>
              <a:t> del aire X(t, </a:t>
            </a:r>
            <a:r>
              <a:rPr lang="el-GR" dirty="0"/>
              <a:t>ω</a:t>
            </a:r>
            <a:r>
              <a:rPr dirty="0"/>
              <a:t>) en el </a:t>
            </a:r>
            <a:r>
              <a:rPr lang="es-ES" dirty="0"/>
              <a:t>instante</a:t>
            </a:r>
            <a:r>
              <a:rPr dirty="0"/>
              <a:t> t es un </a:t>
            </a:r>
            <a:r>
              <a:rPr dirty="0" err="1"/>
              <a:t>proceso</a:t>
            </a:r>
            <a:r>
              <a:rPr dirty="0"/>
              <a:t> de</a:t>
            </a:r>
            <a:r>
              <a:rPr b="1" dirty="0"/>
              <a:t> </a:t>
            </a:r>
            <a:r>
              <a:rPr lang="es-ES" b="1" dirty="0"/>
              <a:t>estado continuo y </a:t>
            </a:r>
            <a:r>
              <a:rPr b="1" dirty="0" err="1"/>
              <a:t>tiempo</a:t>
            </a:r>
            <a:r>
              <a:rPr b="1" dirty="0"/>
              <a:t> </a:t>
            </a:r>
            <a:r>
              <a:rPr lang="es-ES" b="1" dirty="0"/>
              <a:t>continuo</a:t>
            </a:r>
            <a:r>
              <a:rPr dirty="0"/>
              <a:t>.  </a:t>
            </a:r>
          </a:p>
          <a:p>
            <a:pPr lvl="1"/>
            <a:r>
              <a:rPr dirty="0"/>
              <a:t>Sin embargo, la </a:t>
            </a:r>
            <a:r>
              <a:rPr dirty="0" err="1"/>
              <a:t>temperatura</a:t>
            </a:r>
            <a:r>
              <a:rPr dirty="0"/>
              <a:t> Y (t,</a:t>
            </a:r>
            <a:r>
              <a:rPr lang="el-GR" dirty="0"/>
              <a:t> ω</a:t>
            </a:r>
            <a:r>
              <a:rPr dirty="0"/>
              <a:t>) re</a:t>
            </a:r>
            <a:r>
              <a:rPr lang="es-ES" dirty="0" err="1"/>
              <a:t>gistrada</a:t>
            </a:r>
            <a:r>
              <a:rPr lang="es-ES" dirty="0"/>
              <a:t> </a:t>
            </a:r>
            <a:r>
              <a:rPr dirty="0"/>
              <a:t>en un</a:t>
            </a:r>
            <a:r>
              <a:rPr lang="es-ES" dirty="0"/>
              <a:t>a zona </a:t>
            </a:r>
            <a:r>
              <a:rPr dirty="0" err="1"/>
              <a:t>cada</a:t>
            </a:r>
            <a:r>
              <a:rPr dirty="0"/>
              <a:t> 10 </a:t>
            </a:r>
            <a:r>
              <a:rPr dirty="0" err="1"/>
              <a:t>minutos</a:t>
            </a:r>
            <a:r>
              <a:rPr dirty="0"/>
              <a:t> es un </a:t>
            </a:r>
            <a:r>
              <a:rPr dirty="0" err="1"/>
              <a:t>proceso</a:t>
            </a:r>
            <a:r>
              <a:rPr dirty="0"/>
              <a:t> </a:t>
            </a:r>
            <a:r>
              <a:rPr lang="es-ES" dirty="0"/>
              <a:t>de</a:t>
            </a:r>
            <a:r>
              <a:rPr b="1" dirty="0"/>
              <a:t> </a:t>
            </a:r>
            <a:r>
              <a:rPr b="1" dirty="0" err="1"/>
              <a:t>tiempo</a:t>
            </a:r>
            <a:r>
              <a:rPr b="1" dirty="0"/>
              <a:t> </a:t>
            </a:r>
            <a:r>
              <a:rPr b="1" dirty="0" err="1"/>
              <a:t>discreto</a:t>
            </a:r>
            <a:r>
              <a:rPr dirty="0"/>
              <a:t>. </a:t>
            </a:r>
            <a:r>
              <a:rPr dirty="0" err="1"/>
              <a:t>Además</a:t>
            </a:r>
            <a:r>
              <a:rPr dirty="0"/>
              <a:t>, dado que la </a:t>
            </a:r>
            <a:r>
              <a:rPr dirty="0" err="1"/>
              <a:t>temperatura</a:t>
            </a:r>
            <a:r>
              <a:rPr dirty="0"/>
              <a:t> </a:t>
            </a:r>
            <a:r>
              <a:rPr lang="es-ES" dirty="0"/>
              <a:t>registrada </a:t>
            </a:r>
            <a:r>
              <a:rPr dirty="0" err="1"/>
              <a:t>generalmente</a:t>
            </a:r>
            <a:r>
              <a:rPr dirty="0"/>
              <a:t> se </a:t>
            </a:r>
            <a:r>
              <a:rPr dirty="0" err="1"/>
              <a:t>redondea</a:t>
            </a:r>
            <a:r>
              <a:rPr dirty="0"/>
              <a:t> al </a:t>
            </a:r>
            <a:r>
              <a:rPr dirty="0" err="1"/>
              <a:t>grado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cercano</a:t>
            </a:r>
            <a:r>
              <a:rPr dirty="0"/>
              <a:t>, </a:t>
            </a:r>
            <a:r>
              <a:rPr dirty="0" err="1"/>
              <a:t>también</a:t>
            </a:r>
            <a:r>
              <a:rPr dirty="0"/>
              <a:t> es un </a:t>
            </a:r>
            <a:r>
              <a:rPr dirty="0" err="1"/>
              <a:t>proceso</a:t>
            </a:r>
            <a:r>
              <a:rPr dirty="0"/>
              <a:t> de</a:t>
            </a:r>
            <a:r>
              <a:rPr b="1" dirty="0"/>
              <a:t> </a:t>
            </a:r>
            <a:r>
              <a:rPr b="1" dirty="0" err="1"/>
              <a:t>estado</a:t>
            </a:r>
            <a:r>
              <a:rPr b="1" dirty="0"/>
              <a:t> </a:t>
            </a:r>
            <a:r>
              <a:rPr b="1" dirty="0" err="1"/>
              <a:t>discreto</a:t>
            </a:r>
            <a:r>
              <a:rPr dirty="0"/>
              <a:t>.</a:t>
            </a:r>
          </a:p>
          <a:p>
            <a:r>
              <a:rPr dirty="0" err="1"/>
              <a:t>Ejemplo</a:t>
            </a:r>
            <a:r>
              <a:rPr dirty="0"/>
              <a:t> 6.4. </a:t>
            </a:r>
          </a:p>
          <a:p>
            <a:pPr lvl="1"/>
            <a:r>
              <a:rPr dirty="0"/>
              <a:t>En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imprenta</a:t>
            </a:r>
            <a:r>
              <a:rPr dirty="0"/>
              <a:t>, </a:t>
            </a:r>
            <a:r>
              <a:rPr lang="es-ES" dirty="0"/>
              <a:t>si </a:t>
            </a:r>
            <a:r>
              <a:rPr dirty="0"/>
              <a:t>X(n,</a:t>
            </a:r>
            <a:r>
              <a:rPr lang="el-GR" dirty="0"/>
              <a:t> ω</a:t>
            </a:r>
            <a:r>
              <a:rPr dirty="0"/>
              <a:t>) </a:t>
            </a:r>
            <a:r>
              <a:rPr lang="es-ES" dirty="0"/>
              <a:t>es </a:t>
            </a:r>
            <a:r>
              <a:rPr dirty="0"/>
              <a:t>la </a:t>
            </a:r>
            <a:r>
              <a:rPr dirty="0" err="1"/>
              <a:t>cantidad</a:t>
            </a:r>
            <a:r>
              <a:rPr dirty="0"/>
              <a:t> de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necesaria</a:t>
            </a:r>
            <a:r>
              <a:rPr dirty="0"/>
              <a:t> para </a:t>
            </a:r>
            <a:r>
              <a:rPr dirty="0" err="1"/>
              <a:t>imprimir</a:t>
            </a:r>
            <a:r>
              <a:rPr dirty="0"/>
              <a:t> el n-</a:t>
            </a:r>
            <a:r>
              <a:rPr dirty="0" err="1"/>
              <a:t>ésimo</a:t>
            </a:r>
            <a:r>
              <a:rPr dirty="0"/>
              <a:t> </a:t>
            </a:r>
            <a:r>
              <a:rPr dirty="0" err="1"/>
              <a:t>trabajo</a:t>
            </a:r>
            <a:r>
              <a:rPr lang="es-ES" dirty="0"/>
              <a:t>, se trata de </a:t>
            </a:r>
            <a:r>
              <a:rPr dirty="0" err="1"/>
              <a:t>proceso</a:t>
            </a:r>
            <a:r>
              <a:rPr dirty="0"/>
              <a:t> </a:t>
            </a:r>
            <a:r>
              <a:rPr lang="es-ES" dirty="0"/>
              <a:t>de</a:t>
            </a:r>
            <a:r>
              <a:rPr b="1" dirty="0"/>
              <a:t> </a:t>
            </a:r>
            <a:r>
              <a:rPr lang="es-ES" b="1" dirty="0"/>
              <a:t>tiempo discreto y </a:t>
            </a:r>
            <a:r>
              <a:rPr b="1" dirty="0" err="1"/>
              <a:t>estado</a:t>
            </a:r>
            <a:r>
              <a:rPr b="1" dirty="0"/>
              <a:t> continuo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n = 1, 2, 3. . ., y </a:t>
            </a:r>
            <a:r>
              <a:rPr lang="en-US" dirty="0"/>
              <a:t>X ∈ (0,∞)</a:t>
            </a:r>
            <a:r>
              <a:rPr dirty="0"/>
              <a:t>. </a:t>
            </a:r>
          </a:p>
          <a:p>
            <a:pPr lvl="1"/>
            <a:r>
              <a:rPr lang="es-ES" dirty="0"/>
              <a:t>Si</a:t>
            </a:r>
            <a:r>
              <a:rPr dirty="0"/>
              <a:t> Y (n, </a:t>
            </a:r>
            <a:r>
              <a:rPr lang="el-GR" dirty="0"/>
              <a:t>ω </a:t>
            </a:r>
            <a:r>
              <a:rPr dirty="0"/>
              <a:t>) </a:t>
            </a:r>
            <a:r>
              <a:rPr lang="es-ES" dirty="0"/>
              <a:t>es</a:t>
            </a:r>
            <a:r>
              <a:rPr dirty="0"/>
              <a:t> el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páginas</a:t>
            </a:r>
            <a:r>
              <a:rPr dirty="0"/>
              <a:t> del </a:t>
            </a:r>
            <a:r>
              <a:rPr dirty="0" err="1"/>
              <a:t>trabajo</a:t>
            </a:r>
            <a:r>
              <a:rPr dirty="0"/>
              <a:t> de </a:t>
            </a:r>
            <a:r>
              <a:rPr dirty="0" err="1"/>
              <a:t>impresión</a:t>
            </a:r>
            <a:r>
              <a:rPr dirty="0"/>
              <a:t> n-</a:t>
            </a:r>
            <a:r>
              <a:rPr dirty="0" err="1"/>
              <a:t>ésimo</a:t>
            </a:r>
            <a:r>
              <a:rPr lang="es-ES" dirty="0"/>
              <a:t>, y por tanto Y puede tener valores </a:t>
            </a:r>
            <a:r>
              <a:rPr dirty="0"/>
              <a:t>1, 2, 3</a:t>
            </a:r>
            <a:r>
              <a:rPr lang="es-ES" dirty="0"/>
              <a:t>…, se trata de un </a:t>
            </a:r>
            <a:r>
              <a:rPr dirty="0" err="1"/>
              <a:t>proceso</a:t>
            </a:r>
            <a:r>
              <a:rPr dirty="0"/>
              <a:t> de</a:t>
            </a:r>
            <a:r>
              <a:rPr b="1" dirty="0"/>
              <a:t> </a:t>
            </a:r>
            <a:r>
              <a:rPr b="1" dirty="0" err="1"/>
              <a:t>tiempo</a:t>
            </a:r>
            <a:r>
              <a:rPr b="1" dirty="0"/>
              <a:t> </a:t>
            </a:r>
            <a:r>
              <a:rPr b="1" dirty="0" err="1"/>
              <a:t>discreto</a:t>
            </a:r>
            <a:r>
              <a:rPr b="1" dirty="0"/>
              <a:t> y </a:t>
            </a:r>
            <a:r>
              <a:rPr b="1" dirty="0" err="1"/>
              <a:t>estado</a:t>
            </a:r>
            <a:r>
              <a:rPr dirty="0"/>
              <a:t> </a:t>
            </a:r>
            <a:r>
              <a:rPr b="1" dirty="0" err="1"/>
              <a:t>discreto</a:t>
            </a:r>
            <a:r>
              <a:rPr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E977B7-1808-C388-B683-0D6F5A164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421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A5CC9-E093-D69C-1EE2-2976161F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</a:t>
            </a:r>
            <a:r>
              <a:rPr dirty="0"/>
              <a:t>. </a:t>
            </a:r>
            <a:r>
              <a:rPr dirty="0" err="1"/>
              <a:t>Procesos</a:t>
            </a:r>
            <a:r>
              <a:rPr dirty="0"/>
              <a:t> de Markov y </a:t>
            </a:r>
            <a:r>
              <a:rPr dirty="0" err="1"/>
              <a:t>cadenas</a:t>
            </a:r>
            <a:r>
              <a:rPr dirty="0"/>
              <a:t> de Markov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1FF00A-EA0F-36AA-100A-2D95D842C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3</a:t>
            </a:r>
            <a:r>
              <a:rPr dirty="0"/>
              <a:t>.1 </a:t>
            </a:r>
            <a:r>
              <a:rPr dirty="0" err="1"/>
              <a:t>Cadenas</a:t>
            </a:r>
            <a:r>
              <a:rPr dirty="0"/>
              <a:t> de Markov</a:t>
            </a:r>
          </a:p>
          <a:p>
            <a:r>
              <a:rPr lang="es-ES" dirty="0"/>
              <a:t>3</a:t>
            </a:r>
            <a:r>
              <a:rPr dirty="0"/>
              <a:t>.2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endParaRPr dirty="0"/>
          </a:p>
          <a:p>
            <a:r>
              <a:rPr lang="es-ES" dirty="0"/>
              <a:t>3</a:t>
            </a:r>
            <a:r>
              <a:rPr dirty="0"/>
              <a:t>.3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lang="es-ES" dirty="0"/>
              <a:t>estacionaria (</a:t>
            </a:r>
            <a:r>
              <a:rPr lang="es-ES" dirty="0" err="1"/>
              <a:t>steady</a:t>
            </a:r>
            <a:r>
              <a:rPr lang="es-ES" dirty="0"/>
              <a:t> </a:t>
            </a:r>
            <a:r>
              <a:rPr lang="es-ES" dirty="0" err="1"/>
              <a:t>state</a:t>
            </a:r>
            <a:r>
              <a:rPr lang="es-ES" dirty="0"/>
              <a:t>)</a:t>
            </a:r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DF8EAC-2D6A-46FF-21D3-98F3AFD5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891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1B270-3429-4DE3-800C-5632F1E2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</a:t>
            </a:r>
            <a:r>
              <a:rPr dirty="0"/>
              <a:t>. </a:t>
            </a:r>
            <a:r>
              <a:rPr dirty="0" err="1"/>
              <a:t>Procesos</a:t>
            </a:r>
            <a:r>
              <a:rPr dirty="0"/>
              <a:t> de Markov y </a:t>
            </a:r>
            <a:r>
              <a:rPr dirty="0" err="1"/>
              <a:t>cadenas</a:t>
            </a:r>
            <a:r>
              <a:rPr dirty="0"/>
              <a:t> de Markov</a:t>
            </a:r>
            <a:br>
              <a:rPr lang="es-ES" dirty="0"/>
            </a:br>
            <a:r>
              <a:rPr lang="es-ES" dirty="0"/>
              <a:t>Definición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48E0E-CBE6-4A80-B9E6-991B22D63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7100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Un p</a:t>
            </a:r>
            <a:r>
              <a:rPr dirty="0" err="1"/>
              <a:t>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X(t) es </a:t>
            </a:r>
            <a:r>
              <a:rPr lang="es-ES" dirty="0"/>
              <a:t>de </a:t>
            </a:r>
            <a:r>
              <a:rPr dirty="0"/>
              <a:t>Markov </a:t>
            </a:r>
            <a:r>
              <a:rPr dirty="0" err="1"/>
              <a:t>si</a:t>
            </a:r>
            <a:r>
              <a:rPr dirty="0"/>
              <a:t> para </a:t>
            </a:r>
            <a:r>
              <a:rPr dirty="0" err="1"/>
              <a:t>cualquier</a:t>
            </a:r>
            <a:r>
              <a:rPr dirty="0"/>
              <a:t> </a:t>
            </a:r>
            <a:r>
              <a:rPr lang="es-ES" dirty="0"/>
              <a:t>t</a:t>
            </a:r>
            <a:r>
              <a:rPr lang="es-ES" baseline="-25000" dirty="0"/>
              <a:t>1</a:t>
            </a:r>
            <a:r>
              <a:rPr lang="es-ES" dirty="0"/>
              <a:t> &lt; ... &lt; </a:t>
            </a:r>
            <a:r>
              <a:rPr lang="es-ES" dirty="0" err="1"/>
              <a:t>t</a:t>
            </a:r>
            <a:r>
              <a:rPr lang="es-ES" baseline="-25000" dirty="0" err="1"/>
              <a:t>n</a:t>
            </a:r>
            <a:r>
              <a:rPr lang="es-ES" dirty="0"/>
              <a:t> &lt; t </a:t>
            </a:r>
            <a:r>
              <a:rPr dirty="0"/>
              <a:t> y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conjunto</a:t>
            </a:r>
            <a:r>
              <a:rPr dirty="0"/>
              <a:t> A; A</a:t>
            </a:r>
            <a:r>
              <a:rPr baseline="-25000" dirty="0"/>
              <a:t>1</a:t>
            </a:r>
            <a:r>
              <a:rPr dirty="0"/>
              <a:t>. . . A</a:t>
            </a:r>
            <a:r>
              <a:rPr baseline="-25000" dirty="0"/>
              <a:t>n</a:t>
            </a:r>
            <a:r>
              <a:rPr lang="es-ES" baseline="-25000" dirty="0"/>
              <a:t>,</a:t>
            </a:r>
            <a:r>
              <a:rPr lang="es-ES" dirty="0"/>
              <a:t> se cumple:</a:t>
            </a:r>
          </a:p>
          <a:p>
            <a:pPr lvl="1"/>
            <a:r>
              <a:rPr lang="es-ES" i="1" dirty="0"/>
              <a:t>P {X(t) ∈ A | X(t</a:t>
            </a:r>
            <a:r>
              <a:rPr lang="es-ES" i="1" baseline="-25000" dirty="0"/>
              <a:t>1</a:t>
            </a:r>
            <a:r>
              <a:rPr lang="es-ES" i="1" dirty="0"/>
              <a:t>) ∈ A</a:t>
            </a:r>
            <a:r>
              <a:rPr lang="es-ES" i="1" baseline="-25000" dirty="0"/>
              <a:t>1</a:t>
            </a:r>
            <a:r>
              <a:rPr lang="es-ES" i="1" dirty="0"/>
              <a:t>, . . . , X(</a:t>
            </a:r>
            <a:r>
              <a:rPr lang="es-ES" i="1" dirty="0" err="1"/>
              <a:t>t</a:t>
            </a:r>
            <a:r>
              <a:rPr lang="es-ES" i="1" baseline="-25000" dirty="0" err="1"/>
              <a:t>n</a:t>
            </a:r>
            <a:r>
              <a:rPr lang="es-ES" i="1" dirty="0"/>
              <a:t>) ∈ </a:t>
            </a:r>
            <a:r>
              <a:rPr lang="es-ES" i="1" dirty="0" err="1"/>
              <a:t>A</a:t>
            </a:r>
            <a:r>
              <a:rPr lang="es-ES" i="1" baseline="-25000" dirty="0" err="1"/>
              <a:t>n</a:t>
            </a:r>
            <a:r>
              <a:rPr lang="es-ES" i="1" dirty="0"/>
              <a:t>} = P {X(t) ∈ A | X(</a:t>
            </a:r>
            <a:r>
              <a:rPr lang="es-ES" i="1" dirty="0" err="1"/>
              <a:t>t</a:t>
            </a:r>
            <a:r>
              <a:rPr lang="es-ES" i="1" baseline="-25000" dirty="0" err="1"/>
              <a:t>n</a:t>
            </a:r>
            <a:r>
              <a:rPr lang="es-ES" i="1" dirty="0"/>
              <a:t>) ∈ </a:t>
            </a:r>
            <a:r>
              <a:rPr lang="es-ES" i="1" dirty="0" err="1"/>
              <a:t>A</a:t>
            </a:r>
            <a:r>
              <a:rPr lang="es-ES" i="1" baseline="-25000" dirty="0" err="1"/>
              <a:t>n</a:t>
            </a:r>
            <a:r>
              <a:rPr lang="es-ES" i="1" dirty="0"/>
              <a:t>} </a:t>
            </a:r>
          </a:p>
          <a:p>
            <a:r>
              <a:rPr dirty="0" err="1"/>
              <a:t>Significa</a:t>
            </a:r>
            <a:r>
              <a:rPr dirty="0"/>
              <a:t> que la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condicional</a:t>
            </a:r>
            <a:r>
              <a:rPr dirty="0"/>
              <a:t> de X(t) es la </a:t>
            </a:r>
            <a:r>
              <a:rPr dirty="0" err="1"/>
              <a:t>misma</a:t>
            </a:r>
            <a:r>
              <a:rPr dirty="0"/>
              <a:t> </a:t>
            </a:r>
            <a:r>
              <a:rPr lang="es-ES" dirty="0"/>
              <a:t>bajo </a:t>
            </a:r>
            <a:r>
              <a:rPr dirty="0"/>
              <a:t>dos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:</a:t>
            </a:r>
          </a:p>
          <a:p>
            <a:pPr lvl="1"/>
            <a:r>
              <a:rPr dirty="0"/>
              <a:t>(1) </a:t>
            </a:r>
            <a:r>
              <a:rPr lang="es-ES" dirty="0"/>
              <a:t>dadas </a:t>
            </a:r>
            <a:r>
              <a:rPr dirty="0" err="1"/>
              <a:t>observaciones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 X en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momentos</a:t>
            </a:r>
            <a:r>
              <a:rPr dirty="0"/>
              <a:t> en el </a:t>
            </a:r>
            <a:r>
              <a:rPr dirty="0" err="1"/>
              <a:t>pasado</a:t>
            </a:r>
            <a:r>
              <a:rPr dirty="0"/>
              <a:t>;</a:t>
            </a:r>
          </a:p>
          <a:p>
            <a:pPr lvl="1"/>
            <a:r>
              <a:rPr dirty="0"/>
              <a:t>(2) dada solo la </a:t>
            </a:r>
            <a:r>
              <a:rPr dirty="0" err="1"/>
              <a:t>última</a:t>
            </a:r>
            <a:r>
              <a:rPr dirty="0"/>
              <a:t> </a:t>
            </a:r>
            <a:r>
              <a:rPr dirty="0" err="1"/>
              <a:t>observación</a:t>
            </a:r>
            <a:r>
              <a:rPr dirty="0"/>
              <a:t> de X.</a:t>
            </a:r>
          </a:p>
          <a:p>
            <a:r>
              <a:rPr dirty="0" err="1"/>
              <a:t>Conociendo</a:t>
            </a:r>
            <a:r>
              <a:rPr dirty="0"/>
              <a:t> el </a:t>
            </a:r>
            <a:r>
              <a:rPr dirty="0" err="1"/>
              <a:t>presente</a:t>
            </a:r>
            <a:r>
              <a:rPr dirty="0"/>
              <a:t>, no </a:t>
            </a:r>
            <a:r>
              <a:rPr lang="es-ES" dirty="0"/>
              <a:t>usamos </a:t>
            </a:r>
            <a:r>
              <a:rPr dirty="0" err="1"/>
              <a:t>información</a:t>
            </a:r>
            <a:r>
              <a:rPr dirty="0"/>
              <a:t> del </a:t>
            </a:r>
            <a:r>
              <a:rPr dirty="0" err="1"/>
              <a:t>pasado</a:t>
            </a:r>
            <a:r>
              <a:rPr dirty="0"/>
              <a:t>:</a:t>
            </a:r>
            <a:endParaRPr lang="es-ES" dirty="0"/>
          </a:p>
          <a:p>
            <a:pPr lvl="1">
              <a:defRPr i="1"/>
            </a:pPr>
            <a:r>
              <a:rPr dirty="0"/>
              <a:t>P {</a:t>
            </a:r>
            <a:r>
              <a:rPr dirty="0" err="1"/>
              <a:t>futuro</a:t>
            </a:r>
            <a:r>
              <a:rPr dirty="0"/>
              <a:t> | </a:t>
            </a:r>
            <a:r>
              <a:rPr dirty="0" err="1"/>
              <a:t>pasado</a:t>
            </a:r>
            <a:r>
              <a:rPr dirty="0"/>
              <a:t>, </a:t>
            </a:r>
            <a:r>
              <a:rPr dirty="0" err="1"/>
              <a:t>presente</a:t>
            </a:r>
            <a:r>
              <a:rPr dirty="0"/>
              <a:t>} = P {</a:t>
            </a:r>
            <a:r>
              <a:rPr dirty="0" err="1"/>
              <a:t>futuro</a:t>
            </a:r>
            <a:r>
              <a:rPr dirty="0"/>
              <a:t> | </a:t>
            </a:r>
            <a:r>
              <a:rPr dirty="0" err="1"/>
              <a:t>presente</a:t>
            </a:r>
            <a:r>
              <a:rPr dirty="0"/>
              <a:t>}</a:t>
            </a:r>
            <a:endParaRPr lang="es-ES" dirty="0"/>
          </a:p>
          <a:p>
            <a:r>
              <a:rPr dirty="0" err="1"/>
              <a:t>Entonces</a:t>
            </a:r>
            <a:r>
              <a:rPr dirty="0"/>
              <a:t>, para el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futuro</a:t>
            </a:r>
            <a:r>
              <a:rPr dirty="0"/>
              <a:t> de un </a:t>
            </a:r>
            <a:r>
              <a:rPr dirty="0" err="1"/>
              <a:t>proceso</a:t>
            </a:r>
            <a:r>
              <a:rPr dirty="0"/>
              <a:t> de Markov, s</a:t>
            </a:r>
            <a:r>
              <a:rPr lang="es-ES" dirty="0" err="1"/>
              <a:t>ó</a:t>
            </a:r>
            <a:r>
              <a:rPr dirty="0"/>
              <a:t>lo </a:t>
            </a:r>
            <a:r>
              <a:rPr lang="es-ES" dirty="0"/>
              <a:t>es importante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actual, y no </a:t>
            </a:r>
            <a:r>
              <a:rPr dirty="0" err="1"/>
              <a:t>importa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el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llegó</a:t>
            </a:r>
            <a:r>
              <a:rPr dirty="0"/>
              <a:t> a este </a:t>
            </a:r>
            <a:r>
              <a:rPr dirty="0" err="1"/>
              <a:t>estado</a:t>
            </a:r>
            <a:r>
              <a:rPr dirty="0"/>
              <a:t>.</a:t>
            </a:r>
          </a:p>
          <a:p>
            <a:pPr lvl="1"/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8CDAB6-C449-718C-0E96-E2512FAE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1964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1B270-3429-4DE3-800C-5632F1E2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de Markov y </a:t>
            </a:r>
            <a:r>
              <a:rPr dirty="0" err="1"/>
              <a:t>cadenas</a:t>
            </a:r>
            <a:r>
              <a:rPr dirty="0"/>
              <a:t> de Markov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 de Markov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48E0E-CBE6-4A80-B9E6-991B22D63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Ejemplo</a:t>
            </a:r>
            <a:r>
              <a:rPr dirty="0"/>
              <a:t> 6.5 (</a:t>
            </a:r>
            <a:r>
              <a:rPr dirty="0" err="1"/>
              <a:t>Conexiones</a:t>
            </a:r>
            <a:r>
              <a:rPr dirty="0"/>
              <a:t> a Internet). </a:t>
            </a:r>
          </a:p>
          <a:p>
            <a:pPr lvl="1"/>
            <a:r>
              <a:rPr dirty="0"/>
              <a:t>X(t) </a:t>
            </a:r>
            <a:r>
              <a:rPr lang="es-ES" dirty="0"/>
              <a:t>es </a:t>
            </a:r>
            <a:r>
              <a:rPr dirty="0"/>
              <a:t>el </a:t>
            </a:r>
            <a:r>
              <a:rPr dirty="0" err="1"/>
              <a:t>número</a:t>
            </a:r>
            <a:r>
              <a:rPr dirty="0"/>
              <a:t> total de </a:t>
            </a:r>
            <a:r>
              <a:rPr dirty="0" err="1"/>
              <a:t>conexiones</a:t>
            </a:r>
            <a:r>
              <a:rPr dirty="0"/>
              <a:t> a Internet </a:t>
            </a:r>
            <a:r>
              <a:rPr dirty="0" err="1"/>
              <a:t>registradas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algún</a:t>
            </a:r>
            <a:r>
              <a:rPr dirty="0"/>
              <a:t> </a:t>
            </a:r>
            <a:r>
              <a:rPr dirty="0" err="1"/>
              <a:t>proveedor</a:t>
            </a:r>
            <a:r>
              <a:rPr dirty="0"/>
              <a:t> de servicios de Internet en el </a:t>
            </a:r>
            <a:r>
              <a:rPr lang="es-ES" dirty="0"/>
              <a:t>instante</a:t>
            </a:r>
            <a:r>
              <a:rPr dirty="0"/>
              <a:t> t. </a:t>
            </a:r>
          </a:p>
          <a:p>
            <a:pPr lvl="1"/>
            <a:r>
              <a:rPr dirty="0" err="1"/>
              <a:t>Por</a:t>
            </a:r>
            <a:r>
              <a:rPr dirty="0"/>
              <a:t> lo general, las personas se </a:t>
            </a:r>
            <a:r>
              <a:rPr dirty="0" err="1"/>
              <a:t>conectan</a:t>
            </a:r>
            <a:r>
              <a:rPr dirty="0"/>
              <a:t> a Internet en </a:t>
            </a:r>
            <a:r>
              <a:rPr dirty="0" err="1"/>
              <a:t>momentos</a:t>
            </a:r>
            <a:r>
              <a:rPr dirty="0"/>
              <a:t> </a:t>
            </a:r>
            <a:r>
              <a:rPr dirty="0" err="1"/>
              <a:t>aleatorios</a:t>
            </a:r>
            <a:r>
              <a:rPr dirty="0"/>
              <a:t>, </a:t>
            </a:r>
            <a:r>
              <a:rPr dirty="0" err="1"/>
              <a:t>independientemente</a:t>
            </a:r>
            <a:r>
              <a:rPr dirty="0"/>
              <a:t> de </a:t>
            </a:r>
            <a:r>
              <a:rPr dirty="0" err="1"/>
              <a:t>cuántas</a:t>
            </a:r>
            <a:r>
              <a:rPr dirty="0"/>
              <a:t> </a:t>
            </a:r>
            <a:r>
              <a:rPr dirty="0" err="1"/>
              <a:t>conexiones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se </a:t>
            </a:r>
            <a:r>
              <a:rPr dirty="0" err="1"/>
              <a:t>hayan</a:t>
            </a:r>
            <a:r>
              <a:rPr dirty="0"/>
              <a:t> </a:t>
            </a:r>
            <a:r>
              <a:rPr dirty="0" err="1"/>
              <a:t>hecho</a:t>
            </a:r>
            <a:r>
              <a:rPr dirty="0"/>
              <a:t>. </a:t>
            </a:r>
          </a:p>
          <a:p>
            <a:pPr lvl="1"/>
            <a:r>
              <a:rPr dirty="0" err="1"/>
              <a:t>Por</a:t>
            </a:r>
            <a:r>
              <a:rPr dirty="0"/>
              <a:t> lo </a:t>
            </a:r>
            <a:r>
              <a:rPr dirty="0" err="1"/>
              <a:t>tanto</a:t>
            </a:r>
            <a:r>
              <a:rPr dirty="0"/>
              <a:t>, el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conexiones</a:t>
            </a:r>
            <a:r>
              <a:rPr dirty="0"/>
              <a:t> en un </a:t>
            </a:r>
            <a:r>
              <a:rPr dirty="0" err="1"/>
              <a:t>minuto</a:t>
            </a:r>
            <a:r>
              <a:rPr dirty="0"/>
              <a:t> solo </a:t>
            </a:r>
            <a:r>
              <a:rPr dirty="0" err="1"/>
              <a:t>dependerá</a:t>
            </a:r>
            <a:r>
              <a:rPr dirty="0"/>
              <a:t> del </a:t>
            </a:r>
            <a:r>
              <a:rPr dirty="0" err="1"/>
              <a:t>número</a:t>
            </a:r>
            <a:r>
              <a:rPr dirty="0"/>
              <a:t> actual. </a:t>
            </a:r>
          </a:p>
          <a:p>
            <a:pPr lvl="1"/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, </a:t>
            </a:r>
            <a:r>
              <a:rPr dirty="0" err="1"/>
              <a:t>si</a:t>
            </a:r>
            <a:r>
              <a:rPr dirty="0"/>
              <a:t> se </a:t>
            </a:r>
            <a:r>
              <a:rPr dirty="0" err="1"/>
              <a:t>han</a:t>
            </a:r>
            <a:r>
              <a:rPr dirty="0"/>
              <a:t> </a:t>
            </a:r>
            <a:r>
              <a:rPr dirty="0" err="1"/>
              <a:t>registrado</a:t>
            </a:r>
            <a:r>
              <a:rPr dirty="0"/>
              <a:t> 999 </a:t>
            </a:r>
            <a:r>
              <a:rPr dirty="0" err="1"/>
              <a:t>conexiones</a:t>
            </a:r>
            <a:r>
              <a:rPr dirty="0"/>
              <a:t> a las 10</a:t>
            </a:r>
            <a:r>
              <a:rPr lang="es-ES" dirty="0"/>
              <a:t>:00</a:t>
            </a:r>
            <a:r>
              <a:rPr dirty="0"/>
              <a:t>, </a:t>
            </a:r>
            <a:r>
              <a:rPr dirty="0" err="1"/>
              <a:t>entonces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total </a:t>
            </a:r>
            <a:r>
              <a:rPr dirty="0" err="1"/>
              <a:t>superará</a:t>
            </a:r>
            <a:r>
              <a:rPr dirty="0"/>
              <a:t> las 1000 </a:t>
            </a:r>
            <a:r>
              <a:rPr dirty="0" err="1"/>
              <a:t>durante</a:t>
            </a:r>
            <a:r>
              <a:rPr dirty="0"/>
              <a:t> el </a:t>
            </a:r>
            <a:r>
              <a:rPr dirty="0" err="1"/>
              <a:t>minuto</a:t>
            </a:r>
            <a:r>
              <a:rPr dirty="0"/>
              <a:t> </a:t>
            </a:r>
            <a:r>
              <a:rPr dirty="0" err="1"/>
              <a:t>siguiente</a:t>
            </a:r>
            <a:r>
              <a:rPr dirty="0"/>
              <a:t>, </a:t>
            </a:r>
            <a:r>
              <a:rPr lang="es-ES" dirty="0"/>
              <a:t>i</a:t>
            </a:r>
            <a:r>
              <a:rPr dirty="0" err="1"/>
              <a:t>ndependientemente</a:t>
            </a:r>
            <a:r>
              <a:rPr dirty="0"/>
              <a:t> de </a:t>
            </a:r>
            <a:r>
              <a:rPr dirty="0" err="1"/>
              <a:t>cuándo</a:t>
            </a:r>
            <a:r>
              <a:rPr dirty="0"/>
              <a:t> y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hicieron</a:t>
            </a:r>
            <a:r>
              <a:rPr dirty="0"/>
              <a:t> </a:t>
            </a:r>
            <a:r>
              <a:rPr dirty="0" err="1"/>
              <a:t>estas</a:t>
            </a:r>
            <a:r>
              <a:rPr dirty="0"/>
              <a:t> 999 </a:t>
            </a:r>
            <a:r>
              <a:rPr dirty="0" err="1"/>
              <a:t>conexiones</a:t>
            </a:r>
            <a:r>
              <a:rPr dirty="0"/>
              <a:t> en el </a:t>
            </a:r>
            <a:r>
              <a:rPr dirty="0" err="1"/>
              <a:t>pasado</a:t>
            </a:r>
            <a:r>
              <a:rPr dirty="0"/>
              <a:t>. </a:t>
            </a:r>
          </a:p>
          <a:p>
            <a:pPr lvl="1">
              <a:defRPr b="1"/>
            </a:pPr>
            <a:r>
              <a:rPr dirty="0"/>
              <a:t>Este </a:t>
            </a:r>
            <a:r>
              <a:rPr dirty="0" err="1"/>
              <a:t>proceso</a:t>
            </a:r>
            <a:r>
              <a:rPr dirty="0"/>
              <a:t> es </a:t>
            </a:r>
            <a:r>
              <a:rPr lang="es-ES" dirty="0"/>
              <a:t>de </a:t>
            </a:r>
            <a:r>
              <a:rPr dirty="0"/>
              <a:t>Markov.</a:t>
            </a:r>
            <a:endParaRPr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3D4ADE-1BE0-CDC1-9BE7-A7494478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4710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1B270-3429-4DE3-800C-5632F1E2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de Markov y </a:t>
            </a:r>
            <a:r>
              <a:rPr dirty="0" err="1"/>
              <a:t>cadenas</a:t>
            </a:r>
            <a:r>
              <a:rPr dirty="0"/>
              <a:t> de </a:t>
            </a:r>
            <a:r>
              <a:rPr dirty="0" err="1"/>
              <a:t>MarkovEjemplo</a:t>
            </a:r>
            <a:r>
              <a:rPr dirty="0"/>
              <a:t> de </a:t>
            </a:r>
            <a:r>
              <a:rPr dirty="0" err="1"/>
              <a:t>proceso</a:t>
            </a:r>
            <a:r>
              <a:rPr dirty="0"/>
              <a:t> no Markov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48E0E-CBE6-4A80-B9E6-991B22D63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Ejemplo</a:t>
            </a:r>
            <a:r>
              <a:rPr dirty="0"/>
              <a:t> 6.6 (</a:t>
            </a:r>
            <a:r>
              <a:rPr dirty="0" err="1"/>
              <a:t>Precios</a:t>
            </a:r>
            <a:r>
              <a:rPr dirty="0"/>
              <a:t> de stock). </a:t>
            </a:r>
          </a:p>
          <a:p>
            <a:pPr lvl="1"/>
            <a:r>
              <a:rPr lang="es-ES" dirty="0"/>
              <a:t>Y</a:t>
            </a:r>
            <a:r>
              <a:rPr dirty="0"/>
              <a:t>(t) </a:t>
            </a:r>
            <a:r>
              <a:rPr lang="es-ES" dirty="0"/>
              <a:t>es </a:t>
            </a:r>
            <a:r>
              <a:rPr dirty="0"/>
              <a:t>el valor de </a:t>
            </a:r>
            <a:r>
              <a:rPr dirty="0" err="1"/>
              <a:t>alguna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 o </a:t>
            </a:r>
            <a:r>
              <a:rPr dirty="0" err="1"/>
              <a:t>algún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 de </a:t>
            </a:r>
            <a:r>
              <a:rPr dirty="0" err="1"/>
              <a:t>mercado</a:t>
            </a:r>
            <a:r>
              <a:rPr dirty="0"/>
              <a:t> en el </a:t>
            </a:r>
            <a:r>
              <a:rPr lang="es-ES" dirty="0"/>
              <a:t>instante</a:t>
            </a:r>
            <a:r>
              <a:rPr dirty="0"/>
              <a:t> t. </a:t>
            </a:r>
          </a:p>
          <a:p>
            <a:pPr lvl="1"/>
            <a:r>
              <a:rPr dirty="0"/>
              <a:t>Si </a:t>
            </a:r>
            <a:r>
              <a:rPr dirty="0" err="1"/>
              <a:t>conocemos</a:t>
            </a:r>
            <a:r>
              <a:rPr dirty="0"/>
              <a:t> Y(t), ¿</a:t>
            </a:r>
            <a:r>
              <a:rPr dirty="0" err="1"/>
              <a:t>también</a:t>
            </a:r>
            <a:r>
              <a:rPr dirty="0"/>
              <a:t> </a:t>
            </a:r>
            <a:r>
              <a:rPr lang="es-ES" dirty="0"/>
              <a:t>necesitamos </a:t>
            </a:r>
            <a:r>
              <a:rPr dirty="0" err="1"/>
              <a:t>conocer</a:t>
            </a:r>
            <a:r>
              <a:rPr dirty="0"/>
              <a:t> Y(t− 1) para </a:t>
            </a:r>
            <a:r>
              <a:rPr dirty="0" err="1"/>
              <a:t>predecir</a:t>
            </a:r>
            <a:r>
              <a:rPr dirty="0"/>
              <a:t> Y(t+ 1)?</a:t>
            </a:r>
          </a:p>
          <a:p>
            <a:pPr lvl="1"/>
            <a:r>
              <a:rPr lang="es-ES" dirty="0"/>
              <a:t>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argumentar</a:t>
            </a:r>
            <a:r>
              <a:rPr dirty="0"/>
              <a:t> que </a:t>
            </a:r>
            <a:r>
              <a:rPr dirty="0" err="1"/>
              <a:t>si</a:t>
            </a:r>
            <a:r>
              <a:rPr dirty="0"/>
              <a:t> Y(t− 1) </a:t>
            </a:r>
            <a:r>
              <a:rPr lang="es-ES" dirty="0"/>
              <a:t>&lt;</a:t>
            </a:r>
            <a:r>
              <a:rPr dirty="0"/>
              <a:t> Y(t), </a:t>
            </a:r>
            <a:r>
              <a:rPr dirty="0" err="1"/>
              <a:t>entonces</a:t>
            </a:r>
            <a:r>
              <a:rPr dirty="0"/>
              <a:t> el </a:t>
            </a:r>
            <a:r>
              <a:rPr dirty="0" err="1"/>
              <a:t>mercado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subiendo</a:t>
            </a:r>
            <a:r>
              <a:rPr dirty="0"/>
              <a:t>, </a:t>
            </a:r>
            <a:r>
              <a:rPr lang="es-ES" dirty="0"/>
              <a:t>y es probable </a:t>
            </a:r>
            <a:r>
              <a:rPr dirty="0"/>
              <a:t>(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seguro</a:t>
            </a:r>
            <a:r>
              <a:rPr dirty="0"/>
              <a:t>) que </a:t>
            </a:r>
            <a:r>
              <a:rPr lang="es-ES" dirty="0"/>
              <a:t>Y(t+ 1) </a:t>
            </a:r>
            <a:r>
              <a:rPr dirty="0" err="1"/>
              <a:t>exceda</a:t>
            </a:r>
            <a:r>
              <a:rPr dirty="0"/>
              <a:t> Y(t). </a:t>
            </a:r>
          </a:p>
          <a:p>
            <a:pPr lvl="1"/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lado</a:t>
            </a:r>
            <a:r>
              <a:rPr dirty="0"/>
              <a:t>, </a:t>
            </a:r>
            <a:r>
              <a:rPr dirty="0" err="1"/>
              <a:t>si</a:t>
            </a:r>
            <a:r>
              <a:rPr dirty="0"/>
              <a:t> Y(t − 1) &gt; Y(t),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concluir</a:t>
            </a:r>
            <a:r>
              <a:rPr dirty="0"/>
              <a:t> que el </a:t>
            </a:r>
            <a:r>
              <a:rPr dirty="0" err="1"/>
              <a:t>mercado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cayendo</a:t>
            </a:r>
            <a:r>
              <a:rPr dirty="0"/>
              <a:t> y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esperar</a:t>
            </a:r>
            <a:r>
              <a:rPr dirty="0"/>
              <a:t> Y(t+ 1) </a:t>
            </a:r>
            <a:r>
              <a:rPr lang="es-ES" dirty="0"/>
              <a:t>&lt;</a:t>
            </a:r>
            <a:r>
              <a:rPr dirty="0"/>
              <a:t> Y(t). </a:t>
            </a:r>
          </a:p>
          <a:p>
            <a:pPr lvl="1"/>
            <a:r>
              <a:rPr dirty="0" err="1"/>
              <a:t>Parece</a:t>
            </a:r>
            <a:r>
              <a:rPr dirty="0"/>
              <a:t> que </a:t>
            </a:r>
            <a:r>
              <a:rPr dirty="0" err="1"/>
              <a:t>conocer</a:t>
            </a:r>
            <a:r>
              <a:rPr dirty="0"/>
              <a:t> el </a:t>
            </a:r>
            <a:r>
              <a:rPr dirty="0" err="1"/>
              <a:t>pasado</a:t>
            </a:r>
            <a:r>
              <a:rPr dirty="0"/>
              <a:t> </a:t>
            </a:r>
            <a:r>
              <a:rPr dirty="0" err="1"/>
              <a:t>además</a:t>
            </a:r>
            <a:r>
              <a:rPr dirty="0"/>
              <a:t> del </a:t>
            </a:r>
            <a:r>
              <a:rPr dirty="0" err="1"/>
              <a:t>presente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ayud</a:t>
            </a:r>
            <a:r>
              <a:rPr lang="es-ES" dirty="0"/>
              <a:t>a</a:t>
            </a:r>
            <a:r>
              <a:rPr dirty="0"/>
              <a:t> a </a:t>
            </a:r>
            <a:r>
              <a:rPr dirty="0" err="1"/>
              <a:t>predecir</a:t>
            </a:r>
            <a:r>
              <a:rPr dirty="0"/>
              <a:t> el </a:t>
            </a:r>
            <a:r>
              <a:rPr dirty="0" err="1"/>
              <a:t>futuro</a:t>
            </a:r>
            <a:r>
              <a:rPr dirty="0"/>
              <a:t>. </a:t>
            </a:r>
          </a:p>
          <a:p>
            <a:pPr lvl="1">
              <a:defRPr b="1"/>
            </a:pPr>
            <a:r>
              <a:rPr dirty="0"/>
              <a:t>Este </a:t>
            </a:r>
            <a:r>
              <a:rPr dirty="0" err="1"/>
              <a:t>proceso</a:t>
            </a:r>
            <a:r>
              <a:rPr dirty="0"/>
              <a:t> no es </a:t>
            </a:r>
            <a:r>
              <a:rPr lang="es-ES" dirty="0"/>
              <a:t>de </a:t>
            </a:r>
            <a:r>
              <a:rPr dirty="0"/>
              <a:t>Markov.</a:t>
            </a:r>
            <a:endParaRPr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7FA984-F419-C29D-39F3-89C6A620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6577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1B270-3429-4DE3-800C-5632F1E2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1 </a:t>
            </a:r>
            <a:r>
              <a:rPr dirty="0" err="1"/>
              <a:t>Cadenas</a:t>
            </a:r>
            <a:r>
              <a:rPr dirty="0"/>
              <a:t> de Markov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48E0E-CBE6-4A80-B9E6-991B22D63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 es un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</a:t>
            </a:r>
            <a:r>
              <a:rPr lang="es-ES" dirty="0"/>
              <a:t>de </a:t>
            </a:r>
            <a:r>
              <a:rPr lang="es-ES" dirty="0" err="1"/>
              <a:t>Markov</a:t>
            </a:r>
            <a:r>
              <a:rPr lang="es-ES" dirty="0"/>
              <a:t> de tiempo discreto y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.</a:t>
            </a:r>
          </a:p>
          <a:p>
            <a:pPr lvl="1"/>
            <a:r>
              <a:rPr dirty="0"/>
              <a:t>El </a:t>
            </a:r>
            <a:r>
              <a:rPr dirty="0" err="1"/>
              <a:t>tiempo</a:t>
            </a:r>
            <a:r>
              <a:rPr dirty="0"/>
              <a:t> es </a:t>
            </a:r>
            <a:r>
              <a:rPr dirty="0" err="1"/>
              <a:t>discreto</a:t>
            </a:r>
            <a:r>
              <a:rPr dirty="0"/>
              <a:t>, </a:t>
            </a:r>
            <a:r>
              <a:rPr dirty="0" err="1"/>
              <a:t>así</a:t>
            </a:r>
            <a:r>
              <a:rPr dirty="0"/>
              <a:t> que </a:t>
            </a:r>
            <a:r>
              <a:rPr lang="es-ES" dirty="0"/>
              <a:t>podemos definir el</a:t>
            </a:r>
            <a:r>
              <a:rPr dirty="0"/>
              <a:t> </a:t>
            </a:r>
            <a:r>
              <a:rPr lang="es-ES" dirty="0"/>
              <a:t>conjunto de instantes de tiempo como </a:t>
            </a:r>
            <a:r>
              <a:rPr dirty="0"/>
              <a:t>T = {0, 1, </a:t>
            </a:r>
            <a:r>
              <a:rPr lang="es-ES" dirty="0"/>
              <a:t>2.</a:t>
            </a:r>
            <a:r>
              <a:rPr dirty="0"/>
              <a:t> . .}.</a:t>
            </a:r>
          </a:p>
          <a:p>
            <a:pPr lvl="1"/>
            <a:r>
              <a:rPr lang="es-ES" dirty="0"/>
              <a:t>P</a:t>
            </a:r>
            <a:r>
              <a:rPr dirty="0" err="1"/>
              <a:t>odemos</a:t>
            </a:r>
            <a:r>
              <a:rPr dirty="0"/>
              <a:t> </a:t>
            </a:r>
            <a:r>
              <a:rPr lang="es-ES" dirty="0"/>
              <a:t>considerar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secuencia</a:t>
            </a:r>
            <a:r>
              <a:rPr dirty="0"/>
              <a:t> </a:t>
            </a:r>
            <a:r>
              <a:rPr lang="es-ES" dirty="0"/>
              <a:t>de variables aleatorias </a:t>
            </a:r>
            <a:r>
              <a:rPr dirty="0"/>
              <a:t>{X(0), X(1), X(2). . .} </a:t>
            </a:r>
          </a:p>
          <a:p>
            <a:pPr lvl="1"/>
            <a:r>
              <a:rPr dirty="0"/>
              <a:t>El </a:t>
            </a:r>
            <a:r>
              <a:rPr dirty="0" err="1"/>
              <a:t>conjunto</a:t>
            </a:r>
            <a:r>
              <a:rPr dirty="0"/>
              <a:t> de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también</a:t>
            </a:r>
            <a:r>
              <a:rPr dirty="0"/>
              <a:t> es </a:t>
            </a:r>
            <a:r>
              <a:rPr dirty="0" err="1"/>
              <a:t>discreto</a:t>
            </a:r>
            <a:r>
              <a:rPr dirty="0"/>
              <a:t>, </a:t>
            </a:r>
            <a:r>
              <a:rPr dirty="0" err="1"/>
              <a:t>así</a:t>
            </a:r>
            <a:r>
              <a:rPr dirty="0"/>
              <a:t> que </a:t>
            </a:r>
            <a:r>
              <a:rPr lang="es-ES" dirty="0"/>
              <a:t>enumeramos </a:t>
            </a:r>
            <a:r>
              <a:rPr dirty="0"/>
              <a:t>los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1, 2. . . </a:t>
            </a:r>
            <a:r>
              <a:rPr lang="es-ES" dirty="0"/>
              <a:t>n</a:t>
            </a:r>
            <a:r>
              <a:rPr dirty="0"/>
              <a:t>.  </a:t>
            </a:r>
          </a:p>
          <a:p>
            <a:pPr lvl="1"/>
            <a:r>
              <a:rPr lang="es-ES" dirty="0"/>
              <a:t>Normalmente se comienza </a:t>
            </a:r>
            <a:r>
              <a:rPr dirty="0"/>
              <a:t>la </a:t>
            </a:r>
            <a:r>
              <a:rPr dirty="0" err="1"/>
              <a:t>enumeración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el </a:t>
            </a:r>
            <a:r>
              <a:rPr dirty="0" err="1"/>
              <a:t>estado</a:t>
            </a:r>
            <a:r>
              <a:rPr dirty="0"/>
              <a:t> 0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En algunos casos, el número de estados posibles es infinito (</a:t>
            </a:r>
            <a:r>
              <a:rPr dirty="0"/>
              <a:t>n = </a:t>
            </a:r>
            <a:r>
              <a:rPr lang="en-US" dirty="0"/>
              <a:t>∞)</a:t>
            </a:r>
            <a:r>
              <a:rPr dirty="0"/>
              <a:t>.</a:t>
            </a:r>
          </a:p>
          <a:p>
            <a:pPr lvl="1"/>
            <a:r>
              <a:rPr dirty="0"/>
              <a:t>En las </a:t>
            </a:r>
            <a:r>
              <a:rPr dirty="0" err="1"/>
              <a:t>cadenas</a:t>
            </a:r>
            <a:r>
              <a:rPr dirty="0"/>
              <a:t> de Markov s</a:t>
            </a:r>
            <a:r>
              <a:rPr lang="es-ES" dirty="0" err="1"/>
              <a:t>ó</a:t>
            </a:r>
            <a:r>
              <a:rPr dirty="0"/>
              <a:t>lo </a:t>
            </a:r>
            <a:r>
              <a:rPr lang="es-ES" dirty="0"/>
              <a:t>importa </a:t>
            </a:r>
            <a:r>
              <a:rPr dirty="0" err="1"/>
              <a:t>el</a:t>
            </a:r>
            <a:r>
              <a:rPr dirty="0"/>
              <a:t> valor de X(t) </a:t>
            </a:r>
            <a:r>
              <a:rPr lang="es-ES" dirty="0"/>
              <a:t>p</a:t>
            </a:r>
            <a:r>
              <a:rPr dirty="0" err="1"/>
              <a:t>ara</a:t>
            </a:r>
            <a:r>
              <a:rPr dirty="0"/>
              <a:t> </a:t>
            </a:r>
            <a:r>
              <a:rPr dirty="0" err="1"/>
              <a:t>predecir</a:t>
            </a:r>
            <a:r>
              <a:rPr dirty="0"/>
              <a:t> X(t+ 1) </a:t>
            </a:r>
          </a:p>
          <a:p>
            <a:pPr lvl="1"/>
            <a:endParaRPr dirty="0"/>
          </a:p>
          <a:p>
            <a:pPr lvl="1"/>
            <a:endParaRPr dirty="0"/>
          </a:p>
          <a:p>
            <a:pPr marL="0" indent="0">
              <a:buNone/>
            </a:pPr>
            <a:endParaRPr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E72F69-DDF9-6E06-9C5C-3D454922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5336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3.1 Cadenas de </a:t>
            </a:r>
            <a:r>
              <a:rPr lang="es-ES" dirty="0" err="1"/>
              <a:t>Markov</a:t>
            </a:r>
            <a:br>
              <a:rPr lang="es-ES" dirty="0"/>
            </a:br>
            <a:r>
              <a:rPr lang="es-ES" dirty="0"/>
              <a:t>Distribución de una cadena de </a:t>
            </a:r>
            <a:r>
              <a:rPr lang="es-ES" dirty="0" err="1"/>
              <a:t>Markov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distribución de probabilidad de una cadena de </a:t>
            </a:r>
            <a:r>
              <a:rPr lang="es-ES" dirty="0" err="1"/>
              <a:t>Markov</a:t>
            </a:r>
            <a:r>
              <a:rPr lang="es-ES" dirty="0"/>
              <a:t> es la función de masa de probabilidad de X(t)</a:t>
            </a:r>
          </a:p>
          <a:p>
            <a:pPr lvl="1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P{X(t) = x}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x ∈ {1, 2, . . . , n} y t ∈ {0,1, 2, . . . , ∞}</a:t>
            </a:r>
          </a:p>
          <a:p>
            <a:r>
              <a:rPr lang="es-ES" dirty="0"/>
              <a:t>La distribución inicial de una cadena de </a:t>
            </a:r>
            <a:r>
              <a:rPr lang="es-ES" dirty="0" err="1"/>
              <a:t>Markov</a:t>
            </a:r>
            <a:r>
              <a:rPr lang="es-ES" dirty="0"/>
              <a:t> es la función de masa de probabilidad de X(0)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P{X(0) = x} para x ∈ {1, 2, . . . , n}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178B25-EADB-46D5-EB2A-E459AA40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1896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1B270-3429-4DE3-800C-5632F1E2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1 </a:t>
            </a:r>
            <a:r>
              <a:rPr dirty="0" err="1"/>
              <a:t>Cadenas</a:t>
            </a:r>
            <a:r>
              <a:rPr dirty="0"/>
              <a:t> de Markov</a:t>
            </a:r>
            <a:br>
              <a:rPr lang="es-ES" dirty="0"/>
            </a:br>
            <a:r>
              <a:rPr lang="es-ES" dirty="0"/>
              <a:t>P</a:t>
            </a:r>
            <a:r>
              <a:rPr dirty="0" err="1"/>
              <a:t>robabilidad</a:t>
            </a:r>
            <a:r>
              <a:rPr dirty="0"/>
              <a:t> de </a:t>
            </a:r>
            <a:r>
              <a:rPr dirty="0" err="1"/>
              <a:t>transición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48E0E-CBE6-4A80-B9E6-991B22D63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p</a:t>
            </a:r>
            <a:r>
              <a:rPr dirty="0" err="1"/>
              <a:t>robabilidad</a:t>
            </a:r>
            <a:r>
              <a:rPr dirty="0"/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dirty="0"/>
              <a:t> se llama </a:t>
            </a:r>
            <a:r>
              <a:rPr b="1" dirty="0" err="1"/>
              <a:t>probabilidad</a:t>
            </a:r>
            <a:r>
              <a:rPr b="1" dirty="0"/>
              <a:t> de </a:t>
            </a:r>
            <a:r>
              <a:rPr b="1" dirty="0" err="1"/>
              <a:t>transición</a:t>
            </a:r>
            <a:endParaRPr b="1" dirty="0"/>
          </a:p>
          <a:p>
            <a:pPr lv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 err="1"/>
              <a:t>p</a:t>
            </a:r>
            <a:r>
              <a:rPr baseline="-25000" dirty="0" err="1"/>
              <a:t>ij</a:t>
            </a:r>
            <a:r>
              <a:rPr dirty="0"/>
              <a:t>(t) = P{X(t+1) = j | X(t) = </a:t>
            </a:r>
            <a:r>
              <a:rPr dirty="0" err="1"/>
              <a:t>i</a:t>
            </a:r>
            <a:r>
              <a:rPr dirty="0"/>
              <a:t>} </a:t>
            </a:r>
          </a:p>
          <a:p>
            <a:pPr lvl="1"/>
            <a:r>
              <a:rPr dirty="0"/>
              <a:t>Es la </a:t>
            </a:r>
            <a:r>
              <a:rPr dirty="0" err="1"/>
              <a:t>probabilidad</a:t>
            </a:r>
            <a:r>
              <a:rPr dirty="0"/>
              <a:t> de que la </a:t>
            </a:r>
            <a:r>
              <a:rPr dirty="0" err="1"/>
              <a:t>cadena</a:t>
            </a:r>
            <a:r>
              <a:rPr dirty="0"/>
              <a:t> de Markov X </a:t>
            </a:r>
            <a:r>
              <a:rPr dirty="0" err="1"/>
              <a:t>haga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 del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al </a:t>
            </a:r>
            <a:r>
              <a:rPr dirty="0" err="1"/>
              <a:t>estado</a:t>
            </a:r>
            <a:r>
              <a:rPr dirty="0"/>
              <a:t> j </a:t>
            </a:r>
            <a:r>
              <a:rPr lang="es-ES" dirty="0"/>
              <a:t>a partir d</a:t>
            </a:r>
            <a:r>
              <a:rPr dirty="0" err="1"/>
              <a:t>el</a:t>
            </a:r>
            <a:r>
              <a:rPr dirty="0"/>
              <a:t> </a:t>
            </a:r>
            <a:r>
              <a:rPr lang="es-ES" dirty="0"/>
              <a:t>instante</a:t>
            </a:r>
            <a:r>
              <a:rPr dirty="0"/>
              <a:t> t</a:t>
            </a:r>
            <a:endParaRPr lang="es-ES" dirty="0"/>
          </a:p>
          <a:p>
            <a:pPr lvl="1"/>
            <a:r>
              <a:rPr lang="es-ES" dirty="0"/>
              <a:t>Es decir, la probabilidad de que en el instante t+1 el estado sea j, sabiendo que en el instante t el estado era i</a:t>
            </a:r>
          </a:p>
          <a:p>
            <a:r>
              <a:rPr lang="es-ES" dirty="0"/>
              <a:t>La probabilidad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s-E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</a:t>
            </a:r>
            <a:r>
              <a:rPr lang="es-ES" dirty="0"/>
              <a:t>se denomina </a:t>
            </a:r>
            <a:r>
              <a:rPr lang="es-ES" b="1" dirty="0"/>
              <a:t>probabilidad de transición en h pasos</a:t>
            </a:r>
          </a:p>
          <a:p>
            <a:pPr lv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 err="1"/>
              <a:t>p</a:t>
            </a:r>
            <a:r>
              <a:rPr baseline="-25000" dirty="0" err="1"/>
              <a:t>ij</a:t>
            </a:r>
            <a:r>
              <a:rPr baseline="30000" dirty="0"/>
              <a:t>(h)</a:t>
            </a:r>
            <a:r>
              <a:rPr dirty="0"/>
              <a:t>(t) = P{X(</a:t>
            </a:r>
            <a:r>
              <a:rPr dirty="0" err="1"/>
              <a:t>t+h</a:t>
            </a:r>
            <a:r>
              <a:rPr dirty="0"/>
              <a:t>) = j | X(t) = </a:t>
            </a:r>
            <a:r>
              <a:rPr dirty="0" err="1"/>
              <a:t>i</a:t>
            </a:r>
            <a:r>
              <a:rPr dirty="0"/>
              <a:t>} </a:t>
            </a:r>
          </a:p>
          <a:p>
            <a:pPr lvl="1"/>
            <a:r>
              <a:rPr dirty="0"/>
              <a:t>Es la </a:t>
            </a:r>
            <a:r>
              <a:rPr dirty="0" err="1"/>
              <a:t>probabilidad</a:t>
            </a:r>
            <a:r>
              <a:rPr dirty="0"/>
              <a:t> de </a:t>
            </a:r>
            <a:r>
              <a:rPr lang="es-ES" dirty="0"/>
              <a:t>pasar </a:t>
            </a:r>
            <a:r>
              <a:rPr dirty="0"/>
              <a:t>del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al </a:t>
            </a:r>
            <a:r>
              <a:rPr dirty="0" err="1"/>
              <a:t>estado</a:t>
            </a:r>
            <a:r>
              <a:rPr dirty="0"/>
              <a:t> j</a:t>
            </a:r>
            <a:r>
              <a:rPr lang="es-ES" dirty="0"/>
              <a:t>, mediante </a:t>
            </a:r>
            <a:r>
              <a:rPr dirty="0"/>
              <a:t>h </a:t>
            </a:r>
            <a:r>
              <a:rPr dirty="0" err="1"/>
              <a:t>transiciones</a:t>
            </a:r>
            <a:r>
              <a:rPr lang="es-ES" dirty="0"/>
              <a:t> desde el instante t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03767F-97A4-C5C5-75AC-D576548B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724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1B270-3429-4DE3-800C-5632F1E2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3.1 Cadenas de </a:t>
            </a:r>
            <a:r>
              <a:rPr lang="es-ES" dirty="0" err="1"/>
              <a:t>Markov</a:t>
            </a:r>
            <a:br>
              <a:rPr lang="es-ES" dirty="0"/>
            </a:br>
            <a:r>
              <a:rPr lang="es-ES" dirty="0"/>
              <a:t>Cadena de </a:t>
            </a:r>
            <a:r>
              <a:rPr lang="es-ES" dirty="0" err="1"/>
              <a:t>Markov</a:t>
            </a:r>
            <a:r>
              <a:rPr lang="es-ES" dirty="0"/>
              <a:t> homogénea y regular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4748E0E-CBE6-4A80-B9E6-991B22D63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Una cadena de </a:t>
                </a:r>
                <a:r>
                  <a:rPr lang="es-ES" dirty="0" err="1"/>
                  <a:t>Markov</a:t>
                </a:r>
                <a:r>
                  <a:rPr lang="es-ES" dirty="0"/>
                  <a:t> es homogénea si todas sus probabilidades de transición son independientes de t. </a:t>
                </a:r>
              </a:p>
              <a:p>
                <a:r>
                  <a:rPr lang="es-ES" dirty="0"/>
                  <a:t>Ser homogénea implica que la transición del estado i al estado j tiene la misma probabilidad en cualquier instante t, y entonces se puede simplificar la notación eliminando “t”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(h)</a:t>
                </a:r>
              </a:p>
              <a:p>
                <a:r>
                  <a:rPr lang="es-ES" dirty="0"/>
                  <a:t>Una cadena de </a:t>
                </a:r>
                <a:r>
                  <a:rPr lang="es-ES" dirty="0" err="1"/>
                  <a:t>Markov</a:t>
                </a:r>
                <a:r>
                  <a:rPr lang="es-ES" dirty="0"/>
                  <a:t> es regular si para todos los valores de i y j, se cumple que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0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para </a:t>
                </a:r>
                <a:r>
                  <a:rPr lang="en-US" dirty="0" err="1"/>
                  <a:t>algún</a:t>
                </a:r>
                <a:r>
                  <a:rPr lang="en-US" dirty="0"/>
                  <a:t> </a:t>
                </a:r>
                <a:r>
                  <a:rPr lang="en-US" dirty="0" err="1"/>
                  <a:t>instante</a:t>
                </a:r>
                <a:r>
                  <a:rPr lang="en-US" dirty="0"/>
                  <a:t> h. </a:t>
                </a:r>
              </a:p>
              <a:p>
                <a:pPr lvl="1"/>
                <a:r>
                  <a:rPr lang="en-US" dirty="0" err="1"/>
                  <a:t>Ejemplo</a:t>
                </a:r>
                <a:r>
                  <a:rPr lang="en-US" dirty="0"/>
                  <a:t>: </a:t>
                </a:r>
                <a:r>
                  <a:rPr lang="en-US" dirty="0" err="1"/>
                  <a:t>si</a:t>
                </a:r>
                <a:r>
                  <a:rPr lang="en-US" dirty="0"/>
                  <a:t> en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cadena</a:t>
                </a:r>
                <a:r>
                  <a:rPr lang="en-US" dirty="0"/>
                  <a:t> la </a:t>
                </a:r>
                <a:r>
                  <a:rPr lang="en-US" dirty="0" err="1"/>
                  <a:t>probabilidad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ya</a:t>
                </a:r>
                <a:r>
                  <a:rPr lang="en-US" dirty="0"/>
                  <a:t> no </a:t>
                </a:r>
                <a:r>
                  <a:rPr lang="en-US" dirty="0" err="1"/>
                  <a:t>haría</a:t>
                </a:r>
                <a:r>
                  <a:rPr lang="en-US" dirty="0"/>
                  <a:t> </a:t>
                </a:r>
                <a:r>
                  <a:rPr lang="en-US" dirty="0" err="1"/>
                  <a:t>falta</a:t>
                </a:r>
                <a:r>
                  <a:rPr lang="en-US" dirty="0"/>
                  <a:t> </a:t>
                </a:r>
                <a:r>
                  <a:rPr lang="en-US" dirty="0" err="1"/>
                  <a:t>comprobar</a:t>
                </a:r>
                <a:r>
                  <a:rPr lang="en-US" dirty="0"/>
                  <a:t> nada </a:t>
                </a:r>
                <a:r>
                  <a:rPr lang="en-US" dirty="0" err="1"/>
                  <a:t>más</a:t>
                </a:r>
                <a:r>
                  <a:rPr lang="en-US" dirty="0"/>
                  <a:t>, </a:t>
                </a:r>
                <a:r>
                  <a:rPr lang="en-US" dirty="0" err="1"/>
                  <a:t>porque</a:t>
                </a:r>
                <a:r>
                  <a:rPr lang="en-US" dirty="0"/>
                  <a:t> hay un </a:t>
                </a:r>
                <a:r>
                  <a:rPr lang="en-US" dirty="0" err="1"/>
                  <a:t>caso</a:t>
                </a:r>
                <a:r>
                  <a:rPr lang="en-US" dirty="0"/>
                  <a:t> en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intante</a:t>
                </a:r>
                <a:r>
                  <a:rPr lang="en-US" dirty="0"/>
                  <a:t> h=3 en </a:t>
                </a:r>
                <a:r>
                  <a:rPr lang="en-US" dirty="0" err="1"/>
                  <a:t>el</a:t>
                </a:r>
                <a:r>
                  <a:rPr lang="en-US" dirty="0"/>
                  <a:t> que la </a:t>
                </a:r>
                <a:r>
                  <a:rPr lang="en-US" dirty="0" err="1"/>
                  <a:t>probabilidad</a:t>
                </a:r>
                <a:r>
                  <a:rPr lang="en-US" dirty="0"/>
                  <a:t> no es &gt;0.</a:t>
                </a:r>
              </a:p>
              <a:p>
                <a:pPr lvl="1"/>
                <a:r>
                  <a:rPr lang="en-US" dirty="0" err="1"/>
                  <a:t>Ejemplo</a:t>
                </a:r>
                <a:r>
                  <a:rPr lang="en-US" dirty="0"/>
                  <a:t> 2: </a:t>
                </a:r>
                <a:r>
                  <a:rPr lang="en-US" dirty="0" err="1"/>
                  <a:t>si</a:t>
                </a:r>
                <a:r>
                  <a:rPr lang="en-US" dirty="0"/>
                  <a:t> en </a:t>
                </a:r>
                <a:r>
                  <a:rPr lang="en-US" dirty="0" err="1"/>
                  <a:t>otra</a:t>
                </a:r>
                <a:r>
                  <a:rPr lang="en-US" dirty="0"/>
                  <a:t> </a:t>
                </a:r>
                <a:r>
                  <a:rPr lang="en-US" dirty="0" err="1"/>
                  <a:t>cadena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pero</a:t>
                </a:r>
                <a:r>
                  <a:rPr lang="en-US" dirty="0"/>
                  <a:t> en h=4 </a:t>
                </a:r>
                <a:r>
                  <a:rPr lang="en-US" dirty="0" err="1"/>
                  <a:t>todos</a:t>
                </a:r>
                <a:r>
                  <a:rPr lang="en-US" dirty="0"/>
                  <a:t> los </a:t>
                </a:r>
                <a:r>
                  <a:rPr lang="en-US" dirty="0" err="1"/>
                  <a:t>valores</a:t>
                </a:r>
                <a:r>
                  <a:rPr lang="en-US" dirty="0"/>
                  <a:t> son &gt;0, es regular, </a:t>
                </a:r>
                <a:r>
                  <a:rPr lang="en-US" dirty="0" err="1"/>
                  <a:t>porque</a:t>
                </a:r>
                <a:r>
                  <a:rPr lang="en-US" dirty="0"/>
                  <a:t> </a:t>
                </a:r>
                <a:r>
                  <a:rPr lang="en-US" dirty="0" err="1"/>
                  <a:t>hemos</a:t>
                </a:r>
                <a:r>
                  <a:rPr lang="en-US" dirty="0"/>
                  <a:t> </a:t>
                </a:r>
                <a:r>
                  <a:rPr lang="en-US" dirty="0" err="1"/>
                  <a:t>encontrado</a:t>
                </a:r>
                <a:r>
                  <a:rPr lang="en-US" dirty="0"/>
                  <a:t> un </a:t>
                </a:r>
                <a:r>
                  <a:rPr lang="en-US" dirty="0" err="1"/>
                  <a:t>instante</a:t>
                </a:r>
                <a:r>
                  <a:rPr lang="en-US" dirty="0"/>
                  <a:t> h en </a:t>
                </a:r>
                <a:r>
                  <a:rPr lang="en-US" dirty="0" err="1"/>
                  <a:t>el</a:t>
                </a:r>
                <a:r>
                  <a:rPr lang="en-US" dirty="0"/>
                  <a:t> que no hay </a:t>
                </a:r>
                <a:r>
                  <a:rPr lang="en-US" dirty="0" err="1"/>
                  <a:t>ninguna</a:t>
                </a:r>
                <a:r>
                  <a:rPr lang="en-US" dirty="0"/>
                  <a:t> </a:t>
                </a:r>
                <a:r>
                  <a:rPr lang="en-US" dirty="0" err="1"/>
                  <a:t>prbabilidad</a:t>
                </a:r>
                <a:r>
                  <a:rPr lang="en-US" dirty="0"/>
                  <a:t> de </a:t>
                </a:r>
                <a:r>
                  <a:rPr lang="en-US" dirty="0" err="1"/>
                  <a:t>trasición</a:t>
                </a:r>
                <a:r>
                  <a:rPr lang="en-US" dirty="0"/>
                  <a:t> cero.</a:t>
                </a:r>
              </a:p>
              <a:p>
                <a:r>
                  <a:rPr lang="en-US" dirty="0"/>
                  <a:t>Ser regular </a:t>
                </a:r>
                <a:r>
                  <a:rPr lang="en-US" dirty="0" err="1"/>
                  <a:t>significa</a:t>
                </a:r>
                <a:r>
                  <a:rPr lang="en-US" dirty="0"/>
                  <a:t> que la </a:t>
                </a:r>
                <a:r>
                  <a:rPr lang="en-US" dirty="0" err="1"/>
                  <a:t>cadena</a:t>
                </a:r>
                <a:r>
                  <a:rPr lang="en-US" dirty="0"/>
                  <a:t> </a:t>
                </a:r>
                <a:r>
                  <a:rPr lang="en-US" dirty="0" err="1"/>
                  <a:t>tiene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</a:t>
                </a:r>
                <a:r>
                  <a:rPr lang="en-US" dirty="0" err="1"/>
                  <a:t>estacionaria</a:t>
                </a:r>
                <a:r>
                  <a:rPr lang="en-US" dirty="0"/>
                  <a:t>, y es </a:t>
                </a:r>
                <a:r>
                  <a:rPr lang="en-US" dirty="0" err="1"/>
                  <a:t>posible</a:t>
                </a:r>
                <a:r>
                  <a:rPr lang="en-US" dirty="0"/>
                  <a:t> </a:t>
                </a:r>
                <a:r>
                  <a:rPr lang="en-US" dirty="0" err="1"/>
                  <a:t>calcular</a:t>
                </a:r>
                <a:r>
                  <a:rPr lang="en-US" dirty="0"/>
                  <a:t> las </a:t>
                </a:r>
                <a:r>
                  <a:rPr lang="en-US" dirty="0" err="1"/>
                  <a:t>probabilidades</a:t>
                </a:r>
                <a:r>
                  <a:rPr lang="en-US" dirty="0"/>
                  <a:t> para un valor </a:t>
                </a:r>
                <a:r>
                  <a:rPr lang="en-US" dirty="0" err="1"/>
                  <a:t>infinito</a:t>
                </a:r>
                <a:r>
                  <a:rPr lang="en-US" dirty="0"/>
                  <a:t> de h, es </a:t>
                </a:r>
                <a:r>
                  <a:rPr lang="en-US" dirty="0" err="1"/>
                  <a:t>decir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4748E0E-CBE6-4A80-B9E6-991B22D63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r="-5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848041-5743-07BB-9733-739232BD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238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1 </a:t>
            </a:r>
            <a:r>
              <a:rPr dirty="0" err="1"/>
              <a:t>Cadenas</a:t>
            </a:r>
            <a:r>
              <a:rPr dirty="0"/>
              <a:t> de Markov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6.7: </a:t>
            </a:r>
            <a:r>
              <a:rPr dirty="0" err="1"/>
              <a:t>Previsiones</a:t>
            </a:r>
            <a:r>
              <a:rPr dirty="0"/>
              <a:t> </a:t>
            </a:r>
            <a:r>
              <a:rPr dirty="0" err="1"/>
              <a:t>meteorológicas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En </a:t>
            </a:r>
            <a:r>
              <a:rPr lang="es-ES" dirty="0"/>
              <a:t>una</a:t>
            </a:r>
            <a:r>
              <a:rPr dirty="0"/>
              <a:t> ciudad, </a:t>
            </a:r>
            <a:r>
              <a:rPr dirty="0" err="1"/>
              <a:t>cada</a:t>
            </a:r>
            <a:r>
              <a:rPr dirty="0"/>
              <a:t> día es </a:t>
            </a:r>
            <a:r>
              <a:rPr dirty="0" err="1"/>
              <a:t>soleado</a:t>
            </a:r>
            <a:r>
              <a:rPr dirty="0"/>
              <a:t> o </a:t>
            </a:r>
            <a:r>
              <a:rPr dirty="0" err="1"/>
              <a:t>lluvioso</a:t>
            </a:r>
            <a:r>
              <a:rPr dirty="0"/>
              <a:t>.</a:t>
            </a:r>
          </a:p>
          <a:p>
            <a:r>
              <a:rPr dirty="0"/>
              <a:t>Un día </a:t>
            </a:r>
            <a:r>
              <a:rPr dirty="0" err="1"/>
              <a:t>soleado</a:t>
            </a:r>
            <a:r>
              <a:rPr dirty="0"/>
              <a:t> es </a:t>
            </a:r>
            <a:r>
              <a:rPr dirty="0" err="1"/>
              <a:t>seguido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otro</a:t>
            </a:r>
            <a:r>
              <a:rPr dirty="0"/>
              <a:t> día </a:t>
            </a:r>
            <a:r>
              <a:rPr dirty="0" err="1"/>
              <a:t>soleado</a:t>
            </a:r>
            <a:r>
              <a:rPr dirty="0"/>
              <a:t> con </a:t>
            </a:r>
            <a:r>
              <a:rPr dirty="0" err="1"/>
              <a:t>probabilidad</a:t>
            </a:r>
            <a:r>
              <a:rPr dirty="0"/>
              <a:t> 0.7, </a:t>
            </a:r>
            <a:r>
              <a:rPr dirty="0" err="1"/>
              <a:t>mientras</a:t>
            </a:r>
            <a:r>
              <a:rPr dirty="0"/>
              <a:t> que un día </a:t>
            </a:r>
            <a:r>
              <a:rPr dirty="0" err="1"/>
              <a:t>lluvioso</a:t>
            </a:r>
            <a:r>
              <a:rPr dirty="0"/>
              <a:t> es </a:t>
            </a:r>
            <a:r>
              <a:rPr dirty="0" err="1"/>
              <a:t>seguido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un día </a:t>
            </a:r>
            <a:r>
              <a:rPr dirty="0" err="1"/>
              <a:t>soleado</a:t>
            </a:r>
            <a:r>
              <a:rPr dirty="0"/>
              <a:t> con </a:t>
            </a:r>
            <a:r>
              <a:rPr dirty="0" err="1"/>
              <a:t>probabilidad</a:t>
            </a:r>
            <a:r>
              <a:rPr dirty="0"/>
              <a:t> 0.4.</a:t>
            </a:r>
          </a:p>
          <a:p>
            <a:r>
              <a:rPr lang="es-ES" dirty="0"/>
              <a:t>Si l</a:t>
            </a:r>
            <a:r>
              <a:rPr dirty="0" err="1"/>
              <a:t>lueve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lunes, </a:t>
            </a:r>
            <a:r>
              <a:rPr lang="es-ES" dirty="0"/>
              <a:t>realizar un p</a:t>
            </a:r>
            <a:r>
              <a:rPr dirty="0" err="1"/>
              <a:t>ronóstico</a:t>
            </a:r>
            <a:r>
              <a:rPr lang="es-ES" dirty="0"/>
              <a:t> para</a:t>
            </a:r>
            <a:endParaRPr dirty="0"/>
          </a:p>
          <a:p>
            <a:pPr marL="914400" lvl="1" indent="-457200">
              <a:buFont typeface="+mj-lt"/>
              <a:buAutoNum type="alphaLcParenR"/>
            </a:pPr>
            <a:r>
              <a:rPr dirty="0"/>
              <a:t>Martes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 err="1"/>
              <a:t>Miércoles</a:t>
            </a:r>
            <a:endParaRPr dirty="0"/>
          </a:p>
          <a:p>
            <a:pPr marL="914400" lvl="1" indent="-457200">
              <a:buFont typeface="+mj-lt"/>
              <a:buAutoNum type="alphaLcParenR"/>
            </a:pPr>
            <a:r>
              <a:rPr dirty="0"/>
              <a:t>Jueves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871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1 </a:t>
            </a:r>
            <a:r>
              <a:rPr dirty="0" err="1"/>
              <a:t>Cadenas</a:t>
            </a:r>
            <a:r>
              <a:rPr dirty="0"/>
              <a:t> de Markov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6.7 (</a:t>
            </a:r>
            <a:r>
              <a:rPr dirty="0" err="1"/>
              <a:t>solución</a:t>
            </a:r>
            <a:r>
              <a:rPr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040289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Las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climáticas</a:t>
            </a:r>
            <a:r>
              <a:rPr dirty="0"/>
              <a:t> en este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 </a:t>
            </a:r>
            <a:r>
              <a:rPr dirty="0" err="1"/>
              <a:t>homogénea</a:t>
            </a:r>
            <a:r>
              <a:rPr dirty="0"/>
              <a:t> con 2 </a:t>
            </a:r>
            <a:r>
              <a:rPr dirty="0" err="1"/>
              <a:t>estados</a:t>
            </a:r>
            <a:r>
              <a:rPr dirty="0"/>
              <a:t>: </a:t>
            </a:r>
          </a:p>
          <a:p>
            <a:pPr lvl="1"/>
            <a:r>
              <a:rPr dirty="0" err="1"/>
              <a:t>estado</a:t>
            </a:r>
            <a:r>
              <a:rPr dirty="0"/>
              <a:t> 1 = </a:t>
            </a:r>
            <a:r>
              <a:rPr lang="es-ES" dirty="0"/>
              <a:t>“soleado”</a:t>
            </a:r>
            <a:r>
              <a:rPr dirty="0"/>
              <a:t> y </a:t>
            </a:r>
            <a:r>
              <a:rPr dirty="0" err="1"/>
              <a:t>estado</a:t>
            </a:r>
            <a:r>
              <a:rPr dirty="0"/>
              <a:t> 2 = </a:t>
            </a:r>
            <a:r>
              <a:rPr lang="es-ES" dirty="0"/>
              <a:t>“lluvioso”</a:t>
            </a:r>
            <a:r>
              <a:rPr dirty="0"/>
              <a:t>. </a:t>
            </a:r>
          </a:p>
          <a:p>
            <a:r>
              <a:rPr dirty="0"/>
              <a:t>Las </a:t>
            </a:r>
            <a:r>
              <a:rPr dirty="0" err="1"/>
              <a:t>probabilidades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son:</a:t>
            </a:r>
          </a:p>
          <a:p>
            <a:pPr lvl="1"/>
            <a:r>
              <a:rPr dirty="0"/>
              <a:t>p</a:t>
            </a:r>
            <a:r>
              <a:rPr baseline="-25000" dirty="0"/>
              <a:t>11 </a:t>
            </a:r>
            <a:r>
              <a:rPr dirty="0"/>
              <a:t>= 0,7, p</a:t>
            </a:r>
            <a:r>
              <a:rPr baseline="-25000" dirty="0"/>
              <a:t>12 </a:t>
            </a:r>
            <a:r>
              <a:rPr dirty="0"/>
              <a:t>= 1-0,7 = 0,3, p</a:t>
            </a:r>
            <a:r>
              <a:rPr baseline="-25000" dirty="0"/>
              <a:t>21 </a:t>
            </a:r>
            <a:r>
              <a:rPr dirty="0"/>
              <a:t>= 0,4, p</a:t>
            </a:r>
            <a:r>
              <a:rPr baseline="-25000" dirty="0"/>
              <a:t>22</a:t>
            </a:r>
            <a:r>
              <a:rPr dirty="0"/>
              <a:t> = 1-0,4 = 0,6</a:t>
            </a:r>
          </a:p>
          <a:p>
            <a:r>
              <a:rPr dirty="0"/>
              <a:t>El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diagrama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dirty="0" err="1"/>
              <a:t>refleja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comportamiento</a:t>
            </a:r>
            <a:r>
              <a:rPr dirty="0"/>
              <a:t> de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Markov. </a:t>
            </a:r>
          </a:p>
          <a:p>
            <a:pPr lvl="1"/>
            <a:r>
              <a:rPr dirty="0"/>
              <a:t>Las </a:t>
            </a:r>
            <a:r>
              <a:rPr dirty="0" err="1"/>
              <a:t>flechas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transiciones</a:t>
            </a:r>
            <a:r>
              <a:rPr dirty="0"/>
              <a:t> </a:t>
            </a:r>
            <a:r>
              <a:rPr dirty="0" err="1"/>
              <a:t>posibles</a:t>
            </a:r>
            <a:r>
              <a:rPr dirty="0"/>
              <a:t> en un solo paso, junto con las </a:t>
            </a:r>
            <a:r>
              <a:rPr dirty="0" err="1"/>
              <a:t>probabilidades</a:t>
            </a:r>
            <a:r>
              <a:rPr dirty="0"/>
              <a:t> </a:t>
            </a:r>
            <a:r>
              <a:rPr dirty="0" err="1"/>
              <a:t>correspondientes</a:t>
            </a:r>
            <a:r>
              <a:rPr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B33719-B363-4FD0-B5DB-44DD7C4D0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34" y="5018543"/>
            <a:ext cx="7305675" cy="1533525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D40567DD-AB95-62DB-E15B-E7A7F8CAA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842716" y="5033735"/>
            <a:ext cx="2984365" cy="928150"/>
            <a:chOff x="8200459" y="5041822"/>
            <a:chExt cx="2984365" cy="928150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FE0E414C-5580-2675-AD38-791D069DA52F}"/>
                </a:ext>
              </a:extLst>
            </p:cNvPr>
            <p:cNvSpPr/>
            <p:nvPr/>
          </p:nvSpPr>
          <p:spPr>
            <a:xfrm>
              <a:off x="8843939" y="5344886"/>
              <a:ext cx="398033" cy="37818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>
                  <a:solidFill>
                    <a:schemeClr val="tx1"/>
                  </a:solidFill>
                </a:defRPr>
              </a:pPr>
              <a:r>
                <a:t>1</a:t>
              </a: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6E46960E-93F1-DBA1-95E9-7E1CEC3D4CE1}"/>
                </a:ext>
              </a:extLst>
            </p:cNvPr>
            <p:cNvSpPr/>
            <p:nvPr/>
          </p:nvSpPr>
          <p:spPr>
            <a:xfrm>
              <a:off x="10130141" y="5344886"/>
              <a:ext cx="398033" cy="37818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>
                  <a:solidFill>
                    <a:schemeClr val="tx1"/>
                  </a:solidFill>
                </a:defRPr>
              </a:pPr>
              <a:r>
                <a:t>2</a:t>
              </a: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E4FFB484-E8A8-C652-9464-EFE9851946D3}"/>
                </a:ext>
              </a:extLst>
            </p:cNvPr>
            <p:cNvCxnSpPr>
              <a:stCxn id="4" idx="7"/>
              <a:endCxn id="6" idx="1"/>
            </p:cNvCxnSpPr>
            <p:nvPr/>
          </p:nvCxnSpPr>
          <p:spPr>
            <a:xfrm>
              <a:off x="9183681" y="5400269"/>
              <a:ext cx="100475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5902C269-CCDB-FC71-18A1-AF226128023F}"/>
                </a:ext>
              </a:extLst>
            </p:cNvPr>
            <p:cNvCxnSpPr>
              <a:cxnSpLocks/>
              <a:stCxn id="6" idx="3"/>
              <a:endCxn id="4" idx="5"/>
            </p:cNvCxnSpPr>
            <p:nvPr/>
          </p:nvCxnSpPr>
          <p:spPr>
            <a:xfrm flipH="1">
              <a:off x="9183681" y="5667685"/>
              <a:ext cx="100475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: angular 13">
              <a:extLst>
                <a:ext uri="{FF2B5EF4-FFF2-40B4-BE49-F238E27FC236}">
                  <a16:creationId xmlns:a16="http://schemas.microsoft.com/office/drawing/2014/main" id="{4FFBAE56-8728-B0FF-4FAF-149A5A3A4222}"/>
                </a:ext>
              </a:extLst>
            </p:cNvPr>
            <p:cNvCxnSpPr>
              <a:stCxn id="6" idx="7"/>
              <a:endCxn id="6" idx="6"/>
            </p:cNvCxnSpPr>
            <p:nvPr/>
          </p:nvCxnSpPr>
          <p:spPr>
            <a:xfrm rot="16200000" flipH="1">
              <a:off x="10432174" y="5437978"/>
              <a:ext cx="133708" cy="58291"/>
            </a:xfrm>
            <a:prstGeom prst="bentConnector4">
              <a:avLst>
                <a:gd name="adj1" fmla="val -212390"/>
                <a:gd name="adj2" fmla="val 49217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: angular 15">
              <a:extLst>
                <a:ext uri="{FF2B5EF4-FFF2-40B4-BE49-F238E27FC236}">
                  <a16:creationId xmlns:a16="http://schemas.microsoft.com/office/drawing/2014/main" id="{18BBA960-48FE-D66B-466A-AACC0DE7DE9E}"/>
                </a:ext>
              </a:extLst>
            </p:cNvPr>
            <p:cNvCxnSpPr>
              <a:cxnSpLocks/>
              <a:stCxn id="4" idx="1"/>
              <a:endCxn id="4" idx="2"/>
            </p:cNvCxnSpPr>
            <p:nvPr/>
          </p:nvCxnSpPr>
          <p:spPr>
            <a:xfrm rot="16200000" flipH="1" flipV="1">
              <a:off x="8806231" y="5437977"/>
              <a:ext cx="133708" cy="58291"/>
            </a:xfrm>
            <a:prstGeom prst="bentConnector4">
              <a:avLst>
                <a:gd name="adj1" fmla="val -212390"/>
                <a:gd name="adj2" fmla="val 49217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D7E7D20-EEA8-1A5F-5782-5E97DC5DD136}"/>
                </a:ext>
              </a:extLst>
            </p:cNvPr>
            <p:cNvSpPr txBox="1"/>
            <p:nvPr/>
          </p:nvSpPr>
          <p:spPr>
            <a:xfrm>
              <a:off x="9441798" y="5041822"/>
              <a:ext cx="4635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</a:t>
              </a:r>
              <a:r>
                <a:rPr baseline="-25000"/>
                <a:t>12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C93A97A-D9F0-4A18-E4CB-E17997FE81D6}"/>
                </a:ext>
              </a:extLst>
            </p:cNvPr>
            <p:cNvSpPr txBox="1"/>
            <p:nvPr/>
          </p:nvSpPr>
          <p:spPr>
            <a:xfrm>
              <a:off x="9454262" y="5600640"/>
              <a:ext cx="4635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</a:t>
              </a:r>
              <a:r>
                <a:rPr baseline="-25000"/>
                <a:t>21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E0BFB86-44C5-3315-A963-410BBBE3B12D}"/>
                </a:ext>
              </a:extLst>
            </p:cNvPr>
            <p:cNvSpPr txBox="1"/>
            <p:nvPr/>
          </p:nvSpPr>
          <p:spPr>
            <a:xfrm>
              <a:off x="10721236" y="5097790"/>
              <a:ext cx="4635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</a:t>
              </a:r>
              <a:r>
                <a:rPr baseline="-25000"/>
                <a:t>22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B6F0444-AAB5-9F62-DD59-2A90FE395EBF}"/>
                </a:ext>
              </a:extLst>
            </p:cNvPr>
            <p:cNvSpPr txBox="1"/>
            <p:nvPr/>
          </p:nvSpPr>
          <p:spPr>
            <a:xfrm>
              <a:off x="8200459" y="5097790"/>
              <a:ext cx="4635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</a:t>
              </a:r>
              <a:r>
                <a:rPr baseline="-25000"/>
                <a:t>11</a:t>
              </a:r>
            </a:p>
          </p:txBody>
        </p:sp>
      </p:grpSp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C4C3AE89-CEA6-AD80-31E3-EE2E2A9D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534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C32822-AC54-3DEB-90D7-CBAD05318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750" y="5259883"/>
            <a:ext cx="3872595" cy="7125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1 </a:t>
            </a:r>
            <a:r>
              <a:rPr dirty="0" err="1"/>
              <a:t>Cadenas</a:t>
            </a:r>
            <a:r>
              <a:rPr dirty="0"/>
              <a:t> de Markov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6.7 (</a:t>
            </a:r>
            <a:r>
              <a:rPr dirty="0" err="1"/>
              <a:t>solución</a:t>
            </a:r>
            <a:r>
              <a:rPr dirty="0"/>
              <a:t>) </a:t>
            </a:r>
            <a:r>
              <a:rPr lang="es-ES" dirty="0"/>
              <a:t>(</a:t>
            </a:r>
            <a:r>
              <a:rPr dirty="0"/>
              <a:t>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01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a) </a:t>
            </a:r>
            <a:r>
              <a:rPr dirty="0" err="1"/>
              <a:t>Pronóstico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martes (</a:t>
            </a:r>
            <a:r>
              <a:rPr dirty="0" err="1"/>
              <a:t>probabilidades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 </a:t>
            </a:r>
            <a:r>
              <a:rPr dirty="0"/>
              <a:t>1 paso) </a:t>
            </a:r>
          </a:p>
          <a:p>
            <a:r>
              <a:rPr dirty="0" err="1"/>
              <a:t>Soleado</a:t>
            </a:r>
            <a:r>
              <a:rPr dirty="0"/>
              <a:t>:</a:t>
            </a:r>
          </a:p>
          <a:p>
            <a:pPr lvl="1"/>
            <a:r>
              <a:rPr dirty="0"/>
              <a:t>Si </a:t>
            </a:r>
            <a:r>
              <a:rPr dirty="0" err="1"/>
              <a:t>llueve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lunes, </a:t>
            </a:r>
            <a:r>
              <a:rPr dirty="0" err="1"/>
              <a:t>entonces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martes </a:t>
            </a:r>
            <a:r>
              <a:rPr lang="es-ES" dirty="0"/>
              <a:t>será</a:t>
            </a:r>
            <a:r>
              <a:rPr dirty="0"/>
              <a:t> </a:t>
            </a:r>
            <a:r>
              <a:rPr dirty="0" err="1"/>
              <a:t>soleado</a:t>
            </a:r>
            <a:r>
              <a:rPr dirty="0"/>
              <a:t> con </a:t>
            </a:r>
            <a:r>
              <a:rPr dirty="0" err="1"/>
              <a:t>probabilidad</a:t>
            </a:r>
            <a:r>
              <a:rPr dirty="0"/>
              <a:t> p</a:t>
            </a:r>
            <a:r>
              <a:rPr baseline="-25000" dirty="0"/>
              <a:t>21</a:t>
            </a:r>
            <a:r>
              <a:rPr dirty="0"/>
              <a:t> = 0.4 (</a:t>
            </a:r>
            <a:r>
              <a:rPr dirty="0" err="1"/>
              <a:t>haciendo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 de un día </a:t>
            </a:r>
            <a:r>
              <a:rPr dirty="0" err="1"/>
              <a:t>lluvioso</a:t>
            </a:r>
            <a:r>
              <a:rPr dirty="0"/>
              <a:t> a un día </a:t>
            </a:r>
            <a:r>
              <a:rPr dirty="0" err="1"/>
              <a:t>soleado</a:t>
            </a:r>
            <a:r>
              <a:rPr dirty="0"/>
              <a:t>)</a:t>
            </a:r>
          </a:p>
          <a:p>
            <a:r>
              <a:rPr dirty="0" err="1"/>
              <a:t>Lluvioso</a:t>
            </a:r>
            <a:r>
              <a:rPr dirty="0"/>
              <a:t>:</a:t>
            </a:r>
          </a:p>
          <a:p>
            <a:pPr lvl="1"/>
            <a:r>
              <a:rPr dirty="0"/>
              <a:t>Si </a:t>
            </a:r>
            <a:r>
              <a:rPr dirty="0" err="1"/>
              <a:t>llueve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lunes, </a:t>
            </a:r>
            <a:r>
              <a:rPr dirty="0" err="1"/>
              <a:t>entonces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martes </a:t>
            </a:r>
            <a:r>
              <a:rPr lang="es-ES" dirty="0"/>
              <a:t>será</a:t>
            </a:r>
            <a:r>
              <a:rPr dirty="0"/>
              <a:t> </a:t>
            </a:r>
            <a:r>
              <a:rPr dirty="0" err="1"/>
              <a:t>lluvioso</a:t>
            </a:r>
            <a:r>
              <a:rPr dirty="0"/>
              <a:t> con </a:t>
            </a:r>
            <a:r>
              <a:rPr dirty="0" err="1"/>
              <a:t>probabilidad</a:t>
            </a:r>
            <a:r>
              <a:rPr dirty="0"/>
              <a:t> p</a:t>
            </a:r>
            <a:r>
              <a:rPr baseline="-25000" dirty="0"/>
              <a:t>22</a:t>
            </a:r>
            <a:r>
              <a:rPr dirty="0"/>
              <a:t> = 0.6 (</a:t>
            </a:r>
            <a:r>
              <a:rPr dirty="0" err="1"/>
              <a:t>haciendo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 de un día </a:t>
            </a:r>
            <a:r>
              <a:rPr dirty="0" err="1"/>
              <a:t>lluvioso</a:t>
            </a:r>
            <a:r>
              <a:rPr dirty="0"/>
              <a:t> a un día </a:t>
            </a:r>
            <a:r>
              <a:rPr dirty="0" err="1"/>
              <a:t>lluvioso</a:t>
            </a:r>
            <a:r>
              <a:rPr dirty="0"/>
              <a:t>)</a:t>
            </a:r>
          </a:p>
          <a:p>
            <a:pPr lvl="1"/>
            <a:r>
              <a:rPr dirty="0"/>
              <a:t>Nota: </a:t>
            </a:r>
            <a:r>
              <a:rPr dirty="0" err="1"/>
              <a:t>Podría</a:t>
            </a:r>
            <a:r>
              <a:rPr dirty="0"/>
              <a:t> </a:t>
            </a:r>
            <a:r>
              <a:rPr dirty="0" err="1"/>
              <a:t>calcularse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la </a:t>
            </a:r>
            <a:r>
              <a:rPr dirty="0" err="1"/>
              <a:t>regla</a:t>
            </a:r>
            <a:r>
              <a:rPr dirty="0"/>
              <a:t> del </a:t>
            </a:r>
            <a:r>
              <a:rPr dirty="0" err="1"/>
              <a:t>complemento</a:t>
            </a:r>
            <a:r>
              <a:rPr dirty="0"/>
              <a:t>: 1-0,4=0.6</a:t>
            </a:r>
          </a:p>
          <a:p>
            <a:endParaRPr dirty="0"/>
          </a:p>
          <a:p>
            <a:r>
              <a:rPr dirty="0"/>
              <a:t>Podemos </a:t>
            </a:r>
            <a:r>
              <a:rPr dirty="0" err="1"/>
              <a:t>predecir</a:t>
            </a:r>
            <a:r>
              <a:rPr dirty="0"/>
              <a:t> un 60% de </a:t>
            </a:r>
            <a:r>
              <a:rPr dirty="0" err="1"/>
              <a:t>probabilidad</a:t>
            </a:r>
            <a:r>
              <a:rPr dirty="0"/>
              <a:t> de </a:t>
            </a:r>
            <a:r>
              <a:rPr dirty="0" err="1"/>
              <a:t>lluvia</a:t>
            </a:r>
            <a:r>
              <a:rPr dirty="0"/>
              <a:t>                                         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B1510D-9A10-FD8F-DC56-1C7B3930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5835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ECCC1-F878-3F39-7B7C-0F633AB6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1 </a:t>
            </a:r>
            <a:r>
              <a:rPr dirty="0" err="1"/>
              <a:t>Cadenas</a:t>
            </a:r>
            <a:r>
              <a:rPr dirty="0"/>
              <a:t> de </a:t>
            </a:r>
            <a:r>
              <a:rPr dirty="0" err="1"/>
              <a:t>MarkovEjemplo</a:t>
            </a:r>
            <a:r>
              <a:rPr dirty="0"/>
              <a:t> </a:t>
            </a:r>
            <a:br>
              <a:rPr lang="es-ES" dirty="0"/>
            </a:br>
            <a:r>
              <a:rPr dirty="0"/>
              <a:t>6.7 (</a:t>
            </a:r>
            <a:r>
              <a:rPr dirty="0" err="1"/>
              <a:t>solución</a:t>
            </a:r>
            <a:r>
              <a:rPr dirty="0"/>
              <a:t>) </a:t>
            </a:r>
            <a:r>
              <a:rPr lang="es-ES" dirty="0"/>
              <a:t>(</a:t>
            </a:r>
            <a:r>
              <a:rPr dirty="0"/>
              <a:t>b)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CEC37-A489-0F33-D51D-847033761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 b="1"/>
            </a:pPr>
            <a:r>
              <a:rPr lang="es-ES" dirty="0"/>
              <a:t>b) </a:t>
            </a:r>
            <a:r>
              <a:rPr dirty="0" err="1"/>
              <a:t>Pronóstico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miércoles</a:t>
            </a:r>
            <a:r>
              <a:rPr dirty="0"/>
              <a:t> (</a:t>
            </a:r>
            <a:r>
              <a:rPr dirty="0" err="1"/>
              <a:t>probabilidades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</a:t>
            </a:r>
            <a:r>
              <a:rPr dirty="0"/>
              <a:t> 2 pasos, h=2)</a:t>
            </a:r>
          </a:p>
          <a:p>
            <a:pPr lvl="1"/>
            <a:r>
              <a:rPr dirty="0" err="1"/>
              <a:t>Tiempo</a:t>
            </a:r>
            <a:r>
              <a:rPr dirty="0"/>
              <a:t>: Lunes: </a:t>
            </a:r>
            <a:r>
              <a:rPr lang="es-ES" dirty="0"/>
              <a:t>t</a:t>
            </a:r>
            <a:r>
              <a:rPr dirty="0"/>
              <a:t>=0, martes: </a:t>
            </a:r>
            <a:r>
              <a:rPr lang="es-ES" dirty="0">
                <a:sym typeface="Wingdings" panose="05000000000000000000" pitchFamily="2" charset="2"/>
              </a:rPr>
              <a:t>t</a:t>
            </a:r>
            <a:r>
              <a:rPr dirty="0">
                <a:sym typeface="Wingdings" panose="05000000000000000000" pitchFamily="2" charset="2"/>
              </a:rPr>
              <a:t>=1, </a:t>
            </a:r>
            <a:r>
              <a:rPr dirty="0" err="1"/>
              <a:t>Miércoles</a:t>
            </a:r>
            <a:r>
              <a:rPr dirty="0"/>
              <a:t>: </a:t>
            </a:r>
            <a:r>
              <a:rPr lang="es-ES" dirty="0">
                <a:sym typeface="Wingdings" panose="05000000000000000000" pitchFamily="2" charset="2"/>
              </a:rPr>
              <a:t>t</a:t>
            </a:r>
            <a:r>
              <a:rPr dirty="0">
                <a:sym typeface="Wingdings" panose="05000000000000000000" pitchFamily="2" charset="2"/>
              </a:rPr>
              <a:t>=2</a:t>
            </a:r>
          </a:p>
          <a:p>
            <a:pPr lvl="1"/>
            <a:r>
              <a:rPr dirty="0" err="1"/>
              <a:t>Estados</a:t>
            </a:r>
            <a:r>
              <a:rPr dirty="0"/>
              <a:t>: S</a:t>
            </a:r>
            <a:r>
              <a:rPr lang="es-ES" dirty="0"/>
              <a:t>oleado</a:t>
            </a:r>
            <a:r>
              <a:rPr dirty="0"/>
              <a:t> = 1, </a:t>
            </a:r>
            <a:r>
              <a:rPr dirty="0" err="1"/>
              <a:t>Lluvioso</a:t>
            </a:r>
            <a:r>
              <a:rPr dirty="0"/>
              <a:t> = 2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>
                <a:cs typeface="Times New Roman" panose="02020603050405020304" pitchFamily="18" charset="0"/>
              </a:defRPr>
            </a:pPr>
            <a:r>
              <a:rPr dirty="0"/>
              <a:t>P {</a:t>
            </a:r>
            <a:r>
              <a:rPr lang="es-ES" dirty="0"/>
              <a:t>M</a:t>
            </a:r>
            <a:r>
              <a:rPr dirty="0" err="1"/>
              <a:t>iércoles</a:t>
            </a:r>
            <a:r>
              <a:rPr dirty="0"/>
              <a:t> </a:t>
            </a:r>
            <a:r>
              <a:rPr dirty="0" err="1"/>
              <a:t>soleado</a:t>
            </a:r>
            <a:r>
              <a:rPr dirty="0"/>
              <a:t> | Lunes es </a:t>
            </a:r>
            <a:r>
              <a:rPr dirty="0" err="1"/>
              <a:t>lluvioso</a:t>
            </a:r>
            <a:r>
              <a:rPr dirty="0"/>
              <a:t>} = p</a:t>
            </a:r>
            <a:r>
              <a:rPr baseline="-25000" dirty="0"/>
              <a:t>21</a:t>
            </a:r>
            <a:r>
              <a:rPr baseline="30000" dirty="0"/>
              <a:t>(2)</a:t>
            </a:r>
          </a:p>
          <a:p>
            <a:r>
              <a:rPr dirty="0" err="1"/>
              <a:t>Uso</a:t>
            </a:r>
            <a:r>
              <a:rPr dirty="0"/>
              <a:t> de la Ley de </a:t>
            </a:r>
            <a:r>
              <a:rPr dirty="0" err="1"/>
              <a:t>Probabilidad</a:t>
            </a:r>
            <a:r>
              <a:rPr dirty="0"/>
              <a:t> Total (Bayes)</a:t>
            </a:r>
          </a:p>
          <a:p>
            <a:pPr lv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A={</a:t>
            </a:r>
            <a:r>
              <a:rPr lang="es-ES" dirty="0"/>
              <a:t>M</a:t>
            </a:r>
            <a:r>
              <a:rPr dirty="0" err="1"/>
              <a:t>iércoles</a:t>
            </a:r>
            <a:r>
              <a:rPr dirty="0"/>
              <a:t> </a:t>
            </a:r>
            <a:r>
              <a:rPr dirty="0" err="1"/>
              <a:t>soleado</a:t>
            </a:r>
            <a:r>
              <a:rPr dirty="0"/>
              <a:t> | Lunes </a:t>
            </a:r>
            <a:r>
              <a:rPr dirty="0" err="1"/>
              <a:t>lluvioso</a:t>
            </a:r>
            <a:r>
              <a:rPr dirty="0"/>
              <a:t>}</a:t>
            </a:r>
          </a:p>
          <a:p>
            <a:pPr lv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B1={Martes </a:t>
            </a:r>
            <a:r>
              <a:rPr dirty="0" err="1"/>
              <a:t>soleado</a:t>
            </a:r>
            <a:r>
              <a:rPr dirty="0"/>
              <a:t> | Lunes </a:t>
            </a:r>
            <a:r>
              <a:rPr dirty="0" err="1"/>
              <a:t>lluvioso</a:t>
            </a:r>
            <a:r>
              <a:rPr dirty="0"/>
              <a:t>}</a:t>
            </a:r>
          </a:p>
          <a:p>
            <a:pPr lv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B2={Martes </a:t>
            </a:r>
            <a:r>
              <a:rPr dirty="0" err="1"/>
              <a:t>lluvioso</a:t>
            </a:r>
            <a:r>
              <a:rPr dirty="0"/>
              <a:t> | Lunes </a:t>
            </a:r>
            <a:r>
              <a:rPr dirty="0" err="1"/>
              <a:t>lluvioso</a:t>
            </a:r>
            <a:r>
              <a:rPr dirty="0"/>
              <a:t>}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P{A} = P{A | 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P{B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+ P{A | 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P{B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2"/>
            <a:endParaRPr dirty="0"/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p</a:t>
            </a:r>
            <a:r>
              <a:rPr baseline="-25000" dirty="0"/>
              <a:t>21</a:t>
            </a:r>
            <a:r>
              <a:rPr baseline="30000" dirty="0"/>
              <a:t>(2)</a:t>
            </a:r>
            <a:r>
              <a:rPr dirty="0"/>
              <a:t> = P{X(2)=1|X(1)=1}</a:t>
            </a:r>
            <a:r>
              <a:rPr lang="es-ES" dirty="0"/>
              <a:t>∙</a:t>
            </a:r>
            <a:r>
              <a:rPr dirty="0"/>
              <a:t>P{X(1)=1} + P{X(2)=1|X(1)=2}</a:t>
            </a:r>
            <a:r>
              <a:rPr lang="es-ES" dirty="0"/>
              <a:t>∙</a:t>
            </a:r>
            <a:r>
              <a:rPr dirty="0"/>
              <a:t>P{X(1)=2}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p</a:t>
            </a:r>
            <a:r>
              <a:rPr baseline="-25000" dirty="0"/>
              <a:t>21</a:t>
            </a:r>
            <a:r>
              <a:rPr baseline="30000" dirty="0"/>
              <a:t>(2)</a:t>
            </a:r>
            <a:r>
              <a:rPr dirty="0"/>
              <a:t> = p</a:t>
            </a:r>
            <a:r>
              <a:rPr baseline="-25000" dirty="0"/>
              <a:t>21</a:t>
            </a:r>
            <a:r>
              <a:rPr dirty="0"/>
              <a:t> p</a:t>
            </a:r>
            <a:r>
              <a:rPr baseline="-25000" dirty="0"/>
              <a:t>11</a:t>
            </a:r>
            <a:r>
              <a:rPr dirty="0"/>
              <a:t> + p</a:t>
            </a:r>
            <a:r>
              <a:rPr baseline="-25000" dirty="0"/>
              <a:t>22</a:t>
            </a:r>
            <a:r>
              <a:rPr dirty="0"/>
              <a:t> p</a:t>
            </a:r>
            <a:r>
              <a:rPr baseline="-25000" dirty="0"/>
              <a:t>21</a:t>
            </a:r>
            <a:r>
              <a:rPr dirty="0"/>
              <a:t> = (0.4) (0.7)+(0.6)(0.4) = 0,52</a:t>
            </a:r>
          </a:p>
          <a:p>
            <a:endParaRPr dirty="0"/>
          </a:p>
          <a:p>
            <a:r>
              <a:rPr dirty="0"/>
              <a:t>Podemos </a:t>
            </a:r>
            <a:r>
              <a:rPr dirty="0" err="1"/>
              <a:t>predecir</a:t>
            </a:r>
            <a:r>
              <a:rPr dirty="0"/>
              <a:t> un 52% de </a:t>
            </a:r>
            <a:r>
              <a:rPr dirty="0" err="1"/>
              <a:t>probabilidad</a:t>
            </a:r>
            <a:r>
              <a:rPr dirty="0"/>
              <a:t> de sol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miércoles</a:t>
            </a:r>
            <a:r>
              <a:rPr dirty="0"/>
              <a:t>, </a:t>
            </a:r>
            <a:r>
              <a:rPr lang="es-ES" dirty="0"/>
              <a:t>y </a:t>
            </a:r>
            <a:r>
              <a:rPr dirty="0"/>
              <a:t>48% de </a:t>
            </a:r>
            <a:r>
              <a:rPr dirty="0" err="1"/>
              <a:t>lluvia</a:t>
            </a:r>
            <a:endParaRPr dirty="0"/>
          </a:p>
          <a:p>
            <a:pPr lvl="1"/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— p</a:t>
            </a:r>
            <a:r>
              <a:rPr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1-0,52 = 0,48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BFF5D5-14AC-6E88-2414-64573195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5076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32AB2-4A3F-EB9A-D337-60137131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1 </a:t>
            </a:r>
            <a:r>
              <a:rPr dirty="0" err="1"/>
              <a:t>Cadenas</a:t>
            </a:r>
            <a:r>
              <a:rPr dirty="0"/>
              <a:t> de Markov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6.7 (</a:t>
            </a:r>
            <a:r>
              <a:rPr dirty="0" err="1"/>
              <a:t>solución</a:t>
            </a:r>
            <a:r>
              <a:rPr dirty="0"/>
              <a:t>) </a:t>
            </a:r>
            <a:r>
              <a:rPr lang="es-ES" dirty="0"/>
              <a:t>(</a:t>
            </a:r>
            <a:r>
              <a:rPr dirty="0"/>
              <a:t>c)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DA13E5-E1DF-9A03-0595-817FE3216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b="1"/>
            </a:pPr>
            <a:r>
              <a:rPr lang="es-ES" dirty="0"/>
              <a:t>c) </a:t>
            </a:r>
            <a:r>
              <a:rPr dirty="0" err="1"/>
              <a:t>Pronóstico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jueves</a:t>
            </a:r>
            <a:r>
              <a:rPr dirty="0"/>
              <a:t> (</a:t>
            </a:r>
            <a:r>
              <a:rPr dirty="0" err="1"/>
              <a:t>probabilidades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</a:t>
            </a:r>
            <a:r>
              <a:rPr dirty="0"/>
              <a:t> 3 pasos, h=3)</a:t>
            </a:r>
          </a:p>
          <a:p>
            <a:pPr lvl="1"/>
            <a:r>
              <a:rPr dirty="0" err="1"/>
              <a:t>Tiempo</a:t>
            </a:r>
            <a:r>
              <a:rPr dirty="0"/>
              <a:t>: Lunes: </a:t>
            </a:r>
            <a:r>
              <a:rPr lang="es-ES" dirty="0"/>
              <a:t>t</a:t>
            </a:r>
            <a:r>
              <a:rPr dirty="0"/>
              <a:t>=0, martes: </a:t>
            </a:r>
            <a:r>
              <a:rPr lang="es-ES" dirty="0">
                <a:sym typeface="Wingdings" panose="05000000000000000000" pitchFamily="2" charset="2"/>
              </a:rPr>
              <a:t>t</a:t>
            </a:r>
            <a:r>
              <a:rPr dirty="0">
                <a:sym typeface="Wingdings" panose="05000000000000000000" pitchFamily="2" charset="2"/>
              </a:rPr>
              <a:t>=1, </a:t>
            </a:r>
            <a:r>
              <a:rPr dirty="0" err="1"/>
              <a:t>Miércoles</a:t>
            </a:r>
            <a:r>
              <a:rPr dirty="0"/>
              <a:t>: </a:t>
            </a:r>
            <a:r>
              <a:rPr lang="es-ES" dirty="0">
                <a:sym typeface="Wingdings" panose="05000000000000000000" pitchFamily="2" charset="2"/>
              </a:rPr>
              <a:t>t</a:t>
            </a:r>
            <a:r>
              <a:rPr dirty="0">
                <a:sym typeface="Wingdings" panose="05000000000000000000" pitchFamily="2" charset="2"/>
              </a:rPr>
              <a:t>=2, </a:t>
            </a:r>
            <a:r>
              <a:rPr dirty="0" err="1"/>
              <a:t>jueves</a:t>
            </a:r>
            <a:r>
              <a:rPr dirty="0"/>
              <a:t>: </a:t>
            </a:r>
            <a:r>
              <a:rPr lang="es-ES" dirty="0"/>
              <a:t>t</a:t>
            </a:r>
            <a:r>
              <a:rPr dirty="0"/>
              <a:t>=3</a:t>
            </a:r>
            <a:endParaRPr dirty="0">
              <a:sym typeface="Wingdings" panose="05000000000000000000" pitchFamily="2" charset="2"/>
            </a:endParaRPr>
          </a:p>
          <a:p>
            <a:pPr lvl="1"/>
            <a:r>
              <a:rPr dirty="0" err="1"/>
              <a:t>Estados</a:t>
            </a:r>
            <a:r>
              <a:rPr dirty="0"/>
              <a:t>: S</a:t>
            </a:r>
            <a:r>
              <a:rPr lang="es-ES" dirty="0"/>
              <a:t>oleado</a:t>
            </a:r>
            <a:r>
              <a:rPr dirty="0"/>
              <a:t> = 1, </a:t>
            </a:r>
            <a:r>
              <a:rPr dirty="0" err="1"/>
              <a:t>Lluvioso</a:t>
            </a:r>
            <a:r>
              <a:rPr dirty="0"/>
              <a:t> = 2</a:t>
            </a:r>
          </a:p>
          <a:p>
            <a:pPr lv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P {</a:t>
            </a:r>
            <a:r>
              <a:rPr lang="es-ES" dirty="0"/>
              <a:t>J</a:t>
            </a:r>
            <a:r>
              <a:rPr dirty="0" err="1"/>
              <a:t>ueves</a:t>
            </a:r>
            <a:r>
              <a:rPr dirty="0"/>
              <a:t> </a:t>
            </a:r>
            <a:r>
              <a:rPr dirty="0" err="1"/>
              <a:t>soleado</a:t>
            </a:r>
            <a:r>
              <a:rPr dirty="0"/>
              <a:t> | Lunes </a:t>
            </a:r>
            <a:r>
              <a:rPr dirty="0" err="1"/>
              <a:t>lluvioso</a:t>
            </a:r>
            <a:r>
              <a:rPr dirty="0"/>
              <a:t>} = p</a:t>
            </a:r>
            <a:r>
              <a:rPr baseline="-25000" dirty="0"/>
              <a:t>21</a:t>
            </a:r>
            <a:r>
              <a:rPr baseline="30000" dirty="0"/>
              <a:t>(3)</a:t>
            </a:r>
          </a:p>
          <a:p>
            <a:pPr lv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p</a:t>
            </a:r>
            <a:r>
              <a:rPr baseline="-25000" dirty="0"/>
              <a:t>21</a:t>
            </a:r>
            <a:r>
              <a:rPr baseline="30000" dirty="0"/>
              <a:t>(3)</a:t>
            </a:r>
            <a:r>
              <a:rPr dirty="0"/>
              <a:t> = p</a:t>
            </a:r>
            <a:r>
              <a:rPr baseline="-25000" dirty="0"/>
              <a:t>21</a:t>
            </a:r>
            <a:r>
              <a:rPr baseline="30000" dirty="0"/>
              <a:t>(2)</a:t>
            </a:r>
            <a:r>
              <a:rPr dirty="0"/>
              <a:t> p</a:t>
            </a:r>
            <a:r>
              <a:rPr baseline="-25000" dirty="0"/>
              <a:t>11</a:t>
            </a:r>
            <a:r>
              <a:rPr dirty="0"/>
              <a:t> + p</a:t>
            </a:r>
            <a:r>
              <a:rPr baseline="-25000" dirty="0"/>
              <a:t>22</a:t>
            </a:r>
            <a:r>
              <a:rPr baseline="30000" dirty="0"/>
              <a:t>(2)</a:t>
            </a:r>
            <a:r>
              <a:rPr dirty="0"/>
              <a:t> p</a:t>
            </a:r>
            <a:r>
              <a:rPr baseline="-25000" dirty="0"/>
              <a:t>21</a:t>
            </a:r>
            <a:r>
              <a:rPr dirty="0"/>
              <a:t> = (0.52)(0.7)+(0.48)(0.4) = 0,556</a:t>
            </a:r>
          </a:p>
          <a:p>
            <a:pPr lvl="1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/>
              <a:t>Podemos </a:t>
            </a:r>
            <a:r>
              <a:rPr dirty="0" err="1"/>
              <a:t>predecir</a:t>
            </a:r>
            <a:r>
              <a:rPr dirty="0"/>
              <a:t> un 55,6% de </a:t>
            </a:r>
            <a:r>
              <a:rPr dirty="0" err="1"/>
              <a:t>probabilidad</a:t>
            </a:r>
            <a:r>
              <a:rPr dirty="0"/>
              <a:t> de sol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jueves</a:t>
            </a:r>
            <a:r>
              <a:rPr dirty="0"/>
              <a:t>, </a:t>
            </a:r>
            <a:r>
              <a:rPr lang="es-ES" dirty="0"/>
              <a:t>y </a:t>
            </a:r>
            <a:r>
              <a:rPr dirty="0"/>
              <a:t>un 44,4% de </a:t>
            </a:r>
            <a:r>
              <a:rPr dirty="0" err="1"/>
              <a:t>lluvia</a:t>
            </a:r>
            <a:endParaRPr dirty="0"/>
          </a:p>
          <a:p>
            <a:pPr lvl="1"/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— p</a:t>
            </a:r>
            <a:r>
              <a:rPr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1-0,56 = 0,444</a:t>
            </a:r>
            <a:r>
              <a:rPr dirty="0"/>
              <a:t>                                         </a:t>
            </a:r>
          </a:p>
          <a:p>
            <a:pPr marL="457200" lvl="1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i="1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dirty="0"/>
              <a:t>NOTA: </a:t>
            </a:r>
            <a:r>
              <a:rPr dirty="0" err="1"/>
              <a:t>Cuando</a:t>
            </a:r>
            <a:r>
              <a:rPr dirty="0"/>
              <a:t> h (pasos) es alto, es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fácil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un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9E79B4-8B34-5385-A702-0627CD9C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3930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6ACCB-D1FE-D5BF-4749-3CFFD4BA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397E8A-BE53-B421-D3AF-BA39684A8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probabilidades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en un solo paso </a:t>
            </a:r>
            <a:r>
              <a:rPr dirty="0" err="1"/>
              <a:t>p</a:t>
            </a:r>
            <a:r>
              <a:rPr baseline="-25000" dirty="0" err="1"/>
              <a:t>ij</a:t>
            </a:r>
            <a:r>
              <a:rPr dirty="0"/>
              <a:t> 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escribir</a:t>
            </a:r>
            <a:r>
              <a:rPr dirty="0"/>
              <a:t> en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 </a:t>
            </a:r>
            <a:r>
              <a:rPr lang="es-ES" dirty="0"/>
              <a:t>(P) </a:t>
            </a:r>
            <a:r>
              <a:rPr dirty="0"/>
              <a:t>de </a:t>
            </a:r>
            <a:r>
              <a:rPr dirty="0" err="1"/>
              <a:t>probabilidad</a:t>
            </a:r>
            <a:r>
              <a:rPr lang="es-ES" dirty="0"/>
              <a:t>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con rango </a:t>
            </a:r>
            <a:r>
              <a:rPr dirty="0" err="1"/>
              <a:t>n×n</a:t>
            </a:r>
            <a:endParaRPr dirty="0"/>
          </a:p>
          <a:p>
            <a:r>
              <a:rPr lang="es-ES" dirty="0"/>
              <a:t>Propiedades</a:t>
            </a:r>
            <a:r>
              <a:rPr dirty="0"/>
              <a:t>:</a:t>
            </a:r>
          </a:p>
          <a:p>
            <a:pPr lvl="1"/>
            <a:r>
              <a:rPr dirty="0"/>
              <a:t>En </a:t>
            </a:r>
            <a:r>
              <a:rPr dirty="0" err="1"/>
              <a:t>cada</a:t>
            </a:r>
            <a:r>
              <a:rPr dirty="0"/>
              <a:t> fila</a:t>
            </a:r>
            <a:r>
              <a:rPr lang="es-ES" dirty="0"/>
              <a:t> la suma es 1</a:t>
            </a:r>
            <a:r>
              <a:rPr dirty="0"/>
              <a:t>: p</a:t>
            </a:r>
            <a:r>
              <a:rPr baseline="-25000" dirty="0"/>
              <a:t>i1</a:t>
            </a:r>
            <a:r>
              <a:rPr dirty="0"/>
              <a:t> + p</a:t>
            </a:r>
            <a:r>
              <a:rPr baseline="-25000" dirty="0"/>
              <a:t>i2</a:t>
            </a:r>
            <a:r>
              <a:rPr dirty="0"/>
              <a:t> +. . . + p</a:t>
            </a:r>
            <a:r>
              <a:rPr baseline="-25000" dirty="0"/>
              <a:t>en</a:t>
            </a:r>
            <a:r>
              <a:rPr dirty="0"/>
              <a:t> = 1</a:t>
            </a:r>
          </a:p>
          <a:p>
            <a:pPr lvl="1"/>
            <a:r>
              <a:rPr dirty="0"/>
              <a:t>Pero no en </a:t>
            </a:r>
            <a:r>
              <a:rPr lang="es-ES" dirty="0"/>
              <a:t>cada </a:t>
            </a:r>
            <a:r>
              <a:rPr dirty="0" err="1"/>
              <a:t>columna</a:t>
            </a:r>
            <a:endParaRPr dirty="0"/>
          </a:p>
          <a:p>
            <a:r>
              <a:rPr dirty="0"/>
              <a:t>Esta </a:t>
            </a:r>
            <a:r>
              <a:rPr dirty="0" err="1"/>
              <a:t>matriz</a:t>
            </a:r>
            <a:r>
              <a:rPr dirty="0"/>
              <a:t> se llama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estocástica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8CC566-9EAB-44ED-12A2-618928B6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22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5A8E59-4770-6CF9-F09F-84D9CC94C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255" y="3265316"/>
            <a:ext cx="4477431" cy="187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69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6ACCB-D1FE-D5BF-4749-3CFFD4BA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lang="es-ES" dirty="0"/>
              <a:t>Matriz de </a:t>
            </a:r>
            <a:r>
              <a:rPr lang="es-ES" dirty="0" err="1"/>
              <a:t>pr</a:t>
            </a:r>
            <a:r>
              <a:rPr dirty="0" err="1"/>
              <a:t>obabilidad</a:t>
            </a:r>
            <a:r>
              <a:rPr lang="es-ES" dirty="0"/>
              <a:t>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 h pasos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397E8A-BE53-B421-D3AF-BA39684A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5857" cy="4351338"/>
          </a:xfrm>
        </p:spPr>
        <p:txBody>
          <a:bodyPr/>
          <a:lstStyle/>
          <a:p>
            <a:r>
              <a:rPr dirty="0"/>
              <a:t>Del </a:t>
            </a:r>
            <a:r>
              <a:rPr dirty="0" err="1"/>
              <a:t>mismo</a:t>
            </a:r>
            <a:r>
              <a:rPr dirty="0"/>
              <a:t> modo, las </a:t>
            </a:r>
            <a:r>
              <a:rPr dirty="0" err="1"/>
              <a:t>probabilidades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 h pasos</a:t>
            </a:r>
            <a:r>
              <a:rPr dirty="0"/>
              <a:t> 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escribir</a:t>
            </a:r>
            <a:r>
              <a:rPr dirty="0"/>
              <a:t> en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probabilidad</a:t>
            </a:r>
            <a:r>
              <a:rPr lang="es-ES" dirty="0"/>
              <a:t>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 </a:t>
            </a:r>
            <a:r>
              <a:rPr dirty="0"/>
              <a:t>h</a:t>
            </a:r>
            <a:r>
              <a:rPr lang="es-ES" dirty="0"/>
              <a:t> pasos</a:t>
            </a:r>
            <a:r>
              <a:rPr dirty="0"/>
              <a:t> </a:t>
            </a:r>
          </a:p>
          <a:p>
            <a:r>
              <a:rPr lang="es-ES" dirty="0"/>
              <a:t>T</a:t>
            </a:r>
            <a:r>
              <a:rPr dirty="0" err="1"/>
              <a:t>ambién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estocástica</a:t>
            </a:r>
            <a:endParaRPr dirty="0"/>
          </a:p>
          <a:p>
            <a:r>
              <a:rPr dirty="0"/>
              <a:t>P</a:t>
            </a:r>
            <a:r>
              <a:rPr baseline="30000" dirty="0"/>
              <a:t>(h) </a:t>
            </a:r>
            <a:r>
              <a:rPr dirty="0"/>
              <a:t>= P· P· P... = P</a:t>
            </a:r>
            <a:r>
              <a:rPr baseline="30000" dirty="0"/>
              <a:t>h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8CC566-9EAB-44ED-12A2-618928B6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23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49C448-FB6C-4647-7A3B-5A8FEEF1D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749816"/>
            <a:ext cx="3921579" cy="189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1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A1E62-5C1D-B11C-B21B-A0DEA109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i="1" dirty="0"/>
              <a:t>Recordar el producto de dos matrices </a:t>
            </a:r>
            <a:br>
              <a:rPr lang="es-ES" dirty="0"/>
            </a:br>
            <a:r>
              <a:rPr lang="es-ES" dirty="0"/>
              <a:t>Caso 1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C99722-7540-EFD9-CB27-78D070C7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24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DFB0FD3-E9A5-A8C8-ED83-D4CE58AE8269}"/>
                  </a:ext>
                </a:extLst>
              </p:cNvPr>
              <p:cNvSpPr txBox="1"/>
              <p:nvPr/>
            </p:nvSpPr>
            <p:spPr>
              <a:xfrm>
                <a:off x="1438053" y="2854801"/>
                <a:ext cx="8982395" cy="2337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endParaRPr lang="es-ES" b="0" i="1" dirty="0">
                  <a:latin typeface="Cambria Math" panose="02040503050406030204" pitchFamily="18" charset="0"/>
                </a:endParaRPr>
              </a:p>
              <a:p>
                <a:endParaRPr lang="es-E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DFB0FD3-E9A5-A8C8-ED83-D4CE58AE8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53" y="2854801"/>
                <a:ext cx="8982395" cy="2337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3526CF17-3631-9D54-03CC-91A00A34F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4055"/>
          </a:xfrm>
        </p:spPr>
        <p:txBody>
          <a:bodyPr/>
          <a:lstStyle/>
          <a:p>
            <a:r>
              <a:rPr lang="es-ES" dirty="0"/>
              <a:t>Rangos iguales: (</a:t>
            </a:r>
            <a:r>
              <a:rPr lang="es-ES" dirty="0" err="1"/>
              <a:t>NxN</a:t>
            </a:r>
            <a:r>
              <a:rPr lang="es-ES" dirty="0"/>
              <a:t>) · (</a:t>
            </a:r>
            <a:r>
              <a:rPr lang="es-ES" dirty="0" err="1"/>
              <a:t>NxN</a:t>
            </a:r>
            <a:r>
              <a:rPr lang="es-ES" dirty="0"/>
              <a:t>) = (</a:t>
            </a:r>
            <a:r>
              <a:rPr lang="es-ES" dirty="0" err="1"/>
              <a:t>NxN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998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A1E62-5C1D-B11C-B21B-A0DEA109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dirty="0"/>
              <a:t>Recordar el producto de dos matrices </a:t>
            </a:r>
            <a:br>
              <a:rPr lang="es-ES" dirty="0"/>
            </a:br>
            <a:r>
              <a:rPr lang="es-ES" dirty="0"/>
              <a:t>Caso 2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C99722-7540-EFD9-CB27-78D070C7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25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DFB0FD3-E9A5-A8C8-ED83-D4CE58AE8269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/>
              <p:nvPr/>
            </p:nvSpPr>
            <p:spPr>
              <a:xfrm>
                <a:off x="2799493" y="3137064"/>
                <a:ext cx="6256136" cy="21789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endParaRPr lang="es-ES" b="0" i="1" dirty="0">
                  <a:latin typeface="Cambria Math" panose="02040503050406030204" pitchFamily="18" charset="0"/>
                </a:endParaRPr>
              </a:p>
              <a:p>
                <a:endParaRPr lang="es-E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DFB0FD3-E9A5-A8C8-ED83-D4CE58AE8269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493" y="3137064"/>
                <a:ext cx="6256136" cy="21789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29C2C8-C49F-1E65-AF34-98EAB2CAC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0581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Rangos diferentes: (</a:t>
            </a:r>
            <a:r>
              <a:rPr lang="es-ES" dirty="0" err="1"/>
              <a:t>NxM</a:t>
            </a:r>
            <a:r>
              <a:rPr lang="es-ES" dirty="0"/>
              <a:t>) · (</a:t>
            </a:r>
            <a:r>
              <a:rPr lang="es-ES" dirty="0" err="1"/>
              <a:t>MxS</a:t>
            </a:r>
            <a:r>
              <a:rPr lang="es-ES" dirty="0"/>
              <a:t>) = (</a:t>
            </a:r>
            <a:r>
              <a:rPr lang="es-ES" dirty="0" err="1"/>
              <a:t>NxS</a:t>
            </a:r>
            <a:r>
              <a:rPr lang="es-ES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ES" dirty="0"/>
              <a:t>Ejemplo: (3x2) (2x3) = (3x3)</a:t>
            </a:r>
          </a:p>
        </p:txBody>
      </p:sp>
    </p:spTree>
    <p:extLst>
      <p:ext uri="{BB962C8B-B14F-4D97-AF65-F5344CB8AC3E}">
        <p14:creationId xmlns:p14="http://schemas.microsoft.com/office/powerpoint/2010/main" val="4275495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lang="es-ES" dirty="0"/>
              <a:t>Ejemplo 6.7 (Previsiones meteorológicas)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Si l</a:t>
            </a:r>
            <a:r>
              <a:rPr dirty="0" err="1"/>
              <a:t>lueve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lunes, </a:t>
            </a:r>
            <a:r>
              <a:rPr dirty="0" err="1"/>
              <a:t>pronóstico</a:t>
            </a:r>
            <a:r>
              <a:rPr lang="es-ES" dirty="0"/>
              <a:t>s</a:t>
            </a:r>
            <a:r>
              <a:rPr dirty="0"/>
              <a:t> para </a:t>
            </a:r>
          </a:p>
          <a:p>
            <a:pPr marL="1371600" lvl="2" indent="-457200">
              <a:buFont typeface="+mj-lt"/>
              <a:buAutoNum type="alphaLcParenR"/>
            </a:pPr>
            <a:r>
              <a:rPr dirty="0"/>
              <a:t>Martes: Sol = </a:t>
            </a:r>
            <a:r>
              <a:rPr dirty="0">
                <a:cs typeface="Times New Roman" panose="02020603050405020304" pitchFamily="18" charset="0"/>
              </a:rPr>
              <a:t>p</a:t>
            </a:r>
            <a:r>
              <a:rPr baseline="-25000" dirty="0">
                <a:cs typeface="Times New Roman" panose="02020603050405020304" pitchFamily="18" charset="0"/>
              </a:rPr>
              <a:t>21</a:t>
            </a:r>
            <a:r>
              <a:rPr dirty="0">
                <a:cs typeface="Times New Roman" panose="02020603050405020304" pitchFamily="18" charset="0"/>
              </a:rPr>
              <a:t> = 0,4, Lluvia</a:t>
            </a:r>
            <a:r>
              <a:rPr dirty="0"/>
              <a:t> = </a:t>
            </a:r>
            <a:r>
              <a:rPr dirty="0">
                <a:cs typeface="Times New Roman" panose="02020603050405020304" pitchFamily="18" charset="0"/>
              </a:rPr>
              <a:t>p</a:t>
            </a:r>
            <a:r>
              <a:rPr baseline="-25000" dirty="0">
                <a:cs typeface="Times New Roman" panose="02020603050405020304" pitchFamily="18" charset="0"/>
              </a:rPr>
              <a:t>22</a:t>
            </a:r>
            <a:r>
              <a:rPr dirty="0">
                <a:cs typeface="Times New Roman" panose="02020603050405020304" pitchFamily="18" charset="0"/>
              </a:rPr>
              <a:t> = 0,6</a:t>
            </a:r>
          </a:p>
          <a:p>
            <a:pPr marL="1371600" lvl="2" indent="-457200">
              <a:buFont typeface="+mj-lt"/>
              <a:buAutoNum type="alphaLcParenR"/>
            </a:pPr>
            <a:r>
              <a:rPr dirty="0" err="1"/>
              <a:t>Miércoles</a:t>
            </a:r>
            <a:r>
              <a:rPr dirty="0"/>
              <a:t>: Sol = </a:t>
            </a:r>
            <a:r>
              <a:rPr dirty="0">
                <a:cs typeface="Times New Roman" panose="02020603050405020304" pitchFamily="18" charset="0"/>
              </a:rPr>
              <a:t>p</a:t>
            </a:r>
            <a:r>
              <a:rPr baseline="-25000" dirty="0">
                <a:cs typeface="Times New Roman" panose="02020603050405020304" pitchFamily="18" charset="0"/>
              </a:rPr>
              <a:t>21</a:t>
            </a:r>
            <a:r>
              <a:rPr baseline="30000" dirty="0">
                <a:cs typeface="Times New Roman" panose="02020603050405020304" pitchFamily="18" charset="0"/>
              </a:rPr>
              <a:t>(2)</a:t>
            </a:r>
            <a:r>
              <a:rPr dirty="0"/>
              <a:t> = 0,52, Lluvia = </a:t>
            </a:r>
            <a:r>
              <a:rPr dirty="0">
                <a:cs typeface="Times New Roman" panose="02020603050405020304" pitchFamily="18" charset="0"/>
              </a:rPr>
              <a:t>p</a:t>
            </a:r>
            <a:r>
              <a:rPr baseline="-25000" dirty="0">
                <a:cs typeface="Times New Roman" panose="02020603050405020304" pitchFamily="18" charset="0"/>
              </a:rPr>
              <a:t>22</a:t>
            </a:r>
            <a:r>
              <a:rPr baseline="30000" dirty="0">
                <a:cs typeface="Times New Roman" panose="02020603050405020304" pitchFamily="18" charset="0"/>
              </a:rPr>
              <a:t>(2)</a:t>
            </a:r>
            <a:r>
              <a:rPr dirty="0"/>
              <a:t> = 0,48</a:t>
            </a:r>
          </a:p>
          <a:p>
            <a:pPr marL="1371600" lvl="2" indent="-457200">
              <a:buFont typeface="+mj-lt"/>
              <a:buAutoNum type="alphaLcParenR"/>
            </a:pPr>
            <a:r>
              <a:rPr dirty="0"/>
              <a:t>Jueves: Sol = </a:t>
            </a:r>
            <a:r>
              <a:rPr dirty="0">
                <a:cs typeface="Times New Roman" panose="02020603050405020304" pitchFamily="18" charset="0"/>
              </a:rPr>
              <a:t>p</a:t>
            </a:r>
            <a:r>
              <a:rPr baseline="-25000" dirty="0">
                <a:cs typeface="Times New Roman" panose="02020603050405020304" pitchFamily="18" charset="0"/>
              </a:rPr>
              <a:t>21</a:t>
            </a:r>
            <a:r>
              <a:rPr baseline="30000" dirty="0">
                <a:cs typeface="Times New Roman" panose="02020603050405020304" pitchFamily="18" charset="0"/>
              </a:rPr>
              <a:t>(3)</a:t>
            </a:r>
            <a:r>
              <a:rPr dirty="0"/>
              <a:t> = 0,556</a:t>
            </a:r>
            <a:r>
              <a:rPr dirty="0">
                <a:sym typeface="Wingdings" panose="05000000000000000000" pitchFamily="2" charset="2"/>
              </a:rPr>
              <a:t>, Lluvia</a:t>
            </a:r>
            <a:r>
              <a:rPr dirty="0"/>
              <a:t> = </a:t>
            </a:r>
            <a:r>
              <a:rPr dirty="0">
                <a:cs typeface="Times New Roman" panose="02020603050405020304" pitchFamily="18" charset="0"/>
              </a:rPr>
              <a:t>p</a:t>
            </a:r>
            <a:r>
              <a:rPr baseline="-25000" dirty="0">
                <a:cs typeface="Times New Roman" panose="02020603050405020304" pitchFamily="18" charset="0"/>
              </a:rPr>
              <a:t>22</a:t>
            </a:r>
            <a:r>
              <a:rPr baseline="30000" dirty="0">
                <a:cs typeface="Times New Roman" panose="02020603050405020304" pitchFamily="18" charset="0"/>
              </a:rPr>
              <a:t>(3)</a:t>
            </a:r>
            <a:r>
              <a:rPr dirty="0"/>
              <a:t> = 0,444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26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ACDD89F-851B-AA41-33C8-13063B4EA039}"/>
                  </a:ext>
                </a:extLst>
              </p:cNvPr>
              <p:cNvSpPr txBox="1"/>
              <p:nvPr/>
            </p:nvSpPr>
            <p:spPr>
              <a:xfrm>
                <a:off x="838200" y="4965164"/>
                <a:ext cx="3182090" cy="46256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t>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ACDD89F-851B-AA41-33C8-13063B4EA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65164"/>
                <a:ext cx="3182090" cy="462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75796F6-0DC6-F388-0D18-79D3D4EDBEF9}"/>
                  </a:ext>
                </a:extLst>
              </p:cNvPr>
              <p:cNvSpPr txBox="1"/>
              <p:nvPr/>
            </p:nvSpPr>
            <p:spPr>
              <a:xfrm>
                <a:off x="5484005" y="4001294"/>
                <a:ext cx="5447197" cy="46198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e>
                          </m:mr>
                          <m:mr>
                            <m:e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𝟓𝟐</m:t>
                              </m:r>
                            </m:e>
                            <m:e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t>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75796F6-0DC6-F388-0D18-79D3D4EDB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005" y="4001294"/>
                <a:ext cx="5447197" cy="4619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3BD0E78-2E96-84AB-F4CB-720995A5867D}"/>
                  </a:ext>
                </a:extLst>
              </p:cNvPr>
              <p:cNvSpPr txBox="1"/>
              <p:nvPr/>
            </p:nvSpPr>
            <p:spPr>
              <a:xfrm>
                <a:off x="5484005" y="4927600"/>
                <a:ext cx="6202147" cy="46756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52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583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417</m:t>
                              </m:r>
                            </m:e>
                          </m:mr>
                          <m:mr>
                            <m:e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𝟓𝟓𝟔</m:t>
                              </m:r>
                            </m:e>
                            <m:e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𝟒𝟒𝟒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t> 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3BD0E78-2E96-84AB-F4CB-720995A58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005" y="4927600"/>
                <a:ext cx="6202147" cy="467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pic>
        <p:nvPicPr>
          <p:cNvPr id="19" name="Imagen 18">
            <a:extLst>
              <a:ext uri="{FF2B5EF4-FFF2-40B4-BE49-F238E27FC236}">
                <a16:creationId xmlns:a16="http://schemas.microsoft.com/office/drawing/2014/main" id="{C3849783-60F9-BED1-8EA9-060E334F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650" y="3946061"/>
            <a:ext cx="3872595" cy="712557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72E03466-A1E9-560A-D8A6-A387B1BDD4E8}"/>
              </a:ext>
            </a:extLst>
          </p:cNvPr>
          <p:cNvSpPr txBox="1"/>
          <p:nvPr/>
        </p:nvSpPr>
        <p:spPr>
          <a:xfrm>
            <a:off x="1260798" y="4281122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15D9F3E-1B33-1E4B-64C6-5BE813CA34DF}"/>
              </a:ext>
            </a:extLst>
          </p:cNvPr>
          <p:cNvSpPr txBox="1"/>
          <p:nvPr/>
        </p:nvSpPr>
        <p:spPr>
          <a:xfrm>
            <a:off x="3161102" y="4252607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956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</a:t>
            </a:r>
            <a:r>
              <a:rPr dirty="0" err="1"/>
              <a:t>atri</a:t>
            </a:r>
            <a:r>
              <a:rPr lang="es-ES" dirty="0" err="1"/>
              <a:t>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6.9 (</a:t>
            </a:r>
            <a:r>
              <a:rPr dirty="0" err="1"/>
              <a:t>Dispositivo</a:t>
            </a:r>
            <a:r>
              <a:rPr dirty="0"/>
              <a:t> </a:t>
            </a:r>
            <a:r>
              <a:rPr dirty="0" err="1"/>
              <a:t>compartido</a:t>
            </a:r>
            <a:r>
              <a:rPr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Un</a:t>
            </a:r>
            <a:r>
              <a:rPr lang="es-ES" dirty="0"/>
              <a:t> </a:t>
            </a:r>
            <a:r>
              <a:rPr lang="es-ES" dirty="0" err="1"/>
              <a:t>ordeanador</a:t>
            </a:r>
            <a:r>
              <a:rPr lang="es-ES" dirty="0"/>
              <a:t> </a:t>
            </a:r>
            <a:r>
              <a:rPr dirty="0"/>
              <a:t>es </a:t>
            </a:r>
            <a:r>
              <a:rPr dirty="0" err="1"/>
              <a:t>compartid</a:t>
            </a:r>
            <a:r>
              <a:rPr lang="es-ES" dirty="0"/>
              <a:t>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2 </a:t>
            </a:r>
            <a:r>
              <a:rPr dirty="0" err="1"/>
              <a:t>usuarios</a:t>
            </a:r>
            <a:r>
              <a:rPr dirty="0"/>
              <a:t> que </a:t>
            </a:r>
            <a:r>
              <a:rPr dirty="0" err="1"/>
              <a:t>envían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a un </a:t>
            </a:r>
            <a:r>
              <a:rPr lang="es-ES" dirty="0" err="1"/>
              <a:t>odenador</a:t>
            </a:r>
            <a:r>
              <a:rPr lang="es-ES" dirty="0"/>
              <a:t> remoto </a:t>
            </a:r>
            <a:r>
              <a:rPr dirty="0"/>
              <a:t>y </a:t>
            </a:r>
            <a:r>
              <a:rPr dirty="0" err="1"/>
              <a:t>trabajan</a:t>
            </a:r>
            <a:r>
              <a:rPr dirty="0"/>
              <a:t> de forma </a:t>
            </a:r>
            <a:r>
              <a:rPr dirty="0" err="1"/>
              <a:t>independiente</a:t>
            </a:r>
            <a:r>
              <a:rPr dirty="0"/>
              <a:t>. </a:t>
            </a:r>
          </a:p>
          <a:p>
            <a:r>
              <a:rPr dirty="0"/>
              <a:t>En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,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conectado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desconectarse</a:t>
            </a:r>
            <a:r>
              <a:rPr dirty="0"/>
              <a:t> con </a:t>
            </a:r>
            <a:r>
              <a:rPr dirty="0" err="1"/>
              <a:t>probabilidad</a:t>
            </a:r>
            <a:r>
              <a:rPr dirty="0"/>
              <a:t> 0.5, y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desconectado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conectarse</a:t>
            </a:r>
            <a:r>
              <a:rPr dirty="0"/>
              <a:t> </a:t>
            </a:r>
            <a:r>
              <a:rPr lang="es-ES" dirty="0"/>
              <a:t>c</a:t>
            </a:r>
            <a:r>
              <a:rPr dirty="0"/>
              <a:t>on </a:t>
            </a:r>
            <a:r>
              <a:rPr dirty="0" err="1"/>
              <a:t>probabilidad</a:t>
            </a:r>
            <a:r>
              <a:rPr dirty="0"/>
              <a:t> 0.2. </a:t>
            </a:r>
          </a:p>
          <a:p>
            <a:r>
              <a:rPr dirty="0"/>
              <a:t>X(t) </a:t>
            </a:r>
            <a:r>
              <a:rPr lang="es-ES" dirty="0"/>
              <a:t>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simultáneos</a:t>
            </a:r>
            <a:r>
              <a:rPr dirty="0"/>
              <a:t> en </a:t>
            </a:r>
            <a:r>
              <a:rPr dirty="0" err="1"/>
              <a:t>el</a:t>
            </a:r>
            <a:r>
              <a:rPr dirty="0"/>
              <a:t> </a:t>
            </a:r>
            <a:r>
              <a:rPr lang="es-ES" dirty="0"/>
              <a:t>tiempo </a:t>
            </a:r>
            <a:r>
              <a:rPr dirty="0"/>
              <a:t>t</a:t>
            </a:r>
            <a:r>
              <a:rPr lang="es-ES" dirty="0"/>
              <a:t> (minutos)</a:t>
            </a:r>
            <a:r>
              <a:rPr dirty="0"/>
              <a:t>  </a:t>
            </a:r>
          </a:p>
          <a:p>
            <a:pPr lvl="1"/>
            <a:r>
              <a:rPr dirty="0"/>
              <a:t>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 con 3 </a:t>
            </a:r>
            <a:r>
              <a:rPr dirty="0" err="1"/>
              <a:t>estados</a:t>
            </a:r>
            <a:r>
              <a:rPr dirty="0"/>
              <a:t>: 0, 1, y 2.</a:t>
            </a:r>
          </a:p>
          <a:p>
            <a:r>
              <a:rPr dirty="0" err="1"/>
              <a:t>Obtener</a:t>
            </a:r>
            <a:r>
              <a:rPr dirty="0"/>
              <a:t>:</a:t>
            </a:r>
          </a:p>
          <a:p>
            <a:pPr marL="795338" lvl="1" indent="-338138">
              <a:buFont typeface="+mj-lt"/>
              <a:buAutoNum type="alphaLcParenR"/>
            </a:pPr>
            <a:r>
              <a:rPr dirty="0"/>
              <a:t>La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probabilidad</a:t>
            </a:r>
            <a:r>
              <a:rPr lang="es-ES" dirty="0"/>
              <a:t>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 </a:t>
            </a:r>
            <a:r>
              <a:rPr dirty="0"/>
              <a:t>1 paso</a:t>
            </a:r>
          </a:p>
          <a:p>
            <a:pPr marL="795338" lvl="1" indent="-338138">
              <a:buFont typeface="+mj-lt"/>
              <a:buAutoNum type="alphaLcParenR"/>
            </a:pPr>
            <a:r>
              <a:rPr dirty="0"/>
              <a:t>La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probabilidad</a:t>
            </a:r>
            <a:r>
              <a:rPr lang="es-ES" dirty="0"/>
              <a:t>es</a:t>
            </a:r>
            <a:r>
              <a:rPr dirty="0"/>
              <a:t> de </a:t>
            </a:r>
            <a:r>
              <a:rPr dirty="0" err="1"/>
              <a:t>transición</a:t>
            </a:r>
            <a:r>
              <a:rPr dirty="0"/>
              <a:t> </a:t>
            </a:r>
            <a:r>
              <a:rPr lang="es-ES" dirty="0"/>
              <a:t>en</a:t>
            </a:r>
            <a:r>
              <a:rPr dirty="0"/>
              <a:t> 2 pasos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67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6.9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. </a:t>
            </a:r>
            <a:r>
              <a:rPr dirty="0"/>
              <a:t>C</a:t>
            </a:r>
            <a:r>
              <a:rPr lang="es-ES" dirty="0" err="1"/>
              <a:t>alcular</a:t>
            </a:r>
            <a:r>
              <a:rPr dirty="0"/>
              <a:t> </a:t>
            </a:r>
            <a:r>
              <a:rPr lang="es-ES" dirty="0"/>
              <a:t>de </a:t>
            </a:r>
            <a:r>
              <a:rPr dirty="0"/>
              <a:t>p</a:t>
            </a:r>
            <a:r>
              <a:rPr baseline="-25000" dirty="0"/>
              <a:t>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7240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Necesitamos </a:t>
                </a:r>
                <a:r>
                  <a:rPr lang="es-ES" dirty="0" err="1"/>
                  <a:t>calcular</a:t>
                </a:r>
                <a:r>
                  <a:rPr lang="es-ES" dirty="0"/>
                  <a:t> p</a:t>
                </a:r>
                <a:r>
                  <a:rPr lang="es-ES" baseline="-25000" dirty="0"/>
                  <a:t>00,</a:t>
                </a:r>
                <a:r>
                  <a:rPr lang="es-ES" dirty="0"/>
                  <a:t> p</a:t>
                </a:r>
                <a:r>
                  <a:rPr lang="es-ES" baseline="-25000" dirty="0"/>
                  <a:t>01,</a:t>
                </a:r>
                <a:r>
                  <a:rPr lang="es-ES" dirty="0"/>
                  <a:t> p</a:t>
                </a:r>
                <a:r>
                  <a:rPr lang="es-ES" baseline="-25000" dirty="0"/>
                  <a:t>02</a:t>
                </a:r>
                <a:r>
                  <a:rPr lang="es-ES" dirty="0"/>
                  <a:t>, p</a:t>
                </a:r>
                <a:r>
                  <a:rPr lang="es-ES" baseline="-25000" dirty="0"/>
                  <a:t>10</a:t>
                </a:r>
                <a:r>
                  <a:rPr lang="es-ES" dirty="0"/>
                  <a:t>,.., p</a:t>
                </a:r>
                <a:r>
                  <a:rPr lang="es-ES" baseline="-25000" dirty="0"/>
                  <a:t>22</a:t>
                </a:r>
              </a:p>
              <a:p>
                <a:r>
                  <a:rPr lang="es-ES" dirty="0" err="1"/>
                  <a:t>Tenemos</a:t>
                </a:r>
                <a:r>
                  <a:rPr lang="es-ES" dirty="0"/>
                  <a:t>:</a:t>
                </a:r>
              </a:p>
              <a:p>
                <a:pPr lvl="1"/>
                <a:r>
                  <a:rPr lang="es-ES" dirty="0"/>
                  <a:t>P {Desconectar usuario conectado} = 0.5</a:t>
                </a:r>
              </a:p>
              <a:p>
                <a:pPr lvl="1"/>
                <a:r>
                  <a:rPr lang="es-ES" dirty="0"/>
                  <a:t>P {No desconectar usuario conectado} = 1-0,5 = 0.5</a:t>
                </a:r>
              </a:p>
              <a:p>
                <a:pPr lvl="1"/>
                <a:r>
                  <a:rPr lang="es-ES" dirty="0"/>
                  <a:t>P {Conectar usuario desconectado} = 0.2</a:t>
                </a:r>
              </a:p>
              <a:p>
                <a:pPr lvl="1"/>
                <a:r>
                  <a:rPr lang="es-ES" dirty="0"/>
                  <a:t>P {No conectar usuario desconectado} = 1-0,2=0.8</a:t>
                </a:r>
              </a:p>
              <a:p>
                <a:r>
                  <a:rPr lang="es-ES" dirty="0" err="1"/>
                  <a:t>Calcular</a:t>
                </a:r>
                <a:r>
                  <a:rPr lang="es-ES" dirty="0"/>
                  <a:t> p</a:t>
                </a:r>
                <a:r>
                  <a:rPr lang="es-ES" baseline="-25000" dirty="0"/>
                  <a:t>00</a:t>
                </a:r>
              </a:p>
              <a:p>
                <a:pPr lvl="1"/>
                <a:r>
                  <a:rPr lang="es-ES" dirty="0"/>
                  <a:t>X(0)=0, </a:t>
                </a:r>
                <a:r>
                  <a:rPr lang="es-ES" dirty="0" err="1"/>
                  <a:t>Ningún</a:t>
                </a:r>
                <a:r>
                  <a:rPr lang="es-ES" dirty="0"/>
                  <a:t> </a:t>
                </a:r>
                <a:r>
                  <a:rPr lang="es-ES" dirty="0" err="1"/>
                  <a:t>usuario</a:t>
                </a:r>
                <a:r>
                  <a:rPr lang="es-ES" dirty="0"/>
                  <a:t> </a:t>
                </a:r>
                <a:r>
                  <a:rPr lang="es-ES" dirty="0" err="1"/>
                  <a:t>conectado</a:t>
                </a:r>
                <a:r>
                  <a:rPr lang="es-ES" dirty="0"/>
                  <a:t> en t=0</a:t>
                </a:r>
              </a:p>
              <a:p>
                <a:pPr lvl="1"/>
                <a:r>
                  <a:rPr lang="es-ES" dirty="0"/>
                  <a:t>X(1) es </a:t>
                </a:r>
                <a:r>
                  <a:rPr lang="es-ES" dirty="0" err="1"/>
                  <a:t>el</a:t>
                </a:r>
                <a:r>
                  <a:rPr lang="es-ES" dirty="0"/>
                  <a:t> </a:t>
                </a:r>
                <a:r>
                  <a:rPr lang="es-ES" dirty="0" err="1"/>
                  <a:t>número</a:t>
                </a:r>
                <a:r>
                  <a:rPr lang="es-ES" dirty="0"/>
                  <a:t> de </a:t>
                </a:r>
                <a:r>
                  <a:rPr lang="es-ES" dirty="0" err="1"/>
                  <a:t>nuevas</a:t>
                </a:r>
                <a:r>
                  <a:rPr lang="es-ES" dirty="0"/>
                  <a:t> </a:t>
                </a:r>
                <a:r>
                  <a:rPr lang="es-ES" dirty="0" err="1"/>
                  <a:t>conexiones</a:t>
                </a:r>
                <a:r>
                  <a:rPr lang="es-ES" dirty="0"/>
                  <a:t> </a:t>
                </a:r>
                <a:r>
                  <a:rPr lang="es-ES" dirty="0" err="1"/>
                  <a:t>dentro</a:t>
                </a:r>
                <a:r>
                  <a:rPr lang="es-ES" dirty="0"/>
                  <a:t> del </a:t>
                </a:r>
                <a:r>
                  <a:rPr lang="es-ES" dirty="0" err="1"/>
                  <a:t>minuto</a:t>
                </a:r>
                <a:r>
                  <a:rPr lang="es-ES" dirty="0"/>
                  <a:t> </a:t>
                </a:r>
                <a:r>
                  <a:rPr lang="es-ES" dirty="0" err="1"/>
                  <a:t>siguiente</a:t>
                </a:r>
                <a:r>
                  <a:rPr lang="es-ES" dirty="0"/>
                  <a:t> (t=1)</a:t>
                </a:r>
              </a:p>
              <a:p>
                <a:pPr lvl="1"/>
                <a:r>
                  <a:rPr lang="es-ES" dirty="0"/>
                  <a:t>X(1) es </a:t>
                </a:r>
                <a:r>
                  <a:rPr lang="es-ES" dirty="0" err="1"/>
                  <a:t>una</a:t>
                </a:r>
                <a:r>
                  <a:rPr lang="es-ES" dirty="0"/>
                  <a:t> variable </a:t>
                </a:r>
                <a:r>
                  <a:rPr lang="es-ES" dirty="0" err="1"/>
                  <a:t>aleatoria</a:t>
                </a:r>
                <a:r>
                  <a:rPr lang="es-ES" dirty="0"/>
                  <a:t> con </a:t>
                </a:r>
                <a:r>
                  <a:rPr lang="es-ES" dirty="0" err="1"/>
                  <a:t>distribución</a:t>
                </a:r>
                <a:r>
                  <a:rPr lang="es-ES" dirty="0"/>
                  <a:t> binomial B(</a:t>
                </a:r>
                <a:r>
                  <a:rPr lang="es-ES" dirty="0" err="1"/>
                  <a:t>n,p</a:t>
                </a:r>
                <a:r>
                  <a:rPr lang="es-ES" dirty="0"/>
                  <a:t>)=B(2,0.2)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ar-AE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endParaRPr lang="ar-AE" dirty="0"/>
              </a:p>
              <a:p>
                <a:pPr lvl="1"/>
                <a:r>
                  <a:rPr lang="es-ES" dirty="0" err="1"/>
                  <a:t>Otro</a:t>
                </a:r>
                <a:r>
                  <a:rPr lang="es-ES" dirty="0"/>
                  <a:t> </a:t>
                </a:r>
                <a:r>
                  <a:rPr lang="es-ES" dirty="0" err="1"/>
                  <a:t>método</a:t>
                </a:r>
                <a:r>
                  <a:rPr lang="es-ES" dirty="0"/>
                  <a:t>:</a:t>
                </a:r>
              </a:p>
              <a:p>
                <a:pPr lvl="2"/>
                <a:r>
                  <a:rPr lang="es-ES" dirty="0"/>
                  <a:t>p</a:t>
                </a:r>
                <a:r>
                  <a:rPr lang="es-ES" baseline="-25000" dirty="0"/>
                  <a:t>00</a:t>
                </a:r>
                <a:r>
                  <a:rPr lang="es-ES" dirty="0"/>
                  <a:t> = P {(No conectar usuario A desconectado) AND (No conectar usuario B desconectado} = 0.8·0.8=0.64</a:t>
                </a:r>
              </a:p>
              <a:p>
                <a:pPr lvl="2"/>
                <a:endParaRPr lang="es-ES" dirty="0"/>
              </a:p>
              <a:p>
                <a:pPr lvl="1"/>
                <a:endParaRPr lang="es-ES" dirty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7240" cy="4351338"/>
              </a:xfrm>
              <a:blipFill>
                <a:blip r:embed="rId2"/>
                <a:stretch>
                  <a:fillRect l="-780" t="-32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28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DF65C77-DF05-6D34-7624-E45004051592}"/>
                  </a:ext>
                </a:extLst>
              </p:cNvPr>
              <p:cNvSpPr txBox="1"/>
              <p:nvPr/>
            </p:nvSpPr>
            <p:spPr>
              <a:xfrm>
                <a:off x="8793893" y="2264955"/>
                <a:ext cx="2223749" cy="7335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DF65C77-DF05-6D34-7624-E45004051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893" y="2264955"/>
                <a:ext cx="2223749" cy="733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93765291-EC57-BDF8-C522-DC17225E1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087" y="4838219"/>
            <a:ext cx="2924175" cy="590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7573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 </a:t>
            </a:r>
            <a:r>
              <a:rPr dirty="0" err="1"/>
              <a:t>matri</a:t>
            </a:r>
            <a:r>
              <a:rPr lang="es-ES" dirty="0" err="1"/>
              <a:t>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6.9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. </a:t>
            </a:r>
            <a:r>
              <a:rPr dirty="0"/>
              <a:t>C</a:t>
            </a:r>
            <a:r>
              <a:rPr lang="es-ES" dirty="0" err="1"/>
              <a:t>alcular</a:t>
            </a:r>
            <a:r>
              <a:rPr lang="es-ES" dirty="0"/>
              <a:t> </a:t>
            </a:r>
            <a:r>
              <a:rPr dirty="0"/>
              <a:t>p</a:t>
            </a:r>
            <a:r>
              <a:rPr baseline="-25000" dirty="0"/>
              <a:t>01</a:t>
            </a:r>
            <a:r>
              <a:rPr dirty="0"/>
              <a:t>, p</a:t>
            </a:r>
            <a:r>
              <a:rPr baseline="-25000" dirty="0"/>
              <a:t>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724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dirty="0" err="1"/>
                  <a:t>Calcular</a:t>
                </a:r>
                <a:r>
                  <a:rPr dirty="0"/>
                  <a:t> p</a:t>
                </a:r>
                <a:r>
                  <a:rPr baseline="-25000" dirty="0"/>
                  <a:t>01</a:t>
                </a:r>
              </a:p>
              <a:p>
                <a:pPr lvl="1"/>
                <a:r>
                  <a:rPr lang="pt-BR" dirty="0"/>
                  <a:t>Método Binomial: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baseline="-25000" dirty="0"/>
              </a:p>
              <a:p>
                <a:pPr lvl="1"/>
                <a:r>
                  <a:rPr dirty="0" err="1"/>
                  <a:t>Otro</a:t>
                </a:r>
                <a:r>
                  <a:rPr dirty="0"/>
                  <a:t> </a:t>
                </a:r>
                <a:r>
                  <a:rPr dirty="0" err="1"/>
                  <a:t>método</a:t>
                </a:r>
                <a:r>
                  <a:rPr dirty="0"/>
                  <a:t>:</a:t>
                </a:r>
              </a:p>
              <a:p>
                <a:pPr lvl="2"/>
                <a:r>
                  <a:rPr dirty="0"/>
                  <a:t>p</a:t>
                </a:r>
                <a:r>
                  <a:rPr baseline="-25000" dirty="0"/>
                  <a:t>01</a:t>
                </a:r>
                <a:r>
                  <a:rPr dirty="0"/>
                  <a:t> = (P {</a:t>
                </a:r>
                <a:r>
                  <a:rPr lang="es-ES" dirty="0"/>
                  <a:t>[(Conectar usuario A desconectado) AND (No conectar usuario B desconectado)]</a:t>
                </a:r>
                <a:r>
                  <a:rPr dirty="0"/>
                  <a:t> OR </a:t>
                </a:r>
                <a:r>
                  <a:rPr lang="es-ES" dirty="0"/>
                  <a:t>[</a:t>
                </a:r>
                <a:r>
                  <a:rPr dirty="0"/>
                  <a:t>(</a:t>
                </a:r>
                <a:r>
                  <a:rPr lang="es-ES" dirty="0"/>
                  <a:t>No conectar usuario A desconectado) AND (Conectar usuario B desconectado)]</a:t>
                </a:r>
                <a:r>
                  <a:rPr dirty="0"/>
                  <a:t>) = (0.2·0.8) + (0.</a:t>
                </a:r>
                <a:r>
                  <a:rPr lang="es-ES" dirty="0"/>
                  <a:t>8</a:t>
                </a:r>
                <a:r>
                  <a:rPr dirty="0"/>
                  <a:t>·0.</a:t>
                </a:r>
                <a:r>
                  <a:rPr lang="es-ES" dirty="0"/>
                  <a:t>2</a:t>
                </a:r>
                <a:r>
                  <a:rPr dirty="0"/>
                  <a:t>) =0.32</a:t>
                </a:r>
              </a:p>
              <a:p>
                <a:r>
                  <a:rPr dirty="0" err="1"/>
                  <a:t>Calcular</a:t>
                </a:r>
                <a:r>
                  <a:rPr dirty="0"/>
                  <a:t> p</a:t>
                </a:r>
                <a:r>
                  <a:rPr baseline="-25000" dirty="0"/>
                  <a:t>02</a:t>
                </a:r>
              </a:p>
              <a:p>
                <a:pPr lvl="1"/>
                <a:r>
                  <a:rPr lang="pt-BR" dirty="0"/>
                  <a:t>Método Binomial: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04</m:t>
                    </m:r>
                  </m:oMath>
                </a14:m>
                <a:endParaRPr baseline="-25000" dirty="0"/>
              </a:p>
              <a:p>
                <a:pPr lvl="1"/>
                <a:r>
                  <a:rPr dirty="0" err="1"/>
                  <a:t>Otro</a:t>
                </a:r>
                <a:r>
                  <a:rPr dirty="0"/>
                  <a:t> </a:t>
                </a:r>
                <a:r>
                  <a:rPr dirty="0" err="1"/>
                  <a:t>método</a:t>
                </a:r>
                <a:r>
                  <a:rPr dirty="0"/>
                  <a:t>:</a:t>
                </a:r>
              </a:p>
              <a:p>
                <a:pPr lvl="2"/>
                <a:r>
                  <a:rPr dirty="0"/>
                  <a:t>p</a:t>
                </a:r>
                <a:r>
                  <a:rPr baseline="-25000" dirty="0"/>
                  <a:t>02</a:t>
                </a:r>
                <a:r>
                  <a:rPr dirty="0"/>
                  <a:t> = P {</a:t>
                </a:r>
                <a:r>
                  <a:rPr lang="es-ES" dirty="0"/>
                  <a:t>(Conectar usuario A desconectado) AND (Conectar usuario B desconectado</a:t>
                </a:r>
                <a:r>
                  <a:rPr dirty="0"/>
                  <a:t>} = 0,2· 0.2 =0.04</a:t>
                </a:r>
              </a:p>
              <a:p>
                <a:pPr lvl="2"/>
                <a:endParaRPr dirty="0"/>
              </a:p>
              <a:p>
                <a:pPr lvl="1"/>
                <a:endParaRPr dirty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7240" cy="4351338"/>
              </a:xfrm>
              <a:blipFill>
                <a:blip r:embed="rId2"/>
                <a:stretch>
                  <a:fillRect l="-892" t="-3501" r="-2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29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DF65C77-DF05-6D34-7624-E45004051592}"/>
                  </a:ext>
                </a:extLst>
              </p:cNvPr>
              <p:cNvSpPr txBox="1"/>
              <p:nvPr/>
            </p:nvSpPr>
            <p:spPr>
              <a:xfrm>
                <a:off x="8793893" y="2264955"/>
                <a:ext cx="2223749" cy="7335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DF65C77-DF05-6D34-7624-E45004051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893" y="2264955"/>
                <a:ext cx="2223749" cy="733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93765291-EC57-BDF8-C522-DC17225E1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5" y="4373245"/>
            <a:ext cx="2924175" cy="590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938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6.9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. </a:t>
            </a:r>
            <a:r>
              <a:rPr dirty="0"/>
              <a:t>C</a:t>
            </a:r>
            <a:r>
              <a:rPr lang="es-ES" dirty="0" err="1"/>
              <a:t>alcular</a:t>
            </a:r>
            <a:r>
              <a:rPr dirty="0"/>
              <a:t> p</a:t>
            </a:r>
            <a:r>
              <a:rPr baseline="-25000" dirty="0"/>
              <a:t>10</a:t>
            </a:r>
            <a:r>
              <a:rPr dirty="0"/>
              <a:t>, p</a:t>
            </a:r>
            <a:r>
              <a:rPr baseline="-25000" dirty="0"/>
              <a:t>11</a:t>
            </a:r>
            <a:r>
              <a:rPr dirty="0"/>
              <a:t>, p</a:t>
            </a:r>
            <a:r>
              <a:rPr baseline="-25000" dirty="0"/>
              <a:t>12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7240" cy="4351338"/>
          </a:xfrm>
        </p:spPr>
        <p:txBody>
          <a:bodyPr>
            <a:normAutofit/>
          </a:bodyPr>
          <a:lstStyle/>
          <a:p>
            <a:r>
              <a:rPr dirty="0" err="1"/>
              <a:t>Calcular</a:t>
            </a:r>
            <a:r>
              <a:rPr dirty="0"/>
              <a:t> p</a:t>
            </a:r>
            <a:r>
              <a:rPr baseline="-25000" dirty="0"/>
              <a:t>10</a:t>
            </a:r>
          </a:p>
          <a:p>
            <a:pPr lvl="1"/>
            <a:r>
              <a:rPr dirty="0"/>
              <a:t>p</a:t>
            </a:r>
            <a:r>
              <a:rPr baseline="-25000" dirty="0"/>
              <a:t>10</a:t>
            </a:r>
            <a:r>
              <a:rPr dirty="0"/>
              <a:t> = P {</a:t>
            </a:r>
            <a:r>
              <a:rPr lang="es-ES" dirty="0"/>
              <a:t>(No conectar usuario desconectado) AND (Desconectar usuario conectado)</a:t>
            </a:r>
            <a:r>
              <a:rPr dirty="0"/>
              <a:t>} = 0.</a:t>
            </a:r>
            <a:r>
              <a:rPr lang="es-ES" dirty="0"/>
              <a:t>8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= 0</a:t>
            </a:r>
            <a:r>
              <a:rPr lang="es-ES" dirty="0"/>
              <a:t>.</a:t>
            </a:r>
            <a:r>
              <a:rPr dirty="0"/>
              <a:t>40</a:t>
            </a:r>
          </a:p>
          <a:p>
            <a:r>
              <a:rPr dirty="0" err="1"/>
              <a:t>Calcular</a:t>
            </a:r>
            <a:r>
              <a:rPr dirty="0"/>
              <a:t> p</a:t>
            </a:r>
            <a:r>
              <a:rPr baseline="-25000" dirty="0"/>
              <a:t>11</a:t>
            </a:r>
          </a:p>
          <a:p>
            <a:pPr lvl="1"/>
            <a:r>
              <a:rPr dirty="0"/>
              <a:t>p</a:t>
            </a:r>
            <a:r>
              <a:rPr baseline="-25000" dirty="0"/>
              <a:t>11</a:t>
            </a:r>
            <a:r>
              <a:rPr dirty="0"/>
              <a:t> = </a:t>
            </a:r>
          </a:p>
          <a:p>
            <a:pPr marL="914400" lvl="2" indent="0">
              <a:buNone/>
            </a:pPr>
            <a:r>
              <a:rPr dirty="0"/>
              <a:t>(P {</a:t>
            </a:r>
            <a:r>
              <a:rPr lang="es-ES" dirty="0"/>
              <a:t>[(Conectar usuario desconectado) AND (Desconectar usuario conectado)] OR [(No conectar usuario desconectado) AND (No desconectar usuario conectado)]}</a:t>
            </a:r>
            <a:r>
              <a:rPr dirty="0"/>
              <a:t> = 0.</a:t>
            </a:r>
            <a:r>
              <a:rPr lang="es-ES" dirty="0"/>
              <a:t>2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+ 0.</a:t>
            </a:r>
            <a:r>
              <a:rPr lang="es-ES" dirty="0"/>
              <a:t>8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= 0.50</a:t>
            </a:r>
          </a:p>
          <a:p>
            <a:r>
              <a:rPr dirty="0" err="1"/>
              <a:t>Calcular</a:t>
            </a:r>
            <a:r>
              <a:rPr dirty="0"/>
              <a:t> p</a:t>
            </a:r>
            <a:r>
              <a:rPr baseline="-25000" dirty="0"/>
              <a:t>12</a:t>
            </a:r>
          </a:p>
          <a:p>
            <a:pPr lvl="1"/>
            <a:r>
              <a:rPr dirty="0"/>
              <a:t>p</a:t>
            </a:r>
            <a:r>
              <a:rPr baseline="-25000" dirty="0"/>
              <a:t>12</a:t>
            </a:r>
            <a:r>
              <a:rPr dirty="0"/>
              <a:t> = P {</a:t>
            </a:r>
            <a:r>
              <a:rPr lang="es-ES" dirty="0"/>
              <a:t>(Conectar usuario desconectado) AND (No desconectar usuario conectado)}</a:t>
            </a:r>
            <a:r>
              <a:rPr dirty="0"/>
              <a:t> = 0.</a:t>
            </a:r>
            <a:r>
              <a:rPr lang="es-ES" dirty="0"/>
              <a:t>2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= 0.10</a:t>
            </a:r>
          </a:p>
          <a:p>
            <a:pPr marL="457200" lvl="1" indent="0">
              <a:buNone/>
            </a:pPr>
            <a:endParaRPr dirty="0"/>
          </a:p>
          <a:p>
            <a:pPr lvl="1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1"/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2048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6.9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. </a:t>
            </a:r>
            <a:r>
              <a:rPr dirty="0"/>
              <a:t>C</a:t>
            </a:r>
            <a:r>
              <a:rPr lang="es-ES" dirty="0" err="1"/>
              <a:t>alcular</a:t>
            </a:r>
            <a:r>
              <a:rPr dirty="0"/>
              <a:t> p</a:t>
            </a:r>
            <a:r>
              <a:rPr lang="es-ES" baseline="-25000" dirty="0"/>
              <a:t>2</a:t>
            </a:r>
            <a:r>
              <a:rPr baseline="-25000" dirty="0"/>
              <a:t>0</a:t>
            </a:r>
            <a:r>
              <a:rPr dirty="0"/>
              <a:t>, p</a:t>
            </a:r>
            <a:r>
              <a:rPr lang="es-ES" baseline="-25000" dirty="0"/>
              <a:t>2</a:t>
            </a:r>
            <a:r>
              <a:rPr baseline="-25000" dirty="0"/>
              <a:t>1</a:t>
            </a:r>
            <a:r>
              <a:rPr dirty="0"/>
              <a:t>, p</a:t>
            </a:r>
            <a:r>
              <a:rPr lang="es-ES" baseline="-25000" dirty="0"/>
              <a:t>2</a:t>
            </a:r>
            <a:r>
              <a:rPr baseline="-25000" dirty="0"/>
              <a:t>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7240" cy="4351338"/>
          </a:xfrm>
        </p:spPr>
        <p:txBody>
          <a:bodyPr>
            <a:normAutofit/>
          </a:bodyPr>
          <a:lstStyle/>
          <a:p>
            <a:r>
              <a:rPr dirty="0" err="1"/>
              <a:t>Calcular</a:t>
            </a:r>
            <a:r>
              <a:rPr dirty="0"/>
              <a:t> p</a:t>
            </a:r>
            <a:r>
              <a:rPr lang="es-ES" baseline="-25000" dirty="0"/>
              <a:t>2</a:t>
            </a:r>
            <a:r>
              <a:rPr baseline="-25000" dirty="0"/>
              <a:t>0</a:t>
            </a:r>
          </a:p>
          <a:p>
            <a:pPr lvl="1"/>
            <a:r>
              <a:rPr dirty="0"/>
              <a:t>p</a:t>
            </a:r>
            <a:r>
              <a:rPr lang="es-ES" baseline="-25000" dirty="0"/>
              <a:t>2</a:t>
            </a:r>
            <a:r>
              <a:rPr baseline="-25000" dirty="0"/>
              <a:t>0</a:t>
            </a:r>
            <a:r>
              <a:rPr dirty="0"/>
              <a:t> = P {</a:t>
            </a:r>
            <a:r>
              <a:rPr lang="es-ES" dirty="0"/>
              <a:t>(Desconectar usuario A conectado) AND (Desconectar usuario B  conectado)</a:t>
            </a:r>
            <a:r>
              <a:rPr dirty="0"/>
              <a:t>} = 0.</a:t>
            </a:r>
            <a:r>
              <a:rPr lang="es-ES" dirty="0"/>
              <a:t>5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= 0</a:t>
            </a:r>
            <a:r>
              <a:rPr lang="es-ES" dirty="0"/>
              <a:t>.25</a:t>
            </a:r>
            <a:endParaRPr dirty="0"/>
          </a:p>
          <a:p>
            <a:r>
              <a:rPr dirty="0" err="1"/>
              <a:t>Calcular</a:t>
            </a:r>
            <a:r>
              <a:rPr dirty="0"/>
              <a:t> p</a:t>
            </a:r>
            <a:r>
              <a:rPr lang="es-ES" baseline="-25000" dirty="0"/>
              <a:t>2</a:t>
            </a:r>
            <a:r>
              <a:rPr baseline="-25000" dirty="0"/>
              <a:t>1</a:t>
            </a:r>
          </a:p>
          <a:p>
            <a:pPr lvl="1"/>
            <a:r>
              <a:rPr dirty="0"/>
              <a:t>p</a:t>
            </a:r>
            <a:r>
              <a:rPr lang="es-ES" baseline="-25000" dirty="0"/>
              <a:t>2</a:t>
            </a:r>
            <a:r>
              <a:rPr baseline="-25000" dirty="0"/>
              <a:t>1</a:t>
            </a:r>
            <a:r>
              <a:rPr dirty="0"/>
              <a:t> = </a:t>
            </a:r>
          </a:p>
          <a:p>
            <a:pPr marL="914400" lvl="2" indent="0">
              <a:buNone/>
            </a:pPr>
            <a:r>
              <a:rPr dirty="0"/>
              <a:t>(P {</a:t>
            </a:r>
            <a:r>
              <a:rPr lang="es-ES" dirty="0"/>
              <a:t>[(Desconectar usuario A conectado) AND (No desconectar usuario B conectado)] OR [(No desconectar usuario A conectado) AND (Desconectar usuario B conectado)]}</a:t>
            </a:r>
            <a:r>
              <a:rPr dirty="0"/>
              <a:t> = 0.</a:t>
            </a:r>
            <a:r>
              <a:rPr lang="es-ES" dirty="0"/>
              <a:t>5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+ 0.</a:t>
            </a:r>
            <a:r>
              <a:rPr lang="es-ES" dirty="0"/>
              <a:t>5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= 0.50</a:t>
            </a:r>
          </a:p>
          <a:p>
            <a:r>
              <a:rPr dirty="0" err="1"/>
              <a:t>Calcular</a:t>
            </a:r>
            <a:r>
              <a:rPr dirty="0"/>
              <a:t> p</a:t>
            </a:r>
            <a:r>
              <a:rPr lang="es-ES" baseline="-25000" dirty="0"/>
              <a:t>2</a:t>
            </a:r>
            <a:r>
              <a:rPr baseline="-25000" dirty="0"/>
              <a:t>2</a:t>
            </a:r>
          </a:p>
          <a:p>
            <a:pPr lvl="1"/>
            <a:r>
              <a:rPr dirty="0"/>
              <a:t>p</a:t>
            </a:r>
            <a:r>
              <a:rPr lang="es-ES" baseline="-25000" dirty="0"/>
              <a:t>2</a:t>
            </a:r>
            <a:r>
              <a:rPr baseline="-25000" dirty="0"/>
              <a:t>2</a:t>
            </a:r>
            <a:r>
              <a:rPr dirty="0"/>
              <a:t> = P {</a:t>
            </a:r>
            <a:r>
              <a:rPr lang="es-ES" dirty="0"/>
              <a:t>(No desconectar usuario A conectado) AND (No desconectar usuario B conectado)}</a:t>
            </a:r>
            <a:r>
              <a:rPr dirty="0"/>
              <a:t> = 0.</a:t>
            </a:r>
            <a:r>
              <a:rPr lang="es-ES" dirty="0"/>
              <a:t>5</a:t>
            </a:r>
            <a:r>
              <a:rPr dirty="0"/>
              <a:t>·0.</a:t>
            </a:r>
            <a:r>
              <a:rPr lang="es-ES" dirty="0"/>
              <a:t>5</a:t>
            </a:r>
            <a:r>
              <a:rPr dirty="0"/>
              <a:t> = 0.</a:t>
            </a:r>
            <a:r>
              <a:rPr lang="es-ES" dirty="0"/>
              <a:t>25</a:t>
            </a:r>
            <a:endParaRPr dirty="0"/>
          </a:p>
          <a:p>
            <a:pPr marL="457200" lvl="1" indent="0">
              <a:buNone/>
            </a:pPr>
            <a:endParaRPr dirty="0"/>
          </a:p>
          <a:p>
            <a:pPr lvl="1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1"/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8573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6.9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. </a:t>
            </a:r>
            <a:r>
              <a:rPr dirty="0"/>
              <a:t>Matrices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2743" cy="4351338"/>
          </a:xfrm>
        </p:spPr>
        <p:txBody>
          <a:bodyPr>
            <a:normAutofit/>
          </a:bodyPr>
          <a:lstStyle/>
          <a:p>
            <a:r>
              <a:rPr lang="es-ES" dirty="0"/>
              <a:t>Matriz de probabilidades de transición en un paso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Matriz de probabilidades de transición en 2 pasos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32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747B96-9F6E-5115-1D5A-25D715B48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873" y="2732315"/>
            <a:ext cx="5792030" cy="30663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7C3940-E626-6FD7-5C37-8E4A1A14A8BC}"/>
                  </a:ext>
                </a:extLst>
              </p:cNvPr>
              <p:cNvSpPr txBox="1"/>
              <p:nvPr/>
            </p:nvSpPr>
            <p:spPr>
              <a:xfrm>
                <a:off x="1153573" y="2852058"/>
                <a:ext cx="4566571" cy="7335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7C3940-E626-6FD7-5C37-8E4A1A14A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573" y="2852058"/>
                <a:ext cx="4566571" cy="733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786D3A-839B-70DE-28E3-250BE6B98969}"/>
                  </a:ext>
                </a:extLst>
              </p:cNvPr>
              <p:cNvSpPr txBox="1"/>
              <p:nvPr/>
            </p:nvSpPr>
            <p:spPr>
              <a:xfrm>
                <a:off x="1139251" y="5209613"/>
                <a:ext cx="4328172" cy="73821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s-E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5476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3848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0676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4810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4280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0910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4225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4550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1225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786D3A-839B-70DE-28E3-250BE6B98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251" y="5209613"/>
                <a:ext cx="4328172" cy="7382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2967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D4105-B152-7A5B-26C0-80C51E96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/>
              <a:t>Cálculo de la </a:t>
            </a:r>
            <a:r>
              <a:rPr dirty="0" err="1"/>
              <a:t>distribución</a:t>
            </a:r>
            <a:r>
              <a:rPr dirty="0"/>
              <a:t> de X(h)</a:t>
            </a:r>
            <a:r>
              <a:rPr lang="es-ES" dirty="0"/>
              <a:t> (1)</a:t>
            </a:r>
            <a:r>
              <a:rPr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BA19197-F029-F215-171E-14F88F533B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La distribución de los estados después de h transiciones, o la función de masa de probabilidad de X(h), se puede obtener en forma de una matriz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de rango 1 × 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Donde: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s-ES" i="1" dirty="0">
                    <a:latin typeface="Cambria Math" panose="02040503050406030204" pitchFamily="18" charset="0"/>
                  </a:rPr>
                  <a:t>…</a:t>
                </a:r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s-ES" dirty="0"/>
              </a:p>
              <a:p>
                <a:endParaRPr lang="es-ES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baseline="30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BA19197-F029-F215-171E-14F88F533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CF2A16-6B91-DF63-D984-C6A34746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D4105-B152-7A5B-26C0-80C51E96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/>
              <a:t>Cálculo de la </a:t>
            </a:r>
            <a:r>
              <a:rPr dirty="0" err="1"/>
              <a:t>distribución</a:t>
            </a:r>
            <a:r>
              <a:rPr dirty="0"/>
              <a:t> de X(h)</a:t>
            </a:r>
            <a:r>
              <a:rPr lang="es-ES" dirty="0"/>
              <a:t> (2)</a:t>
            </a:r>
            <a:r>
              <a:rPr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BA19197-F029-F215-171E-14F88F533B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Aplicando la Ley de Probabilidad Total (ver libro)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 lang="es-ES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s-ES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/>
                  <a:t> es la distribución inicial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s-ES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s-ES" dirty="0"/>
              </a:p>
              <a:p>
                <a:r>
                  <a:rPr lang="es-ES" dirty="0"/>
                  <a:t>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es la matriz de probabilidades en h pasos</a:t>
                </a:r>
                <a:endParaRPr lang="es-ES" baseline="30000" dirty="0"/>
              </a:p>
              <a:p>
                <a:r>
                  <a:rPr lang="es-ES" dirty="0"/>
                  <a:t>Por tanto, cada elemento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se calcula como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ar-AE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)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BA19197-F029-F215-171E-14F88F533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CF2A16-6B91-DF63-D984-C6A34746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34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EB6280-8C24-2CAC-C676-485812F4C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479518"/>
            <a:ext cx="3921579" cy="189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35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6.10 (</a:t>
            </a:r>
            <a:r>
              <a:rPr dirty="0" err="1"/>
              <a:t>Dispositivo</a:t>
            </a:r>
            <a:r>
              <a:rPr dirty="0"/>
              <a:t> </a:t>
            </a:r>
            <a:r>
              <a:rPr dirty="0" err="1"/>
              <a:t>compartido</a:t>
            </a:r>
            <a:r>
              <a:rPr lang="es-ES" dirty="0"/>
              <a:t>)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EE4F1-9D0B-4FE5-99B9-7109229ED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Continuación del ejemplo 6.9</a:t>
            </a:r>
          </a:p>
          <a:p>
            <a:pPr marL="514350" indent="-514350">
              <a:buFont typeface="+mj-lt"/>
              <a:buAutoNum type="alphaLcParenR"/>
            </a:pPr>
            <a:r>
              <a:rPr dirty="0"/>
              <a:t>Si </a:t>
            </a:r>
            <a:r>
              <a:rPr dirty="0" err="1"/>
              <a:t>sabemos</a:t>
            </a:r>
            <a:r>
              <a:rPr dirty="0"/>
              <a:t> que hay 2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conectados</a:t>
            </a:r>
            <a:r>
              <a:rPr dirty="0"/>
              <a:t> a las 10:00, </a:t>
            </a:r>
          </a:p>
          <a:p>
            <a:pPr lvl="1"/>
            <a:r>
              <a:rPr dirty="0" err="1"/>
              <a:t>obten</a:t>
            </a:r>
            <a:r>
              <a:rPr lang="es-ES" dirty="0" err="1"/>
              <a:t>er</a:t>
            </a:r>
            <a:r>
              <a:rPr dirty="0"/>
              <a:t> la </a:t>
            </a:r>
            <a:r>
              <a:rPr dirty="0" err="1"/>
              <a:t>probabilidad</a:t>
            </a:r>
            <a:r>
              <a:rPr dirty="0"/>
              <a:t> de que </a:t>
            </a:r>
            <a:r>
              <a:rPr dirty="0" err="1"/>
              <a:t>haya</a:t>
            </a:r>
            <a:r>
              <a:rPr dirty="0"/>
              <a:t> 1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conectado</a:t>
            </a:r>
            <a:r>
              <a:rPr dirty="0"/>
              <a:t> a las 10:02, </a:t>
            </a:r>
            <a:r>
              <a:rPr dirty="0" err="1"/>
              <a:t>después</a:t>
            </a:r>
            <a:r>
              <a:rPr dirty="0"/>
              <a:t> de h = 2 </a:t>
            </a:r>
            <a:r>
              <a:rPr dirty="0" err="1"/>
              <a:t>transiciones</a:t>
            </a:r>
            <a:r>
              <a:rPr lang="es-ES" dirty="0"/>
              <a:t>, es decir </a:t>
            </a:r>
            <a:r>
              <a:rPr dirty="0"/>
              <a:t>P{X(2)=1} </a:t>
            </a:r>
          </a:p>
          <a:p>
            <a:pPr marL="514350" indent="-514350">
              <a:buFont typeface="+mj-lt"/>
              <a:buAutoNum type="alphaLcParenR"/>
            </a:pPr>
            <a:r>
              <a:rPr dirty="0"/>
              <a:t>Si no </a:t>
            </a:r>
            <a:r>
              <a:rPr dirty="0" err="1"/>
              <a:t>sabemos</a:t>
            </a:r>
            <a:r>
              <a:rPr dirty="0"/>
              <a:t> </a:t>
            </a:r>
            <a:r>
              <a:rPr dirty="0" err="1"/>
              <a:t>cuántos</a:t>
            </a:r>
            <a:r>
              <a:rPr dirty="0"/>
              <a:t> </a:t>
            </a:r>
            <a:r>
              <a:rPr dirty="0" err="1"/>
              <a:t>usuarios</a:t>
            </a:r>
            <a:r>
              <a:rPr dirty="0"/>
              <a:t> hay </a:t>
            </a:r>
            <a:r>
              <a:rPr dirty="0" err="1"/>
              <a:t>conectados</a:t>
            </a:r>
            <a:r>
              <a:rPr dirty="0"/>
              <a:t> a las 10:00,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sabemos</a:t>
            </a:r>
            <a:r>
              <a:rPr dirty="0"/>
              <a:t> que </a:t>
            </a:r>
            <a:r>
              <a:rPr dirty="0" err="1"/>
              <a:t>todos</a:t>
            </a:r>
            <a:r>
              <a:rPr dirty="0"/>
              <a:t> los </a:t>
            </a:r>
            <a:r>
              <a:rPr dirty="0" err="1"/>
              <a:t>estados</a:t>
            </a:r>
            <a:r>
              <a:rPr dirty="0"/>
              <a:t> (0, 1 o 2 </a:t>
            </a:r>
            <a:r>
              <a:rPr dirty="0" err="1"/>
              <a:t>usuarios</a:t>
            </a:r>
            <a:r>
              <a:rPr dirty="0"/>
              <a:t>) son </a:t>
            </a:r>
            <a:r>
              <a:rPr dirty="0" err="1"/>
              <a:t>igualmente</a:t>
            </a:r>
            <a:r>
              <a:rPr dirty="0"/>
              <a:t> </a:t>
            </a:r>
            <a:r>
              <a:rPr dirty="0" err="1"/>
              <a:t>probables</a:t>
            </a:r>
            <a:r>
              <a:rPr dirty="0"/>
              <a:t> a las 10:00,</a:t>
            </a:r>
          </a:p>
          <a:p>
            <a:pPr lvl="1"/>
            <a:r>
              <a:rPr dirty="0" err="1"/>
              <a:t>obten</a:t>
            </a:r>
            <a:r>
              <a:rPr lang="es-ES" dirty="0" err="1"/>
              <a:t>er</a:t>
            </a:r>
            <a:r>
              <a:rPr dirty="0"/>
              <a:t> la </a:t>
            </a:r>
            <a:r>
              <a:rPr dirty="0" err="1"/>
              <a:t>probabilidad</a:t>
            </a:r>
            <a:r>
              <a:rPr dirty="0"/>
              <a:t> de que </a:t>
            </a:r>
            <a:r>
              <a:rPr dirty="0" err="1"/>
              <a:t>haya</a:t>
            </a:r>
            <a:r>
              <a:rPr dirty="0"/>
              <a:t> 1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conectado</a:t>
            </a:r>
            <a:r>
              <a:rPr dirty="0"/>
              <a:t> a las 10:02, </a:t>
            </a:r>
            <a:r>
              <a:rPr dirty="0" err="1"/>
              <a:t>después</a:t>
            </a:r>
            <a:r>
              <a:rPr dirty="0"/>
              <a:t> de h = 2 </a:t>
            </a:r>
            <a:r>
              <a:rPr dirty="0" err="1"/>
              <a:t>transiciones</a:t>
            </a:r>
            <a:r>
              <a:rPr lang="es-ES" dirty="0"/>
              <a:t>, es decir </a:t>
            </a:r>
            <a:r>
              <a:rPr dirty="0"/>
              <a:t>P{X(2)=1} </a:t>
            </a:r>
          </a:p>
          <a:p>
            <a:pPr marL="514350" indent="-514350">
              <a:buFont typeface="+mj-lt"/>
              <a:buAutoNum type="alphaLcParenR"/>
            </a:pPr>
            <a:endParaRPr dirty="0"/>
          </a:p>
          <a:p>
            <a:pPr marL="514350" indent="-514350">
              <a:buFont typeface="+mj-lt"/>
              <a:buAutoNum type="alphaLcParenR"/>
            </a:pP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33688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6.10 (</a:t>
            </a:r>
            <a:r>
              <a:rPr dirty="0" err="1"/>
              <a:t>solución</a:t>
            </a:r>
            <a:r>
              <a:rPr dirty="0"/>
              <a:t>) </a:t>
            </a:r>
            <a:r>
              <a:rPr lang="es-ES" dirty="0"/>
              <a:t>(</a:t>
            </a:r>
            <a:r>
              <a:rPr dirty="0"/>
              <a:t>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Necesitamos </a:t>
                </a:r>
                <a:r>
                  <a:rPr lang="es-ES" dirty="0" err="1"/>
                  <a:t>obtener</a:t>
                </a:r>
                <a:r>
                  <a:rPr lang="es-ES" dirty="0"/>
                  <a:t> P {X(2) = 1}, es </a:t>
                </a:r>
                <a:r>
                  <a:rPr lang="es-ES" dirty="0" err="1"/>
                  <a:t>decir</a:t>
                </a:r>
                <a:r>
                  <a:rPr lang="es-ES" dirty="0"/>
                  <a:t> P</a:t>
                </a:r>
                <a:r>
                  <a:rPr lang="es-ES" baseline="-25000" dirty="0"/>
                  <a:t>2</a:t>
                </a:r>
                <a:r>
                  <a:rPr lang="es-ES" dirty="0"/>
                  <a:t>(1)</a:t>
                </a:r>
              </a:p>
              <a:p>
                <a:r>
                  <a:rPr lang="es-ES" dirty="0"/>
                  <a:t>A las 10:00 hay dos </a:t>
                </a:r>
                <a:r>
                  <a:rPr lang="es-ES" dirty="0" err="1"/>
                  <a:t>usuarios</a:t>
                </a:r>
                <a:r>
                  <a:rPr lang="es-ES" dirty="0"/>
                  <a:t> </a:t>
                </a:r>
                <a:r>
                  <a:rPr lang="es-ES" dirty="0" err="1"/>
                  <a:t>conectados</a:t>
                </a:r>
                <a:r>
                  <a:rPr lang="es-ES" dirty="0"/>
                  <a:t>, </a:t>
                </a:r>
                <a:r>
                  <a:rPr lang="es-ES" dirty="0" err="1"/>
                  <a:t>por</a:t>
                </a:r>
                <a:r>
                  <a:rPr lang="es-ES" dirty="0"/>
                  <a:t> lo que P</a:t>
                </a:r>
                <a:r>
                  <a:rPr lang="es-ES" baseline="-25000" dirty="0"/>
                  <a:t>0</a:t>
                </a:r>
                <a:r>
                  <a:rPr lang="es-ES" dirty="0"/>
                  <a:t>= (0 0 1)</a:t>
                </a:r>
              </a:p>
              <a:p>
                <a:pPr lvl="1"/>
                <a:r>
                  <a:rPr lang="es-ES" dirty="0" err="1"/>
                  <a:t>Porque</a:t>
                </a:r>
                <a:r>
                  <a:rPr lang="es-ES" dirty="0"/>
                  <a:t> P</a:t>
                </a:r>
                <a:r>
                  <a:rPr lang="es-ES" baseline="-25000" dirty="0"/>
                  <a:t>0</a:t>
                </a:r>
                <a:r>
                  <a:rPr lang="es-ES" dirty="0"/>
                  <a:t>(0)=0, P</a:t>
                </a:r>
                <a:r>
                  <a:rPr lang="es-ES" baseline="-25000" dirty="0"/>
                  <a:t>0</a:t>
                </a:r>
                <a:r>
                  <a:rPr lang="es-ES" dirty="0"/>
                  <a:t>(1)=0, P</a:t>
                </a:r>
                <a:r>
                  <a:rPr lang="es-ES" baseline="-25000" dirty="0"/>
                  <a:t>0</a:t>
                </a:r>
                <a:r>
                  <a:rPr lang="es-ES" dirty="0"/>
                  <a:t>(2)=1 </a:t>
                </a:r>
              </a:p>
              <a:p>
                <a:r>
                  <a:rPr lang="es-ES" dirty="0"/>
                  <a:t>Del </a:t>
                </a:r>
                <a:r>
                  <a:rPr lang="es-ES" dirty="0" err="1"/>
                  <a:t>ejemplo</a:t>
                </a:r>
                <a:r>
                  <a:rPr lang="es-ES" dirty="0"/>
                  <a:t> 6.9 </a:t>
                </a:r>
                <a:r>
                  <a:rPr lang="es-ES" dirty="0" err="1"/>
                  <a:t>tenemos</a:t>
                </a:r>
                <a:r>
                  <a:rPr lang="es-ES" dirty="0"/>
                  <a:t> P</a:t>
                </a:r>
                <a:r>
                  <a:rPr lang="es-ES" baseline="30000" dirty="0"/>
                  <a:t>2</a:t>
                </a:r>
              </a:p>
              <a:p>
                <a:endParaRPr lang="es-ES" baseline="30000" dirty="0"/>
              </a:p>
              <a:p>
                <a:r>
                  <a:rPr lang="es-ES" dirty="0" err="1"/>
                  <a:t>Calculamos</a:t>
                </a:r>
                <a:r>
                  <a:rPr lang="es-ES" dirty="0"/>
                  <a:t> P</a:t>
                </a:r>
                <a:r>
                  <a:rPr lang="es-ES" baseline="-25000" dirty="0"/>
                  <a:t>2</a:t>
                </a:r>
              </a:p>
              <a:p>
                <a:endParaRPr lang="es-ES" baseline="30000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endParaRPr lang="es-ES" baseline="30000" dirty="0"/>
              </a:p>
              <a:p>
                <a:endParaRPr lang="es-ES" baseline="30000" dirty="0"/>
              </a:p>
              <a:p>
                <a:r>
                  <a:rPr lang="es-ES" sz="2600" dirty="0"/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</m:oMath>
                </a14:m>
                <a:r>
                  <a:rPr lang="ar-AE" sz="2600" dirty="0"/>
                  <a:t>, </a:t>
                </a:r>
                <a:r>
                  <a:rPr lang="es-ES" sz="2600" dirty="0"/>
                  <a:t>entonces la </a:t>
                </a:r>
                <a:r>
                  <a:rPr lang="es-ES" sz="2600" dirty="0" err="1"/>
                  <a:t>respuesta</a:t>
                </a:r>
                <a:r>
                  <a:rPr lang="es-ES" sz="2600" dirty="0"/>
                  <a:t> 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ar-AE" sz="2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6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d>
                              <m:dPr>
                                <m:ctrlPr>
                                  <a:rPr lang="ar-AE" sz="2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  <m:r>
                              <a:rPr lang="ar-AE" sz="26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ar-AE" sz="2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6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ar-AE" sz="2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ar-AE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ar-AE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 b="1" i="1" smtClean="0">
                        <a:latin typeface="Cambria Math" panose="02040503050406030204" pitchFamily="18" charset="0"/>
                      </a:rPr>
                      <m:t>𝟒𝟓𝟓𝟎</m:t>
                    </m:r>
                  </m:oMath>
                </a14:m>
                <a:endParaRPr lang="ar-AE" sz="2600" b="1" baseline="30000" dirty="0"/>
              </a:p>
              <a:p>
                <a:endParaRPr lang="ar-AE" baseline="30000" dirty="0"/>
              </a:p>
              <a:p>
                <a:endParaRPr lang="ar-AE" baseline="30000" dirty="0"/>
              </a:p>
              <a:p>
                <a:endParaRPr lang="ar-AE" baseline="30000" dirty="0"/>
              </a:p>
              <a:p>
                <a:endParaRPr lang="ar-AE" baseline="30000" dirty="0"/>
              </a:p>
              <a:p>
                <a:endParaRPr lang="ar-AE" baseline="30000" dirty="0"/>
              </a:p>
              <a:p>
                <a:endParaRPr baseline="30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18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36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786D3A-839B-70DE-28E3-250BE6B98969}"/>
                  </a:ext>
                </a:extLst>
              </p:cNvPr>
              <p:cNvSpPr txBox="1"/>
              <p:nvPr/>
            </p:nvSpPr>
            <p:spPr>
              <a:xfrm>
                <a:off x="6778276" y="3059892"/>
                <a:ext cx="3420808" cy="73821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5476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3848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0676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4810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4280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0910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4225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4550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1225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786D3A-839B-70DE-28E3-250BE6B98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276" y="3059892"/>
                <a:ext cx="3420808" cy="738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142477E-B46B-0030-8791-9E2366081453}"/>
                  </a:ext>
                </a:extLst>
              </p:cNvPr>
              <p:cNvSpPr txBox="1"/>
              <p:nvPr/>
            </p:nvSpPr>
            <p:spPr>
              <a:xfrm>
                <a:off x="1594466" y="4105120"/>
                <a:ext cx="8492710" cy="73821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5476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3848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0676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4810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4280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0910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4225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4550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1225</m:t>
                              </m:r>
                            </m:e>
                          </m:mr>
                        </m:m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4225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𝟒𝟓𝟓𝟎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1225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dirty="0"/>
                  <a:t> 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142477E-B46B-0030-8791-9E2366081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466" y="4105120"/>
                <a:ext cx="8492710" cy="7382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5222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E234-DD16-4714-B7C5-84A33073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br>
              <a:rPr lang="es-ES" dirty="0"/>
            </a:br>
            <a:r>
              <a:rPr lang="es-ES" dirty="0"/>
              <a:t>Ejemplo</a:t>
            </a:r>
            <a:r>
              <a:rPr dirty="0"/>
              <a:t> 6.10 (</a:t>
            </a:r>
            <a:r>
              <a:rPr dirty="0" err="1"/>
              <a:t>solución</a:t>
            </a:r>
            <a:r>
              <a:rPr dirty="0"/>
              <a:t>) </a:t>
            </a:r>
            <a:r>
              <a:rPr lang="es-ES" dirty="0"/>
              <a:t>(</a:t>
            </a:r>
            <a:r>
              <a:rPr dirty="0"/>
              <a:t>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55086" cy="466725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s-ES" dirty="0"/>
                  <a:t>Necesitamos </a:t>
                </a:r>
                <a:r>
                  <a:rPr lang="es-ES" dirty="0" err="1"/>
                  <a:t>obtener</a:t>
                </a:r>
                <a:r>
                  <a:rPr lang="es-ES" dirty="0"/>
                  <a:t> P {X(2) = 1}, es </a:t>
                </a:r>
                <a:r>
                  <a:rPr lang="es-ES" dirty="0" err="1"/>
                  <a:t>decir</a:t>
                </a:r>
                <a:r>
                  <a:rPr lang="es-ES" dirty="0"/>
                  <a:t> P</a:t>
                </a:r>
                <a:r>
                  <a:rPr lang="es-ES" baseline="-25000" dirty="0"/>
                  <a:t>2</a:t>
                </a:r>
                <a:r>
                  <a:rPr lang="es-ES" dirty="0"/>
                  <a:t>(1)</a:t>
                </a:r>
              </a:p>
              <a:p>
                <a:r>
                  <a:rPr lang="es-ES" dirty="0"/>
                  <a:t>A las 10:00 </a:t>
                </a:r>
                <a:r>
                  <a:rPr lang="es-ES" dirty="0" err="1"/>
                  <a:t>sabemos</a:t>
                </a:r>
                <a:r>
                  <a:rPr lang="es-ES" dirty="0"/>
                  <a:t> que </a:t>
                </a:r>
                <a:r>
                  <a:rPr lang="es-ES" dirty="0" err="1"/>
                  <a:t>todos</a:t>
                </a:r>
                <a:r>
                  <a:rPr lang="es-ES" dirty="0"/>
                  <a:t> los </a:t>
                </a:r>
                <a:r>
                  <a:rPr lang="es-ES" dirty="0" err="1"/>
                  <a:t>estados</a:t>
                </a:r>
                <a:r>
                  <a:rPr lang="es-ES" dirty="0"/>
                  <a:t> (0, 1 o 2 </a:t>
                </a:r>
                <a:r>
                  <a:rPr lang="es-ES" dirty="0" err="1"/>
                  <a:t>usuarios</a:t>
                </a:r>
                <a:r>
                  <a:rPr lang="es-ES" dirty="0"/>
                  <a:t>) son </a:t>
                </a:r>
                <a:r>
                  <a:rPr lang="es-ES" dirty="0" err="1"/>
                  <a:t>igualmente</a:t>
                </a:r>
                <a:r>
                  <a:rPr lang="es-ES" dirty="0"/>
                  <a:t> </a:t>
                </a:r>
                <a:r>
                  <a:rPr lang="es-ES" dirty="0" err="1"/>
                  <a:t>probables</a:t>
                </a:r>
                <a:r>
                  <a:rPr lang="es-ES" dirty="0"/>
                  <a:t>, </a:t>
                </a:r>
                <a:r>
                  <a:rPr lang="es-ES" dirty="0" err="1"/>
                  <a:t>por</a:t>
                </a:r>
                <a:r>
                  <a:rPr lang="es-ES" dirty="0"/>
                  <a:t> lo que</a:t>
                </a:r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s-ES" dirty="0" err="1"/>
                  <a:t>Porque</a:t>
                </a:r>
                <a:r>
                  <a:rPr lang="es-ES" dirty="0"/>
                  <a:t> P</a:t>
                </a:r>
                <a:r>
                  <a:rPr lang="es-ES" baseline="-25000" dirty="0"/>
                  <a:t>0</a:t>
                </a:r>
                <a:r>
                  <a:rPr lang="es-ES" dirty="0"/>
                  <a:t>(0)=1/3, P</a:t>
                </a:r>
                <a:r>
                  <a:rPr lang="es-ES" baseline="-25000" dirty="0"/>
                  <a:t>0</a:t>
                </a:r>
                <a:r>
                  <a:rPr lang="es-ES" dirty="0"/>
                  <a:t>(1)=1/3, P</a:t>
                </a:r>
                <a:r>
                  <a:rPr lang="es-ES" baseline="-25000" dirty="0"/>
                  <a:t>0</a:t>
                </a:r>
                <a:r>
                  <a:rPr lang="es-ES" dirty="0"/>
                  <a:t>(2)=1/3 </a:t>
                </a:r>
              </a:p>
              <a:p>
                <a:r>
                  <a:rPr lang="es-ES" dirty="0"/>
                  <a:t>Del </a:t>
                </a:r>
                <a:r>
                  <a:rPr lang="es-ES" dirty="0" err="1"/>
                  <a:t>ejemplo</a:t>
                </a:r>
                <a:r>
                  <a:rPr lang="es-ES" dirty="0"/>
                  <a:t> 6.9 </a:t>
                </a:r>
                <a:r>
                  <a:rPr lang="es-ES" dirty="0" err="1"/>
                  <a:t>tenemos</a:t>
                </a:r>
                <a:r>
                  <a:rPr lang="es-ES" dirty="0"/>
                  <a:t> P</a:t>
                </a:r>
                <a:r>
                  <a:rPr lang="es-ES" baseline="30000" dirty="0"/>
                  <a:t>2</a:t>
                </a:r>
              </a:p>
              <a:p>
                <a:endParaRPr lang="es-ES" baseline="30000" dirty="0"/>
              </a:p>
              <a:p>
                <a:r>
                  <a:rPr lang="es-ES" dirty="0" err="1"/>
                  <a:t>Calculamos</a:t>
                </a:r>
                <a:r>
                  <a:rPr lang="es-ES" dirty="0"/>
                  <a:t> P</a:t>
                </a:r>
                <a:r>
                  <a:rPr lang="es-ES" baseline="-25000" dirty="0"/>
                  <a:t>2</a:t>
                </a:r>
              </a:p>
              <a:p>
                <a:endParaRPr lang="es-ES" baseline="30000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endParaRPr lang="es-ES" baseline="30000" dirty="0"/>
              </a:p>
              <a:p>
                <a:endParaRPr lang="es-ES" baseline="30000" dirty="0"/>
              </a:p>
              <a:p>
                <a:endParaRPr lang="es-ES" baseline="30000" dirty="0"/>
              </a:p>
              <a:p>
                <a:r>
                  <a:rPr lang="es-ES" dirty="0"/>
                  <a:t>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s-ES" dirty="0"/>
                  <a:t>entonces la respuesta es:</a:t>
                </a:r>
              </a:p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ar-AE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d>
                              <m:dPr>
                                <m:ctrlPr>
                                  <a:rPr lang="ar-AE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  <m:r>
                              <a:rPr lang="ar-AE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ar-AE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ar-AE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ar-AE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1" i="1" smtClean="0">
                        <a:latin typeface="Cambria Math" panose="02040503050406030204" pitchFamily="18" charset="0"/>
                      </a:rPr>
                      <m:t>𝟒𝟐𝟐𝟔</m:t>
                    </m:r>
                  </m:oMath>
                </a14:m>
                <a:endParaRPr lang="ar-AE" baseline="30000" dirty="0"/>
              </a:p>
              <a:p>
                <a:endParaRPr lang="ar-AE" baseline="30000" dirty="0"/>
              </a:p>
              <a:p>
                <a:endParaRPr lang="ar-AE" baseline="30000" dirty="0"/>
              </a:p>
              <a:p>
                <a:endParaRPr lang="ar-AE" baseline="30000" dirty="0"/>
              </a:p>
              <a:p>
                <a:endParaRPr lang="ar-AE" baseline="30000" dirty="0"/>
              </a:p>
              <a:p>
                <a:endParaRPr baseline="30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0EE4F1-9D0B-4FE5-99B9-7109229ED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55086" cy="4667250"/>
              </a:xfrm>
              <a:blipFill>
                <a:blip r:embed="rId2"/>
                <a:stretch>
                  <a:fillRect l="-510" t="-235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D0B47B-FDA5-7C4C-2028-58FDFFC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37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786D3A-839B-70DE-28E3-250BE6B98969}"/>
                  </a:ext>
                </a:extLst>
              </p:cNvPr>
              <p:cNvSpPr txBox="1"/>
              <p:nvPr/>
            </p:nvSpPr>
            <p:spPr>
              <a:xfrm>
                <a:off x="6778276" y="3059892"/>
                <a:ext cx="3420808" cy="73821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5476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3848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0676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4810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4280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0910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4225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4550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1225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786D3A-839B-70DE-28E3-250BE6B98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276" y="3059892"/>
                <a:ext cx="3420808" cy="738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142477E-B46B-0030-8791-9E2366081453}"/>
                  </a:ext>
                </a:extLst>
              </p:cNvPr>
              <p:cNvSpPr txBox="1"/>
              <p:nvPr/>
            </p:nvSpPr>
            <p:spPr>
              <a:xfrm>
                <a:off x="1594466" y="4105120"/>
                <a:ext cx="8426474" cy="73821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5476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3848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0676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4810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4280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0910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4225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4550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1225</m:t>
                              </m:r>
                            </m:e>
                          </m:mr>
                        </m:m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4837</m:t>
                              </m:r>
                            </m:e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𝟒𝟐𝟐𝟔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0937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dirty="0"/>
                  <a:t> 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142477E-B46B-0030-8791-9E2366081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466" y="4105120"/>
                <a:ext cx="8426474" cy="7382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536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2 </a:t>
            </a:r>
            <a:r>
              <a:rPr dirty="0" err="1"/>
              <a:t>Enfoque</a:t>
            </a:r>
            <a:r>
              <a:rPr dirty="0"/>
              <a:t> </a:t>
            </a:r>
            <a:r>
              <a:rPr lang="es-ES" dirty="0"/>
              <a:t>matricial</a:t>
            </a: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propuestos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dirty="0" err="1"/>
              <a:t>Ejercicios</a:t>
            </a:r>
            <a:r>
              <a:rPr dirty="0"/>
              <a:t> 6.1, 6.2 y 6.3 del </a:t>
            </a:r>
            <a:r>
              <a:rPr dirty="0" err="1"/>
              <a:t>libro</a:t>
            </a:r>
            <a:endParaRPr dirty="0"/>
          </a:p>
          <a:p>
            <a:pPr lvl="1"/>
            <a:r>
              <a:rPr dirty="0"/>
              <a:t>Las </a:t>
            </a:r>
            <a:r>
              <a:rPr dirty="0" err="1"/>
              <a:t>respuestas</a:t>
            </a:r>
            <a:r>
              <a:rPr dirty="0"/>
              <a:t> de 6.1 y 6.3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 en </a:t>
            </a:r>
            <a:r>
              <a:rPr lang="es-ES" dirty="0"/>
              <a:t>el libro</a:t>
            </a:r>
            <a:endParaRPr dirty="0"/>
          </a:p>
          <a:p>
            <a:pPr marL="914400" lvl="1" indent="-457200">
              <a:buFont typeface="+mj-lt"/>
              <a:buAutoNum type="alphaLcParenR"/>
            </a:pP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5650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3170B-0671-56D5-50CA-D3794101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lang="es-ES" dirty="0"/>
              <a:t>Distribución </a:t>
            </a:r>
            <a:r>
              <a:rPr dirty="0"/>
              <a:t>e</a:t>
            </a:r>
            <a:r>
              <a:rPr lang="es-ES" dirty="0" err="1"/>
              <a:t>stacionaria</a:t>
            </a:r>
            <a:r>
              <a:rPr lang="es-ES" dirty="0"/>
              <a:t> de una cadena de </a:t>
            </a:r>
            <a:r>
              <a:rPr lang="es-ES" dirty="0" err="1"/>
              <a:t>Markov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4BC606-B3DE-BE6B-8749-436E10A84C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1852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Una </a:t>
                </a:r>
                <a:r>
                  <a:rPr lang="es-ES" dirty="0" err="1"/>
                  <a:t>distribución</a:t>
                </a:r>
                <a:r>
                  <a:rPr lang="es-ES" dirty="0"/>
                  <a:t> </a:t>
                </a:r>
                <a:r>
                  <a:rPr lang="es-ES" dirty="0" err="1"/>
                  <a:t>estacionari</a:t>
                </a:r>
                <a:r>
                  <a:rPr lang="es-ES" dirty="0"/>
                  <a:t>a de </a:t>
                </a:r>
                <a:r>
                  <a:rPr lang="es-ES" dirty="0" err="1"/>
                  <a:t>una</a:t>
                </a:r>
                <a:r>
                  <a:rPr lang="es-ES" dirty="0"/>
                  <a:t> </a:t>
                </a:r>
                <a:r>
                  <a:rPr lang="es-ES" dirty="0" err="1"/>
                  <a:t>cadena</a:t>
                </a:r>
                <a:r>
                  <a:rPr lang="es-ES" dirty="0"/>
                  <a:t> de Markov es la </a:t>
                </a:r>
                <a:r>
                  <a:rPr lang="es-ES" dirty="0" err="1"/>
                  <a:t>distribución</a:t>
                </a:r>
                <a:r>
                  <a:rPr lang="es-ES" dirty="0"/>
                  <a:t> de probabilidad de los </a:t>
                </a:r>
                <a:r>
                  <a:rPr lang="es-ES" dirty="0" err="1"/>
                  <a:t>estados</a:t>
                </a:r>
                <a:r>
                  <a:rPr lang="es-ES" dirty="0"/>
                  <a:t> de la </a:t>
                </a:r>
                <a:r>
                  <a:rPr lang="es-ES" dirty="0" err="1"/>
                  <a:t>cadena</a:t>
                </a:r>
                <a:r>
                  <a:rPr lang="es-ES" dirty="0"/>
                  <a:t> de Markov </a:t>
                </a:r>
                <a:r>
                  <a:rPr lang="es-ES" dirty="0" err="1"/>
                  <a:t>después</a:t>
                </a:r>
                <a:r>
                  <a:rPr lang="es-ES" dirty="0"/>
                  <a:t> de un gran </a:t>
                </a:r>
                <a:r>
                  <a:rPr lang="es-ES" dirty="0" err="1"/>
                  <a:t>número</a:t>
                </a:r>
                <a:r>
                  <a:rPr lang="es-ES" dirty="0"/>
                  <a:t> de </a:t>
                </a:r>
                <a:r>
                  <a:rPr lang="es-ES" dirty="0" err="1"/>
                  <a:t>transiciones</a:t>
                </a:r>
                <a:r>
                  <a:rPr lang="es-ES" dirty="0"/>
                  <a:t>. </a:t>
                </a:r>
              </a:p>
              <a:p>
                <a:r>
                  <a:rPr lang="es-ES" dirty="0"/>
                  <a:t>Es decir, es el conjunto de probabilidades</a:t>
                </a:r>
              </a:p>
              <a:p>
                <a:pPr lvl="1"/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ES" dirty="0"/>
                  <a:t> cuando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s-ES" dirty="0"/>
                  <a:t> </a:t>
                </a:r>
              </a:p>
              <a:p>
                <a:r>
                  <a:rPr lang="es-ES" dirty="0"/>
                  <a:t>En lugar de utilizar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s-ES" dirty="0"/>
                  <a:t> se usa la notación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s-E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</a:p>
              <a:p>
                <a:r>
                  <a:rPr lang="es-ES" dirty="0"/>
                  <a:t>Donde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ar-AE" dirty="0"/>
                  <a:t>  </a:t>
                </a:r>
                <a:endParaRPr lang="es-ES" dirty="0"/>
              </a:p>
              <a:p>
                <a:pPr lvl="1"/>
                <a:r>
                  <a:rPr lang="es-ES" dirty="0"/>
                  <a:t>..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ar-AE" dirty="0"/>
                  <a:t> 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s-ES" dirty="0"/>
              </a:p>
              <a:p>
                <a:pPr lvl="1"/>
                <a:endParaRPr lang="ar-AE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4BC606-B3DE-BE6B-8749-436E10A84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18520" cy="4351338"/>
              </a:xfrm>
              <a:blipFill>
                <a:blip r:embed="rId2"/>
                <a:stretch>
                  <a:fillRect l="-885" t="-35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403D2D-36AD-B31A-9680-0194ADC70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9671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3170B-0671-56D5-50CA-D3794101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lang="es-ES" dirty="0"/>
              <a:t>Distribución </a:t>
            </a:r>
            <a:r>
              <a:rPr dirty="0"/>
              <a:t>e</a:t>
            </a:r>
            <a:r>
              <a:rPr lang="es-ES" dirty="0" err="1"/>
              <a:t>stacionaria</a:t>
            </a:r>
            <a:br>
              <a:rPr lang="es-ES" dirty="0"/>
            </a:br>
            <a:r>
              <a:rPr lang="es-ES" dirty="0"/>
              <a:t>Cálculo matricial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4BC606-B3DE-BE6B-8749-436E10A84C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66657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La distribución en estado estacionario </a:t>
                </a:r>
                <a:r>
                  <a:rPr lang="el-GR" dirty="0"/>
                  <a:t>π </a:t>
                </a:r>
                <a:r>
                  <a:rPr lang="es-ES" dirty="0"/>
                  <a:t>se </a:t>
                </a:r>
                <a:r>
                  <a:rPr lang="es-ES" dirty="0" err="1"/>
                  <a:t>calcula</a:t>
                </a:r>
                <a:r>
                  <a:rPr lang="es-ES" dirty="0"/>
                  <a:t> </a:t>
                </a:r>
                <a:r>
                  <a:rPr lang="es-ES" dirty="0" err="1"/>
                  <a:t>como</a:t>
                </a:r>
                <a:r>
                  <a:rPr lang="es-ES" dirty="0"/>
                  <a:t> </a:t>
                </a:r>
                <a:r>
                  <a:rPr lang="es-ES" dirty="0" err="1"/>
                  <a:t>una</a:t>
                </a:r>
                <a:r>
                  <a:rPr lang="es-ES" dirty="0"/>
                  <a:t> </a:t>
                </a:r>
                <a:r>
                  <a:rPr lang="es-ES" dirty="0" err="1"/>
                  <a:t>solución</a:t>
                </a:r>
                <a:r>
                  <a:rPr lang="es-ES" dirty="0"/>
                  <a:t> de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e>
                            <m:nary>
                              <m:naryPr>
                                <m:chr m:val="∑"/>
                                <m:ctrlPr>
                                  <a:rPr lang="ar-AE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ar-A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ar-AE" dirty="0"/>
                  <a:t> 	</a:t>
                </a:r>
              </a:p>
              <a:p>
                <a:r>
                  <a:rPr lang="es-ES" dirty="0"/>
                  <a:t>Donde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" dirty="0"/>
                  <a:t> es la matriz de probabilidades de transición de la cadena de </a:t>
                </a:r>
                <a:r>
                  <a:rPr lang="es-ES" dirty="0" err="1"/>
                  <a:t>Markov</a:t>
                </a:r>
                <a:r>
                  <a:rPr lang="es-ES" dirty="0"/>
                  <a:t> (rango </a:t>
                </a:r>
                <a:r>
                  <a:rPr lang="es-ES" dirty="0" err="1"/>
                  <a:t>nxn</a:t>
                </a:r>
                <a:r>
                  <a:rPr lang="es-E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es la matriz que representa la distribución estacionaria, es decir las probabilidades de los estados cuando h tiende a infinito (rango 1xn)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4BC606-B3DE-BE6B-8749-436E10A84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66657" cy="4351338"/>
              </a:xfrm>
              <a:blipFill>
                <a:blip r:embed="rId2"/>
                <a:stretch>
                  <a:fillRect l="-1818" t="-2801" r="-18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403D2D-36AD-B31A-9680-0194ADC70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40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7AF8040-130F-68A2-F665-C5B3A4B0070D}"/>
                  </a:ext>
                </a:extLst>
              </p:cNvPr>
              <p:cNvSpPr txBox="1"/>
              <p:nvPr/>
            </p:nvSpPr>
            <p:spPr>
              <a:xfrm>
                <a:off x="7095052" y="4965359"/>
                <a:ext cx="3510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7AF8040-130F-68A2-F665-C5B3A4B0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052" y="4965359"/>
                <a:ext cx="351083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DDC35A4-3B9F-087C-98D4-1C628A507B2D}"/>
                  </a:ext>
                </a:extLst>
              </p:cNvPr>
              <p:cNvSpPr txBox="1"/>
              <p:nvPr/>
            </p:nvSpPr>
            <p:spPr>
              <a:xfrm>
                <a:off x="6659623" y="3025759"/>
                <a:ext cx="4223527" cy="14719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=  </m:t>
                      </m:r>
                      <m:d>
                        <m:d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DDC35A4-3B9F-087C-98D4-1C628A50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23" y="3025759"/>
                <a:ext cx="4223527" cy="1471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707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BC6C0-C9EF-3A77-4217-E1D57A3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lang="es-ES" dirty="0"/>
              <a:t>estacionaria</a:t>
            </a:r>
            <a:br>
              <a:rPr lang="es-ES" dirty="0"/>
            </a:br>
            <a:r>
              <a:rPr dirty="0" err="1"/>
              <a:t>Existencia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estacionari</a:t>
            </a:r>
            <a:r>
              <a:rPr lang="es-ES" dirty="0"/>
              <a:t>a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6B0AFA-C444-09DA-D15E-7F4F8DE9F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No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cadenas</a:t>
            </a:r>
            <a:r>
              <a:rPr dirty="0"/>
              <a:t> de Markov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distribución</a:t>
            </a:r>
            <a:r>
              <a:rPr dirty="0"/>
              <a:t> e</a:t>
            </a:r>
            <a:r>
              <a:rPr lang="es-ES" dirty="0" err="1"/>
              <a:t>stacionaria</a:t>
            </a:r>
            <a:endParaRPr dirty="0"/>
          </a:p>
          <a:p>
            <a:r>
              <a:rPr lang="es-ES" dirty="0"/>
              <a:t>Si una cadena de </a:t>
            </a:r>
            <a:r>
              <a:rPr lang="es-ES" dirty="0" err="1"/>
              <a:t>Markov</a:t>
            </a:r>
            <a:r>
              <a:rPr lang="es-ES" dirty="0"/>
              <a:t> es </a:t>
            </a:r>
            <a:r>
              <a:rPr b="1" u="sng" dirty="0"/>
              <a:t>regular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estacionari</a:t>
            </a:r>
            <a:r>
              <a:rPr lang="es-ES" dirty="0"/>
              <a:t>a</a:t>
            </a:r>
          </a:p>
          <a:p>
            <a:r>
              <a:rPr lang="es-ES" dirty="0"/>
              <a:t>Hay que comprobar si es regular</a:t>
            </a:r>
          </a:p>
          <a:p>
            <a:r>
              <a:rPr lang="es-ES" dirty="0"/>
              <a:t>Una cadena de </a:t>
            </a:r>
            <a:r>
              <a:rPr lang="es-ES" dirty="0" err="1"/>
              <a:t>Markov</a:t>
            </a:r>
            <a:r>
              <a:rPr lang="es-ES" dirty="0"/>
              <a:t> es regular si no hay ningún valor cero en la matriz de transiciones de probabilidad de algún paso, es decir todas las transiciones de cualquier estado a cualquier estado son posibles en ese paso.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3365A2-6DA9-602C-931E-8B46F235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121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BC6C0-C9EF-3A77-4217-E1D57A3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lang="es-ES" dirty="0"/>
              <a:t>estacionaria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6.15 (</a:t>
            </a:r>
            <a:r>
              <a:rPr lang="es-ES" dirty="0"/>
              <a:t>C</a:t>
            </a:r>
            <a:r>
              <a:rPr dirty="0" err="1"/>
              <a:t>adena</a:t>
            </a:r>
            <a:r>
              <a:rPr dirty="0"/>
              <a:t> regular)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6B0AFA-C444-09DA-D15E-7F4F8DE9F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dirty="0"/>
                  <a:t>Una </a:t>
                </a:r>
                <a:r>
                  <a:rPr dirty="0" err="1"/>
                  <a:t>cadena</a:t>
                </a:r>
                <a:r>
                  <a:rPr dirty="0"/>
                  <a:t> de Markov </a:t>
                </a:r>
                <a:r>
                  <a:rPr lang="es-ES" dirty="0"/>
                  <a:t>tiene </a:t>
                </a:r>
                <a:r>
                  <a:rPr dirty="0"/>
                  <a:t>co</a:t>
                </a:r>
                <a:r>
                  <a:rPr lang="es-ES" dirty="0" err="1"/>
                  <a:t>mo</a:t>
                </a:r>
                <a:r>
                  <a:rPr dirty="0"/>
                  <a:t> </a:t>
                </a:r>
                <a:r>
                  <a:rPr dirty="0" err="1"/>
                  <a:t>matriz</a:t>
                </a:r>
                <a:br>
                  <a:rPr lang="es-ES" dirty="0"/>
                </a:br>
                <a:r>
                  <a:rPr dirty="0"/>
                  <a:t>de </a:t>
                </a:r>
                <a:r>
                  <a:rPr dirty="0" err="1"/>
                  <a:t>probabilidad</a:t>
                </a:r>
                <a:r>
                  <a:rPr lang="es-ES" dirty="0"/>
                  <a:t>es</a:t>
                </a:r>
                <a:r>
                  <a:rPr dirty="0"/>
                  <a:t> de </a:t>
                </a:r>
                <a:r>
                  <a:rPr dirty="0" err="1"/>
                  <a:t>transición</a:t>
                </a:r>
                <a:r>
                  <a:rPr dirty="0"/>
                  <a:t> P</a:t>
                </a:r>
                <a:br>
                  <a:rPr lang="es-ES" dirty="0"/>
                </a:br>
                <a:endParaRPr dirty="0"/>
              </a:p>
              <a:p>
                <a:pPr lvl="2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i="1" dirty="0">
                  <a:latin typeface="Cambria Math" panose="02040503050406030204" pitchFamily="18" charset="0"/>
                </a:endParaRPr>
              </a:p>
              <a:p>
                <a:endParaRPr lang="es-ES" i="1" dirty="0">
                  <a:latin typeface="Cambria Math" panose="02040503050406030204" pitchFamily="18" charset="0"/>
                </a:endParaRPr>
              </a:p>
              <a:p>
                <a:r>
                  <a:rPr dirty="0"/>
                  <a:t>La </a:t>
                </a:r>
                <a:r>
                  <a:rPr dirty="0" err="1"/>
                  <a:t>matriz</a:t>
                </a:r>
                <a:r>
                  <a:rPr dirty="0"/>
                  <a:t> P </a:t>
                </a:r>
                <a:r>
                  <a:rPr dirty="0" err="1"/>
                  <a:t>contiene</a:t>
                </a:r>
                <a:r>
                  <a:rPr dirty="0"/>
                  <a:t> ceros, al </a:t>
                </a:r>
                <a:r>
                  <a:rPr dirty="0" err="1"/>
                  <a:t>igual</a:t>
                </a:r>
                <a:r>
                  <a:rPr dirty="0"/>
                  <a:t> que P</a:t>
                </a:r>
                <a:r>
                  <a:rPr baseline="30000" dirty="0"/>
                  <a:t>2</a:t>
                </a:r>
                <a:r>
                  <a:rPr dirty="0"/>
                  <a:t>, P</a:t>
                </a:r>
                <a:r>
                  <a:rPr baseline="30000" dirty="0"/>
                  <a:t>3</a:t>
                </a:r>
                <a:r>
                  <a:rPr dirty="0"/>
                  <a:t>, P</a:t>
                </a:r>
                <a:r>
                  <a:rPr baseline="30000" dirty="0"/>
                  <a:t>4</a:t>
                </a:r>
                <a:r>
                  <a:rPr dirty="0"/>
                  <a:t>, y P</a:t>
                </a:r>
                <a:r>
                  <a:rPr baseline="30000" dirty="0"/>
                  <a:t>5</a:t>
                </a:r>
                <a:r>
                  <a:rPr dirty="0"/>
                  <a:t>. Pero la </a:t>
                </a:r>
                <a:r>
                  <a:rPr dirty="0" err="1"/>
                  <a:t>matriz</a:t>
                </a:r>
                <a:r>
                  <a:rPr dirty="0"/>
                  <a:t> </a:t>
                </a:r>
                <a:r>
                  <a:rPr lang="es-ES" dirty="0"/>
                  <a:t>del paso 6</a:t>
                </a:r>
                <a:r>
                  <a:rPr dirty="0"/>
                  <a:t> no </a:t>
                </a:r>
                <a:r>
                  <a:rPr dirty="0" err="1"/>
                  <a:t>contiene</a:t>
                </a:r>
                <a:r>
                  <a:rPr dirty="0"/>
                  <a:t> ceros</a:t>
                </a:r>
                <a:r>
                  <a:rPr lang="es-ES" dirty="0"/>
                  <a:t>, lo que </a:t>
                </a:r>
                <a:r>
                  <a:rPr dirty="0" err="1"/>
                  <a:t>demuestra</a:t>
                </a:r>
                <a:r>
                  <a:rPr dirty="0"/>
                  <a:t> la </a:t>
                </a:r>
                <a:r>
                  <a:rPr dirty="0" err="1"/>
                  <a:t>regularidad</a:t>
                </a:r>
                <a:r>
                  <a:rPr dirty="0"/>
                  <a:t> de </a:t>
                </a:r>
                <a:r>
                  <a:rPr dirty="0" err="1"/>
                  <a:t>esta</a:t>
                </a:r>
                <a:r>
                  <a:rPr dirty="0"/>
                  <a:t> </a:t>
                </a:r>
                <a:r>
                  <a:rPr dirty="0" err="1"/>
                  <a:t>cadena</a:t>
                </a:r>
                <a:r>
                  <a:rPr dirty="0"/>
                  <a:t> de Markov</a:t>
                </a:r>
                <a:br>
                  <a:rPr lang="es-ES" dirty="0"/>
                </a:br>
                <a:endParaRPr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009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090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900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001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001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009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090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900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810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001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009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162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810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001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027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dirty="0"/>
              </a:p>
              <a:p>
                <a:endParaRPr dirty="0"/>
              </a:p>
              <a:p>
                <a:endParaRPr dirty="0"/>
              </a:p>
              <a:p>
                <a:endParaRPr dirty="0"/>
              </a:p>
              <a:p>
                <a:endParaRPr dirty="0"/>
              </a:p>
              <a:p>
                <a:endParaRPr dirty="0"/>
              </a:p>
              <a:p>
                <a:pPr marL="0" indent="0">
                  <a:buNone/>
                </a:pPr>
                <a:endParaRPr dirty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6B0AFA-C444-09DA-D15E-7F4F8DE9F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928" t="-310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3365A2-6DA9-602C-931E-8B46F235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42</a:t>
            </a:fld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7780306-200E-28BF-2478-7089AC849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121" y="1825625"/>
            <a:ext cx="3296840" cy="219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11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BC6C0-C9EF-3A77-4217-E1D57A3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lang="es-ES" dirty="0"/>
              <a:t>estacionaria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6.16(a) (</a:t>
            </a:r>
            <a:r>
              <a:rPr lang="es-ES" dirty="0"/>
              <a:t>C</a:t>
            </a:r>
            <a:r>
              <a:rPr dirty="0" err="1"/>
              <a:t>adena</a:t>
            </a:r>
            <a:r>
              <a:rPr dirty="0"/>
              <a:t> </a:t>
            </a:r>
            <a:r>
              <a:rPr lang="es-ES" dirty="0"/>
              <a:t>irregular</a:t>
            </a:r>
            <a:r>
              <a:rPr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6B0AFA-C444-09DA-D15E-7F4F8DE9F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dirty="0"/>
                  <a:t>Una </a:t>
                </a:r>
                <a:r>
                  <a:rPr dirty="0" err="1"/>
                  <a:t>cadena</a:t>
                </a:r>
                <a:r>
                  <a:rPr dirty="0"/>
                  <a:t> de Markov </a:t>
                </a:r>
                <a:r>
                  <a:rPr lang="es-ES" dirty="0"/>
                  <a:t>tiene como</a:t>
                </a:r>
                <a:r>
                  <a:rPr dirty="0"/>
                  <a:t> </a:t>
                </a:r>
                <a:r>
                  <a:rPr dirty="0" err="1"/>
                  <a:t>matriz</a:t>
                </a:r>
                <a:br>
                  <a:rPr lang="es-ES" dirty="0"/>
                </a:br>
                <a:r>
                  <a:rPr dirty="0"/>
                  <a:t>de </a:t>
                </a:r>
                <a:r>
                  <a:rPr dirty="0" err="1"/>
                  <a:t>probabilidad</a:t>
                </a:r>
                <a:r>
                  <a:rPr lang="es-ES" dirty="0"/>
                  <a:t>es</a:t>
                </a:r>
                <a:r>
                  <a:rPr dirty="0"/>
                  <a:t> de </a:t>
                </a:r>
                <a:r>
                  <a:rPr dirty="0" err="1"/>
                  <a:t>transición</a:t>
                </a:r>
                <a:r>
                  <a:rPr dirty="0"/>
                  <a:t> P</a:t>
                </a:r>
                <a:br>
                  <a:rPr lang="es-ES" dirty="0"/>
                </a:br>
                <a:endParaRPr dirty="0"/>
              </a:p>
              <a:p>
                <a:pPr lvl="2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i="1" dirty="0">
                  <a:latin typeface="Cambria Math" panose="02040503050406030204" pitchFamily="18" charset="0"/>
                </a:endParaRPr>
              </a:p>
              <a:p>
                <a:endParaRPr i="1" dirty="0">
                  <a:latin typeface="Cambria Math" panose="02040503050406030204" pitchFamily="18" charset="0"/>
                </a:endParaRPr>
              </a:p>
              <a:p>
                <a:r>
                  <a:rPr dirty="0"/>
                  <a:t>No hay </a:t>
                </a:r>
                <a:r>
                  <a:rPr dirty="0" err="1"/>
                  <a:t>salida</a:t>
                </a:r>
                <a:r>
                  <a:rPr dirty="0"/>
                  <a:t> del </a:t>
                </a:r>
                <a:r>
                  <a:rPr dirty="0" err="1"/>
                  <a:t>estado</a:t>
                </a:r>
                <a:r>
                  <a:rPr dirty="0"/>
                  <a:t> 4, es un </a:t>
                </a:r>
                <a:r>
                  <a:rPr i="1" dirty="0" err="1"/>
                  <a:t>estado</a:t>
                </a:r>
                <a:r>
                  <a:rPr i="1" dirty="0"/>
                  <a:t> </a:t>
                </a:r>
                <a:r>
                  <a:rPr i="1" dirty="0" err="1"/>
                  <a:t>absorbente</a:t>
                </a:r>
                <a:endParaRPr i="1" dirty="0"/>
              </a:p>
              <a:p>
                <a:pPr lvl="1"/>
                <a:r>
                  <a:rPr dirty="0" err="1"/>
                  <a:t>Porque</a:t>
                </a:r>
                <a:r>
                  <a:rPr dirty="0"/>
                  <a:t> p</a:t>
                </a:r>
                <a:r>
                  <a:rPr baseline="-25000" dirty="0"/>
                  <a:t>44</a:t>
                </a:r>
                <a:r>
                  <a:rPr dirty="0"/>
                  <a:t>=1</a:t>
                </a:r>
              </a:p>
              <a:p>
                <a:pPr lvl="1"/>
                <a:r>
                  <a:rPr dirty="0"/>
                  <a:t>La </a:t>
                </a:r>
                <a:r>
                  <a:rPr dirty="0" err="1"/>
                  <a:t>distribución</a:t>
                </a:r>
                <a:r>
                  <a:rPr dirty="0"/>
                  <a:t> </a:t>
                </a:r>
                <a:r>
                  <a:rPr lang="es-ES" dirty="0"/>
                  <a:t>estacionaria</a:t>
                </a:r>
                <a:r>
                  <a:rPr dirty="0"/>
                  <a:t> 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dirty="0"/>
              </a:p>
              <a:p>
                <a:pPr lvl="1"/>
                <a:r>
                  <a:rPr dirty="0" err="1"/>
                  <a:t>Entonces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" dirty="0"/>
                  <a:t>, a largo plazo sólo estará en el estado 4</a:t>
                </a:r>
                <a:endParaRPr dirty="0"/>
              </a:p>
              <a:p>
                <a:r>
                  <a:rPr dirty="0"/>
                  <a:t>La </a:t>
                </a:r>
                <a:r>
                  <a:rPr dirty="0" err="1"/>
                  <a:t>cadena</a:t>
                </a:r>
                <a:r>
                  <a:rPr dirty="0"/>
                  <a:t> de Markov es irregular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6B0AFA-C444-09DA-D15E-7F4F8DE9F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26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3365A2-6DA9-602C-931E-8B46F235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43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7C7156-B7D1-27E2-69C7-0281689B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602" y="2151381"/>
            <a:ext cx="3118699" cy="27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71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BC6C0-C9EF-3A77-4217-E1D57A3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lang="es-ES" dirty="0"/>
              <a:t>estacionaria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6.11</a:t>
            </a:r>
            <a:r>
              <a:rPr lang="es-ES" dirty="0"/>
              <a:t> (</a:t>
            </a:r>
            <a:r>
              <a:rPr dirty="0" err="1"/>
              <a:t>Previsi</a:t>
            </a:r>
            <a:r>
              <a:rPr lang="es-ES" dirty="0" err="1"/>
              <a:t>ón</a:t>
            </a:r>
            <a:r>
              <a:rPr lang="es-ES" dirty="0"/>
              <a:t> </a:t>
            </a:r>
            <a:r>
              <a:rPr dirty="0" err="1"/>
              <a:t>meteorológica</a:t>
            </a:r>
            <a:r>
              <a:rPr lang="es-ES" dirty="0"/>
              <a:t>)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6B0AFA-C444-09DA-D15E-7F4F8DE9F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continuación</a:t>
            </a:r>
            <a:r>
              <a:rPr dirty="0"/>
              <a:t> del </a:t>
            </a:r>
            <a:r>
              <a:rPr dirty="0" err="1"/>
              <a:t>ejemplo</a:t>
            </a:r>
            <a:r>
              <a:rPr dirty="0"/>
              <a:t> 6.7</a:t>
            </a:r>
          </a:p>
          <a:p>
            <a:r>
              <a:rPr lang="es-ES" dirty="0"/>
              <a:t>O</a:t>
            </a:r>
            <a:r>
              <a:rPr dirty="0" err="1"/>
              <a:t>bten</a:t>
            </a:r>
            <a:r>
              <a:rPr lang="es-ES" dirty="0" err="1"/>
              <a:t>er</a:t>
            </a:r>
            <a:r>
              <a:rPr dirty="0"/>
              <a:t> la </a:t>
            </a:r>
            <a:r>
              <a:rPr dirty="0" err="1"/>
              <a:t>probabilidad</a:t>
            </a:r>
            <a:r>
              <a:rPr dirty="0"/>
              <a:t> de que </a:t>
            </a:r>
            <a:r>
              <a:rPr lang="es-ES" dirty="0"/>
              <a:t>el futuro (a largo plazo) </a:t>
            </a:r>
            <a:r>
              <a:rPr dirty="0"/>
              <a:t>los días </a:t>
            </a:r>
            <a:r>
              <a:rPr dirty="0" err="1"/>
              <a:t>sean</a:t>
            </a:r>
            <a:r>
              <a:rPr dirty="0"/>
              <a:t> </a:t>
            </a:r>
            <a:r>
              <a:rPr dirty="0" err="1"/>
              <a:t>soleados</a:t>
            </a:r>
            <a:r>
              <a:rPr dirty="0"/>
              <a:t>, y la </a:t>
            </a:r>
            <a:r>
              <a:rPr dirty="0" err="1"/>
              <a:t>probabilidad</a:t>
            </a:r>
            <a:r>
              <a:rPr dirty="0"/>
              <a:t> de que los días </a:t>
            </a:r>
            <a:r>
              <a:rPr dirty="0" err="1"/>
              <a:t>sean</a:t>
            </a:r>
            <a:r>
              <a:rPr dirty="0"/>
              <a:t> </a:t>
            </a:r>
            <a:r>
              <a:rPr dirty="0" err="1"/>
              <a:t>lluviosos</a:t>
            </a:r>
            <a:r>
              <a:rPr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3365A2-6DA9-602C-931E-8B46F235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44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2CEFE9-163C-F4FB-0855-2EB2341AB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614" y="3687583"/>
            <a:ext cx="73056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62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BC6C0-C9EF-3A77-4217-E1D57A3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lang="es-ES" dirty="0"/>
              <a:t>estacionaria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6.11 (</a:t>
            </a:r>
            <a:r>
              <a:rPr dirty="0" err="1"/>
              <a:t>solución</a:t>
            </a:r>
            <a:r>
              <a:rPr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6B0AFA-C444-09DA-D15E-7F4F8DE9F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00094" cy="489585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De la </a:t>
            </a:r>
            <a:r>
              <a:rPr dirty="0" err="1"/>
              <a:t>solución</a:t>
            </a:r>
            <a:r>
              <a:rPr dirty="0"/>
              <a:t> del </a:t>
            </a:r>
            <a:r>
              <a:rPr dirty="0" err="1"/>
              <a:t>ejemplo</a:t>
            </a:r>
            <a:r>
              <a:rPr dirty="0"/>
              <a:t> 6.7 </a:t>
            </a:r>
            <a:r>
              <a:rPr dirty="0" err="1"/>
              <a:t>tenemos</a:t>
            </a:r>
            <a:r>
              <a:rPr dirty="0"/>
              <a:t> </a:t>
            </a:r>
            <a:r>
              <a:rPr lang="es-ES" dirty="0"/>
              <a:t>la matriz </a:t>
            </a:r>
            <a:r>
              <a:rPr i="1" dirty="0"/>
              <a:t>P</a:t>
            </a:r>
          </a:p>
          <a:p>
            <a:pPr lvl="1"/>
            <a:r>
              <a:rPr dirty="0"/>
              <a:t>Estado 1 = sol, </a:t>
            </a:r>
            <a:r>
              <a:rPr lang="es-ES" dirty="0"/>
              <a:t>E</a:t>
            </a:r>
            <a:r>
              <a:rPr dirty="0" err="1"/>
              <a:t>stado</a:t>
            </a:r>
            <a:r>
              <a:rPr dirty="0"/>
              <a:t> 2=</a:t>
            </a:r>
            <a:r>
              <a:rPr dirty="0" err="1"/>
              <a:t>lluvia</a:t>
            </a:r>
            <a:endParaRPr dirty="0"/>
          </a:p>
          <a:p>
            <a:r>
              <a:rPr lang="es-ES" dirty="0"/>
              <a:t>El cálculo de la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estacionari</a:t>
            </a:r>
            <a:r>
              <a:rPr lang="es-ES" dirty="0"/>
              <a:t>a</a:t>
            </a:r>
            <a:r>
              <a:rPr dirty="0"/>
              <a:t> para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 es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E</a:t>
            </a:r>
            <a:r>
              <a:rPr lang="es-ES" dirty="0"/>
              <a:t>n el futuro, </a:t>
            </a:r>
            <a:r>
              <a:rPr dirty="0" err="1"/>
              <a:t>el</a:t>
            </a:r>
            <a:r>
              <a:rPr dirty="0"/>
              <a:t> 57 % de los días s</a:t>
            </a:r>
            <a:r>
              <a:rPr lang="es-ES" dirty="0" err="1"/>
              <a:t>erán</a:t>
            </a:r>
            <a:r>
              <a:rPr lang="es-ES" dirty="0"/>
              <a:t> </a:t>
            </a:r>
            <a:r>
              <a:rPr dirty="0" err="1"/>
              <a:t>soleados</a:t>
            </a:r>
            <a:r>
              <a:rPr dirty="0"/>
              <a:t>, y </a:t>
            </a:r>
            <a:r>
              <a:rPr dirty="0" err="1"/>
              <a:t>el</a:t>
            </a:r>
            <a:r>
              <a:rPr dirty="0"/>
              <a:t> 43 % </a:t>
            </a:r>
            <a:r>
              <a:rPr dirty="0" err="1"/>
              <a:t>lluviosos</a:t>
            </a:r>
            <a:r>
              <a:rPr dirty="0"/>
              <a:t>.</a:t>
            </a:r>
          </a:p>
          <a:p>
            <a:pPr marL="457200" lvl="1" indent="0">
              <a:buNone/>
            </a:pP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3365A2-6DA9-602C-931E-8B46F235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45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79BEFB2-B4B8-5F9D-5DB2-7FBDB5D0CF14}"/>
                  </a:ext>
                </a:extLst>
              </p:cNvPr>
              <p:cNvSpPr txBox="1"/>
              <p:nvPr/>
            </p:nvSpPr>
            <p:spPr>
              <a:xfrm>
                <a:off x="8418535" y="1836774"/>
                <a:ext cx="2979534" cy="46256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dirty="0"/>
                  <a:t>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79BEFB2-B4B8-5F9D-5DB2-7FBDB5D0C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535" y="1836774"/>
                <a:ext cx="2979534" cy="462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1179A99-1ACF-ECCA-8C55-C988CB1AF945}"/>
                  </a:ext>
                </a:extLst>
              </p:cNvPr>
              <p:cNvSpPr txBox="1"/>
              <p:nvPr/>
            </p:nvSpPr>
            <p:spPr>
              <a:xfrm>
                <a:off x="422807" y="2939060"/>
                <a:ext cx="1351280" cy="1135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1179A99-1ACF-ECCA-8C55-C988CB1AF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07" y="2939060"/>
                <a:ext cx="1351280" cy="11351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A90D740-2B1A-FC3D-F2D7-5FE9B77E141B}"/>
                  </a:ext>
                </a:extLst>
              </p:cNvPr>
              <p:cNvSpPr txBox="1"/>
              <p:nvPr/>
            </p:nvSpPr>
            <p:spPr>
              <a:xfrm>
                <a:off x="2243987" y="2940692"/>
                <a:ext cx="3840480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e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e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A90D740-2B1A-FC3D-F2D7-5FE9B77E1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987" y="2940692"/>
                <a:ext cx="3840480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7BEAB7FC-2131-6CF6-A60D-4F316CC42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59507" y="3282791"/>
            <a:ext cx="284480" cy="292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C49C29E-02FE-73D0-A817-8455B7656691}"/>
                  </a:ext>
                </a:extLst>
              </p:cNvPr>
              <p:cNvSpPr txBox="1"/>
              <p:nvPr/>
            </p:nvSpPr>
            <p:spPr>
              <a:xfrm>
                <a:off x="6710680" y="3017115"/>
                <a:ext cx="4643120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7</m:t>
                                            </m:r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C49C29E-02FE-73D0-A817-8455B7656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680" y="3017115"/>
                <a:ext cx="4643120" cy="710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AE0D144-B0E7-44D5-5949-04B3DF2A7EC6}"/>
                  </a:ext>
                </a:extLst>
              </p:cNvPr>
              <p:cNvSpPr txBox="1"/>
              <p:nvPr/>
            </p:nvSpPr>
            <p:spPr>
              <a:xfrm>
                <a:off x="963958" y="4209116"/>
                <a:ext cx="2096536" cy="8842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AE0D144-B0E7-44D5-5949-04B3DF2A7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58" y="4209116"/>
                <a:ext cx="2096536" cy="8842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55EF569-2C4C-4E5A-D096-99E20EAE18F7}"/>
                  </a:ext>
                </a:extLst>
              </p:cNvPr>
              <p:cNvSpPr txBox="1"/>
              <p:nvPr/>
            </p:nvSpPr>
            <p:spPr>
              <a:xfrm>
                <a:off x="3683583" y="4460131"/>
                <a:ext cx="2656427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55EF569-2C4C-4E5A-D096-99E20EAE1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583" y="4460131"/>
                <a:ext cx="2656427" cy="276999"/>
              </a:xfrm>
              <a:prstGeom prst="rect">
                <a:avLst/>
              </a:prstGeom>
              <a:blipFill>
                <a:blip r:embed="rId7"/>
                <a:stretch>
                  <a:fillRect l="-2982" b="-15556"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992AC7D-DE6D-EF9E-A00E-83151AD957B3}"/>
                  </a:ext>
                </a:extLst>
              </p:cNvPr>
              <p:cNvSpPr txBox="1"/>
              <p:nvPr/>
            </p:nvSpPr>
            <p:spPr>
              <a:xfrm>
                <a:off x="6710680" y="4482044"/>
                <a:ext cx="30350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992AC7D-DE6D-EF9E-A00E-83151AD95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680" y="4482044"/>
                <a:ext cx="3035094" cy="276999"/>
              </a:xfrm>
              <a:prstGeom prst="rect">
                <a:avLst/>
              </a:prstGeom>
              <a:blipFill>
                <a:blip r:embed="rId8"/>
                <a:stretch>
                  <a:fillRect b="-15217"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F66461A-BB06-F804-9051-C18A7A84FEED}"/>
                  </a:ext>
                </a:extLst>
              </p:cNvPr>
              <p:cNvSpPr txBox="1"/>
              <p:nvPr/>
            </p:nvSpPr>
            <p:spPr>
              <a:xfrm>
                <a:off x="10124440" y="4330721"/>
                <a:ext cx="1737360" cy="5203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s-E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E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E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𝟒𝟑</m:t>
                      </m:r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F66461A-BB06-F804-9051-C18A7A84F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4440" y="4330721"/>
                <a:ext cx="1737360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9EC3E48-C5C5-711E-0943-109A37B03EBC}"/>
                  </a:ext>
                </a:extLst>
              </p:cNvPr>
              <p:cNvSpPr txBox="1"/>
              <p:nvPr/>
            </p:nvSpPr>
            <p:spPr>
              <a:xfrm>
                <a:off x="2824480" y="5314128"/>
                <a:ext cx="19073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9EC3E48-C5C5-711E-0943-109A37B03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480" y="5314128"/>
                <a:ext cx="190733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2FD0E08E-DDD1-CF03-2F46-C64A24FF3FE7}"/>
                  </a:ext>
                </a:extLst>
              </p:cNvPr>
              <p:cNvSpPr txBox="1"/>
              <p:nvPr/>
            </p:nvSpPr>
            <p:spPr>
              <a:xfrm>
                <a:off x="5142332" y="5196383"/>
                <a:ext cx="2161981" cy="61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s-E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𝟓𝟕</m:t>
                      </m:r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2FD0E08E-DDD1-CF03-2F46-C64A24FF3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332" y="5196383"/>
                <a:ext cx="2161981" cy="6117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D012524D-B96D-3C9E-6E16-EBB1805EA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6707" y="3217610"/>
            <a:ext cx="284480" cy="292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6E1BF5-3607-D046-A206-CD51CD394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504" y="4505047"/>
            <a:ext cx="284480" cy="292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11556A9A-1F2F-30C1-4468-029FFDA52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91407" y="4444713"/>
            <a:ext cx="284480" cy="292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7B7C2651-D816-6FA0-080C-9552D6E79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49794" y="4466626"/>
            <a:ext cx="284480" cy="292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A2B48992-CF6E-8D23-0237-969876BE4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39960" y="4467815"/>
            <a:ext cx="284480" cy="292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98B55DF5-696A-4DE2-BD40-9614EA0F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7316" y="5367568"/>
            <a:ext cx="284480" cy="292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949047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</a:t>
            </a:r>
            <a:r>
              <a:rPr dirty="0"/>
              <a:t>3 </a:t>
            </a:r>
            <a:r>
              <a:rPr dirty="0" err="1"/>
              <a:t>Distribución</a:t>
            </a:r>
            <a:r>
              <a:rPr dirty="0"/>
              <a:t> e</a:t>
            </a:r>
            <a:r>
              <a:rPr lang="es-ES" dirty="0" err="1"/>
              <a:t>stacionaria</a:t>
            </a:r>
            <a:br>
              <a:rPr lang="es-ES" dirty="0"/>
            </a:b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propuestos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Ejercicios</a:t>
            </a:r>
            <a:r>
              <a:rPr dirty="0"/>
              <a:t> 6.4, 6.5, 6.6, 6.7 y 6.8 del </a:t>
            </a:r>
            <a:r>
              <a:rPr dirty="0" err="1"/>
              <a:t>libro</a:t>
            </a:r>
            <a:endParaRPr dirty="0"/>
          </a:p>
          <a:p>
            <a:pPr lvl="1"/>
            <a:r>
              <a:rPr dirty="0"/>
              <a:t>Las </a:t>
            </a:r>
            <a:r>
              <a:rPr dirty="0" err="1"/>
              <a:t>respuestas</a:t>
            </a:r>
            <a:r>
              <a:rPr dirty="0"/>
              <a:t> de 6.4 y 6.5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 en </a:t>
            </a:r>
            <a:r>
              <a:rPr lang="es-ES" dirty="0"/>
              <a:t>el libro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32249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3A6F3-79DE-4865-390C-2FF3DE23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conteo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1456D-617C-6D24-92AB-CA9F8E0BB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.1 </a:t>
            </a:r>
            <a:r>
              <a:rPr dirty="0" err="1"/>
              <a:t>Proceso</a:t>
            </a:r>
            <a:r>
              <a:rPr dirty="0"/>
              <a:t> binomial</a:t>
            </a:r>
          </a:p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4FD94C-B9A9-CBBD-2F15-286BE0E6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147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conteo</a:t>
            </a:r>
            <a:br>
              <a:rPr lang="es-ES" dirty="0"/>
            </a:br>
            <a:r>
              <a:rPr lang="es-ES" dirty="0"/>
              <a:t>Definición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84354-D416-B011-5776-974652A0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Un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X </a:t>
            </a:r>
            <a:r>
              <a:rPr lang="es-ES" dirty="0"/>
              <a:t>es un proceso de conteo si </a:t>
            </a:r>
            <a:r>
              <a:rPr dirty="0"/>
              <a:t>X(t) </a:t>
            </a:r>
            <a:r>
              <a:rPr lang="es-ES" dirty="0"/>
              <a:t>representa un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contados</a:t>
            </a:r>
            <a:r>
              <a:rPr dirty="0"/>
              <a:t> </a:t>
            </a:r>
            <a:r>
              <a:rPr lang="es-ES" dirty="0"/>
              <a:t>en el instante </a:t>
            </a:r>
            <a:r>
              <a:rPr dirty="0"/>
              <a:t>t</a:t>
            </a:r>
          </a:p>
          <a:p>
            <a:r>
              <a:rPr dirty="0"/>
              <a:t>Los </a:t>
            </a:r>
            <a:r>
              <a:rPr lang="es-ES" dirty="0"/>
              <a:t>valores </a:t>
            </a:r>
            <a:r>
              <a:rPr dirty="0"/>
              <a:t>son </a:t>
            </a:r>
            <a:r>
              <a:rPr dirty="0" err="1"/>
              <a:t>enteros</a:t>
            </a:r>
            <a:r>
              <a:rPr dirty="0"/>
              <a:t> no </a:t>
            </a:r>
            <a:r>
              <a:rPr dirty="0" err="1"/>
              <a:t>negativos</a:t>
            </a:r>
            <a:r>
              <a:rPr dirty="0"/>
              <a:t>, X(t)</a:t>
            </a:r>
            <a:r>
              <a:rPr lang="en-US" dirty="0"/>
              <a:t>∈</a:t>
            </a:r>
            <a:r>
              <a:rPr dirty="0"/>
              <a:t>{0, 1, 2, 3,...}.</a:t>
            </a:r>
          </a:p>
          <a:p>
            <a:r>
              <a:rPr dirty="0" err="1"/>
              <a:t>Todos</a:t>
            </a:r>
            <a:r>
              <a:rPr dirty="0"/>
              <a:t> los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conteo</a:t>
            </a:r>
            <a:r>
              <a:rPr dirty="0"/>
              <a:t> son de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discreto</a:t>
            </a:r>
            <a:endParaRPr dirty="0"/>
          </a:p>
          <a:p>
            <a:r>
              <a:rPr dirty="0" err="1"/>
              <a:t>Ejemplos</a:t>
            </a:r>
            <a:r>
              <a:rPr dirty="0"/>
              <a:t>: </a:t>
            </a:r>
            <a:r>
              <a:rPr dirty="0" err="1"/>
              <a:t>recuentos</a:t>
            </a:r>
            <a:r>
              <a:rPr dirty="0"/>
              <a:t> de </a:t>
            </a:r>
            <a:r>
              <a:rPr dirty="0" err="1"/>
              <a:t>trabajos</a:t>
            </a:r>
            <a:r>
              <a:rPr dirty="0"/>
              <a:t> </a:t>
            </a:r>
            <a:r>
              <a:rPr lang="es-ES" dirty="0"/>
              <a:t>recibidos, </a:t>
            </a:r>
            <a:r>
              <a:rPr dirty="0" err="1"/>
              <a:t>llegados</a:t>
            </a:r>
            <a:r>
              <a:rPr dirty="0"/>
              <a:t>,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completadas</a:t>
            </a:r>
            <a:r>
              <a:rPr dirty="0"/>
              <a:t>, </a:t>
            </a:r>
            <a:r>
              <a:rPr dirty="0" err="1"/>
              <a:t>mensajes</a:t>
            </a:r>
            <a:r>
              <a:rPr dirty="0"/>
              <a:t> </a:t>
            </a:r>
            <a:r>
              <a:rPr dirty="0" err="1"/>
              <a:t>transmitidos</a:t>
            </a:r>
            <a:r>
              <a:rPr dirty="0"/>
              <a:t>,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detectados</a:t>
            </a:r>
            <a:r>
              <a:rPr dirty="0"/>
              <a:t>, </a:t>
            </a:r>
            <a:r>
              <a:rPr dirty="0" err="1"/>
              <a:t>goles</a:t>
            </a:r>
            <a:r>
              <a:rPr dirty="0"/>
              <a:t> </a:t>
            </a:r>
            <a:r>
              <a:rPr dirty="0" err="1"/>
              <a:t>marcados</a:t>
            </a:r>
            <a:r>
              <a:rPr dirty="0"/>
              <a:t>,</a:t>
            </a:r>
            <a:r>
              <a:rPr lang="es-ES" dirty="0"/>
              <a:t> </a:t>
            </a:r>
            <a:r>
              <a:rPr dirty="0"/>
              <a:t>...</a:t>
            </a:r>
          </a:p>
          <a:p>
            <a:r>
              <a:rPr dirty="0"/>
              <a:t>Se </a:t>
            </a:r>
            <a:r>
              <a:rPr lang="es-ES" dirty="0"/>
              <a:t>estudiarán </a:t>
            </a:r>
            <a:r>
              <a:rPr dirty="0"/>
              <a:t>dos </a:t>
            </a:r>
            <a:r>
              <a:rPr lang="es-ES" dirty="0"/>
              <a:t>tipos </a:t>
            </a:r>
            <a:r>
              <a:rPr dirty="0"/>
              <a:t>de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conteo</a:t>
            </a:r>
            <a:r>
              <a:rPr dirty="0"/>
              <a:t>:</a:t>
            </a:r>
          </a:p>
          <a:p>
            <a:pPr lvl="1"/>
            <a:r>
              <a:rPr dirty="0" err="1"/>
              <a:t>Proceso</a:t>
            </a:r>
            <a:r>
              <a:rPr dirty="0"/>
              <a:t> binomial (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 y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) </a:t>
            </a:r>
          </a:p>
          <a:p>
            <a:pPr lvl="1"/>
            <a:r>
              <a:rPr dirty="0" err="1"/>
              <a:t>Proceso</a:t>
            </a:r>
            <a:r>
              <a:rPr dirty="0"/>
              <a:t> de Poisson (</a:t>
            </a:r>
            <a:r>
              <a:rPr dirty="0" err="1"/>
              <a:t>tiempo</a:t>
            </a:r>
            <a:r>
              <a:rPr dirty="0"/>
              <a:t> continuo y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)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997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.1 </a:t>
            </a:r>
            <a:r>
              <a:rPr dirty="0" err="1"/>
              <a:t>Proceso</a:t>
            </a:r>
            <a:r>
              <a:rPr dirty="0"/>
              <a:t> binomial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84354-D416-B011-5776-974652A0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Un</a:t>
            </a:r>
            <a:r>
              <a:rPr dirty="0"/>
              <a:t> </a:t>
            </a:r>
            <a:r>
              <a:rPr dirty="0" err="1"/>
              <a:t>proceso</a:t>
            </a:r>
            <a:r>
              <a:rPr dirty="0"/>
              <a:t> binomial X(n)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éxitos</a:t>
            </a:r>
            <a:r>
              <a:rPr dirty="0"/>
              <a:t> en </a:t>
            </a:r>
            <a:r>
              <a:rPr lang="es-ES" dirty="0"/>
              <a:t>n </a:t>
            </a:r>
            <a:r>
              <a:rPr dirty="0" err="1"/>
              <a:t>ensayos</a:t>
            </a:r>
            <a:r>
              <a:rPr dirty="0"/>
              <a:t> </a:t>
            </a:r>
            <a:r>
              <a:rPr dirty="0" err="1"/>
              <a:t>independientes</a:t>
            </a:r>
            <a:r>
              <a:rPr dirty="0"/>
              <a:t> de Bernoulli, </a:t>
            </a:r>
            <a:r>
              <a:rPr dirty="0" err="1"/>
              <a:t>donde</a:t>
            </a:r>
            <a:r>
              <a:rPr dirty="0"/>
              <a:t> n = 0, 1, 2,...</a:t>
            </a:r>
          </a:p>
          <a:p>
            <a:r>
              <a:rPr dirty="0"/>
              <a:t>Es un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de </a:t>
            </a:r>
            <a:r>
              <a:rPr dirty="0" err="1"/>
              <a:t>conteo</a:t>
            </a:r>
            <a:r>
              <a:rPr dirty="0"/>
              <a:t> de </a:t>
            </a:r>
            <a:r>
              <a:rPr lang="es-ES" dirty="0"/>
              <a:t>tiempo </a:t>
            </a:r>
            <a:r>
              <a:rPr dirty="0" err="1"/>
              <a:t>discreto</a:t>
            </a:r>
            <a:r>
              <a:rPr dirty="0"/>
              <a:t> y </a:t>
            </a:r>
            <a:r>
              <a:rPr lang="es-ES" dirty="0"/>
              <a:t>estado</a:t>
            </a:r>
          </a:p>
          <a:p>
            <a:r>
              <a:rPr lang="es-ES" dirty="0"/>
              <a:t>E</a:t>
            </a:r>
            <a:r>
              <a:rPr dirty="0"/>
              <a:t>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</a:t>
            </a:r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4686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.1 </a:t>
            </a:r>
            <a:r>
              <a:rPr dirty="0" err="1"/>
              <a:t>Proceso</a:t>
            </a:r>
            <a:r>
              <a:rPr dirty="0"/>
              <a:t> binomial</a:t>
            </a:r>
            <a:br>
              <a:rPr lang="es-ES" dirty="0"/>
            </a:br>
            <a:r>
              <a:rPr dirty="0"/>
              <a:t>Variables </a:t>
            </a:r>
            <a:r>
              <a:rPr dirty="0" err="1"/>
              <a:t>aleatorias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84354-D416-B011-5776-974652A0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En un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conteo</a:t>
            </a:r>
            <a:r>
              <a:rPr dirty="0"/>
              <a:t> binomial, hay dos variables </a:t>
            </a:r>
            <a:r>
              <a:rPr dirty="0" err="1"/>
              <a:t>aleatorias</a:t>
            </a:r>
            <a:r>
              <a:rPr dirty="0"/>
              <a:t> </a:t>
            </a:r>
            <a:r>
              <a:rPr dirty="0" err="1"/>
              <a:t>impl</a:t>
            </a:r>
            <a:r>
              <a:rPr lang="es-ES" dirty="0" err="1"/>
              <a:t>icadas</a:t>
            </a:r>
            <a:endParaRPr dirty="0"/>
          </a:p>
          <a:p>
            <a:pPr lvl="1"/>
            <a:r>
              <a:rPr dirty="0"/>
              <a:t>X(n) =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éxitos</a:t>
            </a:r>
            <a:r>
              <a:rPr dirty="0"/>
              <a:t> (</a:t>
            </a:r>
            <a:r>
              <a:rPr dirty="0" err="1"/>
              <a:t>llegadas</a:t>
            </a:r>
            <a:r>
              <a:rPr dirty="0"/>
              <a:t>) en n </a:t>
            </a:r>
            <a:r>
              <a:rPr dirty="0" err="1"/>
              <a:t>ensayos</a:t>
            </a:r>
            <a:r>
              <a:rPr dirty="0"/>
              <a:t>, con </a:t>
            </a:r>
            <a:r>
              <a:rPr dirty="0" err="1"/>
              <a:t>distribución</a:t>
            </a:r>
            <a:r>
              <a:rPr dirty="0"/>
              <a:t> binomial B(</a:t>
            </a:r>
            <a:r>
              <a:rPr dirty="0" err="1"/>
              <a:t>n,p</a:t>
            </a:r>
            <a:r>
              <a:rPr dirty="0"/>
              <a:t>)</a:t>
            </a:r>
          </a:p>
          <a:p>
            <a:pPr lvl="1"/>
            <a:r>
              <a:rPr dirty="0"/>
              <a:t>Y =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ensayos</a:t>
            </a:r>
            <a:r>
              <a:rPr dirty="0"/>
              <a:t> entre </a:t>
            </a:r>
            <a:r>
              <a:rPr dirty="0" err="1"/>
              <a:t>éxitos</a:t>
            </a:r>
            <a:r>
              <a:rPr dirty="0"/>
              <a:t> </a:t>
            </a:r>
            <a:r>
              <a:rPr dirty="0" err="1"/>
              <a:t>consecutivos</a:t>
            </a:r>
            <a:r>
              <a:rPr dirty="0"/>
              <a:t> (</a:t>
            </a:r>
            <a:r>
              <a:rPr dirty="0" err="1"/>
              <a:t>llegadas</a:t>
            </a:r>
            <a:r>
              <a:rPr dirty="0"/>
              <a:t>), con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geométrica</a:t>
            </a:r>
            <a:r>
              <a:rPr dirty="0"/>
              <a:t> G(p)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50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536B9F-E3CC-9CDC-A3BA-F3ED9F7B7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103" y="4149132"/>
            <a:ext cx="5855017" cy="27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822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4E3B1-833D-64C7-8021-B953FA12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.1 </a:t>
            </a:r>
            <a:r>
              <a:rPr dirty="0" err="1"/>
              <a:t>Proceso</a:t>
            </a:r>
            <a:r>
              <a:rPr dirty="0"/>
              <a:t> binomial</a:t>
            </a:r>
            <a:br>
              <a:rPr lang="es-ES" dirty="0"/>
            </a:br>
            <a:r>
              <a:rPr dirty="0"/>
              <a:t>Cadena de Markov</a:t>
            </a:r>
            <a:r>
              <a:rPr lang="es-ES" dirty="0"/>
              <a:t> irregular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053F10-1A42-A102-0C7E-AE9C4411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proceso binomial e</a:t>
            </a:r>
            <a:r>
              <a:rPr dirty="0"/>
              <a:t>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 </a:t>
            </a:r>
            <a:r>
              <a:rPr lang="es-ES" dirty="0"/>
              <a:t>irregular </a:t>
            </a:r>
            <a:r>
              <a:rPr dirty="0" err="1"/>
              <a:t>porque</a:t>
            </a:r>
            <a:r>
              <a:rPr dirty="0"/>
              <a:t> X(n) no </a:t>
            </a:r>
            <a:r>
              <a:rPr dirty="0" err="1"/>
              <a:t>disminuye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lo que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que </a:t>
            </a:r>
            <a:r>
              <a:rPr lang="es-ES" dirty="0"/>
              <a:t>obtenemos </a:t>
            </a:r>
            <a:r>
              <a:rPr dirty="0"/>
              <a:t>un </a:t>
            </a:r>
            <a:r>
              <a:rPr dirty="0" err="1"/>
              <a:t>éxito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éxitos</a:t>
            </a:r>
            <a:r>
              <a:rPr dirty="0"/>
              <a:t>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volverá</a:t>
            </a:r>
            <a:r>
              <a:rPr dirty="0"/>
              <a:t> a cero.</a:t>
            </a:r>
          </a:p>
          <a:p>
            <a:r>
              <a:rPr dirty="0"/>
              <a:t>El </a:t>
            </a:r>
            <a:r>
              <a:rPr dirty="0" err="1"/>
              <a:t>proceso</a:t>
            </a:r>
            <a:r>
              <a:rPr dirty="0"/>
              <a:t> binomial no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estacionari</a:t>
            </a:r>
            <a:r>
              <a:rPr lang="es-ES" dirty="0"/>
              <a:t>a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E042CF-B018-B332-88B9-A90BDF83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51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45A27E-88F3-B0B0-F582-469CF375A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285" y="4169229"/>
            <a:ext cx="7516829" cy="218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733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4E3B1-833D-64C7-8021-B953FA12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.1 </a:t>
            </a:r>
            <a:r>
              <a:rPr dirty="0" err="1"/>
              <a:t>Proceso</a:t>
            </a:r>
            <a:r>
              <a:rPr dirty="0"/>
              <a:t> binomial</a:t>
            </a:r>
            <a:br>
              <a:rPr lang="es-ES" dirty="0"/>
            </a:br>
            <a:r>
              <a:rPr dirty="0" err="1"/>
              <a:t>Matriz</a:t>
            </a:r>
            <a:r>
              <a:rPr dirty="0"/>
              <a:t> de </a:t>
            </a:r>
            <a:r>
              <a:rPr lang="es-ES" dirty="0"/>
              <a:t>transiciones de </a:t>
            </a:r>
            <a:r>
              <a:rPr dirty="0" err="1"/>
              <a:t>probabilidad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4053F10-1A42-A102-0C7E-AE9C44114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dirty="0"/>
                  <a:t>La </a:t>
                </a:r>
                <a:r>
                  <a:rPr dirty="0" err="1"/>
                  <a:t>matriz</a:t>
                </a:r>
                <a:r>
                  <a:rPr dirty="0"/>
                  <a:t> de </a:t>
                </a:r>
                <a:r>
                  <a:rPr lang="es-ES" dirty="0"/>
                  <a:t>transiciones de </a:t>
                </a:r>
                <a:r>
                  <a:rPr dirty="0" err="1"/>
                  <a:t>probabilidad</a:t>
                </a:r>
                <a:r>
                  <a:rPr dirty="0"/>
                  <a:t> </a:t>
                </a:r>
                <a:r>
                  <a:rPr dirty="0" err="1"/>
                  <a:t>tiene</a:t>
                </a:r>
                <a:r>
                  <a:rPr dirty="0"/>
                  <a:t> </a:t>
                </a:r>
                <a:r>
                  <a:rPr dirty="0" err="1"/>
                  <a:t>filas</a:t>
                </a:r>
                <a:r>
                  <a:rPr dirty="0"/>
                  <a:t> y </a:t>
                </a:r>
                <a:r>
                  <a:rPr dirty="0" err="1"/>
                  <a:t>columnas</a:t>
                </a:r>
                <a:r>
                  <a:rPr dirty="0"/>
                  <a:t>, </a:t>
                </a:r>
                <a:r>
                  <a:rPr dirty="0" err="1"/>
                  <a:t>porque</a:t>
                </a:r>
                <a:r>
                  <a:rPr dirty="0"/>
                  <a:t> X(n) </a:t>
                </a:r>
                <a:r>
                  <a:rPr dirty="0" err="1"/>
                  <a:t>puede</a:t>
                </a:r>
                <a:r>
                  <a:rPr dirty="0"/>
                  <a:t> </a:t>
                </a:r>
                <a:r>
                  <a:rPr dirty="0" err="1"/>
                  <a:t>alcanzar</a:t>
                </a:r>
                <a:r>
                  <a:rPr dirty="0"/>
                  <a:t> </a:t>
                </a:r>
                <a:r>
                  <a:rPr dirty="0" err="1"/>
                  <a:t>cualquier</a:t>
                </a:r>
                <a:r>
                  <a:rPr dirty="0"/>
                  <a:t> valor </a:t>
                </a:r>
                <a:r>
                  <a:rPr dirty="0" err="1"/>
                  <a:t>grande</a:t>
                </a:r>
                <a:r>
                  <a:rPr dirty="0"/>
                  <a:t> para n </a:t>
                </a:r>
                <a:r>
                  <a:rPr dirty="0" err="1"/>
                  <a:t>suficientemente</a:t>
                </a:r>
                <a:r>
                  <a:rPr dirty="0"/>
                  <a:t> </a:t>
                </a:r>
                <a:r>
                  <a:rPr dirty="0" err="1"/>
                  <a:t>grande</a:t>
                </a:r>
                <a:r>
                  <a:rPr dirty="0"/>
                  <a:t>.</a:t>
                </a:r>
              </a:p>
              <a:p>
                <a:endParaRPr dirty="0"/>
              </a:p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s-ES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dirty="0"/>
              </a:p>
              <a:p>
                <a:endParaRPr dirty="0"/>
              </a:p>
              <a:p>
                <a:r>
                  <a:rPr dirty="0"/>
                  <a:t>Es </a:t>
                </a:r>
                <a:r>
                  <a:rPr dirty="0" err="1"/>
                  <a:t>más</a:t>
                </a:r>
                <a:r>
                  <a:rPr dirty="0"/>
                  <a:t> </a:t>
                </a:r>
                <a:r>
                  <a:rPr dirty="0" err="1"/>
                  <a:t>fácil</a:t>
                </a:r>
                <a:r>
                  <a:rPr dirty="0"/>
                  <a:t> </a:t>
                </a:r>
                <a:r>
                  <a:rPr dirty="0" err="1"/>
                  <a:t>calcular</a:t>
                </a:r>
                <a:r>
                  <a:rPr dirty="0"/>
                  <a:t> </a:t>
                </a:r>
                <a:r>
                  <a:rPr dirty="0" err="1"/>
                  <a:t>probabilidades</a:t>
                </a:r>
                <a:r>
                  <a:rPr dirty="0"/>
                  <a:t> </a:t>
                </a:r>
                <a:r>
                  <a:rPr dirty="0" err="1"/>
                  <a:t>usando</a:t>
                </a:r>
                <a:r>
                  <a:rPr dirty="0"/>
                  <a:t> </a:t>
                </a:r>
                <a:r>
                  <a:rPr lang="es-ES" dirty="0"/>
                  <a:t>la </a:t>
                </a:r>
                <a:r>
                  <a:rPr dirty="0" err="1"/>
                  <a:t>fórmula</a:t>
                </a:r>
                <a:r>
                  <a:rPr dirty="0"/>
                  <a:t> binomial </a:t>
                </a:r>
                <a:r>
                  <a:rPr lang="es-ES" dirty="0"/>
                  <a:t>e</a:t>
                </a:r>
                <a:r>
                  <a:rPr dirty="0"/>
                  <a:t>n </a:t>
                </a:r>
                <a:r>
                  <a:rPr dirty="0" err="1"/>
                  <a:t>lugar</a:t>
                </a:r>
                <a:r>
                  <a:rPr dirty="0"/>
                  <a:t> de matrices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4053F10-1A42-A102-0C7E-AE9C44114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928" b="-2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E042CF-B018-B332-88B9-A90BDF83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91719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84354-D416-B011-5776-974652A0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Un </a:t>
            </a:r>
            <a:r>
              <a:rPr dirty="0" err="1"/>
              <a:t>proceso</a:t>
            </a:r>
            <a:r>
              <a:rPr dirty="0"/>
              <a:t> de </a:t>
            </a:r>
            <a:r>
              <a:rPr lang="es-ES" dirty="0"/>
              <a:t>conteo de </a:t>
            </a:r>
            <a:r>
              <a:rPr dirty="0"/>
              <a:t>Poisson es un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en </a:t>
            </a:r>
            <a:r>
              <a:rPr dirty="0" err="1"/>
              <a:t>tiempo</a:t>
            </a:r>
            <a:r>
              <a:rPr dirty="0"/>
              <a:t> continuo </a:t>
            </a:r>
            <a:r>
              <a:rPr dirty="0" err="1"/>
              <a:t>obtenido</a:t>
            </a:r>
            <a:r>
              <a:rPr dirty="0"/>
              <a:t> de un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conteo</a:t>
            </a:r>
            <a:r>
              <a:rPr dirty="0"/>
              <a:t> binomial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entre </a:t>
            </a:r>
            <a:r>
              <a:rPr dirty="0" err="1"/>
              <a:t>ensayos</a:t>
            </a:r>
            <a:r>
              <a:rPr dirty="0"/>
              <a:t> </a:t>
            </a:r>
            <a:r>
              <a:rPr lang="es-ES" dirty="0"/>
              <a:t>se aproxima a </a:t>
            </a:r>
            <a:r>
              <a:rPr dirty="0"/>
              <a:t>0.</a:t>
            </a:r>
          </a:p>
          <a:p>
            <a:r>
              <a:rPr dirty="0"/>
              <a:t>Es un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estocástico</a:t>
            </a:r>
            <a:r>
              <a:rPr dirty="0"/>
              <a:t> </a:t>
            </a:r>
            <a:r>
              <a:rPr lang="es-ES" dirty="0"/>
              <a:t>de </a:t>
            </a:r>
            <a:r>
              <a:rPr dirty="0" err="1"/>
              <a:t>tiempo</a:t>
            </a:r>
            <a:r>
              <a:rPr dirty="0"/>
              <a:t> continuo y es</a:t>
            </a:r>
            <a:r>
              <a:rPr lang="es-ES" dirty="0" err="1"/>
              <a:t>tado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.</a:t>
            </a:r>
          </a:p>
          <a:p>
            <a:pPr lvl="1"/>
            <a:r>
              <a:rPr dirty="0"/>
              <a:t>Es un </a:t>
            </a:r>
            <a:r>
              <a:rPr dirty="0" err="1"/>
              <a:t>proceso</a:t>
            </a:r>
            <a:r>
              <a:rPr dirty="0"/>
              <a:t> de Markov </a:t>
            </a:r>
            <a:r>
              <a:rPr lang="es-ES" dirty="0"/>
              <a:t>de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continuo</a:t>
            </a:r>
            <a:endParaRPr lang="es-ES" dirty="0"/>
          </a:p>
          <a:p>
            <a:pPr lvl="1"/>
            <a:r>
              <a:rPr lang="es-ES" dirty="0"/>
              <a:t>Pero </a:t>
            </a:r>
            <a:r>
              <a:rPr dirty="0"/>
              <a:t>no </a:t>
            </a:r>
            <a:r>
              <a:rPr lang="es-ES" dirty="0"/>
              <a:t>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Markov, </a:t>
            </a:r>
            <a:endParaRPr lang="es-ES" dirty="0"/>
          </a:p>
          <a:p>
            <a:pPr lvl="1"/>
            <a:r>
              <a:rPr lang="es-ES" dirty="0"/>
              <a:t>Al ser un proceso de </a:t>
            </a:r>
            <a:r>
              <a:rPr lang="es-ES" dirty="0" err="1"/>
              <a:t>Markov</a:t>
            </a:r>
            <a:r>
              <a:rPr lang="es-ES" dirty="0"/>
              <a:t>, sólo </a:t>
            </a:r>
            <a:r>
              <a:rPr dirty="0"/>
              <a:t>se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valor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reciente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 para </a:t>
            </a:r>
            <a:r>
              <a:rPr dirty="0" err="1"/>
              <a:t>predecir</a:t>
            </a:r>
            <a:r>
              <a:rPr dirty="0"/>
              <a:t> sus </a:t>
            </a:r>
            <a:r>
              <a:rPr dirty="0" err="1"/>
              <a:t>probabilidades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proceso</a:t>
            </a:r>
            <a:r>
              <a:rPr dirty="0"/>
              <a:t> de Poisson es </a:t>
            </a:r>
            <a:r>
              <a:rPr dirty="0" err="1"/>
              <a:t>adecuado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las </a:t>
            </a:r>
            <a:r>
              <a:rPr dirty="0" err="1"/>
              <a:t>llegadas</a:t>
            </a:r>
            <a:r>
              <a:rPr dirty="0"/>
              <a:t> son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raros</a:t>
            </a:r>
            <a:r>
              <a:rPr dirty="0"/>
              <a:t> (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Poissonian</a:t>
            </a:r>
            <a:r>
              <a:rPr lang="es-ES" dirty="0"/>
              <a:t>os</a:t>
            </a:r>
            <a:r>
              <a:rPr dirty="0"/>
              <a:t>)</a:t>
            </a:r>
          </a:p>
          <a:p>
            <a:pPr lvl="1"/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ocurren</a:t>
            </a:r>
            <a:r>
              <a:rPr dirty="0"/>
              <a:t> en </a:t>
            </a:r>
            <a:r>
              <a:rPr dirty="0" err="1"/>
              <a:t>momentos</a:t>
            </a:r>
            <a:r>
              <a:rPr dirty="0"/>
              <a:t> </a:t>
            </a:r>
            <a:r>
              <a:rPr dirty="0" err="1"/>
              <a:t>aleatorios</a:t>
            </a:r>
            <a:r>
              <a:rPr dirty="0"/>
              <a:t>.</a:t>
            </a:r>
          </a:p>
          <a:p>
            <a:pPr lvl="1"/>
            <a:r>
              <a:rPr dirty="0"/>
              <a:t>La </a:t>
            </a:r>
            <a:r>
              <a:rPr dirty="0" err="1"/>
              <a:t>probabilidad</a:t>
            </a:r>
            <a:r>
              <a:rPr dirty="0"/>
              <a:t> de</a:t>
            </a:r>
            <a:r>
              <a:rPr lang="es-ES" dirty="0"/>
              <a:t> que llegue u</a:t>
            </a:r>
            <a:r>
              <a:rPr dirty="0"/>
              <a:t>n nuevo </a:t>
            </a:r>
            <a:r>
              <a:rPr dirty="0" err="1"/>
              <a:t>evento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un </a:t>
            </a:r>
            <a:r>
              <a:rPr dirty="0" err="1"/>
              <a:t>corto</a:t>
            </a:r>
            <a:r>
              <a:rPr dirty="0"/>
              <a:t> </a:t>
            </a:r>
            <a:r>
              <a:rPr dirty="0" err="1"/>
              <a:t>intervalo</a:t>
            </a:r>
            <a:r>
              <a:rPr dirty="0"/>
              <a:t> de </a:t>
            </a:r>
            <a:r>
              <a:rPr dirty="0" err="1"/>
              <a:t>tiempo</a:t>
            </a:r>
            <a:r>
              <a:rPr dirty="0"/>
              <a:t> es </a:t>
            </a:r>
            <a:r>
              <a:rPr dirty="0" err="1"/>
              <a:t>proporcional</a:t>
            </a:r>
            <a:r>
              <a:rPr dirty="0"/>
              <a:t> a la </a:t>
            </a:r>
            <a:r>
              <a:rPr dirty="0" err="1"/>
              <a:t>longitud</a:t>
            </a:r>
            <a:r>
              <a:rPr dirty="0"/>
              <a:t> de este </a:t>
            </a:r>
            <a:r>
              <a:rPr dirty="0" err="1"/>
              <a:t>intervalo</a:t>
            </a:r>
            <a:r>
              <a:rPr dirty="0"/>
              <a:t>.</a:t>
            </a:r>
          </a:p>
          <a:p>
            <a:pPr lvl="1"/>
            <a:r>
              <a:rPr dirty="0"/>
              <a:t>La </a:t>
            </a:r>
            <a:r>
              <a:rPr dirty="0" err="1"/>
              <a:t>probabilidad</a:t>
            </a:r>
            <a:r>
              <a:rPr dirty="0"/>
              <a:t> de </a:t>
            </a:r>
            <a:r>
              <a:rPr lang="es-ES" dirty="0"/>
              <a:t>que lleguen </a:t>
            </a:r>
            <a:r>
              <a:rPr dirty="0" err="1"/>
              <a:t>más</a:t>
            </a:r>
            <a:r>
              <a:rPr dirty="0"/>
              <a:t> de 1 </a:t>
            </a:r>
            <a:r>
              <a:rPr dirty="0" err="1"/>
              <a:t>evento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ese </a:t>
            </a:r>
            <a:r>
              <a:rPr dirty="0" err="1"/>
              <a:t>tiempo</a:t>
            </a:r>
            <a:r>
              <a:rPr dirty="0"/>
              <a:t> es </a:t>
            </a:r>
            <a:r>
              <a:rPr dirty="0" err="1"/>
              <a:t>mucho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en </a:t>
            </a:r>
            <a:r>
              <a:rPr dirty="0" err="1"/>
              <a:t>comparación</a:t>
            </a:r>
            <a:r>
              <a:rPr dirty="0"/>
              <a:t> con la </a:t>
            </a:r>
            <a:r>
              <a:rPr dirty="0" err="1"/>
              <a:t>longitud</a:t>
            </a:r>
            <a:r>
              <a:rPr dirty="0"/>
              <a:t> de </a:t>
            </a:r>
            <a:r>
              <a:rPr dirty="0" err="1"/>
              <a:t>dicho</a:t>
            </a:r>
            <a:r>
              <a:rPr dirty="0"/>
              <a:t> </a:t>
            </a:r>
            <a:r>
              <a:rPr dirty="0" err="1"/>
              <a:t>intervalo</a:t>
            </a:r>
            <a:r>
              <a:rPr dirty="0"/>
              <a:t>.</a:t>
            </a:r>
          </a:p>
          <a:p>
            <a:pPr lvl="1"/>
            <a:r>
              <a:rPr dirty="0" err="1"/>
              <a:t>Ejemplos</a:t>
            </a:r>
            <a:r>
              <a:rPr dirty="0"/>
              <a:t> de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raros</a:t>
            </a:r>
            <a:r>
              <a:rPr dirty="0"/>
              <a:t> </a:t>
            </a:r>
            <a:r>
              <a:rPr dirty="0" err="1"/>
              <a:t>incluyen</a:t>
            </a:r>
            <a:r>
              <a:rPr dirty="0"/>
              <a:t> </a:t>
            </a:r>
            <a:r>
              <a:rPr dirty="0" err="1"/>
              <a:t>llamadas</a:t>
            </a:r>
            <a:r>
              <a:rPr dirty="0"/>
              <a:t> </a:t>
            </a:r>
            <a:r>
              <a:rPr dirty="0" err="1"/>
              <a:t>telefónicas</a:t>
            </a:r>
            <a:r>
              <a:rPr dirty="0"/>
              <a:t>, </a:t>
            </a:r>
            <a:r>
              <a:rPr dirty="0" err="1"/>
              <a:t>ataques</a:t>
            </a:r>
            <a:r>
              <a:rPr dirty="0"/>
              <a:t> de virus, </a:t>
            </a:r>
            <a:r>
              <a:rPr dirty="0" err="1"/>
              <a:t>errores</a:t>
            </a:r>
            <a:r>
              <a:rPr dirty="0"/>
              <a:t> en </a:t>
            </a:r>
            <a:r>
              <a:rPr lang="es-ES" dirty="0"/>
              <a:t>software</a:t>
            </a:r>
            <a:r>
              <a:rPr dirty="0"/>
              <a:t>, </a:t>
            </a:r>
            <a:r>
              <a:rPr dirty="0" err="1"/>
              <a:t>accidentes</a:t>
            </a:r>
            <a:r>
              <a:rPr dirty="0"/>
              <a:t> de </a:t>
            </a:r>
            <a:r>
              <a:rPr dirty="0" err="1"/>
              <a:t>tráfico</a:t>
            </a:r>
            <a:r>
              <a:rPr dirty="0"/>
              <a:t>, </a:t>
            </a:r>
            <a:r>
              <a:rPr dirty="0" err="1"/>
              <a:t>desastres</a:t>
            </a:r>
            <a:r>
              <a:rPr dirty="0"/>
              <a:t> naturales, </a:t>
            </a:r>
            <a:r>
              <a:rPr dirty="0" err="1"/>
              <a:t>apagones</a:t>
            </a:r>
            <a:r>
              <a:rPr dirty="0"/>
              <a:t> de red, </a:t>
            </a:r>
            <a:r>
              <a:rPr dirty="0" err="1"/>
              <a:t>llegadas</a:t>
            </a:r>
            <a:r>
              <a:rPr dirty="0"/>
              <a:t> de </a:t>
            </a:r>
            <a:r>
              <a:rPr dirty="0" err="1"/>
              <a:t>mensajes</a:t>
            </a:r>
            <a:r>
              <a:rPr dirty="0"/>
              <a:t>,</a:t>
            </a:r>
            <a:r>
              <a:rPr lang="es-ES" dirty="0"/>
              <a:t> </a:t>
            </a:r>
            <a:r>
              <a:rPr dirty="0"/>
              <a:t>...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71113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/>
              <a:t>Variables </a:t>
            </a:r>
            <a:r>
              <a:rPr dirty="0" err="1"/>
              <a:t>aleatorias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84354-D416-B011-5776-974652A0C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4830" cy="4351338"/>
          </a:xfrm>
        </p:spPr>
        <p:txBody>
          <a:bodyPr>
            <a:normAutofit/>
          </a:bodyPr>
          <a:lstStyle/>
          <a:p>
            <a:r>
              <a:rPr dirty="0"/>
              <a:t>En un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conteo</a:t>
            </a:r>
            <a:r>
              <a:rPr dirty="0"/>
              <a:t> de Poisson, hay </a:t>
            </a:r>
            <a:r>
              <a:rPr dirty="0" err="1"/>
              <a:t>tres</a:t>
            </a:r>
            <a:r>
              <a:rPr dirty="0"/>
              <a:t> variables </a:t>
            </a:r>
            <a:r>
              <a:rPr dirty="0" err="1"/>
              <a:t>aleatorias</a:t>
            </a:r>
            <a:r>
              <a:rPr dirty="0"/>
              <a:t> </a:t>
            </a:r>
            <a:r>
              <a:rPr dirty="0" err="1"/>
              <a:t>impl</a:t>
            </a:r>
            <a:r>
              <a:rPr lang="es-ES" dirty="0" err="1"/>
              <a:t>icadas</a:t>
            </a:r>
            <a:endParaRPr dirty="0"/>
          </a:p>
          <a:p>
            <a:pPr lvl="1"/>
            <a:r>
              <a:rPr dirty="0"/>
              <a:t>X(t)</a:t>
            </a:r>
            <a:r>
              <a:rPr lang="es-ES" dirty="0"/>
              <a:t>: Poisson</a:t>
            </a:r>
            <a:r>
              <a:rPr lang="el-GR" dirty="0"/>
              <a:t>(</a:t>
            </a:r>
            <a:r>
              <a:rPr lang="en-US" dirty="0"/>
              <a:t>λ</a:t>
            </a:r>
            <a:r>
              <a:rPr lang="es-ES" dirty="0"/>
              <a:t>t) </a:t>
            </a:r>
            <a:r>
              <a:rPr dirty="0"/>
              <a:t>=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llegadas</a:t>
            </a:r>
            <a:r>
              <a:rPr dirty="0"/>
              <a:t> hasta </a:t>
            </a:r>
            <a:r>
              <a:rPr lang="es-ES" dirty="0"/>
              <a:t>el instante </a:t>
            </a:r>
            <a:r>
              <a:rPr dirty="0"/>
              <a:t>t (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lang="es-ES" dirty="0"/>
              <a:t>instante </a:t>
            </a:r>
            <a:r>
              <a:rPr dirty="0"/>
              <a:t>0)</a:t>
            </a:r>
            <a:r>
              <a:rPr dirty="0">
                <a:sym typeface="Wingdings" panose="05000000000000000000" pitchFamily="2" charset="2"/>
              </a:rPr>
              <a:t> </a:t>
            </a:r>
            <a:endParaRPr lang="es-ES" dirty="0">
              <a:sym typeface="Wingdings" panose="05000000000000000000" pitchFamily="2" charset="2"/>
            </a:endParaRPr>
          </a:p>
          <a:p>
            <a:pPr lvl="1"/>
            <a:r>
              <a:rPr dirty="0"/>
              <a:t>T</a:t>
            </a:r>
            <a:r>
              <a:rPr lang="es-ES" dirty="0"/>
              <a:t>: </a:t>
            </a:r>
            <a:r>
              <a:rPr lang="es-ES" dirty="0" err="1"/>
              <a:t>Exponencia</a:t>
            </a:r>
            <a:r>
              <a:rPr lang="es-ES" dirty="0"/>
              <a:t>(</a:t>
            </a:r>
            <a:r>
              <a:rPr lang="en-US" dirty="0"/>
              <a:t>λ</a:t>
            </a:r>
            <a:r>
              <a:rPr lang="es-ES" dirty="0"/>
              <a:t>)</a:t>
            </a:r>
            <a:r>
              <a:rPr dirty="0"/>
              <a:t> = </a:t>
            </a:r>
            <a:r>
              <a:rPr dirty="0" err="1"/>
              <a:t>Tiempo</a:t>
            </a:r>
            <a:r>
              <a:rPr dirty="0"/>
              <a:t> entre </a:t>
            </a:r>
            <a:r>
              <a:rPr dirty="0" err="1"/>
              <a:t>llegadas</a:t>
            </a:r>
            <a:r>
              <a:rPr dirty="0"/>
              <a:t> </a:t>
            </a:r>
            <a:r>
              <a:rPr dirty="0" err="1"/>
              <a:t>consecutivas</a:t>
            </a:r>
            <a:r>
              <a:rPr dirty="0"/>
              <a:t> </a:t>
            </a:r>
          </a:p>
          <a:p>
            <a:pPr lvl="1"/>
            <a:r>
              <a:rPr dirty="0"/>
              <a:t>T</a:t>
            </a:r>
            <a:r>
              <a:rPr baseline="-25000" dirty="0"/>
              <a:t>k</a:t>
            </a:r>
            <a:r>
              <a:rPr lang="es-ES" dirty="0"/>
              <a:t>: Gamma(</a:t>
            </a:r>
            <a:r>
              <a:rPr lang="es-ES" dirty="0">
                <a:sym typeface="Wingdings" panose="05000000000000000000" pitchFamily="2" charset="2"/>
              </a:rPr>
              <a:t>k, </a:t>
            </a:r>
            <a:r>
              <a:rPr lang="en-US" dirty="0"/>
              <a:t>λ</a:t>
            </a:r>
            <a:r>
              <a:rPr lang="es-ES" dirty="0"/>
              <a:t>) =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en </a:t>
            </a:r>
            <a:r>
              <a:rPr dirty="0" err="1"/>
              <a:t>el</a:t>
            </a:r>
            <a:r>
              <a:rPr dirty="0"/>
              <a:t> que se produce la </a:t>
            </a:r>
            <a:r>
              <a:rPr lang="es-ES" dirty="0"/>
              <a:t>k-</a:t>
            </a:r>
            <a:r>
              <a:rPr lang="es-ES" dirty="0" err="1"/>
              <a:t>ésima</a:t>
            </a:r>
            <a:r>
              <a:rPr lang="es-ES" dirty="0"/>
              <a:t> llegada 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54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F0F0BA-40E2-B327-9DC7-4F49CF9D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028" y="3777343"/>
            <a:ext cx="6122088" cy="285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509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/>
              <a:t>Variable </a:t>
            </a:r>
            <a:r>
              <a:rPr dirty="0" err="1"/>
              <a:t>aleatoria</a:t>
            </a:r>
            <a:r>
              <a:rPr dirty="0"/>
              <a:t> X(t)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X(t) = </a:t>
                </a:r>
                <a:r>
                  <a:rPr lang="es-ES" dirty="0" err="1"/>
                  <a:t>Número</a:t>
                </a:r>
                <a:r>
                  <a:rPr lang="es-ES" dirty="0"/>
                  <a:t> de </a:t>
                </a:r>
                <a:r>
                  <a:rPr lang="es-ES" dirty="0" err="1"/>
                  <a:t>llegadas</a:t>
                </a:r>
                <a:r>
                  <a:rPr lang="es-ES" dirty="0"/>
                  <a:t> hasta el tiempo t</a:t>
                </a:r>
              </a:p>
              <a:p>
                <a:r>
                  <a:rPr lang="es-ES" dirty="0"/>
                  <a:t>Es </a:t>
                </a:r>
                <a:r>
                  <a:rPr lang="es-ES" dirty="0" err="1"/>
                  <a:t>una</a:t>
                </a:r>
                <a:r>
                  <a:rPr lang="es-ES" dirty="0"/>
                  <a:t> variable </a:t>
                </a:r>
                <a:r>
                  <a:rPr lang="es-ES" dirty="0" err="1"/>
                  <a:t>aleatoria</a:t>
                </a:r>
                <a:r>
                  <a:rPr lang="es-ES" dirty="0"/>
                  <a:t> </a:t>
                </a:r>
                <a:r>
                  <a:rPr lang="es-ES" dirty="0" err="1"/>
                  <a:t>discreta</a:t>
                </a:r>
                <a:r>
                  <a:rPr lang="es-ES" dirty="0"/>
                  <a:t> de Poisson(</a:t>
                </a:r>
                <a:r>
                  <a:rPr lang="el-GR" dirty="0" err="1"/>
                  <a:t>λ</a:t>
                </a:r>
                <a:r>
                  <a:rPr lang="es-ES" dirty="0" err="1"/>
                  <a:t>t</a:t>
                </a:r>
                <a:r>
                  <a:rPr lang="es-ES" dirty="0"/>
                  <a:t>)</a:t>
                </a:r>
              </a:p>
              <a:p>
                <a:pPr lvl="1"/>
                <a:r>
                  <a:rPr lang="el-GR" dirty="0"/>
                  <a:t>λ = </a:t>
                </a:r>
                <a:r>
                  <a:rPr lang="es-ES" dirty="0" err="1"/>
                  <a:t>número</a:t>
                </a:r>
                <a:r>
                  <a:rPr lang="es-ES" dirty="0"/>
                  <a:t> medio de </a:t>
                </a:r>
                <a:r>
                  <a:rPr lang="es-ES" dirty="0" err="1"/>
                  <a:t>llegadas</a:t>
                </a:r>
                <a:r>
                  <a:rPr lang="es-ES" dirty="0"/>
                  <a:t> </a:t>
                </a:r>
                <a:r>
                  <a:rPr lang="es-ES" dirty="0" err="1"/>
                  <a:t>por</a:t>
                </a:r>
                <a:r>
                  <a:rPr lang="es-ES" dirty="0"/>
                  <a:t> </a:t>
                </a:r>
                <a:r>
                  <a:rPr lang="es-ES" dirty="0" err="1"/>
                  <a:t>unidad</a:t>
                </a:r>
                <a:r>
                  <a:rPr lang="es-ES" dirty="0"/>
                  <a:t> de </a:t>
                </a:r>
                <a:r>
                  <a:rPr lang="es-ES" dirty="0" err="1"/>
                  <a:t>tiempo</a:t>
                </a:r>
                <a:endParaRPr lang="es-ES" dirty="0"/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f>
                      <m:f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ar-A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ar-AE" b="0" i="1" dirty="0">
                    <a:latin typeface="Cambria Math" panose="02040503050406030204" pitchFamily="18" charset="0"/>
                  </a:rPr>
                  <a:t>     </a:t>
                </a:r>
                <a:r>
                  <a:rPr lang="ar-AE" b="0" dirty="0">
                    <a:latin typeface="Cambria Math" panose="02040503050406030204" pitchFamily="18" charset="0"/>
                  </a:rPr>
                  <a:t>(</a:t>
                </a:r>
                <a:r>
                  <a:rPr lang="es-ES" b="0" dirty="0">
                    <a:latin typeface="Cambria Math" panose="02040503050406030204" pitchFamily="18" charset="0"/>
                  </a:rPr>
                  <a:t>Tabla A3 del libro)</a:t>
                </a:r>
                <a:endParaRPr lang="es-E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>
                  <a:ea typeface="Cambria Math" panose="02040503050406030204" pitchFamily="18" charset="0"/>
                </a:endParaRPr>
              </a:p>
              <a:p>
                <a:r>
                  <a:rPr lang="es-ES" dirty="0" err="1"/>
                  <a:t>Propiedad</a:t>
                </a:r>
                <a:r>
                  <a:rPr lang="es-ES" dirty="0"/>
                  <a:t> </a:t>
                </a:r>
                <a:r>
                  <a:rPr lang="es-ES" dirty="0" err="1"/>
                  <a:t>importante</a:t>
                </a:r>
                <a:r>
                  <a:rPr lang="es-ES" dirty="0"/>
                  <a:t>: </a:t>
                </a:r>
                <a:r>
                  <a:rPr lang="es-ES" dirty="0" err="1"/>
                  <a:t>tiene</a:t>
                </a:r>
                <a:r>
                  <a:rPr lang="es-ES" dirty="0"/>
                  <a:t> </a:t>
                </a:r>
                <a:r>
                  <a:rPr lang="es-ES" dirty="0" err="1"/>
                  <a:t>incrementos</a:t>
                </a:r>
                <a:r>
                  <a:rPr lang="es-ES" dirty="0"/>
                  <a:t> </a:t>
                </a:r>
                <a:r>
                  <a:rPr lang="es-ES" dirty="0" err="1"/>
                  <a:t>independientes</a:t>
                </a:r>
                <a:endParaRPr lang="es-ES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para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cualquier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" dirty="0"/>
                  <a:t> </a:t>
                </a:r>
              </a:p>
              <a:p>
                <a:endParaRPr lang="es-ES" dirty="0"/>
              </a:p>
              <a:p>
                <a:pPr lvl="1"/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endParaRPr lang="es-ES" dirty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58638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/>
              <a:t>Variable </a:t>
            </a:r>
            <a:r>
              <a:rPr dirty="0" err="1"/>
              <a:t>aleatoria</a:t>
            </a:r>
            <a:r>
              <a:rPr dirty="0"/>
              <a:t> 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t>Tiempo entre llegadas consecutivas </a:t>
                </a:r>
              </a:p>
              <a:p>
                <a:r>
                  <a:t>Se trata de una variable aleatoria Exponencial continua.</a:t>
                </a: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b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E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b="0">
                  <a:ea typeface="Cambria Math" panose="02040503050406030204" pitchFamily="18" charset="0"/>
                </a:endParaRPr>
              </a:p>
              <a:p>
                <a:pPr lvl="1"/>
                <a:endParaRPr b="0">
                  <a:ea typeface="Cambria Math" panose="02040503050406030204" pitchFamily="18" charset="0"/>
                </a:endParaRPr>
              </a:p>
              <a:p>
                <a:endParaRPr b="0">
                  <a:ea typeface="Cambria Math" panose="02040503050406030204" pitchFamily="18" charset="0"/>
                </a:endParaRPr>
              </a:p>
              <a:p>
                <a:endParaRPr b="0">
                  <a:ea typeface="Cambria Math" panose="02040503050406030204" pitchFamily="18" charset="0"/>
                </a:endParaRPr>
              </a:p>
              <a:p>
                <a:endParaRPr b="0">
                  <a:ea typeface="Cambria Math" panose="02040503050406030204" pitchFamily="18" charset="0"/>
                </a:endParaRPr>
              </a:p>
              <a:p>
                <a:endParaRPr b="0">
                  <a:ea typeface="Cambria Math" panose="02040503050406030204" pitchFamily="18" charset="0"/>
                </a:endParaRPr>
              </a:p>
              <a:p>
                <a:endParaRPr b="0">
                  <a:ea typeface="Cambria Math" panose="02040503050406030204" pitchFamily="18" charset="0"/>
                </a:endParaRPr>
              </a:p>
              <a:p>
                <a:endParaRPr b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pPr>
                  <a:defRPr>
                    <a:noFill/>
                  </a:defRPr>
                </a:pPr>
                <a: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3575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/>
              <a:t>Variable </a:t>
            </a:r>
            <a:r>
              <a:rPr dirty="0" err="1"/>
              <a:t>aleatoria</a:t>
            </a:r>
            <a:r>
              <a:rPr dirty="0"/>
              <a:t> T</a:t>
            </a:r>
            <a:r>
              <a:rPr baseline="-25000" dirty="0"/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Tiempo en el que se produce la k-</a:t>
                </a:r>
                <a:r>
                  <a:rPr lang="es-ES" dirty="0" err="1"/>
                  <a:t>ésima</a:t>
                </a:r>
                <a:r>
                  <a:rPr lang="es-ES" dirty="0"/>
                  <a:t> </a:t>
                </a:r>
                <a:r>
                  <a:rPr lang="es-ES" dirty="0" err="1"/>
                  <a:t>llegada</a:t>
                </a:r>
                <a:endParaRPr lang="es-ES" dirty="0"/>
              </a:p>
              <a:p>
                <a:r>
                  <a:rPr lang="es-ES" dirty="0"/>
                  <a:t>Es </a:t>
                </a:r>
                <a:r>
                  <a:rPr lang="es-ES" dirty="0" err="1"/>
                  <a:t>una</a:t>
                </a:r>
                <a:r>
                  <a:rPr lang="es-ES" dirty="0"/>
                  <a:t> variable </a:t>
                </a:r>
                <a:r>
                  <a:rPr lang="es-ES" dirty="0" err="1"/>
                  <a:t>aleatoria</a:t>
                </a:r>
                <a:r>
                  <a:rPr lang="es-ES" dirty="0"/>
                  <a:t> continua Gamma(k, </a:t>
                </a:r>
                <a:r>
                  <a:rPr lang="el-GR" dirty="0"/>
                  <a:t>λ)</a:t>
                </a:r>
              </a:p>
              <a:p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th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llegada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ocurra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antes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en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el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tiempo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}=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)≥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b="0" i="1" dirty="0">
                  <a:latin typeface="Cambria Math" panose="02040503050406030204" pitchFamily="18" charset="0"/>
                </a:endParaRPr>
              </a:p>
              <a:p>
                <a:r>
                  <a:rPr lang="es-ES" b="0" dirty="0"/>
                  <a:t>Al ser variables continuas, se cumple: </a:t>
                </a:r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ar-AE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sSupPr>
                            <m:ctrlP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b="0" dirty="0">
                  <a:ea typeface="Cambria Math" panose="02040503050406030204" pitchFamily="18" charset="0"/>
                </a:endParaRPr>
              </a:p>
              <a:p>
                <a:pPr lvl="1"/>
                <a:endParaRPr lang="ar-AE" b="0" dirty="0">
                  <a:ea typeface="Cambria Math" panose="02040503050406030204" pitchFamily="18" charset="0"/>
                </a:endParaRPr>
              </a:p>
              <a:p>
                <a:endParaRPr lang="ar-AE" b="0" dirty="0">
                  <a:ea typeface="Cambria Math" panose="02040503050406030204" pitchFamily="18" charset="0"/>
                </a:endParaRPr>
              </a:p>
              <a:p>
                <a:endParaRPr lang="ar-AE" b="0" dirty="0">
                  <a:ea typeface="Cambria Math" panose="02040503050406030204" pitchFamily="18" charset="0"/>
                </a:endParaRPr>
              </a:p>
              <a:p>
                <a:endParaRPr lang="ar-AE" b="0" dirty="0">
                  <a:ea typeface="Cambria Math" panose="02040503050406030204" pitchFamily="18" charset="0"/>
                </a:endParaRPr>
              </a:p>
              <a:p>
                <a:endParaRPr lang="ar-AE" b="0" dirty="0">
                  <a:ea typeface="Cambria Math" panose="02040503050406030204" pitchFamily="18" charset="0"/>
                </a:endParaRPr>
              </a:p>
              <a:p>
                <a:endParaRPr lang="ar-AE" b="0" dirty="0">
                  <a:ea typeface="Cambria Math" panose="02040503050406030204" pitchFamily="18" charset="0"/>
                </a:endParaRPr>
              </a:p>
              <a:p>
                <a:endParaRPr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57618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6.20 (</a:t>
            </a:r>
            <a:r>
              <a:rPr dirty="0" err="1"/>
              <a:t>Accesos</a:t>
            </a:r>
            <a:r>
              <a:rPr dirty="0"/>
              <a:t> al sitio web)</a:t>
            </a:r>
            <a:endParaRPr baseline="-25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84354-D416-B011-5776-974652A0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El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visitas</a:t>
            </a:r>
            <a:r>
              <a:rPr dirty="0"/>
              <a:t> a un </a:t>
            </a:r>
            <a:r>
              <a:rPr dirty="0" err="1"/>
              <a:t>determinado</a:t>
            </a:r>
            <a:r>
              <a:rPr dirty="0"/>
              <a:t> sitio web </a:t>
            </a:r>
            <a:r>
              <a:rPr dirty="0" err="1"/>
              <a:t>sigue</a:t>
            </a:r>
            <a:r>
              <a:rPr dirty="0"/>
              <a:t> un </a:t>
            </a:r>
            <a:r>
              <a:rPr dirty="0" err="1"/>
              <a:t>proceso</a:t>
            </a:r>
            <a:r>
              <a:rPr dirty="0"/>
              <a:t> de Poisson con </a:t>
            </a:r>
            <a:r>
              <a:rPr lang="es-ES" dirty="0"/>
              <a:t>una frecuencia media de </a:t>
            </a:r>
            <a:r>
              <a:rPr dirty="0"/>
              <a:t>7 </a:t>
            </a:r>
            <a:r>
              <a:rPr lang="es-ES" dirty="0"/>
              <a:t>visitas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minuto</a:t>
            </a:r>
            <a:r>
              <a:rPr dirty="0"/>
              <a:t>.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/>
              <a:t>En </a:t>
            </a:r>
            <a:r>
              <a:rPr dirty="0" err="1"/>
              <a:t>promedio</a:t>
            </a:r>
            <a:r>
              <a:rPr dirty="0"/>
              <a:t>, ¿</a:t>
            </a:r>
            <a:r>
              <a:rPr dirty="0" err="1"/>
              <a:t>cuánto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se </a:t>
            </a:r>
            <a:r>
              <a:rPr dirty="0" err="1"/>
              <a:t>necesita</a:t>
            </a:r>
            <a:r>
              <a:rPr dirty="0"/>
              <a:t> para </a:t>
            </a:r>
            <a:r>
              <a:rPr dirty="0" err="1"/>
              <a:t>obtener</a:t>
            </a:r>
            <a:r>
              <a:rPr dirty="0"/>
              <a:t> 10000 </a:t>
            </a:r>
            <a:r>
              <a:rPr dirty="0" err="1"/>
              <a:t>visitas</a:t>
            </a:r>
            <a:r>
              <a:rPr dirty="0"/>
              <a:t>? 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/>
              <a:t>¿</a:t>
            </a:r>
            <a:r>
              <a:rPr dirty="0" err="1"/>
              <a:t>Cuál</a:t>
            </a:r>
            <a:r>
              <a:rPr dirty="0"/>
              <a:t> es la </a:t>
            </a:r>
            <a:r>
              <a:rPr dirty="0" err="1"/>
              <a:t>probabilidad</a:t>
            </a:r>
            <a:r>
              <a:rPr dirty="0"/>
              <a:t> de que </a:t>
            </a:r>
            <a:r>
              <a:rPr lang="es-ES" dirty="0"/>
              <a:t>esto suceda en un plazo de </a:t>
            </a:r>
            <a:r>
              <a:rPr dirty="0"/>
              <a:t>24 horas?</a:t>
            </a:r>
          </a:p>
          <a:p>
            <a:pPr lvl="1"/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7166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6.20 (</a:t>
            </a:r>
            <a:r>
              <a:rPr dirty="0" err="1"/>
              <a:t>Solución</a:t>
            </a:r>
            <a:r>
              <a:rPr dirty="0"/>
              <a:t>)</a:t>
            </a:r>
            <a:endParaRPr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457200" indent="-457200">
                  <a:buFont typeface="+mj-lt"/>
                  <a:buAutoNum type="alphaLcParenR"/>
                </a:pPr>
                <a:r>
                  <a:rPr lang="es-ES" dirty="0"/>
                  <a:t>En </a:t>
                </a:r>
                <a:r>
                  <a:rPr lang="es-ES" dirty="0" err="1"/>
                  <a:t>promedio</a:t>
                </a:r>
                <a:r>
                  <a:rPr lang="es-ES" dirty="0"/>
                  <a:t>, ¿</a:t>
                </a:r>
                <a:r>
                  <a:rPr lang="es-ES" dirty="0" err="1"/>
                  <a:t>cuánto</a:t>
                </a:r>
                <a:r>
                  <a:rPr lang="es-ES" dirty="0"/>
                  <a:t> </a:t>
                </a:r>
                <a:r>
                  <a:rPr lang="es-ES" dirty="0" err="1"/>
                  <a:t>tiempo</a:t>
                </a:r>
                <a:r>
                  <a:rPr lang="es-ES" dirty="0"/>
                  <a:t> se </a:t>
                </a:r>
                <a:r>
                  <a:rPr lang="es-ES" dirty="0" err="1"/>
                  <a:t>necesita</a:t>
                </a:r>
                <a:r>
                  <a:rPr lang="es-ES" dirty="0"/>
                  <a:t> para </a:t>
                </a:r>
                <a:r>
                  <a:rPr lang="es-ES" dirty="0" err="1"/>
                  <a:t>obtener</a:t>
                </a:r>
                <a:r>
                  <a:rPr lang="es-ES" dirty="0"/>
                  <a:t> 10000 </a:t>
                </a:r>
                <a:r>
                  <a:rPr lang="es-ES" dirty="0" err="1"/>
                  <a:t>visitas</a:t>
                </a:r>
                <a:r>
                  <a:rPr lang="es-ES" dirty="0"/>
                  <a:t>? </a:t>
                </a:r>
              </a:p>
              <a:p>
                <a:pPr lvl="1"/>
                <a:r>
                  <a:rPr lang="es-ES" dirty="0"/>
                  <a:t>T</a:t>
                </a:r>
                <a:r>
                  <a:rPr lang="es-ES" baseline="-25000" dirty="0"/>
                  <a:t>10000</a:t>
                </a:r>
                <a:r>
                  <a:rPr lang="es-ES" dirty="0"/>
                  <a:t> = Tiempo (minuto) en el que llega la visita número 10000, desde el inicio</a:t>
                </a:r>
              </a:p>
              <a:p>
                <a:pPr lvl="1"/>
                <a:r>
                  <a:rPr lang="es-ES" dirty="0"/>
                  <a:t>Es una variable Gamma(k, </a:t>
                </a:r>
                <a:r>
                  <a:rPr lang="el-GR" dirty="0"/>
                  <a:t>λ), </a:t>
                </a:r>
                <a:r>
                  <a:rPr lang="es-ES" dirty="0"/>
                  <a:t>con k=10000 y </a:t>
                </a:r>
                <a:r>
                  <a:rPr lang="el-GR" dirty="0"/>
                  <a:t>λ=7 </a:t>
                </a:r>
                <a:r>
                  <a:rPr lang="es-ES" dirty="0"/>
                  <a:t>visitas/minuto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10000</m:t>
                            </m:r>
                          </m:sub>
                        </m:sSub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10000</m:t>
                        </m:r>
                      </m:num>
                      <m:den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1428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func>
                      <m:funcPr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minutos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fName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81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ar-A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hor</m:t>
                        </m:r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as</m:t>
                        </m:r>
                      </m:e>
                    </m:func>
                  </m:oMath>
                </a14:m>
                <a:endParaRPr lang="ar-AE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ar-AE" dirty="0"/>
                  <a:t>¿</a:t>
                </a:r>
                <a:r>
                  <a:rPr lang="es-ES" dirty="0"/>
                  <a:t>Cuál es la probabilidad de que esto suceda en 24 horas?</a:t>
                </a:r>
              </a:p>
              <a:p>
                <a:pPr lvl="1"/>
                <a:r>
                  <a:rPr lang="es-ES" dirty="0"/>
                  <a:t>24 horas = 24*60=1440 </a:t>
                </a:r>
                <a:r>
                  <a:rPr lang="es-ES" dirty="0" err="1"/>
                  <a:t>minutos</a:t>
                </a:r>
                <a:endParaRPr lang="es-ES" dirty="0"/>
              </a:p>
              <a:p>
                <a:pPr lvl="1">
                  <a:defRPr>
                    <a:latin typeface="Cambria Math" panose="02040503050406030204" pitchFamily="18" charset="0"/>
                  </a:defRPr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10000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1440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𝟕𝟖𝟖𝟏</m:t>
                    </m:r>
                  </m:oMath>
                </a14:m>
                <a:endParaRPr lang="es-ES" b="1" dirty="0"/>
              </a:p>
              <a:p>
                <a:pPr lvl="1">
                  <a:defRPr>
                    <a:latin typeface="Cambria Math" panose="02040503050406030204" pitchFamily="18" charset="0"/>
                  </a:defRPr>
                </a:pPr>
                <a:r>
                  <a:rPr lang="es-ES" dirty="0"/>
                  <a:t>Por el Teorema Central del Límite podemos aproximar a una variable Normal estándar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1428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10000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49</m:t>
                            </m:r>
                          </m:den>
                        </m:f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1440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1440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1428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80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7881</m:t>
                    </m:r>
                  </m:oMath>
                </a14:m>
                <a:endParaRPr lang="es-ES" dirty="0"/>
              </a:p>
              <a:p>
                <a:pPr lvl="2"/>
                <a:endParaRPr lang="ar-AE" b="1" dirty="0"/>
              </a:p>
              <a:p>
                <a:pPr lvl="1"/>
                <a:endParaRPr lang="ar-AE" b="1" dirty="0"/>
              </a:p>
              <a:p>
                <a:pPr lvl="1"/>
                <a:endParaRPr lang="ar-AE" b="1" dirty="0"/>
              </a:p>
              <a:p>
                <a:endParaRPr lang="ar-AE" b="1" dirty="0"/>
              </a:p>
              <a:p>
                <a:endParaRPr lang="ar-AE" b="1" dirty="0"/>
              </a:p>
              <a:p>
                <a:endParaRPr lang="ar-AE" b="1" dirty="0"/>
              </a:p>
              <a:p>
                <a:endParaRPr lang="ar-AE" b="1" dirty="0"/>
              </a:p>
              <a:p>
                <a:endParaRPr lang="ar-AE" b="1" dirty="0"/>
              </a:p>
              <a:p>
                <a:endParaRPr b="1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36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1376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6.20 (</a:t>
            </a:r>
            <a:r>
              <a:rPr lang="es-ES" dirty="0"/>
              <a:t>Ordenador central</a:t>
            </a:r>
            <a:r>
              <a:rPr dirty="0"/>
              <a:t>)</a:t>
            </a:r>
            <a:endParaRPr baseline="-25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84354-D416-B011-5776-974652A0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 envían trabajos a un ordenador central, son una frecuencia media de </a:t>
            </a:r>
            <a:r>
              <a:rPr dirty="0"/>
              <a:t>2 </a:t>
            </a:r>
            <a:r>
              <a:rPr dirty="0" err="1"/>
              <a:t>trabajos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minuto</a:t>
            </a:r>
            <a:r>
              <a:rPr dirty="0"/>
              <a:t>.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---</a:t>
            </a:r>
            <a:endParaRPr dirty="0"/>
          </a:p>
          <a:p>
            <a:pPr marL="914400" lvl="1" indent="-457200">
              <a:buFont typeface="+mj-lt"/>
              <a:buAutoNum type="alphaLcParenR"/>
            </a:pPr>
            <a:r>
              <a:rPr dirty="0" err="1"/>
              <a:t>Calcul</a:t>
            </a:r>
            <a:r>
              <a:rPr lang="es-ES" dirty="0"/>
              <a:t>ar</a:t>
            </a:r>
            <a:r>
              <a:rPr dirty="0"/>
              <a:t> la </a:t>
            </a:r>
            <a:r>
              <a:rPr dirty="0" err="1"/>
              <a:t>probabilidad</a:t>
            </a:r>
            <a:r>
              <a:rPr dirty="0"/>
              <a:t> de </a:t>
            </a:r>
            <a:r>
              <a:rPr lang="es-ES" dirty="0"/>
              <a:t>que lleguen </a:t>
            </a:r>
            <a:r>
              <a:rPr dirty="0" err="1"/>
              <a:t>más</a:t>
            </a:r>
            <a:r>
              <a:rPr dirty="0"/>
              <a:t> de 3 </a:t>
            </a:r>
            <a:r>
              <a:rPr dirty="0" err="1"/>
              <a:t>trabajos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un </a:t>
            </a:r>
            <a:r>
              <a:rPr dirty="0" err="1"/>
              <a:t>minuto</a:t>
            </a:r>
            <a:r>
              <a:rPr dirty="0"/>
              <a:t>.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 err="1"/>
              <a:t>Calcula</a:t>
            </a:r>
            <a:r>
              <a:rPr lang="es-ES" dirty="0"/>
              <a:t>r</a:t>
            </a:r>
            <a:r>
              <a:rPr dirty="0"/>
              <a:t> la </a:t>
            </a:r>
            <a:r>
              <a:rPr dirty="0" err="1"/>
              <a:t>probabilidad</a:t>
            </a:r>
            <a:r>
              <a:rPr dirty="0"/>
              <a:t> de </a:t>
            </a:r>
            <a:r>
              <a:rPr lang="es-ES" dirty="0"/>
              <a:t>que lleguen </a:t>
            </a:r>
            <a:r>
              <a:rPr dirty="0" err="1"/>
              <a:t>más</a:t>
            </a:r>
            <a:r>
              <a:rPr dirty="0"/>
              <a:t> de 30 </a:t>
            </a:r>
            <a:r>
              <a:rPr dirty="0" err="1"/>
              <a:t>trabajo</a:t>
            </a:r>
            <a:r>
              <a:rPr lang="es-ES" dirty="0"/>
              <a:t>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10 </a:t>
            </a:r>
            <a:r>
              <a:rPr dirty="0" err="1"/>
              <a:t>minutos</a:t>
            </a:r>
            <a:r>
              <a:rPr dirty="0"/>
              <a:t>.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/>
              <a:t>¿</a:t>
            </a:r>
            <a:r>
              <a:rPr dirty="0" err="1"/>
              <a:t>Cuál</a:t>
            </a:r>
            <a:r>
              <a:rPr dirty="0"/>
              <a:t>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promedio</a:t>
            </a:r>
            <a:r>
              <a:rPr dirty="0"/>
              <a:t> </a:t>
            </a:r>
            <a:r>
              <a:rPr lang="es-ES" dirty="0"/>
              <a:t>entre dos llegadas</a:t>
            </a:r>
            <a:r>
              <a:rPr dirty="0"/>
              <a:t> y </a:t>
            </a:r>
            <a:r>
              <a:rPr dirty="0" err="1"/>
              <a:t>cuál</a:t>
            </a:r>
            <a:r>
              <a:rPr dirty="0"/>
              <a:t> es la </a:t>
            </a:r>
            <a:r>
              <a:rPr dirty="0" err="1"/>
              <a:t>varianza</a:t>
            </a:r>
            <a:r>
              <a:rPr dirty="0"/>
              <a:t>?</a:t>
            </a:r>
          </a:p>
          <a:p>
            <a:pPr marL="914400" lvl="1" indent="-457200">
              <a:buFont typeface="+mj-lt"/>
              <a:buAutoNum type="alphaLcParenR"/>
            </a:pPr>
            <a:r>
              <a:rPr dirty="0" err="1"/>
              <a:t>Calcul</a:t>
            </a:r>
            <a:r>
              <a:rPr lang="es-ES" dirty="0"/>
              <a:t>ar</a:t>
            </a:r>
            <a:r>
              <a:rPr dirty="0"/>
              <a:t> la </a:t>
            </a:r>
            <a:r>
              <a:rPr dirty="0" err="1"/>
              <a:t>probabilidad</a:t>
            </a:r>
            <a:r>
              <a:rPr dirty="0"/>
              <a:t> de que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próximo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no </a:t>
            </a:r>
            <a:r>
              <a:rPr dirty="0" err="1"/>
              <a:t>llegue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los </a:t>
            </a:r>
            <a:r>
              <a:rPr dirty="0" err="1"/>
              <a:t>próximos</a:t>
            </a:r>
            <a:r>
              <a:rPr dirty="0"/>
              <a:t> 30 </a:t>
            </a:r>
            <a:r>
              <a:rPr dirty="0" err="1"/>
              <a:t>segundos</a:t>
            </a:r>
            <a:r>
              <a:rPr dirty="0"/>
              <a:t>.</a:t>
            </a:r>
          </a:p>
          <a:p>
            <a:pPr lvl="1"/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38488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6.20 b)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 (b)</a:t>
            </a:r>
            <a:endParaRPr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lphaLcParenR" startAt="2"/>
                </a:pPr>
                <a:r>
                  <a:rPr lang="es-ES" dirty="0"/>
                  <a:t>Calcular la probabilidad de que lleguen más de 3 trabajos durante un minuto.</a:t>
                </a:r>
              </a:p>
              <a:p>
                <a:pPr lvl="1"/>
                <a:r>
                  <a:rPr lang="es-ES" dirty="0"/>
                  <a:t>Proceso de Poisson: X(t) = Número de llegadas hasta el tiempo t </a:t>
                </a:r>
              </a:p>
              <a:p>
                <a:pPr lvl="1"/>
                <a:r>
                  <a:rPr lang="es-ES" dirty="0"/>
                  <a:t>X(1) es una variable Poisson(</a:t>
                </a:r>
                <a:r>
                  <a:rPr lang="el-GR" dirty="0" err="1"/>
                  <a:t>λ</a:t>
                </a:r>
                <a:r>
                  <a:rPr lang="es-ES" dirty="0" err="1"/>
                  <a:t>t</a:t>
                </a:r>
                <a:r>
                  <a:rPr lang="es-ES" dirty="0"/>
                  <a:t>), con </a:t>
                </a:r>
                <a:r>
                  <a:rPr lang="el-GR" dirty="0"/>
                  <a:t>λ=2</a:t>
                </a:r>
                <a:r>
                  <a:rPr lang="es-ES" dirty="0"/>
                  <a:t>min</a:t>
                </a:r>
                <a:r>
                  <a:rPr lang="es-ES" baseline="30000" dirty="0"/>
                  <a:t>-1</a:t>
                </a:r>
                <a:r>
                  <a:rPr lang="es-ES" dirty="0"/>
                  <a:t>, t=1min, </a:t>
                </a:r>
                <a:r>
                  <a:rPr lang="el-GR" dirty="0" err="1"/>
                  <a:t>λ</a:t>
                </a:r>
                <a:r>
                  <a:rPr lang="es-ES" dirty="0" err="1"/>
                  <a:t>t</a:t>
                </a:r>
                <a:r>
                  <a:rPr lang="es-ES" dirty="0"/>
                  <a:t>=2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857</m:t>
                    </m:r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𝟏𝟒𝟑</m:t>
                    </m:r>
                  </m:oMath>
                </a14:m>
                <a:endParaRPr lang="ar-AE" b="1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s-ES" dirty="0"/>
                  <a:t>Usando la tabla A3 de libro</a:t>
                </a:r>
                <a:endParaRPr lang="ar-AE" dirty="0"/>
              </a:p>
              <a:p>
                <a:endParaRPr lang="ar-AE" dirty="0"/>
              </a:p>
              <a:p>
                <a:endParaRPr lang="ar-AE" dirty="0"/>
              </a:p>
              <a:p>
                <a:endParaRPr lang="ar-AE" dirty="0"/>
              </a:p>
              <a:p>
                <a:endParaRPr lang="ar-AE" dirty="0"/>
              </a:p>
              <a:p>
                <a:endParaRPr lang="ar-AE" dirty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46979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6.20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 (c, d)</a:t>
            </a:r>
            <a:endParaRPr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lphaLcParenR" startAt="3"/>
                </a:pPr>
                <a:r>
                  <a:rPr lang="es-ES" dirty="0"/>
                  <a:t>Calcular la probabilidad de que lleguen más de 30 trabajos durante 10 minutos.</a:t>
                </a:r>
              </a:p>
              <a:p>
                <a:pPr lvl="1"/>
                <a:r>
                  <a:rPr lang="es-ES" dirty="0"/>
                  <a:t>Proceso de Poisson: X(t) = Número de llegadas hasta el tiempo t</a:t>
                </a:r>
              </a:p>
              <a:p>
                <a:pPr lvl="1"/>
                <a:r>
                  <a:rPr lang="es-ES" dirty="0"/>
                  <a:t>X(10) es una variable Poisson(</a:t>
                </a:r>
                <a:r>
                  <a:rPr lang="el-GR" dirty="0"/>
                  <a:t>λ</a:t>
                </a:r>
                <a:r>
                  <a:rPr lang="es-ES" dirty="0"/>
                  <a:t>t), con </a:t>
                </a:r>
                <a:r>
                  <a:rPr lang="el-GR" dirty="0"/>
                  <a:t>λ=2</a:t>
                </a:r>
                <a:r>
                  <a:rPr lang="es-ES" dirty="0"/>
                  <a:t>min</a:t>
                </a:r>
                <a:r>
                  <a:rPr lang="es-ES" baseline="30000" dirty="0"/>
                  <a:t>-1</a:t>
                </a:r>
                <a:r>
                  <a:rPr lang="es-ES" dirty="0"/>
                  <a:t>, t=10min, </a:t>
                </a:r>
                <a:r>
                  <a:rPr lang="el-GR" dirty="0"/>
                  <a:t>λ</a:t>
                </a:r>
                <a:r>
                  <a:rPr lang="es-ES" dirty="0"/>
                  <a:t>t=20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987</m:t>
                    </m:r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ar-A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𝟎𝟏𝟑</m:t>
                    </m:r>
                  </m:oMath>
                </a14:m>
                <a:endParaRPr lang="ar-AE" b="1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s-ES" dirty="0">
                    <a:ea typeface="Cambria Math" panose="02040503050406030204" pitchFamily="18" charset="0"/>
                  </a:rPr>
                  <a:t>Usando la tabla A3 de libro</a:t>
                </a:r>
              </a:p>
              <a:p>
                <a:pPr marL="514350" indent="-514350">
                  <a:buFont typeface="+mj-lt"/>
                  <a:buAutoNum type="alphaLcParenR" startAt="4"/>
                </a:pPr>
                <a:r>
                  <a:rPr lang="es-ES" dirty="0"/>
                  <a:t>¿Cuál es el tiempo promedio entre dos llegadas y cuál es la varianza?</a:t>
                </a:r>
              </a:p>
              <a:p>
                <a:pPr lvl="1"/>
                <a:r>
                  <a:rPr lang="es-ES" dirty="0"/>
                  <a:t>T= Tiempo entre llegadas consecutivas</a:t>
                </a:r>
              </a:p>
              <a:p>
                <a:pPr lvl="1"/>
                <a:r>
                  <a:rPr lang="es-ES" dirty="0"/>
                  <a:t>T es una variable aleatoria Exponencial(</a:t>
                </a:r>
                <a:r>
                  <a:rPr lang="en-US" dirty="0"/>
                  <a:t>λ</a:t>
                </a:r>
                <a:r>
                  <a:rPr lang="el-GR" dirty="0"/>
                  <a:t>)</a:t>
                </a:r>
                <a:r>
                  <a:rPr lang="es-ES" dirty="0"/>
                  <a:t>, con </a:t>
                </a:r>
                <a:r>
                  <a:rPr lang="en-US" dirty="0"/>
                  <a:t>λ=2min</a:t>
                </a:r>
                <a:r>
                  <a:rPr lang="en-US" baseline="30000" dirty="0"/>
                  <a:t>-1</a:t>
                </a:r>
                <a:r>
                  <a:rPr lang="en-US" dirty="0"/>
                  <a:t>  </a:t>
                </a:r>
                <a:endParaRPr lang="el-GR" dirty="0"/>
              </a:p>
              <a:p>
                <a:pPr lvl="1"/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𝒎𝒊𝒏</m:t>
                    </m:r>
                  </m:oMath>
                </a14:m>
                <a:endParaRPr lang="ar-AE" b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ar-A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𝒎𝒊𝒏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9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33820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5A3FA-5708-CB58-0520-C4D0276C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 err="1"/>
              <a:t>Ejemplo</a:t>
            </a:r>
            <a:r>
              <a:rPr dirty="0"/>
              <a:t> 6.20 (</a:t>
            </a:r>
            <a:r>
              <a:rPr dirty="0" err="1"/>
              <a:t>Solución</a:t>
            </a:r>
            <a:r>
              <a:rPr dirty="0"/>
              <a:t>)</a:t>
            </a:r>
            <a:r>
              <a:rPr lang="es-ES" dirty="0"/>
              <a:t> (e)</a:t>
            </a:r>
            <a:endParaRPr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lphaLcParenR" startAt="5"/>
                </a:pPr>
                <a:r>
                  <a:rPr lang="es-ES" dirty="0"/>
                  <a:t>Calcular e la </a:t>
                </a:r>
                <a:r>
                  <a:rPr lang="es-ES" dirty="0" err="1"/>
                  <a:t>probabilidad</a:t>
                </a:r>
                <a:r>
                  <a:rPr lang="es-ES" dirty="0"/>
                  <a:t> de que </a:t>
                </a:r>
                <a:r>
                  <a:rPr lang="es-ES" dirty="0" err="1"/>
                  <a:t>el</a:t>
                </a:r>
                <a:r>
                  <a:rPr lang="es-ES" dirty="0"/>
                  <a:t> </a:t>
                </a:r>
                <a:r>
                  <a:rPr lang="es-ES" dirty="0" err="1"/>
                  <a:t>próximo</a:t>
                </a:r>
                <a:r>
                  <a:rPr lang="es-ES" dirty="0"/>
                  <a:t> </a:t>
                </a:r>
                <a:r>
                  <a:rPr lang="es-ES" dirty="0" err="1"/>
                  <a:t>trabajo</a:t>
                </a:r>
                <a:r>
                  <a:rPr lang="es-ES" dirty="0"/>
                  <a:t> no </a:t>
                </a:r>
                <a:r>
                  <a:rPr lang="es-ES" dirty="0" err="1"/>
                  <a:t>llegue</a:t>
                </a:r>
                <a:r>
                  <a:rPr lang="es-ES" dirty="0"/>
                  <a:t> </a:t>
                </a:r>
                <a:r>
                  <a:rPr lang="es-ES" dirty="0" err="1"/>
                  <a:t>durante</a:t>
                </a:r>
                <a:r>
                  <a:rPr lang="es-ES" dirty="0"/>
                  <a:t> los </a:t>
                </a:r>
                <a:r>
                  <a:rPr lang="es-ES" dirty="0" err="1"/>
                  <a:t>próximos</a:t>
                </a:r>
                <a:r>
                  <a:rPr lang="es-ES" dirty="0"/>
                  <a:t> 30 </a:t>
                </a:r>
                <a:r>
                  <a:rPr lang="es-ES" dirty="0" err="1"/>
                  <a:t>segundos</a:t>
                </a:r>
                <a:r>
                  <a:rPr lang="es-ES" dirty="0"/>
                  <a:t> (0.5 minutos).</a:t>
                </a:r>
              </a:p>
              <a:p>
                <a:pPr lvl="1"/>
                <a:r>
                  <a:rPr lang="es-ES" dirty="0"/>
                  <a:t>Proceso de Poisson: X(t) = Número de llegadas hasta el tiempo t </a:t>
                </a:r>
              </a:p>
              <a:p>
                <a:pPr lvl="1"/>
                <a:r>
                  <a:rPr lang="es-ES" dirty="0"/>
                  <a:t>X(0.5) ) es una variable Poisson(</a:t>
                </a:r>
                <a:r>
                  <a:rPr lang="el-GR" dirty="0"/>
                  <a:t>λ</a:t>
                </a:r>
                <a:r>
                  <a:rPr lang="es-ES" dirty="0"/>
                  <a:t>t), con </a:t>
                </a:r>
                <a:r>
                  <a:rPr lang="el-GR" dirty="0"/>
                  <a:t>λ=2</a:t>
                </a:r>
                <a:r>
                  <a:rPr lang="es-ES" dirty="0"/>
                  <a:t>min</a:t>
                </a:r>
                <a:r>
                  <a:rPr lang="es-ES" baseline="30000" dirty="0"/>
                  <a:t>-1</a:t>
                </a:r>
                <a:r>
                  <a:rPr lang="es-ES" dirty="0"/>
                  <a:t>, t=0.5 min, </a:t>
                </a:r>
                <a:r>
                  <a:rPr lang="el-GR" dirty="0"/>
                  <a:t>λ</a:t>
                </a:r>
                <a:r>
                  <a:rPr lang="es-ES" dirty="0"/>
                  <a:t>t=1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ar-A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ar-A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b="1" i="1">
                        <a:latin typeface="Cambria Math" panose="02040503050406030204" pitchFamily="18" charset="0"/>
                      </a:rPr>
                      <m:t>𝟑𝟔𝟖</m:t>
                    </m:r>
                  </m:oMath>
                </a14:m>
                <a:endParaRPr lang="ar-AE" b="1" dirty="0">
                  <a:ea typeface="Cambria Math" panose="02040503050406030204" pitchFamily="18" charset="0"/>
                </a:endParaRPr>
              </a:p>
              <a:p>
                <a:pPr lvl="1"/>
                <a:endParaRPr lang="ar-AE" dirty="0"/>
              </a:p>
              <a:p>
                <a:pPr lvl="1"/>
                <a:r>
                  <a:rPr lang="es-ES" dirty="0"/>
                  <a:t>Se puede resolver también usando la variable T</a:t>
                </a:r>
              </a:p>
              <a:p>
                <a:pPr lvl="1"/>
                <a:r>
                  <a:rPr lang="es-ES" dirty="0"/>
                  <a:t>T= Tiempo entre llegadas consecutivas</a:t>
                </a:r>
              </a:p>
              <a:p>
                <a:pPr lvl="1"/>
                <a:r>
                  <a:rPr lang="es-ES" dirty="0"/>
                  <a:t>T es una variable aleatoria Exponencial(</a:t>
                </a:r>
                <a:r>
                  <a:rPr lang="el-GR" dirty="0"/>
                  <a:t>λ), </a:t>
                </a:r>
                <a:r>
                  <a:rPr lang="es-ES" dirty="0"/>
                  <a:t>con </a:t>
                </a:r>
                <a:r>
                  <a:rPr lang="el-GR" dirty="0"/>
                  <a:t>λ=2</a:t>
                </a:r>
                <a:r>
                  <a:rPr lang="es-ES" dirty="0"/>
                  <a:t>min</a:t>
                </a:r>
                <a:r>
                  <a:rPr lang="es-ES" baseline="30000" dirty="0"/>
                  <a:t>-1</a:t>
                </a:r>
                <a:r>
                  <a:rPr lang="es-ES" dirty="0"/>
                  <a:t> 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ar-A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𝟑𝟔𝟖</m:t>
                    </m:r>
                  </m:oMath>
                </a14:m>
                <a:endParaRPr lang="ar-AE" b="1" i="1" dirty="0">
                  <a:latin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lang="ar-AE" b="1" dirty="0">
                  <a:ea typeface="Cambria Math" panose="02040503050406030204" pitchFamily="18" charset="0"/>
                </a:endParaRPr>
              </a:p>
              <a:p>
                <a:endParaRPr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584354-D416-B011-5776-974652A0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1EBA5-14A2-A2AD-7C7C-49FFA8D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95358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</a:t>
            </a:r>
            <a:r>
              <a:rPr dirty="0"/>
              <a:t>.2 </a:t>
            </a:r>
            <a:r>
              <a:rPr dirty="0" err="1"/>
              <a:t>Proceso</a:t>
            </a:r>
            <a:r>
              <a:rPr dirty="0"/>
              <a:t> de Poisson</a:t>
            </a:r>
            <a:br>
              <a:rPr lang="es-ES" dirty="0"/>
            </a:br>
            <a:r>
              <a:rPr dirty="0" err="1"/>
              <a:t>Ejercicios</a:t>
            </a:r>
            <a:r>
              <a:rPr dirty="0"/>
              <a:t> </a:t>
            </a:r>
            <a:r>
              <a:rPr dirty="0" err="1"/>
              <a:t>propuestos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Ejercicios</a:t>
            </a:r>
            <a:r>
              <a:rPr dirty="0"/>
              <a:t> 6.17, 6.20, 6.21, 6.22, 6.23 y 6.24 del </a:t>
            </a:r>
            <a:r>
              <a:rPr dirty="0" err="1"/>
              <a:t>libro</a:t>
            </a:r>
            <a:endParaRPr dirty="0"/>
          </a:p>
          <a:p>
            <a:pPr lvl="1"/>
            <a:r>
              <a:rPr dirty="0"/>
              <a:t>Las </a:t>
            </a:r>
            <a:r>
              <a:rPr dirty="0" err="1"/>
              <a:t>respuestas</a:t>
            </a:r>
            <a:r>
              <a:rPr dirty="0"/>
              <a:t> de 6.20, 6.22 y 6.23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 en </a:t>
            </a:r>
            <a:r>
              <a:rPr lang="es-ES" dirty="0"/>
              <a:t>el libro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15362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31602-0173-86DB-1B87-31E0298D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24067-56F0-60D2-7DCF-60718F007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Los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estocásticos</a:t>
            </a:r>
            <a:r>
              <a:rPr dirty="0"/>
              <a:t> son variables </a:t>
            </a:r>
            <a:r>
              <a:rPr dirty="0" err="1"/>
              <a:t>aleatorias</a:t>
            </a:r>
            <a:r>
              <a:rPr dirty="0"/>
              <a:t> que </a:t>
            </a:r>
            <a:r>
              <a:rPr dirty="0" err="1"/>
              <a:t>cambian</a:t>
            </a:r>
            <a:r>
              <a:rPr dirty="0"/>
              <a:t>, </a:t>
            </a:r>
            <a:r>
              <a:rPr dirty="0" err="1"/>
              <a:t>evolucionan</a:t>
            </a:r>
            <a:r>
              <a:rPr dirty="0"/>
              <a:t> y se </a:t>
            </a:r>
            <a:r>
              <a:rPr dirty="0" err="1"/>
              <a:t>desarrollan</a:t>
            </a:r>
            <a:r>
              <a:rPr dirty="0"/>
              <a:t> en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. </a:t>
            </a:r>
          </a:p>
          <a:p>
            <a:r>
              <a:rPr dirty="0"/>
              <a:t>Hay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 y </a:t>
            </a:r>
            <a:r>
              <a:rPr dirty="0" err="1"/>
              <a:t>tiempo</a:t>
            </a:r>
            <a:r>
              <a:rPr dirty="0"/>
              <a:t> continuo,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discretos</a:t>
            </a:r>
            <a:r>
              <a:rPr dirty="0"/>
              <a:t> y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continuos</a:t>
            </a:r>
            <a:r>
              <a:rPr dirty="0"/>
              <a:t>, </a:t>
            </a:r>
            <a:r>
              <a:rPr dirty="0" err="1"/>
              <a:t>dependiendo</a:t>
            </a:r>
            <a:r>
              <a:rPr dirty="0"/>
              <a:t> de sus </a:t>
            </a:r>
            <a:r>
              <a:rPr dirty="0" err="1"/>
              <a:t>tiempos</a:t>
            </a:r>
            <a:r>
              <a:rPr dirty="0"/>
              <a:t> y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posibles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proceso</a:t>
            </a:r>
            <a:r>
              <a:rPr dirty="0"/>
              <a:t> de Markov es un </a:t>
            </a:r>
            <a:r>
              <a:rPr dirty="0" err="1"/>
              <a:t>proceso</a:t>
            </a:r>
            <a:r>
              <a:rPr dirty="0"/>
              <a:t> de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, </a:t>
            </a:r>
            <a:r>
              <a:rPr dirty="0" err="1"/>
              <a:t>donde</a:t>
            </a:r>
            <a:r>
              <a:rPr dirty="0"/>
              <a:t> solo se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valor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reciente</a:t>
            </a:r>
            <a:r>
              <a:rPr dirty="0"/>
              <a:t> del </a:t>
            </a:r>
            <a:r>
              <a:rPr dirty="0" err="1"/>
              <a:t>proceso</a:t>
            </a:r>
            <a:r>
              <a:rPr dirty="0"/>
              <a:t> para </a:t>
            </a:r>
            <a:r>
              <a:rPr dirty="0" err="1"/>
              <a:t>predecir</a:t>
            </a:r>
            <a:r>
              <a:rPr dirty="0"/>
              <a:t> sus </a:t>
            </a:r>
            <a:r>
              <a:rPr dirty="0" err="1"/>
              <a:t>probabilidades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.</a:t>
            </a:r>
          </a:p>
          <a:p>
            <a:r>
              <a:rPr dirty="0"/>
              <a:t>Una </a:t>
            </a:r>
            <a:r>
              <a:rPr dirty="0" err="1"/>
              <a:t>cadena</a:t>
            </a:r>
            <a:r>
              <a:rPr dirty="0"/>
              <a:t> de Markov es un </a:t>
            </a:r>
            <a:r>
              <a:rPr dirty="0" err="1"/>
              <a:t>proceso</a:t>
            </a:r>
            <a:r>
              <a:rPr dirty="0"/>
              <a:t> de Markov en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 y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.</a:t>
            </a:r>
          </a:p>
          <a:p>
            <a:pPr lvl="1"/>
            <a:r>
              <a:rPr dirty="0"/>
              <a:t>Una </a:t>
            </a:r>
            <a:r>
              <a:rPr dirty="0" err="1"/>
              <a:t>cadena</a:t>
            </a:r>
            <a:r>
              <a:rPr dirty="0"/>
              <a:t> de Markov se describe </a:t>
            </a:r>
            <a:r>
              <a:rPr dirty="0" err="1"/>
              <a:t>completamente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lang="es-ES" dirty="0"/>
              <a:t> distribución inicial de probabilidad y por </a:t>
            </a:r>
            <a:r>
              <a:rPr lang="es-ES" dirty="0" err="1"/>
              <a:t>us</a:t>
            </a:r>
            <a:r>
              <a:rPr lang="es-ES" dirty="0"/>
              <a:t> probabilidades de transición</a:t>
            </a:r>
          </a:p>
          <a:p>
            <a:pPr lvl="1"/>
            <a:r>
              <a:rPr lang="es-ES" dirty="0"/>
              <a:t>Si una cadena de </a:t>
            </a:r>
            <a:r>
              <a:rPr lang="es-ES" dirty="0" err="1"/>
              <a:t>Markov</a:t>
            </a:r>
            <a:r>
              <a:rPr lang="es-ES" dirty="0"/>
              <a:t> es regular, se pueden calcular sus probabilidades a largo plazo mediante una distribución estacionaria</a:t>
            </a:r>
          </a:p>
          <a:p>
            <a:r>
              <a:rPr dirty="0"/>
              <a:t>Los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conteo</a:t>
            </a:r>
            <a:r>
              <a:rPr dirty="0"/>
              <a:t> binomial y Poisson son </a:t>
            </a:r>
            <a:r>
              <a:rPr dirty="0" err="1"/>
              <a:t>procesos</a:t>
            </a:r>
            <a:r>
              <a:rPr dirty="0"/>
              <a:t> de Markov, </a:t>
            </a:r>
            <a:r>
              <a:rPr lang="es-ES" dirty="0"/>
              <a:t>de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 y continuo, </a:t>
            </a:r>
            <a:r>
              <a:rPr dirty="0" err="1"/>
              <a:t>respectivamente</a:t>
            </a:r>
            <a:r>
              <a:rPr dirty="0"/>
              <a:t>.</a:t>
            </a:r>
          </a:p>
          <a:p>
            <a:r>
              <a:rPr dirty="0"/>
              <a:t>Los </a:t>
            </a:r>
            <a:r>
              <a:rPr dirty="0" err="1"/>
              <a:t>procesos</a:t>
            </a:r>
            <a:r>
              <a:rPr dirty="0"/>
              <a:t> de</a:t>
            </a:r>
            <a:r>
              <a:rPr lang="es-ES" dirty="0"/>
              <a:t> conteo de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continuo se </a:t>
            </a:r>
            <a:r>
              <a:rPr dirty="0" err="1"/>
              <a:t>pueden</a:t>
            </a:r>
            <a:r>
              <a:rPr dirty="0"/>
              <a:t> </a:t>
            </a:r>
            <a:r>
              <a:rPr lang="es-ES" dirty="0"/>
              <a:t>considerar </a:t>
            </a:r>
            <a:r>
              <a:rPr dirty="0" err="1"/>
              <a:t>como</a:t>
            </a:r>
            <a:r>
              <a:rPr dirty="0"/>
              <a:t> </a:t>
            </a:r>
            <a:r>
              <a:rPr lang="es-ES" dirty="0"/>
              <a:t>el l</a:t>
            </a:r>
            <a:r>
              <a:rPr dirty="0" err="1"/>
              <a:t>ímite</a:t>
            </a:r>
            <a:r>
              <a:rPr dirty="0"/>
              <a:t> de </a:t>
            </a:r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de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discreto</a:t>
            </a:r>
            <a:r>
              <a:rPr dirty="0"/>
              <a:t>,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lang="es-ES" dirty="0"/>
              <a:t>tiempo entre eventos a contar tiende a cero</a:t>
            </a:r>
            <a:r>
              <a:rPr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8EA456-A29C-8A97-B441-9F7D407B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7003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2184</TotalTime>
  <Words>6361</Words>
  <Application>Microsoft Office PowerPoint</Application>
  <PresentationFormat>Panorámica</PresentationFormat>
  <Paragraphs>651</Paragraphs>
  <Slides>65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Courier New</vt:lpstr>
      <vt:lpstr>Times New Roman</vt:lpstr>
      <vt:lpstr>Tema de Office</vt:lpstr>
      <vt:lpstr>Procesos estocásticos</vt:lpstr>
      <vt:lpstr>Contenido</vt:lpstr>
      <vt:lpstr>1. Objetivos</vt:lpstr>
      <vt:lpstr>2. Definiciones y clasificaciones</vt:lpstr>
      <vt:lpstr>2.1 Definición de proceso estocástico</vt:lpstr>
      <vt:lpstr>2.1 Definición de proceso estocástico Ejemplo 6.1 (Uso de CPU)</vt:lpstr>
      <vt:lpstr>2.2 Clasificaciones de procesos estocásticos</vt:lpstr>
      <vt:lpstr>2.2 Clasificaciones de procesos estocásticos Ejemplos</vt:lpstr>
      <vt:lpstr>3. Procesos de Markov y cadenas de Markov</vt:lpstr>
      <vt:lpstr>3. Procesos de Markov y cadenas de Markov Definición</vt:lpstr>
      <vt:lpstr>3. Procesos de Markov y cadenas de Markov Ejemplo del proceso de Markov</vt:lpstr>
      <vt:lpstr>3. Procesos de Markov y cadenas de MarkovEjemplo de proceso no Markov</vt:lpstr>
      <vt:lpstr>3.1 Cadenas de Markov</vt:lpstr>
      <vt:lpstr>3.1 Cadenas de Markov Distribución de una cadena de Markov</vt:lpstr>
      <vt:lpstr>3.1 Cadenas de Markov Probabilidad de transición</vt:lpstr>
      <vt:lpstr>3.1 Cadenas de Markov Cadena de Markov homogénea y regular</vt:lpstr>
      <vt:lpstr>3.1 Cadenas de Markov Ejemplo 6.7: Previsiones meteorológicas</vt:lpstr>
      <vt:lpstr>3.1 Cadenas de Markov Ejemplo 6.7 (solución)</vt:lpstr>
      <vt:lpstr>3.1 Cadenas de Markov Ejemplo 6.7 (solución) (a)</vt:lpstr>
      <vt:lpstr>3.1 Cadenas de MarkovEjemplo  6.7 (solución) (b)</vt:lpstr>
      <vt:lpstr>3.1 Cadenas de Markov Ejemplo 6.7 (solución) (c)</vt:lpstr>
      <vt:lpstr>3.2 Enfoque matricial</vt:lpstr>
      <vt:lpstr>3.2 Enfoque matricial Matriz de probabilidades de transición en h pasos</vt:lpstr>
      <vt:lpstr>Recordar el producto de dos matrices  Caso 1</vt:lpstr>
      <vt:lpstr>Recordar el producto de dos matrices  Caso 2</vt:lpstr>
      <vt:lpstr>3.2 Enfoque matricial Ejemplo 6.7 (Previsiones meteorológicas)</vt:lpstr>
      <vt:lpstr>3.2 Enfoque matricial Ejemplo 6.9 (Dispositivo compartido)</vt:lpstr>
      <vt:lpstr>3.2 Enfoque matricial Ejemplo 6.9 (solución). Calcular de p00</vt:lpstr>
      <vt:lpstr>3.2 Enfoque  matricial Ejemplo 6.9 (solución). Calcular p01, p02</vt:lpstr>
      <vt:lpstr>3.2 Enfoque matricial Ejemplo 6.9 (solución). Calcular p10, p11, p12</vt:lpstr>
      <vt:lpstr>3.2 Enfoque matricial Ejemplo 6.9 (solución). Calcular p20, p21, p22</vt:lpstr>
      <vt:lpstr>3.2 Enfoque matricial Ejemplo 6.9 (solución). Matrices</vt:lpstr>
      <vt:lpstr>3.2 Enfoque matricial Cálculo de la distribución de X(h) (1) </vt:lpstr>
      <vt:lpstr>3.2 Enfoque matricial Cálculo de la distribución de X(h) (2) </vt:lpstr>
      <vt:lpstr>3.2 Enfoque matricial Ejemplo 6.10 (Dispositivo compartido)</vt:lpstr>
      <vt:lpstr>3.2 Enfoque matricial Ejemplo 6.10 (solución) (a)</vt:lpstr>
      <vt:lpstr>3.2 Enfoque matricial Ejemplo 6.10 (solución) (b)</vt:lpstr>
      <vt:lpstr>3.2 Enfoque matricialEjercicios propuestos</vt:lpstr>
      <vt:lpstr>3.3 Distribución estacionaria de una cadena de Markov</vt:lpstr>
      <vt:lpstr>3.3 Distribución estacionaria Cálculo matricial</vt:lpstr>
      <vt:lpstr>3.3 Distribución estacionaria Existencia de una distribución estacionaria</vt:lpstr>
      <vt:lpstr>3.3 Distribución estacionaria Ejemplo 6.15 (Cadena regular)</vt:lpstr>
      <vt:lpstr>3.3 Distribución estacionaria Ejemplo 6.16(a) (Cadena irregular)</vt:lpstr>
      <vt:lpstr>3.3 Distribución estacionaria Ejemplo 6.11 (Previsión meteorológica)</vt:lpstr>
      <vt:lpstr>3.3 Distribución estacionaria Ejemplo 6.11 (solución)</vt:lpstr>
      <vt:lpstr>3.3 Distribución estacionaria Ejercicios propuestos</vt:lpstr>
      <vt:lpstr>4. Procesos de conteo</vt:lpstr>
      <vt:lpstr>4. Procesos de conteo Definición</vt:lpstr>
      <vt:lpstr>4.1 Proceso binomial</vt:lpstr>
      <vt:lpstr>4.1 Proceso binomial Variables aleatorias</vt:lpstr>
      <vt:lpstr>4.1 Proceso binomial Cadena de Markov irregular</vt:lpstr>
      <vt:lpstr>4.1 Proceso binomial Matriz de transiciones de probabilidad</vt:lpstr>
      <vt:lpstr>4.2 Proceso de Poisson</vt:lpstr>
      <vt:lpstr>4.2 Proceso de Poisson Variables aleatorias</vt:lpstr>
      <vt:lpstr>4.2 Proceso de Poisson Variable aleatoria X(t)</vt:lpstr>
      <vt:lpstr>4.2 Proceso de Poisson Variable aleatoria T</vt:lpstr>
      <vt:lpstr>4.2 Proceso de Poisson Variable aleatoria Tk</vt:lpstr>
      <vt:lpstr>4.2 Proceso de Poisson Ejemplo 6.20 (Accesos al sitio web)</vt:lpstr>
      <vt:lpstr>4.2 Proceso de Poisson Ejemplo 6.20 (Solución)</vt:lpstr>
      <vt:lpstr>4.2 Proceso de Poisson Ejemplo 6.20 (Ordenador central)</vt:lpstr>
      <vt:lpstr>4.2 Proceso de Poisson Ejemplo 6.20 b) (Solución) (b)</vt:lpstr>
      <vt:lpstr>4.2 Proceso de Poisson Ejemplo 6.20 (Solución) (c, d)</vt:lpstr>
      <vt:lpstr>4.2 Proceso de Poisson Ejemplo 6.20 (Solución) (e)</vt:lpstr>
      <vt:lpstr>4.2 Proceso de Poisson Ejercicios propuestos</vt:lpstr>
      <vt:lpstr>5. 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Procesos estocásticos</dc:title>
  <dc:creator/>
  <cp:lastModifiedBy>jose hilera</cp:lastModifiedBy>
  <cp:revision>62</cp:revision>
  <dcterms:created xsi:type="dcterms:W3CDTF">2022-12-26T19:51:11Z</dcterms:created>
  <dcterms:modified xsi:type="dcterms:W3CDTF">2023-11-16T19:50:33Z</dcterms:modified>
</cp:coreProperties>
</file>