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6"/>
  </p:notesMasterIdLst>
  <p:sldIdLst>
    <p:sldId id="355" r:id="rId2"/>
    <p:sldId id="356" r:id="rId3"/>
    <p:sldId id="407" r:id="rId4"/>
    <p:sldId id="357" r:id="rId5"/>
    <p:sldId id="358" r:id="rId6"/>
    <p:sldId id="359" r:id="rId7"/>
    <p:sldId id="360" r:id="rId8"/>
    <p:sldId id="361" r:id="rId9"/>
    <p:sldId id="362" r:id="rId10"/>
    <p:sldId id="363" r:id="rId11"/>
    <p:sldId id="364" r:id="rId12"/>
    <p:sldId id="365" r:id="rId13"/>
    <p:sldId id="366" r:id="rId14"/>
    <p:sldId id="367" r:id="rId15"/>
    <p:sldId id="368" r:id="rId16"/>
    <p:sldId id="369" r:id="rId17"/>
    <p:sldId id="370" r:id="rId18"/>
    <p:sldId id="373" r:id="rId19"/>
    <p:sldId id="374" r:id="rId20"/>
    <p:sldId id="371" r:id="rId21"/>
    <p:sldId id="351" r:id="rId22"/>
    <p:sldId id="352" r:id="rId23"/>
    <p:sldId id="353" r:id="rId24"/>
    <p:sldId id="372" r:id="rId2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861" autoAdjust="0"/>
    <p:restoredTop sz="94660"/>
  </p:normalViewPr>
  <p:slideViewPr>
    <p:cSldViewPr snapToGrid="0">
      <p:cViewPr varScale="1">
        <p:scale>
          <a:sx n="70" d="100"/>
          <a:sy n="70" d="100"/>
        </p:scale>
        <p:origin x="90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6993FA-F4EB-4F5C-AC0E-D19D76C7FE18}" type="datetimeFigureOut">
              <a:rPr lang="es-ES" smtClean="0"/>
              <a:t>17/11/2023</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B7C101-15E4-4D70-A114-C89E83A709C8}" type="slidenum">
              <a:rPr lang="es-ES" smtClean="0"/>
              <a:t>‹Nº›</a:t>
            </a:fld>
            <a:endParaRPr lang="es-ES"/>
          </a:p>
        </p:txBody>
      </p:sp>
    </p:spTree>
    <p:extLst>
      <p:ext uri="{BB962C8B-B14F-4D97-AF65-F5344CB8AC3E}">
        <p14:creationId xmlns:p14="http://schemas.microsoft.com/office/powerpoint/2010/main" val="541435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70737A-30E0-41A2-B461-25A548C913B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3EBE166C-5633-4873-B852-3A4F5546FE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9639014F-1DFE-4927-921F-4E53CB687F37}"/>
              </a:ext>
            </a:extLst>
          </p:cNvPr>
          <p:cNvSpPr>
            <a:spLocks noGrp="1"/>
          </p:cNvSpPr>
          <p:nvPr>
            <p:ph type="dt" sz="half" idx="10"/>
          </p:nvPr>
        </p:nvSpPr>
        <p:spPr/>
        <p:txBody>
          <a:bodyPr/>
          <a:lstStyle/>
          <a:p>
            <a:fld id="{CFE85FDD-93E9-4DED-94FB-E13CBFB13D77}" type="datetime1">
              <a:rPr lang="es-ES" smtClean="0"/>
              <a:t>17/11/2023</a:t>
            </a:fld>
            <a:endParaRPr lang="es-ES"/>
          </a:p>
        </p:txBody>
      </p:sp>
      <p:sp>
        <p:nvSpPr>
          <p:cNvPr id="5" name="Marcador de pie de página 4">
            <a:extLst>
              <a:ext uri="{FF2B5EF4-FFF2-40B4-BE49-F238E27FC236}">
                <a16:creationId xmlns:a16="http://schemas.microsoft.com/office/drawing/2014/main" id="{703D05DA-9B6F-44F8-A333-ABA84FFE477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B41CCAC-F1C7-439D-A1C6-148B192BEE2C}"/>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48829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E16EB7-D1A7-4CEF-B7B0-D69F5E52A25D}"/>
              </a:ext>
            </a:extLst>
          </p:cNvPr>
          <p:cNvSpPr>
            <a:spLocks noGrp="1"/>
          </p:cNvSpPr>
          <p:nvPr>
            <p:ph type="title"/>
          </p:nvPr>
        </p:nvSpPr>
        <p:spPr>
          <a:ln>
            <a:solidFill>
              <a:schemeClr val="tx1"/>
            </a:solidFill>
          </a:ln>
        </p:spPr>
        <p:txBody>
          <a:bodyPr/>
          <a:lstStyle/>
          <a:p>
            <a:r>
              <a:rPr lang="es-ES" dirty="0"/>
              <a:t>Haga clic para modificar el estilo de título del patrón</a:t>
            </a:r>
          </a:p>
        </p:txBody>
      </p:sp>
      <p:sp>
        <p:nvSpPr>
          <p:cNvPr id="3" name="Marcador de contenido 2">
            <a:extLst>
              <a:ext uri="{FF2B5EF4-FFF2-40B4-BE49-F238E27FC236}">
                <a16:creationId xmlns:a16="http://schemas.microsoft.com/office/drawing/2014/main" id="{2B2099EC-4D79-4FBE-A0F3-85058A8B991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19089A4-937F-4BD1-809E-44AE307B15D7}"/>
              </a:ext>
            </a:extLst>
          </p:cNvPr>
          <p:cNvSpPr>
            <a:spLocks noGrp="1"/>
          </p:cNvSpPr>
          <p:nvPr>
            <p:ph type="dt" sz="half" idx="10"/>
          </p:nvPr>
        </p:nvSpPr>
        <p:spPr/>
        <p:txBody>
          <a:bodyPr/>
          <a:lstStyle/>
          <a:p>
            <a:fld id="{3530566B-D29A-48B5-AE66-02FE67909A5D}" type="datetime1">
              <a:rPr lang="es-ES" smtClean="0"/>
              <a:t>17/11/2023</a:t>
            </a:fld>
            <a:endParaRPr lang="es-ES"/>
          </a:p>
        </p:txBody>
      </p:sp>
      <p:sp>
        <p:nvSpPr>
          <p:cNvPr id="5" name="Marcador de pie de página 4">
            <a:extLst>
              <a:ext uri="{FF2B5EF4-FFF2-40B4-BE49-F238E27FC236}">
                <a16:creationId xmlns:a16="http://schemas.microsoft.com/office/drawing/2014/main" id="{3A626FFB-669E-4FEF-AAF4-FCBE8D20498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B3302B3-AB25-45B7-A138-5DD3F6FD07BE}"/>
              </a:ext>
            </a:extLst>
          </p:cNvPr>
          <p:cNvSpPr>
            <a:spLocks noGrp="1"/>
          </p:cNvSpPr>
          <p:nvPr>
            <p:ph type="sldNum" sz="quarter" idx="12"/>
          </p:nvPr>
        </p:nvSpPr>
        <p:spPr/>
        <p:txBody>
          <a:bodyPr/>
          <a:lstStyle>
            <a:lvl1pPr>
              <a:defRPr sz="1600"/>
            </a:lvl1pPr>
          </a:lstStyle>
          <a:p>
            <a:fld id="{336CAFD0-1F6E-4E11-9822-836563A02839}" type="slidenum">
              <a:rPr lang="es-ES" smtClean="0"/>
              <a:pPr/>
              <a:t>‹Nº›</a:t>
            </a:fld>
            <a:endParaRPr lang="es-ES" dirty="0"/>
          </a:p>
        </p:txBody>
      </p:sp>
    </p:spTree>
    <p:extLst>
      <p:ext uri="{BB962C8B-B14F-4D97-AF65-F5344CB8AC3E}">
        <p14:creationId xmlns:p14="http://schemas.microsoft.com/office/powerpoint/2010/main" val="1232818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DBB67B-96F2-4E3B-AD4B-986D490B90D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2CA24320-D7DC-4240-B4DF-339532FE9C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42E11C2-AD04-4ED6-82A4-3FD71B6FB041}"/>
              </a:ext>
            </a:extLst>
          </p:cNvPr>
          <p:cNvSpPr>
            <a:spLocks noGrp="1"/>
          </p:cNvSpPr>
          <p:nvPr>
            <p:ph type="dt" sz="half" idx="10"/>
          </p:nvPr>
        </p:nvSpPr>
        <p:spPr/>
        <p:txBody>
          <a:bodyPr/>
          <a:lstStyle/>
          <a:p>
            <a:fld id="{690E50F2-204D-422E-A62C-8A2A95FE0EA0}" type="datetime1">
              <a:rPr lang="es-ES" smtClean="0"/>
              <a:t>17/11/2023</a:t>
            </a:fld>
            <a:endParaRPr lang="es-ES"/>
          </a:p>
        </p:txBody>
      </p:sp>
      <p:sp>
        <p:nvSpPr>
          <p:cNvPr id="5" name="Marcador de pie de página 4">
            <a:extLst>
              <a:ext uri="{FF2B5EF4-FFF2-40B4-BE49-F238E27FC236}">
                <a16:creationId xmlns:a16="http://schemas.microsoft.com/office/drawing/2014/main" id="{0E0448CB-E41F-4F50-8E08-202E8756D23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04FAE15-CF45-4AED-8356-CE6C9EE83A17}"/>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880938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0246AD-7BE6-483F-96A3-541DAD4B8C92}"/>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A3C3E4F-C907-4C22-B083-DDF5EDF27FF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265065CB-41D1-4202-A34D-7BB99EB785E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6FAE56AF-AE89-4D7B-A003-4931E6EA89F0}"/>
              </a:ext>
            </a:extLst>
          </p:cNvPr>
          <p:cNvSpPr>
            <a:spLocks noGrp="1"/>
          </p:cNvSpPr>
          <p:nvPr>
            <p:ph type="dt" sz="half" idx="10"/>
          </p:nvPr>
        </p:nvSpPr>
        <p:spPr/>
        <p:txBody>
          <a:bodyPr/>
          <a:lstStyle/>
          <a:p>
            <a:fld id="{39F0192F-D937-48F6-B938-D4FF2285D339}" type="datetime1">
              <a:rPr lang="es-ES" smtClean="0"/>
              <a:t>17/11/2023</a:t>
            </a:fld>
            <a:endParaRPr lang="es-ES"/>
          </a:p>
        </p:txBody>
      </p:sp>
      <p:sp>
        <p:nvSpPr>
          <p:cNvPr id="6" name="Marcador de pie de página 5">
            <a:extLst>
              <a:ext uri="{FF2B5EF4-FFF2-40B4-BE49-F238E27FC236}">
                <a16:creationId xmlns:a16="http://schemas.microsoft.com/office/drawing/2014/main" id="{EAF7D8F9-491C-4103-A8F2-5F9F0FA5D70A}"/>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7F04D832-55CC-4538-B057-CA9881D9ABC9}"/>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053882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8EF558-0175-4BD0-979F-D483F1A0D868}"/>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C974E40B-3DF7-44C5-860B-A36DE85FED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106F954-C6D4-4723-8E03-55A1E79F00B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0C871A73-8828-4197-ADC1-0C21128F61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33081A4-0280-4B19-9B06-BA7D8076931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29340A08-2899-40F7-B8EE-A496CBD88CC2}"/>
              </a:ext>
            </a:extLst>
          </p:cNvPr>
          <p:cNvSpPr>
            <a:spLocks noGrp="1"/>
          </p:cNvSpPr>
          <p:nvPr>
            <p:ph type="dt" sz="half" idx="10"/>
          </p:nvPr>
        </p:nvSpPr>
        <p:spPr/>
        <p:txBody>
          <a:bodyPr/>
          <a:lstStyle/>
          <a:p>
            <a:fld id="{C2B58F57-2DA1-4DBA-AA33-8D93DD9494F9}" type="datetime1">
              <a:rPr lang="es-ES" smtClean="0"/>
              <a:t>17/11/2023</a:t>
            </a:fld>
            <a:endParaRPr lang="es-ES"/>
          </a:p>
        </p:txBody>
      </p:sp>
      <p:sp>
        <p:nvSpPr>
          <p:cNvPr id="8" name="Marcador de pie de página 7">
            <a:extLst>
              <a:ext uri="{FF2B5EF4-FFF2-40B4-BE49-F238E27FC236}">
                <a16:creationId xmlns:a16="http://schemas.microsoft.com/office/drawing/2014/main" id="{275E94AC-0958-41A7-A416-28A3791B2DA4}"/>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87A743E3-167E-4DC6-AF9F-963C2A2C8675}"/>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811594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0C0657-7B1A-442F-A5A8-F68C547D6CCC}"/>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220B9629-5B37-4C68-BCAF-4F204AD59B8A}"/>
              </a:ext>
            </a:extLst>
          </p:cNvPr>
          <p:cNvSpPr>
            <a:spLocks noGrp="1"/>
          </p:cNvSpPr>
          <p:nvPr>
            <p:ph type="dt" sz="half" idx="10"/>
          </p:nvPr>
        </p:nvSpPr>
        <p:spPr/>
        <p:txBody>
          <a:bodyPr/>
          <a:lstStyle/>
          <a:p>
            <a:fld id="{A88FAA46-ADD9-4633-900E-54294B546C39}" type="datetime1">
              <a:rPr lang="es-ES" smtClean="0"/>
              <a:t>17/11/2023</a:t>
            </a:fld>
            <a:endParaRPr lang="es-ES"/>
          </a:p>
        </p:txBody>
      </p:sp>
      <p:sp>
        <p:nvSpPr>
          <p:cNvPr id="4" name="Marcador de pie de página 3">
            <a:extLst>
              <a:ext uri="{FF2B5EF4-FFF2-40B4-BE49-F238E27FC236}">
                <a16:creationId xmlns:a16="http://schemas.microsoft.com/office/drawing/2014/main" id="{AF496A21-694B-4235-9BDF-7FA776CD648A}"/>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FFC769F2-5C78-4519-AE94-E67F0F38EE16}"/>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1985255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3476251-88E2-4CBD-95F9-95E8112B58A1}"/>
              </a:ext>
            </a:extLst>
          </p:cNvPr>
          <p:cNvSpPr>
            <a:spLocks noGrp="1"/>
          </p:cNvSpPr>
          <p:nvPr>
            <p:ph type="dt" sz="half" idx="10"/>
          </p:nvPr>
        </p:nvSpPr>
        <p:spPr/>
        <p:txBody>
          <a:bodyPr/>
          <a:lstStyle/>
          <a:p>
            <a:fld id="{DCCAD164-930E-44E1-8AD6-DA81FFB2E87B}" type="datetime1">
              <a:rPr lang="es-ES" smtClean="0"/>
              <a:t>17/11/2023</a:t>
            </a:fld>
            <a:endParaRPr lang="es-ES"/>
          </a:p>
        </p:txBody>
      </p:sp>
      <p:sp>
        <p:nvSpPr>
          <p:cNvPr id="3" name="Marcador de pie de página 2">
            <a:extLst>
              <a:ext uri="{FF2B5EF4-FFF2-40B4-BE49-F238E27FC236}">
                <a16:creationId xmlns:a16="http://schemas.microsoft.com/office/drawing/2014/main" id="{A49AE1B3-12A0-41E5-8708-38E7CDE67E4E}"/>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ED8E5739-F16D-4ED7-934D-15DD6F3FD68A}"/>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1041494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05BC6A-6581-45ED-97B2-665F6CC3E5F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EF6E2A75-C11D-4D21-973A-6BD6B12AB5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7C2970D4-7A79-4101-849B-C528055754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224EC5D-1BA5-4E28-9CF2-850714ED1F67}"/>
              </a:ext>
            </a:extLst>
          </p:cNvPr>
          <p:cNvSpPr>
            <a:spLocks noGrp="1"/>
          </p:cNvSpPr>
          <p:nvPr>
            <p:ph type="dt" sz="half" idx="10"/>
          </p:nvPr>
        </p:nvSpPr>
        <p:spPr/>
        <p:txBody>
          <a:bodyPr/>
          <a:lstStyle/>
          <a:p>
            <a:fld id="{E7A19943-A7E6-4D67-A3E5-3CC6ADA523F1}" type="datetime1">
              <a:rPr lang="es-ES" smtClean="0"/>
              <a:t>17/11/2023</a:t>
            </a:fld>
            <a:endParaRPr lang="es-ES"/>
          </a:p>
        </p:txBody>
      </p:sp>
      <p:sp>
        <p:nvSpPr>
          <p:cNvPr id="6" name="Marcador de pie de página 5">
            <a:extLst>
              <a:ext uri="{FF2B5EF4-FFF2-40B4-BE49-F238E27FC236}">
                <a16:creationId xmlns:a16="http://schemas.microsoft.com/office/drawing/2014/main" id="{9B84FBFE-5582-479B-A6E8-8BD08A0B9E31}"/>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F81D782-F740-4365-8C21-A299A8B5FFB5}"/>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120506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935E2E-4483-4902-9BE4-8F6FA962B21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1E9D67D1-94DE-4CC9-85D5-7FFF881182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5544DCF8-D22F-4389-B4E4-9670563345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762798B-5681-4C69-BB09-2388DA3C2064}"/>
              </a:ext>
            </a:extLst>
          </p:cNvPr>
          <p:cNvSpPr>
            <a:spLocks noGrp="1"/>
          </p:cNvSpPr>
          <p:nvPr>
            <p:ph type="dt" sz="half" idx="10"/>
          </p:nvPr>
        </p:nvSpPr>
        <p:spPr/>
        <p:txBody>
          <a:bodyPr/>
          <a:lstStyle/>
          <a:p>
            <a:fld id="{02312756-8293-4ED7-8C53-E15A36E0B819}" type="datetime1">
              <a:rPr lang="es-ES" smtClean="0"/>
              <a:t>17/11/2023</a:t>
            </a:fld>
            <a:endParaRPr lang="es-ES"/>
          </a:p>
        </p:txBody>
      </p:sp>
      <p:sp>
        <p:nvSpPr>
          <p:cNvPr id="6" name="Marcador de pie de página 5">
            <a:extLst>
              <a:ext uri="{FF2B5EF4-FFF2-40B4-BE49-F238E27FC236}">
                <a16:creationId xmlns:a16="http://schemas.microsoft.com/office/drawing/2014/main" id="{D4B9532C-97BB-441B-B506-C25F8CF28440}"/>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88D157D7-9A5A-414D-A0CA-96FAE873A543}"/>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3248935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67A50E-F7F5-4C4D-8B77-79BAEF2E5C0F}"/>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95AFBB6D-17BE-4C49-BCCF-B5C5CFE9F99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09176D5-891E-44BA-B401-E3A04EAFABAC}"/>
              </a:ext>
            </a:extLst>
          </p:cNvPr>
          <p:cNvSpPr>
            <a:spLocks noGrp="1"/>
          </p:cNvSpPr>
          <p:nvPr>
            <p:ph type="dt" sz="half" idx="10"/>
          </p:nvPr>
        </p:nvSpPr>
        <p:spPr/>
        <p:txBody>
          <a:bodyPr/>
          <a:lstStyle/>
          <a:p>
            <a:fld id="{2D5988EC-7283-4406-9DFD-E99FA692D75C}" type="datetime1">
              <a:rPr lang="es-ES" smtClean="0"/>
              <a:t>17/11/2023</a:t>
            </a:fld>
            <a:endParaRPr lang="es-ES"/>
          </a:p>
        </p:txBody>
      </p:sp>
      <p:sp>
        <p:nvSpPr>
          <p:cNvPr id="5" name="Marcador de pie de página 4">
            <a:extLst>
              <a:ext uri="{FF2B5EF4-FFF2-40B4-BE49-F238E27FC236}">
                <a16:creationId xmlns:a16="http://schemas.microsoft.com/office/drawing/2014/main" id="{9F934A99-FA15-4D15-97E2-3E17E0383DFE}"/>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6A8D24B-343C-4B37-A9F6-33CE51FE33A9}"/>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391468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FF92B8F-BB2D-45E5-A81C-009359D306A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849973B1-2492-45DB-BA9B-BD3B59B4B8B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07A9D75-FCEC-47C9-AA6E-4D2F6CFF65C0}"/>
              </a:ext>
            </a:extLst>
          </p:cNvPr>
          <p:cNvSpPr>
            <a:spLocks noGrp="1"/>
          </p:cNvSpPr>
          <p:nvPr>
            <p:ph type="dt" sz="half" idx="10"/>
          </p:nvPr>
        </p:nvSpPr>
        <p:spPr/>
        <p:txBody>
          <a:bodyPr/>
          <a:lstStyle/>
          <a:p>
            <a:fld id="{979A9286-D927-4095-B743-3451D71D767F}" type="datetime1">
              <a:rPr lang="es-ES" smtClean="0"/>
              <a:t>17/11/2023</a:t>
            </a:fld>
            <a:endParaRPr lang="es-ES"/>
          </a:p>
        </p:txBody>
      </p:sp>
      <p:sp>
        <p:nvSpPr>
          <p:cNvPr id="5" name="Marcador de pie de página 4">
            <a:extLst>
              <a:ext uri="{FF2B5EF4-FFF2-40B4-BE49-F238E27FC236}">
                <a16:creationId xmlns:a16="http://schemas.microsoft.com/office/drawing/2014/main" id="{8320CC3E-8F0C-4A5B-B192-6F292AE46AA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5C7BE2D-24E9-4481-AEB9-697A2447AA61}"/>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4213171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23CBADE-FD33-4AF1-9F6F-A44E4356A6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1674D713-AFC9-4141-B355-05ABF78935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1666BF8-72F7-4108-81B8-D74BF52FE0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6AEDC6-F719-4D5C-BB7F-D599F6A812F4}" type="datetime1">
              <a:rPr lang="es-ES" smtClean="0"/>
              <a:t>17/11/2023</a:t>
            </a:fld>
            <a:endParaRPr lang="es-ES"/>
          </a:p>
        </p:txBody>
      </p:sp>
      <p:sp>
        <p:nvSpPr>
          <p:cNvPr id="5" name="Marcador de pie de página 4">
            <a:extLst>
              <a:ext uri="{FF2B5EF4-FFF2-40B4-BE49-F238E27FC236}">
                <a16:creationId xmlns:a16="http://schemas.microsoft.com/office/drawing/2014/main" id="{30F725B7-4457-4323-8704-24025C4934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B81E65A2-2681-4AF8-8875-39AE9558A1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6CAFD0-1F6E-4E11-9822-836563A02839}" type="slidenum">
              <a:rPr lang="es-ES" smtClean="0"/>
              <a:t>‹Nº›</a:t>
            </a:fld>
            <a:endParaRPr lang="es-ES"/>
          </a:p>
        </p:txBody>
      </p:sp>
    </p:spTree>
    <p:extLst>
      <p:ext uri="{BB962C8B-B14F-4D97-AF65-F5344CB8AC3E}">
        <p14:creationId xmlns:p14="http://schemas.microsoft.com/office/powerpoint/2010/main" val="29167074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oreilly.com/library-access/?next=/library/view/Probability-and-statistics/9781439875919/"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en.wikipedia.org/wiki/Kendall%27s_notation"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05024B-BC8C-4A3E-B772-46F3159760AA}"/>
              </a:ext>
            </a:extLst>
          </p:cNvPr>
          <p:cNvSpPr>
            <a:spLocks noGrp="1"/>
          </p:cNvSpPr>
          <p:nvPr>
            <p:ph type="ctrTitle"/>
          </p:nvPr>
        </p:nvSpPr>
        <p:spPr/>
        <p:txBody>
          <a:bodyPr/>
          <a:lstStyle/>
          <a:p>
            <a:r>
              <a:rPr dirty="0" err="1"/>
              <a:t>Sistemas</a:t>
            </a:r>
            <a:r>
              <a:rPr dirty="0"/>
              <a:t> de cola</a:t>
            </a:r>
            <a:r>
              <a:rPr lang="es-ES" dirty="0"/>
              <a:t>s</a:t>
            </a:r>
            <a:endParaRPr dirty="0"/>
          </a:p>
        </p:txBody>
      </p:sp>
      <p:sp>
        <p:nvSpPr>
          <p:cNvPr id="3" name="Subtítulo 2">
            <a:extLst>
              <a:ext uri="{FF2B5EF4-FFF2-40B4-BE49-F238E27FC236}">
                <a16:creationId xmlns:a16="http://schemas.microsoft.com/office/drawing/2014/main" id="{C26AD6E3-038F-4B94-A53F-314F158509E6}"/>
              </a:ext>
            </a:extLst>
          </p:cNvPr>
          <p:cNvSpPr>
            <a:spLocks noGrp="1"/>
          </p:cNvSpPr>
          <p:nvPr>
            <p:ph type="subTitle" idx="1"/>
          </p:nvPr>
        </p:nvSpPr>
        <p:spPr/>
        <p:txBody>
          <a:bodyPr/>
          <a:lstStyle/>
          <a:p>
            <a:r>
              <a:t>Contenidos adaptados del libro «</a:t>
            </a:r>
            <a:r>
              <a:rPr>
                <a:hlinkClick r:id="rId2"/>
              </a:rPr>
              <a:t>Probabilidad y estadística para informáticos, segunda edición, M. Baron</a:t>
            </a:r>
            <a:r>
              <a:t>» (Capítulo 7)</a:t>
            </a:r>
          </a:p>
        </p:txBody>
      </p:sp>
    </p:spTree>
    <p:extLst>
      <p:ext uri="{BB962C8B-B14F-4D97-AF65-F5344CB8AC3E}">
        <p14:creationId xmlns:p14="http://schemas.microsoft.com/office/powerpoint/2010/main" val="143750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20BF6A-4F76-40F2-AADF-4A9781E2BEC8}"/>
              </a:ext>
            </a:extLst>
          </p:cNvPr>
          <p:cNvSpPr>
            <a:spLocks noGrp="1"/>
          </p:cNvSpPr>
          <p:nvPr>
            <p:ph type="title"/>
          </p:nvPr>
        </p:nvSpPr>
        <p:spPr/>
        <p:txBody>
          <a:bodyPr/>
          <a:lstStyle/>
          <a:p>
            <a:r>
              <a:t>Contenido</a:t>
            </a:r>
          </a:p>
        </p:txBody>
      </p:sp>
      <p:sp>
        <p:nvSpPr>
          <p:cNvPr id="3" name="Marcador de contenido 2">
            <a:extLst>
              <a:ext uri="{FF2B5EF4-FFF2-40B4-BE49-F238E27FC236}">
                <a16:creationId xmlns:a16="http://schemas.microsoft.com/office/drawing/2014/main" id="{3DD641DE-CE43-4099-914E-C8A920DB30F6}"/>
              </a:ext>
            </a:extLst>
          </p:cNvPr>
          <p:cNvSpPr>
            <a:spLocks noGrp="1"/>
          </p:cNvSpPr>
          <p:nvPr>
            <p:ph idx="1"/>
          </p:nvPr>
        </p:nvSpPr>
        <p:spPr/>
        <p:txBody>
          <a:bodyPr>
            <a:normAutofit lnSpcReduction="10000"/>
          </a:bodyPr>
          <a:lstStyle/>
          <a:p>
            <a:pPr marL="514350" indent="-514350">
              <a:buFont typeface="+mj-lt"/>
              <a:buAutoNum type="arabicPeriod"/>
            </a:pPr>
            <a:r>
              <a:rPr lang="es-ES" dirty="0"/>
              <a:t>Objetivos</a:t>
            </a:r>
          </a:p>
          <a:p>
            <a:pPr marL="514350" indent="-514350">
              <a:buFont typeface="+mj-lt"/>
              <a:buAutoNum type="arabicPeriod"/>
            </a:pPr>
            <a:r>
              <a:rPr dirty="0"/>
              <a:t>Introducción</a:t>
            </a:r>
          </a:p>
          <a:p>
            <a:pPr marL="457200" lvl="1" indent="0">
              <a:buNone/>
            </a:pPr>
            <a:r>
              <a:rPr lang="es-ES" dirty="0"/>
              <a:t> 2.1 </a:t>
            </a:r>
            <a:r>
              <a:rPr dirty="0" err="1"/>
              <a:t>Definición</a:t>
            </a:r>
            <a:r>
              <a:rPr dirty="0"/>
              <a:t> de </a:t>
            </a:r>
            <a:r>
              <a:rPr dirty="0" err="1"/>
              <a:t>sistema</a:t>
            </a:r>
            <a:r>
              <a:rPr dirty="0"/>
              <a:t> de </a:t>
            </a:r>
            <a:r>
              <a:rPr lang="es-ES" dirty="0"/>
              <a:t>cola</a:t>
            </a:r>
            <a:endParaRPr dirty="0"/>
          </a:p>
          <a:p>
            <a:pPr marL="457200" lvl="1" indent="0">
              <a:buNone/>
            </a:pPr>
            <a:r>
              <a:rPr lang="es-ES" dirty="0"/>
              <a:t> 2.2 </a:t>
            </a:r>
            <a:r>
              <a:rPr dirty="0" err="1"/>
              <a:t>Componentes</a:t>
            </a:r>
            <a:r>
              <a:rPr dirty="0"/>
              <a:t> </a:t>
            </a:r>
            <a:r>
              <a:rPr dirty="0" err="1"/>
              <a:t>principales</a:t>
            </a:r>
            <a:r>
              <a:rPr dirty="0"/>
              <a:t> de un </a:t>
            </a:r>
            <a:r>
              <a:rPr dirty="0" err="1"/>
              <a:t>sistema</a:t>
            </a:r>
            <a:r>
              <a:rPr dirty="0"/>
              <a:t> de </a:t>
            </a:r>
            <a:r>
              <a:rPr lang="es-ES" dirty="0"/>
              <a:t>cola</a:t>
            </a:r>
            <a:endParaRPr dirty="0"/>
          </a:p>
          <a:p>
            <a:pPr marL="457200" lvl="1" indent="0">
              <a:buNone/>
            </a:pPr>
            <a:r>
              <a:rPr lang="es-ES" dirty="0"/>
              <a:t> 2.3 </a:t>
            </a:r>
            <a:r>
              <a:rPr dirty="0" err="1"/>
              <a:t>Parámetros</a:t>
            </a:r>
            <a:r>
              <a:rPr dirty="0"/>
              <a:t> de un </a:t>
            </a:r>
            <a:r>
              <a:rPr dirty="0" err="1"/>
              <a:t>sistema</a:t>
            </a:r>
            <a:r>
              <a:rPr dirty="0"/>
              <a:t> de </a:t>
            </a:r>
            <a:r>
              <a:rPr lang="es-ES" dirty="0"/>
              <a:t>cola</a:t>
            </a:r>
            <a:endParaRPr dirty="0"/>
          </a:p>
          <a:p>
            <a:pPr marL="457200" lvl="1" indent="0">
              <a:buNone/>
            </a:pPr>
            <a:r>
              <a:rPr lang="es-ES" dirty="0"/>
              <a:t> 2.4 </a:t>
            </a:r>
            <a:r>
              <a:rPr dirty="0"/>
              <a:t>Variables </a:t>
            </a:r>
            <a:r>
              <a:rPr dirty="0" err="1"/>
              <a:t>aleatorias</a:t>
            </a:r>
            <a:r>
              <a:rPr dirty="0"/>
              <a:t> </a:t>
            </a:r>
            <a:r>
              <a:rPr lang="es-ES" dirty="0"/>
              <a:t>en</a:t>
            </a:r>
            <a:r>
              <a:rPr dirty="0"/>
              <a:t> un </a:t>
            </a:r>
            <a:r>
              <a:rPr dirty="0" err="1"/>
              <a:t>sistema</a:t>
            </a:r>
            <a:r>
              <a:rPr dirty="0"/>
              <a:t> de </a:t>
            </a:r>
            <a:r>
              <a:rPr lang="es-ES" dirty="0"/>
              <a:t>cola</a:t>
            </a:r>
            <a:endParaRPr dirty="0"/>
          </a:p>
          <a:p>
            <a:pPr marL="514350" indent="-514350">
              <a:buFont typeface="+mj-lt"/>
              <a:buAutoNum type="arabicPeriod"/>
            </a:pPr>
            <a:r>
              <a:rPr lang="es-ES" dirty="0"/>
              <a:t>L</a:t>
            </a:r>
            <a:r>
              <a:rPr dirty="0" err="1"/>
              <a:t>ey</a:t>
            </a:r>
            <a:r>
              <a:rPr dirty="0"/>
              <a:t> de</a:t>
            </a:r>
            <a:r>
              <a:rPr lang="es-ES" dirty="0"/>
              <a:t> Little</a:t>
            </a:r>
            <a:endParaRPr dirty="0"/>
          </a:p>
          <a:p>
            <a:pPr marL="514350" indent="-514350">
              <a:buFont typeface="+mj-lt"/>
              <a:buAutoNum type="arabicPeriod"/>
            </a:pPr>
            <a:r>
              <a:rPr dirty="0" err="1"/>
              <a:t>Tipos</a:t>
            </a:r>
            <a:r>
              <a:rPr dirty="0"/>
              <a:t> de </a:t>
            </a:r>
            <a:r>
              <a:rPr dirty="0" err="1"/>
              <a:t>sistemas</a:t>
            </a:r>
            <a:r>
              <a:rPr dirty="0"/>
              <a:t> de cola</a:t>
            </a:r>
            <a:r>
              <a:rPr lang="es-ES" dirty="0"/>
              <a:t>s</a:t>
            </a:r>
          </a:p>
          <a:p>
            <a:pPr marL="514350" indent="-514350">
              <a:buFont typeface="+mj-lt"/>
              <a:buAutoNum type="arabicPeriod"/>
            </a:pPr>
            <a:r>
              <a:rPr lang="es-ES" dirty="0"/>
              <a:t>Sistema M/M/1</a:t>
            </a:r>
            <a:endParaRPr dirty="0"/>
          </a:p>
          <a:p>
            <a:pPr marL="457200" indent="-457200">
              <a:buFont typeface="+mj-lt"/>
              <a:buAutoNum type="arabicPeriod"/>
            </a:pPr>
            <a:r>
              <a:rPr dirty="0"/>
              <a:t>Resumen</a:t>
            </a:r>
          </a:p>
        </p:txBody>
      </p:sp>
      <p:sp>
        <p:nvSpPr>
          <p:cNvPr id="4" name="Marcador de número de diapositiva 3">
            <a:extLst>
              <a:ext uri="{FF2B5EF4-FFF2-40B4-BE49-F238E27FC236}">
                <a16:creationId xmlns:a16="http://schemas.microsoft.com/office/drawing/2014/main" id="{35184F0A-2B41-D9D8-BF21-77971EAEBAF2}"/>
              </a:ext>
            </a:extLst>
          </p:cNvPr>
          <p:cNvSpPr>
            <a:spLocks noGrp="1"/>
          </p:cNvSpPr>
          <p:nvPr>
            <p:ph type="sldNum" sz="quarter" idx="12"/>
          </p:nvPr>
        </p:nvSpPr>
        <p:spPr/>
        <p:txBody>
          <a:bodyPr/>
          <a:lstStyle/>
          <a:p>
            <a:fld id="{336CAFD0-1F6E-4E11-9822-836563A02839}" type="slidenum">
              <a:rPr lang="es-ES" smtClean="0"/>
              <a:t>2</a:t>
            </a:fld>
            <a:endParaRPr lang="es-ES"/>
          </a:p>
        </p:txBody>
      </p:sp>
    </p:spTree>
    <p:extLst>
      <p:ext uri="{BB962C8B-B14F-4D97-AF65-F5344CB8AC3E}">
        <p14:creationId xmlns:p14="http://schemas.microsoft.com/office/powerpoint/2010/main" val="1859685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388110-C1AC-CF5E-0110-8E2A3FC14E3D}"/>
              </a:ext>
            </a:extLst>
          </p:cNvPr>
          <p:cNvSpPr>
            <a:spLocks noGrp="1"/>
          </p:cNvSpPr>
          <p:nvPr>
            <p:ph type="title"/>
          </p:nvPr>
        </p:nvSpPr>
        <p:spPr/>
        <p:txBody>
          <a:bodyPr/>
          <a:lstStyle/>
          <a:p>
            <a:r>
              <a:rPr lang="es-ES" dirty="0"/>
              <a:t>1. Objetivos</a:t>
            </a:r>
          </a:p>
        </p:txBody>
      </p:sp>
      <p:sp>
        <p:nvSpPr>
          <p:cNvPr id="3" name="Marcador de contenido 2">
            <a:extLst>
              <a:ext uri="{FF2B5EF4-FFF2-40B4-BE49-F238E27FC236}">
                <a16:creationId xmlns:a16="http://schemas.microsoft.com/office/drawing/2014/main" id="{7802208F-81FD-3A6A-3B34-7D1B5CF276E4}"/>
              </a:ext>
            </a:extLst>
          </p:cNvPr>
          <p:cNvSpPr>
            <a:spLocks noGrp="1"/>
          </p:cNvSpPr>
          <p:nvPr>
            <p:ph idx="1"/>
          </p:nvPr>
        </p:nvSpPr>
        <p:spPr/>
        <p:txBody>
          <a:bodyPr>
            <a:normAutofit/>
          </a:bodyPr>
          <a:lstStyle/>
          <a:p>
            <a:r>
              <a:rPr lang="es-ES" dirty="0"/>
              <a:t>Modelizar correctamente situaciones de colas de espera bajo modelos </a:t>
            </a:r>
            <a:r>
              <a:rPr lang="es-ES" dirty="0" err="1"/>
              <a:t>Poissonianos</a:t>
            </a:r>
            <a:r>
              <a:rPr lang="es-ES" dirty="0"/>
              <a:t> (RA6). </a:t>
            </a:r>
          </a:p>
          <a:p>
            <a:r>
              <a:rPr lang="es-ES" dirty="0"/>
              <a:t>Conocer algunos modelos no </a:t>
            </a:r>
            <a:r>
              <a:rPr lang="es-ES" dirty="0" err="1"/>
              <a:t>Poissonianos</a:t>
            </a:r>
            <a:r>
              <a:rPr lang="es-ES" dirty="0"/>
              <a:t>, redes y series de colas, y la utilidad de la simulación en la Teoría de Colas (RA6).</a:t>
            </a:r>
          </a:p>
          <a:p>
            <a:endParaRPr lang="es-ES" dirty="0"/>
          </a:p>
        </p:txBody>
      </p:sp>
      <p:sp>
        <p:nvSpPr>
          <p:cNvPr id="4" name="Marcador de número de diapositiva 3">
            <a:extLst>
              <a:ext uri="{FF2B5EF4-FFF2-40B4-BE49-F238E27FC236}">
                <a16:creationId xmlns:a16="http://schemas.microsoft.com/office/drawing/2014/main" id="{2BAD5FBD-D86E-31E4-F426-3B558645492D}"/>
              </a:ext>
            </a:extLst>
          </p:cNvPr>
          <p:cNvSpPr>
            <a:spLocks noGrp="1"/>
          </p:cNvSpPr>
          <p:nvPr>
            <p:ph type="sldNum" sz="quarter" idx="12"/>
          </p:nvPr>
        </p:nvSpPr>
        <p:spPr/>
        <p:txBody>
          <a:bodyPr/>
          <a:lstStyle/>
          <a:p>
            <a:fld id="{336CAFD0-1F6E-4E11-9822-836563A02839}" type="slidenum">
              <a:rPr lang="es-ES" smtClean="0"/>
              <a:pPr/>
              <a:t>3</a:t>
            </a:fld>
            <a:endParaRPr lang="es-ES" dirty="0"/>
          </a:p>
        </p:txBody>
      </p:sp>
    </p:spTree>
    <p:extLst>
      <p:ext uri="{BB962C8B-B14F-4D97-AF65-F5344CB8AC3E}">
        <p14:creationId xmlns:p14="http://schemas.microsoft.com/office/powerpoint/2010/main" val="2375957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22C548-D817-6832-A529-F95FB7CE492B}"/>
              </a:ext>
            </a:extLst>
          </p:cNvPr>
          <p:cNvSpPr>
            <a:spLocks noGrp="1"/>
          </p:cNvSpPr>
          <p:nvPr>
            <p:ph type="title"/>
          </p:nvPr>
        </p:nvSpPr>
        <p:spPr/>
        <p:txBody>
          <a:bodyPr/>
          <a:lstStyle/>
          <a:p>
            <a:r>
              <a:rPr lang="es-ES" dirty="0"/>
              <a:t>2.</a:t>
            </a:r>
            <a:r>
              <a:rPr dirty="0"/>
              <a:t> Introducción</a:t>
            </a:r>
          </a:p>
        </p:txBody>
      </p:sp>
      <p:sp>
        <p:nvSpPr>
          <p:cNvPr id="3" name="Marcador de contenido 2">
            <a:extLst>
              <a:ext uri="{FF2B5EF4-FFF2-40B4-BE49-F238E27FC236}">
                <a16:creationId xmlns:a16="http://schemas.microsoft.com/office/drawing/2014/main" id="{1DB45E26-A1AA-28A8-DE00-11AE4C74F38C}"/>
              </a:ext>
            </a:extLst>
          </p:cNvPr>
          <p:cNvSpPr>
            <a:spLocks noGrp="1"/>
          </p:cNvSpPr>
          <p:nvPr>
            <p:ph idx="1"/>
          </p:nvPr>
        </p:nvSpPr>
        <p:spPr/>
        <p:txBody>
          <a:bodyPr/>
          <a:lstStyle/>
          <a:p>
            <a:r>
              <a:rPr lang="es-ES" dirty="0"/>
              <a:t>2.</a:t>
            </a:r>
            <a:r>
              <a:rPr dirty="0"/>
              <a:t>1 </a:t>
            </a:r>
            <a:r>
              <a:rPr dirty="0" err="1"/>
              <a:t>Definición</a:t>
            </a:r>
            <a:r>
              <a:rPr dirty="0"/>
              <a:t> del </a:t>
            </a:r>
            <a:r>
              <a:rPr dirty="0" err="1"/>
              <a:t>sistema</a:t>
            </a:r>
            <a:r>
              <a:rPr dirty="0"/>
              <a:t> de </a:t>
            </a:r>
            <a:r>
              <a:rPr lang="es-ES" dirty="0"/>
              <a:t>cola</a:t>
            </a:r>
            <a:endParaRPr dirty="0"/>
          </a:p>
          <a:p>
            <a:r>
              <a:rPr lang="es-ES" dirty="0"/>
              <a:t>2.</a:t>
            </a:r>
            <a:r>
              <a:rPr dirty="0"/>
              <a:t>2 </a:t>
            </a:r>
            <a:r>
              <a:rPr dirty="0" err="1"/>
              <a:t>Componentes</a:t>
            </a:r>
            <a:r>
              <a:rPr dirty="0"/>
              <a:t> </a:t>
            </a:r>
            <a:r>
              <a:rPr dirty="0" err="1"/>
              <a:t>principales</a:t>
            </a:r>
            <a:r>
              <a:rPr dirty="0"/>
              <a:t> de un </a:t>
            </a:r>
            <a:r>
              <a:rPr dirty="0" err="1"/>
              <a:t>sistema</a:t>
            </a:r>
            <a:r>
              <a:rPr dirty="0"/>
              <a:t> de </a:t>
            </a:r>
            <a:r>
              <a:rPr lang="es-ES" dirty="0"/>
              <a:t>cola</a:t>
            </a:r>
            <a:endParaRPr dirty="0"/>
          </a:p>
          <a:p>
            <a:r>
              <a:rPr lang="es-ES" dirty="0"/>
              <a:t>2.</a:t>
            </a:r>
            <a:r>
              <a:rPr dirty="0"/>
              <a:t>3 </a:t>
            </a:r>
            <a:r>
              <a:rPr dirty="0" err="1"/>
              <a:t>Parámetros</a:t>
            </a:r>
            <a:r>
              <a:rPr dirty="0"/>
              <a:t> de un </a:t>
            </a:r>
            <a:r>
              <a:rPr dirty="0" err="1"/>
              <a:t>sistema</a:t>
            </a:r>
            <a:r>
              <a:rPr dirty="0"/>
              <a:t> de </a:t>
            </a:r>
            <a:r>
              <a:rPr lang="es-ES" dirty="0"/>
              <a:t>cola</a:t>
            </a:r>
            <a:endParaRPr dirty="0"/>
          </a:p>
          <a:p>
            <a:r>
              <a:rPr lang="es-ES" dirty="0"/>
              <a:t>2.</a:t>
            </a:r>
            <a:r>
              <a:rPr dirty="0"/>
              <a:t>4 Variables </a:t>
            </a:r>
            <a:r>
              <a:rPr dirty="0" err="1"/>
              <a:t>aleatorias</a:t>
            </a:r>
            <a:r>
              <a:rPr dirty="0"/>
              <a:t> </a:t>
            </a:r>
            <a:r>
              <a:rPr lang="es-ES" dirty="0"/>
              <a:t>en</a:t>
            </a:r>
            <a:r>
              <a:rPr dirty="0"/>
              <a:t> un </a:t>
            </a:r>
            <a:r>
              <a:rPr dirty="0" err="1"/>
              <a:t>sistema</a:t>
            </a:r>
            <a:r>
              <a:rPr dirty="0"/>
              <a:t> de </a:t>
            </a:r>
            <a:r>
              <a:rPr lang="es-ES" dirty="0"/>
              <a:t>cola</a:t>
            </a:r>
            <a:endParaRPr dirty="0"/>
          </a:p>
          <a:p>
            <a:endParaRPr dirty="0"/>
          </a:p>
        </p:txBody>
      </p:sp>
      <p:sp>
        <p:nvSpPr>
          <p:cNvPr id="4" name="Marcador de número de diapositiva 3">
            <a:extLst>
              <a:ext uri="{FF2B5EF4-FFF2-40B4-BE49-F238E27FC236}">
                <a16:creationId xmlns:a16="http://schemas.microsoft.com/office/drawing/2014/main" id="{A1556083-00E7-701C-BB0C-742687A68C96}"/>
              </a:ext>
            </a:extLst>
          </p:cNvPr>
          <p:cNvSpPr>
            <a:spLocks noGrp="1"/>
          </p:cNvSpPr>
          <p:nvPr>
            <p:ph type="sldNum" sz="quarter" idx="12"/>
          </p:nvPr>
        </p:nvSpPr>
        <p:spPr/>
        <p:txBody>
          <a:bodyPr/>
          <a:lstStyle/>
          <a:p>
            <a:fld id="{336CAFD0-1F6E-4E11-9822-836563A02839}" type="slidenum">
              <a:rPr lang="es-ES" smtClean="0"/>
              <a:t>4</a:t>
            </a:fld>
            <a:endParaRPr lang="es-ES"/>
          </a:p>
        </p:txBody>
      </p:sp>
    </p:spTree>
    <p:extLst>
      <p:ext uri="{BB962C8B-B14F-4D97-AF65-F5344CB8AC3E}">
        <p14:creationId xmlns:p14="http://schemas.microsoft.com/office/powerpoint/2010/main" val="2438350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9C1B36-3157-4B6D-89FC-56D3ACE61ACA}"/>
              </a:ext>
            </a:extLst>
          </p:cNvPr>
          <p:cNvSpPr>
            <a:spLocks noGrp="1"/>
          </p:cNvSpPr>
          <p:nvPr>
            <p:ph type="title"/>
          </p:nvPr>
        </p:nvSpPr>
        <p:spPr/>
        <p:txBody>
          <a:bodyPr/>
          <a:lstStyle/>
          <a:p>
            <a:r>
              <a:rPr lang="es-ES" dirty="0"/>
              <a:t>2.</a:t>
            </a:r>
            <a:r>
              <a:rPr dirty="0"/>
              <a:t>1 </a:t>
            </a:r>
            <a:r>
              <a:rPr dirty="0" err="1"/>
              <a:t>Definición</a:t>
            </a:r>
            <a:r>
              <a:rPr dirty="0"/>
              <a:t> de </a:t>
            </a:r>
            <a:r>
              <a:rPr i="1" dirty="0" err="1"/>
              <a:t>sistema</a:t>
            </a:r>
            <a:r>
              <a:rPr i="1" dirty="0"/>
              <a:t> de </a:t>
            </a:r>
            <a:r>
              <a:rPr lang="es-ES" i="1" dirty="0"/>
              <a:t>cola</a:t>
            </a:r>
            <a:endParaRPr i="1" dirty="0"/>
          </a:p>
        </p:txBody>
      </p:sp>
      <p:sp>
        <p:nvSpPr>
          <p:cNvPr id="3" name="Marcador de contenido 2">
            <a:extLst>
              <a:ext uri="{FF2B5EF4-FFF2-40B4-BE49-F238E27FC236}">
                <a16:creationId xmlns:a16="http://schemas.microsoft.com/office/drawing/2014/main" id="{C7116F29-FF7B-4D57-9EEC-D13B51D24DF7}"/>
              </a:ext>
            </a:extLst>
          </p:cNvPr>
          <p:cNvSpPr>
            <a:spLocks noGrp="1"/>
          </p:cNvSpPr>
          <p:nvPr>
            <p:ph idx="1"/>
          </p:nvPr>
        </p:nvSpPr>
        <p:spPr>
          <a:xfrm>
            <a:off x="838200" y="1825625"/>
            <a:ext cx="10515600" cy="4667250"/>
          </a:xfrm>
        </p:spPr>
        <p:txBody>
          <a:bodyPr>
            <a:normAutofit fontScale="85000" lnSpcReduction="20000"/>
          </a:bodyPr>
          <a:lstStyle/>
          <a:p>
            <a:r>
              <a:rPr dirty="0"/>
              <a:t>Un </a:t>
            </a:r>
            <a:r>
              <a:rPr dirty="0" err="1"/>
              <a:t>sistema</a:t>
            </a:r>
            <a:r>
              <a:rPr dirty="0"/>
              <a:t> de </a:t>
            </a:r>
            <a:r>
              <a:rPr lang="es-ES" dirty="0"/>
              <a:t>cola</a:t>
            </a:r>
            <a:r>
              <a:rPr dirty="0"/>
              <a:t> es </a:t>
            </a:r>
            <a:r>
              <a:rPr dirty="0" err="1"/>
              <a:t>una</a:t>
            </a:r>
            <a:r>
              <a:rPr dirty="0"/>
              <a:t> </a:t>
            </a:r>
            <a:r>
              <a:rPr dirty="0" err="1"/>
              <a:t>instalación</a:t>
            </a:r>
            <a:r>
              <a:rPr dirty="0"/>
              <a:t> que </a:t>
            </a:r>
            <a:r>
              <a:rPr dirty="0" err="1"/>
              <a:t>consiste</a:t>
            </a:r>
            <a:r>
              <a:rPr dirty="0"/>
              <a:t> en uno o </a:t>
            </a:r>
            <a:r>
              <a:rPr dirty="0" err="1"/>
              <a:t>varios</a:t>
            </a:r>
            <a:r>
              <a:rPr dirty="0"/>
              <a:t> </a:t>
            </a:r>
            <a:r>
              <a:rPr dirty="0" err="1"/>
              <a:t>servidores</a:t>
            </a:r>
            <a:r>
              <a:rPr dirty="0"/>
              <a:t> </a:t>
            </a:r>
            <a:r>
              <a:rPr dirty="0" err="1"/>
              <a:t>diseñados</a:t>
            </a:r>
            <a:r>
              <a:rPr dirty="0"/>
              <a:t> para </a:t>
            </a:r>
            <a:r>
              <a:rPr dirty="0" err="1"/>
              <a:t>realizar</a:t>
            </a:r>
            <a:r>
              <a:rPr dirty="0"/>
              <a:t> </a:t>
            </a:r>
            <a:r>
              <a:rPr dirty="0" err="1"/>
              <a:t>ciertas</a:t>
            </a:r>
            <a:r>
              <a:rPr dirty="0"/>
              <a:t> </a:t>
            </a:r>
            <a:r>
              <a:rPr dirty="0" err="1"/>
              <a:t>tareas</a:t>
            </a:r>
            <a:r>
              <a:rPr dirty="0"/>
              <a:t> o </a:t>
            </a:r>
            <a:r>
              <a:rPr dirty="0" err="1"/>
              <a:t>procesar</a:t>
            </a:r>
            <a:r>
              <a:rPr dirty="0"/>
              <a:t> </a:t>
            </a:r>
            <a:r>
              <a:rPr dirty="0" err="1"/>
              <a:t>ciertos</a:t>
            </a:r>
            <a:r>
              <a:rPr dirty="0"/>
              <a:t> </a:t>
            </a:r>
            <a:r>
              <a:rPr dirty="0" err="1"/>
              <a:t>trabajos</a:t>
            </a:r>
            <a:r>
              <a:rPr dirty="0"/>
              <a:t> y </a:t>
            </a:r>
            <a:r>
              <a:rPr dirty="0" err="1"/>
              <a:t>una</a:t>
            </a:r>
            <a:r>
              <a:rPr dirty="0"/>
              <a:t> cola de </a:t>
            </a:r>
            <a:r>
              <a:rPr dirty="0" err="1"/>
              <a:t>trabajos</a:t>
            </a:r>
            <a:r>
              <a:rPr dirty="0"/>
              <a:t> que </a:t>
            </a:r>
            <a:r>
              <a:rPr dirty="0" err="1"/>
              <a:t>esperan</a:t>
            </a:r>
            <a:r>
              <a:rPr dirty="0"/>
              <a:t> ser </a:t>
            </a:r>
            <a:r>
              <a:rPr dirty="0" err="1"/>
              <a:t>procesados</a:t>
            </a:r>
            <a:r>
              <a:rPr dirty="0"/>
              <a:t>.</a:t>
            </a:r>
          </a:p>
          <a:p>
            <a:r>
              <a:rPr dirty="0"/>
              <a:t>Los </a:t>
            </a:r>
            <a:r>
              <a:rPr dirty="0" err="1"/>
              <a:t>trabajos</a:t>
            </a:r>
            <a:r>
              <a:rPr dirty="0"/>
              <a:t> </a:t>
            </a:r>
            <a:r>
              <a:rPr dirty="0" err="1"/>
              <a:t>llegan</a:t>
            </a:r>
            <a:r>
              <a:rPr dirty="0"/>
              <a:t> al </a:t>
            </a:r>
            <a:r>
              <a:rPr dirty="0" err="1"/>
              <a:t>sistema</a:t>
            </a:r>
            <a:r>
              <a:rPr dirty="0"/>
              <a:t>, </a:t>
            </a:r>
            <a:r>
              <a:rPr dirty="0" err="1"/>
              <a:t>esperan</a:t>
            </a:r>
            <a:r>
              <a:rPr dirty="0"/>
              <a:t> </a:t>
            </a:r>
            <a:r>
              <a:rPr lang="es-ES" dirty="0"/>
              <a:t>a que esté </a:t>
            </a:r>
            <a:r>
              <a:rPr dirty="0"/>
              <a:t>disponible</a:t>
            </a:r>
            <a:r>
              <a:rPr lang="es-ES" dirty="0"/>
              <a:t> un servidor</a:t>
            </a:r>
            <a:r>
              <a:rPr dirty="0"/>
              <a:t>, son </a:t>
            </a:r>
            <a:r>
              <a:rPr dirty="0" err="1"/>
              <a:t>procesados</a:t>
            </a:r>
            <a:r>
              <a:rPr dirty="0"/>
              <a:t> </a:t>
            </a:r>
            <a:r>
              <a:rPr dirty="0" err="1"/>
              <a:t>por</a:t>
            </a:r>
            <a:r>
              <a:rPr dirty="0"/>
              <a:t> este </a:t>
            </a:r>
            <a:r>
              <a:rPr dirty="0" err="1"/>
              <a:t>servidor</a:t>
            </a:r>
            <a:r>
              <a:rPr dirty="0"/>
              <a:t> y se van.</a:t>
            </a:r>
          </a:p>
          <a:p>
            <a:r>
              <a:rPr dirty="0" err="1"/>
              <a:t>Ejemplos</a:t>
            </a:r>
            <a:r>
              <a:rPr dirty="0"/>
              <a:t> de </a:t>
            </a:r>
            <a:r>
              <a:rPr dirty="0" err="1"/>
              <a:t>sistemas</a:t>
            </a:r>
            <a:r>
              <a:rPr dirty="0"/>
              <a:t> de </a:t>
            </a:r>
            <a:r>
              <a:rPr lang="es-ES" dirty="0"/>
              <a:t>cola</a:t>
            </a:r>
            <a:r>
              <a:rPr dirty="0"/>
              <a:t> son:</a:t>
            </a:r>
          </a:p>
          <a:p>
            <a:pPr lvl="1"/>
            <a:r>
              <a:rPr dirty="0"/>
              <a:t>un </a:t>
            </a:r>
            <a:r>
              <a:rPr dirty="0" err="1"/>
              <a:t>ordenador</a:t>
            </a:r>
            <a:r>
              <a:rPr dirty="0"/>
              <a:t> personal o </a:t>
            </a:r>
            <a:r>
              <a:rPr dirty="0" err="1"/>
              <a:t>compartido</a:t>
            </a:r>
            <a:r>
              <a:rPr dirty="0"/>
              <a:t> que </a:t>
            </a:r>
            <a:r>
              <a:rPr dirty="0" err="1"/>
              <a:t>ejecute</a:t>
            </a:r>
            <a:r>
              <a:rPr dirty="0"/>
              <a:t> </a:t>
            </a:r>
            <a:r>
              <a:rPr dirty="0" err="1"/>
              <a:t>tareas</a:t>
            </a:r>
            <a:r>
              <a:rPr dirty="0"/>
              <a:t> </a:t>
            </a:r>
            <a:r>
              <a:rPr dirty="0" err="1"/>
              <a:t>enviadas</a:t>
            </a:r>
            <a:r>
              <a:rPr dirty="0"/>
              <a:t> </a:t>
            </a:r>
            <a:r>
              <a:rPr dirty="0" err="1"/>
              <a:t>por</a:t>
            </a:r>
            <a:r>
              <a:rPr dirty="0"/>
              <a:t> sus </a:t>
            </a:r>
            <a:r>
              <a:rPr dirty="0" err="1"/>
              <a:t>usuarios</a:t>
            </a:r>
            <a:r>
              <a:rPr dirty="0"/>
              <a:t>;</a:t>
            </a:r>
          </a:p>
          <a:p>
            <a:pPr lvl="1"/>
            <a:r>
              <a:rPr dirty="0"/>
              <a:t>un </a:t>
            </a:r>
            <a:r>
              <a:rPr dirty="0" err="1"/>
              <a:t>proveedor</a:t>
            </a:r>
            <a:r>
              <a:rPr dirty="0"/>
              <a:t> de </a:t>
            </a:r>
            <a:r>
              <a:rPr dirty="0" err="1"/>
              <a:t>servicios</a:t>
            </a:r>
            <a:r>
              <a:rPr dirty="0"/>
              <a:t> de Internet </a:t>
            </a:r>
            <a:r>
              <a:rPr dirty="0" err="1"/>
              <a:t>cuyos</a:t>
            </a:r>
            <a:r>
              <a:rPr dirty="0"/>
              <a:t> </a:t>
            </a:r>
            <a:r>
              <a:rPr dirty="0" err="1"/>
              <a:t>clientes</a:t>
            </a:r>
            <a:r>
              <a:rPr dirty="0"/>
              <a:t> se </a:t>
            </a:r>
            <a:r>
              <a:rPr dirty="0" err="1"/>
              <a:t>conect</a:t>
            </a:r>
            <a:r>
              <a:rPr lang="es-ES" dirty="0"/>
              <a:t>a</a:t>
            </a:r>
            <a:r>
              <a:rPr dirty="0"/>
              <a:t>n a Internet, </a:t>
            </a:r>
            <a:r>
              <a:rPr dirty="0" err="1"/>
              <a:t>naveg</a:t>
            </a:r>
            <a:r>
              <a:rPr lang="es-ES" dirty="0"/>
              <a:t>a</a:t>
            </a:r>
            <a:r>
              <a:rPr dirty="0"/>
              <a:t>n y se </a:t>
            </a:r>
            <a:r>
              <a:rPr dirty="0" err="1"/>
              <a:t>desconect</a:t>
            </a:r>
            <a:r>
              <a:rPr lang="es-ES" dirty="0"/>
              <a:t>a</a:t>
            </a:r>
            <a:r>
              <a:rPr dirty="0"/>
              <a:t>n;</a:t>
            </a:r>
          </a:p>
          <a:p>
            <a:pPr lvl="1"/>
            <a:r>
              <a:rPr dirty="0" err="1"/>
              <a:t>una</a:t>
            </a:r>
            <a:r>
              <a:rPr dirty="0"/>
              <a:t> </a:t>
            </a:r>
            <a:r>
              <a:rPr dirty="0" err="1"/>
              <a:t>impresora</a:t>
            </a:r>
            <a:r>
              <a:rPr dirty="0"/>
              <a:t> </a:t>
            </a:r>
            <a:r>
              <a:rPr lang="es-ES" dirty="0"/>
              <a:t>que imprime </a:t>
            </a:r>
            <a:r>
              <a:rPr dirty="0" err="1"/>
              <a:t>trabajos</a:t>
            </a:r>
            <a:r>
              <a:rPr lang="es-ES" dirty="0"/>
              <a:t> </a:t>
            </a:r>
            <a:r>
              <a:rPr dirty="0" err="1"/>
              <a:t>enviados</a:t>
            </a:r>
            <a:r>
              <a:rPr dirty="0"/>
              <a:t> </a:t>
            </a:r>
            <a:r>
              <a:rPr dirty="0" err="1"/>
              <a:t>desde</a:t>
            </a:r>
            <a:r>
              <a:rPr dirty="0"/>
              <a:t> </a:t>
            </a:r>
            <a:r>
              <a:rPr dirty="0" err="1"/>
              <a:t>diferentes</a:t>
            </a:r>
            <a:r>
              <a:rPr dirty="0"/>
              <a:t> </a:t>
            </a:r>
            <a:r>
              <a:rPr dirty="0" err="1"/>
              <a:t>ordenadores</a:t>
            </a:r>
            <a:r>
              <a:rPr dirty="0"/>
              <a:t>;</a:t>
            </a:r>
          </a:p>
          <a:p>
            <a:pPr lvl="1"/>
            <a:r>
              <a:rPr dirty="0"/>
              <a:t>un </a:t>
            </a:r>
            <a:r>
              <a:rPr dirty="0" err="1"/>
              <a:t>servicio</a:t>
            </a:r>
            <a:r>
              <a:rPr dirty="0"/>
              <a:t> de </a:t>
            </a:r>
            <a:r>
              <a:rPr dirty="0" err="1"/>
              <a:t>atención</a:t>
            </a:r>
            <a:r>
              <a:rPr dirty="0"/>
              <a:t> al </a:t>
            </a:r>
            <a:r>
              <a:rPr dirty="0" err="1"/>
              <a:t>cliente</a:t>
            </a:r>
            <a:r>
              <a:rPr dirty="0"/>
              <a:t> con uno o </a:t>
            </a:r>
            <a:r>
              <a:rPr dirty="0" err="1"/>
              <a:t>varios</a:t>
            </a:r>
            <a:r>
              <a:rPr dirty="0"/>
              <a:t> </a:t>
            </a:r>
            <a:r>
              <a:rPr lang="es-ES" dirty="0"/>
              <a:t>teleoperadores </a:t>
            </a:r>
            <a:r>
              <a:rPr dirty="0"/>
              <a:t>que </a:t>
            </a:r>
            <a:r>
              <a:rPr dirty="0" err="1"/>
              <a:t>respondan</a:t>
            </a:r>
            <a:r>
              <a:rPr dirty="0"/>
              <a:t> a las </a:t>
            </a:r>
            <a:r>
              <a:rPr dirty="0" err="1"/>
              <a:t>llamadas</a:t>
            </a:r>
            <a:r>
              <a:rPr dirty="0"/>
              <a:t> de </a:t>
            </a:r>
            <a:r>
              <a:rPr lang="es-ES" dirty="0"/>
              <a:t>lo</a:t>
            </a:r>
            <a:r>
              <a:rPr dirty="0"/>
              <a:t>s </a:t>
            </a:r>
            <a:r>
              <a:rPr dirty="0" err="1"/>
              <a:t>clientes</a:t>
            </a:r>
            <a:r>
              <a:rPr dirty="0"/>
              <a:t>;</a:t>
            </a:r>
          </a:p>
          <a:p>
            <a:pPr lvl="1"/>
            <a:r>
              <a:rPr dirty="0" err="1"/>
              <a:t>una</a:t>
            </a:r>
            <a:r>
              <a:rPr dirty="0"/>
              <a:t> zona de </a:t>
            </a:r>
            <a:r>
              <a:rPr dirty="0" err="1"/>
              <a:t>peaje</a:t>
            </a:r>
            <a:r>
              <a:rPr dirty="0"/>
              <a:t> en </a:t>
            </a:r>
            <a:r>
              <a:rPr dirty="0" err="1"/>
              <a:t>una</a:t>
            </a:r>
            <a:r>
              <a:rPr dirty="0"/>
              <a:t> </a:t>
            </a:r>
            <a:r>
              <a:rPr dirty="0" err="1"/>
              <a:t>carretera</a:t>
            </a:r>
            <a:r>
              <a:rPr dirty="0"/>
              <a:t>, un </a:t>
            </a:r>
            <a:r>
              <a:rPr lang="es-ES" dirty="0"/>
              <a:t>puesto para comprar comida rápida desde el coche, </a:t>
            </a:r>
            <a:r>
              <a:rPr dirty="0"/>
              <a:t>un </a:t>
            </a:r>
            <a:r>
              <a:rPr dirty="0" err="1"/>
              <a:t>cajero</a:t>
            </a:r>
            <a:r>
              <a:rPr dirty="0"/>
              <a:t> </a:t>
            </a:r>
            <a:r>
              <a:rPr dirty="0" err="1"/>
              <a:t>automático</a:t>
            </a:r>
            <a:r>
              <a:rPr dirty="0"/>
              <a:t>;</a:t>
            </a:r>
          </a:p>
          <a:p>
            <a:pPr lvl="1"/>
            <a:r>
              <a:rPr dirty="0"/>
              <a:t>un </a:t>
            </a:r>
            <a:r>
              <a:rPr dirty="0" err="1"/>
              <a:t>consultorio</a:t>
            </a:r>
            <a:r>
              <a:rPr dirty="0"/>
              <a:t> </a:t>
            </a:r>
            <a:r>
              <a:rPr dirty="0" err="1"/>
              <a:t>médico</a:t>
            </a:r>
            <a:r>
              <a:rPr dirty="0"/>
              <a:t> </a:t>
            </a:r>
            <a:r>
              <a:rPr lang="es-ES" dirty="0"/>
              <a:t>en el que se </a:t>
            </a:r>
            <a:r>
              <a:rPr dirty="0" err="1"/>
              <a:t>atiende</a:t>
            </a:r>
            <a:r>
              <a:rPr dirty="0"/>
              <a:t> a </a:t>
            </a:r>
            <a:r>
              <a:rPr dirty="0" err="1"/>
              <a:t>pacientes</a:t>
            </a:r>
            <a:r>
              <a:rPr dirty="0"/>
              <a:t>; ...</a:t>
            </a:r>
          </a:p>
          <a:p>
            <a:endParaRPr dirty="0"/>
          </a:p>
        </p:txBody>
      </p:sp>
      <p:sp>
        <p:nvSpPr>
          <p:cNvPr id="4" name="Marcador de número de diapositiva 3">
            <a:extLst>
              <a:ext uri="{FF2B5EF4-FFF2-40B4-BE49-F238E27FC236}">
                <a16:creationId xmlns:a16="http://schemas.microsoft.com/office/drawing/2014/main" id="{967FE5C3-CCFB-5642-180B-3712A106B932}"/>
              </a:ext>
            </a:extLst>
          </p:cNvPr>
          <p:cNvSpPr>
            <a:spLocks noGrp="1"/>
          </p:cNvSpPr>
          <p:nvPr>
            <p:ph type="sldNum" sz="quarter" idx="12"/>
          </p:nvPr>
        </p:nvSpPr>
        <p:spPr/>
        <p:txBody>
          <a:bodyPr/>
          <a:lstStyle/>
          <a:p>
            <a:fld id="{336CAFD0-1F6E-4E11-9822-836563A02839}" type="slidenum">
              <a:rPr lang="es-ES" smtClean="0"/>
              <a:t>5</a:t>
            </a:fld>
            <a:endParaRPr lang="es-ES"/>
          </a:p>
        </p:txBody>
      </p:sp>
    </p:spTree>
    <p:extLst>
      <p:ext uri="{BB962C8B-B14F-4D97-AF65-F5344CB8AC3E}">
        <p14:creationId xmlns:p14="http://schemas.microsoft.com/office/powerpoint/2010/main" val="1577513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9C1B36-3157-4B6D-89FC-56D3ACE61ACA}"/>
              </a:ext>
            </a:extLst>
          </p:cNvPr>
          <p:cNvSpPr>
            <a:spLocks noGrp="1"/>
          </p:cNvSpPr>
          <p:nvPr>
            <p:ph type="title"/>
          </p:nvPr>
        </p:nvSpPr>
        <p:spPr/>
        <p:txBody>
          <a:bodyPr/>
          <a:lstStyle/>
          <a:p>
            <a:r>
              <a:rPr lang="es-ES" dirty="0"/>
              <a:t>2.</a:t>
            </a:r>
            <a:r>
              <a:rPr dirty="0"/>
              <a:t>2 </a:t>
            </a:r>
            <a:r>
              <a:rPr dirty="0" err="1"/>
              <a:t>Componentes</a:t>
            </a:r>
            <a:r>
              <a:rPr dirty="0"/>
              <a:t> </a:t>
            </a:r>
            <a:r>
              <a:rPr dirty="0" err="1"/>
              <a:t>principales</a:t>
            </a:r>
            <a:r>
              <a:rPr dirty="0"/>
              <a:t> de un </a:t>
            </a:r>
            <a:r>
              <a:rPr dirty="0" err="1"/>
              <a:t>sistema</a:t>
            </a:r>
            <a:r>
              <a:rPr dirty="0"/>
              <a:t> de </a:t>
            </a:r>
            <a:r>
              <a:rPr lang="es-ES" dirty="0"/>
              <a:t>cola</a:t>
            </a:r>
            <a:endParaRPr dirty="0"/>
          </a:p>
        </p:txBody>
      </p:sp>
      <p:sp>
        <p:nvSpPr>
          <p:cNvPr id="3" name="Marcador de contenido 2">
            <a:extLst>
              <a:ext uri="{FF2B5EF4-FFF2-40B4-BE49-F238E27FC236}">
                <a16:creationId xmlns:a16="http://schemas.microsoft.com/office/drawing/2014/main" id="{C7116F29-FF7B-4D57-9EEC-D13B51D24DF7}"/>
              </a:ext>
            </a:extLst>
          </p:cNvPr>
          <p:cNvSpPr>
            <a:spLocks noGrp="1"/>
          </p:cNvSpPr>
          <p:nvPr>
            <p:ph idx="1"/>
          </p:nvPr>
        </p:nvSpPr>
        <p:spPr>
          <a:xfrm>
            <a:off x="838199" y="1825625"/>
            <a:ext cx="6302829" cy="4771118"/>
          </a:xfrm>
        </p:spPr>
        <p:txBody>
          <a:bodyPr>
            <a:normAutofit fontScale="70000" lnSpcReduction="20000"/>
          </a:bodyPr>
          <a:lstStyle/>
          <a:p>
            <a:r>
              <a:rPr dirty="0" err="1"/>
              <a:t>Llegada</a:t>
            </a:r>
            <a:r>
              <a:rPr dirty="0"/>
              <a:t> de </a:t>
            </a:r>
            <a:r>
              <a:rPr dirty="0" err="1"/>
              <a:t>trabajo</a:t>
            </a:r>
            <a:r>
              <a:rPr lang="es-ES" dirty="0"/>
              <a:t>s</a:t>
            </a:r>
            <a:endParaRPr dirty="0"/>
          </a:p>
          <a:p>
            <a:pPr lvl="1"/>
            <a:r>
              <a:rPr dirty="0"/>
              <a:t>Por lo general, los </a:t>
            </a:r>
            <a:r>
              <a:rPr dirty="0" err="1"/>
              <a:t>trabajos</a:t>
            </a:r>
            <a:r>
              <a:rPr dirty="0"/>
              <a:t> </a:t>
            </a:r>
            <a:r>
              <a:rPr dirty="0" err="1"/>
              <a:t>llegan</a:t>
            </a:r>
            <a:r>
              <a:rPr dirty="0"/>
              <a:t> a un </a:t>
            </a:r>
            <a:r>
              <a:rPr dirty="0" err="1"/>
              <a:t>sistema</a:t>
            </a:r>
            <a:r>
              <a:rPr dirty="0"/>
              <a:t> de cola en </a:t>
            </a:r>
            <a:r>
              <a:rPr dirty="0" err="1"/>
              <a:t>momentos</a:t>
            </a:r>
            <a:r>
              <a:rPr dirty="0"/>
              <a:t> </a:t>
            </a:r>
            <a:r>
              <a:rPr dirty="0" err="1"/>
              <a:t>aleatorios</a:t>
            </a:r>
            <a:endParaRPr dirty="0"/>
          </a:p>
          <a:p>
            <a:r>
              <a:rPr dirty="0"/>
              <a:t>Cola (</a:t>
            </a:r>
            <a:r>
              <a:rPr dirty="0" err="1"/>
              <a:t>línea</a:t>
            </a:r>
            <a:r>
              <a:rPr dirty="0"/>
              <a:t> de </a:t>
            </a:r>
            <a:r>
              <a:rPr dirty="0" err="1"/>
              <a:t>espera</a:t>
            </a:r>
            <a:r>
              <a:rPr dirty="0"/>
              <a:t>)</a:t>
            </a:r>
          </a:p>
          <a:p>
            <a:pPr lvl="1"/>
            <a:r>
              <a:rPr dirty="0" err="1"/>
              <a:t>Cuando</a:t>
            </a:r>
            <a:r>
              <a:rPr dirty="0"/>
              <a:t> </a:t>
            </a:r>
            <a:r>
              <a:rPr dirty="0" err="1"/>
              <a:t>lleg</a:t>
            </a:r>
            <a:r>
              <a:rPr lang="es-ES" dirty="0"/>
              <a:t>a</a:t>
            </a:r>
            <a:r>
              <a:rPr dirty="0"/>
              <a:t> un nuevo </a:t>
            </a:r>
            <a:r>
              <a:rPr dirty="0" err="1"/>
              <a:t>trabajo</a:t>
            </a:r>
            <a:r>
              <a:rPr dirty="0"/>
              <a:t>, </a:t>
            </a:r>
            <a:r>
              <a:rPr dirty="0" err="1"/>
              <a:t>si</a:t>
            </a:r>
            <a:r>
              <a:rPr dirty="0"/>
              <a:t> un </a:t>
            </a:r>
            <a:r>
              <a:rPr dirty="0" err="1"/>
              <a:t>servidor</a:t>
            </a:r>
            <a:r>
              <a:rPr dirty="0"/>
              <a:t> </a:t>
            </a:r>
            <a:r>
              <a:rPr dirty="0" err="1"/>
              <a:t>está</a:t>
            </a:r>
            <a:r>
              <a:rPr dirty="0"/>
              <a:t> disponible en ese </a:t>
            </a:r>
            <a:r>
              <a:rPr dirty="0" err="1"/>
              <a:t>momento</a:t>
            </a:r>
            <a:r>
              <a:rPr dirty="0"/>
              <a:t>, </a:t>
            </a:r>
            <a:r>
              <a:rPr dirty="0" err="1"/>
              <a:t>tomará</a:t>
            </a:r>
            <a:r>
              <a:rPr dirty="0"/>
              <a:t> </a:t>
            </a:r>
            <a:r>
              <a:rPr dirty="0" err="1"/>
              <a:t>el</a:t>
            </a:r>
            <a:r>
              <a:rPr dirty="0"/>
              <a:t> nuevo </a:t>
            </a:r>
            <a:r>
              <a:rPr dirty="0" err="1"/>
              <a:t>trabajo</a:t>
            </a:r>
            <a:r>
              <a:rPr dirty="0"/>
              <a:t>; </a:t>
            </a:r>
          </a:p>
          <a:p>
            <a:pPr lvl="1"/>
            <a:r>
              <a:rPr dirty="0" err="1"/>
              <a:t>si</a:t>
            </a:r>
            <a:r>
              <a:rPr dirty="0"/>
              <a:t> </a:t>
            </a:r>
            <a:r>
              <a:rPr dirty="0" err="1"/>
              <a:t>todos</a:t>
            </a:r>
            <a:r>
              <a:rPr dirty="0"/>
              <a:t> los </a:t>
            </a:r>
            <a:r>
              <a:rPr dirty="0" err="1"/>
              <a:t>servidores</a:t>
            </a:r>
            <a:r>
              <a:rPr dirty="0"/>
              <a:t> </a:t>
            </a:r>
            <a:r>
              <a:rPr dirty="0" err="1"/>
              <a:t>están</a:t>
            </a:r>
            <a:r>
              <a:rPr dirty="0"/>
              <a:t> </a:t>
            </a:r>
            <a:r>
              <a:rPr dirty="0" err="1"/>
              <a:t>ocupados</a:t>
            </a:r>
            <a:r>
              <a:rPr dirty="0"/>
              <a:t> </a:t>
            </a:r>
            <a:r>
              <a:rPr lang="es-ES" dirty="0"/>
              <a:t>con </a:t>
            </a:r>
            <a:r>
              <a:rPr dirty="0" err="1"/>
              <a:t>otros</a:t>
            </a:r>
            <a:r>
              <a:rPr dirty="0"/>
              <a:t> </a:t>
            </a:r>
            <a:r>
              <a:rPr dirty="0" err="1"/>
              <a:t>trabajos</a:t>
            </a:r>
            <a:r>
              <a:rPr dirty="0"/>
              <a:t>, </a:t>
            </a:r>
            <a:r>
              <a:rPr dirty="0" err="1"/>
              <a:t>el</a:t>
            </a:r>
            <a:r>
              <a:rPr dirty="0"/>
              <a:t> nuevo </a:t>
            </a:r>
            <a:r>
              <a:rPr dirty="0" err="1"/>
              <a:t>trabajo</a:t>
            </a:r>
            <a:r>
              <a:rPr dirty="0"/>
              <a:t> se un</a:t>
            </a:r>
            <a:r>
              <a:rPr lang="es-ES" dirty="0"/>
              <a:t>e </a:t>
            </a:r>
            <a:r>
              <a:rPr dirty="0"/>
              <a:t>a la cola, </a:t>
            </a:r>
            <a:r>
              <a:rPr lang="es-ES" dirty="0"/>
              <a:t>y </a:t>
            </a:r>
            <a:r>
              <a:rPr dirty="0" err="1"/>
              <a:t>esper</a:t>
            </a:r>
            <a:r>
              <a:rPr lang="es-ES" dirty="0"/>
              <a:t>a</a:t>
            </a:r>
            <a:r>
              <a:rPr dirty="0"/>
              <a:t> hasta que se </a:t>
            </a:r>
            <a:r>
              <a:rPr dirty="0" err="1"/>
              <a:t>completen</a:t>
            </a:r>
            <a:r>
              <a:rPr dirty="0"/>
              <a:t> </a:t>
            </a:r>
            <a:r>
              <a:rPr dirty="0" err="1"/>
              <a:t>todos</a:t>
            </a:r>
            <a:r>
              <a:rPr dirty="0"/>
              <a:t> los </a:t>
            </a:r>
            <a:r>
              <a:rPr dirty="0" err="1"/>
              <a:t>trabajos</a:t>
            </a:r>
            <a:r>
              <a:rPr dirty="0"/>
              <a:t> </a:t>
            </a:r>
            <a:r>
              <a:rPr dirty="0" err="1"/>
              <a:t>previ</a:t>
            </a:r>
            <a:r>
              <a:rPr lang="es-ES" dirty="0"/>
              <a:t>o</a:t>
            </a:r>
            <a:r>
              <a:rPr dirty="0"/>
              <a:t>s.</a:t>
            </a:r>
          </a:p>
          <a:p>
            <a:r>
              <a:rPr dirty="0"/>
              <a:t>Servicio (</a:t>
            </a:r>
            <a:r>
              <a:rPr dirty="0" err="1"/>
              <a:t>servidores</a:t>
            </a:r>
            <a:r>
              <a:rPr dirty="0"/>
              <a:t>)</a:t>
            </a:r>
          </a:p>
          <a:p>
            <a:pPr lvl="1"/>
            <a:r>
              <a:rPr dirty="0"/>
              <a:t>Una </a:t>
            </a:r>
            <a:r>
              <a:rPr dirty="0" err="1"/>
              <a:t>vez</a:t>
            </a:r>
            <a:r>
              <a:rPr dirty="0"/>
              <a:t> que un </a:t>
            </a:r>
            <a:r>
              <a:rPr dirty="0" err="1"/>
              <a:t>servidor</a:t>
            </a:r>
            <a:r>
              <a:rPr dirty="0"/>
              <a:t> </a:t>
            </a:r>
            <a:r>
              <a:rPr dirty="0" err="1"/>
              <a:t>está</a:t>
            </a:r>
            <a:r>
              <a:rPr dirty="0"/>
              <a:t> disponible, </a:t>
            </a:r>
            <a:r>
              <a:rPr dirty="0" err="1"/>
              <a:t>inmediatamente</a:t>
            </a:r>
            <a:r>
              <a:rPr dirty="0"/>
              <a:t> </a:t>
            </a:r>
            <a:r>
              <a:rPr dirty="0" err="1"/>
              <a:t>comienza</a:t>
            </a:r>
            <a:r>
              <a:rPr dirty="0"/>
              <a:t> a </a:t>
            </a:r>
            <a:r>
              <a:rPr dirty="0" err="1"/>
              <a:t>procesar</a:t>
            </a:r>
            <a:r>
              <a:rPr dirty="0"/>
              <a:t> </a:t>
            </a:r>
            <a:r>
              <a:rPr dirty="0" err="1"/>
              <a:t>el</a:t>
            </a:r>
            <a:r>
              <a:rPr dirty="0"/>
              <a:t> </a:t>
            </a:r>
            <a:r>
              <a:rPr dirty="0" err="1"/>
              <a:t>siguiente</a:t>
            </a:r>
            <a:r>
              <a:rPr dirty="0"/>
              <a:t> </a:t>
            </a:r>
            <a:r>
              <a:rPr dirty="0" err="1"/>
              <a:t>trabajo</a:t>
            </a:r>
            <a:r>
              <a:rPr dirty="0"/>
              <a:t> </a:t>
            </a:r>
            <a:r>
              <a:rPr dirty="0" err="1"/>
              <a:t>asignado</a:t>
            </a:r>
            <a:endParaRPr dirty="0"/>
          </a:p>
          <a:p>
            <a:r>
              <a:rPr dirty="0"/>
              <a:t>Salida</a:t>
            </a:r>
          </a:p>
          <a:p>
            <a:pPr lvl="1"/>
            <a:r>
              <a:rPr dirty="0" err="1"/>
              <a:t>Cuando</a:t>
            </a:r>
            <a:r>
              <a:rPr dirty="0"/>
              <a:t> se </a:t>
            </a:r>
            <a:r>
              <a:rPr dirty="0" err="1"/>
              <a:t>completa</a:t>
            </a:r>
            <a:r>
              <a:rPr dirty="0"/>
              <a:t> </a:t>
            </a:r>
            <a:r>
              <a:rPr dirty="0" err="1"/>
              <a:t>el</a:t>
            </a:r>
            <a:r>
              <a:rPr dirty="0"/>
              <a:t> </a:t>
            </a:r>
            <a:r>
              <a:rPr dirty="0" err="1"/>
              <a:t>servicio</a:t>
            </a:r>
            <a:r>
              <a:rPr dirty="0"/>
              <a:t>, </a:t>
            </a:r>
            <a:r>
              <a:rPr dirty="0" err="1"/>
              <a:t>el</a:t>
            </a:r>
            <a:r>
              <a:rPr dirty="0"/>
              <a:t> </a:t>
            </a:r>
            <a:r>
              <a:rPr dirty="0" err="1"/>
              <a:t>trabajo</a:t>
            </a:r>
            <a:r>
              <a:rPr dirty="0"/>
              <a:t> </a:t>
            </a:r>
            <a:r>
              <a:rPr dirty="0" err="1"/>
              <a:t>abandona</a:t>
            </a:r>
            <a:r>
              <a:rPr dirty="0"/>
              <a:t> </a:t>
            </a:r>
            <a:r>
              <a:rPr dirty="0" err="1"/>
              <a:t>el</a:t>
            </a:r>
            <a:r>
              <a:rPr dirty="0"/>
              <a:t> </a:t>
            </a:r>
            <a:r>
              <a:rPr dirty="0" err="1"/>
              <a:t>sistema</a:t>
            </a:r>
            <a:endParaRPr dirty="0"/>
          </a:p>
          <a:p>
            <a:endParaRPr dirty="0"/>
          </a:p>
          <a:p>
            <a:r>
              <a:rPr dirty="0"/>
              <a:t>S</a:t>
            </a:r>
            <a:r>
              <a:rPr lang="es-ES" dirty="0"/>
              <a:t>ISTEMA DE COLA</a:t>
            </a:r>
            <a:r>
              <a:rPr dirty="0"/>
              <a:t> = </a:t>
            </a:r>
            <a:r>
              <a:rPr lang="es-ES" dirty="0"/>
              <a:t>C</a:t>
            </a:r>
            <a:r>
              <a:rPr dirty="0"/>
              <a:t>ola + </a:t>
            </a:r>
            <a:r>
              <a:rPr lang="es-ES" dirty="0"/>
              <a:t>S</a:t>
            </a:r>
            <a:r>
              <a:rPr dirty="0" err="1"/>
              <a:t>ervicio</a:t>
            </a:r>
            <a:endParaRPr dirty="0"/>
          </a:p>
        </p:txBody>
      </p:sp>
      <p:sp>
        <p:nvSpPr>
          <p:cNvPr id="4" name="Marcador de número de diapositiva 3">
            <a:extLst>
              <a:ext uri="{FF2B5EF4-FFF2-40B4-BE49-F238E27FC236}">
                <a16:creationId xmlns:a16="http://schemas.microsoft.com/office/drawing/2014/main" id="{2B55FF33-8809-A3BB-CBC5-77EC086CAD01}"/>
              </a:ext>
            </a:extLst>
          </p:cNvPr>
          <p:cNvSpPr>
            <a:spLocks noGrp="1"/>
          </p:cNvSpPr>
          <p:nvPr>
            <p:ph type="sldNum" sz="quarter" idx="12"/>
          </p:nvPr>
        </p:nvSpPr>
        <p:spPr/>
        <p:txBody>
          <a:bodyPr/>
          <a:lstStyle/>
          <a:p>
            <a:fld id="{336CAFD0-1F6E-4E11-9822-836563A02839}" type="slidenum">
              <a:rPr lang="es-ES" smtClean="0"/>
              <a:t>6</a:t>
            </a:fld>
            <a:endParaRPr lang="es-ES"/>
          </a:p>
        </p:txBody>
      </p:sp>
      <p:pic>
        <p:nvPicPr>
          <p:cNvPr id="8" name="Imagen 7">
            <a:extLst>
              <a:ext uri="{FF2B5EF4-FFF2-40B4-BE49-F238E27FC236}">
                <a16:creationId xmlns:a16="http://schemas.microsoft.com/office/drawing/2014/main" id="{84A53F9F-2A96-E229-7122-8C3276001EAA}"/>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244119" y="2427191"/>
            <a:ext cx="4765729" cy="2819723"/>
          </a:xfrm>
          <a:prstGeom prst="rect">
            <a:avLst/>
          </a:prstGeom>
        </p:spPr>
      </p:pic>
    </p:spTree>
    <p:extLst>
      <p:ext uri="{BB962C8B-B14F-4D97-AF65-F5344CB8AC3E}">
        <p14:creationId xmlns:p14="http://schemas.microsoft.com/office/powerpoint/2010/main" val="2214828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169BCA-8613-B3C8-8D8C-041D5EC922FC}"/>
              </a:ext>
            </a:extLst>
          </p:cNvPr>
          <p:cNvSpPr>
            <a:spLocks noGrp="1"/>
          </p:cNvSpPr>
          <p:nvPr>
            <p:ph type="title"/>
          </p:nvPr>
        </p:nvSpPr>
        <p:spPr/>
        <p:txBody>
          <a:bodyPr/>
          <a:lstStyle/>
          <a:p>
            <a:r>
              <a:rPr lang="es-ES" dirty="0"/>
              <a:t>2.</a:t>
            </a:r>
            <a:r>
              <a:rPr dirty="0"/>
              <a:t>3 </a:t>
            </a:r>
            <a:r>
              <a:rPr dirty="0" err="1"/>
              <a:t>Parámetros</a:t>
            </a:r>
            <a:r>
              <a:rPr dirty="0"/>
              <a:t> de un </a:t>
            </a:r>
            <a:r>
              <a:rPr dirty="0" err="1"/>
              <a:t>sistema</a:t>
            </a:r>
            <a:r>
              <a:rPr dirty="0"/>
              <a:t> de </a:t>
            </a:r>
            <a:r>
              <a:rPr lang="es-ES" dirty="0"/>
              <a:t>cola</a:t>
            </a:r>
            <a:endParaRPr dirty="0"/>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40A41581-4AA6-65D8-3EC4-2E55ACFA373E}"/>
                  </a:ext>
                </a:extLst>
              </p:cNvPr>
              <p:cNvGraphicFramePr>
                <a:graphicFrameLocks noGrp="1"/>
              </p:cNvGraphicFramePr>
              <p:nvPr>
                <p:ph idx="1"/>
                <p:extLst>
                  <p:ext uri="{D42A27DB-BD31-4B8C-83A1-F6EECF244321}">
                    <p14:modId xmlns:p14="http://schemas.microsoft.com/office/powerpoint/2010/main" val="2233471523"/>
                  </p:ext>
                </p:extLst>
              </p:nvPr>
            </p:nvGraphicFramePr>
            <p:xfrm>
              <a:off x="838200" y="1988457"/>
              <a:ext cx="10515600" cy="4255008"/>
            </p:xfrm>
            <a:graphic>
              <a:graphicData uri="http://schemas.openxmlformats.org/drawingml/2006/table">
                <a:tbl>
                  <a:tblPr firstRow="1" bandRow="1">
                    <a:tableStyleId>{5940675A-B579-460E-94D1-54222C63F5DA}</a:tableStyleId>
                  </a:tblPr>
                  <a:tblGrid>
                    <a:gridCol w="3603171">
                      <a:extLst>
                        <a:ext uri="{9D8B030D-6E8A-4147-A177-3AD203B41FA5}">
                          <a16:colId xmlns:a16="http://schemas.microsoft.com/office/drawing/2014/main" val="2046916569"/>
                        </a:ext>
                      </a:extLst>
                    </a:gridCol>
                    <a:gridCol w="6912429">
                      <a:extLst>
                        <a:ext uri="{9D8B030D-6E8A-4147-A177-3AD203B41FA5}">
                          <a16:colId xmlns:a16="http://schemas.microsoft.com/office/drawing/2014/main" val="3133704516"/>
                        </a:ext>
                      </a:extLst>
                    </a:gridCol>
                  </a:tblGrid>
                  <a:tr h="370840">
                    <a:tc>
                      <a:txBody>
                        <a:bodyPr/>
                        <a:lstStyle/>
                        <a:p>
                          <a:pPr algn="ctr">
                            <a:defRPr sz="2000" b="1"/>
                          </a:pPr>
                          <a:r>
                            <a:rPr dirty="0" err="1"/>
                            <a:t>Parámetro</a:t>
                          </a:r>
                          <a:endParaRPr sz="2000" b="1" dirty="0"/>
                        </a:p>
                      </a:txBody>
                      <a:tcPr>
                        <a:solidFill>
                          <a:schemeClr val="bg1">
                            <a:lumMod val="85000"/>
                          </a:schemeClr>
                        </a:solidFill>
                      </a:tcPr>
                    </a:tc>
                    <a:tc>
                      <a:txBody>
                        <a:bodyPr/>
                        <a:lstStyle/>
                        <a:p>
                          <a:pPr algn="ctr">
                            <a:defRPr sz="2000" b="1"/>
                          </a:pPr>
                          <a:r>
                            <a:t>Significado</a:t>
                          </a:r>
                          <a:endParaRPr sz="2000" b="1"/>
                        </a:p>
                      </a:txBody>
                      <a:tcPr>
                        <a:solidFill>
                          <a:schemeClr val="bg1">
                            <a:lumMod val="85000"/>
                          </a:schemeClr>
                        </a:solidFill>
                      </a:tcPr>
                    </a:tc>
                    <a:extLst>
                      <a:ext uri="{0D108BD9-81ED-4DB2-BD59-A6C34878D82A}">
                        <a16:rowId xmlns:a16="http://schemas.microsoft.com/office/drawing/2014/main" val="719268536"/>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𝜆</m:t>
                                    </m:r>
                                  </m:e>
                                  <m:sub>
                                    <m:r>
                                      <a:rPr lang="es-ES" sz="2000" b="0" i="1" smtClean="0">
                                        <a:latin typeface="Cambria Math" panose="02040503050406030204" pitchFamily="18" charset="0"/>
                                      </a:rPr>
                                      <m:t>𝐴</m:t>
                                    </m:r>
                                  </m:sub>
                                </m:sSub>
                              </m:oMath>
                            </m:oMathPara>
                          </a14:m>
                          <a:endParaRPr sz="2000" dirty="0"/>
                        </a:p>
                      </a:txBody>
                      <a:tcPr anchor="ctr"/>
                    </a:tc>
                    <a:tc>
                      <a:txBody>
                        <a:bodyPr/>
                        <a:lstStyle/>
                        <a:p>
                          <a:pPr>
                            <a:defRPr sz="2000"/>
                          </a:pPr>
                          <a:r>
                            <a:rPr dirty="0"/>
                            <a:t>Tasa de </a:t>
                          </a:r>
                          <a:r>
                            <a:rPr dirty="0" err="1"/>
                            <a:t>llegada</a:t>
                          </a:r>
                          <a:r>
                            <a:rPr lang="es-ES" dirty="0"/>
                            <a:t>s</a:t>
                          </a:r>
                          <a:endParaRPr dirty="0"/>
                        </a:p>
                        <a:p>
                          <a:pPr marL="342900" indent="-342900">
                            <a:buFont typeface="Arial" panose="020B0604020202020204" pitchFamily="34" charset="0"/>
                            <a:buChar char="•"/>
                            <a:defRPr sz="2000"/>
                          </a:pPr>
                          <a:r>
                            <a:rPr dirty="0"/>
                            <a:t> </a:t>
                          </a:r>
                          <a:r>
                            <a:rPr dirty="0" err="1"/>
                            <a:t>Número</a:t>
                          </a:r>
                          <a:r>
                            <a:rPr dirty="0"/>
                            <a:t> </a:t>
                          </a:r>
                          <a:r>
                            <a:rPr dirty="0" err="1"/>
                            <a:t>previsto</a:t>
                          </a:r>
                          <a:r>
                            <a:rPr dirty="0"/>
                            <a:t> de </a:t>
                          </a:r>
                          <a:r>
                            <a:rPr dirty="0" err="1"/>
                            <a:t>llegadas</a:t>
                          </a:r>
                          <a:r>
                            <a:rPr dirty="0"/>
                            <a:t> </a:t>
                          </a:r>
                          <a:r>
                            <a:rPr dirty="0" err="1"/>
                            <a:t>por</a:t>
                          </a:r>
                          <a:r>
                            <a:rPr dirty="0"/>
                            <a:t> </a:t>
                          </a:r>
                          <a:r>
                            <a:rPr dirty="0" err="1"/>
                            <a:t>unidad</a:t>
                          </a:r>
                          <a:r>
                            <a:rPr dirty="0"/>
                            <a:t> de </a:t>
                          </a:r>
                          <a:r>
                            <a:rPr dirty="0" err="1"/>
                            <a:t>tiempo</a:t>
                          </a:r>
                          <a:endParaRPr sz="2000" dirty="0"/>
                        </a:p>
                      </a:txBody>
                      <a:tcPr/>
                    </a:tc>
                    <a:extLst>
                      <a:ext uri="{0D108BD9-81ED-4DB2-BD59-A6C34878D82A}">
                        <a16:rowId xmlns:a16="http://schemas.microsoft.com/office/drawing/2014/main" val="1434577127"/>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𝜆</m:t>
                                    </m:r>
                                  </m:e>
                                  <m:sub>
                                    <m:r>
                                      <a:rPr lang="es-ES" sz="2000" b="0" i="1" smtClean="0">
                                        <a:latin typeface="Cambria Math" panose="02040503050406030204" pitchFamily="18" charset="0"/>
                                        <a:ea typeface="Cambria Math" panose="02040503050406030204" pitchFamily="18" charset="0"/>
                                      </a:rPr>
                                      <m:t>𝑆</m:t>
                                    </m:r>
                                  </m:sub>
                                </m:sSub>
                              </m:oMath>
                            </m:oMathPara>
                          </a14:m>
                          <a:endParaRPr sz="2000"/>
                        </a:p>
                      </a:txBody>
                      <a:tcPr anchor="ctr"/>
                    </a:tc>
                    <a:tc>
                      <a:txBody>
                        <a:bodyPr/>
                        <a:lstStyle/>
                        <a:p>
                          <a:pPr>
                            <a:defRPr sz="2000"/>
                          </a:pPr>
                          <a:r>
                            <a:rPr dirty="0"/>
                            <a:t>Ta</a:t>
                          </a:r>
                          <a:r>
                            <a:rPr lang="es-ES" dirty="0" err="1"/>
                            <a:t>sa</a:t>
                          </a:r>
                          <a:r>
                            <a:rPr dirty="0"/>
                            <a:t> de </a:t>
                          </a:r>
                          <a:r>
                            <a:rPr dirty="0" err="1"/>
                            <a:t>servicio</a:t>
                          </a:r>
                          <a:endParaRPr sz="2000" dirty="0"/>
                        </a:p>
                        <a:p>
                          <a:pPr marL="342900" indent="-342900">
                            <a:buFont typeface="Arial" panose="020B0604020202020204" pitchFamily="34" charset="0"/>
                            <a:buChar char="•"/>
                            <a:defRPr sz="2000"/>
                          </a:pPr>
                          <a:r>
                            <a:rPr dirty="0" err="1"/>
                            <a:t>Número</a:t>
                          </a:r>
                          <a:r>
                            <a:rPr dirty="0"/>
                            <a:t> medio de </a:t>
                          </a:r>
                          <a:r>
                            <a:rPr dirty="0" err="1"/>
                            <a:t>trabajos</a:t>
                          </a:r>
                          <a:r>
                            <a:rPr dirty="0"/>
                            <a:t> </a:t>
                          </a:r>
                          <a:r>
                            <a:rPr dirty="0" err="1"/>
                            <a:t>procesados</a:t>
                          </a:r>
                          <a:r>
                            <a:rPr dirty="0"/>
                            <a:t> </a:t>
                          </a:r>
                          <a:r>
                            <a:rPr dirty="0" err="1"/>
                            <a:t>por</a:t>
                          </a:r>
                          <a:r>
                            <a:rPr dirty="0"/>
                            <a:t> un </a:t>
                          </a:r>
                          <a:r>
                            <a:rPr dirty="0" err="1"/>
                            <a:t>servidor</a:t>
                          </a:r>
                          <a:r>
                            <a:rPr dirty="0"/>
                            <a:t> en </a:t>
                          </a:r>
                          <a:r>
                            <a:rPr dirty="0" err="1"/>
                            <a:t>funcionamiento</a:t>
                          </a:r>
                          <a:r>
                            <a:rPr dirty="0"/>
                            <a:t> continuo </a:t>
                          </a:r>
                          <a:r>
                            <a:rPr dirty="0" err="1"/>
                            <a:t>durante</a:t>
                          </a:r>
                          <a:r>
                            <a:rPr dirty="0"/>
                            <a:t> </a:t>
                          </a:r>
                          <a:r>
                            <a:rPr dirty="0" err="1"/>
                            <a:t>una</a:t>
                          </a:r>
                          <a:r>
                            <a:rPr dirty="0"/>
                            <a:t> </a:t>
                          </a:r>
                          <a:r>
                            <a:rPr dirty="0" err="1"/>
                            <a:t>unidad</a:t>
                          </a:r>
                          <a:r>
                            <a:rPr dirty="0"/>
                            <a:t> de </a:t>
                          </a:r>
                          <a:r>
                            <a:rPr dirty="0" err="1"/>
                            <a:t>tiempo</a:t>
                          </a:r>
                          <a:endParaRPr sz="2000" dirty="0"/>
                        </a:p>
                      </a:txBody>
                      <a:tcPr/>
                    </a:tc>
                    <a:extLst>
                      <a:ext uri="{0D108BD9-81ED-4DB2-BD59-A6C34878D82A}">
                        <a16:rowId xmlns:a16="http://schemas.microsoft.com/office/drawing/2014/main" val="34331209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lang="es-ES" sz="2000" i="1" smtClean="0">
                                        <a:latin typeface="Cambria Math" panose="02040503050406030204" pitchFamily="18" charset="0"/>
                                      </a:rPr>
                                    </m:ctrlPr>
                                  </m:sSubPr>
                                  <m:e>
                                    <m:r>
                                      <a:rPr lang="es-ES" sz="2000" i="1" smtClean="0">
                                        <a:latin typeface="Cambria Math" panose="02040503050406030204" pitchFamily="18" charset="0"/>
                                        <a:ea typeface="Cambria Math" panose="02040503050406030204" pitchFamily="18" charset="0"/>
                                      </a:rPr>
                                      <m:t>𝜇</m:t>
                                    </m:r>
                                  </m:e>
                                  <m:sub>
                                    <m:r>
                                      <a:rPr lang="es-ES" sz="2000" b="0" i="1" smtClean="0">
                                        <a:latin typeface="Cambria Math" panose="02040503050406030204" pitchFamily="18" charset="0"/>
                                      </a:rPr>
                                      <m:t>𝐴</m:t>
                                    </m:r>
                                  </m:sub>
                                </m:sSub>
                                <m:r>
                                  <a:rPr lang="es-ES" sz="2000" b="0" i="1" smtClean="0">
                                    <a:latin typeface="Cambria Math" panose="02040503050406030204" pitchFamily="18" charset="0"/>
                                  </a:rPr>
                                  <m:t>=</m:t>
                                </m:r>
                                <m:f>
                                  <m:fPr>
                                    <m:ctrlPr>
                                      <a:rPr lang="es-ES" sz="2000" b="0" i="1" smtClean="0">
                                        <a:latin typeface="Cambria Math" panose="02040503050406030204" pitchFamily="18" charset="0"/>
                                      </a:rPr>
                                    </m:ctrlPr>
                                  </m:fPr>
                                  <m:num>
                                    <m:r>
                                      <a:rPr lang="es-ES" sz="2000" b="0" i="1" smtClean="0">
                                        <a:latin typeface="Cambria Math" panose="02040503050406030204" pitchFamily="18" charset="0"/>
                                      </a:rPr>
                                      <m:t>1</m:t>
                                    </m:r>
                                  </m:num>
                                  <m:den>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𝜆</m:t>
                                        </m:r>
                                      </m:e>
                                      <m:sub>
                                        <m:r>
                                          <a:rPr lang="es-ES" sz="2000" b="0" i="1" smtClean="0">
                                            <a:latin typeface="Cambria Math" panose="02040503050406030204" pitchFamily="18" charset="0"/>
                                          </a:rPr>
                                          <m:t>𝐴</m:t>
                                        </m:r>
                                      </m:sub>
                                    </m:sSub>
                                  </m:den>
                                </m:f>
                              </m:oMath>
                            </m:oMathPara>
                          </a14:m>
                          <a:endParaRPr sz="2000"/>
                        </a:p>
                      </a:txBody>
                      <a:tcPr anchor="ctr"/>
                    </a:tc>
                    <a:tc>
                      <a:txBody>
                        <a:bodyPr/>
                        <a:lstStyle/>
                        <a:p>
                          <a:pPr>
                            <a:defRPr sz="2000"/>
                          </a:pPr>
                          <a:r>
                            <a:rPr dirty="0" err="1"/>
                            <a:t>Tiempo</a:t>
                          </a:r>
                          <a:r>
                            <a:rPr dirty="0"/>
                            <a:t> medio de </a:t>
                          </a:r>
                          <a:r>
                            <a:rPr dirty="0" err="1"/>
                            <a:t>llegada</a:t>
                          </a:r>
                          <a:r>
                            <a:rPr lang="es-ES" dirty="0"/>
                            <a:t>s</a:t>
                          </a:r>
                          <a:endParaRPr dirty="0"/>
                        </a:p>
                      </a:txBody>
                      <a:tcPr/>
                    </a:tc>
                    <a:extLst>
                      <a:ext uri="{0D108BD9-81ED-4DB2-BD59-A6C34878D82A}">
                        <a16:rowId xmlns:a16="http://schemas.microsoft.com/office/drawing/2014/main" val="1783800238"/>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s-ES" sz="2000" i="1" smtClean="0">
                                        <a:latin typeface="Cambria Math" panose="02040503050406030204" pitchFamily="18" charset="0"/>
                                      </a:rPr>
                                    </m:ctrlPr>
                                  </m:sSubPr>
                                  <m:e>
                                    <m:r>
                                      <a:rPr lang="es-ES" sz="2000" i="1" smtClean="0">
                                        <a:latin typeface="Cambria Math" panose="02040503050406030204" pitchFamily="18" charset="0"/>
                                        <a:ea typeface="Cambria Math" panose="02040503050406030204" pitchFamily="18" charset="0"/>
                                      </a:rPr>
                                      <m:t>𝜇</m:t>
                                    </m:r>
                                  </m:e>
                                  <m:sub>
                                    <m:r>
                                      <a:rPr lang="es-ES" sz="2000" b="0" i="1" smtClean="0">
                                        <a:latin typeface="Cambria Math" panose="02040503050406030204" pitchFamily="18" charset="0"/>
                                        <a:ea typeface="Cambria Math" panose="02040503050406030204" pitchFamily="18" charset="0"/>
                                      </a:rPr>
                                      <m:t>𝑆</m:t>
                                    </m:r>
                                  </m:sub>
                                </m:sSub>
                                <m:r>
                                  <a:rPr lang="es-ES" sz="2000" b="0" i="1" smtClean="0">
                                    <a:latin typeface="Cambria Math" panose="02040503050406030204" pitchFamily="18" charset="0"/>
                                  </a:rPr>
                                  <m:t>=</m:t>
                                </m:r>
                                <m:f>
                                  <m:fPr>
                                    <m:ctrlPr>
                                      <a:rPr lang="es-ES" sz="2000" b="0" i="1" smtClean="0">
                                        <a:latin typeface="Cambria Math" panose="02040503050406030204" pitchFamily="18" charset="0"/>
                                      </a:rPr>
                                    </m:ctrlPr>
                                  </m:fPr>
                                  <m:num>
                                    <m:r>
                                      <a:rPr lang="es-ES" sz="2000" b="0" i="1" smtClean="0">
                                        <a:latin typeface="Cambria Math" panose="02040503050406030204" pitchFamily="18" charset="0"/>
                                      </a:rPr>
                                      <m:t>1</m:t>
                                    </m:r>
                                  </m:num>
                                  <m:den>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𝜆</m:t>
                                        </m:r>
                                      </m:e>
                                      <m:sub>
                                        <m:r>
                                          <a:rPr lang="es-ES" sz="2000" b="0" i="1" smtClean="0">
                                            <a:latin typeface="Cambria Math" panose="02040503050406030204" pitchFamily="18" charset="0"/>
                                            <a:ea typeface="Cambria Math" panose="02040503050406030204" pitchFamily="18" charset="0"/>
                                          </a:rPr>
                                          <m:t>𝑆</m:t>
                                        </m:r>
                                      </m:sub>
                                    </m:sSub>
                                  </m:den>
                                </m:f>
                              </m:oMath>
                            </m:oMathPara>
                          </a14:m>
                          <a:endParaRPr sz="2000"/>
                        </a:p>
                      </a:txBody>
                      <a:tcPr anchor="ctr"/>
                    </a:tc>
                    <a:tc>
                      <a:txBody>
                        <a:bodyPr/>
                        <a:lstStyle/>
                        <a:p>
                          <a:pPr>
                            <a:defRPr sz="2000"/>
                          </a:pPr>
                          <a:r>
                            <a:t>Tiempo medio de servicio</a:t>
                          </a:r>
                        </a:p>
                      </a:txBody>
                      <a:tcPr/>
                    </a:tc>
                    <a:extLst>
                      <a:ext uri="{0D108BD9-81ED-4DB2-BD59-A6C34878D82A}">
                        <a16:rowId xmlns:a16="http://schemas.microsoft.com/office/drawing/2014/main" val="651109252"/>
                      </a:ext>
                    </a:extLst>
                  </a:tr>
                  <a:tr h="370840">
                    <a:tc>
                      <a:txBody>
                        <a:bodyPr/>
                        <a:lstStyle/>
                        <a:p>
                          <a:pPr/>
                          <a14:m>
                            <m:oMathPara xmlns:m="http://schemas.openxmlformats.org/officeDocument/2006/math">
                              <m:oMathParaPr>
                                <m:jc m:val="centerGroup"/>
                              </m:oMathParaPr>
                              <m:oMath xmlns:m="http://schemas.openxmlformats.org/officeDocument/2006/math">
                                <m:r>
                                  <a:rPr lang="es-ES" sz="2000" b="0" i="1" smtClean="0">
                                    <a:latin typeface="Cambria Math" panose="02040503050406030204" pitchFamily="18" charset="0"/>
                                  </a:rPr>
                                  <m:t>𝑟</m:t>
                                </m:r>
                                <m:r>
                                  <a:rPr lang="es-ES" sz="2000" b="0" i="1" smtClean="0">
                                    <a:latin typeface="Cambria Math" panose="02040503050406030204" pitchFamily="18" charset="0"/>
                                  </a:rPr>
                                  <m:t>=</m:t>
                                </m:r>
                                <m:f>
                                  <m:fPr>
                                    <m:ctrlPr>
                                      <a:rPr lang="es-ES" sz="2000" b="0" i="1" smtClean="0">
                                        <a:latin typeface="Cambria Math" panose="02040503050406030204" pitchFamily="18" charset="0"/>
                                      </a:rPr>
                                    </m:ctrlPr>
                                  </m:fPr>
                                  <m:num>
                                    <m:sSub>
                                      <m:sSubPr>
                                        <m:ctrlPr>
                                          <a:rPr lang="es-ES" sz="2000" i="1">
                                            <a:latin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𝜆</m:t>
                                        </m:r>
                                      </m:e>
                                      <m:sub>
                                        <m:r>
                                          <a:rPr lang="es-ES" sz="2000" b="0" i="1" smtClean="0">
                                            <a:latin typeface="Cambria Math" panose="02040503050406030204" pitchFamily="18" charset="0"/>
                                            <a:ea typeface="Cambria Math" panose="02040503050406030204" pitchFamily="18" charset="0"/>
                                          </a:rPr>
                                          <m:t>𝐴</m:t>
                                        </m:r>
                                      </m:sub>
                                    </m:sSub>
                                  </m:num>
                                  <m:den>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𝜆</m:t>
                                        </m:r>
                                      </m:e>
                                      <m:sub>
                                        <m:r>
                                          <a:rPr lang="es-ES" sz="2000" b="0" i="1" smtClean="0">
                                            <a:latin typeface="Cambria Math" panose="02040503050406030204" pitchFamily="18" charset="0"/>
                                            <a:ea typeface="Cambria Math" panose="02040503050406030204" pitchFamily="18" charset="0"/>
                                          </a:rPr>
                                          <m:t>𝑆</m:t>
                                        </m:r>
                                      </m:sub>
                                    </m:sSub>
                                  </m:den>
                                </m:f>
                                <m:r>
                                  <a:rPr lang="es-ES" sz="2000" b="0" i="1" smtClean="0">
                                    <a:latin typeface="Cambria Math" panose="02040503050406030204" pitchFamily="18" charset="0"/>
                                    <a:ea typeface="Cambria Math" panose="02040503050406030204" pitchFamily="18" charset="0"/>
                                  </a:rPr>
                                  <m:t>=</m:t>
                                </m:r>
                                <m:f>
                                  <m:fPr>
                                    <m:ctrlPr>
                                      <a:rPr lang="es-ES" sz="2000" i="1">
                                        <a:latin typeface="Cambria Math" panose="02040503050406030204" pitchFamily="18" charset="0"/>
                                      </a:rPr>
                                    </m:ctrlPr>
                                  </m:fPr>
                                  <m:num>
                                    <m:sSub>
                                      <m:sSubPr>
                                        <m:ctrlPr>
                                          <a:rPr lang="es-ES" sz="2000" i="1">
                                            <a:latin typeface="Cambria Math" panose="02040503050406030204" pitchFamily="18" charset="0"/>
                                          </a:rPr>
                                        </m:ctrlPr>
                                      </m:sSubPr>
                                      <m:e>
                                        <m:r>
                                          <a:rPr lang="es-ES" sz="2000" i="1" smtClean="0">
                                            <a:latin typeface="Cambria Math" panose="02040503050406030204" pitchFamily="18" charset="0"/>
                                            <a:ea typeface="Cambria Math" panose="02040503050406030204" pitchFamily="18" charset="0"/>
                                          </a:rPr>
                                          <m:t>𝜇</m:t>
                                        </m:r>
                                      </m:e>
                                      <m:sub>
                                        <m:r>
                                          <a:rPr lang="es-ES" sz="2000" b="0" i="1" smtClean="0">
                                            <a:latin typeface="Cambria Math" panose="02040503050406030204" pitchFamily="18" charset="0"/>
                                            <a:ea typeface="Cambria Math" panose="02040503050406030204" pitchFamily="18" charset="0"/>
                                          </a:rPr>
                                          <m:t>𝑆</m:t>
                                        </m:r>
                                      </m:sub>
                                    </m:sSub>
                                  </m:num>
                                  <m:den>
                                    <m:sSub>
                                      <m:sSubPr>
                                        <m:ctrlPr>
                                          <a:rPr lang="es-ES" sz="2000" i="1">
                                            <a:latin typeface="Cambria Math" panose="02040503050406030204" pitchFamily="18" charset="0"/>
                                          </a:rPr>
                                        </m:ctrlPr>
                                      </m:sSubPr>
                                      <m:e>
                                        <m:r>
                                          <a:rPr lang="es-ES" sz="2000" i="1" smtClean="0">
                                            <a:latin typeface="Cambria Math" panose="02040503050406030204" pitchFamily="18" charset="0"/>
                                            <a:ea typeface="Cambria Math" panose="02040503050406030204" pitchFamily="18" charset="0"/>
                                          </a:rPr>
                                          <m:t>𝜇</m:t>
                                        </m:r>
                                      </m:e>
                                      <m:sub>
                                        <m:r>
                                          <a:rPr lang="es-ES" sz="2000" b="0" i="1" smtClean="0">
                                            <a:latin typeface="Cambria Math" panose="02040503050406030204" pitchFamily="18" charset="0"/>
                                            <a:ea typeface="Cambria Math" panose="02040503050406030204" pitchFamily="18" charset="0"/>
                                          </a:rPr>
                                          <m:t>𝐴</m:t>
                                        </m:r>
                                      </m:sub>
                                    </m:sSub>
                                  </m:den>
                                </m:f>
                              </m:oMath>
                            </m:oMathPara>
                          </a14:m>
                          <a:endParaRPr sz="2000"/>
                        </a:p>
                      </a:txBody>
                      <a:tcPr anchor="ctr"/>
                    </a:tc>
                    <a:tc>
                      <a:txBody>
                        <a:bodyPr/>
                        <a:lstStyle/>
                        <a:p>
                          <a:pPr>
                            <a:defRPr sz="2000"/>
                          </a:pPr>
                          <a:r>
                            <a:rPr lang="es-ES" dirty="0"/>
                            <a:t>Factor de utilización del sistema</a:t>
                          </a:r>
                          <a:endParaRPr dirty="0"/>
                        </a:p>
                      </a:txBody>
                      <a:tcPr/>
                    </a:tc>
                    <a:extLst>
                      <a:ext uri="{0D108BD9-81ED-4DB2-BD59-A6C34878D82A}">
                        <a16:rowId xmlns:a16="http://schemas.microsoft.com/office/drawing/2014/main" val="504392081"/>
                      </a:ext>
                    </a:extLst>
                  </a:tr>
                </a:tbl>
              </a:graphicData>
            </a:graphic>
          </p:graphicFrame>
        </mc:Choice>
        <mc:Fallback xmlns="">
          <p:graphicFrame>
            <p:nvGraphicFramePr>
              <p:cNvPr id="5" name="Tabla 5">
                <a:extLst>
                  <a:ext uri="{FF2B5EF4-FFF2-40B4-BE49-F238E27FC236}">
                    <a16:creationId xmlns:a16="http://schemas.microsoft.com/office/drawing/2014/main" id="{40A41581-4AA6-65D8-3EC4-2E55ACFA373E}"/>
                  </a:ext>
                </a:extLst>
              </p:cNvPr>
              <p:cNvGraphicFramePr>
                <a:graphicFrameLocks noGrp="1"/>
              </p:cNvGraphicFramePr>
              <p:nvPr>
                <p:ph idx="1"/>
                <p:extLst>
                  <p:ext uri="{D42A27DB-BD31-4B8C-83A1-F6EECF244321}">
                    <p14:modId xmlns:p14="http://schemas.microsoft.com/office/powerpoint/2010/main" val="2233471523"/>
                  </p:ext>
                </p:extLst>
              </p:nvPr>
            </p:nvGraphicFramePr>
            <p:xfrm>
              <a:off x="838200" y="1988457"/>
              <a:ext cx="10515600" cy="4255008"/>
            </p:xfrm>
            <a:graphic>
              <a:graphicData uri="http://schemas.openxmlformats.org/drawingml/2006/table">
                <a:tbl>
                  <a:tblPr firstRow="1" bandRow="1">
                    <a:tableStyleId>{5940675A-B579-460E-94D1-54222C63F5DA}</a:tableStyleId>
                  </a:tblPr>
                  <a:tblGrid>
                    <a:gridCol w="3603171">
                      <a:extLst>
                        <a:ext uri="{9D8B030D-6E8A-4147-A177-3AD203B41FA5}">
                          <a16:colId xmlns:a16="http://schemas.microsoft.com/office/drawing/2014/main" val="2046916569"/>
                        </a:ext>
                      </a:extLst>
                    </a:gridCol>
                    <a:gridCol w="6912429">
                      <a:extLst>
                        <a:ext uri="{9D8B030D-6E8A-4147-A177-3AD203B41FA5}">
                          <a16:colId xmlns:a16="http://schemas.microsoft.com/office/drawing/2014/main" val="3133704516"/>
                        </a:ext>
                      </a:extLst>
                    </a:gridCol>
                  </a:tblGrid>
                  <a:tr h="396240">
                    <a:tc>
                      <a:txBody>
                        <a:bodyPr/>
                        <a:lstStyle/>
                        <a:p>
                          <a:pPr algn="ctr">
                            <a:defRPr sz="2000" b="1"/>
                          </a:pPr>
                          <a:r>
                            <a:rPr dirty="0" err="1"/>
                            <a:t>Parámetro</a:t>
                          </a:r>
                          <a:endParaRPr sz="2000" b="1" dirty="0"/>
                        </a:p>
                      </a:txBody>
                      <a:tcPr>
                        <a:solidFill>
                          <a:schemeClr val="bg1">
                            <a:lumMod val="85000"/>
                          </a:schemeClr>
                        </a:solidFill>
                      </a:tcPr>
                    </a:tc>
                    <a:tc>
                      <a:txBody>
                        <a:bodyPr/>
                        <a:lstStyle/>
                        <a:p>
                          <a:pPr algn="ctr">
                            <a:defRPr sz="2000" b="1"/>
                          </a:pPr>
                          <a:r>
                            <a:t>Significado</a:t>
                          </a:r>
                          <a:endParaRPr sz="2000" b="1"/>
                        </a:p>
                      </a:txBody>
                      <a:tcPr>
                        <a:solidFill>
                          <a:schemeClr val="bg1">
                            <a:lumMod val="85000"/>
                          </a:schemeClr>
                        </a:solidFill>
                      </a:tcPr>
                    </a:tc>
                    <a:extLst>
                      <a:ext uri="{0D108BD9-81ED-4DB2-BD59-A6C34878D82A}">
                        <a16:rowId xmlns:a16="http://schemas.microsoft.com/office/drawing/2014/main" val="719268536"/>
                      </a:ext>
                    </a:extLst>
                  </a:tr>
                  <a:tr h="701040">
                    <a:tc>
                      <a:txBody>
                        <a:bodyPr/>
                        <a:lstStyle/>
                        <a:p>
                          <a:endParaRPr lang="es-ES"/>
                        </a:p>
                      </a:txBody>
                      <a:tcPr anchor="ctr">
                        <a:blipFill>
                          <a:blip r:embed="rId2"/>
                          <a:stretch>
                            <a:fillRect l="-169" t="-60870" r="-192386" b="-453043"/>
                          </a:stretch>
                        </a:blipFill>
                      </a:tcPr>
                    </a:tc>
                    <a:tc>
                      <a:txBody>
                        <a:bodyPr/>
                        <a:lstStyle/>
                        <a:p>
                          <a:pPr>
                            <a:defRPr sz="2000"/>
                          </a:pPr>
                          <a:r>
                            <a:rPr dirty="0"/>
                            <a:t>Tasa de </a:t>
                          </a:r>
                          <a:r>
                            <a:rPr dirty="0" err="1"/>
                            <a:t>llegada</a:t>
                          </a:r>
                          <a:r>
                            <a:rPr lang="es-ES" dirty="0"/>
                            <a:t>s</a:t>
                          </a:r>
                          <a:endParaRPr dirty="0"/>
                        </a:p>
                        <a:p>
                          <a:pPr marL="342900" indent="-342900">
                            <a:buFont typeface="Arial" panose="020B0604020202020204" pitchFamily="34" charset="0"/>
                            <a:buChar char="•"/>
                            <a:defRPr sz="2000"/>
                          </a:pPr>
                          <a:r>
                            <a:rPr dirty="0"/>
                            <a:t> </a:t>
                          </a:r>
                          <a:r>
                            <a:rPr dirty="0" err="1"/>
                            <a:t>Número</a:t>
                          </a:r>
                          <a:r>
                            <a:rPr dirty="0"/>
                            <a:t> </a:t>
                          </a:r>
                          <a:r>
                            <a:rPr dirty="0" err="1"/>
                            <a:t>previsto</a:t>
                          </a:r>
                          <a:r>
                            <a:rPr dirty="0"/>
                            <a:t> de </a:t>
                          </a:r>
                          <a:r>
                            <a:rPr dirty="0" err="1"/>
                            <a:t>llegadas</a:t>
                          </a:r>
                          <a:r>
                            <a:rPr dirty="0"/>
                            <a:t> </a:t>
                          </a:r>
                          <a:r>
                            <a:rPr dirty="0" err="1"/>
                            <a:t>por</a:t>
                          </a:r>
                          <a:r>
                            <a:rPr dirty="0"/>
                            <a:t> </a:t>
                          </a:r>
                          <a:r>
                            <a:rPr dirty="0" err="1"/>
                            <a:t>unidad</a:t>
                          </a:r>
                          <a:r>
                            <a:rPr dirty="0"/>
                            <a:t> de </a:t>
                          </a:r>
                          <a:r>
                            <a:rPr dirty="0" err="1"/>
                            <a:t>tiempo</a:t>
                          </a:r>
                          <a:endParaRPr sz="2000" dirty="0"/>
                        </a:p>
                      </a:txBody>
                      <a:tcPr/>
                    </a:tc>
                    <a:extLst>
                      <a:ext uri="{0D108BD9-81ED-4DB2-BD59-A6C34878D82A}">
                        <a16:rowId xmlns:a16="http://schemas.microsoft.com/office/drawing/2014/main" val="1434577127"/>
                      </a:ext>
                    </a:extLst>
                  </a:tr>
                  <a:tr h="1005840">
                    <a:tc>
                      <a:txBody>
                        <a:bodyPr/>
                        <a:lstStyle/>
                        <a:p>
                          <a:endParaRPr lang="es-ES"/>
                        </a:p>
                      </a:txBody>
                      <a:tcPr anchor="ctr">
                        <a:blipFill>
                          <a:blip r:embed="rId2"/>
                          <a:stretch>
                            <a:fillRect l="-169" t="-112121" r="-192386" b="-215758"/>
                          </a:stretch>
                        </a:blipFill>
                      </a:tcPr>
                    </a:tc>
                    <a:tc>
                      <a:txBody>
                        <a:bodyPr/>
                        <a:lstStyle/>
                        <a:p>
                          <a:pPr>
                            <a:defRPr sz="2000"/>
                          </a:pPr>
                          <a:r>
                            <a:rPr dirty="0"/>
                            <a:t>Ta</a:t>
                          </a:r>
                          <a:r>
                            <a:rPr lang="es-ES" dirty="0" err="1"/>
                            <a:t>sa</a:t>
                          </a:r>
                          <a:r>
                            <a:rPr dirty="0"/>
                            <a:t> de </a:t>
                          </a:r>
                          <a:r>
                            <a:rPr dirty="0" err="1"/>
                            <a:t>servicio</a:t>
                          </a:r>
                          <a:endParaRPr sz="2000" dirty="0"/>
                        </a:p>
                        <a:p>
                          <a:pPr marL="342900" indent="-342900">
                            <a:buFont typeface="Arial" panose="020B0604020202020204" pitchFamily="34" charset="0"/>
                            <a:buChar char="•"/>
                            <a:defRPr sz="2000"/>
                          </a:pPr>
                          <a:r>
                            <a:rPr dirty="0" err="1"/>
                            <a:t>Número</a:t>
                          </a:r>
                          <a:r>
                            <a:rPr dirty="0"/>
                            <a:t> medio de </a:t>
                          </a:r>
                          <a:r>
                            <a:rPr dirty="0" err="1"/>
                            <a:t>trabajos</a:t>
                          </a:r>
                          <a:r>
                            <a:rPr dirty="0"/>
                            <a:t> </a:t>
                          </a:r>
                          <a:r>
                            <a:rPr dirty="0" err="1"/>
                            <a:t>procesados</a:t>
                          </a:r>
                          <a:r>
                            <a:rPr dirty="0"/>
                            <a:t> </a:t>
                          </a:r>
                          <a:r>
                            <a:rPr dirty="0" err="1"/>
                            <a:t>por</a:t>
                          </a:r>
                          <a:r>
                            <a:rPr dirty="0"/>
                            <a:t> un </a:t>
                          </a:r>
                          <a:r>
                            <a:rPr dirty="0" err="1"/>
                            <a:t>servidor</a:t>
                          </a:r>
                          <a:r>
                            <a:rPr dirty="0"/>
                            <a:t> en </a:t>
                          </a:r>
                          <a:r>
                            <a:rPr dirty="0" err="1"/>
                            <a:t>funcionamiento</a:t>
                          </a:r>
                          <a:r>
                            <a:rPr dirty="0"/>
                            <a:t> continuo </a:t>
                          </a:r>
                          <a:r>
                            <a:rPr dirty="0" err="1"/>
                            <a:t>durante</a:t>
                          </a:r>
                          <a:r>
                            <a:rPr dirty="0"/>
                            <a:t> </a:t>
                          </a:r>
                          <a:r>
                            <a:rPr dirty="0" err="1"/>
                            <a:t>una</a:t>
                          </a:r>
                          <a:r>
                            <a:rPr dirty="0"/>
                            <a:t> </a:t>
                          </a:r>
                          <a:r>
                            <a:rPr dirty="0" err="1"/>
                            <a:t>unidad</a:t>
                          </a:r>
                          <a:r>
                            <a:rPr dirty="0"/>
                            <a:t> de </a:t>
                          </a:r>
                          <a:r>
                            <a:rPr dirty="0" err="1"/>
                            <a:t>tiempo</a:t>
                          </a:r>
                          <a:endParaRPr sz="2000" dirty="0"/>
                        </a:p>
                      </a:txBody>
                      <a:tcPr/>
                    </a:tc>
                    <a:extLst>
                      <a:ext uri="{0D108BD9-81ED-4DB2-BD59-A6C34878D82A}">
                        <a16:rowId xmlns:a16="http://schemas.microsoft.com/office/drawing/2014/main" val="3433120924"/>
                      </a:ext>
                    </a:extLst>
                  </a:tr>
                  <a:tr h="713867">
                    <a:tc>
                      <a:txBody>
                        <a:bodyPr/>
                        <a:lstStyle/>
                        <a:p>
                          <a:endParaRPr lang="es-ES"/>
                        </a:p>
                      </a:txBody>
                      <a:tcPr anchor="ctr">
                        <a:blipFill>
                          <a:blip r:embed="rId2"/>
                          <a:stretch>
                            <a:fillRect l="-169" t="-296610" r="-192386" b="-201695"/>
                          </a:stretch>
                        </a:blipFill>
                      </a:tcPr>
                    </a:tc>
                    <a:tc>
                      <a:txBody>
                        <a:bodyPr/>
                        <a:lstStyle/>
                        <a:p>
                          <a:pPr>
                            <a:defRPr sz="2000"/>
                          </a:pPr>
                          <a:r>
                            <a:rPr dirty="0" err="1"/>
                            <a:t>Tiempo</a:t>
                          </a:r>
                          <a:r>
                            <a:rPr dirty="0"/>
                            <a:t> medio de </a:t>
                          </a:r>
                          <a:r>
                            <a:rPr dirty="0" err="1"/>
                            <a:t>llegada</a:t>
                          </a:r>
                          <a:r>
                            <a:rPr lang="es-ES" dirty="0"/>
                            <a:t>s</a:t>
                          </a:r>
                          <a:endParaRPr dirty="0"/>
                        </a:p>
                      </a:txBody>
                      <a:tcPr/>
                    </a:tc>
                    <a:extLst>
                      <a:ext uri="{0D108BD9-81ED-4DB2-BD59-A6C34878D82A}">
                        <a16:rowId xmlns:a16="http://schemas.microsoft.com/office/drawing/2014/main" val="1783800238"/>
                      </a:ext>
                    </a:extLst>
                  </a:tr>
                  <a:tr h="715899">
                    <a:tc>
                      <a:txBody>
                        <a:bodyPr/>
                        <a:lstStyle/>
                        <a:p>
                          <a:endParaRPr lang="es-ES"/>
                        </a:p>
                      </a:txBody>
                      <a:tcPr anchor="ctr">
                        <a:blipFill>
                          <a:blip r:embed="rId2"/>
                          <a:stretch>
                            <a:fillRect l="-169" t="-400000" r="-192386" b="-103419"/>
                          </a:stretch>
                        </a:blipFill>
                      </a:tcPr>
                    </a:tc>
                    <a:tc>
                      <a:txBody>
                        <a:bodyPr/>
                        <a:lstStyle/>
                        <a:p>
                          <a:pPr>
                            <a:defRPr sz="2000"/>
                          </a:pPr>
                          <a:r>
                            <a:t>Tiempo medio de servicio</a:t>
                          </a:r>
                        </a:p>
                      </a:txBody>
                      <a:tcPr/>
                    </a:tc>
                    <a:extLst>
                      <a:ext uri="{0D108BD9-81ED-4DB2-BD59-A6C34878D82A}">
                        <a16:rowId xmlns:a16="http://schemas.microsoft.com/office/drawing/2014/main" val="651109252"/>
                      </a:ext>
                    </a:extLst>
                  </a:tr>
                  <a:tr h="722122">
                    <a:tc>
                      <a:txBody>
                        <a:bodyPr/>
                        <a:lstStyle/>
                        <a:p>
                          <a:endParaRPr lang="es-ES"/>
                        </a:p>
                      </a:txBody>
                      <a:tcPr anchor="ctr">
                        <a:blipFill>
                          <a:blip r:embed="rId2"/>
                          <a:stretch>
                            <a:fillRect l="-169" t="-491597" r="-192386" b="-1681"/>
                          </a:stretch>
                        </a:blipFill>
                      </a:tcPr>
                    </a:tc>
                    <a:tc>
                      <a:txBody>
                        <a:bodyPr/>
                        <a:lstStyle/>
                        <a:p>
                          <a:pPr>
                            <a:defRPr sz="2000"/>
                          </a:pPr>
                          <a:r>
                            <a:rPr lang="es-ES" dirty="0"/>
                            <a:t>Factor de utilización del sistema</a:t>
                          </a:r>
                          <a:endParaRPr dirty="0"/>
                        </a:p>
                      </a:txBody>
                      <a:tcPr/>
                    </a:tc>
                    <a:extLst>
                      <a:ext uri="{0D108BD9-81ED-4DB2-BD59-A6C34878D82A}">
                        <a16:rowId xmlns:a16="http://schemas.microsoft.com/office/drawing/2014/main" val="504392081"/>
                      </a:ext>
                    </a:extLst>
                  </a:tr>
                </a:tbl>
              </a:graphicData>
            </a:graphic>
          </p:graphicFrame>
        </mc:Fallback>
      </mc:AlternateContent>
      <p:sp>
        <p:nvSpPr>
          <p:cNvPr id="4" name="Marcador de número de diapositiva 3">
            <a:extLst>
              <a:ext uri="{FF2B5EF4-FFF2-40B4-BE49-F238E27FC236}">
                <a16:creationId xmlns:a16="http://schemas.microsoft.com/office/drawing/2014/main" id="{AC25A068-4E53-1E6C-E824-3142C024604D}"/>
              </a:ext>
            </a:extLst>
          </p:cNvPr>
          <p:cNvSpPr>
            <a:spLocks noGrp="1"/>
          </p:cNvSpPr>
          <p:nvPr>
            <p:ph type="sldNum" sz="quarter" idx="12"/>
          </p:nvPr>
        </p:nvSpPr>
        <p:spPr/>
        <p:txBody>
          <a:bodyPr/>
          <a:lstStyle/>
          <a:p>
            <a:fld id="{336CAFD0-1F6E-4E11-9822-836563A02839}" type="slidenum">
              <a:rPr lang="es-ES" smtClean="0"/>
              <a:t>7</a:t>
            </a:fld>
            <a:endParaRPr lang="es-ES"/>
          </a:p>
        </p:txBody>
      </p:sp>
    </p:spTree>
    <p:extLst>
      <p:ext uri="{BB962C8B-B14F-4D97-AF65-F5344CB8AC3E}">
        <p14:creationId xmlns:p14="http://schemas.microsoft.com/office/powerpoint/2010/main" val="1199778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169BCA-8613-B3C8-8D8C-041D5EC922FC}"/>
              </a:ext>
            </a:extLst>
          </p:cNvPr>
          <p:cNvSpPr>
            <a:spLocks noGrp="1"/>
          </p:cNvSpPr>
          <p:nvPr>
            <p:ph type="title"/>
          </p:nvPr>
        </p:nvSpPr>
        <p:spPr/>
        <p:txBody>
          <a:bodyPr/>
          <a:lstStyle/>
          <a:p>
            <a:r>
              <a:rPr lang="es-ES" dirty="0"/>
              <a:t>2.</a:t>
            </a:r>
            <a:r>
              <a:rPr dirty="0"/>
              <a:t>4 Variables </a:t>
            </a:r>
            <a:r>
              <a:rPr dirty="0" err="1"/>
              <a:t>aleatorias</a:t>
            </a:r>
            <a:r>
              <a:rPr dirty="0"/>
              <a:t> </a:t>
            </a:r>
            <a:r>
              <a:rPr lang="es-ES" dirty="0"/>
              <a:t>en</a:t>
            </a:r>
            <a:r>
              <a:rPr dirty="0"/>
              <a:t> un </a:t>
            </a:r>
            <a:r>
              <a:rPr dirty="0" err="1"/>
              <a:t>sistema</a:t>
            </a:r>
            <a:r>
              <a:rPr dirty="0"/>
              <a:t> de </a:t>
            </a:r>
            <a:r>
              <a:rPr lang="es-ES" dirty="0"/>
              <a:t>cola</a:t>
            </a:r>
            <a:endParaRPr dirty="0"/>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40A41581-4AA6-65D8-3EC4-2E55ACFA373E}"/>
                  </a:ext>
                </a:extLst>
              </p:cNvPr>
              <p:cNvGraphicFramePr>
                <a:graphicFrameLocks noGrp="1"/>
              </p:cNvGraphicFramePr>
              <p:nvPr>
                <p:ph idx="1"/>
                <p:extLst>
                  <p:ext uri="{D42A27DB-BD31-4B8C-83A1-F6EECF244321}">
                    <p14:modId xmlns:p14="http://schemas.microsoft.com/office/powerpoint/2010/main" val="64660074"/>
                  </p:ext>
                </p:extLst>
              </p:nvPr>
            </p:nvGraphicFramePr>
            <p:xfrm>
              <a:off x="838200" y="1988457"/>
              <a:ext cx="10515601" cy="3992880"/>
            </p:xfrm>
            <a:graphic>
              <a:graphicData uri="http://schemas.openxmlformats.org/drawingml/2006/table">
                <a:tbl>
                  <a:tblPr firstRow="1" bandRow="1">
                    <a:tableStyleId>{5940675A-B579-460E-94D1-54222C63F5DA}</a:tableStyleId>
                  </a:tblPr>
                  <a:tblGrid>
                    <a:gridCol w="2895601">
                      <a:extLst>
                        <a:ext uri="{9D8B030D-6E8A-4147-A177-3AD203B41FA5}">
                          <a16:colId xmlns:a16="http://schemas.microsoft.com/office/drawing/2014/main" val="2046916569"/>
                        </a:ext>
                      </a:extLst>
                    </a:gridCol>
                    <a:gridCol w="7620000">
                      <a:extLst>
                        <a:ext uri="{9D8B030D-6E8A-4147-A177-3AD203B41FA5}">
                          <a16:colId xmlns:a16="http://schemas.microsoft.com/office/drawing/2014/main" val="3133704516"/>
                        </a:ext>
                      </a:extLst>
                    </a:gridCol>
                  </a:tblGrid>
                  <a:tr h="370840">
                    <a:tc>
                      <a:txBody>
                        <a:bodyPr/>
                        <a:lstStyle/>
                        <a:p>
                          <a:pPr algn="ctr">
                            <a:defRPr sz="2000" b="1"/>
                          </a:pPr>
                          <a:r>
                            <a:t>Variable</a:t>
                          </a:r>
                        </a:p>
                      </a:txBody>
                      <a:tcPr>
                        <a:solidFill>
                          <a:schemeClr val="bg1">
                            <a:lumMod val="85000"/>
                          </a:schemeClr>
                        </a:solidFill>
                      </a:tcPr>
                    </a:tc>
                    <a:tc>
                      <a:txBody>
                        <a:bodyPr/>
                        <a:lstStyle/>
                        <a:p>
                          <a:pPr algn="ctr">
                            <a:defRPr sz="2000" b="1"/>
                          </a:pPr>
                          <a:r>
                            <a:t>Significado</a:t>
                          </a:r>
                          <a:endParaRPr sz="2000" b="1"/>
                        </a:p>
                      </a:txBody>
                      <a:tcPr>
                        <a:solidFill>
                          <a:schemeClr val="bg1">
                            <a:lumMod val="85000"/>
                          </a:schemeClr>
                        </a:solidFill>
                      </a:tcPr>
                    </a:tc>
                    <a:extLst>
                      <a:ext uri="{0D108BD9-81ED-4DB2-BD59-A6C34878D82A}">
                        <a16:rowId xmlns:a16="http://schemas.microsoft.com/office/drawing/2014/main" val="719268536"/>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s-ES" sz="2000" i="1" smtClean="0">
                                        <a:latin typeface="Cambria Math" panose="02040503050406030204" pitchFamily="18" charset="0"/>
                                      </a:rPr>
                                    </m:ctrlPr>
                                  </m:sSubPr>
                                  <m:e>
                                    <m:r>
                                      <a:rPr lang="es-ES" sz="2000" b="0" smtClean="0">
                                        <a:latin typeface="Cambria Math" panose="02040503050406030204" pitchFamily="18" charset="0"/>
                                      </a:rPr>
                                      <m:t>𝑋</m:t>
                                    </m:r>
                                  </m:e>
                                  <m:sub>
                                    <m:r>
                                      <a:rPr lang="es-ES" sz="2000" b="0" smtClean="0">
                                        <a:latin typeface="Cambria Math" panose="02040503050406030204" pitchFamily="18" charset="0"/>
                                      </a:rPr>
                                      <m:t>𝑠</m:t>
                                    </m:r>
                                  </m:sub>
                                </m:sSub>
                                <m:r>
                                  <a:rPr lang="es-ES" sz="2000" b="0" smtClean="0">
                                    <a:latin typeface="Cambria Math" panose="02040503050406030204" pitchFamily="18" charset="0"/>
                                  </a:rPr>
                                  <m:t>(</m:t>
                                </m:r>
                                <m:r>
                                  <a:rPr lang="es-ES" sz="2000" b="0" smtClean="0">
                                    <a:latin typeface="Cambria Math" panose="02040503050406030204" pitchFamily="18" charset="0"/>
                                  </a:rPr>
                                  <m:t>𝑡</m:t>
                                </m:r>
                                <m:r>
                                  <a:rPr lang="es-ES" sz="2000" b="0" smtClean="0">
                                    <a:latin typeface="Cambria Math" panose="02040503050406030204" pitchFamily="18" charset="0"/>
                                  </a:rPr>
                                  <m:t>)</m:t>
                                </m:r>
                              </m:oMath>
                            </m:oMathPara>
                          </a14:m>
                          <a:endParaRPr sz="2000"/>
                        </a:p>
                      </a:txBody>
                      <a:tcPr anchor="ctr"/>
                    </a:tc>
                    <a:tc>
                      <a:txBody>
                        <a:bodyPr/>
                        <a:lstStyle/>
                        <a:p>
                          <a:pPr>
                            <a:defRPr sz="2000"/>
                          </a:pPr>
                          <a:r>
                            <a:rPr dirty="0" err="1"/>
                            <a:t>Número</a:t>
                          </a:r>
                          <a:r>
                            <a:rPr dirty="0"/>
                            <a:t> de </a:t>
                          </a:r>
                          <a:r>
                            <a:rPr dirty="0" err="1"/>
                            <a:t>trabajo</a:t>
                          </a:r>
                          <a:r>
                            <a:rPr lang="es-ES" dirty="0"/>
                            <a:t>s</a:t>
                          </a:r>
                          <a:r>
                            <a:rPr dirty="0"/>
                            <a:t> que </a:t>
                          </a:r>
                          <a:r>
                            <a:rPr dirty="0" err="1"/>
                            <a:t>reciben</a:t>
                          </a:r>
                          <a:r>
                            <a:rPr dirty="0"/>
                            <a:t> </a:t>
                          </a:r>
                          <a:r>
                            <a:rPr dirty="0" err="1"/>
                            <a:t>servicio</a:t>
                          </a:r>
                          <a:r>
                            <a:rPr dirty="0"/>
                            <a:t> en </a:t>
                          </a:r>
                          <a:r>
                            <a:rPr dirty="0" err="1"/>
                            <a:t>el</a:t>
                          </a:r>
                          <a:r>
                            <a:rPr dirty="0"/>
                            <a:t> </a:t>
                          </a:r>
                          <a:r>
                            <a:rPr dirty="0" err="1"/>
                            <a:t>momento</a:t>
                          </a:r>
                          <a:r>
                            <a:rPr dirty="0"/>
                            <a:t> t</a:t>
                          </a:r>
                          <a:endParaRPr sz="2000" dirty="0"/>
                        </a:p>
                      </a:txBody>
                      <a:tcPr/>
                    </a:tc>
                    <a:extLst>
                      <a:ext uri="{0D108BD9-81ED-4DB2-BD59-A6C34878D82A}">
                        <a16:rowId xmlns:a16="http://schemas.microsoft.com/office/drawing/2014/main" val="1434577127"/>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s-ES" sz="2000" i="1" smtClean="0">
                                        <a:latin typeface="Cambria Math" panose="02040503050406030204" pitchFamily="18" charset="0"/>
                                      </a:rPr>
                                    </m:ctrlPr>
                                  </m:sSubPr>
                                  <m:e>
                                    <m:r>
                                      <a:rPr lang="es-ES" sz="2000" b="0" smtClean="0">
                                        <a:latin typeface="Cambria Math" panose="02040503050406030204" pitchFamily="18" charset="0"/>
                                      </a:rPr>
                                      <m:t>𝑋</m:t>
                                    </m:r>
                                  </m:e>
                                  <m:sub>
                                    <m:r>
                                      <a:rPr lang="es-ES" sz="2000" b="0" smtClean="0">
                                        <a:latin typeface="Cambria Math" panose="02040503050406030204" pitchFamily="18" charset="0"/>
                                      </a:rPr>
                                      <m:t>𝑤</m:t>
                                    </m:r>
                                  </m:sub>
                                </m:sSub>
                                <m:r>
                                  <a:rPr lang="es-ES" sz="2000" b="0" smtClean="0">
                                    <a:latin typeface="Cambria Math" panose="02040503050406030204" pitchFamily="18" charset="0"/>
                                  </a:rPr>
                                  <m:t>(</m:t>
                                </m:r>
                                <m:r>
                                  <a:rPr lang="es-ES" sz="2000" b="0" smtClean="0">
                                    <a:latin typeface="Cambria Math" panose="02040503050406030204" pitchFamily="18" charset="0"/>
                                  </a:rPr>
                                  <m:t>𝑡</m:t>
                                </m:r>
                                <m:r>
                                  <a:rPr lang="es-ES" sz="2000" b="0" smtClean="0">
                                    <a:latin typeface="Cambria Math" panose="02040503050406030204" pitchFamily="18" charset="0"/>
                                  </a:rPr>
                                  <m:t>)</m:t>
                                </m:r>
                              </m:oMath>
                            </m:oMathPara>
                          </a14:m>
                          <a:endParaRPr sz="2000"/>
                        </a:p>
                      </a:txBody>
                      <a:tcPr anchor="ctr"/>
                    </a:tc>
                    <a:tc>
                      <a:txBody>
                        <a:bodyPr/>
                        <a:lstStyle/>
                        <a:p>
                          <a:pPr>
                            <a:defRPr sz="2000"/>
                          </a:pPr>
                          <a:r>
                            <a:rPr dirty="0" err="1"/>
                            <a:t>Número</a:t>
                          </a:r>
                          <a:r>
                            <a:rPr dirty="0"/>
                            <a:t> de </a:t>
                          </a:r>
                          <a:r>
                            <a:rPr dirty="0" err="1"/>
                            <a:t>trabajos</a:t>
                          </a:r>
                          <a:r>
                            <a:rPr dirty="0"/>
                            <a:t> que </a:t>
                          </a:r>
                          <a:r>
                            <a:rPr dirty="0" err="1"/>
                            <a:t>esperan</a:t>
                          </a:r>
                          <a:r>
                            <a:rPr dirty="0"/>
                            <a:t> en </a:t>
                          </a:r>
                          <a:r>
                            <a:rPr lang="es-ES" dirty="0"/>
                            <a:t>l</a:t>
                          </a:r>
                          <a:r>
                            <a:rPr dirty="0"/>
                            <a:t>a cola en </a:t>
                          </a:r>
                          <a:r>
                            <a:rPr dirty="0" err="1"/>
                            <a:t>el</a:t>
                          </a:r>
                          <a:r>
                            <a:rPr dirty="0"/>
                            <a:t> </a:t>
                          </a:r>
                          <a:r>
                            <a:rPr dirty="0" err="1"/>
                            <a:t>momento</a:t>
                          </a:r>
                          <a:r>
                            <a:rPr dirty="0"/>
                            <a:t> t</a:t>
                          </a:r>
                          <a:endParaRPr sz="2000" dirty="0"/>
                        </a:p>
                      </a:txBody>
                      <a:tcPr/>
                    </a:tc>
                    <a:extLst>
                      <a:ext uri="{0D108BD9-81ED-4DB2-BD59-A6C34878D82A}">
                        <a16:rowId xmlns:a16="http://schemas.microsoft.com/office/drawing/2014/main" val="34331209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lang="es-ES" sz="2000" smtClean="0">
                                    <a:latin typeface="Cambria Math" panose="02040503050406030204" pitchFamily="18" charset="0"/>
                                  </a:rPr>
                                  <m:t>𝑋</m:t>
                                </m:r>
                                <m:d>
                                  <m:dPr>
                                    <m:ctrlPr>
                                      <a:rPr lang="es-ES" sz="2000" b="0" i="1" smtClean="0">
                                        <a:latin typeface="Cambria Math" panose="02040503050406030204" pitchFamily="18" charset="0"/>
                                      </a:rPr>
                                    </m:ctrlPr>
                                  </m:dPr>
                                  <m:e>
                                    <m:r>
                                      <a:rPr lang="es-ES" sz="2000" b="0" smtClean="0">
                                        <a:latin typeface="Cambria Math" panose="02040503050406030204" pitchFamily="18" charset="0"/>
                                      </a:rPr>
                                      <m:t>𝑡</m:t>
                                    </m:r>
                                  </m:e>
                                </m:d>
                                <m:r>
                                  <a:rPr lang="es-ES" sz="2000" b="0" smtClean="0">
                                    <a:latin typeface="Cambria Math" panose="02040503050406030204" pitchFamily="18" charset="0"/>
                                  </a:rPr>
                                  <m:t>=</m:t>
                                </m:r>
                                <m:sSub>
                                  <m:sSubPr>
                                    <m:ctrlPr>
                                      <a:rPr lang="es-ES" sz="2000" i="1" smtClean="0">
                                        <a:latin typeface="Cambria Math" panose="02040503050406030204" pitchFamily="18" charset="0"/>
                                      </a:rPr>
                                    </m:ctrlPr>
                                  </m:sSubPr>
                                  <m:e>
                                    <m:r>
                                      <a:rPr lang="es-ES" sz="2000" b="0" smtClean="0">
                                        <a:latin typeface="Cambria Math" panose="02040503050406030204" pitchFamily="18" charset="0"/>
                                      </a:rPr>
                                      <m:t>𝑋</m:t>
                                    </m:r>
                                  </m:e>
                                  <m:sub>
                                    <m:r>
                                      <a:rPr lang="es-ES" sz="2000" b="0" smtClean="0">
                                        <a:latin typeface="Cambria Math" panose="02040503050406030204" pitchFamily="18" charset="0"/>
                                      </a:rPr>
                                      <m:t>𝑠</m:t>
                                    </m:r>
                                  </m:sub>
                                </m:sSub>
                                <m:d>
                                  <m:dPr>
                                    <m:ctrlPr>
                                      <a:rPr lang="es-ES" sz="2000" b="0" i="1" smtClean="0">
                                        <a:latin typeface="Cambria Math" panose="02040503050406030204" pitchFamily="18" charset="0"/>
                                      </a:rPr>
                                    </m:ctrlPr>
                                  </m:dPr>
                                  <m:e>
                                    <m:r>
                                      <a:rPr lang="es-ES" sz="2000" b="0" smtClean="0">
                                        <a:latin typeface="Cambria Math" panose="02040503050406030204" pitchFamily="18" charset="0"/>
                                      </a:rPr>
                                      <m:t>𝑡</m:t>
                                    </m:r>
                                  </m:e>
                                </m:d>
                                <m:r>
                                  <a:rPr lang="es-ES" sz="2000" b="0" smtClean="0">
                                    <a:latin typeface="Cambria Math" panose="02040503050406030204" pitchFamily="18" charset="0"/>
                                  </a:rPr>
                                  <m:t>+</m:t>
                                </m:r>
                                <m:sSub>
                                  <m:sSubPr>
                                    <m:ctrlPr>
                                      <a:rPr lang="es-ES" sz="2000" i="1" smtClean="0">
                                        <a:latin typeface="Cambria Math" panose="02040503050406030204" pitchFamily="18" charset="0"/>
                                      </a:rPr>
                                    </m:ctrlPr>
                                  </m:sSubPr>
                                  <m:e>
                                    <m:r>
                                      <a:rPr lang="es-ES" sz="2000" b="0" smtClean="0">
                                        <a:latin typeface="Cambria Math" panose="02040503050406030204" pitchFamily="18" charset="0"/>
                                      </a:rPr>
                                      <m:t>𝑋</m:t>
                                    </m:r>
                                  </m:e>
                                  <m:sub>
                                    <m:r>
                                      <a:rPr lang="es-ES" sz="2000" b="0" smtClean="0">
                                        <a:latin typeface="Cambria Math" panose="02040503050406030204" pitchFamily="18" charset="0"/>
                                      </a:rPr>
                                      <m:t>𝑤</m:t>
                                    </m:r>
                                  </m:sub>
                                </m:sSub>
                                <m:r>
                                  <a:rPr lang="es-ES" sz="2000" b="0" smtClean="0">
                                    <a:latin typeface="Cambria Math" panose="02040503050406030204" pitchFamily="18" charset="0"/>
                                  </a:rPr>
                                  <m:t>(</m:t>
                                </m:r>
                                <m:r>
                                  <a:rPr lang="es-ES" sz="2000" b="0" smtClean="0">
                                    <a:latin typeface="Cambria Math" panose="02040503050406030204" pitchFamily="18" charset="0"/>
                                  </a:rPr>
                                  <m:t>𝑡</m:t>
                                </m:r>
                                <m:r>
                                  <a:rPr lang="es-ES" sz="2000" b="0" smtClean="0">
                                    <a:latin typeface="Cambria Math" panose="02040503050406030204" pitchFamily="18" charset="0"/>
                                  </a:rPr>
                                  <m:t>)</m:t>
                                </m:r>
                              </m:oMath>
                            </m:oMathPara>
                          </a14:m>
                          <a:endParaRPr sz="2000"/>
                        </a:p>
                      </a:txBody>
                      <a:tcPr anchor="ctr"/>
                    </a:tc>
                    <a:tc>
                      <a:txBody>
                        <a:bodyPr/>
                        <a:lstStyle/>
                        <a:p>
                          <a:pPr>
                            <a:defRPr sz="2000"/>
                          </a:pPr>
                          <a:r>
                            <a:rPr dirty="0" err="1"/>
                            <a:t>Número</a:t>
                          </a:r>
                          <a:r>
                            <a:rPr dirty="0"/>
                            <a:t> total de </a:t>
                          </a:r>
                          <a:r>
                            <a:rPr dirty="0" err="1"/>
                            <a:t>trabajo</a:t>
                          </a:r>
                          <a:r>
                            <a:rPr lang="es-ES" dirty="0"/>
                            <a:t>s</a:t>
                          </a:r>
                          <a:r>
                            <a:rPr dirty="0"/>
                            <a:t> en </a:t>
                          </a:r>
                          <a:r>
                            <a:rPr dirty="0" err="1"/>
                            <a:t>el</a:t>
                          </a:r>
                          <a:r>
                            <a:rPr dirty="0"/>
                            <a:t> </a:t>
                          </a:r>
                          <a:r>
                            <a:rPr dirty="0" err="1"/>
                            <a:t>sistema</a:t>
                          </a:r>
                          <a:r>
                            <a:rPr dirty="0"/>
                            <a:t> en </a:t>
                          </a:r>
                          <a:r>
                            <a:rPr dirty="0" err="1"/>
                            <a:t>el</a:t>
                          </a:r>
                          <a:r>
                            <a:rPr dirty="0"/>
                            <a:t> </a:t>
                          </a:r>
                          <a:r>
                            <a:rPr dirty="0" err="1"/>
                            <a:t>momento</a:t>
                          </a:r>
                          <a:r>
                            <a:rPr dirty="0"/>
                            <a:t> t</a:t>
                          </a:r>
                        </a:p>
                      </a:txBody>
                      <a:tcPr/>
                    </a:tc>
                    <a:extLst>
                      <a:ext uri="{0D108BD9-81ED-4DB2-BD59-A6C34878D82A}">
                        <a16:rowId xmlns:a16="http://schemas.microsoft.com/office/drawing/2014/main" val="1783800238"/>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s-ES" sz="2000" i="1" smtClean="0">
                                        <a:latin typeface="Cambria Math" panose="02040503050406030204" pitchFamily="18" charset="0"/>
                                      </a:rPr>
                                    </m:ctrlPr>
                                  </m:sSubPr>
                                  <m:e>
                                    <m:r>
                                      <a:rPr lang="es-ES" sz="2000" b="0" smtClean="0">
                                        <a:latin typeface="Cambria Math" panose="02040503050406030204" pitchFamily="18" charset="0"/>
                                      </a:rPr>
                                      <m:t>𝑆</m:t>
                                    </m:r>
                                  </m:e>
                                  <m:sub>
                                    <m:r>
                                      <a:rPr lang="es-ES" sz="2000" b="0" smtClean="0">
                                        <a:latin typeface="Cambria Math" panose="02040503050406030204" pitchFamily="18" charset="0"/>
                                      </a:rPr>
                                      <m:t>𝑘</m:t>
                                    </m:r>
                                  </m:sub>
                                </m:sSub>
                              </m:oMath>
                            </m:oMathPara>
                          </a14:m>
                          <a:endParaRPr sz="2000"/>
                        </a:p>
                      </a:txBody>
                      <a:tcPr anchor="ctr"/>
                    </a:tc>
                    <a:tc>
                      <a:txBody>
                        <a:bodyPr/>
                        <a:lstStyle/>
                        <a:p>
                          <a:pPr>
                            <a:defRPr sz="2000"/>
                          </a:pPr>
                          <a:r>
                            <a:rPr dirty="0" err="1"/>
                            <a:t>Tiempo</a:t>
                          </a:r>
                          <a:r>
                            <a:rPr dirty="0"/>
                            <a:t> de </a:t>
                          </a:r>
                          <a:r>
                            <a:rPr dirty="0" err="1"/>
                            <a:t>servicio</a:t>
                          </a:r>
                          <a:r>
                            <a:rPr dirty="0"/>
                            <a:t> del </a:t>
                          </a:r>
                          <a:r>
                            <a:rPr dirty="0" err="1"/>
                            <a:t>trabajo</a:t>
                          </a:r>
                          <a:r>
                            <a:rPr lang="es-ES" dirty="0"/>
                            <a:t> k-</a:t>
                          </a:r>
                          <a:r>
                            <a:rPr lang="es-ES" dirty="0" err="1"/>
                            <a:t>ésimo</a:t>
                          </a:r>
                          <a:endParaRPr sz="2000" dirty="0"/>
                        </a:p>
                      </a:txBody>
                      <a:tcPr/>
                    </a:tc>
                    <a:extLst>
                      <a:ext uri="{0D108BD9-81ED-4DB2-BD59-A6C34878D82A}">
                        <a16:rowId xmlns:a16="http://schemas.microsoft.com/office/drawing/2014/main" val="65110925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s-ES" sz="2000" i="1" smtClean="0">
                                        <a:latin typeface="Cambria Math" panose="02040503050406030204" pitchFamily="18" charset="0"/>
                                      </a:rPr>
                                    </m:ctrlPr>
                                  </m:sSubPr>
                                  <m:e>
                                    <m:r>
                                      <a:rPr lang="es-ES" sz="2000" b="0" smtClean="0">
                                        <a:latin typeface="Cambria Math" panose="02040503050406030204" pitchFamily="18" charset="0"/>
                                      </a:rPr>
                                      <m:t>𝑊</m:t>
                                    </m:r>
                                  </m:e>
                                  <m:sub>
                                    <m:r>
                                      <a:rPr lang="es-ES" sz="2000" b="0" smtClean="0">
                                        <a:latin typeface="Cambria Math" panose="02040503050406030204" pitchFamily="18" charset="0"/>
                                      </a:rPr>
                                      <m:t>𝑘</m:t>
                                    </m:r>
                                  </m:sub>
                                </m:sSub>
                              </m:oMath>
                            </m:oMathPara>
                          </a14:m>
                          <a:endParaRPr sz="2000"/>
                        </a:p>
                      </a:txBody>
                      <a:tcPr anchor="ctr"/>
                    </a:tc>
                    <a:tc>
                      <a:txBody>
                        <a:bodyPr/>
                        <a:lstStyle/>
                        <a:p>
                          <a:pPr>
                            <a:defRPr sz="2000"/>
                          </a:pPr>
                          <a:r>
                            <a:rPr dirty="0" err="1"/>
                            <a:t>Tiempo</a:t>
                          </a:r>
                          <a:r>
                            <a:rPr dirty="0"/>
                            <a:t> de </a:t>
                          </a:r>
                          <a:r>
                            <a:rPr dirty="0" err="1"/>
                            <a:t>espera</a:t>
                          </a:r>
                          <a:r>
                            <a:rPr dirty="0"/>
                            <a:t> del </a:t>
                          </a:r>
                          <a:r>
                            <a:rPr dirty="0" err="1"/>
                            <a:t>trabajo</a:t>
                          </a:r>
                          <a:r>
                            <a:rPr lang="es-ES" dirty="0"/>
                            <a:t> k-</a:t>
                          </a:r>
                          <a:r>
                            <a:rPr lang="es-ES" dirty="0" err="1"/>
                            <a:t>ésimo</a:t>
                          </a:r>
                          <a:endParaRPr sz="2000" dirty="0"/>
                        </a:p>
                      </a:txBody>
                      <a:tcPr/>
                    </a:tc>
                    <a:extLst>
                      <a:ext uri="{0D108BD9-81ED-4DB2-BD59-A6C34878D82A}">
                        <a16:rowId xmlns:a16="http://schemas.microsoft.com/office/drawing/2014/main" val="504392081"/>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s-ES" sz="2000" b="0" i="1" smtClean="0">
                                        <a:latin typeface="Cambria Math" panose="02040503050406030204" pitchFamily="18" charset="0"/>
                                      </a:rPr>
                                    </m:ctrlPr>
                                  </m:sSubPr>
                                  <m:e>
                                    <m:r>
                                      <a:rPr lang="es-ES" sz="2000" b="0" smtClean="0">
                                        <a:latin typeface="Cambria Math" panose="02040503050406030204" pitchFamily="18" charset="0"/>
                                      </a:rPr>
                                      <m:t>𝑅</m:t>
                                    </m:r>
                                  </m:e>
                                  <m:sub>
                                    <m:r>
                                      <a:rPr lang="es-ES" sz="2000" b="0" smtClean="0">
                                        <a:latin typeface="Cambria Math" panose="02040503050406030204" pitchFamily="18" charset="0"/>
                                      </a:rPr>
                                      <m:t>𝑘</m:t>
                                    </m:r>
                                  </m:sub>
                                </m:sSub>
                                <m:r>
                                  <a:rPr lang="es-ES" sz="2000" b="0" smtClean="0">
                                    <a:latin typeface="Cambria Math" panose="02040503050406030204" pitchFamily="18" charset="0"/>
                                  </a:rPr>
                                  <m:t>=</m:t>
                                </m:r>
                                <m:sSub>
                                  <m:sSubPr>
                                    <m:ctrlPr>
                                      <a:rPr lang="es-ES" sz="2000" i="1" smtClean="0">
                                        <a:latin typeface="Cambria Math" panose="02040503050406030204" pitchFamily="18" charset="0"/>
                                      </a:rPr>
                                    </m:ctrlPr>
                                  </m:sSubPr>
                                  <m:e>
                                    <m:r>
                                      <a:rPr lang="es-ES" sz="2000" b="0" smtClean="0">
                                        <a:latin typeface="Cambria Math" panose="02040503050406030204" pitchFamily="18" charset="0"/>
                                      </a:rPr>
                                      <m:t>𝑆</m:t>
                                    </m:r>
                                  </m:e>
                                  <m:sub>
                                    <m:r>
                                      <a:rPr lang="es-ES" sz="2000" b="0" smtClean="0">
                                        <a:latin typeface="Cambria Math" panose="02040503050406030204" pitchFamily="18" charset="0"/>
                                      </a:rPr>
                                      <m:t>𝑘</m:t>
                                    </m:r>
                                  </m:sub>
                                </m:sSub>
                                <m:r>
                                  <a:rPr lang="es-ES" sz="2000" b="0" smtClean="0">
                                    <a:latin typeface="Cambria Math" panose="02040503050406030204" pitchFamily="18" charset="0"/>
                                  </a:rPr>
                                  <m:t>+</m:t>
                                </m:r>
                                <m:sSub>
                                  <m:sSubPr>
                                    <m:ctrlPr>
                                      <a:rPr lang="es-ES" sz="2000" i="1" smtClean="0">
                                        <a:latin typeface="Cambria Math" panose="02040503050406030204" pitchFamily="18" charset="0"/>
                                      </a:rPr>
                                    </m:ctrlPr>
                                  </m:sSubPr>
                                  <m:e>
                                    <m:r>
                                      <a:rPr lang="es-ES" sz="2000" b="0" smtClean="0">
                                        <a:latin typeface="Cambria Math" panose="02040503050406030204" pitchFamily="18" charset="0"/>
                                      </a:rPr>
                                      <m:t>𝑊</m:t>
                                    </m:r>
                                  </m:e>
                                  <m:sub>
                                    <m:r>
                                      <a:rPr lang="es-ES" sz="2000" b="0" smtClean="0">
                                        <a:latin typeface="Cambria Math" panose="02040503050406030204" pitchFamily="18" charset="0"/>
                                      </a:rPr>
                                      <m:t>𝑘</m:t>
                                    </m:r>
                                  </m:sub>
                                </m:sSub>
                              </m:oMath>
                            </m:oMathPara>
                          </a14:m>
                          <a:endParaRPr sz="2000"/>
                        </a:p>
                      </a:txBody>
                      <a:tcPr anchor="ctr"/>
                    </a:tc>
                    <a:tc>
                      <a:txBody>
                        <a:bodyPr/>
                        <a:lstStyle/>
                        <a:p>
                          <a:pPr>
                            <a:defRPr sz="2000"/>
                          </a:pPr>
                          <a:r>
                            <a:rPr dirty="0" err="1"/>
                            <a:t>Tiempo</a:t>
                          </a:r>
                          <a:r>
                            <a:rPr dirty="0"/>
                            <a:t> de </a:t>
                          </a:r>
                          <a:r>
                            <a:rPr dirty="0" err="1"/>
                            <a:t>respuesta</a:t>
                          </a:r>
                          <a:r>
                            <a:rPr dirty="0"/>
                            <a:t>, </a:t>
                          </a:r>
                          <a:r>
                            <a:rPr dirty="0" err="1"/>
                            <a:t>el</a:t>
                          </a:r>
                          <a:r>
                            <a:rPr dirty="0"/>
                            <a:t> </a:t>
                          </a:r>
                          <a:r>
                            <a:rPr dirty="0" err="1"/>
                            <a:t>tiempo</a:t>
                          </a:r>
                          <a:r>
                            <a:rPr dirty="0"/>
                            <a:t> total que un </a:t>
                          </a:r>
                          <a:r>
                            <a:rPr dirty="0" err="1"/>
                            <a:t>trabajo</a:t>
                          </a:r>
                          <a:r>
                            <a:rPr dirty="0"/>
                            <a:t> </a:t>
                          </a:r>
                          <a:r>
                            <a:rPr dirty="0" err="1"/>
                            <a:t>pasa</a:t>
                          </a:r>
                          <a:r>
                            <a:rPr dirty="0"/>
                            <a:t> en </a:t>
                          </a:r>
                          <a:r>
                            <a:rPr dirty="0" err="1"/>
                            <a:t>el</a:t>
                          </a:r>
                          <a:r>
                            <a:rPr dirty="0"/>
                            <a:t> </a:t>
                          </a:r>
                          <a:r>
                            <a:rPr dirty="0" err="1"/>
                            <a:t>sistema</a:t>
                          </a:r>
                          <a:r>
                            <a:rPr dirty="0"/>
                            <a:t> </a:t>
                          </a:r>
                          <a:r>
                            <a:rPr dirty="0" err="1"/>
                            <a:t>desde</a:t>
                          </a:r>
                          <a:r>
                            <a:rPr dirty="0"/>
                            <a:t> </a:t>
                          </a:r>
                          <a:r>
                            <a:rPr dirty="0" err="1"/>
                            <a:t>su</a:t>
                          </a:r>
                          <a:r>
                            <a:rPr dirty="0"/>
                            <a:t> </a:t>
                          </a:r>
                          <a:r>
                            <a:rPr dirty="0" err="1"/>
                            <a:t>llegada</a:t>
                          </a:r>
                          <a:r>
                            <a:rPr dirty="0"/>
                            <a:t> hasta la </a:t>
                          </a:r>
                          <a:r>
                            <a:rPr dirty="0" err="1"/>
                            <a:t>salida</a:t>
                          </a:r>
                          <a:endParaRPr dirty="0"/>
                        </a:p>
                        <a:p>
                          <a:pPr marL="800100" lvl="1" indent="-342900">
                            <a:buFont typeface="Arial" panose="020B0604020202020204" pitchFamily="34" charset="0"/>
                            <a:buChar char="•"/>
                            <a:defRPr sz="2000"/>
                          </a:pPr>
                          <a:r>
                            <a:rPr dirty="0"/>
                            <a:t>Un </a:t>
                          </a:r>
                          <a:r>
                            <a:rPr dirty="0" err="1"/>
                            <a:t>sistema</a:t>
                          </a:r>
                          <a:r>
                            <a:rPr dirty="0"/>
                            <a:t> es </a:t>
                          </a:r>
                          <a:r>
                            <a:rPr b="1" dirty="0" err="1"/>
                            <a:t>estacionario</a:t>
                          </a:r>
                          <a:r>
                            <a:rPr dirty="0"/>
                            <a:t> </a:t>
                          </a:r>
                          <a:r>
                            <a:rPr dirty="0" err="1"/>
                            <a:t>si</a:t>
                          </a:r>
                          <a:r>
                            <a:rPr dirty="0"/>
                            <a:t> las </a:t>
                          </a:r>
                          <a:r>
                            <a:rPr dirty="0" err="1"/>
                            <a:t>distribuciones</a:t>
                          </a:r>
                          <a:r>
                            <a:rPr dirty="0"/>
                            <a:t> de </a:t>
                          </a:r>
                          <a:r>
                            <a:rPr dirty="0" err="1"/>
                            <a:t>S</a:t>
                          </a:r>
                          <a:r>
                            <a:rPr baseline="-25000" dirty="0" err="1"/>
                            <a:t>k</a:t>
                          </a:r>
                          <a:r>
                            <a:rPr dirty="0"/>
                            <a:t>, </a:t>
                          </a:r>
                          <a:r>
                            <a:rPr dirty="0" err="1"/>
                            <a:t>W</a:t>
                          </a:r>
                          <a:r>
                            <a:rPr baseline="-25000" dirty="0" err="1"/>
                            <a:t>k</a:t>
                          </a:r>
                          <a:r>
                            <a:rPr dirty="0"/>
                            <a:t> y </a:t>
                          </a:r>
                          <a:r>
                            <a:rPr dirty="0" err="1"/>
                            <a:t>R</a:t>
                          </a:r>
                          <a:r>
                            <a:rPr baseline="-25000" dirty="0" err="1"/>
                            <a:t>k</a:t>
                          </a:r>
                          <a:r>
                            <a:rPr dirty="0"/>
                            <a:t> son </a:t>
                          </a:r>
                          <a:r>
                            <a:rPr dirty="0" err="1"/>
                            <a:t>independientes</a:t>
                          </a:r>
                          <a:r>
                            <a:rPr dirty="0"/>
                            <a:t> de k. </a:t>
                          </a:r>
                        </a:p>
                        <a:p>
                          <a:pPr marL="800100" lvl="1" indent="-342900">
                            <a:buFont typeface="Arial" panose="020B0604020202020204" pitchFamily="34" charset="0"/>
                            <a:buChar char="•"/>
                            <a:defRPr sz="2000"/>
                          </a:pPr>
                          <a:r>
                            <a:rPr dirty="0"/>
                            <a:t>En este </a:t>
                          </a:r>
                          <a:r>
                            <a:rPr dirty="0" err="1"/>
                            <a:t>caso</a:t>
                          </a:r>
                          <a:r>
                            <a:rPr dirty="0"/>
                            <a:t>, </a:t>
                          </a:r>
                          <a:r>
                            <a:rPr dirty="0" err="1"/>
                            <a:t>el</a:t>
                          </a:r>
                          <a:r>
                            <a:rPr dirty="0"/>
                            <a:t> </a:t>
                          </a:r>
                          <a:r>
                            <a:rPr dirty="0" err="1"/>
                            <a:t>índice</a:t>
                          </a:r>
                          <a:r>
                            <a:rPr dirty="0"/>
                            <a:t> k </a:t>
                          </a:r>
                          <a:r>
                            <a:rPr lang="es-ES" dirty="0"/>
                            <a:t>se puede omitir</a:t>
                          </a:r>
                          <a:r>
                            <a:rPr dirty="0"/>
                            <a:t>.</a:t>
                          </a:r>
                          <a:endParaRPr sz="2000" dirty="0"/>
                        </a:p>
                      </a:txBody>
                      <a:tcPr/>
                    </a:tc>
                    <a:extLst>
                      <a:ext uri="{0D108BD9-81ED-4DB2-BD59-A6C34878D82A}">
                        <a16:rowId xmlns:a16="http://schemas.microsoft.com/office/drawing/2014/main" val="4044246962"/>
                      </a:ext>
                    </a:extLst>
                  </a:tr>
                </a:tbl>
              </a:graphicData>
            </a:graphic>
          </p:graphicFrame>
        </mc:Choice>
        <mc:Fallback xmlns="">
          <p:graphicFrame>
            <p:nvGraphicFramePr>
              <p:cNvPr id="5" name="Tabla 5">
                <a:extLst>
                  <a:ext uri="{FF2B5EF4-FFF2-40B4-BE49-F238E27FC236}">
                    <a16:creationId xmlns:a16="http://schemas.microsoft.com/office/drawing/2014/main" id="{40A41581-4AA6-65D8-3EC4-2E55ACFA373E}"/>
                  </a:ext>
                </a:extLst>
              </p:cNvPr>
              <p:cNvGraphicFramePr>
                <a:graphicFrameLocks noGrp="1"/>
              </p:cNvGraphicFramePr>
              <p:nvPr>
                <p:ph idx="1"/>
                <p:extLst>
                  <p:ext uri="{D42A27DB-BD31-4B8C-83A1-F6EECF244321}">
                    <p14:modId xmlns:p14="http://schemas.microsoft.com/office/powerpoint/2010/main" val="64660074"/>
                  </p:ext>
                </p:extLst>
              </p:nvPr>
            </p:nvGraphicFramePr>
            <p:xfrm>
              <a:off x="838200" y="1988457"/>
              <a:ext cx="10515601" cy="3992880"/>
            </p:xfrm>
            <a:graphic>
              <a:graphicData uri="http://schemas.openxmlformats.org/drawingml/2006/table">
                <a:tbl>
                  <a:tblPr firstRow="1" bandRow="1">
                    <a:tableStyleId>{5940675A-B579-460E-94D1-54222C63F5DA}</a:tableStyleId>
                  </a:tblPr>
                  <a:tblGrid>
                    <a:gridCol w="2895601">
                      <a:extLst>
                        <a:ext uri="{9D8B030D-6E8A-4147-A177-3AD203B41FA5}">
                          <a16:colId xmlns:a16="http://schemas.microsoft.com/office/drawing/2014/main" val="2046916569"/>
                        </a:ext>
                      </a:extLst>
                    </a:gridCol>
                    <a:gridCol w="7620000">
                      <a:extLst>
                        <a:ext uri="{9D8B030D-6E8A-4147-A177-3AD203B41FA5}">
                          <a16:colId xmlns:a16="http://schemas.microsoft.com/office/drawing/2014/main" val="3133704516"/>
                        </a:ext>
                      </a:extLst>
                    </a:gridCol>
                  </a:tblGrid>
                  <a:tr h="396240">
                    <a:tc>
                      <a:txBody>
                        <a:bodyPr/>
                        <a:lstStyle/>
                        <a:p>
                          <a:pPr algn="ctr">
                            <a:defRPr sz="2000" b="1"/>
                          </a:pPr>
                          <a:r>
                            <a:t>Variable</a:t>
                          </a:r>
                        </a:p>
                      </a:txBody>
                      <a:tcPr>
                        <a:solidFill>
                          <a:schemeClr val="bg1">
                            <a:lumMod val="85000"/>
                          </a:schemeClr>
                        </a:solidFill>
                      </a:tcPr>
                    </a:tc>
                    <a:tc>
                      <a:txBody>
                        <a:bodyPr/>
                        <a:lstStyle/>
                        <a:p>
                          <a:pPr algn="ctr">
                            <a:defRPr sz="2000" b="1"/>
                          </a:pPr>
                          <a:r>
                            <a:t>Significado</a:t>
                          </a:r>
                          <a:endParaRPr sz="2000" b="1"/>
                        </a:p>
                      </a:txBody>
                      <a:tcPr>
                        <a:solidFill>
                          <a:schemeClr val="bg1">
                            <a:lumMod val="85000"/>
                          </a:schemeClr>
                        </a:solidFill>
                      </a:tcPr>
                    </a:tc>
                    <a:extLst>
                      <a:ext uri="{0D108BD9-81ED-4DB2-BD59-A6C34878D82A}">
                        <a16:rowId xmlns:a16="http://schemas.microsoft.com/office/drawing/2014/main" val="719268536"/>
                      </a:ext>
                    </a:extLst>
                  </a:tr>
                  <a:tr h="396240">
                    <a:tc>
                      <a:txBody>
                        <a:bodyPr/>
                        <a:lstStyle/>
                        <a:p>
                          <a:endParaRPr lang="es-ES"/>
                        </a:p>
                      </a:txBody>
                      <a:tcPr anchor="ctr">
                        <a:blipFill>
                          <a:blip r:embed="rId2"/>
                          <a:stretch>
                            <a:fillRect l="-211" t="-107692" r="-263789" b="-835385"/>
                          </a:stretch>
                        </a:blipFill>
                      </a:tcPr>
                    </a:tc>
                    <a:tc>
                      <a:txBody>
                        <a:bodyPr/>
                        <a:lstStyle/>
                        <a:p>
                          <a:pPr>
                            <a:defRPr sz="2000"/>
                          </a:pPr>
                          <a:r>
                            <a:rPr dirty="0" err="1"/>
                            <a:t>Número</a:t>
                          </a:r>
                          <a:r>
                            <a:rPr dirty="0"/>
                            <a:t> de </a:t>
                          </a:r>
                          <a:r>
                            <a:rPr dirty="0" err="1"/>
                            <a:t>trabajo</a:t>
                          </a:r>
                          <a:r>
                            <a:rPr lang="es-ES" dirty="0"/>
                            <a:t>s</a:t>
                          </a:r>
                          <a:r>
                            <a:rPr dirty="0"/>
                            <a:t> que </a:t>
                          </a:r>
                          <a:r>
                            <a:rPr dirty="0" err="1"/>
                            <a:t>reciben</a:t>
                          </a:r>
                          <a:r>
                            <a:rPr dirty="0"/>
                            <a:t> </a:t>
                          </a:r>
                          <a:r>
                            <a:rPr dirty="0" err="1"/>
                            <a:t>servicio</a:t>
                          </a:r>
                          <a:r>
                            <a:rPr dirty="0"/>
                            <a:t> en </a:t>
                          </a:r>
                          <a:r>
                            <a:rPr dirty="0" err="1"/>
                            <a:t>el</a:t>
                          </a:r>
                          <a:r>
                            <a:rPr dirty="0"/>
                            <a:t> </a:t>
                          </a:r>
                          <a:r>
                            <a:rPr dirty="0" err="1"/>
                            <a:t>momento</a:t>
                          </a:r>
                          <a:r>
                            <a:rPr dirty="0"/>
                            <a:t> t</a:t>
                          </a:r>
                          <a:endParaRPr sz="2000" dirty="0"/>
                        </a:p>
                      </a:txBody>
                      <a:tcPr/>
                    </a:tc>
                    <a:extLst>
                      <a:ext uri="{0D108BD9-81ED-4DB2-BD59-A6C34878D82A}">
                        <a16:rowId xmlns:a16="http://schemas.microsoft.com/office/drawing/2014/main" val="1434577127"/>
                      </a:ext>
                    </a:extLst>
                  </a:tr>
                  <a:tr h="396240">
                    <a:tc>
                      <a:txBody>
                        <a:bodyPr/>
                        <a:lstStyle/>
                        <a:p>
                          <a:endParaRPr lang="es-ES"/>
                        </a:p>
                      </a:txBody>
                      <a:tcPr anchor="ctr">
                        <a:blipFill>
                          <a:blip r:embed="rId2"/>
                          <a:stretch>
                            <a:fillRect l="-211" t="-207692" r="-263789" b="-735385"/>
                          </a:stretch>
                        </a:blipFill>
                      </a:tcPr>
                    </a:tc>
                    <a:tc>
                      <a:txBody>
                        <a:bodyPr/>
                        <a:lstStyle/>
                        <a:p>
                          <a:pPr>
                            <a:defRPr sz="2000"/>
                          </a:pPr>
                          <a:r>
                            <a:rPr dirty="0" err="1"/>
                            <a:t>Número</a:t>
                          </a:r>
                          <a:r>
                            <a:rPr dirty="0"/>
                            <a:t> de </a:t>
                          </a:r>
                          <a:r>
                            <a:rPr dirty="0" err="1"/>
                            <a:t>trabajos</a:t>
                          </a:r>
                          <a:r>
                            <a:rPr dirty="0"/>
                            <a:t> que </a:t>
                          </a:r>
                          <a:r>
                            <a:rPr dirty="0" err="1"/>
                            <a:t>esperan</a:t>
                          </a:r>
                          <a:r>
                            <a:rPr dirty="0"/>
                            <a:t> en </a:t>
                          </a:r>
                          <a:r>
                            <a:rPr lang="es-ES" dirty="0"/>
                            <a:t>l</a:t>
                          </a:r>
                          <a:r>
                            <a:rPr dirty="0"/>
                            <a:t>a cola en </a:t>
                          </a:r>
                          <a:r>
                            <a:rPr dirty="0" err="1"/>
                            <a:t>el</a:t>
                          </a:r>
                          <a:r>
                            <a:rPr dirty="0"/>
                            <a:t> </a:t>
                          </a:r>
                          <a:r>
                            <a:rPr dirty="0" err="1"/>
                            <a:t>momento</a:t>
                          </a:r>
                          <a:r>
                            <a:rPr dirty="0"/>
                            <a:t> t</a:t>
                          </a:r>
                          <a:endParaRPr sz="2000" dirty="0"/>
                        </a:p>
                      </a:txBody>
                      <a:tcPr/>
                    </a:tc>
                    <a:extLst>
                      <a:ext uri="{0D108BD9-81ED-4DB2-BD59-A6C34878D82A}">
                        <a16:rowId xmlns:a16="http://schemas.microsoft.com/office/drawing/2014/main" val="3433120924"/>
                      </a:ext>
                    </a:extLst>
                  </a:tr>
                  <a:tr h="396240">
                    <a:tc>
                      <a:txBody>
                        <a:bodyPr/>
                        <a:lstStyle/>
                        <a:p>
                          <a:endParaRPr lang="es-ES"/>
                        </a:p>
                      </a:txBody>
                      <a:tcPr anchor="ctr">
                        <a:blipFill>
                          <a:blip r:embed="rId2"/>
                          <a:stretch>
                            <a:fillRect l="-211" t="-307692" r="-263789" b="-635385"/>
                          </a:stretch>
                        </a:blipFill>
                      </a:tcPr>
                    </a:tc>
                    <a:tc>
                      <a:txBody>
                        <a:bodyPr/>
                        <a:lstStyle/>
                        <a:p>
                          <a:pPr>
                            <a:defRPr sz="2000"/>
                          </a:pPr>
                          <a:r>
                            <a:rPr dirty="0" err="1"/>
                            <a:t>Número</a:t>
                          </a:r>
                          <a:r>
                            <a:rPr dirty="0"/>
                            <a:t> total de </a:t>
                          </a:r>
                          <a:r>
                            <a:rPr dirty="0" err="1"/>
                            <a:t>trabajo</a:t>
                          </a:r>
                          <a:r>
                            <a:rPr lang="es-ES" dirty="0"/>
                            <a:t>s</a:t>
                          </a:r>
                          <a:r>
                            <a:rPr dirty="0"/>
                            <a:t> en </a:t>
                          </a:r>
                          <a:r>
                            <a:rPr dirty="0" err="1"/>
                            <a:t>el</a:t>
                          </a:r>
                          <a:r>
                            <a:rPr dirty="0"/>
                            <a:t> </a:t>
                          </a:r>
                          <a:r>
                            <a:rPr dirty="0" err="1"/>
                            <a:t>sistema</a:t>
                          </a:r>
                          <a:r>
                            <a:rPr dirty="0"/>
                            <a:t> en </a:t>
                          </a:r>
                          <a:r>
                            <a:rPr dirty="0" err="1"/>
                            <a:t>el</a:t>
                          </a:r>
                          <a:r>
                            <a:rPr dirty="0"/>
                            <a:t> </a:t>
                          </a:r>
                          <a:r>
                            <a:rPr dirty="0" err="1"/>
                            <a:t>momento</a:t>
                          </a:r>
                          <a:r>
                            <a:rPr dirty="0"/>
                            <a:t> t</a:t>
                          </a:r>
                        </a:p>
                      </a:txBody>
                      <a:tcPr/>
                    </a:tc>
                    <a:extLst>
                      <a:ext uri="{0D108BD9-81ED-4DB2-BD59-A6C34878D82A}">
                        <a16:rowId xmlns:a16="http://schemas.microsoft.com/office/drawing/2014/main" val="1783800238"/>
                      </a:ext>
                    </a:extLst>
                  </a:tr>
                  <a:tr h="396240">
                    <a:tc>
                      <a:txBody>
                        <a:bodyPr/>
                        <a:lstStyle/>
                        <a:p>
                          <a:endParaRPr lang="es-ES"/>
                        </a:p>
                      </a:txBody>
                      <a:tcPr anchor="ctr">
                        <a:blipFill>
                          <a:blip r:embed="rId2"/>
                          <a:stretch>
                            <a:fillRect l="-211" t="-407692" r="-263789" b="-535385"/>
                          </a:stretch>
                        </a:blipFill>
                      </a:tcPr>
                    </a:tc>
                    <a:tc>
                      <a:txBody>
                        <a:bodyPr/>
                        <a:lstStyle/>
                        <a:p>
                          <a:pPr>
                            <a:defRPr sz="2000"/>
                          </a:pPr>
                          <a:r>
                            <a:rPr dirty="0" err="1"/>
                            <a:t>Tiempo</a:t>
                          </a:r>
                          <a:r>
                            <a:rPr dirty="0"/>
                            <a:t> de </a:t>
                          </a:r>
                          <a:r>
                            <a:rPr dirty="0" err="1"/>
                            <a:t>servicio</a:t>
                          </a:r>
                          <a:r>
                            <a:rPr dirty="0"/>
                            <a:t> del </a:t>
                          </a:r>
                          <a:r>
                            <a:rPr dirty="0" err="1"/>
                            <a:t>trabajo</a:t>
                          </a:r>
                          <a:r>
                            <a:rPr lang="es-ES" dirty="0"/>
                            <a:t> k-</a:t>
                          </a:r>
                          <a:r>
                            <a:rPr lang="es-ES" dirty="0" err="1"/>
                            <a:t>ésimo</a:t>
                          </a:r>
                          <a:endParaRPr sz="2000" dirty="0"/>
                        </a:p>
                      </a:txBody>
                      <a:tcPr/>
                    </a:tc>
                    <a:extLst>
                      <a:ext uri="{0D108BD9-81ED-4DB2-BD59-A6C34878D82A}">
                        <a16:rowId xmlns:a16="http://schemas.microsoft.com/office/drawing/2014/main" val="651109252"/>
                      </a:ext>
                    </a:extLst>
                  </a:tr>
                  <a:tr h="396240">
                    <a:tc>
                      <a:txBody>
                        <a:bodyPr/>
                        <a:lstStyle/>
                        <a:p>
                          <a:endParaRPr lang="es-ES"/>
                        </a:p>
                      </a:txBody>
                      <a:tcPr anchor="ctr">
                        <a:blipFill>
                          <a:blip r:embed="rId2"/>
                          <a:stretch>
                            <a:fillRect l="-211" t="-500000" r="-263789" b="-427273"/>
                          </a:stretch>
                        </a:blipFill>
                      </a:tcPr>
                    </a:tc>
                    <a:tc>
                      <a:txBody>
                        <a:bodyPr/>
                        <a:lstStyle/>
                        <a:p>
                          <a:pPr>
                            <a:defRPr sz="2000"/>
                          </a:pPr>
                          <a:r>
                            <a:rPr dirty="0" err="1"/>
                            <a:t>Tiempo</a:t>
                          </a:r>
                          <a:r>
                            <a:rPr dirty="0"/>
                            <a:t> de </a:t>
                          </a:r>
                          <a:r>
                            <a:rPr dirty="0" err="1"/>
                            <a:t>espera</a:t>
                          </a:r>
                          <a:r>
                            <a:rPr dirty="0"/>
                            <a:t> del </a:t>
                          </a:r>
                          <a:r>
                            <a:rPr dirty="0" err="1"/>
                            <a:t>trabajo</a:t>
                          </a:r>
                          <a:r>
                            <a:rPr lang="es-ES" dirty="0"/>
                            <a:t> k-</a:t>
                          </a:r>
                          <a:r>
                            <a:rPr lang="es-ES" dirty="0" err="1"/>
                            <a:t>ésimo</a:t>
                          </a:r>
                          <a:endParaRPr sz="2000" dirty="0"/>
                        </a:p>
                      </a:txBody>
                      <a:tcPr/>
                    </a:tc>
                    <a:extLst>
                      <a:ext uri="{0D108BD9-81ED-4DB2-BD59-A6C34878D82A}">
                        <a16:rowId xmlns:a16="http://schemas.microsoft.com/office/drawing/2014/main" val="504392081"/>
                      </a:ext>
                    </a:extLst>
                  </a:tr>
                  <a:tr h="1615440">
                    <a:tc>
                      <a:txBody>
                        <a:bodyPr/>
                        <a:lstStyle/>
                        <a:p>
                          <a:endParaRPr lang="es-ES"/>
                        </a:p>
                      </a:txBody>
                      <a:tcPr anchor="ctr">
                        <a:blipFill>
                          <a:blip r:embed="rId2"/>
                          <a:stretch>
                            <a:fillRect l="-211" t="-149434" r="-263789" b="-6415"/>
                          </a:stretch>
                        </a:blipFill>
                      </a:tcPr>
                    </a:tc>
                    <a:tc>
                      <a:txBody>
                        <a:bodyPr/>
                        <a:lstStyle/>
                        <a:p>
                          <a:pPr>
                            <a:defRPr sz="2000"/>
                          </a:pPr>
                          <a:r>
                            <a:rPr dirty="0" err="1"/>
                            <a:t>Tiempo</a:t>
                          </a:r>
                          <a:r>
                            <a:rPr dirty="0"/>
                            <a:t> de </a:t>
                          </a:r>
                          <a:r>
                            <a:rPr dirty="0" err="1"/>
                            <a:t>respuesta</a:t>
                          </a:r>
                          <a:r>
                            <a:rPr dirty="0"/>
                            <a:t>, </a:t>
                          </a:r>
                          <a:r>
                            <a:rPr dirty="0" err="1"/>
                            <a:t>el</a:t>
                          </a:r>
                          <a:r>
                            <a:rPr dirty="0"/>
                            <a:t> </a:t>
                          </a:r>
                          <a:r>
                            <a:rPr dirty="0" err="1"/>
                            <a:t>tiempo</a:t>
                          </a:r>
                          <a:r>
                            <a:rPr dirty="0"/>
                            <a:t> total que un </a:t>
                          </a:r>
                          <a:r>
                            <a:rPr dirty="0" err="1"/>
                            <a:t>trabajo</a:t>
                          </a:r>
                          <a:r>
                            <a:rPr dirty="0"/>
                            <a:t> </a:t>
                          </a:r>
                          <a:r>
                            <a:rPr dirty="0" err="1"/>
                            <a:t>pasa</a:t>
                          </a:r>
                          <a:r>
                            <a:rPr dirty="0"/>
                            <a:t> en </a:t>
                          </a:r>
                          <a:r>
                            <a:rPr dirty="0" err="1"/>
                            <a:t>el</a:t>
                          </a:r>
                          <a:r>
                            <a:rPr dirty="0"/>
                            <a:t> </a:t>
                          </a:r>
                          <a:r>
                            <a:rPr dirty="0" err="1"/>
                            <a:t>sistema</a:t>
                          </a:r>
                          <a:r>
                            <a:rPr dirty="0"/>
                            <a:t> </a:t>
                          </a:r>
                          <a:r>
                            <a:rPr dirty="0" err="1"/>
                            <a:t>desde</a:t>
                          </a:r>
                          <a:r>
                            <a:rPr dirty="0"/>
                            <a:t> </a:t>
                          </a:r>
                          <a:r>
                            <a:rPr dirty="0" err="1"/>
                            <a:t>su</a:t>
                          </a:r>
                          <a:r>
                            <a:rPr dirty="0"/>
                            <a:t> </a:t>
                          </a:r>
                          <a:r>
                            <a:rPr dirty="0" err="1"/>
                            <a:t>llegada</a:t>
                          </a:r>
                          <a:r>
                            <a:rPr dirty="0"/>
                            <a:t> hasta la </a:t>
                          </a:r>
                          <a:r>
                            <a:rPr dirty="0" err="1"/>
                            <a:t>salida</a:t>
                          </a:r>
                          <a:endParaRPr dirty="0"/>
                        </a:p>
                        <a:p>
                          <a:pPr marL="800100" lvl="1" indent="-342900">
                            <a:buFont typeface="Arial" panose="020B0604020202020204" pitchFamily="34" charset="0"/>
                            <a:buChar char="•"/>
                            <a:defRPr sz="2000"/>
                          </a:pPr>
                          <a:r>
                            <a:rPr dirty="0"/>
                            <a:t>Un </a:t>
                          </a:r>
                          <a:r>
                            <a:rPr dirty="0" err="1"/>
                            <a:t>sistema</a:t>
                          </a:r>
                          <a:r>
                            <a:rPr dirty="0"/>
                            <a:t> es </a:t>
                          </a:r>
                          <a:r>
                            <a:rPr b="1" dirty="0" err="1"/>
                            <a:t>estacionario</a:t>
                          </a:r>
                          <a:r>
                            <a:rPr dirty="0"/>
                            <a:t> </a:t>
                          </a:r>
                          <a:r>
                            <a:rPr dirty="0" err="1"/>
                            <a:t>si</a:t>
                          </a:r>
                          <a:r>
                            <a:rPr dirty="0"/>
                            <a:t> las </a:t>
                          </a:r>
                          <a:r>
                            <a:rPr dirty="0" err="1"/>
                            <a:t>distribuciones</a:t>
                          </a:r>
                          <a:r>
                            <a:rPr dirty="0"/>
                            <a:t> de </a:t>
                          </a:r>
                          <a:r>
                            <a:rPr dirty="0" err="1"/>
                            <a:t>S</a:t>
                          </a:r>
                          <a:r>
                            <a:rPr baseline="-25000" dirty="0" err="1"/>
                            <a:t>k</a:t>
                          </a:r>
                          <a:r>
                            <a:rPr dirty="0"/>
                            <a:t>, </a:t>
                          </a:r>
                          <a:r>
                            <a:rPr dirty="0" err="1"/>
                            <a:t>W</a:t>
                          </a:r>
                          <a:r>
                            <a:rPr baseline="-25000" dirty="0" err="1"/>
                            <a:t>k</a:t>
                          </a:r>
                          <a:r>
                            <a:rPr dirty="0"/>
                            <a:t> y </a:t>
                          </a:r>
                          <a:r>
                            <a:rPr dirty="0" err="1"/>
                            <a:t>R</a:t>
                          </a:r>
                          <a:r>
                            <a:rPr baseline="-25000" dirty="0" err="1"/>
                            <a:t>k</a:t>
                          </a:r>
                          <a:r>
                            <a:rPr dirty="0"/>
                            <a:t> son </a:t>
                          </a:r>
                          <a:r>
                            <a:rPr dirty="0" err="1"/>
                            <a:t>independientes</a:t>
                          </a:r>
                          <a:r>
                            <a:rPr dirty="0"/>
                            <a:t> de k. </a:t>
                          </a:r>
                        </a:p>
                        <a:p>
                          <a:pPr marL="800100" lvl="1" indent="-342900">
                            <a:buFont typeface="Arial" panose="020B0604020202020204" pitchFamily="34" charset="0"/>
                            <a:buChar char="•"/>
                            <a:defRPr sz="2000"/>
                          </a:pPr>
                          <a:r>
                            <a:rPr dirty="0"/>
                            <a:t>En este </a:t>
                          </a:r>
                          <a:r>
                            <a:rPr dirty="0" err="1"/>
                            <a:t>caso</a:t>
                          </a:r>
                          <a:r>
                            <a:rPr dirty="0"/>
                            <a:t>, </a:t>
                          </a:r>
                          <a:r>
                            <a:rPr dirty="0" err="1"/>
                            <a:t>el</a:t>
                          </a:r>
                          <a:r>
                            <a:rPr dirty="0"/>
                            <a:t> </a:t>
                          </a:r>
                          <a:r>
                            <a:rPr dirty="0" err="1"/>
                            <a:t>índice</a:t>
                          </a:r>
                          <a:r>
                            <a:rPr dirty="0"/>
                            <a:t> k </a:t>
                          </a:r>
                          <a:r>
                            <a:rPr lang="es-ES" dirty="0"/>
                            <a:t>se puede omitir</a:t>
                          </a:r>
                          <a:r>
                            <a:rPr dirty="0"/>
                            <a:t>.</a:t>
                          </a:r>
                          <a:endParaRPr sz="2000" dirty="0"/>
                        </a:p>
                      </a:txBody>
                      <a:tcPr/>
                    </a:tc>
                    <a:extLst>
                      <a:ext uri="{0D108BD9-81ED-4DB2-BD59-A6C34878D82A}">
                        <a16:rowId xmlns:a16="http://schemas.microsoft.com/office/drawing/2014/main" val="4044246962"/>
                      </a:ext>
                    </a:extLst>
                  </a:tr>
                </a:tbl>
              </a:graphicData>
            </a:graphic>
          </p:graphicFrame>
        </mc:Fallback>
      </mc:AlternateContent>
      <p:sp>
        <p:nvSpPr>
          <p:cNvPr id="4" name="Marcador de número de diapositiva 3">
            <a:extLst>
              <a:ext uri="{FF2B5EF4-FFF2-40B4-BE49-F238E27FC236}">
                <a16:creationId xmlns:a16="http://schemas.microsoft.com/office/drawing/2014/main" id="{AC25A068-4E53-1E6C-E824-3142C024604D}"/>
              </a:ext>
            </a:extLst>
          </p:cNvPr>
          <p:cNvSpPr>
            <a:spLocks noGrp="1"/>
          </p:cNvSpPr>
          <p:nvPr>
            <p:ph type="sldNum" sz="quarter" idx="12"/>
          </p:nvPr>
        </p:nvSpPr>
        <p:spPr/>
        <p:txBody>
          <a:bodyPr/>
          <a:lstStyle/>
          <a:p>
            <a:fld id="{336CAFD0-1F6E-4E11-9822-836563A02839}" type="slidenum">
              <a:rPr lang="es-ES" smtClean="0"/>
              <a:t>8</a:t>
            </a:fld>
            <a:endParaRPr lang="es-ES"/>
          </a:p>
        </p:txBody>
      </p:sp>
    </p:spTree>
    <p:extLst>
      <p:ext uri="{BB962C8B-B14F-4D97-AF65-F5344CB8AC3E}">
        <p14:creationId xmlns:p14="http://schemas.microsoft.com/office/powerpoint/2010/main" val="2978037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D3C1DF-9B82-1496-FF72-A19CDB685E75}"/>
              </a:ext>
            </a:extLst>
          </p:cNvPr>
          <p:cNvSpPr>
            <a:spLocks noGrp="1"/>
          </p:cNvSpPr>
          <p:nvPr>
            <p:ph type="title"/>
          </p:nvPr>
        </p:nvSpPr>
        <p:spPr/>
        <p:txBody>
          <a:bodyPr/>
          <a:lstStyle/>
          <a:p>
            <a:r>
              <a:rPr lang="es-ES" dirty="0"/>
              <a:t>3</a:t>
            </a:r>
            <a:r>
              <a:rPr dirty="0"/>
              <a:t>. Ley de</a:t>
            </a:r>
            <a:r>
              <a:rPr lang="es-ES" dirty="0"/>
              <a:t> Little</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345FE98-0546-0189-3DE2-CE33EFC3AC89}"/>
                  </a:ext>
                </a:extLst>
              </p:cNvPr>
              <p:cNvSpPr>
                <a:spLocks noGrp="1"/>
              </p:cNvSpPr>
              <p:nvPr>
                <p:ph idx="1"/>
              </p:nvPr>
            </p:nvSpPr>
            <p:spPr>
              <a:xfrm>
                <a:off x="838200" y="1825625"/>
                <a:ext cx="5058316" cy="4351338"/>
              </a:xfrm>
            </p:spPr>
            <p:txBody>
              <a:bodyPr>
                <a:normAutofit fontScale="92500" lnSpcReduction="20000"/>
              </a:bodyPr>
              <a:lstStyle/>
              <a:p>
                <a:r>
                  <a:rPr dirty="0"/>
                  <a:t>La </a:t>
                </a:r>
                <a:r>
                  <a:rPr lang="es-ES" dirty="0"/>
                  <a:t>ley de Little establece </a:t>
                </a:r>
                <a:r>
                  <a:rPr dirty="0" err="1"/>
                  <a:t>una</a:t>
                </a:r>
                <a:r>
                  <a:rPr dirty="0"/>
                  <a:t> </a:t>
                </a:r>
                <a:r>
                  <a:rPr dirty="0" err="1"/>
                  <a:t>relación</a:t>
                </a:r>
                <a:r>
                  <a:rPr dirty="0"/>
                  <a:t> simple entre </a:t>
                </a:r>
                <a:r>
                  <a:rPr dirty="0" err="1"/>
                  <a:t>el</a:t>
                </a:r>
                <a:r>
                  <a:rPr dirty="0"/>
                  <a:t> </a:t>
                </a:r>
                <a:r>
                  <a:rPr dirty="0" err="1"/>
                  <a:t>número</a:t>
                </a:r>
                <a:r>
                  <a:rPr dirty="0"/>
                  <a:t> </a:t>
                </a:r>
                <a:r>
                  <a:rPr dirty="0" err="1"/>
                  <a:t>esperado</a:t>
                </a:r>
                <a:r>
                  <a:rPr dirty="0"/>
                  <a:t> de </a:t>
                </a:r>
                <a:r>
                  <a:rPr lang="es-ES" dirty="0"/>
                  <a:t>trabajos, </a:t>
                </a:r>
                <a:r>
                  <a:rPr dirty="0" err="1"/>
                  <a:t>el</a:t>
                </a:r>
                <a:r>
                  <a:rPr dirty="0"/>
                  <a:t> </a:t>
                </a:r>
                <a:r>
                  <a:rPr dirty="0" err="1"/>
                  <a:t>tiempo</a:t>
                </a:r>
                <a:r>
                  <a:rPr dirty="0"/>
                  <a:t> de </a:t>
                </a:r>
                <a:r>
                  <a:rPr dirty="0" err="1"/>
                  <a:t>respuesta</a:t>
                </a:r>
                <a:r>
                  <a:rPr dirty="0"/>
                  <a:t> </a:t>
                </a:r>
                <a:r>
                  <a:rPr dirty="0" err="1"/>
                  <a:t>esperado</a:t>
                </a:r>
                <a:r>
                  <a:rPr dirty="0"/>
                  <a:t> y la </a:t>
                </a:r>
                <a:r>
                  <a:rPr dirty="0" err="1"/>
                  <a:t>tasa</a:t>
                </a:r>
                <a:r>
                  <a:rPr dirty="0"/>
                  <a:t> de </a:t>
                </a:r>
                <a:r>
                  <a:rPr dirty="0" err="1"/>
                  <a:t>llegada</a:t>
                </a:r>
                <a:r>
                  <a:rPr lang="es-ES" dirty="0"/>
                  <a:t>s</a:t>
                </a:r>
                <a:r>
                  <a:rPr dirty="0"/>
                  <a:t>. </a:t>
                </a:r>
              </a:p>
              <a:p>
                <a:r>
                  <a:rPr dirty="0"/>
                  <a:t>Es </a:t>
                </a:r>
                <a:r>
                  <a:rPr dirty="0" err="1"/>
                  <a:t>válido</a:t>
                </a:r>
                <a:r>
                  <a:rPr dirty="0"/>
                  <a:t> para </a:t>
                </a:r>
                <a:r>
                  <a:rPr dirty="0" err="1"/>
                  <a:t>cualquier</a:t>
                </a:r>
                <a:r>
                  <a:rPr dirty="0"/>
                  <a:t> </a:t>
                </a:r>
                <a:r>
                  <a:rPr dirty="0" err="1"/>
                  <a:t>sistema</a:t>
                </a:r>
                <a:r>
                  <a:rPr dirty="0"/>
                  <a:t> de </a:t>
                </a:r>
                <a:r>
                  <a:rPr lang="es-ES" dirty="0"/>
                  <a:t>cola</a:t>
                </a:r>
                <a:r>
                  <a:rPr dirty="0"/>
                  <a:t> </a:t>
                </a:r>
                <a:r>
                  <a:rPr dirty="0" err="1"/>
                  <a:t>estacionari</a:t>
                </a:r>
                <a:r>
                  <a:rPr lang="es-ES" dirty="0"/>
                  <a:t>o</a:t>
                </a:r>
                <a:r>
                  <a:rPr dirty="0"/>
                  <a:t>.</a:t>
                </a:r>
              </a:p>
              <a:p>
                <a:r>
                  <a:rPr dirty="0"/>
                  <a:t>Ley de Little: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𝝀</m:t>
                        </m:r>
                      </m:e>
                      <m:sub>
                        <m:r>
                          <a:rPr lang="es-ES">
                            <a:latin typeface="Cambria Math" panose="02040503050406030204" pitchFamily="18" charset="0"/>
                          </a:rPr>
                          <m:t>𝑨</m:t>
                        </m:r>
                      </m:sub>
                    </m:sSub>
                    <m:r>
                      <a:rPr lang="es-ES">
                        <a:latin typeface="Cambria Math" panose="02040503050406030204" pitchFamily="18" charset="0"/>
                      </a:rPr>
                      <m:t>𝑬</m:t>
                    </m:r>
                    <m:r>
                      <a:rPr lang="es-ES">
                        <a:latin typeface="Cambria Math" panose="02040503050406030204" pitchFamily="18" charset="0"/>
                      </a:rPr>
                      <m:t>(</m:t>
                    </m:r>
                    <m:r>
                      <a:rPr lang="es-ES">
                        <a:latin typeface="Cambria Math" panose="02040503050406030204" pitchFamily="18" charset="0"/>
                      </a:rPr>
                      <m:t>𝑹</m:t>
                    </m:r>
                    <m:r>
                      <a:rPr lang="es-ES">
                        <a:latin typeface="Cambria Math" panose="02040503050406030204" pitchFamily="18" charset="0"/>
                      </a:rPr>
                      <m:t>)=</m:t>
                    </m:r>
                    <m:r>
                      <a:rPr lang="es-ES">
                        <a:latin typeface="Cambria Math" panose="02040503050406030204" pitchFamily="18" charset="0"/>
                      </a:rPr>
                      <m:t>𝑬</m:t>
                    </m:r>
                    <m:r>
                      <a:rPr lang="es-ES">
                        <a:latin typeface="Cambria Math" panose="02040503050406030204" pitchFamily="18" charset="0"/>
                      </a:rPr>
                      <m:t>(</m:t>
                    </m:r>
                    <m:r>
                      <a:rPr lang="es-ES">
                        <a:latin typeface="Cambria Math" panose="02040503050406030204" pitchFamily="18" charset="0"/>
                      </a:rPr>
                      <m:t>𝑿</m:t>
                    </m:r>
                    <m:r>
                      <a:rPr lang="es-ES">
                        <a:latin typeface="Cambria Math" panose="02040503050406030204" pitchFamily="18" charset="0"/>
                      </a:rPr>
                      <m:t>)</m:t>
                    </m:r>
                  </m:oMath>
                </a14:m>
                <a:endParaRPr dirty="0"/>
              </a:p>
              <a:p>
                <a:pPr lvl="1"/>
                <a14:m>
                  <m:oMath xmlns:m="http://schemas.openxmlformats.org/officeDocument/2006/math">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ea typeface="Cambria Math" panose="02040503050406030204" pitchFamily="18" charset="0"/>
                          </a:rPr>
                          <m:t>𝜆</m:t>
                        </m:r>
                      </m:e>
                      <m:sub>
                        <m:r>
                          <a:rPr lang="es-ES" sz="2400" b="0" i="1" smtClean="0">
                            <a:latin typeface="Cambria Math" panose="02040503050406030204" pitchFamily="18" charset="0"/>
                          </a:rPr>
                          <m:t>𝐴</m:t>
                        </m:r>
                      </m:sub>
                    </m:sSub>
                  </m:oMath>
                </a14:m>
                <a:r>
                  <a:rPr dirty="0"/>
                  <a:t> es la </a:t>
                </a:r>
                <a:r>
                  <a:rPr dirty="0" err="1"/>
                  <a:t>tasa</a:t>
                </a:r>
                <a:r>
                  <a:rPr dirty="0"/>
                  <a:t> de </a:t>
                </a:r>
                <a:r>
                  <a:rPr dirty="0" err="1"/>
                  <a:t>llegada</a:t>
                </a:r>
                <a:r>
                  <a:rPr lang="es-ES" dirty="0"/>
                  <a:t>s</a:t>
                </a:r>
                <a:endParaRPr dirty="0"/>
              </a:p>
              <a:p>
                <a:pPr lvl="1"/>
                <a:r>
                  <a:rPr dirty="0"/>
                  <a:t>E(R) es la e</a:t>
                </a:r>
                <a:r>
                  <a:rPr lang="es-ES" dirty="0" err="1"/>
                  <a:t>speranza</a:t>
                </a:r>
                <a:r>
                  <a:rPr dirty="0"/>
                  <a:t> de</a:t>
                </a:r>
                <a:r>
                  <a:rPr lang="es-ES" dirty="0"/>
                  <a:t>l</a:t>
                </a:r>
                <a:r>
                  <a:rPr dirty="0"/>
                  <a:t> </a:t>
                </a:r>
                <a:r>
                  <a:rPr dirty="0" err="1"/>
                  <a:t>tiempo</a:t>
                </a:r>
                <a:r>
                  <a:rPr dirty="0"/>
                  <a:t> de </a:t>
                </a:r>
                <a:r>
                  <a:rPr dirty="0" err="1"/>
                  <a:t>respuesta</a:t>
                </a:r>
                <a:r>
                  <a:rPr dirty="0"/>
                  <a:t> (</a:t>
                </a:r>
                <a:r>
                  <a:rPr dirty="0" err="1"/>
                  <a:t>tiempo</a:t>
                </a:r>
                <a:r>
                  <a:rPr dirty="0"/>
                  <a:t> de un </a:t>
                </a:r>
                <a:r>
                  <a:rPr dirty="0" err="1"/>
                  <a:t>trabajo</a:t>
                </a:r>
                <a:r>
                  <a:rPr dirty="0"/>
                  <a:t> en </a:t>
                </a:r>
                <a:r>
                  <a:rPr dirty="0" err="1"/>
                  <a:t>el</a:t>
                </a:r>
                <a:r>
                  <a:rPr dirty="0"/>
                  <a:t> </a:t>
                </a:r>
                <a:r>
                  <a:rPr dirty="0" err="1"/>
                  <a:t>sistema</a:t>
                </a:r>
                <a:r>
                  <a:rPr dirty="0"/>
                  <a:t>)</a:t>
                </a:r>
              </a:p>
              <a:p>
                <a:pPr lvl="1"/>
                <a:r>
                  <a:rPr dirty="0"/>
                  <a:t>E(X) es la e</a:t>
                </a:r>
                <a:r>
                  <a:rPr lang="es-ES" dirty="0" err="1"/>
                  <a:t>speranza</a:t>
                </a:r>
                <a:r>
                  <a:rPr dirty="0"/>
                  <a:t> de</a:t>
                </a:r>
                <a:r>
                  <a:rPr lang="es-ES" dirty="0"/>
                  <a:t>l</a:t>
                </a:r>
                <a:r>
                  <a:rPr dirty="0"/>
                  <a:t> </a:t>
                </a:r>
                <a:r>
                  <a:rPr dirty="0" err="1"/>
                  <a:t>número</a:t>
                </a:r>
                <a:r>
                  <a:rPr dirty="0"/>
                  <a:t> de </a:t>
                </a:r>
                <a:r>
                  <a:rPr lang="es-ES" dirty="0"/>
                  <a:t>trabajos</a:t>
                </a:r>
                <a:r>
                  <a:rPr dirty="0"/>
                  <a:t> en </a:t>
                </a:r>
                <a:r>
                  <a:rPr dirty="0" err="1"/>
                  <a:t>el</a:t>
                </a:r>
                <a:r>
                  <a:rPr dirty="0"/>
                  <a:t> </a:t>
                </a:r>
                <a:r>
                  <a:rPr dirty="0" err="1"/>
                  <a:t>sistema</a:t>
                </a:r>
                <a:endParaRPr dirty="0"/>
              </a:p>
            </p:txBody>
          </p:sp>
        </mc:Choice>
        <mc:Fallback xmlns="">
          <p:sp>
            <p:nvSpPr>
              <p:cNvPr id="3" name="Marcador de contenido 2">
                <a:extLst>
                  <a:ext uri="{FF2B5EF4-FFF2-40B4-BE49-F238E27FC236}">
                    <a16:creationId xmlns:a16="http://schemas.microsoft.com/office/drawing/2014/main" id="{A345FE98-0546-0189-3DE2-CE33EFC3AC89}"/>
                  </a:ext>
                </a:extLst>
              </p:cNvPr>
              <p:cNvSpPr>
                <a:spLocks noGrp="1" noRot="1" noChangeAspect="1" noMove="1" noResize="1" noEditPoints="1" noAdjustHandles="1" noChangeArrowheads="1" noChangeShapeType="1" noTextEdit="1"/>
              </p:cNvSpPr>
              <p:nvPr>
                <p:ph idx="1"/>
              </p:nvPr>
            </p:nvSpPr>
            <p:spPr>
              <a:xfrm>
                <a:off x="838200" y="1825625"/>
                <a:ext cx="5058316" cy="4351338"/>
              </a:xfrm>
              <a:blipFill>
                <a:blip r:embed="rId2"/>
                <a:stretch>
                  <a:fillRect l="-1930" t="-3501" r="-2895"/>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AD69B8DE-58D7-1274-BD13-24B36AE03A88}"/>
              </a:ext>
            </a:extLst>
          </p:cNvPr>
          <p:cNvSpPr>
            <a:spLocks noGrp="1"/>
          </p:cNvSpPr>
          <p:nvPr>
            <p:ph type="sldNum" sz="quarter" idx="12"/>
          </p:nvPr>
        </p:nvSpPr>
        <p:spPr/>
        <p:txBody>
          <a:bodyPr/>
          <a:lstStyle/>
          <a:p>
            <a:fld id="{336CAFD0-1F6E-4E11-9822-836563A02839}" type="slidenum">
              <a:rPr lang="es-ES"/>
              <a:t>9</a:t>
            </a:fld>
            <a:endParaRPr lang="es-ES"/>
          </a:p>
        </p:txBody>
      </p:sp>
      <p:pic>
        <p:nvPicPr>
          <p:cNvPr id="6" name="Imagen 5">
            <a:extLst>
              <a:ext uri="{FF2B5EF4-FFF2-40B4-BE49-F238E27FC236}">
                <a16:creationId xmlns:a16="http://schemas.microsoft.com/office/drawing/2014/main" id="{7528AB28-6418-CCB9-4F11-A4A47B41540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896516" y="1918287"/>
            <a:ext cx="6019331" cy="4258676"/>
          </a:xfrm>
          <a:prstGeom prst="rect">
            <a:avLst/>
          </a:prstGeom>
          <a:effectLst/>
        </p:spPr>
      </p:pic>
    </p:spTree>
    <p:extLst>
      <p:ext uri="{BB962C8B-B14F-4D97-AF65-F5344CB8AC3E}">
        <p14:creationId xmlns:p14="http://schemas.microsoft.com/office/powerpoint/2010/main" val="3646456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06D54D-357B-5DAD-5494-8A54720410EB}"/>
              </a:ext>
            </a:extLst>
          </p:cNvPr>
          <p:cNvSpPr>
            <a:spLocks noGrp="1"/>
          </p:cNvSpPr>
          <p:nvPr>
            <p:ph type="title"/>
          </p:nvPr>
        </p:nvSpPr>
        <p:spPr/>
        <p:txBody>
          <a:bodyPr/>
          <a:lstStyle/>
          <a:p>
            <a:r>
              <a:rPr lang="es-ES" dirty="0"/>
              <a:t>4</a:t>
            </a:r>
            <a:r>
              <a:rPr dirty="0"/>
              <a:t>. </a:t>
            </a:r>
            <a:r>
              <a:rPr dirty="0" err="1"/>
              <a:t>Tipos</a:t>
            </a:r>
            <a:r>
              <a:rPr dirty="0"/>
              <a:t> de </a:t>
            </a:r>
            <a:r>
              <a:rPr dirty="0" err="1"/>
              <a:t>sistemas</a:t>
            </a:r>
            <a:r>
              <a:rPr dirty="0"/>
              <a:t> de cola</a:t>
            </a:r>
          </a:p>
        </p:txBody>
      </p:sp>
      <p:sp>
        <p:nvSpPr>
          <p:cNvPr id="3" name="Marcador de contenido 2">
            <a:extLst>
              <a:ext uri="{FF2B5EF4-FFF2-40B4-BE49-F238E27FC236}">
                <a16:creationId xmlns:a16="http://schemas.microsoft.com/office/drawing/2014/main" id="{9CE81C1C-B069-C895-483B-B7C9BEBC2482}"/>
              </a:ext>
            </a:extLst>
          </p:cNvPr>
          <p:cNvSpPr>
            <a:spLocks noGrp="1"/>
          </p:cNvSpPr>
          <p:nvPr>
            <p:ph idx="1"/>
          </p:nvPr>
        </p:nvSpPr>
        <p:spPr/>
        <p:txBody>
          <a:bodyPr>
            <a:normAutofit fontScale="92500" lnSpcReduction="20000"/>
          </a:bodyPr>
          <a:lstStyle/>
          <a:p>
            <a:r>
              <a:rPr dirty="0"/>
              <a:t>Un </a:t>
            </a:r>
            <a:r>
              <a:rPr dirty="0" err="1"/>
              <a:t>sistema</a:t>
            </a:r>
            <a:r>
              <a:rPr dirty="0"/>
              <a:t> de </a:t>
            </a:r>
            <a:r>
              <a:rPr lang="es-ES" dirty="0"/>
              <a:t>cola</a:t>
            </a:r>
            <a:r>
              <a:rPr dirty="0"/>
              <a:t> se </a:t>
            </a:r>
            <a:r>
              <a:rPr lang="es-ES" dirty="0"/>
              <a:t>identifica </a:t>
            </a:r>
            <a:r>
              <a:rPr dirty="0" err="1"/>
              <a:t>como</a:t>
            </a:r>
            <a:r>
              <a:rPr dirty="0"/>
              <a:t> A/S/n/C</a:t>
            </a:r>
            <a:r>
              <a:rPr lang="es-ES" dirty="0"/>
              <a:t> </a:t>
            </a:r>
            <a:r>
              <a:rPr dirty="0"/>
              <a:t>(</a:t>
            </a:r>
            <a:r>
              <a:rPr dirty="0" err="1">
                <a:hlinkClick r:id="rId2"/>
              </a:rPr>
              <a:t>Notación</a:t>
            </a:r>
            <a:r>
              <a:rPr dirty="0">
                <a:hlinkClick r:id="rId2"/>
              </a:rPr>
              <a:t> de Kendall</a:t>
            </a:r>
            <a:r>
              <a:rPr dirty="0"/>
              <a:t>)</a:t>
            </a:r>
          </a:p>
          <a:p>
            <a:r>
              <a:rPr b="1" dirty="0"/>
              <a:t>A</a:t>
            </a:r>
            <a:r>
              <a:rPr dirty="0"/>
              <a:t> </a:t>
            </a:r>
            <a:r>
              <a:rPr lang="es-ES" dirty="0"/>
              <a:t>indica</a:t>
            </a:r>
            <a:r>
              <a:rPr dirty="0"/>
              <a:t> la </a:t>
            </a:r>
            <a:r>
              <a:rPr dirty="0" err="1"/>
              <a:t>distribución</a:t>
            </a:r>
            <a:r>
              <a:rPr dirty="0"/>
              <a:t> </a:t>
            </a:r>
            <a:r>
              <a:rPr lang="es-ES" dirty="0"/>
              <a:t>de probabilidad </a:t>
            </a:r>
            <a:r>
              <a:rPr dirty="0"/>
              <a:t>d</a:t>
            </a:r>
            <a:r>
              <a:rPr lang="es-ES" dirty="0"/>
              <a:t>el </a:t>
            </a:r>
            <a:r>
              <a:rPr dirty="0" err="1"/>
              <a:t>tiempo</a:t>
            </a:r>
            <a:r>
              <a:rPr dirty="0"/>
              <a:t> </a:t>
            </a:r>
            <a:r>
              <a:rPr lang="es-ES" dirty="0"/>
              <a:t>entre </a:t>
            </a:r>
            <a:r>
              <a:rPr dirty="0" err="1"/>
              <a:t>llegada</a:t>
            </a:r>
            <a:r>
              <a:rPr lang="es-ES" dirty="0"/>
              <a:t>s</a:t>
            </a:r>
            <a:endParaRPr dirty="0"/>
          </a:p>
          <a:p>
            <a:pPr lvl="1"/>
            <a:r>
              <a:rPr lang="es-ES" dirty="0"/>
              <a:t>El v</a:t>
            </a:r>
            <a:r>
              <a:rPr dirty="0" err="1"/>
              <a:t>alor</a:t>
            </a:r>
            <a:r>
              <a:rPr dirty="0"/>
              <a:t> habitual</a:t>
            </a:r>
            <a:r>
              <a:rPr lang="es-ES" dirty="0"/>
              <a:t> es “M” (</a:t>
            </a:r>
            <a:r>
              <a:rPr lang="es-ES" dirty="0" err="1"/>
              <a:t>Markov</a:t>
            </a:r>
            <a:r>
              <a:rPr lang="es-ES" dirty="0"/>
              <a:t> o </a:t>
            </a:r>
            <a:r>
              <a:rPr lang="es-ES" dirty="0" err="1"/>
              <a:t>Memoryless</a:t>
            </a:r>
            <a:r>
              <a:rPr lang="es-ES" dirty="0"/>
              <a:t>), que indica </a:t>
            </a:r>
            <a:r>
              <a:rPr dirty="0" err="1"/>
              <a:t>Tiempo</a:t>
            </a:r>
            <a:r>
              <a:rPr dirty="0"/>
              <a:t> </a:t>
            </a:r>
            <a:r>
              <a:rPr lang="es-ES" dirty="0"/>
              <a:t>entre </a:t>
            </a:r>
            <a:r>
              <a:rPr dirty="0" err="1"/>
              <a:t>llegada</a:t>
            </a:r>
            <a:r>
              <a:rPr lang="es-ES" dirty="0"/>
              <a:t>s</a:t>
            </a:r>
            <a:r>
              <a:rPr dirty="0"/>
              <a:t> </a:t>
            </a:r>
            <a:r>
              <a:rPr dirty="0" err="1"/>
              <a:t>exponencial</a:t>
            </a:r>
            <a:r>
              <a:rPr dirty="0"/>
              <a:t> (es </a:t>
            </a:r>
            <a:r>
              <a:rPr dirty="0" err="1"/>
              <a:t>decir</a:t>
            </a:r>
            <a:r>
              <a:rPr dirty="0"/>
              <a:t>, </a:t>
            </a:r>
            <a:r>
              <a:rPr lang="es-ES" dirty="0"/>
              <a:t>un </a:t>
            </a:r>
            <a:r>
              <a:rPr dirty="0" err="1"/>
              <a:t>proceso</a:t>
            </a:r>
            <a:r>
              <a:rPr dirty="0"/>
              <a:t> de </a:t>
            </a:r>
            <a:r>
              <a:rPr lang="es-ES" dirty="0"/>
              <a:t>conteo</a:t>
            </a:r>
            <a:r>
              <a:rPr dirty="0"/>
              <a:t> de Poisson). </a:t>
            </a:r>
          </a:p>
          <a:p>
            <a:pPr lvl="1"/>
            <a:r>
              <a:rPr dirty="0" err="1"/>
              <a:t>Otros</a:t>
            </a:r>
            <a:r>
              <a:rPr dirty="0"/>
              <a:t> </a:t>
            </a:r>
            <a:r>
              <a:rPr dirty="0" err="1"/>
              <a:t>valores</a:t>
            </a:r>
            <a:r>
              <a:rPr lang="es-ES" dirty="0"/>
              <a:t> posibles son</a:t>
            </a:r>
            <a:r>
              <a:rPr dirty="0"/>
              <a:t>: </a:t>
            </a:r>
            <a:r>
              <a:rPr lang="es-ES" dirty="0"/>
              <a:t>“D”, “G”, .</a:t>
            </a:r>
            <a:r>
              <a:rPr dirty="0"/>
              <a:t>..</a:t>
            </a:r>
          </a:p>
          <a:p>
            <a:r>
              <a:rPr b="1" dirty="0"/>
              <a:t>S</a:t>
            </a:r>
            <a:r>
              <a:rPr dirty="0"/>
              <a:t> </a:t>
            </a:r>
            <a:r>
              <a:rPr lang="es-ES" dirty="0"/>
              <a:t>indica</a:t>
            </a:r>
            <a:r>
              <a:rPr dirty="0"/>
              <a:t> la </a:t>
            </a:r>
            <a:r>
              <a:rPr dirty="0" err="1"/>
              <a:t>distribución</a:t>
            </a:r>
            <a:r>
              <a:rPr dirty="0"/>
              <a:t> </a:t>
            </a:r>
            <a:r>
              <a:rPr lang="es-ES" dirty="0"/>
              <a:t>de probabilidad </a:t>
            </a:r>
            <a:r>
              <a:rPr dirty="0"/>
              <a:t>de</a:t>
            </a:r>
            <a:r>
              <a:rPr lang="es-ES" dirty="0"/>
              <a:t>l </a:t>
            </a:r>
            <a:r>
              <a:rPr dirty="0" err="1"/>
              <a:t>tiempos</a:t>
            </a:r>
            <a:r>
              <a:rPr dirty="0"/>
              <a:t> de </a:t>
            </a:r>
            <a:r>
              <a:rPr dirty="0" err="1"/>
              <a:t>servicio</a:t>
            </a:r>
            <a:endParaRPr dirty="0"/>
          </a:p>
          <a:p>
            <a:pPr lvl="1"/>
            <a:r>
              <a:rPr lang="es-ES" dirty="0"/>
              <a:t>El valor </a:t>
            </a:r>
            <a:r>
              <a:rPr dirty="0"/>
              <a:t>habitual</a:t>
            </a:r>
            <a:r>
              <a:rPr lang="es-ES" dirty="0"/>
              <a:t> es “M”, que indica t</a:t>
            </a:r>
            <a:r>
              <a:rPr dirty="0" err="1"/>
              <a:t>iempos</a:t>
            </a:r>
            <a:r>
              <a:rPr dirty="0"/>
              <a:t> de </a:t>
            </a:r>
            <a:r>
              <a:rPr dirty="0" err="1"/>
              <a:t>servicio</a:t>
            </a:r>
            <a:r>
              <a:rPr dirty="0"/>
              <a:t> </a:t>
            </a:r>
            <a:r>
              <a:rPr dirty="0" err="1"/>
              <a:t>exponencial</a:t>
            </a:r>
            <a:endParaRPr dirty="0"/>
          </a:p>
          <a:p>
            <a:r>
              <a:rPr b="1" dirty="0"/>
              <a:t>n</a:t>
            </a:r>
            <a:r>
              <a:rPr dirty="0"/>
              <a:t> es </a:t>
            </a:r>
            <a:r>
              <a:rPr dirty="0" err="1"/>
              <a:t>el</a:t>
            </a:r>
            <a:r>
              <a:rPr dirty="0"/>
              <a:t> </a:t>
            </a:r>
            <a:r>
              <a:rPr dirty="0" err="1"/>
              <a:t>número</a:t>
            </a:r>
            <a:r>
              <a:rPr dirty="0"/>
              <a:t> de </a:t>
            </a:r>
            <a:r>
              <a:rPr dirty="0" err="1"/>
              <a:t>servidores</a:t>
            </a:r>
            <a:endParaRPr dirty="0"/>
          </a:p>
          <a:p>
            <a:r>
              <a:rPr b="1" dirty="0"/>
              <a:t>C</a:t>
            </a:r>
            <a:r>
              <a:rPr dirty="0"/>
              <a:t> es la </a:t>
            </a:r>
            <a:r>
              <a:rPr dirty="0" err="1"/>
              <a:t>capacidad</a:t>
            </a:r>
            <a:r>
              <a:rPr dirty="0"/>
              <a:t> de la cola (</a:t>
            </a:r>
            <a:r>
              <a:rPr dirty="0" err="1"/>
              <a:t>por</a:t>
            </a:r>
            <a:r>
              <a:rPr dirty="0"/>
              <a:t> </a:t>
            </a:r>
            <a:r>
              <a:rPr dirty="0" err="1"/>
              <a:t>defecto</a:t>
            </a:r>
            <a:r>
              <a:rPr lang="es-ES" dirty="0"/>
              <a:t>, si no se indica, se considera </a:t>
            </a:r>
            <a:r>
              <a:rPr dirty="0" err="1"/>
              <a:t>capacidad</a:t>
            </a:r>
            <a:r>
              <a:rPr dirty="0"/>
              <a:t> </a:t>
            </a:r>
            <a:r>
              <a:rPr dirty="0" err="1"/>
              <a:t>ilimitada</a:t>
            </a:r>
            <a:r>
              <a:rPr lang="es-ES" dirty="0"/>
              <a:t>:</a:t>
            </a:r>
            <a:r>
              <a:rPr dirty="0"/>
              <a:t> C = </a:t>
            </a:r>
            <a:r>
              <a:rPr lang="en-US" dirty="0"/>
              <a:t>∞</a:t>
            </a:r>
            <a:r>
              <a:rPr dirty="0"/>
              <a:t>)</a:t>
            </a:r>
          </a:p>
          <a:p>
            <a:pPr lvl="1"/>
            <a:r>
              <a:rPr dirty="0"/>
              <a:t> Es </a:t>
            </a:r>
            <a:r>
              <a:rPr dirty="0" err="1"/>
              <a:t>el</a:t>
            </a:r>
            <a:r>
              <a:rPr dirty="0"/>
              <a:t> </a:t>
            </a:r>
            <a:r>
              <a:rPr dirty="0" err="1"/>
              <a:t>número</a:t>
            </a:r>
            <a:r>
              <a:rPr dirty="0"/>
              <a:t> </a:t>
            </a:r>
            <a:r>
              <a:rPr dirty="0" err="1"/>
              <a:t>máximo</a:t>
            </a:r>
            <a:r>
              <a:rPr dirty="0"/>
              <a:t> de </a:t>
            </a:r>
            <a:r>
              <a:rPr dirty="0" err="1"/>
              <a:t>trabajos</a:t>
            </a:r>
            <a:r>
              <a:rPr dirty="0"/>
              <a:t> </a:t>
            </a:r>
            <a:r>
              <a:rPr dirty="0" err="1"/>
              <a:t>permitidos</a:t>
            </a:r>
            <a:r>
              <a:rPr dirty="0"/>
              <a:t> en la cola	</a:t>
            </a:r>
            <a:endParaRPr lang="es-ES" dirty="0"/>
          </a:p>
          <a:p>
            <a:r>
              <a:rPr lang="es-ES" dirty="0"/>
              <a:t>Los sistemas de cola más usuales son M/M/1, M/M/k y M/M/∞</a:t>
            </a:r>
            <a:endParaRPr dirty="0"/>
          </a:p>
          <a:p>
            <a:pPr lvl="1"/>
            <a:endParaRPr dirty="0"/>
          </a:p>
          <a:p>
            <a:endParaRPr dirty="0"/>
          </a:p>
          <a:p>
            <a:pPr lvl="1"/>
            <a:endParaRPr dirty="0"/>
          </a:p>
        </p:txBody>
      </p:sp>
      <p:sp>
        <p:nvSpPr>
          <p:cNvPr id="4" name="Marcador de número de diapositiva 3">
            <a:extLst>
              <a:ext uri="{FF2B5EF4-FFF2-40B4-BE49-F238E27FC236}">
                <a16:creationId xmlns:a16="http://schemas.microsoft.com/office/drawing/2014/main" id="{9DCCD345-CBC4-DA6D-F9FF-C91B2F5DCF92}"/>
              </a:ext>
            </a:extLst>
          </p:cNvPr>
          <p:cNvSpPr>
            <a:spLocks noGrp="1"/>
          </p:cNvSpPr>
          <p:nvPr>
            <p:ph type="sldNum" sz="quarter" idx="12"/>
          </p:nvPr>
        </p:nvSpPr>
        <p:spPr/>
        <p:txBody>
          <a:bodyPr/>
          <a:lstStyle/>
          <a:p>
            <a:fld id="{336CAFD0-1F6E-4E11-9822-836563A02839}" type="slidenum">
              <a:rPr lang="es-ES" smtClean="0"/>
              <a:t>10</a:t>
            </a:fld>
            <a:endParaRPr lang="es-ES"/>
          </a:p>
        </p:txBody>
      </p:sp>
    </p:spTree>
    <p:extLst>
      <p:ext uri="{BB962C8B-B14F-4D97-AF65-F5344CB8AC3E}">
        <p14:creationId xmlns:p14="http://schemas.microsoft.com/office/powerpoint/2010/main" val="862252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491712-E926-3241-EADC-D740FD72EEDD}"/>
              </a:ext>
            </a:extLst>
          </p:cNvPr>
          <p:cNvSpPr>
            <a:spLocks noGrp="1"/>
          </p:cNvSpPr>
          <p:nvPr>
            <p:ph type="title"/>
          </p:nvPr>
        </p:nvSpPr>
        <p:spPr/>
        <p:txBody>
          <a:bodyPr>
            <a:normAutofit/>
          </a:bodyPr>
          <a:lstStyle/>
          <a:p>
            <a:r>
              <a:rPr lang="es-ES" dirty="0"/>
              <a:t>5</a:t>
            </a:r>
            <a:r>
              <a:rPr dirty="0"/>
              <a:t>.</a:t>
            </a:r>
            <a:r>
              <a:rPr lang="es-ES" dirty="0"/>
              <a:t> Sistema</a:t>
            </a:r>
            <a:r>
              <a:rPr dirty="0"/>
              <a:t> M/M/1</a:t>
            </a:r>
          </a:p>
        </p:txBody>
      </p:sp>
      <p:sp>
        <p:nvSpPr>
          <p:cNvPr id="3" name="Marcador de contenido 2">
            <a:extLst>
              <a:ext uri="{FF2B5EF4-FFF2-40B4-BE49-F238E27FC236}">
                <a16:creationId xmlns:a16="http://schemas.microsoft.com/office/drawing/2014/main" id="{F51C7B3E-53B4-7C6B-5519-4A82AFA99087}"/>
              </a:ext>
            </a:extLst>
          </p:cNvPr>
          <p:cNvSpPr>
            <a:spLocks noGrp="1"/>
          </p:cNvSpPr>
          <p:nvPr>
            <p:ph idx="1"/>
          </p:nvPr>
        </p:nvSpPr>
        <p:spPr/>
        <p:txBody>
          <a:bodyPr>
            <a:normAutofit/>
          </a:bodyPr>
          <a:lstStyle/>
          <a:p>
            <a:r>
              <a:rPr dirty="0"/>
              <a:t>Un </a:t>
            </a:r>
            <a:r>
              <a:rPr dirty="0" err="1"/>
              <a:t>sistema</a:t>
            </a:r>
            <a:r>
              <a:rPr dirty="0"/>
              <a:t> de cola M/M/1 es un </a:t>
            </a:r>
            <a:r>
              <a:rPr dirty="0" err="1"/>
              <a:t>proceso</a:t>
            </a:r>
            <a:r>
              <a:rPr dirty="0"/>
              <a:t> de Markov </a:t>
            </a:r>
            <a:r>
              <a:rPr lang="es-ES" dirty="0"/>
              <a:t>de</a:t>
            </a:r>
            <a:r>
              <a:rPr dirty="0"/>
              <a:t> </a:t>
            </a:r>
            <a:r>
              <a:rPr dirty="0" err="1"/>
              <a:t>tiempo</a:t>
            </a:r>
            <a:r>
              <a:rPr dirty="0"/>
              <a:t> continuo con las </a:t>
            </a:r>
            <a:r>
              <a:rPr dirty="0" err="1"/>
              <a:t>siguientes</a:t>
            </a:r>
            <a:r>
              <a:rPr dirty="0"/>
              <a:t> </a:t>
            </a:r>
            <a:r>
              <a:rPr dirty="0" err="1"/>
              <a:t>características</a:t>
            </a:r>
            <a:r>
              <a:rPr dirty="0"/>
              <a:t>:</a:t>
            </a:r>
          </a:p>
          <a:p>
            <a:pPr lvl="1"/>
            <a:r>
              <a:rPr lang="es-ES" dirty="0"/>
              <a:t>A=“M”: </a:t>
            </a:r>
            <a:r>
              <a:rPr dirty="0" err="1"/>
              <a:t>Tiempo</a:t>
            </a:r>
            <a:r>
              <a:rPr lang="es-ES" dirty="0"/>
              <a:t> entre llegadas </a:t>
            </a:r>
            <a:r>
              <a:rPr dirty="0" err="1"/>
              <a:t>exponencial</a:t>
            </a:r>
            <a:r>
              <a:rPr lang="es-ES" dirty="0"/>
              <a:t> (proceso de llegadas de Poisson)</a:t>
            </a:r>
          </a:p>
          <a:p>
            <a:pPr lvl="2"/>
            <a:r>
              <a:rPr lang="es-ES" dirty="0"/>
              <a:t>Con tasa de llegadas </a:t>
            </a:r>
            <a:r>
              <a:rPr lang="en-US" dirty="0" err="1"/>
              <a:t>λ</a:t>
            </a:r>
            <a:r>
              <a:rPr lang="en-US" baseline="-25000" dirty="0" err="1"/>
              <a:t>A</a:t>
            </a:r>
            <a:r>
              <a:rPr lang="en-US" baseline="-25000" dirty="0"/>
              <a:t> </a:t>
            </a:r>
            <a:r>
              <a:rPr lang="es-ES" dirty="0"/>
              <a:t> </a:t>
            </a:r>
            <a:endParaRPr baseline="-25000" dirty="0"/>
          </a:p>
          <a:p>
            <a:pPr lvl="1"/>
            <a:r>
              <a:rPr lang="es-ES" dirty="0"/>
              <a:t>S=“M”: </a:t>
            </a:r>
            <a:r>
              <a:rPr dirty="0" err="1"/>
              <a:t>Tiempo</a:t>
            </a:r>
            <a:r>
              <a:rPr dirty="0"/>
              <a:t> de </a:t>
            </a:r>
            <a:r>
              <a:rPr dirty="0" err="1"/>
              <a:t>servicio</a:t>
            </a:r>
            <a:r>
              <a:rPr dirty="0"/>
              <a:t> </a:t>
            </a:r>
            <a:r>
              <a:rPr dirty="0" err="1"/>
              <a:t>exponencial</a:t>
            </a:r>
            <a:endParaRPr lang="es-ES" dirty="0"/>
          </a:p>
          <a:p>
            <a:pPr lvl="2"/>
            <a:r>
              <a:rPr lang="es-ES" dirty="0"/>
              <a:t>Con tasa de servicio </a:t>
            </a:r>
            <a:r>
              <a:rPr lang="en-US" dirty="0" err="1"/>
              <a:t>λ</a:t>
            </a:r>
            <a:r>
              <a:rPr lang="en-US" baseline="-25000" dirty="0" err="1"/>
              <a:t>S</a:t>
            </a:r>
            <a:r>
              <a:rPr lang="en-US" baseline="-25000" dirty="0"/>
              <a:t> </a:t>
            </a:r>
            <a:r>
              <a:rPr lang="es-ES" dirty="0"/>
              <a:t> </a:t>
            </a:r>
          </a:p>
          <a:p>
            <a:pPr lvl="1"/>
            <a:r>
              <a:rPr dirty="0"/>
              <a:t>Los </a:t>
            </a:r>
            <a:r>
              <a:rPr dirty="0" err="1"/>
              <a:t>tiempos</a:t>
            </a:r>
            <a:r>
              <a:rPr dirty="0"/>
              <a:t> de </a:t>
            </a:r>
            <a:r>
              <a:rPr lang="es-ES" dirty="0"/>
              <a:t>llegadas y de servicio </a:t>
            </a:r>
            <a:r>
              <a:rPr dirty="0"/>
              <a:t>son </a:t>
            </a:r>
            <a:r>
              <a:rPr dirty="0" err="1"/>
              <a:t>independientes</a:t>
            </a:r>
            <a:endParaRPr lang="es-ES" dirty="0"/>
          </a:p>
          <a:p>
            <a:pPr lvl="1"/>
            <a:r>
              <a:rPr lang="es-ES" dirty="0"/>
              <a:t>n=1: Un servidor</a:t>
            </a:r>
          </a:p>
          <a:p>
            <a:pPr lvl="1"/>
            <a:r>
              <a:rPr lang="es-ES" dirty="0"/>
              <a:t>C=∞: Capacidad ilimitada</a:t>
            </a:r>
          </a:p>
          <a:p>
            <a:pPr lvl="1"/>
            <a:endParaRPr dirty="0"/>
          </a:p>
          <a:p>
            <a:pPr lvl="1"/>
            <a:endParaRPr dirty="0"/>
          </a:p>
        </p:txBody>
      </p:sp>
      <p:sp>
        <p:nvSpPr>
          <p:cNvPr id="4" name="Marcador de número de diapositiva 3">
            <a:extLst>
              <a:ext uri="{FF2B5EF4-FFF2-40B4-BE49-F238E27FC236}">
                <a16:creationId xmlns:a16="http://schemas.microsoft.com/office/drawing/2014/main" id="{52DEDFDC-E890-D92D-C11B-E9D0271FE182}"/>
              </a:ext>
            </a:extLst>
          </p:cNvPr>
          <p:cNvSpPr>
            <a:spLocks noGrp="1"/>
          </p:cNvSpPr>
          <p:nvPr>
            <p:ph type="sldNum" sz="quarter" idx="12"/>
          </p:nvPr>
        </p:nvSpPr>
        <p:spPr/>
        <p:txBody>
          <a:bodyPr/>
          <a:lstStyle/>
          <a:p>
            <a:fld id="{336CAFD0-1F6E-4E11-9822-836563A02839}" type="slidenum">
              <a:rPr lang="es-ES" smtClean="0"/>
              <a:t>11</a:t>
            </a:fld>
            <a:endParaRPr lang="es-ES"/>
          </a:p>
        </p:txBody>
      </p:sp>
    </p:spTree>
    <p:extLst>
      <p:ext uri="{BB962C8B-B14F-4D97-AF65-F5344CB8AC3E}">
        <p14:creationId xmlns:p14="http://schemas.microsoft.com/office/powerpoint/2010/main" val="1429599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491712-E926-3241-EADC-D740FD72EEDD}"/>
              </a:ext>
            </a:extLst>
          </p:cNvPr>
          <p:cNvSpPr>
            <a:spLocks noGrp="1"/>
          </p:cNvSpPr>
          <p:nvPr>
            <p:ph type="title"/>
          </p:nvPr>
        </p:nvSpPr>
        <p:spPr/>
        <p:txBody>
          <a:bodyPr>
            <a:normAutofit fontScale="90000"/>
          </a:bodyPr>
          <a:lstStyle/>
          <a:p>
            <a:r>
              <a:rPr lang="es-ES" dirty="0"/>
              <a:t>5. Sistema M/M/1</a:t>
            </a:r>
            <a:br>
              <a:rPr lang="es-ES" dirty="0"/>
            </a:br>
            <a:r>
              <a:rPr dirty="0" err="1"/>
              <a:t>Distribución</a:t>
            </a:r>
            <a:r>
              <a:rPr dirty="0"/>
              <a:t> </a:t>
            </a:r>
            <a:r>
              <a:rPr lang="es-ES" dirty="0"/>
              <a:t>estacionaria </a:t>
            </a:r>
            <a:r>
              <a:rPr dirty="0"/>
              <a:t>del </a:t>
            </a:r>
            <a:r>
              <a:rPr dirty="0" err="1"/>
              <a:t>número</a:t>
            </a:r>
            <a:r>
              <a:rPr dirty="0"/>
              <a:t> de </a:t>
            </a:r>
            <a:r>
              <a:rPr dirty="0" err="1"/>
              <a:t>trabajo</a:t>
            </a:r>
            <a:r>
              <a:rPr lang="es-ES" dirty="0"/>
              <a:t>s</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F51C7B3E-53B4-7C6B-5519-4A82AFA99087}"/>
                  </a:ext>
                </a:extLst>
              </p:cNvPr>
              <p:cNvSpPr>
                <a:spLocks noGrp="1"/>
              </p:cNvSpPr>
              <p:nvPr>
                <p:ph idx="1"/>
              </p:nvPr>
            </p:nvSpPr>
            <p:spPr>
              <a:xfrm>
                <a:off x="838200" y="1825625"/>
                <a:ext cx="10515600" cy="4667250"/>
              </a:xfrm>
            </p:spPr>
            <p:txBody>
              <a:bodyPr>
                <a:normAutofit fontScale="92500" lnSpcReduction="10000"/>
              </a:bodyPr>
              <a:lstStyle/>
              <a:p>
                <a:r>
                  <a:rPr dirty="0" err="1"/>
                  <a:t>Cualquier</a:t>
                </a:r>
                <a:r>
                  <a:rPr dirty="0"/>
                  <a:t> </a:t>
                </a:r>
                <a:r>
                  <a:rPr dirty="0" err="1"/>
                  <a:t>sistema</a:t>
                </a:r>
                <a:r>
                  <a:rPr dirty="0"/>
                  <a:t> </a:t>
                </a:r>
                <a:r>
                  <a:rPr dirty="0" err="1"/>
                  <a:t>cuya</a:t>
                </a:r>
                <a:r>
                  <a:rPr dirty="0"/>
                  <a:t> </a:t>
                </a:r>
                <a:r>
                  <a:rPr dirty="0" err="1"/>
                  <a:t>tasa</a:t>
                </a:r>
                <a:r>
                  <a:rPr dirty="0"/>
                  <a:t> de </a:t>
                </a:r>
                <a:r>
                  <a:rPr dirty="0" err="1"/>
                  <a:t>servicio</a:t>
                </a:r>
                <a:r>
                  <a:rPr dirty="0"/>
                  <a:t> </a:t>
                </a:r>
                <a:r>
                  <a:rPr dirty="0" err="1"/>
                  <a:t>exceda</a:t>
                </a:r>
                <a:r>
                  <a:rPr dirty="0"/>
                  <a:t> la </a:t>
                </a:r>
                <a:r>
                  <a:rPr dirty="0" err="1"/>
                  <a:t>tasa</a:t>
                </a:r>
                <a:r>
                  <a:rPr dirty="0"/>
                  <a:t> de </a:t>
                </a:r>
                <a:r>
                  <a:rPr dirty="0" err="1"/>
                  <a:t>llegada</a:t>
                </a:r>
                <a:r>
                  <a:rPr lang="es-ES" dirty="0"/>
                  <a:t>s</a:t>
                </a:r>
                <a:r>
                  <a:rPr dirty="0"/>
                  <a:t> (es </a:t>
                </a:r>
                <a:r>
                  <a:rPr dirty="0" err="1"/>
                  <a:t>decir</a:t>
                </a:r>
                <a:r>
                  <a:rPr dirty="0"/>
                  <a:t>, los </a:t>
                </a:r>
                <a:r>
                  <a:rPr dirty="0" err="1"/>
                  <a:t>trabajos</a:t>
                </a:r>
                <a:r>
                  <a:rPr dirty="0"/>
                  <a:t> </a:t>
                </a:r>
                <a:r>
                  <a:rPr dirty="0" err="1"/>
                  <a:t>pueden</a:t>
                </a:r>
                <a:r>
                  <a:rPr dirty="0"/>
                  <a:t> ser </a:t>
                </a:r>
                <a:r>
                  <a:rPr dirty="0" err="1"/>
                  <a:t>atendidos</a:t>
                </a:r>
                <a:r>
                  <a:rPr dirty="0"/>
                  <a:t> </a:t>
                </a:r>
                <a:r>
                  <a:rPr dirty="0" err="1"/>
                  <a:t>más</a:t>
                </a:r>
                <a:r>
                  <a:rPr dirty="0"/>
                  <a:t> </a:t>
                </a:r>
                <a:r>
                  <a:rPr dirty="0" err="1"/>
                  <a:t>rápido</a:t>
                </a:r>
                <a:r>
                  <a:rPr dirty="0"/>
                  <a:t> de lo que </a:t>
                </a:r>
                <a:r>
                  <a:rPr dirty="0" err="1"/>
                  <a:t>llegan</a:t>
                </a:r>
                <a:r>
                  <a:rPr dirty="0"/>
                  <a:t>, </a:t>
                </a:r>
                <a:r>
                  <a:rPr dirty="0" err="1"/>
                  <a:t>por</a:t>
                </a:r>
                <a:r>
                  <a:rPr dirty="0"/>
                  <a:t> lo que no hay </a:t>
                </a:r>
                <a:r>
                  <a:rPr dirty="0" err="1"/>
                  <a:t>sobrecarga</a:t>
                </a:r>
                <a:r>
                  <a:rPr dirty="0"/>
                  <a:t>) </a:t>
                </a:r>
                <a:r>
                  <a:rPr dirty="0" err="1"/>
                  <a:t>tiene</a:t>
                </a:r>
                <a:r>
                  <a:rPr dirty="0"/>
                  <a:t> </a:t>
                </a:r>
                <a:r>
                  <a:rPr dirty="0" err="1"/>
                  <a:t>una</a:t>
                </a:r>
                <a:r>
                  <a:rPr dirty="0"/>
                  <a:t> </a:t>
                </a:r>
                <a:r>
                  <a:rPr dirty="0" err="1"/>
                  <a:t>distribución</a:t>
                </a:r>
                <a:r>
                  <a:rPr dirty="0"/>
                  <a:t> </a:t>
                </a:r>
                <a:r>
                  <a:rPr lang="es-ES" dirty="0"/>
                  <a:t>e</a:t>
                </a:r>
                <a:r>
                  <a:rPr dirty="0" err="1"/>
                  <a:t>stacionari</a:t>
                </a:r>
                <a:r>
                  <a:rPr lang="es-ES" dirty="0"/>
                  <a:t>a (estable)</a:t>
                </a:r>
                <a:r>
                  <a:rPr dirty="0"/>
                  <a:t>.</a:t>
                </a:r>
              </a:p>
              <a:p>
                <a:pPr lvl="1"/>
                <a:r>
                  <a:rPr dirty="0" err="1"/>
                  <a:t>Condición</a:t>
                </a:r>
                <a:r>
                  <a:rPr dirty="0"/>
                  <a:t>: </a:t>
                </a:r>
                <a:r>
                  <a:rPr lang="en-US" dirty="0"/>
                  <a:t>λ</a:t>
                </a:r>
                <a:r>
                  <a:rPr lang="en-US" baseline="-25000" dirty="0" err="1"/>
                  <a:t>S</a:t>
                </a:r>
                <a:r>
                  <a:rPr lang="en-US" baseline="-25000" dirty="0"/>
                  <a:t> </a:t>
                </a:r>
                <a:r>
                  <a:rPr lang="en-US" dirty="0"/>
                  <a:t>&gt; </a:t>
                </a:r>
                <a:r>
                  <a:rPr lang="en-US" dirty="0" err="1"/>
                  <a:t>λ</a:t>
                </a:r>
                <a:r>
                  <a:rPr lang="en-US" baseline="-25000" dirty="0" err="1"/>
                  <a:t>A</a:t>
                </a:r>
                <a:r>
                  <a:rPr lang="en-US" dirty="0"/>
                  <a:t> </a:t>
                </a:r>
                <a:r>
                  <a:rPr lang="en-US" dirty="0">
                    <a:sym typeface="Wingdings" panose="05000000000000000000" pitchFamily="2" charset="2"/>
                  </a:rPr>
                  <a:t> </a:t>
                </a:r>
                <a14:m>
                  <m:oMath xmlns:m="http://schemas.openxmlformats.org/officeDocument/2006/math">
                    <m:r>
                      <a:rPr lang="es-ES" i="1">
                        <a:latin typeface="Cambria Math" panose="02040503050406030204" pitchFamily="18" charset="0"/>
                        <a:sym typeface="Wingdings" panose="05000000000000000000" pitchFamily="2" charset="2"/>
                      </a:rPr>
                      <m:t>𝑟</m:t>
                    </m:r>
                    <m:r>
                      <a:rPr lang="es-ES" i="1">
                        <a:latin typeface="Cambria Math" panose="02040503050406030204" pitchFamily="18" charset="0"/>
                        <a:sym typeface="Wingdings" panose="05000000000000000000" pitchFamily="2" charset="2"/>
                      </a:rPr>
                      <m:t>&lt;1 </m:t>
                    </m:r>
                  </m:oMath>
                </a14:m>
                <a:endParaRPr lang="es-ES" dirty="0"/>
              </a:p>
              <a:p>
                <a:pPr lvl="1"/>
                <a:r>
                  <a:rPr dirty="0"/>
                  <a:t>Si </a:t>
                </a:r>
                <a14:m>
                  <m:oMath xmlns:m="http://schemas.openxmlformats.org/officeDocument/2006/math">
                    <m:r>
                      <a:rPr lang="es-ES" i="1">
                        <a:latin typeface="Cambria Math" panose="02040503050406030204" pitchFamily="18" charset="0"/>
                        <a:sym typeface="Wingdings" panose="05000000000000000000" pitchFamily="2" charset="2"/>
                      </a:rPr>
                      <m:t>𝑟</m:t>
                    </m:r>
                    <m:r>
                      <a:rPr lang="es-ES" i="1" smtClean="0">
                        <a:latin typeface="Cambria Math" panose="02040503050406030204" pitchFamily="18" charset="0"/>
                        <a:ea typeface="Cambria Math" panose="02040503050406030204" pitchFamily="18" charset="0"/>
                        <a:sym typeface="Wingdings" panose="05000000000000000000" pitchFamily="2" charset="2"/>
                      </a:rPr>
                      <m:t>≥</m:t>
                    </m:r>
                    <m:r>
                      <a:rPr lang="es-ES" i="1">
                        <a:latin typeface="Cambria Math" panose="02040503050406030204" pitchFamily="18" charset="0"/>
                        <a:sym typeface="Wingdings" panose="05000000000000000000" pitchFamily="2" charset="2"/>
                      </a:rPr>
                      <m:t>1</m:t>
                    </m:r>
                  </m:oMath>
                </a14:m>
                <a:r>
                  <a:rPr dirty="0"/>
                  <a:t> </a:t>
                </a:r>
                <a:r>
                  <a:rPr dirty="0" err="1"/>
                  <a:t>el</a:t>
                </a:r>
                <a:r>
                  <a:rPr dirty="0"/>
                  <a:t> </a:t>
                </a:r>
                <a:r>
                  <a:rPr dirty="0" err="1"/>
                  <a:t>sistema</a:t>
                </a:r>
                <a:r>
                  <a:rPr dirty="0"/>
                  <a:t> se </a:t>
                </a:r>
                <a:r>
                  <a:rPr dirty="0" err="1"/>
                  <a:t>sobrecarga</a:t>
                </a:r>
                <a:endParaRPr dirty="0"/>
              </a:p>
              <a:p>
                <a:r>
                  <a:rPr dirty="0"/>
                  <a:t>Es </a:t>
                </a:r>
                <a:r>
                  <a:rPr dirty="0" err="1"/>
                  <a:t>posible</a:t>
                </a:r>
                <a:r>
                  <a:rPr dirty="0"/>
                  <a:t> </a:t>
                </a:r>
                <a:r>
                  <a:rPr dirty="0" err="1"/>
                  <a:t>calcular</a:t>
                </a:r>
                <a:r>
                  <a:rPr dirty="0"/>
                  <a:t> la </a:t>
                </a:r>
                <a:r>
                  <a:rPr dirty="0" err="1"/>
                  <a:t>probabilidad</a:t>
                </a:r>
                <a:r>
                  <a:rPr dirty="0"/>
                  <a:t> de X</a:t>
                </a:r>
                <a:r>
                  <a:rPr lang="es-ES" dirty="0"/>
                  <a:t> (</a:t>
                </a:r>
                <a:r>
                  <a:rPr dirty="0" err="1"/>
                  <a:t>el</a:t>
                </a:r>
                <a:r>
                  <a:rPr dirty="0"/>
                  <a:t> </a:t>
                </a:r>
                <a:r>
                  <a:rPr dirty="0" err="1"/>
                  <a:t>número</a:t>
                </a:r>
                <a:r>
                  <a:rPr dirty="0"/>
                  <a:t> de </a:t>
                </a:r>
                <a:r>
                  <a:rPr dirty="0" err="1"/>
                  <a:t>trabajos</a:t>
                </a:r>
                <a:r>
                  <a:rPr dirty="0"/>
                  <a:t> en </a:t>
                </a:r>
                <a:r>
                  <a:rPr dirty="0" err="1"/>
                  <a:t>el</a:t>
                </a:r>
                <a:r>
                  <a:rPr dirty="0"/>
                  <a:t> </a:t>
                </a:r>
                <a:r>
                  <a:rPr dirty="0" err="1"/>
                  <a:t>sistema</a:t>
                </a:r>
                <a:r>
                  <a:rPr lang="es-ES" dirty="0"/>
                  <a:t>)</a:t>
                </a:r>
                <a:r>
                  <a:rPr dirty="0"/>
                  <a:t> en </a:t>
                </a:r>
                <a:r>
                  <a:rPr dirty="0" err="1"/>
                  <a:t>cualquier</a:t>
                </a:r>
                <a:r>
                  <a:rPr dirty="0"/>
                  <a:t> </a:t>
                </a:r>
                <a:r>
                  <a:rPr dirty="0" err="1"/>
                  <a:t>momento</a:t>
                </a:r>
                <a:r>
                  <a:rPr dirty="0"/>
                  <a:t> en que </a:t>
                </a:r>
                <a:r>
                  <a:rPr dirty="0" err="1"/>
                  <a:t>el</a:t>
                </a:r>
                <a:r>
                  <a:rPr dirty="0"/>
                  <a:t> </a:t>
                </a:r>
                <a:r>
                  <a:rPr dirty="0" err="1"/>
                  <a:t>sistema</a:t>
                </a:r>
                <a:r>
                  <a:rPr dirty="0"/>
                  <a:t> ha </a:t>
                </a:r>
                <a:r>
                  <a:rPr dirty="0" err="1"/>
                  <a:t>alcanzado</a:t>
                </a:r>
                <a:r>
                  <a:rPr dirty="0"/>
                  <a:t> </a:t>
                </a:r>
                <a:r>
                  <a:rPr dirty="0" err="1"/>
                  <a:t>el</a:t>
                </a:r>
                <a:r>
                  <a:rPr dirty="0"/>
                  <a:t> </a:t>
                </a:r>
                <a:r>
                  <a:rPr dirty="0" err="1"/>
                  <a:t>equilibrio</a:t>
                </a:r>
                <a:endParaRPr dirty="0">
                  <a:latin typeface="Cambria Math" panose="02040503050406030204" pitchFamily="18" charset="0"/>
                </a:endParaRPr>
              </a:p>
              <a:p>
                <a:pPr lvl="1"/>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𝜋</m:t>
                        </m:r>
                      </m:e>
                      <m:sub>
                        <m:r>
                          <a:rPr lang="es-ES" b="0" i="1" smtClean="0">
                            <a:latin typeface="Cambria Math" panose="02040503050406030204" pitchFamily="18" charset="0"/>
                          </a:rPr>
                          <m:t>𝑥</m:t>
                        </m:r>
                      </m:sub>
                    </m:sSub>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𝑥</m:t>
                        </m:r>
                      </m:e>
                    </m:d>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𝑟</m:t>
                        </m:r>
                      </m:e>
                      <m:sup>
                        <m:r>
                          <a:rPr lang="es-ES" b="0" i="1" smtClean="0">
                            <a:latin typeface="Cambria Math" panose="02040503050406030204" pitchFamily="18" charset="0"/>
                          </a:rPr>
                          <m:t>𝑥</m:t>
                        </m:r>
                      </m:sup>
                    </m:sSup>
                    <m:d>
                      <m:dPr>
                        <m:ctrlPr>
                          <a:rPr lang="es-ES" b="0" i="1" smtClean="0">
                            <a:latin typeface="Cambria Math" panose="02040503050406030204" pitchFamily="18" charset="0"/>
                          </a:rPr>
                        </m:ctrlPr>
                      </m:dPr>
                      <m:e>
                        <m:r>
                          <a:rPr lang="es-ES" b="0" i="1" smtClean="0">
                            <a:latin typeface="Cambria Math" panose="02040503050406030204" pitchFamily="18" charset="0"/>
                          </a:rPr>
                          <m:t>1−</m:t>
                        </m:r>
                        <m:r>
                          <a:rPr lang="es-ES" b="0" i="1" smtClean="0">
                            <a:latin typeface="Cambria Math" panose="02040503050406030204" pitchFamily="18" charset="0"/>
                          </a:rPr>
                          <m:t>𝑟</m:t>
                        </m:r>
                      </m:e>
                    </m:d>
                  </m:oMath>
                </a14:m>
                <a:r>
                  <a:rPr dirty="0"/>
                  <a:t>   </a:t>
                </a:r>
              </a:p>
              <a:p>
                <a:pPr lvl="1"/>
                <a14:m>
                  <m:oMath xmlns:m="http://schemas.openxmlformats.org/officeDocument/2006/math">
                    <m:r>
                      <a:rPr lang="es-ES" b="0" i="1" smtClean="0">
                        <a:latin typeface="Cambria Math" panose="02040503050406030204" pitchFamily="18" charset="0"/>
                      </a:rPr>
                      <m:t>𝐸</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𝑟</m:t>
                        </m:r>
                      </m:num>
                      <m:den>
                        <m:r>
                          <a:rPr lang="es-ES" b="0" i="1" smtClean="0">
                            <a:latin typeface="Cambria Math" panose="02040503050406030204" pitchFamily="18" charset="0"/>
                          </a:rPr>
                          <m:t>1−</m:t>
                        </m:r>
                        <m:r>
                          <a:rPr lang="es-ES" b="0" i="1" smtClean="0">
                            <a:latin typeface="Cambria Math" panose="02040503050406030204" pitchFamily="18" charset="0"/>
                          </a:rPr>
                          <m:t>𝑟</m:t>
                        </m:r>
                      </m:den>
                    </m:f>
                  </m:oMath>
                </a14:m>
                <a:endParaRPr dirty="0"/>
              </a:p>
              <a:p>
                <a:pPr lvl="1"/>
                <a14:m>
                  <m:oMath xmlns:m="http://schemas.openxmlformats.org/officeDocument/2006/math">
                    <m:r>
                      <a:rPr lang="es-ES" b="0" i="1" smtClean="0">
                        <a:latin typeface="Cambria Math" panose="02040503050406030204" pitchFamily="18" charset="0"/>
                      </a:rPr>
                      <m:t>𝑉𝑎𝑟</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𝑟</m:t>
                        </m:r>
                      </m:num>
                      <m:den>
                        <m:sSup>
                          <m:sSupPr>
                            <m:ctrlPr>
                              <a:rPr lang="es-ES" b="0" i="1" smtClean="0">
                                <a:latin typeface="Cambria Math" panose="02040503050406030204" pitchFamily="18" charset="0"/>
                              </a:rPr>
                            </m:ctrlPr>
                          </m:sSupPr>
                          <m:e>
                            <m:r>
                              <a:rPr lang="es-ES" b="0" i="1" smtClean="0">
                                <a:latin typeface="Cambria Math" panose="02040503050406030204" pitchFamily="18" charset="0"/>
                              </a:rPr>
                              <m:t>(1−</m:t>
                            </m:r>
                            <m:r>
                              <a:rPr lang="es-ES" b="0" i="1" smtClean="0">
                                <a:latin typeface="Cambria Math" panose="02040503050406030204" pitchFamily="18" charset="0"/>
                              </a:rPr>
                              <m:t>𝑟</m:t>
                            </m:r>
                            <m:r>
                              <a:rPr lang="es-ES" b="0" i="1" smtClean="0">
                                <a:latin typeface="Cambria Math" panose="02040503050406030204" pitchFamily="18" charset="0"/>
                              </a:rPr>
                              <m:t>)</m:t>
                            </m:r>
                          </m:e>
                          <m:sup>
                            <m:r>
                              <a:rPr lang="es-ES" b="0" i="1" smtClean="0">
                                <a:latin typeface="Cambria Math" panose="02040503050406030204" pitchFamily="18" charset="0"/>
                              </a:rPr>
                              <m:t>2</m:t>
                            </m:r>
                          </m:sup>
                        </m:sSup>
                      </m:den>
                    </m:f>
                  </m:oMath>
                </a14:m>
                <a:endParaRPr dirty="0"/>
              </a:p>
              <a:p>
                <a:pPr lvl="1"/>
                <a:r>
                  <a:rPr dirty="0"/>
                  <a:t>D</a:t>
                </a:r>
                <a:r>
                  <a:rPr lang="es-ES" dirty="0"/>
                  <a:t>o</a:t>
                </a:r>
                <a:r>
                  <a:rPr dirty="0" err="1"/>
                  <a:t>nde</a:t>
                </a:r>
                <a:r>
                  <a:rPr dirty="0"/>
                  <a:t> </a:t>
                </a:r>
                <a14:m>
                  <m:oMath xmlns:m="http://schemas.openxmlformats.org/officeDocument/2006/math">
                    <m:r>
                      <a:rPr lang="es-ES" b="0" i="1" smtClean="0">
                        <a:latin typeface="Cambria Math" panose="02040503050406030204" pitchFamily="18" charset="0"/>
                      </a:rPr>
                      <m:t>𝑟</m:t>
                    </m:r>
                    <m:r>
                      <a:rPr lang="es-ES" b="0" i="1" smtClean="0">
                        <a:latin typeface="Cambria Math" panose="02040503050406030204" pitchFamily="18" charset="0"/>
                      </a:rPr>
                      <m:t>=</m:t>
                    </m:r>
                    <m:f>
                      <m:fPr>
                        <m:ctrlPr>
                          <a:rPr lang="es-ES" b="0" i="1" smtClean="0">
                            <a:latin typeface="Cambria Math" panose="02040503050406030204" pitchFamily="18" charset="0"/>
                          </a:rPr>
                        </m:ctrlPr>
                      </m:fPr>
                      <m:num>
                        <m:sSub>
                          <m:sSubPr>
                            <m:ctrlPr>
                              <a:rPr lang="es-ES" b="0" i="1" smtClean="0">
                                <a:latin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𝜆</m:t>
                            </m:r>
                          </m:e>
                          <m:sub>
                            <m:r>
                              <a:rPr lang="es-ES" b="0" i="1" smtClean="0">
                                <a:latin typeface="Cambria Math" panose="02040503050406030204" pitchFamily="18" charset="0"/>
                              </a:rPr>
                              <m:t>𝐴</m:t>
                            </m:r>
                          </m:sub>
                        </m:sSub>
                      </m:num>
                      <m:den>
                        <m:sSub>
                          <m:sSubPr>
                            <m:ctrlPr>
                              <a:rPr lang="es-ES" b="0" i="1" smtClean="0">
                                <a:latin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𝜆</m:t>
                            </m:r>
                          </m:e>
                          <m:sub>
                            <m:r>
                              <a:rPr lang="es-ES" b="0" i="1" smtClean="0">
                                <a:latin typeface="Cambria Math" panose="02040503050406030204" pitchFamily="18" charset="0"/>
                              </a:rPr>
                              <m:t>𝑆</m:t>
                            </m:r>
                          </m:sub>
                        </m:sSub>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sSub>
                          <m:sSubPr>
                            <m:ctrlPr>
                              <a:rPr lang="es-ES" b="0" i="1" smtClean="0">
                                <a:latin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𝜇</m:t>
                            </m:r>
                          </m:e>
                          <m:sub>
                            <m:r>
                              <a:rPr lang="es-ES" b="0" i="1" smtClean="0">
                                <a:latin typeface="Cambria Math" panose="02040503050406030204" pitchFamily="18" charset="0"/>
                              </a:rPr>
                              <m:t>𝑆</m:t>
                            </m:r>
                          </m:sub>
                        </m:sSub>
                      </m:num>
                      <m:den>
                        <m:sSub>
                          <m:sSubPr>
                            <m:ctrlPr>
                              <a:rPr lang="es-ES" b="0" i="1" smtClean="0">
                                <a:latin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𝜇</m:t>
                            </m:r>
                          </m:e>
                          <m:sub>
                            <m:r>
                              <a:rPr lang="es-ES" b="0" i="1" smtClean="0">
                                <a:latin typeface="Cambria Math" panose="02040503050406030204" pitchFamily="18" charset="0"/>
                              </a:rPr>
                              <m:t>𝐴</m:t>
                            </m:r>
                          </m:sub>
                        </m:sSub>
                      </m:den>
                    </m:f>
                  </m:oMath>
                </a14:m>
                <a:endParaRPr dirty="0"/>
              </a:p>
              <a:p>
                <a:endParaRPr dirty="0"/>
              </a:p>
            </p:txBody>
          </p:sp>
        </mc:Choice>
        <mc:Fallback xmlns="">
          <p:sp>
            <p:nvSpPr>
              <p:cNvPr id="3" name="Marcador de contenido 2">
                <a:extLst>
                  <a:ext uri="{FF2B5EF4-FFF2-40B4-BE49-F238E27FC236}">
                    <a16:creationId xmlns:a16="http://schemas.microsoft.com/office/drawing/2014/main" id="{F51C7B3E-53B4-7C6B-5519-4A82AFA99087}"/>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928" t="-2611" r="-638"/>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52DEDFDC-E890-D92D-C11B-E9D0271FE182}"/>
              </a:ext>
            </a:extLst>
          </p:cNvPr>
          <p:cNvSpPr>
            <a:spLocks noGrp="1"/>
          </p:cNvSpPr>
          <p:nvPr>
            <p:ph type="sldNum" sz="quarter" idx="12"/>
          </p:nvPr>
        </p:nvSpPr>
        <p:spPr/>
        <p:txBody>
          <a:bodyPr/>
          <a:lstStyle/>
          <a:p>
            <a:fld id="{336CAFD0-1F6E-4E11-9822-836563A02839}" type="slidenum">
              <a:rPr lang="es-ES" smtClean="0"/>
              <a:t>12</a:t>
            </a:fld>
            <a:endParaRPr lang="es-ES"/>
          </a:p>
        </p:txBody>
      </p:sp>
    </p:spTree>
    <p:extLst>
      <p:ext uri="{BB962C8B-B14F-4D97-AF65-F5344CB8AC3E}">
        <p14:creationId xmlns:p14="http://schemas.microsoft.com/office/powerpoint/2010/main" val="4160149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491712-E926-3241-EADC-D740FD72EEDD}"/>
              </a:ext>
            </a:extLst>
          </p:cNvPr>
          <p:cNvSpPr>
            <a:spLocks noGrp="1"/>
          </p:cNvSpPr>
          <p:nvPr>
            <p:ph type="title"/>
          </p:nvPr>
        </p:nvSpPr>
        <p:spPr/>
        <p:txBody>
          <a:bodyPr>
            <a:normAutofit/>
          </a:bodyPr>
          <a:lstStyle/>
          <a:p>
            <a:r>
              <a:rPr lang="es-ES" dirty="0"/>
              <a:t>5. Sistema M/M/1</a:t>
            </a:r>
            <a:br>
              <a:rPr lang="es-ES" dirty="0"/>
            </a:br>
            <a:r>
              <a:rPr dirty="0" err="1"/>
              <a:t>Evaluación</a:t>
            </a:r>
            <a:r>
              <a:rPr dirty="0"/>
              <a:t> del </a:t>
            </a:r>
            <a:r>
              <a:rPr dirty="0" err="1"/>
              <a:t>rendimiento</a:t>
            </a:r>
            <a:r>
              <a:rPr dirty="0"/>
              <a:t> del </a:t>
            </a:r>
            <a:r>
              <a:rPr dirty="0" err="1"/>
              <a:t>sistema</a:t>
            </a:r>
            <a:r>
              <a:rPr dirty="0"/>
              <a:t> (I)</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F51C7B3E-53B4-7C6B-5519-4A82AFA99087}"/>
                  </a:ext>
                </a:extLst>
              </p:cNvPr>
              <p:cNvSpPr>
                <a:spLocks noGrp="1"/>
              </p:cNvSpPr>
              <p:nvPr>
                <p:ph idx="1"/>
              </p:nvPr>
            </p:nvSpPr>
            <p:spPr>
              <a:xfrm>
                <a:off x="838200" y="1825625"/>
                <a:ext cx="10755086" cy="4351338"/>
              </a:xfrm>
            </p:spPr>
            <p:txBody>
              <a:bodyPr>
                <a:normAutofit fontScale="92500" lnSpcReduction="10000"/>
              </a:bodyPr>
              <a:lstStyle/>
              <a:p>
                <a:r>
                  <a:rPr lang="es-ES" dirty="0"/>
                  <a:t>Utilización</a:t>
                </a:r>
              </a:p>
              <a:p>
                <a:pPr lvl="1"/>
                <a14:m>
                  <m:oMath xmlns:m="http://schemas.openxmlformats.org/officeDocument/2006/math">
                    <m:r>
                      <a:rPr lang="es-ES" b="0" i="1" smtClean="0">
                        <a:latin typeface="Cambria Math" panose="02040503050406030204" pitchFamily="18" charset="0"/>
                      </a:rPr>
                      <m:t>𝑃</m:t>
                    </m:r>
                    <m:r>
                      <a:rPr lang="es-ES" b="0" i="1" smtClean="0">
                        <a:latin typeface="Cambria Math" panose="02040503050406030204" pitchFamily="18" charset="0"/>
                      </a:rPr>
                      <m:t> </m:t>
                    </m:r>
                    <m:d>
                      <m:dPr>
                        <m:begChr m:val="{"/>
                        <m:endChr m:val="}"/>
                        <m:ctrlPr>
                          <a:rPr lang="ar-AE" b="0" i="1" smtClean="0">
                            <a:latin typeface="Cambria Math" panose="02040503050406030204" pitchFamily="18" charset="0"/>
                          </a:rPr>
                        </m:ctrlPr>
                      </m:dPr>
                      <m:e>
                        <m:r>
                          <a:rPr lang="ar-AE" b="0" i="1" smtClean="0">
                            <a:latin typeface="Cambria Math" panose="02040503050406030204" pitchFamily="18" charset="0"/>
                          </a:rPr>
                          <m:t>𝑋</m:t>
                        </m:r>
                        <m:r>
                          <a:rPr lang="ar-AE" b="0" i="1" smtClean="0">
                            <a:latin typeface="Cambria Math" panose="02040503050406030204" pitchFamily="18" charset="0"/>
                          </a:rPr>
                          <m:t>&gt;</m:t>
                        </m:r>
                        <m:r>
                          <a:rPr lang="ar-AE" b="0" i="1" smtClean="0">
                            <a:latin typeface="Cambria Math" panose="02040503050406030204" pitchFamily="18" charset="0"/>
                          </a:rPr>
                          <m:t>0</m:t>
                        </m:r>
                      </m:e>
                    </m:d>
                    <m:r>
                      <a:rPr lang="ar-AE" b="0" i="1" smtClean="0">
                        <a:latin typeface="Cambria Math" panose="02040503050406030204" pitchFamily="18" charset="0"/>
                      </a:rPr>
                      <m:t>=</m:t>
                    </m:r>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𝑃</m:t>
                    </m:r>
                    <m:d>
                      <m:dPr>
                        <m:begChr m:val="{"/>
                        <m:endChr m:val="}"/>
                        <m:ctrlPr>
                          <a:rPr lang="ar-AE" b="0" i="1" smtClean="0">
                            <a:latin typeface="Cambria Math" panose="02040503050406030204" pitchFamily="18" charset="0"/>
                          </a:rPr>
                        </m:ctrlPr>
                      </m:dPr>
                      <m:e>
                        <m:r>
                          <a:rPr lang="ar-AE" b="0" i="1" smtClean="0">
                            <a:latin typeface="Cambria Math" panose="02040503050406030204" pitchFamily="18" charset="0"/>
                          </a:rPr>
                          <m:t>𝑋</m:t>
                        </m:r>
                        <m:r>
                          <a:rPr lang="ar-AE" b="0" i="1" smtClean="0">
                            <a:latin typeface="Cambria Math" panose="02040503050406030204" pitchFamily="18" charset="0"/>
                          </a:rPr>
                          <m:t>=</m:t>
                        </m:r>
                        <m:r>
                          <a:rPr lang="ar-AE" b="0" i="1" smtClean="0">
                            <a:latin typeface="Cambria Math" panose="02040503050406030204" pitchFamily="18" charset="0"/>
                          </a:rPr>
                          <m:t>0</m:t>
                        </m:r>
                      </m:e>
                    </m:d>
                    <m:r>
                      <a:rPr lang="ar-AE" b="0" i="1" smtClean="0">
                        <a:latin typeface="Cambria Math" panose="02040503050406030204" pitchFamily="18" charset="0"/>
                      </a:rPr>
                      <m:t>=</m:t>
                    </m:r>
                    <m:r>
                      <a:rPr lang="ar-AE" b="0" i="1" smtClean="0">
                        <a:latin typeface="Cambria Math" panose="02040503050406030204" pitchFamily="18" charset="0"/>
                      </a:rPr>
                      <m:t>1</m:t>
                    </m:r>
                    <m:r>
                      <a:rPr lang="ar-AE" b="0" i="1" smtClean="0">
                        <a:latin typeface="Cambria Math" panose="02040503050406030204" pitchFamily="18" charset="0"/>
                      </a:rPr>
                      <m:t>−</m:t>
                    </m:r>
                    <m:d>
                      <m:dPr>
                        <m:ctrlPr>
                          <a:rPr lang="ar-AE" b="0" i="1" smtClean="0">
                            <a:latin typeface="Cambria Math" panose="02040503050406030204" pitchFamily="18" charset="0"/>
                          </a:rPr>
                        </m:ctrlPr>
                      </m:dPr>
                      <m:e>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𝑟</m:t>
                        </m:r>
                      </m:e>
                    </m:d>
                    <m:r>
                      <a:rPr lang="ar-AE" b="0" i="1" smtClean="0">
                        <a:latin typeface="Cambria Math" panose="02040503050406030204" pitchFamily="18" charset="0"/>
                      </a:rPr>
                      <m:t>=</m:t>
                    </m:r>
                    <m:r>
                      <a:rPr lang="ar-AE" b="0" i="1" smtClean="0">
                        <a:latin typeface="Cambria Math" panose="02040503050406030204" pitchFamily="18" charset="0"/>
                      </a:rPr>
                      <m:t>𝑟</m:t>
                    </m:r>
                  </m:oMath>
                </a14:m>
                <a:endParaRPr lang="ar-AE" b="0" i="1" dirty="0">
                  <a:latin typeface="Cambria Math" panose="02040503050406030204" pitchFamily="18" charset="0"/>
                </a:endParaRPr>
              </a:p>
              <a:p>
                <a:pPr lvl="1">
                  <a:defRPr i="1">
                    <a:latin typeface="Cambria Math" panose="02040503050406030204" pitchFamily="18" charset="0"/>
                  </a:defRPr>
                </a:pPr>
                <a14:m>
                  <m:oMath xmlns:m="http://schemas.openxmlformats.org/officeDocument/2006/math">
                    <m:r>
                      <a:rPr lang="ar-AE" b="0" i="1" smtClean="0">
                        <a:latin typeface="Cambria Math" panose="02040503050406030204" pitchFamily="18" charset="0"/>
                      </a:rPr>
                      <m:t>𝑃</m:t>
                    </m:r>
                    <m:r>
                      <a:rPr lang="ar-AE" b="0" i="1" smtClean="0">
                        <a:latin typeface="Cambria Math" panose="02040503050406030204" pitchFamily="18" charset="0"/>
                      </a:rPr>
                      <m:t> </m:t>
                    </m:r>
                    <m:d>
                      <m:dPr>
                        <m:begChr m:val="{"/>
                        <m:endChr m:val="}"/>
                        <m:ctrlPr>
                          <a:rPr lang="ar-AE" b="0" i="1" smtClean="0">
                            <a:latin typeface="Cambria Math" panose="02040503050406030204" pitchFamily="18" charset="0"/>
                          </a:rPr>
                        </m:ctrlPr>
                      </m:dPr>
                      <m:e>
                        <m:r>
                          <a:rPr lang="ar-AE" b="0" i="1" smtClean="0">
                            <a:latin typeface="Cambria Math" panose="02040503050406030204" pitchFamily="18" charset="0"/>
                          </a:rPr>
                          <m:t>𝑆𝑒𝑟𝑣𝑖</m:t>
                        </m:r>
                        <m:r>
                          <a:rPr lang="es-ES" b="0" i="1" smtClean="0">
                            <a:latin typeface="Cambria Math" panose="02040503050406030204" pitchFamily="18" charset="0"/>
                          </a:rPr>
                          <m:t>𝑑𝑜𝑟</m:t>
                        </m:r>
                        <m:r>
                          <a:rPr lang="es-ES" b="0" i="1" smtClean="0">
                            <a:latin typeface="Cambria Math" panose="02040503050406030204" pitchFamily="18" charset="0"/>
                          </a:rPr>
                          <m:t> </m:t>
                        </m:r>
                        <m:r>
                          <a:rPr lang="es-ES" b="0" i="1" smtClean="0">
                            <a:latin typeface="Cambria Math" panose="02040503050406030204" pitchFamily="18" charset="0"/>
                          </a:rPr>
                          <m:t>𝑜𝑐𝑢𝑝𝑎𝑑𝑜</m:t>
                        </m:r>
                      </m:e>
                    </m:d>
                    <m:r>
                      <a:rPr lang="ar-AE" b="0" i="1" smtClean="0">
                        <a:latin typeface="Cambria Math" panose="02040503050406030204" pitchFamily="18" charset="0"/>
                      </a:rPr>
                      <m:t>=</m:t>
                    </m:r>
                    <m:r>
                      <a:rPr lang="ar-AE" b="0" i="1" smtClean="0">
                        <a:latin typeface="Cambria Math" panose="02040503050406030204" pitchFamily="18" charset="0"/>
                      </a:rPr>
                      <m:t>𝑃</m:t>
                    </m:r>
                    <m:d>
                      <m:dPr>
                        <m:begChr m:val="{"/>
                        <m:endChr m:val="}"/>
                        <m:ctrlPr>
                          <a:rPr lang="ar-AE" b="0" i="1" smtClean="0">
                            <a:latin typeface="Cambria Math" panose="02040503050406030204" pitchFamily="18" charset="0"/>
                          </a:rPr>
                        </m:ctrlPr>
                      </m:dPr>
                      <m:e>
                        <m:sSub>
                          <m:sSubPr>
                            <m:ctrlPr>
                              <a:rPr lang="ar-AE" b="0" i="1" smtClean="0">
                                <a:latin typeface="Cambria Math" panose="02040503050406030204" pitchFamily="18" charset="0"/>
                              </a:rPr>
                            </m:ctrlPr>
                          </m:sSubPr>
                          <m:e>
                            <m:r>
                              <a:rPr lang="ar-AE" b="0" i="1" smtClean="0">
                                <a:latin typeface="Cambria Math" panose="02040503050406030204" pitchFamily="18" charset="0"/>
                              </a:rPr>
                              <m:t>𝑋</m:t>
                            </m:r>
                          </m:e>
                          <m:sub>
                            <m:r>
                              <a:rPr lang="ar-AE" b="0" i="1" smtClean="0">
                                <a:latin typeface="Cambria Math" panose="02040503050406030204" pitchFamily="18" charset="0"/>
                              </a:rPr>
                              <m:t>𝑆</m:t>
                            </m:r>
                          </m:sub>
                        </m:sSub>
                        <m:r>
                          <a:rPr lang="ar-AE" b="0" i="1" smtClean="0">
                            <a:latin typeface="Cambria Math" panose="02040503050406030204" pitchFamily="18" charset="0"/>
                          </a:rPr>
                          <m:t>=</m:t>
                        </m:r>
                        <m:r>
                          <a:rPr lang="ar-AE" b="0" i="1" smtClean="0">
                            <a:latin typeface="Cambria Math" panose="02040503050406030204" pitchFamily="18" charset="0"/>
                          </a:rPr>
                          <m:t>1</m:t>
                        </m:r>
                      </m:e>
                    </m:d>
                    <m:r>
                      <a:rPr lang="ar-AE" b="0" i="1" smtClean="0">
                        <a:latin typeface="Cambria Math" panose="02040503050406030204" pitchFamily="18" charset="0"/>
                      </a:rPr>
                      <m:t>=</m:t>
                    </m:r>
                    <m:r>
                      <a:rPr lang="ar-AE" i="1">
                        <a:latin typeface="Cambria Math" panose="02040503050406030204" pitchFamily="18" charset="0"/>
                      </a:rPr>
                      <m:t>𝑃</m:t>
                    </m:r>
                    <m:r>
                      <a:rPr lang="ar-AE" i="1">
                        <a:latin typeface="Cambria Math" panose="02040503050406030204" pitchFamily="18" charset="0"/>
                      </a:rPr>
                      <m:t> </m:t>
                    </m:r>
                    <m:d>
                      <m:dPr>
                        <m:begChr m:val="{"/>
                        <m:endChr m:val="}"/>
                        <m:ctrlPr>
                          <a:rPr lang="ar-AE" i="1">
                            <a:latin typeface="Cambria Math" panose="02040503050406030204" pitchFamily="18" charset="0"/>
                          </a:rPr>
                        </m:ctrlPr>
                      </m:dPr>
                      <m:e>
                        <m:r>
                          <a:rPr lang="ar-AE" i="1">
                            <a:latin typeface="Cambria Math" panose="02040503050406030204" pitchFamily="18" charset="0"/>
                          </a:rPr>
                          <m:t>𝑋</m:t>
                        </m:r>
                        <m:r>
                          <a:rPr lang="ar-AE" i="1">
                            <a:latin typeface="Cambria Math" panose="02040503050406030204" pitchFamily="18" charset="0"/>
                          </a:rPr>
                          <m:t>&gt;</m:t>
                        </m:r>
                        <m:r>
                          <a:rPr lang="ar-AE" i="1">
                            <a:latin typeface="Cambria Math" panose="02040503050406030204" pitchFamily="18" charset="0"/>
                          </a:rPr>
                          <m:t>0</m:t>
                        </m:r>
                      </m:e>
                    </m:d>
                    <m:r>
                      <a:rPr lang="ar-AE" b="0" i="1" smtClean="0">
                        <a:latin typeface="Cambria Math" panose="02040503050406030204" pitchFamily="18" charset="0"/>
                      </a:rPr>
                      <m:t>=</m:t>
                    </m:r>
                    <m:r>
                      <a:rPr lang="ar-AE" b="0" i="1" smtClean="0">
                        <a:latin typeface="Cambria Math" panose="02040503050406030204" pitchFamily="18" charset="0"/>
                      </a:rPr>
                      <m:t>𝑟</m:t>
                    </m:r>
                  </m:oMath>
                </a14:m>
                <a:r>
                  <a:rPr lang="ar-AE" dirty="0"/>
                  <a:t> </a:t>
                </a:r>
              </a:p>
              <a:p>
                <a:pPr lvl="2"/>
                <a:r>
                  <a:rPr lang="es-ES" dirty="0"/>
                  <a:t>Si sólo hay un trabajo en el sistema, el trabajo no está en cola, está en el servidor </a:t>
                </a:r>
                <a:endParaRPr lang="es-ES" b="0" dirty="0"/>
              </a:p>
              <a:p>
                <a:r>
                  <a:rPr lang="es-ES" dirty="0" err="1"/>
                  <a:t>Tiempo</a:t>
                </a:r>
                <a:r>
                  <a:rPr lang="es-ES" dirty="0"/>
                  <a:t> de </a:t>
                </a:r>
                <a:r>
                  <a:rPr lang="es-ES" dirty="0" err="1"/>
                  <a:t>espera</a:t>
                </a:r>
                <a:endParaRPr lang="es-ES" dirty="0"/>
              </a:p>
              <a:p>
                <a:pPr lvl="1"/>
                <a14:m>
                  <m:oMath xmlns:m="http://schemas.openxmlformats.org/officeDocument/2006/math">
                    <m:r>
                      <a:rPr lang="es-ES" b="0" i="1" smtClean="0">
                        <a:latin typeface="Cambria Math" panose="02040503050406030204" pitchFamily="18" charset="0"/>
                      </a:rPr>
                      <m:t>𝑊</m:t>
                    </m:r>
                    <m:r>
                      <a:rPr lang="es-ES" b="0" i="1" smtClean="0">
                        <a:latin typeface="Cambria Math" panose="02040503050406030204" pitchFamily="18" charset="0"/>
                      </a:rPr>
                      <m:t>=</m:t>
                    </m:r>
                    <m:sSub>
                      <m:sSubPr>
                        <m:ctrlPr>
                          <a:rPr lang="ar-AE" b="0" i="1" smtClean="0">
                            <a:latin typeface="Cambria Math" panose="02040503050406030204" pitchFamily="18" charset="0"/>
                          </a:rPr>
                        </m:ctrlPr>
                      </m:sSubPr>
                      <m:e>
                        <m:r>
                          <a:rPr lang="ar-AE" b="0" i="1" smtClean="0">
                            <a:latin typeface="Cambria Math" panose="02040503050406030204" pitchFamily="18" charset="0"/>
                          </a:rPr>
                          <m:t>𝑆</m:t>
                        </m:r>
                      </m:e>
                      <m:sub>
                        <m:r>
                          <a:rPr lang="ar-AE" b="0" i="1" smtClean="0">
                            <a:latin typeface="Cambria Math" panose="02040503050406030204" pitchFamily="18" charset="0"/>
                          </a:rPr>
                          <m:t>1</m:t>
                        </m:r>
                      </m:sub>
                    </m:sSub>
                    <m:r>
                      <a:rPr lang="ar-AE" b="0" i="1" smtClean="0">
                        <a:latin typeface="Cambria Math" panose="02040503050406030204" pitchFamily="18" charset="0"/>
                      </a:rPr>
                      <m:t>+</m:t>
                    </m:r>
                  </m:oMath>
                </a14:m>
                <a:r>
                  <a:rPr lang="ar-AE" dirty="0"/>
                  <a: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b="0" i="1" smtClean="0">
                            <a:latin typeface="Cambria Math" panose="02040503050406030204" pitchFamily="18" charset="0"/>
                          </a:rPr>
                          <m:t>2</m:t>
                        </m:r>
                      </m:sub>
                    </m:sSub>
                    <m:r>
                      <a:rPr lang="ar-AE" b="0" i="1" smtClean="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b="0" i="1" smtClean="0">
                            <a:latin typeface="Cambria Math" panose="02040503050406030204" pitchFamily="18" charset="0"/>
                          </a:rPr>
                          <m:t>𝑥</m:t>
                        </m:r>
                      </m:sub>
                    </m:sSub>
                  </m:oMath>
                </a14:m>
                <a:endParaRPr lang="ar-AE" dirty="0"/>
              </a:p>
              <a:p>
                <a:pPr lvl="1"/>
                <a14:m>
                  <m:oMath xmlns:m="http://schemas.openxmlformats.org/officeDocument/2006/math">
                    <m:r>
                      <a:rPr lang="ar-AE"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𝑊</m:t>
                        </m:r>
                      </m:e>
                    </m:d>
                    <m:r>
                      <a:rPr lang="ar-AE" b="0" i="1" smtClean="0">
                        <a:latin typeface="Cambria Math" panose="02040503050406030204" pitchFamily="18" charset="0"/>
                      </a:rPr>
                      <m:t>=</m:t>
                    </m:r>
                  </m:oMath>
                </a14:m>
                <a:r>
                  <a:rPr lang="ar-AE" dirty="0"/>
                  <a:t> </a:t>
                </a:r>
                <a14:m>
                  <m:oMath xmlns:m="http://schemas.openxmlformats.org/officeDocument/2006/math">
                    <m:sSub>
                      <m:sSubPr>
                        <m:ctrlPr>
                          <a:rPr lang="ar-AE" i="1">
                            <a:latin typeface="Cambria Math" panose="02040503050406030204" pitchFamily="18" charset="0"/>
                          </a:rPr>
                        </m:ctrlPr>
                      </m:sSubPr>
                      <m:e>
                        <m:r>
                          <a:rPr lang="ar-AE" b="0" i="1" smtClean="0">
                            <a:latin typeface="Cambria Math" panose="02040503050406030204" pitchFamily="18" charset="0"/>
                          </a:rPr>
                          <m:t>𝐸</m:t>
                        </m:r>
                        <m:r>
                          <a:rPr lang="ar-AE" b="0" i="1" smtClean="0">
                            <a:latin typeface="Cambria Math" panose="02040503050406030204" pitchFamily="18" charset="0"/>
                          </a:rPr>
                          <m:t>(</m:t>
                        </m:r>
                        <m:r>
                          <a:rPr lang="ar-AE" i="1">
                            <a:latin typeface="Cambria Math" panose="02040503050406030204" pitchFamily="18" charset="0"/>
                          </a:rPr>
                          <m:t>𝑆</m:t>
                        </m:r>
                      </m:e>
                      <m:sub>
                        <m:r>
                          <a:rPr lang="ar-AE" i="1">
                            <a:latin typeface="Cambria Math" panose="02040503050406030204" pitchFamily="18" charset="0"/>
                          </a:rPr>
                          <m:t>1</m:t>
                        </m:r>
                      </m:sub>
                    </m:sSub>
                    <m:r>
                      <a:rPr lang="ar-AE" b="0" i="1" smtClean="0">
                        <a:latin typeface="Cambria Math" panose="02040503050406030204" pitchFamily="18" charset="0"/>
                      </a:rPr>
                      <m:t>)</m:t>
                    </m:r>
                    <m:r>
                      <a:rPr lang="ar-AE" i="1">
                        <a:latin typeface="Cambria Math" panose="02040503050406030204" pitchFamily="18" charset="0"/>
                      </a:rPr>
                      <m:t>+</m:t>
                    </m:r>
                    <m:sSub>
                      <m:sSubPr>
                        <m:ctrlPr>
                          <a:rPr lang="ar-AE" i="1">
                            <a:latin typeface="Cambria Math" panose="02040503050406030204" pitchFamily="18" charset="0"/>
                          </a:rPr>
                        </m:ctrlPr>
                      </m:sSubPr>
                      <m:e>
                        <m:r>
                          <a:rPr lang="ar-AE" b="0" i="1" smtClean="0">
                            <a:latin typeface="Cambria Math" panose="02040503050406030204" pitchFamily="18" charset="0"/>
                          </a:rPr>
                          <m:t>𝐸</m:t>
                        </m:r>
                        <m:r>
                          <a:rPr lang="ar-AE" b="0" i="1" smtClean="0">
                            <a:latin typeface="Cambria Math" panose="02040503050406030204" pitchFamily="18" charset="0"/>
                          </a:rPr>
                          <m:t>(</m:t>
                        </m:r>
                        <m:r>
                          <a:rPr lang="ar-AE" i="1">
                            <a:latin typeface="Cambria Math" panose="02040503050406030204" pitchFamily="18" charset="0"/>
                          </a:rPr>
                          <m:t>𝑆</m:t>
                        </m:r>
                      </m:e>
                      <m:sub>
                        <m:r>
                          <a:rPr lang="ar-AE" i="1">
                            <a:latin typeface="Cambria Math" panose="02040503050406030204" pitchFamily="18" charset="0"/>
                          </a:rPr>
                          <m:t>2</m:t>
                        </m:r>
                      </m:sub>
                    </m:sSub>
                    <m:r>
                      <a:rPr lang="ar-AE" b="0" i="1" smtClean="0">
                        <a:latin typeface="Cambria Math" panose="02040503050406030204" pitchFamily="18" charset="0"/>
                      </a:rPr>
                      <m:t>)</m:t>
                    </m:r>
                    <m:r>
                      <a:rPr lang="ar-AE" i="1" smtClean="0">
                        <a:latin typeface="Cambria Math" panose="02040503050406030204" pitchFamily="18" charset="0"/>
                      </a:rPr>
                      <m:t> </m:t>
                    </m:r>
                    <m:r>
                      <a:rPr lang="ar-AE" i="1">
                        <a:latin typeface="Cambria Math" panose="02040503050406030204" pitchFamily="18" charset="0"/>
                      </a:rPr>
                      <m:t>+…+</m:t>
                    </m:r>
                    <m:r>
                      <a:rPr lang="ar-AE" b="0" i="1" smtClean="0">
                        <a:latin typeface="Cambria Math" panose="02040503050406030204" pitchFamily="18" charset="0"/>
                      </a:rPr>
                      <m:t>𝐸</m:t>
                    </m:r>
                    <m:d>
                      <m:dPr>
                        <m:ctrlPr>
                          <a:rPr lang="ar-AE" b="0" i="1" smtClean="0">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𝑥</m:t>
                            </m:r>
                          </m:sub>
                        </m:sSub>
                      </m:e>
                    </m:d>
                    <m:r>
                      <a:rPr lang="ar-AE" b="0" i="1" smtClean="0">
                        <a:latin typeface="Cambria Math" panose="02040503050406030204" pitchFamily="18" charset="0"/>
                      </a:rPr>
                      <m:t>=</m:t>
                    </m:r>
                    <m:r>
                      <a:rPr lang="ar-AE"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𝑆</m:t>
                        </m:r>
                      </m:e>
                    </m:d>
                    <m:r>
                      <a:rPr lang="ar-AE"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f>
                      <m:fPr>
                        <m:ctrlPr>
                          <a:rPr lang="ar-AE" b="0" i="1" smtClean="0">
                            <a:latin typeface="Cambria Math" panose="02040503050406030204" pitchFamily="18" charset="0"/>
                          </a:rPr>
                        </m:ctrlPr>
                      </m:fPr>
                      <m:num>
                        <m:r>
                          <a:rPr lang="ar-AE" b="0" i="1" smtClean="0">
                            <a:latin typeface="Cambria Math" panose="02040503050406030204" pitchFamily="18" charset="0"/>
                          </a:rPr>
                          <m:t>1</m:t>
                        </m:r>
                      </m:num>
                      <m:den>
                        <m:sSub>
                          <m:sSubPr>
                            <m:ctrlPr>
                              <a:rPr lang="ar-AE" b="0" i="1" smtClean="0">
                                <a:latin typeface="Cambria Math" panose="02040503050406030204" pitchFamily="18" charset="0"/>
                              </a:rPr>
                            </m:ctrlPr>
                          </m:sSubPr>
                          <m:e>
                            <m:r>
                              <a:rPr lang="ar-AE" b="0" i="1" smtClean="0">
                                <a:latin typeface="Cambria Math" panose="02040503050406030204" pitchFamily="18" charset="0"/>
                                <a:ea typeface="Cambria Math" panose="02040503050406030204" pitchFamily="18" charset="0"/>
                              </a:rPr>
                              <m:t>𝜆</m:t>
                            </m:r>
                          </m:e>
                          <m:sub>
                            <m:r>
                              <a:rPr lang="ar-AE" b="0" i="1" smtClean="0">
                                <a:latin typeface="Cambria Math" panose="02040503050406030204" pitchFamily="18" charset="0"/>
                              </a:rPr>
                              <m:t>𝑆</m:t>
                            </m:r>
                          </m:sub>
                        </m:sSub>
                      </m:den>
                    </m:f>
                    <m:r>
                      <a:rPr lang="ar-AE" b="0" i="1" smtClean="0">
                        <a:latin typeface="Cambria Math" panose="02040503050406030204" pitchFamily="18" charset="0"/>
                        <a:ea typeface="Cambria Math" panose="02040503050406030204" pitchFamily="18" charset="0"/>
                      </a:rPr>
                      <m:t>∙</m:t>
                    </m:r>
                    <m:f>
                      <m:fPr>
                        <m:ctrlPr>
                          <a:rPr lang="ar-AE" b="0" i="1" smtClean="0">
                            <a:latin typeface="Cambria Math" panose="02040503050406030204" pitchFamily="18" charset="0"/>
                          </a:rPr>
                        </m:ctrlPr>
                      </m:fPr>
                      <m:num>
                        <m:r>
                          <a:rPr lang="ar-AE" b="0" i="1" smtClean="0">
                            <a:latin typeface="Cambria Math" panose="02040503050406030204" pitchFamily="18" charset="0"/>
                          </a:rPr>
                          <m:t>𝑟</m:t>
                        </m:r>
                      </m:num>
                      <m:den>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𝑟</m:t>
                        </m:r>
                      </m:den>
                    </m:f>
                    <m:r>
                      <a:rPr lang="ar-AE" b="0" i="1" smtClean="0">
                        <a:latin typeface="Cambria Math" panose="02040503050406030204" pitchFamily="18" charset="0"/>
                      </a:rPr>
                      <m:t>=</m:t>
                    </m:r>
                    <m:sSub>
                      <m:sSubPr>
                        <m:ctrlPr>
                          <a:rPr lang="ar-AE" b="0" i="1" smtClean="0">
                            <a:latin typeface="Cambria Math" panose="02040503050406030204" pitchFamily="18" charset="0"/>
                          </a:rPr>
                        </m:ctrlPr>
                      </m:sSubPr>
                      <m:e>
                        <m:r>
                          <a:rPr lang="ar-AE" b="0" i="1" smtClean="0">
                            <a:latin typeface="Cambria Math" panose="02040503050406030204" pitchFamily="18" charset="0"/>
                            <a:ea typeface="Cambria Math" panose="02040503050406030204" pitchFamily="18" charset="0"/>
                          </a:rPr>
                          <m:t>𝜇</m:t>
                        </m:r>
                      </m:e>
                      <m:sub>
                        <m:r>
                          <a:rPr lang="ar-AE" b="0" i="1" smtClean="0">
                            <a:latin typeface="Cambria Math" panose="02040503050406030204" pitchFamily="18" charset="0"/>
                          </a:rPr>
                          <m:t>𝑆</m:t>
                        </m:r>
                      </m:sub>
                    </m:sSub>
                    <m:f>
                      <m:fPr>
                        <m:ctrlPr>
                          <a:rPr lang="ar-AE" b="0" i="1" smtClean="0">
                            <a:latin typeface="Cambria Math" panose="02040503050406030204" pitchFamily="18" charset="0"/>
                          </a:rPr>
                        </m:ctrlPr>
                      </m:fPr>
                      <m:num>
                        <m:r>
                          <a:rPr lang="ar-AE" b="0" i="1" smtClean="0">
                            <a:latin typeface="Cambria Math" panose="02040503050406030204" pitchFamily="18" charset="0"/>
                          </a:rPr>
                          <m:t>𝑟</m:t>
                        </m:r>
                      </m:num>
                      <m:den>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𝑟</m:t>
                        </m:r>
                      </m:den>
                    </m:f>
                  </m:oMath>
                </a14:m>
                <a:endParaRPr lang="ar-AE" dirty="0"/>
              </a:p>
              <a:p>
                <a:pPr lvl="2"/>
                <a14:m>
                  <m:oMath xmlns:m="http://schemas.openxmlformats.org/officeDocument/2006/math">
                    <m:r>
                      <a:rPr lang="ar-AE"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𝑆</m:t>
                        </m:r>
                      </m:e>
                    </m:d>
                    <m:r>
                      <a:rPr lang="ar-AE" b="0" i="1" smtClean="0">
                        <a:latin typeface="Cambria Math" panose="02040503050406030204" pitchFamily="18" charset="0"/>
                      </a:rPr>
                      <m:t>=</m:t>
                    </m:r>
                    <m:sSub>
                      <m:sSubPr>
                        <m:ctrlPr>
                          <a:rPr lang="ar-AE" b="0" i="1" smtClean="0">
                            <a:latin typeface="Cambria Math" panose="02040503050406030204" pitchFamily="18" charset="0"/>
                          </a:rPr>
                        </m:ctrlPr>
                      </m:sSubPr>
                      <m:e>
                        <m:f>
                          <m:fPr>
                            <m:ctrlPr>
                              <a:rPr lang="ar-AE" b="0" i="1" smtClean="0">
                                <a:latin typeface="Cambria Math" panose="02040503050406030204" pitchFamily="18" charset="0"/>
                              </a:rPr>
                            </m:ctrlPr>
                          </m:fPr>
                          <m:num>
                            <m:r>
                              <a:rPr lang="ar-AE" b="0" i="1" smtClean="0">
                                <a:latin typeface="Cambria Math" panose="02040503050406030204" pitchFamily="18" charset="0"/>
                              </a:rPr>
                              <m:t>1</m:t>
                            </m:r>
                          </m:num>
                          <m:den>
                            <m:sSub>
                              <m:sSubPr>
                                <m:ctrlPr>
                                  <a:rPr lang="ar-AE" b="0" i="1" smtClean="0">
                                    <a:latin typeface="Cambria Math" panose="02040503050406030204" pitchFamily="18" charset="0"/>
                                  </a:rPr>
                                </m:ctrlPr>
                              </m:sSubPr>
                              <m:e>
                                <m:r>
                                  <a:rPr lang="ar-AE" b="0" i="1" smtClean="0">
                                    <a:latin typeface="Cambria Math" panose="02040503050406030204" pitchFamily="18" charset="0"/>
                                    <a:ea typeface="Cambria Math" panose="02040503050406030204" pitchFamily="18" charset="0"/>
                                  </a:rPr>
                                  <m:t>𝜆</m:t>
                                </m:r>
                              </m:e>
                              <m:sub>
                                <m:r>
                                  <a:rPr lang="ar-AE" b="0" i="1" smtClean="0">
                                    <a:latin typeface="Cambria Math" panose="02040503050406030204" pitchFamily="18" charset="0"/>
                                  </a:rPr>
                                  <m:t>𝑆</m:t>
                                </m:r>
                              </m:sub>
                            </m:sSub>
                          </m:den>
                        </m:f>
                        <m:r>
                          <a:rPr lang="ar-AE" b="0" i="1" smtClean="0">
                            <a:latin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𝜇</m:t>
                        </m:r>
                      </m:e>
                      <m:sub>
                        <m:r>
                          <a:rPr lang="ar-AE" b="0" i="1" smtClean="0">
                            <a:latin typeface="Cambria Math" panose="02040503050406030204" pitchFamily="18" charset="0"/>
                          </a:rPr>
                          <m:t>𝑠</m:t>
                        </m:r>
                      </m:sub>
                    </m:sSub>
                  </m:oMath>
                </a14:m>
                <a:r>
                  <a:rPr lang="ar-AE" dirty="0"/>
                  <a:t> </a:t>
                </a:r>
                <a:r>
                  <a:rPr lang="es-ES" dirty="0" err="1"/>
                  <a:t>porque</a:t>
                </a:r>
                <a:r>
                  <a:rPr lang="es-ES" dirty="0"/>
                  <a:t> S es </a:t>
                </a:r>
                <a:r>
                  <a:rPr lang="es-ES" dirty="0" err="1"/>
                  <a:t>exponencial</a:t>
                </a:r>
                <a:r>
                  <a:rPr lang="es-ES" dirty="0"/>
                  <a:t>;   </a:t>
                </a:r>
                <a14:m>
                  <m:oMath xmlns:m="http://schemas.openxmlformats.org/officeDocument/2006/math">
                    <m:r>
                      <a:rPr lang="es-ES" i="1">
                        <a:latin typeface="Cambria Math" panose="02040503050406030204" pitchFamily="18" charset="0"/>
                      </a:rPr>
                      <m:t>𝐸</m:t>
                    </m:r>
                    <m:d>
                      <m:dPr>
                        <m:ctrlPr>
                          <a:rPr lang="ar-AE" i="1">
                            <a:latin typeface="Cambria Math" panose="02040503050406030204" pitchFamily="18" charset="0"/>
                          </a:rPr>
                        </m:ctrlPr>
                      </m:dPr>
                      <m:e>
                        <m:r>
                          <a:rPr lang="ar-AE" i="1">
                            <a:latin typeface="Cambria Math" panose="02040503050406030204" pitchFamily="18" charset="0"/>
                          </a:rPr>
                          <m:t>𝑋</m:t>
                        </m:r>
                      </m:e>
                    </m:d>
                    <m:r>
                      <a:rPr lang="ar-AE" i="1">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𝑟</m:t>
                        </m:r>
                      </m:num>
                      <m:den>
                        <m:r>
                          <a:rPr lang="ar-AE" i="1">
                            <a:latin typeface="Cambria Math" panose="02040503050406030204" pitchFamily="18" charset="0"/>
                          </a:rPr>
                          <m:t>1</m:t>
                        </m:r>
                        <m:r>
                          <a:rPr lang="ar-AE" i="1">
                            <a:latin typeface="Cambria Math" panose="02040503050406030204" pitchFamily="18" charset="0"/>
                          </a:rPr>
                          <m:t>−</m:t>
                        </m:r>
                        <m:r>
                          <a:rPr lang="ar-AE" i="1">
                            <a:latin typeface="Cambria Math" panose="02040503050406030204" pitchFamily="18" charset="0"/>
                          </a:rPr>
                          <m:t>𝑟</m:t>
                        </m:r>
                      </m:den>
                    </m:f>
                  </m:oMath>
                </a14:m>
                <a:endParaRPr lang="ar-AE" dirty="0"/>
              </a:p>
              <a:p>
                <a:r>
                  <a:rPr lang="es-ES" dirty="0" err="1"/>
                  <a:t>Tiempo</a:t>
                </a:r>
                <a:r>
                  <a:rPr lang="es-ES" dirty="0"/>
                  <a:t> de </a:t>
                </a:r>
                <a:r>
                  <a:rPr lang="es-ES" dirty="0" err="1"/>
                  <a:t>respuesta</a:t>
                </a:r>
                <a:endParaRPr lang="es-ES" dirty="0"/>
              </a:p>
              <a:p>
                <a:pPr lvl="1"/>
                <a14:m>
                  <m:oMath xmlns:m="http://schemas.openxmlformats.org/officeDocument/2006/math">
                    <m:r>
                      <a:rPr lang="es-ES"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𝑅</m:t>
                        </m:r>
                      </m:e>
                    </m:d>
                    <m:r>
                      <a:rPr lang="ar-AE" b="0" i="1" smtClean="0">
                        <a:latin typeface="Cambria Math" panose="02040503050406030204" pitchFamily="18" charset="0"/>
                      </a:rPr>
                      <m:t>=</m:t>
                    </m:r>
                    <m:r>
                      <a:rPr lang="ar-AE"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𝑊</m:t>
                        </m:r>
                      </m:e>
                    </m:d>
                    <m:r>
                      <a:rPr lang="ar-AE" b="0" i="1" smtClean="0">
                        <a:latin typeface="Cambria Math" panose="02040503050406030204" pitchFamily="18" charset="0"/>
                      </a:rPr>
                      <m:t>+</m:t>
                    </m:r>
                    <m:r>
                      <a:rPr lang="ar-AE"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𝑆</m:t>
                        </m:r>
                      </m:e>
                    </m:d>
                    <m:r>
                      <a:rPr lang="ar-AE" b="0" i="1" smtClean="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ea typeface="Cambria Math" panose="02040503050406030204" pitchFamily="18" charset="0"/>
                          </a:rPr>
                          <m:t>𝜇</m:t>
                        </m:r>
                      </m:e>
                      <m:sub>
                        <m:r>
                          <a:rPr lang="ar-AE" i="1">
                            <a:latin typeface="Cambria Math" panose="02040503050406030204" pitchFamily="18" charset="0"/>
                          </a:rPr>
                          <m:t>𝑆</m:t>
                        </m:r>
                      </m:sub>
                    </m:sSub>
                    <m:f>
                      <m:fPr>
                        <m:ctrlPr>
                          <a:rPr lang="ar-AE" i="1">
                            <a:latin typeface="Cambria Math" panose="02040503050406030204" pitchFamily="18" charset="0"/>
                          </a:rPr>
                        </m:ctrlPr>
                      </m:fPr>
                      <m:num>
                        <m:r>
                          <a:rPr lang="ar-AE" i="1">
                            <a:latin typeface="Cambria Math" panose="02040503050406030204" pitchFamily="18" charset="0"/>
                          </a:rPr>
                          <m:t>𝑟</m:t>
                        </m:r>
                      </m:num>
                      <m:den>
                        <m:r>
                          <a:rPr lang="ar-AE" i="1">
                            <a:latin typeface="Cambria Math" panose="02040503050406030204" pitchFamily="18" charset="0"/>
                          </a:rPr>
                          <m:t>1</m:t>
                        </m:r>
                        <m:r>
                          <a:rPr lang="ar-AE" i="1">
                            <a:latin typeface="Cambria Math" panose="02040503050406030204" pitchFamily="18" charset="0"/>
                          </a:rPr>
                          <m:t>−</m:t>
                        </m:r>
                        <m:r>
                          <a:rPr lang="ar-AE" i="1">
                            <a:latin typeface="Cambria Math" panose="02040503050406030204" pitchFamily="18" charset="0"/>
                          </a:rPr>
                          <m:t>𝑟</m:t>
                        </m:r>
                      </m:den>
                    </m:f>
                    <m:r>
                      <a:rPr lang="ar-AE" b="0" i="1" smtClean="0">
                        <a:latin typeface="Cambria Math" panose="02040503050406030204" pitchFamily="18" charset="0"/>
                      </a:rPr>
                      <m:t>+</m:t>
                    </m:r>
                    <m:sSub>
                      <m:sSubPr>
                        <m:ctrlPr>
                          <a:rPr lang="ar-AE" b="0" i="1" smtClean="0">
                            <a:latin typeface="Cambria Math" panose="02040503050406030204" pitchFamily="18" charset="0"/>
                          </a:rPr>
                        </m:ctrlPr>
                      </m:sSubPr>
                      <m:e>
                        <m:r>
                          <a:rPr lang="ar-AE" b="0" i="1" smtClean="0">
                            <a:latin typeface="Cambria Math" panose="02040503050406030204" pitchFamily="18" charset="0"/>
                            <a:ea typeface="Cambria Math" panose="02040503050406030204" pitchFamily="18" charset="0"/>
                          </a:rPr>
                          <m:t>𝜇</m:t>
                        </m:r>
                      </m:e>
                      <m:sub>
                        <m:r>
                          <a:rPr lang="ar-AE" b="0" i="1" smtClean="0">
                            <a:latin typeface="Cambria Math" panose="02040503050406030204" pitchFamily="18" charset="0"/>
                          </a:rPr>
                          <m:t>𝑆</m:t>
                        </m:r>
                      </m:sub>
                    </m:sSub>
                    <m:r>
                      <a:rPr lang="ar-AE" b="0" i="1" smtClean="0">
                        <a:latin typeface="Cambria Math" panose="02040503050406030204" pitchFamily="18" charset="0"/>
                      </a:rPr>
                      <m:t>=</m:t>
                    </m:r>
                    <m:f>
                      <m:fPr>
                        <m:ctrlPr>
                          <a:rPr lang="ar-AE" b="0" i="1" smtClean="0">
                            <a:latin typeface="Cambria Math" panose="02040503050406030204" pitchFamily="18" charset="0"/>
                          </a:rPr>
                        </m:ctrlPr>
                      </m:fPr>
                      <m:num>
                        <m:r>
                          <a:rPr lang="ar-AE" b="0" i="1" smtClean="0">
                            <a:latin typeface="Cambria Math" panose="02040503050406030204" pitchFamily="18" charset="0"/>
                          </a:rPr>
                          <m:t>1</m:t>
                        </m:r>
                      </m:num>
                      <m:den>
                        <m:sSub>
                          <m:sSubPr>
                            <m:ctrlPr>
                              <a:rPr lang="ar-AE" b="0" i="1" smtClean="0">
                                <a:latin typeface="Cambria Math" panose="02040503050406030204" pitchFamily="18" charset="0"/>
                              </a:rPr>
                            </m:ctrlPr>
                          </m:sSubPr>
                          <m:e>
                            <m:r>
                              <a:rPr lang="ar-AE" b="0" i="1" smtClean="0">
                                <a:latin typeface="Cambria Math" panose="02040503050406030204" pitchFamily="18" charset="0"/>
                                <a:ea typeface="Cambria Math" panose="02040503050406030204" pitchFamily="18" charset="0"/>
                              </a:rPr>
                              <m:t>𝜆</m:t>
                            </m:r>
                          </m:e>
                          <m:sub>
                            <m:r>
                              <a:rPr lang="ar-AE" b="0" i="1" smtClean="0">
                                <a:latin typeface="Cambria Math" panose="02040503050406030204" pitchFamily="18" charset="0"/>
                              </a:rPr>
                              <m:t>𝑆</m:t>
                            </m:r>
                          </m:sub>
                        </m:sSub>
                        <m:r>
                          <a:rPr lang="ar-AE" b="0" i="1" smtClean="0">
                            <a:latin typeface="Cambria Math" panose="02040503050406030204" pitchFamily="18" charset="0"/>
                          </a:rPr>
                          <m:t>(</m:t>
                        </m:r>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𝑟</m:t>
                        </m:r>
                        <m:r>
                          <a:rPr lang="ar-AE" b="0" i="1" smtClean="0">
                            <a:latin typeface="Cambria Math" panose="02040503050406030204" pitchFamily="18" charset="0"/>
                          </a:rPr>
                          <m:t>)</m:t>
                        </m:r>
                      </m:den>
                    </m:f>
                  </m:oMath>
                </a14:m>
                <a:endParaRPr lang="ar-AE" dirty="0"/>
              </a:p>
              <a:p>
                <a:endParaRPr lang="ar-AE" b="0" dirty="0">
                  <a:latin typeface="Cambria Math" panose="02040503050406030204" pitchFamily="18" charset="0"/>
                </a:endParaRPr>
              </a:p>
              <a:p>
                <a:endParaRPr lang="ar-AE" b="0" dirty="0">
                  <a:latin typeface="Cambria Math" panose="02040503050406030204" pitchFamily="18" charset="0"/>
                </a:endParaRPr>
              </a:p>
              <a:p>
                <a:endParaRPr lang="ar-AE" b="0" dirty="0">
                  <a:latin typeface="Cambria Math" panose="02040503050406030204" pitchFamily="18" charset="0"/>
                </a:endParaRPr>
              </a:p>
              <a:p>
                <a:endParaRPr b="0" dirty="0">
                  <a:latin typeface="Cambria Math" panose="02040503050406030204" pitchFamily="18" charset="0"/>
                </a:endParaRPr>
              </a:p>
            </p:txBody>
          </p:sp>
        </mc:Choice>
        <mc:Fallback xmlns="">
          <p:sp>
            <p:nvSpPr>
              <p:cNvPr id="3" name="Marcador de contenido 2">
                <a:extLst>
                  <a:ext uri="{FF2B5EF4-FFF2-40B4-BE49-F238E27FC236}">
                    <a16:creationId xmlns:a16="http://schemas.microsoft.com/office/drawing/2014/main" id="{F51C7B3E-53B4-7C6B-5519-4A82AFA99087}"/>
                  </a:ext>
                </a:extLst>
              </p:cNvPr>
              <p:cNvSpPr>
                <a:spLocks noGrp="1" noRot="1" noChangeAspect="1" noMove="1" noResize="1" noEditPoints="1" noAdjustHandles="1" noChangeArrowheads="1" noChangeShapeType="1" noTextEdit="1"/>
              </p:cNvSpPr>
              <p:nvPr>
                <p:ph idx="1"/>
              </p:nvPr>
            </p:nvSpPr>
            <p:spPr>
              <a:xfrm>
                <a:off x="838200" y="1825625"/>
                <a:ext cx="10755086" cy="4351338"/>
              </a:xfrm>
              <a:blipFill>
                <a:blip r:embed="rId2"/>
                <a:stretch>
                  <a:fillRect l="-907" t="-280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52DEDFDC-E890-D92D-C11B-E9D0271FE182}"/>
              </a:ext>
            </a:extLst>
          </p:cNvPr>
          <p:cNvSpPr>
            <a:spLocks noGrp="1"/>
          </p:cNvSpPr>
          <p:nvPr>
            <p:ph type="sldNum" sz="quarter" idx="12"/>
          </p:nvPr>
        </p:nvSpPr>
        <p:spPr/>
        <p:txBody>
          <a:bodyPr/>
          <a:lstStyle/>
          <a:p>
            <a:fld id="{336CAFD0-1F6E-4E11-9822-836563A02839}" type="slidenum">
              <a:rPr lang="es-ES" smtClean="0"/>
              <a:t>13</a:t>
            </a:fld>
            <a:endParaRPr lang="es-ES"/>
          </a:p>
        </p:txBody>
      </p:sp>
    </p:spTree>
    <p:extLst>
      <p:ext uri="{BB962C8B-B14F-4D97-AF65-F5344CB8AC3E}">
        <p14:creationId xmlns:p14="http://schemas.microsoft.com/office/powerpoint/2010/main" val="2758645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491712-E926-3241-EADC-D740FD72EEDD}"/>
              </a:ext>
            </a:extLst>
          </p:cNvPr>
          <p:cNvSpPr>
            <a:spLocks noGrp="1"/>
          </p:cNvSpPr>
          <p:nvPr>
            <p:ph type="title"/>
          </p:nvPr>
        </p:nvSpPr>
        <p:spPr/>
        <p:txBody>
          <a:bodyPr>
            <a:normAutofit/>
          </a:bodyPr>
          <a:lstStyle/>
          <a:p>
            <a:r>
              <a:rPr lang="es-ES" dirty="0"/>
              <a:t>5. Sistema M/M/1</a:t>
            </a:r>
            <a:br>
              <a:rPr lang="es-ES" dirty="0"/>
            </a:br>
            <a:r>
              <a:rPr dirty="0" err="1"/>
              <a:t>Evaluación</a:t>
            </a:r>
            <a:r>
              <a:rPr dirty="0"/>
              <a:t> del </a:t>
            </a:r>
            <a:r>
              <a:rPr dirty="0" err="1"/>
              <a:t>rendimiento</a:t>
            </a:r>
            <a:r>
              <a:rPr dirty="0"/>
              <a:t> del </a:t>
            </a:r>
            <a:r>
              <a:rPr dirty="0" err="1"/>
              <a:t>sistema</a:t>
            </a:r>
            <a:r>
              <a:rPr dirty="0"/>
              <a:t> (II)</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F51C7B3E-53B4-7C6B-5519-4A82AFA99087}"/>
                  </a:ext>
                </a:extLst>
              </p:cNvPr>
              <p:cNvSpPr>
                <a:spLocks noGrp="1"/>
              </p:cNvSpPr>
              <p:nvPr>
                <p:ph idx="1"/>
              </p:nvPr>
            </p:nvSpPr>
            <p:spPr>
              <a:xfrm>
                <a:off x="838200" y="1825625"/>
                <a:ext cx="10755086" cy="4351338"/>
              </a:xfrm>
            </p:spPr>
            <p:txBody>
              <a:bodyPr>
                <a:normAutofit/>
              </a:bodyPr>
              <a:lstStyle/>
              <a:p>
                <a:r>
                  <a:rPr lang="es-ES" dirty="0"/>
                  <a:t>Número de trabajos en la c</a:t>
                </a:r>
                <a:r>
                  <a:rPr dirty="0"/>
                  <a:t>ola</a:t>
                </a:r>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𝑤</m:t>
                        </m:r>
                      </m:sub>
                    </m:sSub>
                    <m:r>
                      <a:rPr lang="es-ES" b="0" i="1" smtClean="0">
                        <a:latin typeface="Cambria Math" panose="02040503050406030204" pitchFamily="18" charset="0"/>
                      </a:rPr>
                      <m:t>=</m:t>
                    </m:r>
                    <m:r>
                      <a:rPr lang="es-ES" b="0" i="1" smtClean="0">
                        <a:latin typeface="Cambria Math" panose="02040503050406030204" pitchFamily="18" charset="0"/>
                      </a:rPr>
                      <m:t>𝑋</m:t>
                    </m:r>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𝑆</m:t>
                        </m:r>
                      </m:sub>
                    </m:sSub>
                  </m:oMath>
                </a14:m>
                <a:endParaRPr dirty="0"/>
              </a:p>
              <a:p>
                <a:pPr lvl="1"/>
                <a14:m>
                  <m:oMath xmlns:m="http://schemas.openxmlformats.org/officeDocument/2006/math">
                    <m:r>
                      <a:rPr lang="es-ES" b="0" i="1" smtClean="0">
                        <a:latin typeface="Cambria Math" panose="02040503050406030204" pitchFamily="18" charset="0"/>
                      </a:rPr>
                      <m:t>𝐸</m:t>
                    </m:r>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𝑤</m:t>
                            </m:r>
                          </m:sub>
                        </m:sSub>
                      </m:e>
                    </m:d>
                    <m:r>
                      <a:rPr lang="es-ES" b="0" i="1" smtClean="0">
                        <a:latin typeface="Cambria Math" panose="02040503050406030204" pitchFamily="18" charset="0"/>
                      </a:rPr>
                      <m:t>=</m:t>
                    </m:r>
                    <m:r>
                      <a:rPr lang="es-ES" b="0" i="1" smtClean="0">
                        <a:latin typeface="Cambria Math" panose="02040503050406030204" pitchFamily="18" charset="0"/>
                      </a:rPr>
                      <m:t>𝐸</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s-ES" b="0" i="1" smtClean="0">
                        <a:latin typeface="Cambria Math" panose="02040503050406030204" pitchFamily="18" charset="0"/>
                      </a:rPr>
                      <m:t>−</m:t>
                    </m:r>
                    <m:r>
                      <a:rPr lang="es-ES" b="0" i="1" smtClean="0">
                        <a:latin typeface="Cambria Math" panose="02040503050406030204" pitchFamily="18" charset="0"/>
                      </a:rPr>
                      <m:t>𝐸</m:t>
                    </m:r>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𝑆</m:t>
                            </m:r>
                          </m:sub>
                        </m:sSub>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𝑟</m:t>
                        </m:r>
                      </m:num>
                      <m:den>
                        <m:r>
                          <a:rPr lang="es-ES" b="0" i="1" smtClean="0">
                            <a:latin typeface="Cambria Math" panose="02040503050406030204" pitchFamily="18" charset="0"/>
                          </a:rPr>
                          <m:t>1</m:t>
                        </m:r>
                        <m:r>
                          <a:rPr lang="es-ES" b="0" i="1" smtClean="0">
                            <a:latin typeface="Cambria Math" panose="02040503050406030204" pitchFamily="18" charset="0"/>
                          </a:rPr>
                          <m:t>−</m:t>
                        </m:r>
                        <m:r>
                          <a:rPr lang="es-ES" b="0" i="1" smtClean="0">
                            <a:latin typeface="Cambria Math" panose="02040503050406030204" pitchFamily="18" charset="0"/>
                          </a:rPr>
                          <m:t>𝑟</m:t>
                        </m:r>
                      </m:den>
                    </m:f>
                    <m:r>
                      <a:rPr lang="es-ES" b="0" i="1" smtClean="0">
                        <a:latin typeface="Cambria Math" panose="02040503050406030204" pitchFamily="18" charset="0"/>
                      </a:rPr>
                      <m:t>−</m:t>
                    </m:r>
                    <m:r>
                      <a:rPr lang="es-ES" b="0" i="1" smtClean="0">
                        <a:latin typeface="Cambria Math" panose="02040503050406030204" pitchFamily="18" charset="0"/>
                      </a:rPr>
                      <m:t>𝑟</m:t>
                    </m:r>
                    <m:r>
                      <a:rPr lang="es-ES" b="0" i="1" smtClean="0">
                        <a:latin typeface="Cambria Math" panose="02040503050406030204" pitchFamily="18" charset="0"/>
                      </a:rPr>
                      <m:t>=</m:t>
                    </m:r>
                    <m:f>
                      <m:fPr>
                        <m:ctrlPr>
                          <a:rPr lang="es-ES" b="0" i="1" smtClean="0">
                            <a:latin typeface="Cambria Math" panose="02040503050406030204" pitchFamily="18" charset="0"/>
                          </a:rPr>
                        </m:ctrlPr>
                      </m:fPr>
                      <m:num>
                        <m:sSup>
                          <m:sSupPr>
                            <m:ctrlPr>
                              <a:rPr lang="es-ES" b="0" i="1" smtClean="0">
                                <a:latin typeface="Cambria Math" panose="02040503050406030204" pitchFamily="18" charset="0"/>
                              </a:rPr>
                            </m:ctrlPr>
                          </m:sSupPr>
                          <m:e>
                            <m:r>
                              <a:rPr lang="es-ES" b="0" i="1" smtClean="0">
                                <a:latin typeface="Cambria Math" panose="02040503050406030204" pitchFamily="18" charset="0"/>
                              </a:rPr>
                              <m:t>𝑟</m:t>
                            </m:r>
                          </m:e>
                          <m:sup>
                            <m:r>
                              <a:rPr lang="es-ES" b="0" i="1" smtClean="0">
                                <a:latin typeface="Cambria Math" panose="02040503050406030204" pitchFamily="18" charset="0"/>
                              </a:rPr>
                              <m:t>2</m:t>
                            </m:r>
                          </m:sup>
                        </m:sSup>
                      </m:num>
                      <m:den>
                        <m:r>
                          <a:rPr lang="es-ES" b="0" i="1" smtClean="0">
                            <a:latin typeface="Cambria Math" panose="02040503050406030204" pitchFamily="18" charset="0"/>
                          </a:rPr>
                          <m:t>1</m:t>
                        </m:r>
                        <m:r>
                          <a:rPr lang="es-ES" b="0" i="1" smtClean="0">
                            <a:latin typeface="Cambria Math" panose="02040503050406030204" pitchFamily="18" charset="0"/>
                          </a:rPr>
                          <m:t>−</m:t>
                        </m:r>
                        <m:r>
                          <a:rPr lang="es-ES" b="0" i="1" smtClean="0">
                            <a:latin typeface="Cambria Math" panose="02040503050406030204" pitchFamily="18" charset="0"/>
                          </a:rPr>
                          <m:t>𝑟</m:t>
                        </m:r>
                      </m:den>
                    </m:f>
                  </m:oMath>
                </a14:m>
                <a:endParaRPr dirty="0"/>
              </a:p>
              <a:p>
                <a:pPr lvl="2"/>
                <a:r>
                  <a:rPr dirty="0"/>
                  <a:t>X</a:t>
                </a:r>
                <a:r>
                  <a:rPr baseline="-25000" dirty="0"/>
                  <a:t>S</a:t>
                </a:r>
                <a:r>
                  <a:rPr dirty="0"/>
                  <a:t> es Bernoulli con p = P{</a:t>
                </a:r>
                <a:r>
                  <a:rPr lang="es-ES" dirty="0"/>
                  <a:t>S</a:t>
                </a:r>
                <a:r>
                  <a:rPr dirty="0" err="1"/>
                  <a:t>ervidor</a:t>
                </a:r>
                <a:r>
                  <a:rPr dirty="0"/>
                  <a:t> </a:t>
                </a:r>
                <a:r>
                  <a:rPr dirty="0" err="1"/>
                  <a:t>ocupado</a:t>
                </a:r>
                <a:r>
                  <a:rPr dirty="0"/>
                  <a:t>}= r; y E(</a:t>
                </a:r>
                <a:r>
                  <a:rPr dirty="0" err="1"/>
                  <a:t>X</a:t>
                </a:r>
                <a:r>
                  <a:rPr baseline="-25000" dirty="0" err="1"/>
                  <a:t>s</a:t>
                </a:r>
                <a:r>
                  <a:rPr dirty="0"/>
                  <a:t>)=p=r</a:t>
                </a:r>
              </a:p>
              <a:p>
                <a:pPr lvl="2"/>
                <a:endParaRPr dirty="0"/>
              </a:p>
              <a:p>
                <a:r>
                  <a:rPr dirty="0"/>
                  <a:t>Ley de Little </a:t>
                </a:r>
                <a:r>
                  <a:rPr dirty="0" err="1"/>
                  <a:t>revis</a:t>
                </a:r>
                <a:r>
                  <a:rPr lang="es-ES" dirty="0" err="1"/>
                  <a:t>ada</a:t>
                </a:r>
                <a:r>
                  <a:rPr dirty="0"/>
                  <a:t> para los </a:t>
                </a:r>
                <a:r>
                  <a:rPr dirty="0" err="1"/>
                  <a:t>sistemas</a:t>
                </a:r>
                <a:r>
                  <a:rPr dirty="0"/>
                  <a:t> de cola M/M/1</a:t>
                </a:r>
              </a:p>
              <a:p>
                <a:pPr lvl="1"/>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𝜆</m:t>
                        </m:r>
                      </m:e>
                      <m:sub>
                        <m:r>
                          <a:rPr lang="es-ES" b="0" i="1" smtClean="0">
                            <a:latin typeface="Cambria Math" panose="02040503050406030204" pitchFamily="18" charset="0"/>
                          </a:rPr>
                          <m:t>𝐴</m:t>
                        </m:r>
                      </m:sub>
                    </m:sSub>
                    <m:r>
                      <a:rPr lang="es-ES" b="0" i="1" smtClean="0">
                        <a:latin typeface="Cambria Math" panose="02040503050406030204" pitchFamily="18" charset="0"/>
                      </a:rPr>
                      <m:t>𝐸</m:t>
                    </m:r>
                    <m:d>
                      <m:dPr>
                        <m:ctrlPr>
                          <a:rPr lang="es-ES" b="0" i="1" smtClean="0">
                            <a:latin typeface="Cambria Math" panose="02040503050406030204" pitchFamily="18" charset="0"/>
                          </a:rPr>
                        </m:ctrlPr>
                      </m:dPr>
                      <m:e>
                        <m:r>
                          <a:rPr lang="es-ES" b="0" i="1" smtClean="0">
                            <a:latin typeface="Cambria Math" panose="02040503050406030204" pitchFamily="18" charset="0"/>
                          </a:rPr>
                          <m:t>𝑅</m:t>
                        </m:r>
                      </m:e>
                    </m:d>
                    <m:r>
                      <a:rPr lang="es-ES" b="0" i="1" smtClean="0">
                        <a:latin typeface="Cambria Math" panose="02040503050406030204" pitchFamily="18" charset="0"/>
                      </a:rPr>
                      <m:t>=</m:t>
                    </m:r>
                    <m:r>
                      <a:rPr lang="es-ES" b="0" i="1" smtClean="0">
                        <a:latin typeface="Cambria Math" panose="02040503050406030204" pitchFamily="18" charset="0"/>
                      </a:rPr>
                      <m:t>𝐸</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oMath>
                </a14:m>
                <a:endParaRPr dirty="0"/>
              </a:p>
              <a:p>
                <a:pPr lvl="1"/>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𝜆</m:t>
                        </m:r>
                      </m:e>
                      <m:sub>
                        <m:r>
                          <a:rPr lang="es-ES" b="0" i="1" smtClean="0">
                            <a:latin typeface="Cambria Math" panose="02040503050406030204" pitchFamily="18" charset="0"/>
                          </a:rPr>
                          <m:t>𝐴</m:t>
                        </m:r>
                      </m:sub>
                    </m:sSub>
                    <m:r>
                      <a:rPr lang="es-ES" b="0" i="1" smtClean="0">
                        <a:latin typeface="Cambria Math" panose="02040503050406030204" pitchFamily="18" charset="0"/>
                      </a:rPr>
                      <m:t>𝐸</m:t>
                    </m:r>
                    <m:d>
                      <m:dPr>
                        <m:ctrlPr>
                          <a:rPr lang="es-ES" b="0" i="1" smtClean="0">
                            <a:latin typeface="Cambria Math" panose="02040503050406030204" pitchFamily="18" charset="0"/>
                          </a:rPr>
                        </m:ctrlPr>
                      </m:dPr>
                      <m:e>
                        <m:r>
                          <a:rPr lang="es-ES" b="0" i="1" smtClean="0">
                            <a:latin typeface="Cambria Math" panose="02040503050406030204" pitchFamily="18" charset="0"/>
                          </a:rPr>
                          <m:t>𝑅</m:t>
                        </m:r>
                      </m:e>
                    </m:d>
                    <m:r>
                      <a:rPr lang="es-ES" b="0" i="1" smtClean="0">
                        <a:latin typeface="Cambria Math" panose="02040503050406030204" pitchFamily="18" charset="0"/>
                      </a:rPr>
                      <m:t>=</m:t>
                    </m:r>
                    <m:r>
                      <a:rPr lang="es-ES" b="0" i="1" smtClean="0">
                        <a:latin typeface="Cambria Math" panose="02040503050406030204" pitchFamily="18" charset="0"/>
                      </a:rPr>
                      <m:t>𝐸</m:t>
                    </m:r>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𝑆</m:t>
                            </m:r>
                          </m:sub>
                        </m:sSub>
                      </m:e>
                    </m:d>
                  </m:oMath>
                </a14:m>
                <a:endParaRPr b="0" dirty="0"/>
              </a:p>
              <a:p>
                <a:pPr lvl="1"/>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𝜆</m:t>
                        </m:r>
                      </m:e>
                      <m:sub>
                        <m:r>
                          <a:rPr lang="es-ES" b="0" i="1" smtClean="0">
                            <a:latin typeface="Cambria Math" panose="02040503050406030204" pitchFamily="18" charset="0"/>
                          </a:rPr>
                          <m:t>𝐴</m:t>
                        </m:r>
                      </m:sub>
                    </m:sSub>
                    <m:r>
                      <a:rPr lang="es-ES" b="0" i="1" smtClean="0">
                        <a:latin typeface="Cambria Math" panose="02040503050406030204" pitchFamily="18" charset="0"/>
                      </a:rPr>
                      <m:t>𝐸</m:t>
                    </m:r>
                    <m:d>
                      <m:dPr>
                        <m:ctrlPr>
                          <a:rPr lang="es-ES" b="0" i="1" smtClean="0">
                            <a:latin typeface="Cambria Math" panose="02040503050406030204" pitchFamily="18" charset="0"/>
                          </a:rPr>
                        </m:ctrlPr>
                      </m:dPr>
                      <m:e>
                        <m:r>
                          <a:rPr lang="es-ES" b="0" i="1" smtClean="0">
                            <a:latin typeface="Cambria Math" panose="02040503050406030204" pitchFamily="18" charset="0"/>
                          </a:rPr>
                          <m:t>𝑅</m:t>
                        </m:r>
                      </m:e>
                    </m:d>
                    <m:r>
                      <a:rPr lang="es-ES" b="0" i="1" smtClean="0">
                        <a:latin typeface="Cambria Math" panose="02040503050406030204" pitchFamily="18" charset="0"/>
                      </a:rPr>
                      <m:t>=</m:t>
                    </m:r>
                    <m:r>
                      <a:rPr lang="es-ES" b="0" i="1" smtClean="0">
                        <a:latin typeface="Cambria Math" panose="02040503050406030204" pitchFamily="18" charset="0"/>
                      </a:rPr>
                      <m:t>𝐸</m:t>
                    </m:r>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𝑤</m:t>
                            </m:r>
                          </m:sub>
                        </m:sSub>
                      </m:e>
                    </m:d>
                  </m:oMath>
                </a14:m>
                <a:endParaRPr b="0" dirty="0"/>
              </a:p>
            </p:txBody>
          </p:sp>
        </mc:Choice>
        <mc:Fallback xmlns="">
          <p:sp>
            <p:nvSpPr>
              <p:cNvPr id="3" name="Marcador de contenido 2">
                <a:extLst>
                  <a:ext uri="{FF2B5EF4-FFF2-40B4-BE49-F238E27FC236}">
                    <a16:creationId xmlns:a16="http://schemas.microsoft.com/office/drawing/2014/main" id="{F51C7B3E-53B4-7C6B-5519-4A82AFA99087}"/>
                  </a:ext>
                </a:extLst>
              </p:cNvPr>
              <p:cNvSpPr>
                <a:spLocks noGrp="1" noRot="1" noChangeAspect="1" noMove="1" noResize="1" noEditPoints="1" noAdjustHandles="1" noChangeArrowheads="1" noChangeShapeType="1" noTextEdit="1"/>
              </p:cNvSpPr>
              <p:nvPr>
                <p:ph idx="1"/>
              </p:nvPr>
            </p:nvSpPr>
            <p:spPr>
              <a:xfrm>
                <a:off x="838200" y="1825625"/>
                <a:ext cx="10755086" cy="4351338"/>
              </a:xfrm>
              <a:blipFill>
                <a:blip r:embed="rId2"/>
                <a:stretch>
                  <a:fillRect l="-1020" t="-224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52DEDFDC-E890-D92D-C11B-E9D0271FE182}"/>
              </a:ext>
            </a:extLst>
          </p:cNvPr>
          <p:cNvSpPr>
            <a:spLocks noGrp="1"/>
          </p:cNvSpPr>
          <p:nvPr>
            <p:ph type="sldNum" sz="quarter" idx="12"/>
          </p:nvPr>
        </p:nvSpPr>
        <p:spPr/>
        <p:txBody>
          <a:bodyPr/>
          <a:lstStyle/>
          <a:p>
            <a:fld id="{336CAFD0-1F6E-4E11-9822-836563A02839}" type="slidenum">
              <a:rPr lang="es-ES" smtClean="0"/>
              <a:t>14</a:t>
            </a:fld>
            <a:endParaRPr lang="es-ES"/>
          </a:p>
        </p:txBody>
      </p:sp>
    </p:spTree>
    <p:extLst>
      <p:ext uri="{BB962C8B-B14F-4D97-AF65-F5344CB8AC3E}">
        <p14:creationId xmlns:p14="http://schemas.microsoft.com/office/powerpoint/2010/main" val="125327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65A9A4-1905-0CEB-4A41-04E96765197B}"/>
              </a:ext>
            </a:extLst>
          </p:cNvPr>
          <p:cNvSpPr>
            <a:spLocks noGrp="1"/>
          </p:cNvSpPr>
          <p:nvPr>
            <p:ph type="title"/>
          </p:nvPr>
        </p:nvSpPr>
        <p:spPr/>
        <p:txBody>
          <a:bodyPr/>
          <a:lstStyle/>
          <a:p>
            <a:r>
              <a:rPr lang="es-ES" dirty="0"/>
              <a:t>5. Sistema M/M/1</a:t>
            </a:r>
            <a:br>
              <a:rPr lang="es-ES" dirty="0"/>
            </a:br>
            <a:r>
              <a:rPr dirty="0" err="1"/>
              <a:t>Ejemplo</a:t>
            </a:r>
            <a:r>
              <a:rPr dirty="0"/>
              <a:t> 7.4 (</a:t>
            </a:r>
            <a:r>
              <a:rPr dirty="0" err="1"/>
              <a:t>Transmisión</a:t>
            </a:r>
            <a:r>
              <a:rPr dirty="0"/>
              <a:t> de </a:t>
            </a:r>
            <a:r>
              <a:rPr dirty="0" err="1"/>
              <a:t>mensajes</a:t>
            </a:r>
            <a:r>
              <a:rPr dirty="0"/>
              <a:t>)</a:t>
            </a:r>
          </a:p>
        </p:txBody>
      </p:sp>
      <p:sp>
        <p:nvSpPr>
          <p:cNvPr id="3" name="Marcador de contenido 2">
            <a:extLst>
              <a:ext uri="{FF2B5EF4-FFF2-40B4-BE49-F238E27FC236}">
                <a16:creationId xmlns:a16="http://schemas.microsoft.com/office/drawing/2014/main" id="{D3B12A18-03EB-6E2D-6C77-524C2293C765}"/>
              </a:ext>
            </a:extLst>
          </p:cNvPr>
          <p:cNvSpPr>
            <a:spLocks noGrp="1"/>
          </p:cNvSpPr>
          <p:nvPr>
            <p:ph idx="1"/>
          </p:nvPr>
        </p:nvSpPr>
        <p:spPr/>
        <p:txBody>
          <a:bodyPr/>
          <a:lstStyle/>
          <a:p>
            <a:r>
              <a:rPr lang="es-ES" dirty="0"/>
              <a:t>A</a:t>
            </a:r>
            <a:r>
              <a:rPr dirty="0"/>
              <a:t> un </a:t>
            </a:r>
            <a:r>
              <a:rPr dirty="0" err="1"/>
              <a:t>centro</a:t>
            </a:r>
            <a:r>
              <a:rPr dirty="0"/>
              <a:t> de </a:t>
            </a:r>
            <a:r>
              <a:rPr dirty="0" err="1"/>
              <a:t>comunicación</a:t>
            </a:r>
            <a:r>
              <a:rPr dirty="0"/>
              <a:t> </a:t>
            </a:r>
            <a:r>
              <a:rPr lang="es-ES" dirty="0"/>
              <a:t>llegan mensajes </a:t>
            </a:r>
            <a:r>
              <a:rPr dirty="0"/>
              <a:t>en </a:t>
            </a:r>
            <a:r>
              <a:rPr dirty="0" err="1"/>
              <a:t>momentos</a:t>
            </a:r>
            <a:r>
              <a:rPr dirty="0"/>
              <a:t> </a:t>
            </a:r>
            <a:r>
              <a:rPr dirty="0" err="1"/>
              <a:t>aleatorios</a:t>
            </a:r>
            <a:r>
              <a:rPr dirty="0"/>
              <a:t> con un </a:t>
            </a:r>
            <a:r>
              <a:rPr dirty="0" err="1"/>
              <a:t>promedio</a:t>
            </a:r>
            <a:r>
              <a:rPr dirty="0"/>
              <a:t> de 5 </a:t>
            </a:r>
            <a:r>
              <a:rPr dirty="0" err="1"/>
              <a:t>mensajes</a:t>
            </a:r>
            <a:r>
              <a:rPr dirty="0"/>
              <a:t> </a:t>
            </a:r>
            <a:r>
              <a:rPr dirty="0" err="1"/>
              <a:t>por</a:t>
            </a:r>
            <a:r>
              <a:rPr dirty="0"/>
              <a:t> </a:t>
            </a:r>
            <a:r>
              <a:rPr dirty="0" err="1"/>
              <a:t>minuto</a:t>
            </a:r>
            <a:r>
              <a:rPr dirty="0"/>
              <a:t>. </a:t>
            </a:r>
          </a:p>
          <a:p>
            <a:r>
              <a:rPr dirty="0"/>
              <a:t>Se </a:t>
            </a:r>
            <a:r>
              <a:rPr dirty="0" err="1"/>
              <a:t>transmiten</a:t>
            </a:r>
            <a:r>
              <a:rPr dirty="0"/>
              <a:t> a </a:t>
            </a:r>
            <a:r>
              <a:rPr dirty="0" err="1"/>
              <a:t>través</a:t>
            </a:r>
            <a:r>
              <a:rPr dirty="0"/>
              <a:t> de un solo canal en </a:t>
            </a:r>
            <a:r>
              <a:rPr dirty="0" err="1"/>
              <a:t>el</a:t>
            </a:r>
            <a:r>
              <a:rPr dirty="0"/>
              <a:t> </a:t>
            </a:r>
            <a:r>
              <a:rPr dirty="0" err="1"/>
              <a:t>orden</a:t>
            </a:r>
            <a:r>
              <a:rPr dirty="0"/>
              <a:t> en que </a:t>
            </a:r>
            <a:r>
              <a:rPr dirty="0" err="1"/>
              <a:t>fueron</a:t>
            </a:r>
            <a:r>
              <a:rPr dirty="0"/>
              <a:t> </a:t>
            </a:r>
            <a:r>
              <a:rPr dirty="0" err="1"/>
              <a:t>recibidos</a:t>
            </a:r>
            <a:r>
              <a:rPr dirty="0"/>
              <a:t>. </a:t>
            </a:r>
          </a:p>
          <a:p>
            <a:r>
              <a:rPr dirty="0"/>
              <a:t>En </a:t>
            </a:r>
            <a:r>
              <a:rPr dirty="0" err="1"/>
              <a:t>promedio</a:t>
            </a:r>
            <a:r>
              <a:rPr dirty="0"/>
              <a:t>, se </a:t>
            </a:r>
            <a:r>
              <a:rPr dirty="0" err="1"/>
              <a:t>tarda</a:t>
            </a:r>
            <a:r>
              <a:rPr dirty="0"/>
              <a:t> 10 </a:t>
            </a:r>
            <a:r>
              <a:rPr dirty="0" err="1"/>
              <a:t>segundos</a:t>
            </a:r>
            <a:r>
              <a:rPr dirty="0"/>
              <a:t> en </a:t>
            </a:r>
            <a:r>
              <a:rPr dirty="0" err="1"/>
              <a:t>transmitir</a:t>
            </a:r>
            <a:r>
              <a:rPr dirty="0"/>
              <a:t> un </a:t>
            </a:r>
            <a:r>
              <a:rPr dirty="0" err="1"/>
              <a:t>mensaje</a:t>
            </a:r>
            <a:r>
              <a:rPr dirty="0"/>
              <a:t>. </a:t>
            </a:r>
          </a:p>
          <a:p>
            <a:r>
              <a:rPr dirty="0"/>
              <a:t>Se </a:t>
            </a:r>
            <a:r>
              <a:rPr dirty="0" err="1"/>
              <a:t>cumplen</a:t>
            </a:r>
            <a:r>
              <a:rPr dirty="0"/>
              <a:t> las </a:t>
            </a:r>
            <a:r>
              <a:rPr dirty="0" err="1"/>
              <a:t>condiciones</a:t>
            </a:r>
            <a:r>
              <a:rPr dirty="0"/>
              <a:t> de </a:t>
            </a:r>
            <a:r>
              <a:rPr dirty="0" err="1"/>
              <a:t>una</a:t>
            </a:r>
            <a:r>
              <a:rPr dirty="0"/>
              <a:t> cola M/M/1. </a:t>
            </a:r>
          </a:p>
          <a:p>
            <a:r>
              <a:rPr dirty="0" err="1"/>
              <a:t>Calcul</a:t>
            </a:r>
            <a:r>
              <a:rPr lang="es-ES" dirty="0"/>
              <a:t>ar</a:t>
            </a:r>
            <a:r>
              <a:rPr dirty="0"/>
              <a:t> las </a:t>
            </a:r>
            <a:r>
              <a:rPr dirty="0" err="1"/>
              <a:t>principales</a:t>
            </a:r>
            <a:r>
              <a:rPr dirty="0"/>
              <a:t> </a:t>
            </a:r>
            <a:r>
              <a:rPr dirty="0" err="1"/>
              <a:t>características</a:t>
            </a:r>
            <a:r>
              <a:rPr dirty="0"/>
              <a:t> de </a:t>
            </a:r>
            <a:r>
              <a:rPr dirty="0" err="1"/>
              <a:t>rendimiento</a:t>
            </a:r>
            <a:r>
              <a:rPr dirty="0"/>
              <a:t> de este </a:t>
            </a:r>
            <a:r>
              <a:rPr dirty="0" err="1"/>
              <a:t>centro</a:t>
            </a:r>
            <a:r>
              <a:rPr dirty="0"/>
              <a:t>.</a:t>
            </a:r>
          </a:p>
        </p:txBody>
      </p:sp>
      <p:sp>
        <p:nvSpPr>
          <p:cNvPr id="4" name="Marcador de número de diapositiva 3">
            <a:extLst>
              <a:ext uri="{FF2B5EF4-FFF2-40B4-BE49-F238E27FC236}">
                <a16:creationId xmlns:a16="http://schemas.microsoft.com/office/drawing/2014/main" id="{2139001E-9F4A-8CD2-3ABB-2D6076A12537}"/>
              </a:ext>
            </a:extLst>
          </p:cNvPr>
          <p:cNvSpPr>
            <a:spLocks noGrp="1"/>
          </p:cNvSpPr>
          <p:nvPr>
            <p:ph type="sldNum" sz="quarter" idx="12"/>
          </p:nvPr>
        </p:nvSpPr>
        <p:spPr/>
        <p:txBody>
          <a:bodyPr/>
          <a:lstStyle/>
          <a:p>
            <a:fld id="{336CAFD0-1F6E-4E11-9822-836563A02839}" type="slidenum">
              <a:rPr lang="es-ES" smtClean="0"/>
              <a:t>15</a:t>
            </a:fld>
            <a:endParaRPr lang="es-ES"/>
          </a:p>
        </p:txBody>
      </p:sp>
    </p:spTree>
    <p:extLst>
      <p:ext uri="{BB962C8B-B14F-4D97-AF65-F5344CB8AC3E}">
        <p14:creationId xmlns:p14="http://schemas.microsoft.com/office/powerpoint/2010/main" val="227209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65A9A4-1905-0CEB-4A41-04E96765197B}"/>
              </a:ext>
            </a:extLst>
          </p:cNvPr>
          <p:cNvSpPr>
            <a:spLocks noGrp="1"/>
          </p:cNvSpPr>
          <p:nvPr>
            <p:ph type="title"/>
          </p:nvPr>
        </p:nvSpPr>
        <p:spPr/>
        <p:txBody>
          <a:bodyPr/>
          <a:lstStyle/>
          <a:p>
            <a:r>
              <a:rPr lang="es-ES" dirty="0"/>
              <a:t>5. Sistema M/M/1</a:t>
            </a:r>
            <a:br>
              <a:rPr lang="es-ES" dirty="0"/>
            </a:br>
            <a:r>
              <a:rPr dirty="0" err="1"/>
              <a:t>Ejemplo</a:t>
            </a:r>
            <a:r>
              <a:rPr dirty="0"/>
              <a:t> 7.4 (</a:t>
            </a:r>
            <a:r>
              <a:rPr dirty="0" err="1"/>
              <a:t>Solución</a:t>
            </a:r>
            <a:r>
              <a:rPr dirty="0"/>
              <a:t>) (I)</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3B12A18-03EB-6E2D-6C77-524C2293C765}"/>
                  </a:ext>
                </a:extLst>
              </p:cNvPr>
              <p:cNvSpPr>
                <a:spLocks noGrp="1"/>
              </p:cNvSpPr>
              <p:nvPr>
                <p:ph idx="1"/>
              </p:nvPr>
            </p:nvSpPr>
            <p:spPr/>
            <p:txBody>
              <a:bodyPr/>
              <a:lstStyle/>
              <a:p>
                <a:r>
                  <a:rPr lang="es-ES" dirty="0"/>
                  <a:t>Ta</a:t>
                </a:r>
                <a:r>
                  <a:rPr lang="es-ES" dirty="0" err="1"/>
                  <a:t>sa</a:t>
                </a:r>
                <a:r>
                  <a:rPr lang="es-ES" dirty="0"/>
                  <a:t> de </a:t>
                </a:r>
                <a:r>
                  <a:rPr lang="es-ES" dirty="0" err="1"/>
                  <a:t>llegada</a:t>
                </a:r>
                <a:r>
                  <a:rPr lang="es-ES" dirty="0"/>
                  <a:t>s: </a:t>
                </a:r>
                <a14:m>
                  <m:oMath xmlns:m="http://schemas.openxmlformats.org/officeDocument/2006/math">
                    <m:sSub>
                      <m:sSubPr>
                        <m:ctrlPr>
                          <a:rPr lang="ar-AE" i="1" smtClean="0">
                            <a:latin typeface="Cambria Math" panose="02040503050406030204" pitchFamily="18" charset="0"/>
                          </a:rPr>
                        </m:ctrlPr>
                      </m:sSubPr>
                      <m:e>
                        <m:r>
                          <a:rPr lang="ar-AE" i="1" smtClean="0">
                            <a:latin typeface="Cambria Math" panose="02040503050406030204" pitchFamily="18" charset="0"/>
                            <a:ea typeface="Cambria Math" panose="02040503050406030204" pitchFamily="18" charset="0"/>
                          </a:rPr>
                          <m:t>𝜆</m:t>
                        </m:r>
                      </m:e>
                      <m:sub>
                        <m:r>
                          <a:rPr lang="ar-AE" b="0" i="1" smtClean="0">
                            <a:latin typeface="Cambria Math" panose="02040503050406030204" pitchFamily="18" charset="0"/>
                          </a:rPr>
                          <m:t>𝐴</m:t>
                        </m:r>
                      </m:sub>
                    </m:sSub>
                    <m:r>
                      <a:rPr lang="ar-AE" b="0" i="1" smtClean="0">
                        <a:latin typeface="Cambria Math" panose="02040503050406030204" pitchFamily="18" charset="0"/>
                      </a:rPr>
                      <m:t>=</m:t>
                    </m:r>
                    <m:r>
                      <a:rPr lang="ar-AE" b="0" i="1" smtClean="0">
                        <a:latin typeface="Cambria Math" panose="02040503050406030204" pitchFamily="18" charset="0"/>
                      </a:rPr>
                      <m:t>5</m:t>
                    </m:r>
                    <m:r>
                      <a:rPr lang="ar-AE" b="0" i="1" smtClean="0">
                        <a:latin typeface="Cambria Math" panose="02040503050406030204" pitchFamily="18" charset="0"/>
                      </a:rPr>
                      <m:t> </m:t>
                    </m:r>
                    <m:sSup>
                      <m:sSupPr>
                        <m:ctrlPr>
                          <a:rPr lang="ar-AE" b="0" i="1" smtClean="0">
                            <a:latin typeface="Cambria Math" panose="02040503050406030204" pitchFamily="18" charset="0"/>
                          </a:rPr>
                        </m:ctrlPr>
                      </m:sSupPr>
                      <m:e>
                        <m:r>
                          <a:rPr lang="ar-AE" b="0" i="1" smtClean="0">
                            <a:latin typeface="Cambria Math" panose="02040503050406030204" pitchFamily="18" charset="0"/>
                          </a:rPr>
                          <m:t>𝑚𝑖𝑛</m:t>
                        </m:r>
                      </m:e>
                      <m:sup>
                        <m:r>
                          <a:rPr lang="ar-AE" b="0" i="1" smtClean="0">
                            <a:latin typeface="Cambria Math" panose="02040503050406030204" pitchFamily="18" charset="0"/>
                          </a:rPr>
                          <m:t>−</m:t>
                        </m:r>
                        <m:r>
                          <a:rPr lang="ar-AE" b="0" i="1" smtClean="0">
                            <a:latin typeface="Cambria Math" panose="02040503050406030204" pitchFamily="18" charset="0"/>
                          </a:rPr>
                          <m:t>1</m:t>
                        </m:r>
                      </m:sup>
                    </m:sSup>
                  </m:oMath>
                </a14:m>
                <a:r>
                  <a:rPr lang="ar-AE" dirty="0"/>
                  <a:t> </a:t>
                </a:r>
              </a:p>
              <a:p>
                <a:r>
                  <a:rPr lang="es-ES" dirty="0" err="1"/>
                  <a:t>Tiempo</a:t>
                </a:r>
                <a:r>
                  <a:rPr lang="es-ES" dirty="0"/>
                  <a:t> de </a:t>
                </a:r>
                <a:r>
                  <a:rPr lang="es-ES" dirty="0" err="1"/>
                  <a:t>servicio</a:t>
                </a:r>
                <a:r>
                  <a:rPr lang="es-ES" dirty="0"/>
                  <a:t> </a:t>
                </a:r>
                <a:r>
                  <a:rPr lang="es-ES" dirty="0" err="1"/>
                  <a:t>esperado</a:t>
                </a:r>
                <a:r>
                  <a:rPr lang="es-ES" dirty="0"/>
                  <a:t>: </a:t>
                </a:r>
                <a14:m>
                  <m:oMath xmlns:m="http://schemas.openxmlformats.org/officeDocument/2006/math">
                    <m:sSub>
                      <m:sSubPr>
                        <m:ctrlPr>
                          <a:rPr lang="ar-AE" i="1" smtClean="0">
                            <a:latin typeface="Cambria Math" panose="02040503050406030204" pitchFamily="18" charset="0"/>
                          </a:rPr>
                        </m:ctrlPr>
                      </m:sSubPr>
                      <m:e>
                        <m:r>
                          <a:rPr lang="ar-AE" i="1" smtClean="0">
                            <a:latin typeface="Cambria Math" panose="02040503050406030204" pitchFamily="18" charset="0"/>
                            <a:ea typeface="Cambria Math" panose="02040503050406030204" pitchFamily="18" charset="0"/>
                          </a:rPr>
                          <m:t>𝜇</m:t>
                        </m:r>
                      </m:e>
                      <m:sub>
                        <m:r>
                          <a:rPr lang="ar-AE" b="0" i="1" smtClean="0">
                            <a:latin typeface="Cambria Math" panose="02040503050406030204" pitchFamily="18" charset="0"/>
                          </a:rPr>
                          <m:t>𝑆</m:t>
                        </m:r>
                      </m:sub>
                    </m:sSub>
                    <m:r>
                      <a:rPr lang="ar-AE" b="0" i="1" smtClean="0">
                        <a:latin typeface="Cambria Math" panose="02040503050406030204" pitchFamily="18" charset="0"/>
                      </a:rPr>
                      <m:t>=</m:t>
                    </m:r>
                    <m:r>
                      <a:rPr lang="ar-AE" b="0" i="1" smtClean="0">
                        <a:latin typeface="Cambria Math" panose="02040503050406030204" pitchFamily="18" charset="0"/>
                      </a:rPr>
                      <m:t>10</m:t>
                    </m:r>
                    <m:func>
                      <m:funcPr>
                        <m:ctrlPr>
                          <a:rPr lang="ar-AE" b="0" i="1" smtClean="0">
                            <a:latin typeface="Cambria Math" panose="02040503050406030204" pitchFamily="18" charset="0"/>
                          </a:rPr>
                        </m:ctrlPr>
                      </m:funcPr>
                      <m:fName>
                        <m:r>
                          <m:rPr>
                            <m:sty m:val="p"/>
                          </m:rPr>
                          <a:rPr lang="es-ES" b="0" i="0" smtClean="0">
                            <a:latin typeface="Cambria Math" panose="02040503050406030204" pitchFamily="18" charset="0"/>
                          </a:rPr>
                          <m:t>sec</m:t>
                        </m:r>
                      </m:fName>
                      <m:e>
                        <m:r>
                          <a:rPr lang="ar-AE" b="0" i="1" smtClean="0">
                            <a:latin typeface="Cambria Math" panose="02040503050406030204" pitchFamily="18" charset="0"/>
                          </a:rPr>
                          <m:t>=</m:t>
                        </m:r>
                        <m:f>
                          <m:fPr>
                            <m:ctrlPr>
                              <a:rPr lang="ar-AE" b="0" i="1" smtClean="0">
                                <a:latin typeface="Cambria Math" panose="02040503050406030204" pitchFamily="18" charset="0"/>
                              </a:rPr>
                            </m:ctrlPr>
                          </m:fPr>
                          <m:num>
                            <m:r>
                              <a:rPr lang="ar-AE" b="0" i="1" smtClean="0">
                                <a:latin typeface="Cambria Math" panose="02040503050406030204" pitchFamily="18" charset="0"/>
                              </a:rPr>
                              <m:t>1</m:t>
                            </m:r>
                          </m:num>
                          <m:den>
                            <m:r>
                              <a:rPr lang="ar-AE" b="0" i="1" smtClean="0">
                                <a:latin typeface="Cambria Math" panose="02040503050406030204" pitchFamily="18" charset="0"/>
                              </a:rPr>
                              <m:t>6</m:t>
                            </m:r>
                          </m:den>
                        </m:f>
                        <m:r>
                          <a:rPr lang="ar-AE" b="0" i="1" smtClean="0">
                            <a:latin typeface="Cambria Math" panose="02040503050406030204" pitchFamily="18" charset="0"/>
                          </a:rPr>
                          <m:t>𝑚𝑖𝑛</m:t>
                        </m:r>
                      </m:e>
                    </m:func>
                  </m:oMath>
                </a14:m>
                <a:endParaRPr lang="ar-AE" dirty="0"/>
              </a:p>
              <a:p>
                <a:r>
                  <a:rPr lang="es-ES" dirty="0"/>
                  <a:t>Factor de u</a:t>
                </a:r>
                <a:r>
                  <a:rPr lang="es-ES" dirty="0" err="1"/>
                  <a:t>tilización</a:t>
                </a:r>
                <a:r>
                  <a:rPr lang="es-ES" dirty="0"/>
                  <a:t>: </a:t>
                </a:r>
                <a14:m>
                  <m:oMath xmlns:m="http://schemas.openxmlformats.org/officeDocument/2006/math">
                    <m:r>
                      <a:rPr lang="es-ES" b="0" i="1" smtClean="0">
                        <a:latin typeface="Cambria Math" panose="02040503050406030204" pitchFamily="18" charset="0"/>
                      </a:rPr>
                      <m:t>𝑟</m:t>
                    </m:r>
                    <m:r>
                      <a:rPr lang="es-ES" b="0" i="1" smtClean="0">
                        <a:latin typeface="Cambria Math" panose="02040503050406030204" pitchFamily="18" charset="0"/>
                      </a:rPr>
                      <m:t>=</m:t>
                    </m:r>
                    <m:f>
                      <m:fPr>
                        <m:ctrlPr>
                          <a:rPr lang="ar-AE" b="0" i="1" smtClean="0">
                            <a:latin typeface="Cambria Math" panose="02040503050406030204" pitchFamily="18" charset="0"/>
                          </a:rPr>
                        </m:ctrlPr>
                      </m:fPr>
                      <m:num>
                        <m:sSub>
                          <m:sSubPr>
                            <m:ctrlPr>
                              <a:rPr lang="ar-AE" b="0" i="1" smtClean="0">
                                <a:latin typeface="Cambria Math" panose="02040503050406030204" pitchFamily="18" charset="0"/>
                              </a:rPr>
                            </m:ctrlPr>
                          </m:sSubPr>
                          <m:e>
                            <m:r>
                              <a:rPr lang="ar-AE" b="0" i="1" smtClean="0">
                                <a:latin typeface="Cambria Math" panose="02040503050406030204" pitchFamily="18" charset="0"/>
                                <a:ea typeface="Cambria Math" panose="02040503050406030204" pitchFamily="18" charset="0"/>
                              </a:rPr>
                              <m:t>𝜆</m:t>
                            </m:r>
                          </m:e>
                          <m:sub>
                            <m:r>
                              <a:rPr lang="ar-AE" b="0" i="1" smtClean="0">
                                <a:latin typeface="Cambria Math" panose="02040503050406030204" pitchFamily="18" charset="0"/>
                              </a:rPr>
                              <m:t>𝐴</m:t>
                            </m:r>
                          </m:sub>
                        </m:sSub>
                      </m:num>
                      <m:den>
                        <m:sSub>
                          <m:sSubPr>
                            <m:ctrlPr>
                              <a:rPr lang="ar-AE" b="0" i="1" smtClean="0">
                                <a:latin typeface="Cambria Math" panose="02040503050406030204" pitchFamily="18" charset="0"/>
                              </a:rPr>
                            </m:ctrlPr>
                          </m:sSubPr>
                          <m:e>
                            <m:r>
                              <a:rPr lang="ar-AE" b="0" i="1" smtClean="0">
                                <a:latin typeface="Cambria Math" panose="02040503050406030204" pitchFamily="18" charset="0"/>
                                <a:ea typeface="Cambria Math" panose="02040503050406030204" pitchFamily="18" charset="0"/>
                              </a:rPr>
                              <m:t>𝜆</m:t>
                            </m:r>
                          </m:e>
                          <m:sub>
                            <m:r>
                              <a:rPr lang="ar-AE" b="0" i="1" smtClean="0">
                                <a:latin typeface="Cambria Math" panose="02040503050406030204" pitchFamily="18" charset="0"/>
                              </a:rPr>
                              <m:t>𝑆</m:t>
                            </m:r>
                          </m:sub>
                        </m:sSub>
                      </m:den>
                    </m:f>
                    <m:r>
                      <a:rPr lang="ar-AE" b="0" i="1" smtClean="0">
                        <a:latin typeface="Cambria Math" panose="02040503050406030204" pitchFamily="18" charset="0"/>
                      </a:rPr>
                      <m:t>=</m:t>
                    </m:r>
                    <m:sSub>
                      <m:sSubPr>
                        <m:ctrlPr>
                          <a:rPr lang="ar-AE" b="0" i="1" smtClean="0">
                            <a:latin typeface="Cambria Math" panose="02040503050406030204" pitchFamily="18" charset="0"/>
                          </a:rPr>
                        </m:ctrlPr>
                      </m:sSubPr>
                      <m:e>
                        <m:r>
                          <a:rPr lang="ar-AE" b="0" i="1" smtClean="0">
                            <a:latin typeface="Cambria Math" panose="02040503050406030204" pitchFamily="18" charset="0"/>
                            <a:ea typeface="Cambria Math" panose="02040503050406030204" pitchFamily="18" charset="0"/>
                          </a:rPr>
                          <m:t>𝜆</m:t>
                        </m:r>
                      </m:e>
                      <m:sub>
                        <m:r>
                          <a:rPr lang="ar-AE" b="0" i="1" smtClean="0">
                            <a:latin typeface="Cambria Math" panose="02040503050406030204" pitchFamily="18" charset="0"/>
                          </a:rPr>
                          <m:t>𝐴</m:t>
                        </m:r>
                      </m:sub>
                    </m:sSub>
                    <m:r>
                      <a:rPr lang="ar-AE" b="0" i="1" smtClean="0">
                        <a:latin typeface="Cambria Math" panose="02040503050406030204" pitchFamily="18" charset="0"/>
                        <a:ea typeface="Cambria Math" panose="02040503050406030204" pitchFamily="18" charset="0"/>
                      </a:rPr>
                      <m:t>∙</m:t>
                    </m:r>
                    <m:sSub>
                      <m:sSubPr>
                        <m:ctrlPr>
                          <a:rPr lang="ar-AE" b="0" i="1" smtClean="0">
                            <a:latin typeface="Cambria Math" panose="02040503050406030204" pitchFamily="18" charset="0"/>
                          </a:rPr>
                        </m:ctrlPr>
                      </m:sSubPr>
                      <m:e>
                        <m:r>
                          <a:rPr lang="ar-AE" b="0" i="1" smtClean="0">
                            <a:latin typeface="Cambria Math" panose="02040503050406030204" pitchFamily="18" charset="0"/>
                            <a:ea typeface="Cambria Math" panose="02040503050406030204" pitchFamily="18" charset="0"/>
                          </a:rPr>
                          <m:t>𝜇</m:t>
                        </m:r>
                      </m:e>
                      <m:sub>
                        <m:r>
                          <a:rPr lang="ar-AE" b="0" i="1" smtClean="0">
                            <a:latin typeface="Cambria Math" panose="02040503050406030204" pitchFamily="18" charset="0"/>
                          </a:rPr>
                          <m:t>𝑆</m:t>
                        </m:r>
                      </m:sub>
                    </m:sSub>
                    <m:r>
                      <a:rPr lang="ar-AE" b="0" i="1" smtClean="0">
                        <a:latin typeface="Cambria Math" panose="02040503050406030204" pitchFamily="18" charset="0"/>
                      </a:rPr>
                      <m:t>=</m:t>
                    </m:r>
                    <m:r>
                      <a:rPr lang="ar-AE" b="0" i="1" smtClean="0">
                        <a:latin typeface="Cambria Math" panose="02040503050406030204" pitchFamily="18" charset="0"/>
                      </a:rPr>
                      <m:t>5</m:t>
                    </m:r>
                    <m:r>
                      <a:rPr lang="ar-AE" b="0" i="1" smtClean="0">
                        <a:latin typeface="Cambria Math" panose="02040503050406030204" pitchFamily="18" charset="0"/>
                        <a:ea typeface="Cambria Math" panose="02040503050406030204" pitchFamily="18" charset="0"/>
                      </a:rPr>
                      <m:t>∙</m:t>
                    </m:r>
                    <m:f>
                      <m:fPr>
                        <m:ctrlPr>
                          <a:rPr lang="ar-AE" b="0" i="1" smtClean="0">
                            <a:latin typeface="Cambria Math" panose="02040503050406030204" pitchFamily="18" charset="0"/>
                            <a:ea typeface="Cambria Math" panose="02040503050406030204" pitchFamily="18" charset="0"/>
                          </a:rPr>
                        </m:ctrlPr>
                      </m:fPr>
                      <m:num>
                        <m:r>
                          <a:rPr lang="ar-AE" b="0" i="1" smtClean="0">
                            <a:latin typeface="Cambria Math" panose="02040503050406030204" pitchFamily="18" charset="0"/>
                            <a:ea typeface="Cambria Math" panose="02040503050406030204" pitchFamily="18" charset="0"/>
                          </a:rPr>
                          <m:t>1</m:t>
                        </m:r>
                      </m:num>
                      <m:den>
                        <m:r>
                          <a:rPr lang="ar-AE" b="0" i="1" smtClean="0">
                            <a:latin typeface="Cambria Math" panose="02040503050406030204" pitchFamily="18" charset="0"/>
                            <a:ea typeface="Cambria Math" panose="02040503050406030204" pitchFamily="18" charset="0"/>
                          </a:rPr>
                          <m:t>6</m:t>
                        </m:r>
                      </m:den>
                    </m:f>
                    <m:r>
                      <a:rPr lang="ar-AE" b="0" i="1" smtClean="0">
                        <a:latin typeface="Cambria Math" panose="02040503050406030204" pitchFamily="18" charset="0"/>
                        <a:ea typeface="Cambria Math" panose="02040503050406030204" pitchFamily="18" charset="0"/>
                      </a:rPr>
                      <m:t>=</m:t>
                    </m:r>
                    <m:f>
                      <m:fPr>
                        <m:ctrlPr>
                          <a:rPr lang="ar-AE" b="0" i="1" smtClean="0">
                            <a:latin typeface="Cambria Math" panose="02040503050406030204" pitchFamily="18" charset="0"/>
                            <a:ea typeface="Cambria Math" panose="02040503050406030204" pitchFamily="18" charset="0"/>
                          </a:rPr>
                        </m:ctrlPr>
                      </m:fPr>
                      <m:num>
                        <m:r>
                          <a:rPr lang="ar-AE" b="0" i="1" smtClean="0">
                            <a:latin typeface="Cambria Math" panose="02040503050406030204" pitchFamily="18" charset="0"/>
                            <a:ea typeface="Cambria Math" panose="02040503050406030204" pitchFamily="18" charset="0"/>
                          </a:rPr>
                          <m:t>5</m:t>
                        </m:r>
                      </m:num>
                      <m:den>
                        <m:r>
                          <a:rPr lang="ar-AE" b="0" i="1" smtClean="0">
                            <a:latin typeface="Cambria Math" panose="02040503050406030204" pitchFamily="18" charset="0"/>
                            <a:ea typeface="Cambria Math" panose="02040503050406030204" pitchFamily="18" charset="0"/>
                          </a:rPr>
                          <m:t>6</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83</m:t>
                    </m:r>
                  </m:oMath>
                </a14:m>
                <a:endParaRPr lang="ar-AE" dirty="0"/>
              </a:p>
              <a:p>
                <a:pPr lvl="1"/>
                <a:r>
                  <a:rPr lang="es-ES" dirty="0" err="1"/>
                  <a:t>Esto</a:t>
                </a:r>
                <a:r>
                  <a:rPr lang="es-ES" dirty="0"/>
                  <a:t> </a:t>
                </a:r>
                <a:r>
                  <a:rPr lang="es-ES" dirty="0" err="1"/>
                  <a:t>también</a:t>
                </a:r>
                <a:r>
                  <a:rPr lang="es-ES" dirty="0"/>
                  <a:t> </a:t>
                </a:r>
                <a:r>
                  <a:rPr lang="es-ES" dirty="0" err="1"/>
                  <a:t>representa</a:t>
                </a:r>
                <a:r>
                  <a:rPr lang="es-ES" dirty="0"/>
                  <a:t> la </a:t>
                </a:r>
                <a:r>
                  <a:rPr lang="es-ES" dirty="0" err="1"/>
                  <a:t>proporción</a:t>
                </a:r>
                <a:r>
                  <a:rPr lang="es-ES" dirty="0"/>
                  <a:t> de </a:t>
                </a:r>
                <a:r>
                  <a:rPr lang="es-ES" dirty="0" err="1"/>
                  <a:t>tiempo</a:t>
                </a:r>
                <a:r>
                  <a:rPr lang="es-ES" dirty="0"/>
                  <a:t> </a:t>
                </a:r>
                <a:r>
                  <a:rPr lang="es-ES" dirty="0" err="1"/>
                  <a:t>cuando</a:t>
                </a:r>
                <a:r>
                  <a:rPr lang="es-ES" dirty="0"/>
                  <a:t> </a:t>
                </a:r>
                <a:r>
                  <a:rPr lang="es-ES" dirty="0" err="1"/>
                  <a:t>el</a:t>
                </a:r>
                <a:r>
                  <a:rPr lang="es-ES" dirty="0"/>
                  <a:t> canal </a:t>
                </a:r>
                <a:r>
                  <a:rPr lang="es-ES" dirty="0" err="1"/>
                  <a:t>está</a:t>
                </a:r>
                <a:r>
                  <a:rPr lang="es-ES" dirty="0"/>
                  <a:t> </a:t>
                </a:r>
                <a:r>
                  <a:rPr lang="es-ES" dirty="0" err="1"/>
                  <a:t>ocupado</a:t>
                </a:r>
                <a:r>
                  <a:rPr lang="es-ES" dirty="0"/>
                  <a:t> y la </a:t>
                </a:r>
                <a:r>
                  <a:rPr lang="es-ES" dirty="0" err="1"/>
                  <a:t>probabilidad</a:t>
                </a:r>
                <a:r>
                  <a:rPr lang="es-ES" dirty="0"/>
                  <a:t> de que el </a:t>
                </a:r>
                <a:r>
                  <a:rPr lang="es-ES" dirty="0" err="1"/>
                  <a:t>tiempo</a:t>
                </a:r>
                <a:r>
                  <a:rPr lang="es-ES" dirty="0"/>
                  <a:t> de </a:t>
                </a:r>
                <a:r>
                  <a:rPr lang="es-ES" dirty="0" err="1"/>
                  <a:t>espera</a:t>
                </a:r>
                <a:r>
                  <a:rPr lang="es-ES" dirty="0"/>
                  <a:t> no sea cero.</a:t>
                </a:r>
              </a:p>
              <a:p>
                <a:r>
                  <a:rPr lang="es-ES" dirty="0" err="1"/>
                  <a:t>Número</a:t>
                </a:r>
                <a:r>
                  <a:rPr lang="es-ES" dirty="0"/>
                  <a:t> medio de </a:t>
                </a:r>
                <a:r>
                  <a:rPr lang="es-ES" dirty="0" err="1"/>
                  <a:t>mensajes</a:t>
                </a:r>
                <a:r>
                  <a:rPr lang="es-ES" dirty="0"/>
                  <a:t> </a:t>
                </a:r>
                <a:r>
                  <a:rPr lang="es-ES" dirty="0" err="1"/>
                  <a:t>almacenados</a:t>
                </a:r>
                <a:r>
                  <a:rPr lang="es-ES" dirty="0"/>
                  <a:t> en </a:t>
                </a:r>
                <a:r>
                  <a:rPr lang="es-ES" dirty="0" err="1"/>
                  <a:t>el</a:t>
                </a:r>
                <a:r>
                  <a:rPr lang="es-ES" dirty="0"/>
                  <a:t> </a:t>
                </a:r>
                <a:r>
                  <a:rPr lang="es-ES" dirty="0" err="1"/>
                  <a:t>sistema</a:t>
                </a:r>
                <a:r>
                  <a:rPr lang="es-ES" dirty="0"/>
                  <a:t> en </a:t>
                </a:r>
                <a:r>
                  <a:rPr lang="es-ES" dirty="0" err="1"/>
                  <a:t>cualquier</a:t>
                </a:r>
                <a:r>
                  <a:rPr lang="es-ES" dirty="0"/>
                  <a:t> </a:t>
                </a:r>
                <a:r>
                  <a:rPr lang="es-ES" dirty="0" err="1"/>
                  <a:t>momento</a:t>
                </a:r>
                <a:r>
                  <a:rPr lang="es-ES" dirty="0"/>
                  <a:t>:</a:t>
                </a:r>
              </a:p>
              <a:p>
                <a:pPr lvl="1"/>
                <a14:m>
                  <m:oMath xmlns:m="http://schemas.openxmlformats.org/officeDocument/2006/math">
                    <m:r>
                      <a:rPr lang="es-ES"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f>
                      <m:fPr>
                        <m:ctrlPr>
                          <a:rPr lang="ar-AE" b="0" i="1" smtClean="0">
                            <a:latin typeface="Cambria Math" panose="02040503050406030204" pitchFamily="18" charset="0"/>
                          </a:rPr>
                        </m:ctrlPr>
                      </m:fPr>
                      <m:num>
                        <m:r>
                          <a:rPr lang="ar-AE" b="0" i="1" smtClean="0">
                            <a:latin typeface="Cambria Math" panose="02040503050406030204" pitchFamily="18" charset="0"/>
                          </a:rPr>
                          <m:t>𝑟</m:t>
                        </m:r>
                      </m:num>
                      <m:den>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𝑟</m:t>
                        </m:r>
                      </m:den>
                    </m:f>
                    <m:r>
                      <a:rPr lang="ar-AE" b="0" i="1" smtClean="0">
                        <a:latin typeface="Cambria Math" panose="02040503050406030204" pitchFamily="18" charset="0"/>
                      </a:rPr>
                      <m:t>=</m:t>
                    </m:r>
                    <m:f>
                      <m:fPr>
                        <m:ctrlPr>
                          <a:rPr lang="ar-AE" b="0" i="1" smtClean="0">
                            <a:latin typeface="Cambria Math" panose="02040503050406030204" pitchFamily="18" charset="0"/>
                          </a:rPr>
                        </m:ctrlPr>
                      </m:fPr>
                      <m:num>
                        <m:f>
                          <m:fPr>
                            <m:ctrlPr>
                              <a:rPr lang="ar-AE" b="0" i="1" smtClean="0">
                                <a:latin typeface="Cambria Math" panose="02040503050406030204" pitchFamily="18" charset="0"/>
                              </a:rPr>
                            </m:ctrlPr>
                          </m:fPr>
                          <m:num>
                            <m:r>
                              <a:rPr lang="ar-AE" b="0" i="1" smtClean="0">
                                <a:latin typeface="Cambria Math" panose="02040503050406030204" pitchFamily="18" charset="0"/>
                              </a:rPr>
                              <m:t>5</m:t>
                            </m:r>
                          </m:num>
                          <m:den>
                            <m:r>
                              <a:rPr lang="ar-AE" b="0" i="1" smtClean="0">
                                <a:latin typeface="Cambria Math" panose="02040503050406030204" pitchFamily="18" charset="0"/>
                              </a:rPr>
                              <m:t>6</m:t>
                            </m:r>
                          </m:den>
                        </m:f>
                      </m:num>
                      <m:den>
                        <m:r>
                          <a:rPr lang="ar-AE" b="0" i="1" smtClean="0">
                            <a:latin typeface="Cambria Math" panose="02040503050406030204" pitchFamily="18" charset="0"/>
                          </a:rPr>
                          <m:t>1</m:t>
                        </m:r>
                        <m:r>
                          <a:rPr lang="ar-AE" b="0" i="1" smtClean="0">
                            <a:latin typeface="Cambria Math" panose="02040503050406030204" pitchFamily="18" charset="0"/>
                          </a:rPr>
                          <m:t>−</m:t>
                        </m:r>
                        <m:f>
                          <m:fPr>
                            <m:ctrlPr>
                              <a:rPr lang="ar-AE" b="0" i="1" smtClean="0">
                                <a:latin typeface="Cambria Math" panose="02040503050406030204" pitchFamily="18" charset="0"/>
                              </a:rPr>
                            </m:ctrlPr>
                          </m:fPr>
                          <m:num>
                            <m:r>
                              <a:rPr lang="ar-AE" b="0" i="1" smtClean="0">
                                <a:latin typeface="Cambria Math" panose="02040503050406030204" pitchFamily="18" charset="0"/>
                              </a:rPr>
                              <m:t>5</m:t>
                            </m:r>
                          </m:num>
                          <m:den>
                            <m:r>
                              <a:rPr lang="ar-AE" b="0" i="1" smtClean="0">
                                <a:latin typeface="Cambria Math" panose="02040503050406030204" pitchFamily="18" charset="0"/>
                              </a:rPr>
                              <m:t>6</m:t>
                            </m:r>
                          </m:den>
                        </m:f>
                      </m:den>
                    </m:f>
                    <m:r>
                      <a:rPr lang="ar-AE" b="0" i="1" smtClean="0">
                        <a:latin typeface="Cambria Math" panose="02040503050406030204" pitchFamily="18" charset="0"/>
                      </a:rPr>
                      <m:t>=</m:t>
                    </m:r>
                    <m:r>
                      <a:rPr lang="ar-AE" b="0" i="1" smtClean="0">
                        <a:latin typeface="Cambria Math" panose="02040503050406030204" pitchFamily="18" charset="0"/>
                      </a:rPr>
                      <m:t>5</m:t>
                    </m:r>
                    <m:r>
                      <a:rPr lang="ar-AE" b="0" i="1" smtClean="0">
                        <a:latin typeface="Cambria Math" panose="02040503050406030204" pitchFamily="18" charset="0"/>
                      </a:rPr>
                      <m:t> </m:t>
                    </m:r>
                    <m:r>
                      <a:rPr lang="ar-AE" b="0" i="1" smtClean="0">
                        <a:latin typeface="Cambria Math" panose="02040503050406030204" pitchFamily="18" charset="0"/>
                      </a:rPr>
                      <m:t>𝑚𝑒𝑛𝑠𝑎𝑗𝑒𝑠</m:t>
                    </m:r>
                  </m:oMath>
                </a14:m>
                <a:endParaRPr lang="ar-AE" dirty="0"/>
              </a:p>
              <a:p>
                <a:pPr lvl="1"/>
                <a:endParaRPr dirty="0"/>
              </a:p>
            </p:txBody>
          </p:sp>
        </mc:Choice>
        <mc:Fallback xmlns="">
          <p:sp>
            <p:nvSpPr>
              <p:cNvPr id="3" name="Marcador de contenido 2">
                <a:extLst>
                  <a:ext uri="{FF2B5EF4-FFF2-40B4-BE49-F238E27FC236}">
                    <a16:creationId xmlns:a16="http://schemas.microsoft.com/office/drawing/2014/main" id="{D3B12A18-03EB-6E2D-6C77-524C2293C765}"/>
                  </a:ext>
                </a:extLst>
              </p:cNvPr>
              <p:cNvSpPr>
                <a:spLocks noGrp="1" noRot="1" noChangeAspect="1" noMove="1" noResize="1" noEditPoints="1" noAdjustHandles="1" noChangeArrowheads="1" noChangeShapeType="1" noTextEdit="1"/>
              </p:cNvSpPr>
              <p:nvPr>
                <p:ph idx="1"/>
              </p:nvPr>
            </p:nvSpPr>
            <p:spPr>
              <a:blipFill>
                <a:blip r:embed="rId2"/>
                <a:stretch>
                  <a:fillRect l="-1043" t="-266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2139001E-9F4A-8CD2-3ABB-2D6076A12537}"/>
              </a:ext>
            </a:extLst>
          </p:cNvPr>
          <p:cNvSpPr>
            <a:spLocks noGrp="1"/>
          </p:cNvSpPr>
          <p:nvPr>
            <p:ph type="sldNum" sz="quarter" idx="12"/>
          </p:nvPr>
        </p:nvSpPr>
        <p:spPr/>
        <p:txBody>
          <a:bodyPr/>
          <a:lstStyle/>
          <a:p>
            <a:fld id="{336CAFD0-1F6E-4E11-9822-836563A02839}" type="slidenum">
              <a:rPr lang="es-ES" smtClean="0"/>
              <a:t>16</a:t>
            </a:fld>
            <a:endParaRPr lang="es-ES"/>
          </a:p>
        </p:txBody>
      </p:sp>
    </p:spTree>
    <p:extLst>
      <p:ext uri="{BB962C8B-B14F-4D97-AF65-F5344CB8AC3E}">
        <p14:creationId xmlns:p14="http://schemas.microsoft.com/office/powerpoint/2010/main" val="2666843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65A9A4-1905-0CEB-4A41-04E96765197B}"/>
              </a:ext>
            </a:extLst>
          </p:cNvPr>
          <p:cNvSpPr>
            <a:spLocks noGrp="1"/>
          </p:cNvSpPr>
          <p:nvPr>
            <p:ph type="title"/>
          </p:nvPr>
        </p:nvSpPr>
        <p:spPr/>
        <p:txBody>
          <a:bodyPr/>
          <a:lstStyle/>
          <a:p>
            <a:r>
              <a:rPr lang="es-ES" dirty="0"/>
              <a:t>5. Sistema M/M/1</a:t>
            </a:r>
            <a:br>
              <a:rPr lang="es-ES" dirty="0"/>
            </a:br>
            <a:r>
              <a:rPr dirty="0" err="1"/>
              <a:t>Ejemplo</a:t>
            </a:r>
            <a:r>
              <a:rPr dirty="0"/>
              <a:t> 7.4 (</a:t>
            </a:r>
            <a:r>
              <a:rPr dirty="0" err="1"/>
              <a:t>Solución</a:t>
            </a:r>
            <a:r>
              <a:rPr dirty="0"/>
              <a:t>) (II)</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3B12A18-03EB-6E2D-6C77-524C2293C765}"/>
                  </a:ext>
                </a:extLst>
              </p:cNvPr>
              <p:cNvSpPr>
                <a:spLocks noGrp="1"/>
              </p:cNvSpPr>
              <p:nvPr>
                <p:ph idx="1"/>
              </p:nvPr>
            </p:nvSpPr>
            <p:spPr/>
            <p:txBody>
              <a:bodyPr>
                <a:normAutofit fontScale="92500" lnSpcReduction="10000"/>
              </a:bodyPr>
              <a:lstStyle/>
              <a:p>
                <a:r>
                  <a:rPr lang="es-ES" dirty="0"/>
                  <a:t>Número medio de </a:t>
                </a:r>
                <a:r>
                  <a:rPr lang="es-ES" dirty="0" err="1"/>
                  <a:t>mensajes</a:t>
                </a:r>
                <a:r>
                  <a:rPr lang="es-ES" dirty="0"/>
                  <a:t> </a:t>
                </a:r>
                <a:r>
                  <a:rPr lang="es-ES" dirty="0" err="1"/>
                  <a:t>esperando</a:t>
                </a:r>
                <a:r>
                  <a:rPr lang="es-ES" dirty="0"/>
                  <a:t> en cola en </a:t>
                </a:r>
                <a:r>
                  <a:rPr lang="es-ES" dirty="0" err="1"/>
                  <a:t>cualquier</a:t>
                </a:r>
                <a:r>
                  <a:rPr lang="es-ES" dirty="0"/>
                  <a:t> </a:t>
                </a:r>
                <a:r>
                  <a:rPr lang="es-ES" dirty="0" err="1"/>
                  <a:t>momento</a:t>
                </a:r>
                <a:r>
                  <a:rPr lang="es-ES" dirty="0"/>
                  <a:t>:</a:t>
                </a:r>
              </a:p>
              <a:p>
                <a:pPr lvl="1"/>
                <a14:m>
                  <m:oMath xmlns:m="http://schemas.openxmlformats.org/officeDocument/2006/math">
                    <m:r>
                      <a:rPr lang="es-ES" b="0" i="1" smtClean="0">
                        <a:latin typeface="Cambria Math" panose="02040503050406030204" pitchFamily="18" charset="0"/>
                      </a:rPr>
                      <m:t>𝐸</m:t>
                    </m:r>
                    <m:d>
                      <m:dPr>
                        <m:ctrlPr>
                          <a:rPr lang="ar-AE" b="0" i="1" smtClean="0">
                            <a:latin typeface="Cambria Math" panose="02040503050406030204" pitchFamily="18" charset="0"/>
                          </a:rPr>
                        </m:ctrlPr>
                      </m:dPr>
                      <m:e>
                        <m:sSub>
                          <m:sSubPr>
                            <m:ctrlPr>
                              <a:rPr lang="ar-AE" b="0" i="1" smtClean="0">
                                <a:latin typeface="Cambria Math" panose="02040503050406030204" pitchFamily="18" charset="0"/>
                              </a:rPr>
                            </m:ctrlPr>
                          </m:sSubPr>
                          <m:e>
                            <m:r>
                              <a:rPr lang="ar-AE" b="0" i="1" smtClean="0">
                                <a:latin typeface="Cambria Math" panose="02040503050406030204" pitchFamily="18" charset="0"/>
                              </a:rPr>
                              <m:t>𝑋</m:t>
                            </m:r>
                          </m:e>
                          <m:sub>
                            <m:r>
                              <a:rPr lang="ar-AE" b="0" i="1" smtClean="0">
                                <a:latin typeface="Cambria Math" panose="02040503050406030204" pitchFamily="18" charset="0"/>
                              </a:rPr>
                              <m:t>𝑤</m:t>
                            </m:r>
                          </m:sub>
                        </m:sSub>
                      </m:e>
                    </m:d>
                    <m:r>
                      <a:rPr lang="ar-AE" b="0" i="1" smtClean="0">
                        <a:latin typeface="Cambria Math" panose="02040503050406030204" pitchFamily="18" charset="0"/>
                      </a:rPr>
                      <m:t>=</m:t>
                    </m:r>
                    <m:f>
                      <m:fPr>
                        <m:ctrlPr>
                          <a:rPr lang="ar-AE" b="0" i="1" smtClean="0">
                            <a:latin typeface="Cambria Math" panose="02040503050406030204" pitchFamily="18" charset="0"/>
                          </a:rPr>
                        </m:ctrlPr>
                      </m:fPr>
                      <m:num>
                        <m:sSup>
                          <m:sSupPr>
                            <m:ctrlPr>
                              <a:rPr lang="ar-AE" b="0" i="1" smtClean="0">
                                <a:latin typeface="Cambria Math" panose="02040503050406030204" pitchFamily="18" charset="0"/>
                              </a:rPr>
                            </m:ctrlPr>
                          </m:sSupPr>
                          <m:e>
                            <m:r>
                              <a:rPr lang="ar-AE" b="0" i="1" smtClean="0">
                                <a:latin typeface="Cambria Math" panose="02040503050406030204" pitchFamily="18" charset="0"/>
                              </a:rPr>
                              <m:t>𝑟</m:t>
                            </m:r>
                          </m:e>
                          <m:sup>
                            <m:r>
                              <a:rPr lang="ar-AE" b="0" i="1" smtClean="0">
                                <a:latin typeface="Cambria Math" panose="02040503050406030204" pitchFamily="18" charset="0"/>
                              </a:rPr>
                              <m:t>2</m:t>
                            </m:r>
                          </m:sup>
                        </m:sSup>
                      </m:num>
                      <m:den>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𝑟</m:t>
                        </m:r>
                      </m:den>
                    </m:f>
                    <m:r>
                      <a:rPr lang="ar-AE" b="0" i="1" smtClean="0">
                        <a:latin typeface="Cambria Math" panose="02040503050406030204" pitchFamily="18" charset="0"/>
                      </a:rPr>
                      <m:t>=</m:t>
                    </m:r>
                    <m:f>
                      <m:fPr>
                        <m:ctrlPr>
                          <a:rPr lang="ar-AE" b="0" i="1" smtClean="0">
                            <a:latin typeface="Cambria Math" panose="02040503050406030204" pitchFamily="18" charset="0"/>
                          </a:rPr>
                        </m:ctrlPr>
                      </m:fPr>
                      <m:num>
                        <m:sSup>
                          <m:sSupPr>
                            <m:ctrlPr>
                              <a:rPr lang="ar-AE" b="0" i="1" smtClean="0">
                                <a:latin typeface="Cambria Math" panose="02040503050406030204" pitchFamily="18" charset="0"/>
                              </a:rPr>
                            </m:ctrlPr>
                          </m:sSupPr>
                          <m:e>
                            <m:d>
                              <m:dPr>
                                <m:ctrlPr>
                                  <a:rPr lang="ar-AE" b="0" i="1" smtClean="0">
                                    <a:latin typeface="Cambria Math" panose="02040503050406030204" pitchFamily="18" charset="0"/>
                                  </a:rPr>
                                </m:ctrlPr>
                              </m:dPr>
                              <m:e>
                                <m:f>
                                  <m:fPr>
                                    <m:ctrlPr>
                                      <a:rPr lang="ar-AE" b="0" i="1" smtClean="0">
                                        <a:latin typeface="Cambria Math" panose="02040503050406030204" pitchFamily="18" charset="0"/>
                                      </a:rPr>
                                    </m:ctrlPr>
                                  </m:fPr>
                                  <m:num>
                                    <m:r>
                                      <a:rPr lang="ar-AE" b="0" i="1" smtClean="0">
                                        <a:latin typeface="Cambria Math" panose="02040503050406030204" pitchFamily="18" charset="0"/>
                                      </a:rPr>
                                      <m:t>5</m:t>
                                    </m:r>
                                  </m:num>
                                  <m:den>
                                    <m:r>
                                      <a:rPr lang="ar-AE" b="0" i="1" smtClean="0">
                                        <a:latin typeface="Cambria Math" panose="02040503050406030204" pitchFamily="18" charset="0"/>
                                      </a:rPr>
                                      <m:t>6</m:t>
                                    </m:r>
                                  </m:den>
                                </m:f>
                              </m:e>
                            </m:d>
                          </m:e>
                          <m:sup>
                            <m:r>
                              <a:rPr lang="ar-AE" b="0" i="1" smtClean="0">
                                <a:latin typeface="Cambria Math" panose="02040503050406030204" pitchFamily="18" charset="0"/>
                              </a:rPr>
                              <m:t>2</m:t>
                            </m:r>
                          </m:sup>
                        </m:sSup>
                      </m:num>
                      <m:den>
                        <m:r>
                          <a:rPr lang="ar-AE" b="0" i="1" smtClean="0">
                            <a:latin typeface="Cambria Math" panose="02040503050406030204" pitchFamily="18" charset="0"/>
                          </a:rPr>
                          <m:t>1</m:t>
                        </m:r>
                        <m:r>
                          <a:rPr lang="ar-AE" b="0" i="1" smtClean="0">
                            <a:latin typeface="Cambria Math" panose="02040503050406030204" pitchFamily="18" charset="0"/>
                          </a:rPr>
                          <m:t>−</m:t>
                        </m:r>
                        <m:f>
                          <m:fPr>
                            <m:ctrlPr>
                              <a:rPr lang="ar-AE" b="0" i="1" smtClean="0">
                                <a:latin typeface="Cambria Math" panose="02040503050406030204" pitchFamily="18" charset="0"/>
                              </a:rPr>
                            </m:ctrlPr>
                          </m:fPr>
                          <m:num>
                            <m:r>
                              <a:rPr lang="ar-AE" b="0" i="1" smtClean="0">
                                <a:latin typeface="Cambria Math" panose="02040503050406030204" pitchFamily="18" charset="0"/>
                              </a:rPr>
                              <m:t>5</m:t>
                            </m:r>
                          </m:num>
                          <m:den>
                            <m:r>
                              <a:rPr lang="ar-AE" b="0" i="1" smtClean="0">
                                <a:latin typeface="Cambria Math" panose="02040503050406030204" pitchFamily="18" charset="0"/>
                              </a:rPr>
                              <m:t>6</m:t>
                            </m:r>
                          </m:den>
                        </m:f>
                      </m:den>
                    </m:f>
                    <m:r>
                      <a:rPr lang="ar-AE" b="0" i="1" smtClean="0">
                        <a:latin typeface="Cambria Math" panose="02040503050406030204" pitchFamily="18" charset="0"/>
                      </a:rPr>
                      <m:t>=</m:t>
                    </m:r>
                    <m:r>
                      <a:rPr lang="ar-AE" b="0" i="1" smtClean="0">
                        <a:latin typeface="Cambria Math" panose="02040503050406030204" pitchFamily="18" charset="0"/>
                      </a:rPr>
                      <m:t>4</m:t>
                    </m:r>
                    <m:r>
                      <a:rPr lang="ar-AE" b="0" i="1" smtClean="0">
                        <a:latin typeface="Cambria Math" panose="02040503050406030204" pitchFamily="18" charset="0"/>
                      </a:rPr>
                      <m:t>.</m:t>
                    </m:r>
                    <m:r>
                      <a:rPr lang="ar-AE" b="0" i="1" smtClean="0">
                        <a:latin typeface="Cambria Math" panose="02040503050406030204" pitchFamily="18" charset="0"/>
                      </a:rPr>
                      <m:t>17</m:t>
                    </m:r>
                    <m:r>
                      <a:rPr lang="ar-AE" b="0" i="1" smtClean="0">
                        <a:latin typeface="Cambria Math" panose="02040503050406030204" pitchFamily="18" charset="0"/>
                      </a:rPr>
                      <m:t> </m:t>
                    </m:r>
                    <m:r>
                      <a:rPr lang="ar-AE" b="0" i="1" smtClean="0">
                        <a:latin typeface="Cambria Math" panose="02040503050406030204" pitchFamily="18" charset="0"/>
                      </a:rPr>
                      <m:t>𝑚𝑒𝑛𝑠𝑎𝑗𝑒𝑠</m:t>
                    </m:r>
                  </m:oMath>
                </a14:m>
                <a:endParaRPr lang="ar-AE" dirty="0"/>
              </a:p>
              <a:p>
                <a:r>
                  <a:rPr lang="es-ES" dirty="0"/>
                  <a:t>Cuando un mensaje llega al centro, el promedio de su tiempo de espera hasta que comienza su transmisión es:</a:t>
                </a:r>
              </a:p>
              <a:p>
                <a:pPr lvl="1"/>
                <a14:m>
                  <m:oMath xmlns:m="http://schemas.openxmlformats.org/officeDocument/2006/math">
                    <m:r>
                      <a:rPr lang="es-ES"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𝑊</m:t>
                        </m:r>
                      </m:e>
                    </m:d>
                    <m:r>
                      <a:rPr lang="ar-AE" b="0" i="1" smtClean="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ea typeface="Cambria Math" panose="02040503050406030204" pitchFamily="18" charset="0"/>
                          </a:rPr>
                          <m:t>𝜇</m:t>
                        </m:r>
                      </m:e>
                      <m:sub>
                        <m:r>
                          <a:rPr lang="ar-AE" i="1">
                            <a:latin typeface="Cambria Math" panose="02040503050406030204" pitchFamily="18" charset="0"/>
                          </a:rPr>
                          <m:t>𝑆</m:t>
                        </m:r>
                      </m:sub>
                    </m:sSub>
                    <m:f>
                      <m:fPr>
                        <m:ctrlPr>
                          <a:rPr lang="ar-AE" i="1">
                            <a:latin typeface="Cambria Math" panose="02040503050406030204" pitchFamily="18" charset="0"/>
                          </a:rPr>
                        </m:ctrlPr>
                      </m:fPr>
                      <m:num>
                        <m:r>
                          <a:rPr lang="ar-AE" i="1">
                            <a:latin typeface="Cambria Math" panose="02040503050406030204" pitchFamily="18" charset="0"/>
                          </a:rPr>
                          <m:t>𝑟</m:t>
                        </m:r>
                      </m:num>
                      <m:den>
                        <m:r>
                          <a:rPr lang="ar-AE" i="1">
                            <a:latin typeface="Cambria Math" panose="02040503050406030204" pitchFamily="18" charset="0"/>
                          </a:rPr>
                          <m:t>1</m:t>
                        </m:r>
                        <m:r>
                          <a:rPr lang="ar-AE" i="1">
                            <a:latin typeface="Cambria Math" panose="02040503050406030204" pitchFamily="18" charset="0"/>
                          </a:rPr>
                          <m:t>−</m:t>
                        </m:r>
                        <m:r>
                          <a:rPr lang="ar-AE" i="1">
                            <a:latin typeface="Cambria Math" panose="02040503050406030204" pitchFamily="18" charset="0"/>
                          </a:rPr>
                          <m:t>𝑟</m:t>
                        </m:r>
                      </m:den>
                    </m:f>
                    <m:r>
                      <a:rPr lang="ar-AE" b="0" i="1" smtClean="0">
                        <a:latin typeface="Cambria Math" panose="02040503050406030204" pitchFamily="18" charset="0"/>
                      </a:rPr>
                      <m:t>=</m:t>
                    </m:r>
                    <m:f>
                      <m:fPr>
                        <m:ctrlPr>
                          <a:rPr lang="ar-AE" b="0" i="1" smtClean="0">
                            <a:latin typeface="Cambria Math" panose="02040503050406030204" pitchFamily="18" charset="0"/>
                          </a:rPr>
                        </m:ctrlPr>
                      </m:fPr>
                      <m:num>
                        <m:r>
                          <a:rPr lang="ar-AE" b="0" i="1" smtClean="0">
                            <a:latin typeface="Cambria Math" panose="02040503050406030204" pitchFamily="18" charset="0"/>
                          </a:rPr>
                          <m:t>1</m:t>
                        </m:r>
                      </m:num>
                      <m:den>
                        <m:r>
                          <a:rPr lang="ar-AE" b="0" i="1" smtClean="0">
                            <a:latin typeface="Cambria Math" panose="02040503050406030204" pitchFamily="18" charset="0"/>
                          </a:rPr>
                          <m:t>6</m:t>
                        </m:r>
                      </m:den>
                    </m:f>
                    <m:r>
                      <a:rPr lang="ar-AE" b="0" i="1" smtClean="0">
                        <a:latin typeface="Cambria Math" panose="02040503050406030204" pitchFamily="18" charset="0"/>
                        <a:ea typeface="Cambria Math" panose="02040503050406030204" pitchFamily="18" charset="0"/>
                      </a:rPr>
                      <m:t>∙</m:t>
                    </m:r>
                    <m:f>
                      <m:fPr>
                        <m:ctrlPr>
                          <a:rPr lang="ar-AE" b="0" i="1" smtClean="0">
                            <a:latin typeface="Cambria Math" panose="02040503050406030204" pitchFamily="18" charset="0"/>
                          </a:rPr>
                        </m:ctrlPr>
                      </m:fPr>
                      <m:num>
                        <m:f>
                          <m:fPr>
                            <m:ctrlPr>
                              <a:rPr lang="ar-AE" b="0" i="1" smtClean="0">
                                <a:latin typeface="Cambria Math" panose="02040503050406030204" pitchFamily="18" charset="0"/>
                              </a:rPr>
                            </m:ctrlPr>
                          </m:fPr>
                          <m:num>
                            <m:r>
                              <a:rPr lang="ar-AE" b="0" i="1" smtClean="0">
                                <a:latin typeface="Cambria Math" panose="02040503050406030204" pitchFamily="18" charset="0"/>
                              </a:rPr>
                              <m:t>5</m:t>
                            </m:r>
                          </m:num>
                          <m:den>
                            <m:r>
                              <a:rPr lang="ar-AE" b="0" i="1" smtClean="0">
                                <a:latin typeface="Cambria Math" panose="02040503050406030204" pitchFamily="18" charset="0"/>
                              </a:rPr>
                              <m:t>6</m:t>
                            </m:r>
                          </m:den>
                        </m:f>
                      </m:num>
                      <m:den>
                        <m:r>
                          <a:rPr lang="ar-AE" b="0" i="1" smtClean="0">
                            <a:latin typeface="Cambria Math" panose="02040503050406030204" pitchFamily="18" charset="0"/>
                          </a:rPr>
                          <m:t>1</m:t>
                        </m:r>
                        <m:r>
                          <a:rPr lang="ar-AE" b="0" i="1" smtClean="0">
                            <a:latin typeface="Cambria Math" panose="02040503050406030204" pitchFamily="18" charset="0"/>
                          </a:rPr>
                          <m:t>−</m:t>
                        </m:r>
                        <m:f>
                          <m:fPr>
                            <m:ctrlPr>
                              <a:rPr lang="ar-AE" b="0" i="1" smtClean="0">
                                <a:latin typeface="Cambria Math" panose="02040503050406030204" pitchFamily="18" charset="0"/>
                              </a:rPr>
                            </m:ctrlPr>
                          </m:fPr>
                          <m:num>
                            <m:r>
                              <a:rPr lang="ar-AE" b="0" i="1" smtClean="0">
                                <a:latin typeface="Cambria Math" panose="02040503050406030204" pitchFamily="18" charset="0"/>
                              </a:rPr>
                              <m:t>5</m:t>
                            </m:r>
                          </m:num>
                          <m:den>
                            <m:r>
                              <a:rPr lang="ar-AE" b="0" i="1" smtClean="0">
                                <a:latin typeface="Cambria Math" panose="02040503050406030204" pitchFamily="18" charset="0"/>
                              </a:rPr>
                              <m:t>6</m:t>
                            </m:r>
                          </m:den>
                        </m:f>
                      </m:den>
                    </m:f>
                    <m:r>
                      <a:rPr lang="ar-AE" b="0" i="1" smtClean="0">
                        <a:latin typeface="Cambria Math" panose="02040503050406030204" pitchFamily="18" charset="0"/>
                      </a:rPr>
                      <m:t>=</m:t>
                    </m:r>
                    <m:f>
                      <m:fPr>
                        <m:ctrlPr>
                          <a:rPr lang="ar-AE" b="0" i="1" smtClean="0">
                            <a:latin typeface="Cambria Math" panose="02040503050406030204" pitchFamily="18" charset="0"/>
                          </a:rPr>
                        </m:ctrlPr>
                      </m:fPr>
                      <m:num>
                        <m:r>
                          <a:rPr lang="ar-AE" b="0" i="1" smtClean="0">
                            <a:latin typeface="Cambria Math" panose="02040503050406030204" pitchFamily="18" charset="0"/>
                          </a:rPr>
                          <m:t>5</m:t>
                        </m:r>
                      </m:num>
                      <m:den>
                        <m:r>
                          <a:rPr lang="ar-AE" b="0" i="1" smtClean="0">
                            <a:latin typeface="Cambria Math" panose="02040503050406030204" pitchFamily="18" charset="0"/>
                          </a:rPr>
                          <m:t>6</m:t>
                        </m:r>
                      </m:den>
                    </m:f>
                    <m:r>
                      <a:rPr lang="ar-AE" b="0" i="1" smtClean="0">
                        <a:latin typeface="Cambria Math" panose="02040503050406030204" pitchFamily="18" charset="0"/>
                      </a:rPr>
                      <m:t>=</m:t>
                    </m:r>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83</m:t>
                    </m:r>
                    <m:func>
                      <m:funcPr>
                        <m:ctrlPr>
                          <a:rPr lang="ar-AE" b="0" i="1" smtClean="0">
                            <a:latin typeface="Cambria Math" panose="02040503050406030204" pitchFamily="18" charset="0"/>
                          </a:rPr>
                        </m:ctrlPr>
                      </m:funcPr>
                      <m:fName>
                        <m:r>
                          <m:rPr>
                            <m:sty m:val="p"/>
                          </m:rPr>
                          <a:rPr lang="es-ES" b="0" i="0" smtClean="0">
                            <a:latin typeface="Cambria Math" panose="02040503050406030204" pitchFamily="18" charset="0"/>
                          </a:rPr>
                          <m:t>min</m:t>
                        </m:r>
                      </m:fName>
                      <m:e>
                        <m:r>
                          <a:rPr lang="ar-AE" b="0" i="1" smtClean="0">
                            <a:latin typeface="Cambria Math" panose="02040503050406030204" pitchFamily="18" charset="0"/>
                          </a:rPr>
                          <m:t>=</m:t>
                        </m:r>
                        <m:r>
                          <a:rPr lang="ar-AE" b="0" i="1" smtClean="0">
                            <a:latin typeface="Cambria Math" panose="02040503050406030204" pitchFamily="18" charset="0"/>
                          </a:rPr>
                          <m:t>50</m:t>
                        </m:r>
                        <m:r>
                          <a:rPr lang="ar-AE" b="0" i="1" smtClean="0">
                            <a:latin typeface="Cambria Math" panose="02040503050406030204" pitchFamily="18" charset="0"/>
                          </a:rPr>
                          <m:t> </m:t>
                        </m:r>
                        <m:r>
                          <a:rPr lang="ar-AE" b="0" i="1" smtClean="0">
                            <a:latin typeface="Cambria Math" panose="02040503050406030204" pitchFamily="18" charset="0"/>
                          </a:rPr>
                          <m:t>𝑠𝑒𝑔𝑢𝑛𝑑𝑜𝑠</m:t>
                        </m:r>
                      </m:e>
                    </m:func>
                  </m:oMath>
                </a14:m>
                <a:endParaRPr lang="ar-AE" dirty="0"/>
              </a:p>
              <a:p>
                <a:r>
                  <a:rPr lang="es-ES" dirty="0" err="1"/>
                  <a:t>Promedio</a:t>
                </a:r>
                <a:r>
                  <a:rPr lang="es-ES" dirty="0"/>
                  <a:t> del </a:t>
                </a:r>
                <a:r>
                  <a:rPr lang="es-ES" dirty="0" err="1"/>
                  <a:t>tiempo</a:t>
                </a:r>
                <a:r>
                  <a:rPr lang="es-ES" dirty="0"/>
                  <a:t> total </a:t>
                </a:r>
                <a:r>
                  <a:rPr lang="es-ES" dirty="0" err="1"/>
                  <a:t>desde</a:t>
                </a:r>
                <a:r>
                  <a:rPr lang="es-ES" dirty="0"/>
                  <a:t> la </a:t>
                </a:r>
                <a:r>
                  <a:rPr lang="es-ES" dirty="0" err="1"/>
                  <a:t>llegada</a:t>
                </a:r>
                <a:r>
                  <a:rPr lang="es-ES" dirty="0"/>
                  <a:t> de un </a:t>
                </a:r>
                <a:r>
                  <a:rPr lang="es-ES" dirty="0" err="1"/>
                  <a:t>mensaje</a:t>
                </a:r>
                <a:r>
                  <a:rPr lang="es-ES" dirty="0"/>
                  <a:t> hasta </a:t>
                </a:r>
                <a:r>
                  <a:rPr lang="es-ES" dirty="0" err="1"/>
                  <a:t>el</a:t>
                </a:r>
                <a:r>
                  <a:rPr lang="es-ES" dirty="0"/>
                  <a:t> final de </a:t>
                </a:r>
                <a:r>
                  <a:rPr lang="es-ES" dirty="0" err="1"/>
                  <a:t>su</a:t>
                </a:r>
                <a:r>
                  <a:rPr lang="es-ES" dirty="0"/>
                  <a:t> </a:t>
                </a:r>
                <a:r>
                  <a:rPr lang="es-ES" dirty="0" err="1"/>
                  <a:t>transmisión</a:t>
                </a:r>
                <a:r>
                  <a:rPr lang="es-ES" dirty="0"/>
                  <a:t>:</a:t>
                </a:r>
              </a:p>
              <a:p>
                <a:pPr lvl="1"/>
                <a14:m>
                  <m:oMath xmlns:m="http://schemas.openxmlformats.org/officeDocument/2006/math">
                    <m:r>
                      <a:rPr lang="es-ES"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𝑅</m:t>
                        </m:r>
                      </m:e>
                    </m:d>
                    <m:r>
                      <a:rPr lang="ar-AE" b="0" i="1" smtClean="0">
                        <a:latin typeface="Cambria Math" panose="02040503050406030204" pitchFamily="18" charset="0"/>
                      </a:rPr>
                      <m:t>=</m:t>
                    </m:r>
                    <m:f>
                      <m:fPr>
                        <m:ctrlPr>
                          <a:rPr lang="ar-AE" i="1">
                            <a:latin typeface="Cambria Math" panose="02040503050406030204" pitchFamily="18" charset="0"/>
                          </a:rPr>
                        </m:ctrlPr>
                      </m:fPr>
                      <m:num>
                        <m:sSub>
                          <m:sSubPr>
                            <m:ctrlPr>
                              <a:rPr lang="ar-AE" i="1" smtClean="0">
                                <a:latin typeface="Cambria Math" panose="02040503050406030204" pitchFamily="18" charset="0"/>
                              </a:rPr>
                            </m:ctrlPr>
                          </m:sSubPr>
                          <m:e>
                            <m:r>
                              <a:rPr lang="ar-AE" i="1" smtClean="0">
                                <a:latin typeface="Cambria Math" panose="02040503050406030204" pitchFamily="18" charset="0"/>
                                <a:ea typeface="Cambria Math" panose="02040503050406030204" pitchFamily="18" charset="0"/>
                              </a:rPr>
                              <m:t>𝜇</m:t>
                            </m:r>
                          </m:e>
                          <m:sub>
                            <m:r>
                              <a:rPr lang="ar-AE" b="0" i="1" smtClean="0">
                                <a:latin typeface="Cambria Math" panose="02040503050406030204" pitchFamily="18" charset="0"/>
                              </a:rPr>
                              <m:t>𝑆</m:t>
                            </m:r>
                          </m:sub>
                        </m:sSub>
                      </m:num>
                      <m:den>
                        <m:r>
                          <a:rPr lang="ar-AE" i="1">
                            <a:latin typeface="Cambria Math" panose="02040503050406030204" pitchFamily="18" charset="0"/>
                          </a:rPr>
                          <m:t>1</m:t>
                        </m:r>
                        <m:r>
                          <a:rPr lang="ar-AE" i="1">
                            <a:latin typeface="Cambria Math" panose="02040503050406030204" pitchFamily="18" charset="0"/>
                          </a:rPr>
                          <m:t>−</m:t>
                        </m:r>
                        <m:r>
                          <a:rPr lang="ar-AE" i="1">
                            <a:latin typeface="Cambria Math" panose="02040503050406030204" pitchFamily="18" charset="0"/>
                          </a:rPr>
                          <m:t>𝑟</m:t>
                        </m:r>
                      </m:den>
                    </m:f>
                    <m:r>
                      <a:rPr lang="ar-AE" b="0" i="1" smtClean="0">
                        <a:latin typeface="Cambria Math" panose="02040503050406030204" pitchFamily="18" charset="0"/>
                      </a:rPr>
                      <m:t>=</m:t>
                    </m:r>
                    <m:f>
                      <m:fPr>
                        <m:ctrlPr>
                          <a:rPr lang="ar-AE" b="0" i="1" smtClean="0">
                            <a:latin typeface="Cambria Math" panose="02040503050406030204" pitchFamily="18" charset="0"/>
                          </a:rPr>
                        </m:ctrlPr>
                      </m:fPr>
                      <m:num>
                        <m:f>
                          <m:fPr>
                            <m:ctrlPr>
                              <a:rPr lang="ar-AE" b="0" i="1" smtClean="0">
                                <a:latin typeface="Cambria Math" panose="02040503050406030204" pitchFamily="18" charset="0"/>
                              </a:rPr>
                            </m:ctrlPr>
                          </m:fPr>
                          <m:num>
                            <m:r>
                              <a:rPr lang="ar-AE" b="0" i="1" smtClean="0">
                                <a:latin typeface="Cambria Math" panose="02040503050406030204" pitchFamily="18" charset="0"/>
                              </a:rPr>
                              <m:t>1</m:t>
                            </m:r>
                          </m:num>
                          <m:den>
                            <m:r>
                              <a:rPr lang="ar-AE" b="0" i="1" smtClean="0">
                                <a:latin typeface="Cambria Math" panose="02040503050406030204" pitchFamily="18" charset="0"/>
                              </a:rPr>
                              <m:t>6</m:t>
                            </m:r>
                          </m:den>
                        </m:f>
                      </m:num>
                      <m:den>
                        <m:r>
                          <a:rPr lang="ar-AE" b="0" i="1" smtClean="0">
                            <a:latin typeface="Cambria Math" panose="02040503050406030204" pitchFamily="18" charset="0"/>
                          </a:rPr>
                          <m:t>1</m:t>
                        </m:r>
                        <m:r>
                          <a:rPr lang="ar-AE" b="0" i="1" smtClean="0">
                            <a:latin typeface="Cambria Math" panose="02040503050406030204" pitchFamily="18" charset="0"/>
                          </a:rPr>
                          <m:t>−</m:t>
                        </m:r>
                        <m:f>
                          <m:fPr>
                            <m:ctrlPr>
                              <a:rPr lang="ar-AE" b="0" i="1" smtClean="0">
                                <a:latin typeface="Cambria Math" panose="02040503050406030204" pitchFamily="18" charset="0"/>
                              </a:rPr>
                            </m:ctrlPr>
                          </m:fPr>
                          <m:num>
                            <m:r>
                              <a:rPr lang="ar-AE" b="0" i="1" smtClean="0">
                                <a:latin typeface="Cambria Math" panose="02040503050406030204" pitchFamily="18" charset="0"/>
                              </a:rPr>
                              <m:t>5</m:t>
                            </m:r>
                          </m:num>
                          <m:den>
                            <m:r>
                              <a:rPr lang="ar-AE" b="0" i="1" smtClean="0">
                                <a:latin typeface="Cambria Math" panose="02040503050406030204" pitchFamily="18" charset="0"/>
                              </a:rPr>
                              <m:t>6</m:t>
                            </m:r>
                          </m:den>
                        </m:f>
                      </m:den>
                    </m:f>
                    <m:r>
                      <a:rPr lang="ar-AE" b="0" i="1" smtClean="0">
                        <a:latin typeface="Cambria Math" panose="02040503050406030204" pitchFamily="18" charset="0"/>
                      </a:rPr>
                      <m:t>=</m:t>
                    </m:r>
                    <m:r>
                      <a:rPr lang="ar-AE" b="0" i="1" smtClean="0">
                        <a:latin typeface="Cambria Math" panose="02040503050406030204" pitchFamily="18" charset="0"/>
                      </a:rPr>
                      <m:t>1</m:t>
                    </m:r>
                    <m:r>
                      <a:rPr lang="ar-AE" b="0" i="1" smtClean="0">
                        <a:latin typeface="Cambria Math" panose="02040503050406030204" pitchFamily="18" charset="0"/>
                      </a:rPr>
                      <m:t> </m:t>
                    </m:r>
                    <m:r>
                      <a:rPr lang="ar-AE" b="0" i="1" smtClean="0">
                        <a:latin typeface="Cambria Math" panose="02040503050406030204" pitchFamily="18" charset="0"/>
                      </a:rPr>
                      <m:t>𝑚𝑖𝑛</m:t>
                    </m:r>
                  </m:oMath>
                </a14:m>
                <a:endParaRPr dirty="0"/>
              </a:p>
            </p:txBody>
          </p:sp>
        </mc:Choice>
        <mc:Fallback xmlns="">
          <p:sp>
            <p:nvSpPr>
              <p:cNvPr id="3" name="Marcador de contenido 2">
                <a:extLst>
                  <a:ext uri="{FF2B5EF4-FFF2-40B4-BE49-F238E27FC236}">
                    <a16:creationId xmlns:a16="http://schemas.microsoft.com/office/drawing/2014/main" id="{D3B12A18-03EB-6E2D-6C77-524C2293C765}"/>
                  </a:ext>
                </a:extLst>
              </p:cNvPr>
              <p:cNvSpPr>
                <a:spLocks noGrp="1" noRot="1" noChangeAspect="1" noMove="1" noResize="1" noEditPoints="1" noAdjustHandles="1" noChangeArrowheads="1" noChangeShapeType="1" noTextEdit="1"/>
              </p:cNvSpPr>
              <p:nvPr>
                <p:ph idx="1"/>
              </p:nvPr>
            </p:nvSpPr>
            <p:spPr>
              <a:blipFill>
                <a:blip r:embed="rId2"/>
                <a:stretch>
                  <a:fillRect l="-928" t="-2801" r="-406"/>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2139001E-9F4A-8CD2-3ABB-2D6076A12537}"/>
              </a:ext>
            </a:extLst>
          </p:cNvPr>
          <p:cNvSpPr>
            <a:spLocks noGrp="1"/>
          </p:cNvSpPr>
          <p:nvPr>
            <p:ph type="sldNum" sz="quarter" idx="12"/>
          </p:nvPr>
        </p:nvSpPr>
        <p:spPr/>
        <p:txBody>
          <a:bodyPr/>
          <a:lstStyle/>
          <a:p>
            <a:fld id="{336CAFD0-1F6E-4E11-9822-836563A02839}" type="slidenum">
              <a:rPr lang="es-ES" smtClean="0"/>
              <a:t>17</a:t>
            </a:fld>
            <a:endParaRPr lang="es-ES"/>
          </a:p>
        </p:txBody>
      </p:sp>
    </p:spTree>
    <p:extLst>
      <p:ext uri="{BB962C8B-B14F-4D97-AF65-F5344CB8AC3E}">
        <p14:creationId xmlns:p14="http://schemas.microsoft.com/office/powerpoint/2010/main" val="4445173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65A9A4-1905-0CEB-4A41-04E96765197B}"/>
              </a:ext>
            </a:extLst>
          </p:cNvPr>
          <p:cNvSpPr>
            <a:spLocks noGrp="1"/>
          </p:cNvSpPr>
          <p:nvPr>
            <p:ph type="title"/>
          </p:nvPr>
        </p:nvSpPr>
        <p:spPr/>
        <p:txBody>
          <a:bodyPr/>
          <a:lstStyle/>
          <a:p>
            <a:r>
              <a:rPr lang="es-ES" dirty="0"/>
              <a:t>5. Sistema M/M/1</a:t>
            </a:r>
            <a:br>
              <a:rPr lang="es-ES" dirty="0"/>
            </a:br>
            <a:r>
              <a:rPr dirty="0" err="1"/>
              <a:t>Ejemplo</a:t>
            </a:r>
            <a:r>
              <a:rPr dirty="0"/>
              <a:t> 7.</a:t>
            </a:r>
            <a:r>
              <a:rPr lang="es-ES" dirty="0"/>
              <a:t>5</a:t>
            </a:r>
            <a:r>
              <a:rPr dirty="0"/>
              <a:t> (</a:t>
            </a:r>
            <a:r>
              <a:rPr lang="es-ES" dirty="0"/>
              <a:t>Predicciones)</a:t>
            </a:r>
            <a:endParaRPr dirty="0"/>
          </a:p>
        </p:txBody>
      </p:sp>
      <p:sp>
        <p:nvSpPr>
          <p:cNvPr id="3" name="Marcador de contenido 2">
            <a:extLst>
              <a:ext uri="{FF2B5EF4-FFF2-40B4-BE49-F238E27FC236}">
                <a16:creationId xmlns:a16="http://schemas.microsoft.com/office/drawing/2014/main" id="{D3B12A18-03EB-6E2D-6C77-524C2293C765}"/>
              </a:ext>
            </a:extLst>
          </p:cNvPr>
          <p:cNvSpPr>
            <a:spLocks noGrp="1"/>
          </p:cNvSpPr>
          <p:nvPr>
            <p:ph idx="1"/>
          </p:nvPr>
        </p:nvSpPr>
        <p:spPr/>
        <p:txBody>
          <a:bodyPr>
            <a:normAutofit/>
          </a:bodyPr>
          <a:lstStyle/>
          <a:p>
            <a:r>
              <a:rPr lang="es-ES" dirty="0"/>
              <a:t>Continuación del ejemplo 7.4</a:t>
            </a:r>
          </a:p>
          <a:p>
            <a:r>
              <a:rPr lang="es-ES" dirty="0"/>
              <a:t>Supongamos que el año que viene está previsto aumentar en un 10% la base de clientes del centro de transmisión y, por lo tanto, la intensidad del tráfico entrante también aumentará en un 10 %.</a:t>
            </a:r>
          </a:p>
          <a:p>
            <a:r>
              <a:rPr lang="es-ES" dirty="0"/>
              <a:t>¿Cómo afectará esto al rendimiento del centro?</a:t>
            </a:r>
          </a:p>
        </p:txBody>
      </p:sp>
      <p:sp>
        <p:nvSpPr>
          <p:cNvPr id="4" name="Marcador de número de diapositiva 3">
            <a:extLst>
              <a:ext uri="{FF2B5EF4-FFF2-40B4-BE49-F238E27FC236}">
                <a16:creationId xmlns:a16="http://schemas.microsoft.com/office/drawing/2014/main" id="{2139001E-9F4A-8CD2-3ABB-2D6076A12537}"/>
              </a:ext>
            </a:extLst>
          </p:cNvPr>
          <p:cNvSpPr>
            <a:spLocks noGrp="1"/>
          </p:cNvSpPr>
          <p:nvPr>
            <p:ph type="sldNum" sz="quarter" idx="12"/>
          </p:nvPr>
        </p:nvSpPr>
        <p:spPr/>
        <p:txBody>
          <a:bodyPr/>
          <a:lstStyle/>
          <a:p>
            <a:fld id="{336CAFD0-1F6E-4E11-9822-836563A02839}" type="slidenum">
              <a:rPr lang="es-ES" smtClean="0"/>
              <a:t>18</a:t>
            </a:fld>
            <a:endParaRPr lang="es-ES"/>
          </a:p>
        </p:txBody>
      </p:sp>
    </p:spTree>
    <p:extLst>
      <p:ext uri="{BB962C8B-B14F-4D97-AF65-F5344CB8AC3E}">
        <p14:creationId xmlns:p14="http://schemas.microsoft.com/office/powerpoint/2010/main" val="21309967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65A9A4-1905-0CEB-4A41-04E96765197B}"/>
              </a:ext>
            </a:extLst>
          </p:cNvPr>
          <p:cNvSpPr>
            <a:spLocks noGrp="1"/>
          </p:cNvSpPr>
          <p:nvPr>
            <p:ph type="title"/>
          </p:nvPr>
        </p:nvSpPr>
        <p:spPr/>
        <p:txBody>
          <a:bodyPr/>
          <a:lstStyle/>
          <a:p>
            <a:r>
              <a:rPr lang="es-ES" dirty="0"/>
              <a:t>5. Sistema M/M/1</a:t>
            </a:r>
            <a:br>
              <a:rPr lang="es-ES" dirty="0"/>
            </a:br>
            <a:r>
              <a:rPr dirty="0" err="1"/>
              <a:t>Ejemplo</a:t>
            </a:r>
            <a:r>
              <a:rPr dirty="0"/>
              <a:t> 7.</a:t>
            </a:r>
            <a:r>
              <a:rPr lang="es-ES" dirty="0"/>
              <a:t>5</a:t>
            </a:r>
            <a:r>
              <a:rPr dirty="0"/>
              <a:t> (</a:t>
            </a:r>
            <a:r>
              <a:rPr dirty="0" err="1"/>
              <a:t>Solución</a:t>
            </a:r>
            <a:r>
              <a:rPr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3B12A18-03EB-6E2D-6C77-524C2293C765}"/>
                  </a:ext>
                </a:extLst>
              </p:cNvPr>
              <p:cNvSpPr>
                <a:spLocks noGrp="1"/>
              </p:cNvSpPr>
              <p:nvPr>
                <p:ph idx="1"/>
              </p:nvPr>
            </p:nvSpPr>
            <p:spPr>
              <a:xfrm>
                <a:off x="838200" y="1825624"/>
                <a:ext cx="10515600" cy="4530725"/>
              </a:xfrm>
            </p:spPr>
            <p:txBody>
              <a:bodyPr>
                <a:normAutofit fontScale="85000" lnSpcReduction="20000"/>
              </a:bodyPr>
              <a:lstStyle/>
              <a:p>
                <a:r>
                  <a:rPr lang="es-ES" dirty="0"/>
                  <a:t>Nueva tasa de llegadas (10% mayor): </a:t>
                </a:r>
                <a14:m>
                  <m:oMath xmlns:m="http://schemas.openxmlformats.org/officeDocument/2006/math">
                    <m:sSub>
                      <m:sSubPr>
                        <m:ctrlPr>
                          <a:rPr lang="ar-AE" i="1" smtClean="0">
                            <a:latin typeface="Cambria Math" panose="02040503050406030204" pitchFamily="18" charset="0"/>
                          </a:rPr>
                        </m:ctrlPr>
                      </m:sSubPr>
                      <m:e>
                        <m:r>
                          <a:rPr lang="ar-AE" i="1" smtClean="0">
                            <a:latin typeface="Cambria Math" panose="02040503050406030204" pitchFamily="18" charset="0"/>
                            <a:ea typeface="Cambria Math" panose="02040503050406030204" pitchFamily="18" charset="0"/>
                          </a:rPr>
                          <m:t>𝜆</m:t>
                        </m:r>
                      </m:e>
                      <m:sub>
                        <m:r>
                          <a:rPr lang="ar-AE" b="0" i="1" smtClean="0">
                            <a:latin typeface="Cambria Math" panose="02040503050406030204" pitchFamily="18" charset="0"/>
                          </a:rPr>
                          <m:t>𝐴</m:t>
                        </m:r>
                      </m:sub>
                    </m:sSub>
                    <m:r>
                      <a:rPr lang="ar-AE" b="0" i="1" smtClean="0">
                        <a:latin typeface="Cambria Math" panose="02040503050406030204" pitchFamily="18" charset="0"/>
                      </a:rPr>
                      <m:t>=</m:t>
                    </m:r>
                    <m:r>
                      <a:rPr lang="ar-AE" b="0" i="1" smtClean="0">
                        <a:latin typeface="Cambria Math" panose="02040503050406030204" pitchFamily="18" charset="0"/>
                      </a:rPr>
                      <m:t>5</m:t>
                    </m:r>
                    <m:r>
                      <a:rPr lang="ar-AE" b="0" i="1" smtClean="0">
                        <a:latin typeface="Cambria Math" panose="02040503050406030204" pitchFamily="18" charset="0"/>
                      </a:rPr>
                      <m:t> +</m:t>
                    </m:r>
                    <m:r>
                      <a:rPr lang="es-ES" b="0" i="1" smtClean="0">
                        <a:latin typeface="Cambria Math" panose="02040503050406030204" pitchFamily="18" charset="0"/>
                      </a:rPr>
                      <m:t>5</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m:t>
                    </m:r>
                    <m:r>
                      <a:rPr lang="es-ES" b="0" i="1" smtClean="0">
                        <a:latin typeface="Cambria Math" panose="02040503050406030204" pitchFamily="18" charset="0"/>
                        <a:ea typeface="Cambria Math" panose="02040503050406030204" pitchFamily="18" charset="0"/>
                      </a:rPr>
                      <m:t> </m:t>
                    </m:r>
                    <m:sSup>
                      <m:sSupPr>
                        <m:ctrlPr>
                          <a:rPr lang="ar-AE" i="1">
                            <a:latin typeface="Cambria Math" panose="02040503050406030204" pitchFamily="18" charset="0"/>
                          </a:rPr>
                        </m:ctrlPr>
                      </m:sSupPr>
                      <m:e>
                        <m:r>
                          <a:rPr lang="ar-AE" i="1">
                            <a:latin typeface="Cambria Math" panose="02040503050406030204" pitchFamily="18" charset="0"/>
                          </a:rPr>
                          <m:t>𝑚𝑖𝑛</m:t>
                        </m:r>
                      </m:e>
                      <m:sup>
                        <m:r>
                          <a:rPr lang="ar-AE" i="1">
                            <a:latin typeface="Cambria Math" panose="02040503050406030204" pitchFamily="18" charset="0"/>
                          </a:rPr>
                          <m:t>−</m:t>
                        </m:r>
                        <m:r>
                          <a:rPr lang="ar-AE" i="1">
                            <a:latin typeface="Cambria Math" panose="02040503050406030204" pitchFamily="18" charset="0"/>
                          </a:rPr>
                          <m:t>1</m:t>
                        </m:r>
                      </m:sup>
                    </m:sSup>
                  </m:oMath>
                </a14:m>
                <a:endParaRPr lang="ar-AE" dirty="0"/>
              </a:p>
              <a:p>
                <a:r>
                  <a:rPr lang="es-ES" dirty="0"/>
                  <a:t>Factor de utilización: </a:t>
                </a:r>
                <a14:m>
                  <m:oMath xmlns:m="http://schemas.openxmlformats.org/officeDocument/2006/math">
                    <m:r>
                      <a:rPr lang="es-ES" b="0" i="1" smtClean="0">
                        <a:latin typeface="Cambria Math" panose="02040503050406030204" pitchFamily="18" charset="0"/>
                      </a:rPr>
                      <m:t>𝑟</m:t>
                    </m:r>
                    <m:r>
                      <a:rPr lang="ar-AE" b="0" i="1" smtClean="0">
                        <a:latin typeface="Cambria Math" panose="02040503050406030204" pitchFamily="18" charset="0"/>
                        <a:ea typeface="Cambria Math" panose="02040503050406030204" pitchFamily="18" charset="0"/>
                      </a:rPr>
                      <m:t>=</m:t>
                    </m:r>
                    <m:f>
                      <m:fPr>
                        <m:ctrlPr>
                          <a:rPr lang="ar-AE" b="0" i="1" smtClean="0">
                            <a:latin typeface="Cambria Math" panose="02040503050406030204" pitchFamily="18" charset="0"/>
                            <a:ea typeface="Cambria Math" panose="02040503050406030204" pitchFamily="18" charset="0"/>
                          </a:rPr>
                        </m:ctrlPr>
                      </m:fPr>
                      <m:num>
                        <m:r>
                          <a:rPr lang="ar-AE" b="0" i="1" smtClean="0">
                            <a:latin typeface="Cambria Math" panose="02040503050406030204" pitchFamily="18" charset="0"/>
                            <a:ea typeface="Cambria Math" panose="02040503050406030204" pitchFamily="18" charset="0"/>
                          </a:rPr>
                          <m:t>5</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m:t>
                        </m:r>
                      </m:num>
                      <m:den>
                        <m:r>
                          <a:rPr lang="ar-AE" b="0" i="1" smtClean="0">
                            <a:latin typeface="Cambria Math" panose="02040503050406030204" pitchFamily="18" charset="0"/>
                            <a:ea typeface="Cambria Math" panose="02040503050406030204" pitchFamily="18" charset="0"/>
                          </a:rPr>
                          <m:t>6</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92</m:t>
                    </m:r>
                  </m:oMath>
                </a14:m>
                <a:r>
                  <a:rPr lang="es-ES" dirty="0"/>
                  <a:t> </a:t>
                </a:r>
                <a:endParaRPr lang="ar-AE" dirty="0"/>
              </a:p>
              <a:p>
                <a:pPr lvl="1"/>
                <a:r>
                  <a:rPr lang="es-ES" dirty="0"/>
                  <a:t>Se acerca peligrosamente a 1 (</a:t>
                </a:r>
                <a:r>
                  <a:rPr lang="es-ES" dirty="0" err="1"/>
                  <a:t>sobrecrga</a:t>
                </a:r>
                <a:r>
                  <a:rPr lang="es-ES" dirty="0"/>
                  <a:t>)</a:t>
                </a:r>
              </a:p>
              <a:p>
                <a:r>
                  <a:rPr lang="es-ES" dirty="0"/>
                  <a:t>Otros cálculos:</a:t>
                </a:r>
              </a:p>
              <a:p>
                <a:pPr lvl="1"/>
                <a14:m>
                  <m:oMath xmlns:m="http://schemas.openxmlformats.org/officeDocument/2006/math">
                    <m:r>
                      <a:rPr lang="es-ES"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f>
                      <m:fPr>
                        <m:ctrlPr>
                          <a:rPr lang="ar-AE" b="0" i="1" smtClean="0">
                            <a:latin typeface="Cambria Math" panose="02040503050406030204" pitchFamily="18" charset="0"/>
                          </a:rPr>
                        </m:ctrlPr>
                      </m:fPr>
                      <m:num>
                        <m:r>
                          <a:rPr lang="ar-AE" b="0" i="1" smtClean="0">
                            <a:latin typeface="Cambria Math" panose="02040503050406030204" pitchFamily="18" charset="0"/>
                          </a:rPr>
                          <m:t>𝑟</m:t>
                        </m:r>
                      </m:num>
                      <m:den>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𝑟</m:t>
                        </m:r>
                      </m:den>
                    </m:f>
                    <m:r>
                      <a:rPr lang="ar-AE" b="0" i="1" smtClean="0">
                        <a:latin typeface="Cambria Math" panose="02040503050406030204" pitchFamily="18" charset="0"/>
                      </a:rPr>
                      <m:t>=</m:t>
                    </m:r>
                    <m:r>
                      <a:rPr lang="es-ES" b="0" i="1" smtClean="0">
                        <a:latin typeface="Cambria Math" panose="02040503050406030204" pitchFamily="18" charset="0"/>
                      </a:rPr>
                      <m:t>11</m:t>
                    </m:r>
                    <m:r>
                      <a:rPr lang="ar-AE" b="0" i="1" smtClean="0">
                        <a:latin typeface="Cambria Math" panose="02040503050406030204" pitchFamily="18" charset="0"/>
                      </a:rPr>
                      <m:t> </m:t>
                    </m:r>
                    <m:r>
                      <a:rPr lang="ar-AE" b="0" i="1" smtClean="0">
                        <a:latin typeface="Cambria Math" panose="02040503050406030204" pitchFamily="18" charset="0"/>
                      </a:rPr>
                      <m:t>𝑚𝑒𝑛𝑠𝑎𝑗</m:t>
                    </m:r>
                    <m:r>
                      <a:rPr lang="ar-AE" b="0" i="1" smtClean="0">
                        <a:latin typeface="Cambria Math" panose="02040503050406030204" pitchFamily="18" charset="0"/>
                      </a:rPr>
                      <m:t>𝑒𝑠</m:t>
                    </m:r>
                  </m:oMath>
                </a14:m>
                <a:r>
                  <a:rPr lang="es-ES" dirty="0"/>
                  <a:t> (antes 5 mensajes)</a:t>
                </a:r>
              </a:p>
              <a:p>
                <a:pPr lvl="1"/>
                <a14:m>
                  <m:oMath xmlns:m="http://schemas.openxmlformats.org/officeDocument/2006/math">
                    <m:r>
                      <a:rPr lang="es-ES" b="0" i="1" smtClean="0">
                        <a:latin typeface="Cambria Math" panose="02040503050406030204" pitchFamily="18" charset="0"/>
                      </a:rPr>
                      <m:t>𝐸</m:t>
                    </m:r>
                    <m:d>
                      <m:dPr>
                        <m:ctrlPr>
                          <a:rPr lang="ar-AE" b="0" i="1" smtClean="0">
                            <a:latin typeface="Cambria Math" panose="02040503050406030204" pitchFamily="18" charset="0"/>
                          </a:rPr>
                        </m:ctrlPr>
                      </m:dPr>
                      <m:e>
                        <m:sSub>
                          <m:sSubPr>
                            <m:ctrlPr>
                              <a:rPr lang="ar-AE" b="0" i="1" smtClean="0">
                                <a:latin typeface="Cambria Math" panose="02040503050406030204" pitchFamily="18" charset="0"/>
                              </a:rPr>
                            </m:ctrlPr>
                          </m:sSubPr>
                          <m:e>
                            <m:r>
                              <a:rPr lang="ar-AE" b="0" i="1" smtClean="0">
                                <a:latin typeface="Cambria Math" panose="02040503050406030204" pitchFamily="18" charset="0"/>
                              </a:rPr>
                              <m:t>𝑋</m:t>
                            </m:r>
                          </m:e>
                          <m:sub>
                            <m:r>
                              <a:rPr lang="ar-AE" b="0" i="1" smtClean="0">
                                <a:latin typeface="Cambria Math" panose="02040503050406030204" pitchFamily="18" charset="0"/>
                              </a:rPr>
                              <m:t>𝑤</m:t>
                            </m:r>
                          </m:sub>
                        </m:sSub>
                      </m:e>
                    </m:d>
                    <m:r>
                      <a:rPr lang="ar-AE" b="0" i="1" smtClean="0">
                        <a:latin typeface="Cambria Math" panose="02040503050406030204" pitchFamily="18" charset="0"/>
                      </a:rPr>
                      <m:t>=</m:t>
                    </m:r>
                    <m:f>
                      <m:fPr>
                        <m:ctrlPr>
                          <a:rPr lang="ar-AE" b="0" i="1" smtClean="0">
                            <a:latin typeface="Cambria Math" panose="02040503050406030204" pitchFamily="18" charset="0"/>
                          </a:rPr>
                        </m:ctrlPr>
                      </m:fPr>
                      <m:num>
                        <m:sSup>
                          <m:sSupPr>
                            <m:ctrlPr>
                              <a:rPr lang="ar-AE" b="0" i="1" smtClean="0">
                                <a:latin typeface="Cambria Math" panose="02040503050406030204" pitchFamily="18" charset="0"/>
                              </a:rPr>
                            </m:ctrlPr>
                          </m:sSupPr>
                          <m:e>
                            <m:r>
                              <a:rPr lang="ar-AE" b="0" i="1" smtClean="0">
                                <a:latin typeface="Cambria Math" panose="02040503050406030204" pitchFamily="18" charset="0"/>
                              </a:rPr>
                              <m:t>𝑟</m:t>
                            </m:r>
                          </m:e>
                          <m:sup>
                            <m:r>
                              <a:rPr lang="ar-AE" b="0" i="1" smtClean="0">
                                <a:latin typeface="Cambria Math" panose="02040503050406030204" pitchFamily="18" charset="0"/>
                              </a:rPr>
                              <m:t>2</m:t>
                            </m:r>
                          </m:sup>
                        </m:sSup>
                      </m:num>
                      <m:den>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𝑟</m:t>
                        </m:r>
                      </m:den>
                    </m:f>
                    <m:r>
                      <a:rPr lang="ar-AE" b="0" i="1" smtClean="0">
                        <a:latin typeface="Cambria Math" panose="02040503050406030204" pitchFamily="18" charset="0"/>
                      </a:rPr>
                      <m:t>=</m:t>
                    </m:r>
                    <m:r>
                      <a:rPr lang="es-ES" b="0" i="1" smtClean="0">
                        <a:latin typeface="Cambria Math" panose="02040503050406030204" pitchFamily="18" charset="0"/>
                      </a:rPr>
                      <m:t>10</m:t>
                    </m:r>
                    <m:r>
                      <a:rPr lang="es-ES" b="0" i="1" smtClean="0">
                        <a:latin typeface="Cambria Math" panose="02040503050406030204" pitchFamily="18" charset="0"/>
                      </a:rPr>
                      <m:t>.</m:t>
                    </m:r>
                    <m:r>
                      <a:rPr lang="es-ES" b="0" i="1" smtClean="0">
                        <a:latin typeface="Cambria Math" panose="02040503050406030204" pitchFamily="18" charset="0"/>
                      </a:rPr>
                      <m:t>08</m:t>
                    </m:r>
                    <m:r>
                      <a:rPr lang="ar-AE" b="0" i="1" smtClean="0">
                        <a:latin typeface="Cambria Math" panose="02040503050406030204" pitchFamily="18" charset="0"/>
                      </a:rPr>
                      <m:t> </m:t>
                    </m:r>
                    <m:r>
                      <a:rPr lang="ar-AE" b="0" i="1" smtClean="0">
                        <a:latin typeface="Cambria Math" panose="02040503050406030204" pitchFamily="18" charset="0"/>
                      </a:rPr>
                      <m:t>𝑚𝑒𝑛𝑠𝑎𝑗𝑒𝑠</m:t>
                    </m:r>
                  </m:oMath>
                </a14:m>
                <a:r>
                  <a:rPr lang="es-ES" dirty="0"/>
                  <a:t> (antes 4.17 mensajes)</a:t>
                </a:r>
              </a:p>
              <a:p>
                <a:pPr lvl="1"/>
                <a14:m>
                  <m:oMath xmlns:m="http://schemas.openxmlformats.org/officeDocument/2006/math">
                    <m:r>
                      <a:rPr lang="es-ES"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𝑊</m:t>
                        </m:r>
                      </m:e>
                    </m:d>
                    <m:r>
                      <a:rPr lang="ar-AE" b="0" i="1" smtClean="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ea typeface="Cambria Math" panose="02040503050406030204" pitchFamily="18" charset="0"/>
                          </a:rPr>
                          <m:t>𝜇</m:t>
                        </m:r>
                      </m:e>
                      <m:sub>
                        <m:r>
                          <a:rPr lang="ar-AE" i="1">
                            <a:latin typeface="Cambria Math" panose="02040503050406030204" pitchFamily="18" charset="0"/>
                          </a:rPr>
                          <m:t>𝑆</m:t>
                        </m:r>
                      </m:sub>
                    </m:sSub>
                    <m:f>
                      <m:fPr>
                        <m:ctrlPr>
                          <a:rPr lang="ar-AE" i="1">
                            <a:latin typeface="Cambria Math" panose="02040503050406030204" pitchFamily="18" charset="0"/>
                          </a:rPr>
                        </m:ctrlPr>
                      </m:fPr>
                      <m:num>
                        <m:r>
                          <a:rPr lang="ar-AE" i="1">
                            <a:latin typeface="Cambria Math" panose="02040503050406030204" pitchFamily="18" charset="0"/>
                          </a:rPr>
                          <m:t>𝑟</m:t>
                        </m:r>
                      </m:num>
                      <m:den>
                        <m:r>
                          <a:rPr lang="ar-AE" i="1">
                            <a:latin typeface="Cambria Math" panose="02040503050406030204" pitchFamily="18" charset="0"/>
                          </a:rPr>
                          <m:t>1</m:t>
                        </m:r>
                        <m:r>
                          <a:rPr lang="ar-AE" i="1">
                            <a:latin typeface="Cambria Math" panose="02040503050406030204" pitchFamily="18" charset="0"/>
                          </a:rPr>
                          <m:t>−</m:t>
                        </m:r>
                        <m:r>
                          <a:rPr lang="ar-AE" i="1">
                            <a:latin typeface="Cambria Math" panose="02040503050406030204" pitchFamily="18" charset="0"/>
                          </a:rPr>
                          <m:t>𝑟</m:t>
                        </m:r>
                      </m:den>
                    </m:f>
                    <m:r>
                      <a:rPr lang="ar-AE" b="0" i="1" smtClean="0">
                        <a:latin typeface="Cambria Math" panose="02040503050406030204" pitchFamily="18" charset="0"/>
                      </a:rPr>
                      <m:t>=</m:t>
                    </m:r>
                    <m:r>
                      <a:rPr lang="es-ES" b="0" i="1" smtClean="0">
                        <a:latin typeface="Cambria Math" panose="02040503050406030204" pitchFamily="18" charset="0"/>
                      </a:rPr>
                      <m:t>110</m:t>
                    </m:r>
                    <m:r>
                      <a:rPr lang="es-ES" b="0" i="1" smtClean="0">
                        <a:latin typeface="Cambria Math" panose="02040503050406030204" pitchFamily="18" charset="0"/>
                      </a:rPr>
                      <m:t> </m:t>
                    </m:r>
                    <m:r>
                      <a:rPr lang="es-ES" b="0" i="1" smtClean="0">
                        <a:latin typeface="Cambria Math" panose="02040503050406030204" pitchFamily="18" charset="0"/>
                      </a:rPr>
                      <m:t>𝑠𝑒𝑔𝑢𝑛𝑑𝑜𝑠</m:t>
                    </m:r>
                  </m:oMath>
                </a14:m>
                <a:r>
                  <a:rPr lang="es-ES" dirty="0"/>
                  <a:t> (antes 50 segundos)</a:t>
                </a:r>
              </a:p>
              <a:p>
                <a:pPr lvl="1"/>
                <a14:m>
                  <m:oMath xmlns:m="http://schemas.openxmlformats.org/officeDocument/2006/math">
                    <m:r>
                      <a:rPr lang="ar-AE"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𝑅</m:t>
                        </m:r>
                      </m:e>
                    </m:d>
                    <m:r>
                      <a:rPr lang="ar-AE" b="0" i="1" smtClean="0">
                        <a:latin typeface="Cambria Math" panose="02040503050406030204" pitchFamily="18" charset="0"/>
                      </a:rPr>
                      <m:t>=</m:t>
                    </m:r>
                    <m:f>
                      <m:fPr>
                        <m:ctrlPr>
                          <a:rPr lang="ar-AE" i="1">
                            <a:latin typeface="Cambria Math" panose="02040503050406030204" pitchFamily="18" charset="0"/>
                          </a:rPr>
                        </m:ctrlPr>
                      </m:fPr>
                      <m:num>
                        <m:sSub>
                          <m:sSubPr>
                            <m:ctrlPr>
                              <a:rPr lang="ar-AE" i="1" smtClean="0">
                                <a:latin typeface="Cambria Math" panose="02040503050406030204" pitchFamily="18" charset="0"/>
                              </a:rPr>
                            </m:ctrlPr>
                          </m:sSubPr>
                          <m:e>
                            <m:r>
                              <a:rPr lang="ar-AE" i="1" smtClean="0">
                                <a:latin typeface="Cambria Math" panose="02040503050406030204" pitchFamily="18" charset="0"/>
                                <a:ea typeface="Cambria Math" panose="02040503050406030204" pitchFamily="18" charset="0"/>
                              </a:rPr>
                              <m:t>𝜇</m:t>
                            </m:r>
                          </m:e>
                          <m:sub>
                            <m:r>
                              <a:rPr lang="ar-AE" b="0" i="1" smtClean="0">
                                <a:latin typeface="Cambria Math" panose="02040503050406030204" pitchFamily="18" charset="0"/>
                              </a:rPr>
                              <m:t>𝑆</m:t>
                            </m:r>
                          </m:sub>
                        </m:sSub>
                      </m:num>
                      <m:den>
                        <m:r>
                          <a:rPr lang="ar-AE" i="1">
                            <a:latin typeface="Cambria Math" panose="02040503050406030204" pitchFamily="18" charset="0"/>
                          </a:rPr>
                          <m:t>1</m:t>
                        </m:r>
                        <m:r>
                          <a:rPr lang="ar-AE" i="1">
                            <a:latin typeface="Cambria Math" panose="02040503050406030204" pitchFamily="18" charset="0"/>
                          </a:rPr>
                          <m:t>−</m:t>
                        </m:r>
                        <m:r>
                          <a:rPr lang="ar-AE" i="1">
                            <a:latin typeface="Cambria Math" panose="02040503050406030204" pitchFamily="18" charset="0"/>
                          </a:rPr>
                          <m:t>𝑟</m:t>
                        </m:r>
                      </m:den>
                    </m:f>
                    <m:r>
                      <a:rPr lang="ar-AE" b="0" i="1" smtClean="0">
                        <a:latin typeface="Cambria Math" panose="02040503050406030204" pitchFamily="18" charset="0"/>
                      </a:rPr>
                      <m:t>=</m:t>
                    </m:r>
                    <m:r>
                      <a:rPr lang="es-ES" b="0" i="1" smtClean="0">
                        <a:latin typeface="Cambria Math" panose="02040503050406030204" pitchFamily="18" charset="0"/>
                      </a:rPr>
                      <m:t>2</m:t>
                    </m:r>
                    <m:r>
                      <a:rPr lang="ar-AE" b="0" i="1" smtClean="0">
                        <a:latin typeface="Cambria Math" panose="02040503050406030204" pitchFamily="18" charset="0"/>
                      </a:rPr>
                      <m:t> </m:t>
                    </m:r>
                    <m:r>
                      <a:rPr lang="ar-AE" b="0" i="1" smtClean="0">
                        <a:latin typeface="Cambria Math" panose="02040503050406030204" pitchFamily="18" charset="0"/>
                      </a:rPr>
                      <m:t>𝑚𝑖𝑛</m:t>
                    </m:r>
                  </m:oMath>
                </a14:m>
                <a:r>
                  <a:rPr lang="es-ES" dirty="0"/>
                  <a:t> (antes 1 minuto)</a:t>
                </a:r>
              </a:p>
              <a:p>
                <a:endParaRPr lang="es-ES" dirty="0"/>
              </a:p>
              <a:p>
                <a:r>
                  <a:rPr lang="es-ES" dirty="0"/>
                  <a:t>Conclusiones: Se comprueba que el tiempo de respuesta, el tiempo de espera, el número promedio de mensajes almacenados y, por lo tanto, la cantidad promedio requerida de memoria, se duplicará, cuando el número de clientes aumenta en apenas un 10 %.</a:t>
                </a:r>
                <a:endParaRPr lang="ar-AE" dirty="0"/>
              </a:p>
              <a:p>
                <a:pPr lvl="1"/>
                <a:endParaRPr lang="es-ES" dirty="0"/>
              </a:p>
              <a:p>
                <a:pPr lvl="1"/>
                <a:endParaRPr lang="es-ES" dirty="0"/>
              </a:p>
              <a:p>
                <a:pPr lvl="1"/>
                <a:endParaRPr lang="ar-AE" dirty="0"/>
              </a:p>
              <a:p>
                <a:pPr lvl="1"/>
                <a:endParaRPr lang="es-ES" dirty="0"/>
              </a:p>
              <a:p>
                <a:pPr lvl="1"/>
                <a:endParaRPr lang="ar-AE" dirty="0"/>
              </a:p>
              <a:p>
                <a:pPr lvl="1"/>
                <a:endParaRPr dirty="0"/>
              </a:p>
            </p:txBody>
          </p:sp>
        </mc:Choice>
        <mc:Fallback xmlns="">
          <p:sp>
            <p:nvSpPr>
              <p:cNvPr id="3" name="Marcador de contenido 2">
                <a:extLst>
                  <a:ext uri="{FF2B5EF4-FFF2-40B4-BE49-F238E27FC236}">
                    <a16:creationId xmlns:a16="http://schemas.microsoft.com/office/drawing/2014/main" id="{D3B12A18-03EB-6E2D-6C77-524C2293C765}"/>
                  </a:ext>
                </a:extLst>
              </p:cNvPr>
              <p:cNvSpPr>
                <a:spLocks noGrp="1" noRot="1" noChangeAspect="1" noMove="1" noResize="1" noEditPoints="1" noAdjustHandles="1" noChangeArrowheads="1" noChangeShapeType="1" noTextEdit="1"/>
              </p:cNvSpPr>
              <p:nvPr>
                <p:ph idx="1"/>
              </p:nvPr>
            </p:nvSpPr>
            <p:spPr>
              <a:xfrm>
                <a:off x="838200" y="1825624"/>
                <a:ext cx="10515600" cy="4530725"/>
              </a:xfrm>
              <a:blipFill>
                <a:blip r:embed="rId2"/>
                <a:stretch>
                  <a:fillRect l="-812" t="-3091" r="-174" b="-2016"/>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2139001E-9F4A-8CD2-3ABB-2D6076A12537}"/>
              </a:ext>
            </a:extLst>
          </p:cNvPr>
          <p:cNvSpPr>
            <a:spLocks noGrp="1"/>
          </p:cNvSpPr>
          <p:nvPr>
            <p:ph type="sldNum" sz="quarter" idx="12"/>
          </p:nvPr>
        </p:nvSpPr>
        <p:spPr/>
        <p:txBody>
          <a:bodyPr/>
          <a:lstStyle/>
          <a:p>
            <a:fld id="{336CAFD0-1F6E-4E11-9822-836563A02839}" type="slidenum">
              <a:rPr lang="es-ES" smtClean="0"/>
              <a:t>19</a:t>
            </a:fld>
            <a:endParaRPr lang="es-ES"/>
          </a:p>
        </p:txBody>
      </p:sp>
    </p:spTree>
    <p:extLst>
      <p:ext uri="{BB962C8B-B14F-4D97-AF65-F5344CB8AC3E}">
        <p14:creationId xmlns:p14="http://schemas.microsoft.com/office/powerpoint/2010/main" val="18571570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61FE9-C3AE-6FC7-C4A9-C1FF0B2C6A7F}"/>
              </a:ext>
            </a:extLst>
          </p:cNvPr>
          <p:cNvSpPr>
            <a:spLocks noGrp="1"/>
          </p:cNvSpPr>
          <p:nvPr>
            <p:ph type="title"/>
          </p:nvPr>
        </p:nvSpPr>
        <p:spPr/>
        <p:txBody>
          <a:bodyPr/>
          <a:lstStyle/>
          <a:p>
            <a:r>
              <a:rPr lang="es-ES" dirty="0"/>
              <a:t>5. Sistema M/M/1</a:t>
            </a:r>
            <a:br>
              <a:rPr lang="es-ES" dirty="0"/>
            </a:br>
            <a:r>
              <a:rPr dirty="0" err="1"/>
              <a:t>Ejercicios</a:t>
            </a:r>
            <a:r>
              <a:rPr dirty="0"/>
              <a:t> </a:t>
            </a:r>
            <a:r>
              <a:rPr dirty="0" err="1"/>
              <a:t>propuestos</a:t>
            </a:r>
            <a:endParaRPr dirty="0"/>
          </a:p>
        </p:txBody>
      </p:sp>
      <p:sp>
        <p:nvSpPr>
          <p:cNvPr id="3" name="Marcador de contenido 2">
            <a:extLst>
              <a:ext uri="{FF2B5EF4-FFF2-40B4-BE49-F238E27FC236}">
                <a16:creationId xmlns:a16="http://schemas.microsoft.com/office/drawing/2014/main" id="{A8D761F8-90FE-5A56-8924-772DAE4E6CC1}"/>
              </a:ext>
            </a:extLst>
          </p:cNvPr>
          <p:cNvSpPr>
            <a:spLocks noGrp="1"/>
          </p:cNvSpPr>
          <p:nvPr>
            <p:ph idx="1"/>
          </p:nvPr>
        </p:nvSpPr>
        <p:spPr/>
        <p:txBody>
          <a:bodyPr>
            <a:normAutofit/>
          </a:bodyPr>
          <a:lstStyle/>
          <a:p>
            <a:r>
              <a:rPr dirty="0" err="1"/>
              <a:t>Ejercicios</a:t>
            </a:r>
            <a:r>
              <a:t> 7.8-7.14 </a:t>
            </a:r>
            <a:r>
              <a:rPr dirty="0"/>
              <a:t>del </a:t>
            </a:r>
            <a:r>
              <a:rPr dirty="0" err="1"/>
              <a:t>libro</a:t>
            </a:r>
            <a:endParaRPr dirty="0"/>
          </a:p>
          <a:p>
            <a:pPr lvl="1"/>
            <a:r>
              <a:rPr dirty="0"/>
              <a:t>Las </a:t>
            </a:r>
            <a:r>
              <a:rPr dirty="0" err="1"/>
              <a:t>respuestas</a:t>
            </a:r>
            <a:r>
              <a:rPr dirty="0"/>
              <a:t> de 7.8, 7.9, 7.10, 7.11, 7.12 y 7.14 </a:t>
            </a:r>
            <a:r>
              <a:rPr dirty="0" err="1"/>
              <a:t>están</a:t>
            </a:r>
            <a:r>
              <a:rPr dirty="0"/>
              <a:t> </a:t>
            </a:r>
            <a:r>
              <a:rPr dirty="0" err="1"/>
              <a:t>disponibles</a:t>
            </a:r>
            <a:r>
              <a:rPr dirty="0"/>
              <a:t> en </a:t>
            </a:r>
            <a:r>
              <a:rPr lang="es-ES" dirty="0"/>
              <a:t>el libro</a:t>
            </a:r>
            <a:r>
              <a:rPr dirty="0"/>
              <a:t>.</a:t>
            </a:r>
          </a:p>
        </p:txBody>
      </p:sp>
      <p:sp>
        <p:nvSpPr>
          <p:cNvPr id="4" name="Marcador de número de diapositiva 3">
            <a:extLst>
              <a:ext uri="{FF2B5EF4-FFF2-40B4-BE49-F238E27FC236}">
                <a16:creationId xmlns:a16="http://schemas.microsoft.com/office/drawing/2014/main" id="{3EA86158-512B-60EF-6886-59F4BFB08DA5}"/>
              </a:ext>
            </a:extLst>
          </p:cNvPr>
          <p:cNvSpPr>
            <a:spLocks noGrp="1"/>
          </p:cNvSpPr>
          <p:nvPr>
            <p:ph type="sldNum" sz="quarter" idx="12"/>
          </p:nvPr>
        </p:nvSpPr>
        <p:spPr/>
        <p:txBody>
          <a:bodyPr/>
          <a:lstStyle/>
          <a:p>
            <a:fld id="{336CAFD0-1F6E-4E11-9822-836563A02839}" type="slidenum">
              <a:rPr lang="es-ES" smtClean="0"/>
              <a:t>20</a:t>
            </a:fld>
            <a:endParaRPr lang="es-ES"/>
          </a:p>
        </p:txBody>
      </p:sp>
    </p:spTree>
    <p:extLst>
      <p:ext uri="{BB962C8B-B14F-4D97-AF65-F5344CB8AC3E}">
        <p14:creationId xmlns:p14="http://schemas.microsoft.com/office/powerpoint/2010/main" val="3217525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943B69-3C45-7597-085B-8BF69853ABFF}"/>
              </a:ext>
            </a:extLst>
          </p:cNvPr>
          <p:cNvSpPr>
            <a:spLocks noGrp="1"/>
          </p:cNvSpPr>
          <p:nvPr>
            <p:ph type="title"/>
          </p:nvPr>
        </p:nvSpPr>
        <p:spPr/>
        <p:txBody>
          <a:bodyPr/>
          <a:lstStyle/>
          <a:p>
            <a:r>
              <a:rPr lang="es-ES" dirty="0"/>
              <a:t>6.</a:t>
            </a:r>
            <a:r>
              <a:rPr dirty="0"/>
              <a:t> </a:t>
            </a:r>
            <a:r>
              <a:rPr dirty="0" err="1"/>
              <a:t>Simulación</a:t>
            </a:r>
            <a:r>
              <a:rPr dirty="0"/>
              <a:t> de </a:t>
            </a:r>
            <a:r>
              <a:rPr dirty="0" err="1"/>
              <a:t>sistemas</a:t>
            </a:r>
            <a:r>
              <a:rPr dirty="0"/>
              <a:t> de cola</a:t>
            </a:r>
            <a:r>
              <a:rPr lang="es-ES" dirty="0"/>
              <a:t>s</a:t>
            </a:r>
            <a:r>
              <a:rPr dirty="0"/>
              <a:t> </a:t>
            </a:r>
          </a:p>
        </p:txBody>
      </p:sp>
      <p:sp>
        <p:nvSpPr>
          <p:cNvPr id="3" name="Marcador de contenido 2">
            <a:extLst>
              <a:ext uri="{FF2B5EF4-FFF2-40B4-BE49-F238E27FC236}">
                <a16:creationId xmlns:a16="http://schemas.microsoft.com/office/drawing/2014/main" id="{6E27E918-6524-AC79-8397-B8ACD53B5C38}"/>
              </a:ext>
            </a:extLst>
          </p:cNvPr>
          <p:cNvSpPr>
            <a:spLocks noGrp="1"/>
          </p:cNvSpPr>
          <p:nvPr>
            <p:ph idx="1"/>
          </p:nvPr>
        </p:nvSpPr>
        <p:spPr/>
        <p:txBody>
          <a:bodyPr>
            <a:normAutofit fontScale="85000" lnSpcReduction="10000"/>
          </a:bodyPr>
          <a:lstStyle/>
          <a:p>
            <a:r>
              <a:rPr dirty="0"/>
              <a:t>En la </a:t>
            </a:r>
            <a:r>
              <a:rPr dirty="0" err="1"/>
              <a:t>práctica</a:t>
            </a:r>
            <a:r>
              <a:rPr dirty="0"/>
              <a:t>, </a:t>
            </a:r>
            <a:r>
              <a:rPr dirty="0" err="1"/>
              <a:t>muchos</a:t>
            </a:r>
            <a:r>
              <a:rPr dirty="0"/>
              <a:t> </a:t>
            </a:r>
            <a:r>
              <a:rPr dirty="0" err="1"/>
              <a:t>sistemas</a:t>
            </a:r>
            <a:r>
              <a:rPr dirty="0"/>
              <a:t> de cola </a:t>
            </a:r>
            <a:r>
              <a:rPr dirty="0" err="1"/>
              <a:t>tienen</a:t>
            </a:r>
            <a:r>
              <a:rPr dirty="0"/>
              <a:t> </a:t>
            </a:r>
            <a:r>
              <a:rPr dirty="0" err="1"/>
              <a:t>una</a:t>
            </a:r>
            <a:r>
              <a:rPr dirty="0"/>
              <a:t> </a:t>
            </a:r>
            <a:r>
              <a:rPr dirty="0" err="1"/>
              <a:t>estructura</a:t>
            </a:r>
            <a:r>
              <a:rPr dirty="0"/>
              <a:t> </a:t>
            </a:r>
            <a:r>
              <a:rPr dirty="0" err="1"/>
              <a:t>bastante</a:t>
            </a:r>
            <a:r>
              <a:rPr dirty="0"/>
              <a:t> </a:t>
            </a:r>
            <a:r>
              <a:rPr dirty="0" err="1"/>
              <a:t>compleja</a:t>
            </a:r>
            <a:r>
              <a:rPr dirty="0"/>
              <a:t>. </a:t>
            </a:r>
          </a:p>
          <a:p>
            <a:pPr lvl="1"/>
            <a:r>
              <a:rPr dirty="0"/>
              <a:t>Los </a:t>
            </a:r>
            <a:r>
              <a:rPr dirty="0" err="1"/>
              <a:t>trabajos</a:t>
            </a:r>
            <a:r>
              <a:rPr dirty="0"/>
              <a:t> </a:t>
            </a:r>
            <a:r>
              <a:rPr dirty="0" err="1"/>
              <a:t>pueden</a:t>
            </a:r>
            <a:r>
              <a:rPr dirty="0"/>
              <a:t> </a:t>
            </a:r>
            <a:r>
              <a:rPr dirty="0" err="1"/>
              <a:t>llegar</a:t>
            </a:r>
            <a:r>
              <a:rPr dirty="0"/>
              <a:t> de </a:t>
            </a:r>
            <a:r>
              <a:rPr dirty="0" err="1"/>
              <a:t>acuerdo</a:t>
            </a:r>
            <a:r>
              <a:rPr dirty="0"/>
              <a:t> con un </a:t>
            </a:r>
            <a:r>
              <a:rPr dirty="0" err="1"/>
              <a:t>proceso</a:t>
            </a:r>
            <a:r>
              <a:rPr dirty="0"/>
              <a:t> que no sea de Poisson; a menudo, la </a:t>
            </a:r>
            <a:r>
              <a:rPr dirty="0" err="1"/>
              <a:t>tasa</a:t>
            </a:r>
            <a:r>
              <a:rPr dirty="0"/>
              <a:t> de </a:t>
            </a:r>
            <a:r>
              <a:rPr dirty="0" err="1"/>
              <a:t>llegadas</a:t>
            </a:r>
            <a:r>
              <a:rPr dirty="0"/>
              <a:t> cambia </a:t>
            </a:r>
            <a:r>
              <a:rPr dirty="0" err="1"/>
              <a:t>durante</a:t>
            </a:r>
            <a:r>
              <a:rPr dirty="0"/>
              <a:t> </a:t>
            </a:r>
            <a:r>
              <a:rPr dirty="0" err="1"/>
              <a:t>el</a:t>
            </a:r>
            <a:r>
              <a:rPr dirty="0"/>
              <a:t> día</a:t>
            </a:r>
            <a:r>
              <a:rPr lang="es-ES" dirty="0"/>
              <a:t>, porque puede haber horas punta</a:t>
            </a:r>
            <a:r>
              <a:rPr dirty="0"/>
              <a:t>. </a:t>
            </a:r>
          </a:p>
          <a:p>
            <a:pPr lvl="1"/>
            <a:r>
              <a:rPr dirty="0"/>
              <a:t>Los </a:t>
            </a:r>
            <a:r>
              <a:rPr dirty="0" err="1"/>
              <a:t>tiempos</a:t>
            </a:r>
            <a:r>
              <a:rPr dirty="0"/>
              <a:t> de </a:t>
            </a:r>
            <a:r>
              <a:rPr dirty="0" err="1"/>
              <a:t>servicio</a:t>
            </a:r>
            <a:r>
              <a:rPr dirty="0"/>
              <a:t> </a:t>
            </a:r>
            <a:r>
              <a:rPr dirty="0" err="1"/>
              <a:t>pueden</a:t>
            </a:r>
            <a:r>
              <a:rPr dirty="0"/>
              <a:t> </a:t>
            </a:r>
            <a:r>
              <a:rPr dirty="0" err="1"/>
              <a:t>tener</a:t>
            </a:r>
            <a:r>
              <a:rPr dirty="0"/>
              <a:t> </a:t>
            </a:r>
            <a:r>
              <a:rPr dirty="0" err="1"/>
              <a:t>diferentes</a:t>
            </a:r>
            <a:r>
              <a:rPr dirty="0"/>
              <a:t> </a:t>
            </a:r>
            <a:r>
              <a:rPr dirty="0" err="1"/>
              <a:t>distribuciones</a:t>
            </a:r>
            <a:r>
              <a:rPr dirty="0"/>
              <a:t>, y no </a:t>
            </a:r>
            <a:r>
              <a:rPr dirty="0" err="1"/>
              <a:t>siempre</a:t>
            </a:r>
            <a:r>
              <a:rPr dirty="0"/>
              <a:t> son sin </a:t>
            </a:r>
            <a:r>
              <a:rPr dirty="0" err="1"/>
              <a:t>memoria</a:t>
            </a:r>
            <a:r>
              <a:rPr dirty="0"/>
              <a:t>, </a:t>
            </a:r>
            <a:r>
              <a:rPr dirty="0" err="1"/>
              <a:t>por</a:t>
            </a:r>
            <a:r>
              <a:rPr dirty="0"/>
              <a:t> lo que la </a:t>
            </a:r>
            <a:r>
              <a:rPr dirty="0" err="1"/>
              <a:t>propiedad</a:t>
            </a:r>
            <a:r>
              <a:rPr dirty="0"/>
              <a:t> de Markov </a:t>
            </a:r>
            <a:r>
              <a:rPr dirty="0" err="1"/>
              <a:t>puede</a:t>
            </a:r>
            <a:r>
              <a:rPr dirty="0"/>
              <a:t> no </a:t>
            </a:r>
            <a:r>
              <a:rPr dirty="0" err="1"/>
              <a:t>estar</a:t>
            </a:r>
            <a:r>
              <a:rPr dirty="0"/>
              <a:t> </a:t>
            </a:r>
            <a:r>
              <a:rPr dirty="0" err="1"/>
              <a:t>satisfecha</a:t>
            </a:r>
            <a:r>
              <a:rPr dirty="0"/>
              <a:t>. </a:t>
            </a:r>
          </a:p>
          <a:p>
            <a:pPr lvl="1"/>
            <a:r>
              <a:rPr dirty="0"/>
              <a:t>El </a:t>
            </a:r>
            <a:r>
              <a:rPr dirty="0" err="1"/>
              <a:t>número</a:t>
            </a:r>
            <a:r>
              <a:rPr dirty="0"/>
              <a:t> de </a:t>
            </a:r>
            <a:r>
              <a:rPr dirty="0" err="1"/>
              <a:t>servidores</a:t>
            </a:r>
            <a:r>
              <a:rPr dirty="0"/>
              <a:t> </a:t>
            </a:r>
            <a:r>
              <a:rPr dirty="0" err="1"/>
              <a:t>también</a:t>
            </a:r>
            <a:r>
              <a:rPr dirty="0"/>
              <a:t> </a:t>
            </a:r>
            <a:r>
              <a:rPr dirty="0" err="1"/>
              <a:t>puede</a:t>
            </a:r>
            <a:r>
              <a:rPr dirty="0"/>
              <a:t> </a:t>
            </a:r>
            <a:r>
              <a:rPr dirty="0" err="1"/>
              <a:t>cambiar</a:t>
            </a:r>
            <a:r>
              <a:rPr dirty="0"/>
              <a:t> </a:t>
            </a:r>
            <a:r>
              <a:rPr dirty="0" err="1"/>
              <a:t>durante</a:t>
            </a:r>
            <a:r>
              <a:rPr dirty="0"/>
              <a:t> </a:t>
            </a:r>
            <a:r>
              <a:rPr dirty="0" err="1"/>
              <a:t>el</a:t>
            </a:r>
            <a:r>
              <a:rPr dirty="0"/>
              <a:t> día (los </a:t>
            </a:r>
            <a:r>
              <a:rPr dirty="0" err="1"/>
              <a:t>servidores</a:t>
            </a:r>
            <a:r>
              <a:rPr dirty="0"/>
              <a:t> </a:t>
            </a:r>
            <a:r>
              <a:rPr dirty="0" err="1"/>
              <a:t>adicionales</a:t>
            </a:r>
            <a:r>
              <a:rPr dirty="0"/>
              <a:t> </a:t>
            </a:r>
            <a:r>
              <a:rPr dirty="0" err="1"/>
              <a:t>pueden</a:t>
            </a:r>
            <a:r>
              <a:rPr dirty="0"/>
              <a:t> </a:t>
            </a:r>
            <a:r>
              <a:rPr dirty="0" err="1"/>
              <a:t>activarse</a:t>
            </a:r>
            <a:r>
              <a:rPr dirty="0"/>
              <a:t> </a:t>
            </a:r>
            <a:r>
              <a:rPr dirty="0" err="1"/>
              <a:t>durante</a:t>
            </a:r>
            <a:r>
              <a:rPr dirty="0"/>
              <a:t> las horas </a:t>
            </a:r>
            <a:r>
              <a:rPr dirty="0" err="1"/>
              <a:t>punta</a:t>
            </a:r>
            <a:r>
              <a:rPr dirty="0"/>
              <a:t>). </a:t>
            </a:r>
          </a:p>
          <a:p>
            <a:pPr lvl="1"/>
            <a:r>
              <a:rPr dirty="0" err="1"/>
              <a:t>Algunos</a:t>
            </a:r>
            <a:r>
              <a:rPr dirty="0"/>
              <a:t> </a:t>
            </a:r>
            <a:r>
              <a:rPr dirty="0" err="1"/>
              <a:t>clientes</a:t>
            </a:r>
            <a:r>
              <a:rPr dirty="0"/>
              <a:t> </a:t>
            </a:r>
            <a:r>
              <a:rPr dirty="0" err="1"/>
              <a:t>pueden</a:t>
            </a:r>
            <a:r>
              <a:rPr dirty="0"/>
              <a:t> </a:t>
            </a:r>
            <a:r>
              <a:rPr dirty="0" err="1"/>
              <a:t>quedar</a:t>
            </a:r>
            <a:r>
              <a:rPr dirty="0"/>
              <a:t> </a:t>
            </a:r>
            <a:r>
              <a:rPr dirty="0" err="1"/>
              <a:t>insatisfechos</a:t>
            </a:r>
            <a:r>
              <a:rPr dirty="0"/>
              <a:t> con un largo </a:t>
            </a:r>
            <a:r>
              <a:rPr dirty="0" err="1"/>
              <a:t>tiempo</a:t>
            </a:r>
            <a:r>
              <a:rPr dirty="0"/>
              <a:t> de </a:t>
            </a:r>
            <a:r>
              <a:rPr dirty="0" err="1"/>
              <a:t>espera</a:t>
            </a:r>
            <a:r>
              <a:rPr dirty="0"/>
              <a:t> y </a:t>
            </a:r>
            <a:r>
              <a:rPr lang="es-ES" dirty="0"/>
              <a:t>abandonar la cola</a:t>
            </a:r>
            <a:r>
              <a:rPr dirty="0"/>
              <a:t>. </a:t>
            </a:r>
          </a:p>
          <a:p>
            <a:pPr lvl="1"/>
            <a:r>
              <a:rPr dirty="0"/>
              <a:t>...</a:t>
            </a:r>
          </a:p>
          <a:p>
            <a:r>
              <a:rPr dirty="0"/>
              <a:t>La </a:t>
            </a:r>
            <a:r>
              <a:rPr dirty="0" err="1"/>
              <a:t>teoría</a:t>
            </a:r>
            <a:r>
              <a:rPr dirty="0"/>
              <a:t> de cola</a:t>
            </a:r>
            <a:r>
              <a:rPr lang="es-ES" dirty="0"/>
              <a:t>s</a:t>
            </a:r>
            <a:r>
              <a:rPr dirty="0"/>
              <a:t> no </a:t>
            </a:r>
            <a:r>
              <a:rPr dirty="0" err="1"/>
              <a:t>cubre</a:t>
            </a:r>
            <a:r>
              <a:rPr dirty="0"/>
              <a:t> </a:t>
            </a:r>
            <a:r>
              <a:rPr dirty="0" err="1"/>
              <a:t>todas</a:t>
            </a:r>
            <a:r>
              <a:rPr dirty="0"/>
              <a:t> las </a:t>
            </a:r>
            <a:r>
              <a:rPr dirty="0" err="1"/>
              <a:t>situaciones</a:t>
            </a:r>
            <a:r>
              <a:rPr dirty="0"/>
              <a:t> </a:t>
            </a:r>
            <a:r>
              <a:rPr dirty="0" err="1"/>
              <a:t>posibles</a:t>
            </a:r>
            <a:r>
              <a:rPr dirty="0"/>
              <a:t>. </a:t>
            </a:r>
          </a:p>
          <a:p>
            <a:r>
              <a:rPr dirty="0"/>
              <a:t>Podemos </a:t>
            </a:r>
            <a:r>
              <a:rPr dirty="0" err="1"/>
              <a:t>simular</a:t>
            </a:r>
            <a:r>
              <a:rPr dirty="0"/>
              <a:t> </a:t>
            </a:r>
            <a:r>
              <a:rPr dirty="0" err="1"/>
              <a:t>el</a:t>
            </a:r>
            <a:r>
              <a:rPr dirty="0"/>
              <a:t> </a:t>
            </a:r>
            <a:r>
              <a:rPr dirty="0" err="1"/>
              <a:t>comportamiento</a:t>
            </a:r>
            <a:r>
              <a:rPr dirty="0"/>
              <a:t> de </a:t>
            </a:r>
            <a:r>
              <a:rPr dirty="0" err="1"/>
              <a:t>casi</a:t>
            </a:r>
            <a:r>
              <a:rPr dirty="0"/>
              <a:t> </a:t>
            </a:r>
            <a:r>
              <a:rPr dirty="0" err="1"/>
              <a:t>cualquier</a:t>
            </a:r>
            <a:r>
              <a:rPr dirty="0"/>
              <a:t> </a:t>
            </a:r>
            <a:r>
              <a:rPr dirty="0" err="1"/>
              <a:t>sistema</a:t>
            </a:r>
            <a:r>
              <a:rPr dirty="0"/>
              <a:t> de cola</a:t>
            </a:r>
            <a:r>
              <a:rPr lang="es-ES" dirty="0"/>
              <a:t>s</a:t>
            </a:r>
            <a:r>
              <a:rPr dirty="0"/>
              <a:t> y </a:t>
            </a:r>
            <a:r>
              <a:rPr dirty="0" err="1"/>
              <a:t>estudiar</a:t>
            </a:r>
            <a:r>
              <a:rPr dirty="0"/>
              <a:t> sus </a:t>
            </a:r>
            <a:r>
              <a:rPr dirty="0" err="1"/>
              <a:t>propiedades</a:t>
            </a:r>
            <a:r>
              <a:rPr dirty="0"/>
              <a:t> </a:t>
            </a:r>
            <a:r>
              <a:rPr dirty="0" err="1"/>
              <a:t>mediante</a:t>
            </a:r>
            <a:r>
              <a:rPr dirty="0"/>
              <a:t> </a:t>
            </a:r>
            <a:r>
              <a:rPr dirty="0" err="1"/>
              <a:t>simulación</a:t>
            </a:r>
            <a:r>
              <a:rPr dirty="0"/>
              <a:t> </a:t>
            </a:r>
            <a:r>
              <a:rPr dirty="0" err="1"/>
              <a:t>por</a:t>
            </a:r>
            <a:r>
              <a:rPr dirty="0"/>
              <a:t> </a:t>
            </a:r>
            <a:r>
              <a:rPr lang="es-ES" dirty="0"/>
              <a:t>ordenador de métodos como los conocidos métodos </a:t>
            </a:r>
            <a:r>
              <a:rPr dirty="0"/>
              <a:t>Monte Carlo</a:t>
            </a:r>
            <a:r>
              <a:rPr lang="es-ES" dirty="0"/>
              <a:t> (ver capítulo 5 del libro de referencia)</a:t>
            </a:r>
            <a:r>
              <a:rPr dirty="0"/>
              <a:t>.</a:t>
            </a:r>
          </a:p>
        </p:txBody>
      </p:sp>
      <p:sp>
        <p:nvSpPr>
          <p:cNvPr id="4" name="Marcador de número de diapositiva 3">
            <a:extLst>
              <a:ext uri="{FF2B5EF4-FFF2-40B4-BE49-F238E27FC236}">
                <a16:creationId xmlns:a16="http://schemas.microsoft.com/office/drawing/2014/main" id="{B6DD6E25-8815-2F94-94DB-470BC5E932B0}"/>
              </a:ext>
            </a:extLst>
          </p:cNvPr>
          <p:cNvSpPr>
            <a:spLocks noGrp="1"/>
          </p:cNvSpPr>
          <p:nvPr>
            <p:ph type="sldNum" sz="quarter" idx="12"/>
          </p:nvPr>
        </p:nvSpPr>
        <p:spPr/>
        <p:txBody>
          <a:bodyPr/>
          <a:lstStyle/>
          <a:p>
            <a:fld id="{336CAFD0-1F6E-4E11-9822-836563A02839}" type="slidenum">
              <a:rPr lang="es-ES" smtClean="0"/>
              <a:t>21</a:t>
            </a:fld>
            <a:endParaRPr lang="es-ES"/>
          </a:p>
        </p:txBody>
      </p:sp>
    </p:spTree>
    <p:extLst>
      <p:ext uri="{BB962C8B-B14F-4D97-AF65-F5344CB8AC3E}">
        <p14:creationId xmlns:p14="http://schemas.microsoft.com/office/powerpoint/2010/main" val="28474754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8712FB-D530-CE92-F707-917965B477CB}"/>
              </a:ext>
            </a:extLst>
          </p:cNvPr>
          <p:cNvSpPr>
            <a:spLocks noGrp="1"/>
          </p:cNvSpPr>
          <p:nvPr>
            <p:ph type="title"/>
          </p:nvPr>
        </p:nvSpPr>
        <p:spPr/>
        <p:txBody>
          <a:bodyPr/>
          <a:lstStyle/>
          <a:p>
            <a:r>
              <a:rPr lang="es-ES" dirty="0"/>
              <a:t>6</a:t>
            </a:r>
            <a:r>
              <a:rPr dirty="0"/>
              <a:t>. </a:t>
            </a:r>
            <a:r>
              <a:rPr dirty="0" err="1"/>
              <a:t>Simulación</a:t>
            </a:r>
            <a:r>
              <a:rPr dirty="0"/>
              <a:t> de </a:t>
            </a:r>
            <a:r>
              <a:rPr dirty="0" err="1"/>
              <a:t>sistemas</a:t>
            </a:r>
            <a:r>
              <a:rPr dirty="0"/>
              <a:t> de cola</a:t>
            </a:r>
            <a:r>
              <a:rPr lang="es-ES" dirty="0"/>
              <a:t>s</a:t>
            </a:r>
            <a:br>
              <a:rPr lang="es-ES" dirty="0"/>
            </a:br>
            <a:r>
              <a:rPr dirty="0" err="1"/>
              <a:t>Procedimiento</a:t>
            </a:r>
            <a:r>
              <a:rPr dirty="0"/>
              <a:t> </a:t>
            </a:r>
          </a:p>
        </p:txBody>
      </p:sp>
      <p:sp>
        <p:nvSpPr>
          <p:cNvPr id="3" name="Marcador de contenido 2">
            <a:extLst>
              <a:ext uri="{FF2B5EF4-FFF2-40B4-BE49-F238E27FC236}">
                <a16:creationId xmlns:a16="http://schemas.microsoft.com/office/drawing/2014/main" id="{16746F37-D313-E9C3-A3FA-5B4862F2B145}"/>
              </a:ext>
            </a:extLst>
          </p:cNvPr>
          <p:cNvSpPr>
            <a:spLocks noGrp="1"/>
          </p:cNvSpPr>
          <p:nvPr>
            <p:ph idx="1"/>
          </p:nvPr>
        </p:nvSpPr>
        <p:spPr/>
        <p:txBody>
          <a:bodyPr>
            <a:normAutofit fontScale="85000" lnSpcReduction="20000"/>
          </a:bodyPr>
          <a:lstStyle/>
          <a:p>
            <a:r>
              <a:rPr dirty="0"/>
              <a:t>Los </a:t>
            </a:r>
            <a:r>
              <a:rPr dirty="0" err="1"/>
              <a:t>métodos</a:t>
            </a:r>
            <a:r>
              <a:rPr dirty="0"/>
              <a:t> de Monte Carlo </a:t>
            </a:r>
            <a:r>
              <a:rPr dirty="0" err="1"/>
              <a:t>permiten</a:t>
            </a:r>
            <a:r>
              <a:rPr dirty="0"/>
              <a:t> </a:t>
            </a:r>
            <a:r>
              <a:rPr dirty="0" err="1"/>
              <a:t>simular</a:t>
            </a:r>
            <a:r>
              <a:rPr dirty="0"/>
              <a:t> y </a:t>
            </a:r>
            <a:r>
              <a:rPr dirty="0" err="1"/>
              <a:t>evaluar</a:t>
            </a:r>
            <a:r>
              <a:rPr dirty="0"/>
              <a:t> </a:t>
            </a:r>
            <a:r>
              <a:rPr dirty="0" err="1"/>
              <a:t>sistemas</a:t>
            </a:r>
            <a:r>
              <a:rPr dirty="0"/>
              <a:t> </a:t>
            </a:r>
            <a:r>
              <a:rPr dirty="0" err="1"/>
              <a:t>complejos</a:t>
            </a:r>
            <a:r>
              <a:rPr dirty="0"/>
              <a:t> de cola</a:t>
            </a:r>
            <a:r>
              <a:rPr lang="es-ES" dirty="0"/>
              <a:t>s</a:t>
            </a:r>
            <a:endParaRPr dirty="0"/>
          </a:p>
          <a:p>
            <a:r>
              <a:rPr dirty="0" err="1"/>
              <a:t>Siempre</a:t>
            </a:r>
            <a:r>
              <a:rPr dirty="0"/>
              <a:t> y </a:t>
            </a:r>
            <a:r>
              <a:rPr dirty="0" err="1"/>
              <a:t>cuando</a:t>
            </a:r>
            <a:r>
              <a:rPr dirty="0"/>
              <a:t> </a:t>
            </a:r>
            <a:r>
              <a:rPr lang="es-ES" dirty="0"/>
              <a:t>se conozcan </a:t>
            </a:r>
            <a:r>
              <a:rPr dirty="0"/>
              <a:t>las </a:t>
            </a:r>
            <a:r>
              <a:rPr dirty="0" err="1"/>
              <a:t>distribuciones</a:t>
            </a:r>
            <a:r>
              <a:rPr dirty="0"/>
              <a:t> de</a:t>
            </a:r>
            <a:r>
              <a:rPr lang="es-ES" dirty="0"/>
              <a:t>l</a:t>
            </a:r>
            <a:r>
              <a:rPr dirty="0"/>
              <a:t> </a:t>
            </a:r>
            <a:r>
              <a:rPr dirty="0" err="1"/>
              <a:t>tiempo</a:t>
            </a:r>
            <a:r>
              <a:rPr dirty="0"/>
              <a:t> </a:t>
            </a:r>
            <a:r>
              <a:rPr lang="es-ES" dirty="0"/>
              <a:t>entre </a:t>
            </a:r>
            <a:r>
              <a:rPr dirty="0" err="1"/>
              <a:t>llegada</a:t>
            </a:r>
            <a:r>
              <a:rPr lang="es-ES" dirty="0"/>
              <a:t>s</a:t>
            </a:r>
            <a:r>
              <a:rPr dirty="0"/>
              <a:t> y </a:t>
            </a:r>
            <a:r>
              <a:rPr lang="es-ES" dirty="0"/>
              <a:t>del tiempo de </a:t>
            </a:r>
            <a:r>
              <a:rPr dirty="0" err="1"/>
              <a:t>servicio</a:t>
            </a:r>
            <a:r>
              <a:rPr dirty="0"/>
              <a:t>, </a:t>
            </a:r>
            <a:r>
              <a:rPr lang="es-ES" dirty="0"/>
              <a:t>se pueden </a:t>
            </a:r>
            <a:r>
              <a:rPr dirty="0" err="1"/>
              <a:t>generar</a:t>
            </a:r>
            <a:r>
              <a:rPr dirty="0"/>
              <a:t> los </a:t>
            </a:r>
            <a:r>
              <a:rPr dirty="0" err="1"/>
              <a:t>procesos</a:t>
            </a:r>
            <a:r>
              <a:rPr dirty="0"/>
              <a:t> de </a:t>
            </a:r>
            <a:r>
              <a:rPr dirty="0" err="1"/>
              <a:t>llegadas</a:t>
            </a:r>
            <a:r>
              <a:rPr dirty="0"/>
              <a:t> y </a:t>
            </a:r>
            <a:r>
              <a:rPr dirty="0" err="1"/>
              <a:t>servicios</a:t>
            </a:r>
            <a:r>
              <a:rPr dirty="0"/>
              <a:t>. </a:t>
            </a:r>
          </a:p>
          <a:p>
            <a:r>
              <a:rPr dirty="0"/>
              <a:t>Para </a:t>
            </a:r>
            <a:r>
              <a:rPr dirty="0" err="1"/>
              <a:t>asignar</a:t>
            </a:r>
            <a:r>
              <a:rPr dirty="0"/>
              <a:t> </a:t>
            </a:r>
            <a:r>
              <a:rPr dirty="0" err="1"/>
              <a:t>trabajos</a:t>
            </a:r>
            <a:r>
              <a:rPr dirty="0"/>
              <a:t> a </a:t>
            </a:r>
            <a:r>
              <a:rPr dirty="0" err="1"/>
              <a:t>servidores</a:t>
            </a:r>
            <a:r>
              <a:rPr dirty="0"/>
              <a:t>, </a:t>
            </a:r>
            <a:r>
              <a:rPr lang="es-ES" dirty="0"/>
              <a:t>se hace </a:t>
            </a:r>
            <a:r>
              <a:rPr dirty="0"/>
              <a:t>un </a:t>
            </a:r>
            <a:r>
              <a:rPr dirty="0" err="1"/>
              <a:t>seguimiento</a:t>
            </a:r>
            <a:r>
              <a:rPr dirty="0"/>
              <a:t> de los </a:t>
            </a:r>
            <a:r>
              <a:rPr dirty="0" err="1"/>
              <a:t>servidores</a:t>
            </a:r>
            <a:r>
              <a:rPr dirty="0"/>
              <a:t> que </a:t>
            </a:r>
            <a:r>
              <a:rPr dirty="0" err="1"/>
              <a:t>están</a:t>
            </a:r>
            <a:r>
              <a:rPr dirty="0"/>
              <a:t> </a:t>
            </a:r>
            <a:r>
              <a:rPr dirty="0" err="1"/>
              <a:t>disponibles</a:t>
            </a:r>
            <a:r>
              <a:rPr dirty="0"/>
              <a:t> </a:t>
            </a:r>
            <a:r>
              <a:rPr dirty="0" err="1"/>
              <a:t>cada</a:t>
            </a:r>
            <a:r>
              <a:rPr dirty="0"/>
              <a:t> </a:t>
            </a:r>
            <a:r>
              <a:rPr dirty="0" err="1"/>
              <a:t>vez</a:t>
            </a:r>
            <a:r>
              <a:rPr dirty="0"/>
              <a:t> que </a:t>
            </a:r>
            <a:r>
              <a:rPr dirty="0" err="1"/>
              <a:t>llega</a:t>
            </a:r>
            <a:r>
              <a:rPr dirty="0"/>
              <a:t> un nuevo </a:t>
            </a:r>
            <a:r>
              <a:rPr dirty="0" err="1"/>
              <a:t>trabajo</a:t>
            </a:r>
            <a:r>
              <a:rPr dirty="0"/>
              <a:t>.</a:t>
            </a:r>
          </a:p>
          <a:p>
            <a:r>
              <a:rPr dirty="0" err="1"/>
              <a:t>Cuando</a:t>
            </a:r>
            <a:r>
              <a:rPr dirty="0"/>
              <a:t> </a:t>
            </a:r>
            <a:r>
              <a:rPr dirty="0" err="1"/>
              <a:t>todos</a:t>
            </a:r>
            <a:r>
              <a:rPr dirty="0"/>
              <a:t> los </a:t>
            </a:r>
            <a:r>
              <a:rPr dirty="0" err="1"/>
              <a:t>servidores</a:t>
            </a:r>
            <a:r>
              <a:rPr dirty="0"/>
              <a:t> </a:t>
            </a:r>
            <a:r>
              <a:rPr dirty="0" err="1"/>
              <a:t>están</a:t>
            </a:r>
            <a:r>
              <a:rPr dirty="0"/>
              <a:t> </a:t>
            </a:r>
            <a:r>
              <a:rPr dirty="0" err="1"/>
              <a:t>ocupados</a:t>
            </a:r>
            <a:r>
              <a:rPr dirty="0"/>
              <a:t>, </a:t>
            </a:r>
            <a:r>
              <a:rPr dirty="0" err="1"/>
              <a:t>el</a:t>
            </a:r>
            <a:r>
              <a:rPr dirty="0"/>
              <a:t> nuevo </a:t>
            </a:r>
            <a:r>
              <a:rPr dirty="0" err="1"/>
              <a:t>trabajo</a:t>
            </a:r>
            <a:r>
              <a:rPr dirty="0"/>
              <a:t> </a:t>
            </a:r>
            <a:r>
              <a:rPr dirty="0" err="1"/>
              <a:t>entrará</a:t>
            </a:r>
            <a:r>
              <a:rPr dirty="0"/>
              <a:t> en </a:t>
            </a:r>
            <a:r>
              <a:rPr dirty="0" err="1"/>
              <a:t>una</a:t>
            </a:r>
            <a:r>
              <a:rPr dirty="0"/>
              <a:t> cola.</a:t>
            </a:r>
          </a:p>
          <a:p>
            <a:r>
              <a:rPr dirty="0"/>
              <a:t>A </a:t>
            </a:r>
            <a:r>
              <a:rPr dirty="0" err="1"/>
              <a:t>medida</a:t>
            </a:r>
            <a:r>
              <a:rPr dirty="0"/>
              <a:t> que </a:t>
            </a:r>
            <a:r>
              <a:rPr lang="es-ES" dirty="0"/>
              <a:t>se simula </a:t>
            </a:r>
            <a:r>
              <a:rPr dirty="0" err="1"/>
              <a:t>el</a:t>
            </a:r>
            <a:r>
              <a:rPr dirty="0"/>
              <a:t> </a:t>
            </a:r>
            <a:r>
              <a:rPr dirty="0" err="1"/>
              <a:t>trabajo</a:t>
            </a:r>
            <a:r>
              <a:rPr dirty="0"/>
              <a:t> de un </a:t>
            </a:r>
            <a:r>
              <a:rPr dirty="0" err="1"/>
              <a:t>sistema</a:t>
            </a:r>
            <a:r>
              <a:rPr dirty="0"/>
              <a:t> de cola, </a:t>
            </a:r>
            <a:r>
              <a:rPr lang="es-ES" dirty="0"/>
              <a:t>se </a:t>
            </a:r>
            <a:r>
              <a:rPr dirty="0" err="1"/>
              <a:t>mant</a:t>
            </a:r>
            <a:r>
              <a:rPr lang="es-ES" dirty="0" err="1"/>
              <a:t>ienen</a:t>
            </a:r>
            <a:r>
              <a:rPr dirty="0"/>
              <a:t> </a:t>
            </a:r>
            <a:r>
              <a:rPr dirty="0" err="1"/>
              <a:t>registros</a:t>
            </a:r>
            <a:r>
              <a:rPr dirty="0"/>
              <a:t> de </a:t>
            </a:r>
            <a:r>
              <a:rPr dirty="0" err="1"/>
              <a:t>eventos</a:t>
            </a:r>
            <a:r>
              <a:rPr dirty="0"/>
              <a:t> y variables que </a:t>
            </a:r>
            <a:r>
              <a:rPr dirty="0" err="1"/>
              <a:t>interes</a:t>
            </a:r>
            <a:r>
              <a:rPr lang="es-ES" dirty="0"/>
              <a:t>e</a:t>
            </a:r>
            <a:r>
              <a:rPr dirty="0"/>
              <a:t>n. </a:t>
            </a:r>
          </a:p>
          <a:p>
            <a:r>
              <a:rPr dirty="0" err="1"/>
              <a:t>Después</a:t>
            </a:r>
            <a:r>
              <a:rPr dirty="0"/>
              <a:t> de un gran </a:t>
            </a:r>
            <a:r>
              <a:rPr dirty="0" err="1"/>
              <a:t>número</a:t>
            </a:r>
            <a:r>
              <a:rPr dirty="0"/>
              <a:t> de </a:t>
            </a:r>
            <a:r>
              <a:rPr lang="es-ES" dirty="0"/>
              <a:t>ejecuciones</a:t>
            </a:r>
            <a:r>
              <a:rPr dirty="0"/>
              <a:t>, </a:t>
            </a:r>
            <a:r>
              <a:rPr lang="es-ES" dirty="0"/>
              <a:t>se </a:t>
            </a:r>
            <a:r>
              <a:rPr lang="es-ES" dirty="0" err="1"/>
              <a:t>peden</a:t>
            </a:r>
            <a:r>
              <a:rPr lang="es-ES" dirty="0"/>
              <a:t> </a:t>
            </a:r>
            <a:r>
              <a:rPr dirty="0" err="1"/>
              <a:t>promedia</a:t>
            </a:r>
            <a:r>
              <a:rPr lang="es-ES" dirty="0"/>
              <a:t>r los datos registrados</a:t>
            </a:r>
            <a:r>
              <a:rPr dirty="0"/>
              <a:t> para </a:t>
            </a:r>
            <a:r>
              <a:rPr dirty="0" err="1"/>
              <a:t>estimar</a:t>
            </a:r>
            <a:r>
              <a:rPr dirty="0"/>
              <a:t> </a:t>
            </a:r>
            <a:r>
              <a:rPr dirty="0" err="1"/>
              <a:t>probabilidades</a:t>
            </a:r>
            <a:r>
              <a:rPr dirty="0"/>
              <a:t> </a:t>
            </a:r>
            <a:r>
              <a:rPr lang="es-ES" dirty="0"/>
              <a:t>y esperanzas de las variables a </a:t>
            </a:r>
            <a:r>
              <a:rPr lang="es-ES" dirty="0" err="1"/>
              <a:t>larg</a:t>
            </a:r>
            <a:r>
              <a:rPr dirty="0"/>
              <a:t>o </a:t>
            </a:r>
            <a:r>
              <a:rPr dirty="0" err="1"/>
              <a:t>plazo</a:t>
            </a:r>
            <a:r>
              <a:rPr dirty="0"/>
              <a:t>.</a:t>
            </a:r>
          </a:p>
        </p:txBody>
      </p:sp>
      <p:sp>
        <p:nvSpPr>
          <p:cNvPr id="4" name="Marcador de número de diapositiva 3">
            <a:extLst>
              <a:ext uri="{FF2B5EF4-FFF2-40B4-BE49-F238E27FC236}">
                <a16:creationId xmlns:a16="http://schemas.microsoft.com/office/drawing/2014/main" id="{FF240721-8557-AEE8-D201-8BF732BA3030}"/>
              </a:ext>
            </a:extLst>
          </p:cNvPr>
          <p:cNvSpPr>
            <a:spLocks noGrp="1"/>
          </p:cNvSpPr>
          <p:nvPr>
            <p:ph type="sldNum" sz="quarter" idx="12"/>
          </p:nvPr>
        </p:nvSpPr>
        <p:spPr/>
        <p:txBody>
          <a:bodyPr/>
          <a:lstStyle/>
          <a:p>
            <a:fld id="{336CAFD0-1F6E-4E11-9822-836563A02839}" type="slidenum">
              <a:rPr lang="es-ES" smtClean="0"/>
              <a:t>22</a:t>
            </a:fld>
            <a:endParaRPr lang="es-ES"/>
          </a:p>
        </p:txBody>
      </p:sp>
    </p:spTree>
    <p:extLst>
      <p:ext uri="{BB962C8B-B14F-4D97-AF65-F5344CB8AC3E}">
        <p14:creationId xmlns:p14="http://schemas.microsoft.com/office/powerpoint/2010/main" val="2361671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8712FB-D530-CE92-F707-917965B477CB}"/>
              </a:ext>
            </a:extLst>
          </p:cNvPr>
          <p:cNvSpPr>
            <a:spLocks noGrp="1"/>
          </p:cNvSpPr>
          <p:nvPr>
            <p:ph type="title"/>
          </p:nvPr>
        </p:nvSpPr>
        <p:spPr/>
        <p:txBody>
          <a:bodyPr/>
          <a:lstStyle/>
          <a:p>
            <a:r>
              <a:rPr lang="es-ES" dirty="0"/>
              <a:t>6.</a:t>
            </a:r>
            <a:r>
              <a:rPr dirty="0"/>
              <a:t> </a:t>
            </a:r>
            <a:r>
              <a:rPr dirty="0" err="1"/>
              <a:t>Simulación</a:t>
            </a:r>
            <a:r>
              <a:rPr dirty="0"/>
              <a:t> de </a:t>
            </a:r>
            <a:r>
              <a:rPr dirty="0" err="1"/>
              <a:t>sistemas</a:t>
            </a:r>
            <a:r>
              <a:rPr dirty="0"/>
              <a:t> de cola</a:t>
            </a:r>
            <a:r>
              <a:rPr lang="es-ES" dirty="0"/>
              <a:t>s</a:t>
            </a:r>
            <a:br>
              <a:rPr lang="es-ES" dirty="0"/>
            </a:br>
            <a:r>
              <a:rPr dirty="0" err="1"/>
              <a:t>Ejemplo</a:t>
            </a:r>
            <a:r>
              <a:rPr dirty="0"/>
              <a:t> </a:t>
            </a:r>
          </a:p>
        </p:txBody>
      </p:sp>
      <p:sp>
        <p:nvSpPr>
          <p:cNvPr id="3" name="Marcador de contenido 2">
            <a:extLst>
              <a:ext uri="{FF2B5EF4-FFF2-40B4-BE49-F238E27FC236}">
                <a16:creationId xmlns:a16="http://schemas.microsoft.com/office/drawing/2014/main" id="{16746F37-D313-E9C3-A3FA-5B4862F2B145}"/>
              </a:ext>
            </a:extLst>
          </p:cNvPr>
          <p:cNvSpPr>
            <a:spLocks noGrp="1"/>
          </p:cNvSpPr>
          <p:nvPr>
            <p:ph idx="1"/>
          </p:nvPr>
        </p:nvSpPr>
        <p:spPr>
          <a:xfrm>
            <a:off x="838200" y="1825625"/>
            <a:ext cx="10515600" cy="4895850"/>
          </a:xfrm>
        </p:spPr>
        <p:txBody>
          <a:bodyPr>
            <a:normAutofit fontScale="70000" lnSpcReduction="20000"/>
          </a:bodyPr>
          <a:lstStyle/>
          <a:p>
            <a:r>
              <a:rPr lang="es-ES" dirty="0"/>
              <a:t>Se podría s</a:t>
            </a:r>
            <a:r>
              <a:rPr dirty="0" err="1"/>
              <a:t>imular</a:t>
            </a:r>
            <a:r>
              <a:rPr dirty="0"/>
              <a:t> </a:t>
            </a:r>
            <a:r>
              <a:rPr lang="es-ES" dirty="0"/>
              <a:t>el funcionamiento en </a:t>
            </a:r>
            <a:r>
              <a:rPr dirty="0"/>
              <a:t>un día, de 8 am a 10 pm, de un </a:t>
            </a:r>
            <a:r>
              <a:rPr dirty="0" err="1"/>
              <a:t>sistema</a:t>
            </a:r>
            <a:r>
              <a:rPr dirty="0"/>
              <a:t> de cola que </a:t>
            </a:r>
            <a:r>
              <a:rPr dirty="0" err="1"/>
              <a:t>tiene</a:t>
            </a:r>
            <a:r>
              <a:rPr lang="es-ES" dirty="0"/>
              <a:t>:</a:t>
            </a:r>
            <a:endParaRPr dirty="0"/>
          </a:p>
          <a:p>
            <a:pPr lvl="1"/>
            <a:r>
              <a:rPr lang="es-ES" dirty="0"/>
              <a:t>c</a:t>
            </a:r>
            <a:r>
              <a:rPr dirty="0" err="1"/>
              <a:t>uatro</a:t>
            </a:r>
            <a:r>
              <a:rPr dirty="0"/>
              <a:t> </a:t>
            </a:r>
            <a:r>
              <a:rPr dirty="0" err="1"/>
              <a:t>servidores</a:t>
            </a:r>
            <a:r>
              <a:rPr lang="es-ES" dirty="0"/>
              <a:t>;</a:t>
            </a:r>
            <a:endParaRPr dirty="0"/>
          </a:p>
          <a:p>
            <a:pPr lvl="1"/>
            <a:r>
              <a:rPr lang="es-ES" dirty="0"/>
              <a:t>tiempos de servicio de cada servidor: S1:Gamma(6,0.3), S2:Gamma(10,0.2), S3:Gamma(7,0.7), S4:Gamma(5,1);</a:t>
            </a:r>
            <a:endParaRPr dirty="0"/>
          </a:p>
          <a:p>
            <a:pPr lvl="1"/>
            <a:r>
              <a:rPr lang="es-ES" dirty="0"/>
              <a:t>un proceso de </a:t>
            </a:r>
            <a:r>
              <a:rPr dirty="0"/>
              <a:t>Poisson </a:t>
            </a:r>
            <a:r>
              <a:rPr lang="es-ES" dirty="0"/>
              <a:t>de llegadas con tasa de </a:t>
            </a:r>
            <a:r>
              <a:rPr dirty="0"/>
              <a:t>1 </a:t>
            </a:r>
            <a:r>
              <a:rPr dirty="0" err="1"/>
              <a:t>llegada</a:t>
            </a:r>
            <a:r>
              <a:rPr dirty="0"/>
              <a:t> </a:t>
            </a:r>
            <a:r>
              <a:rPr dirty="0" err="1"/>
              <a:t>cada</a:t>
            </a:r>
            <a:r>
              <a:rPr dirty="0"/>
              <a:t> 4 </a:t>
            </a:r>
            <a:r>
              <a:rPr dirty="0" err="1"/>
              <a:t>minutos</a:t>
            </a:r>
            <a:r>
              <a:rPr dirty="0"/>
              <a:t>, </a:t>
            </a:r>
            <a:r>
              <a:rPr dirty="0" err="1"/>
              <a:t>independiente</a:t>
            </a:r>
            <a:r>
              <a:rPr lang="es-ES" dirty="0"/>
              <a:t> del tiempo de servicio;</a:t>
            </a:r>
            <a:endParaRPr dirty="0"/>
          </a:p>
          <a:p>
            <a:pPr lvl="1"/>
            <a:r>
              <a:rPr lang="es-ES" dirty="0"/>
              <a:t>a</a:t>
            </a:r>
            <a:r>
              <a:rPr dirty="0" err="1"/>
              <a:t>signación</a:t>
            </a:r>
            <a:r>
              <a:rPr dirty="0"/>
              <a:t> </a:t>
            </a:r>
            <a:r>
              <a:rPr dirty="0" err="1"/>
              <a:t>aleatoria</a:t>
            </a:r>
            <a:r>
              <a:rPr dirty="0"/>
              <a:t> de </a:t>
            </a:r>
            <a:r>
              <a:rPr dirty="0" err="1"/>
              <a:t>servidores</a:t>
            </a:r>
            <a:r>
              <a:rPr dirty="0"/>
              <a:t>, </a:t>
            </a:r>
            <a:r>
              <a:rPr dirty="0" err="1"/>
              <a:t>cuando</a:t>
            </a:r>
            <a:r>
              <a:rPr dirty="0"/>
              <a:t> hay </a:t>
            </a:r>
            <a:r>
              <a:rPr dirty="0" err="1"/>
              <a:t>más</a:t>
            </a:r>
            <a:r>
              <a:rPr dirty="0"/>
              <a:t> de </a:t>
            </a:r>
            <a:r>
              <a:rPr lang="es-ES" dirty="0"/>
              <a:t>un</a:t>
            </a:r>
            <a:r>
              <a:rPr dirty="0"/>
              <a:t> </a:t>
            </a:r>
            <a:r>
              <a:rPr dirty="0" err="1"/>
              <a:t>servidor</a:t>
            </a:r>
            <a:r>
              <a:rPr dirty="0"/>
              <a:t> disponible</a:t>
            </a:r>
            <a:r>
              <a:rPr lang="es-ES" dirty="0"/>
              <a:t>.</a:t>
            </a:r>
            <a:endParaRPr dirty="0"/>
          </a:p>
          <a:p>
            <a:pPr lvl="1"/>
            <a:r>
              <a:rPr lang="es-ES" dirty="0"/>
              <a:t>Suponer </a:t>
            </a:r>
            <a:r>
              <a:rPr dirty="0"/>
              <a:t>que </a:t>
            </a:r>
            <a:r>
              <a:rPr dirty="0" err="1"/>
              <a:t>después</a:t>
            </a:r>
            <a:r>
              <a:rPr dirty="0"/>
              <a:t> de 15 </a:t>
            </a:r>
            <a:r>
              <a:rPr dirty="0" err="1"/>
              <a:t>minutos</a:t>
            </a:r>
            <a:r>
              <a:rPr dirty="0"/>
              <a:t> de </a:t>
            </a:r>
            <a:r>
              <a:rPr dirty="0" err="1"/>
              <a:t>espera</a:t>
            </a:r>
            <a:r>
              <a:rPr dirty="0"/>
              <a:t>, los </a:t>
            </a:r>
            <a:r>
              <a:rPr dirty="0" err="1"/>
              <a:t>trabajos</a:t>
            </a:r>
            <a:r>
              <a:rPr dirty="0"/>
              <a:t> se </a:t>
            </a:r>
            <a:r>
              <a:rPr dirty="0" err="1"/>
              <a:t>retiran</a:t>
            </a:r>
            <a:r>
              <a:rPr dirty="0"/>
              <a:t> de </a:t>
            </a:r>
            <a:r>
              <a:rPr lang="es-ES" dirty="0"/>
              <a:t>un</a:t>
            </a:r>
            <a:r>
              <a:rPr dirty="0"/>
              <a:t>a cola </a:t>
            </a:r>
            <a:r>
              <a:rPr dirty="0" err="1"/>
              <a:t>si</a:t>
            </a:r>
            <a:r>
              <a:rPr dirty="0"/>
              <a:t> </a:t>
            </a:r>
            <a:r>
              <a:rPr dirty="0" err="1"/>
              <a:t>su</a:t>
            </a:r>
            <a:r>
              <a:rPr dirty="0"/>
              <a:t> </a:t>
            </a:r>
            <a:r>
              <a:rPr dirty="0" err="1"/>
              <a:t>servicio</a:t>
            </a:r>
            <a:r>
              <a:rPr dirty="0"/>
              <a:t> no ha </a:t>
            </a:r>
            <a:r>
              <a:rPr dirty="0" err="1"/>
              <a:t>comenzado</a:t>
            </a:r>
            <a:r>
              <a:rPr dirty="0"/>
              <a:t>.</a:t>
            </a:r>
          </a:p>
          <a:p>
            <a:r>
              <a:rPr dirty="0"/>
              <a:t>Para un día </a:t>
            </a:r>
            <a:r>
              <a:rPr dirty="0" err="1"/>
              <a:t>ordinario</a:t>
            </a:r>
            <a:r>
              <a:rPr dirty="0"/>
              <a:t> de </a:t>
            </a:r>
            <a:r>
              <a:rPr dirty="0" err="1"/>
              <a:t>trabajo</a:t>
            </a:r>
            <a:r>
              <a:rPr dirty="0"/>
              <a:t> de este </a:t>
            </a:r>
            <a:r>
              <a:rPr dirty="0" err="1"/>
              <a:t>sistema</a:t>
            </a:r>
            <a:r>
              <a:rPr dirty="0"/>
              <a:t>, </a:t>
            </a:r>
            <a:r>
              <a:rPr lang="es-ES" dirty="0"/>
              <a:t>podríamos </a:t>
            </a:r>
            <a:r>
              <a:rPr dirty="0" err="1"/>
              <a:t>estimar</a:t>
            </a:r>
            <a:r>
              <a:rPr dirty="0"/>
              <a:t> los </a:t>
            </a:r>
            <a:r>
              <a:rPr dirty="0" err="1"/>
              <a:t>valores</a:t>
            </a:r>
            <a:r>
              <a:rPr dirty="0"/>
              <a:t> </a:t>
            </a:r>
            <a:r>
              <a:rPr dirty="0" err="1"/>
              <a:t>esperados</a:t>
            </a:r>
            <a:r>
              <a:rPr dirty="0"/>
              <a:t> de:</a:t>
            </a:r>
          </a:p>
          <a:p>
            <a:pPr lvl="1"/>
            <a:r>
              <a:rPr dirty="0" err="1"/>
              <a:t>el</a:t>
            </a:r>
            <a:r>
              <a:rPr dirty="0"/>
              <a:t> </a:t>
            </a:r>
            <a:r>
              <a:rPr dirty="0" err="1"/>
              <a:t>tiempo</a:t>
            </a:r>
            <a:r>
              <a:rPr dirty="0"/>
              <a:t> total que </a:t>
            </a:r>
            <a:r>
              <a:rPr dirty="0" err="1"/>
              <a:t>cada</a:t>
            </a:r>
            <a:r>
              <a:rPr dirty="0"/>
              <a:t> </a:t>
            </a:r>
            <a:r>
              <a:rPr dirty="0" err="1"/>
              <a:t>servidor</a:t>
            </a:r>
            <a:r>
              <a:rPr dirty="0"/>
              <a:t> </a:t>
            </a:r>
            <a:r>
              <a:rPr dirty="0" err="1"/>
              <a:t>está</a:t>
            </a:r>
            <a:r>
              <a:rPr dirty="0"/>
              <a:t> </a:t>
            </a:r>
            <a:r>
              <a:rPr dirty="0" err="1"/>
              <a:t>ocupado</a:t>
            </a:r>
            <a:r>
              <a:rPr dirty="0"/>
              <a:t> con </a:t>
            </a:r>
            <a:r>
              <a:rPr dirty="0" err="1"/>
              <a:t>trabajos</a:t>
            </a:r>
            <a:r>
              <a:rPr dirty="0"/>
              <a:t>;</a:t>
            </a:r>
          </a:p>
          <a:p>
            <a:pPr lvl="1"/>
            <a:r>
              <a:rPr dirty="0" err="1"/>
              <a:t>el</a:t>
            </a:r>
            <a:r>
              <a:rPr dirty="0"/>
              <a:t> </a:t>
            </a:r>
            <a:r>
              <a:rPr dirty="0" err="1"/>
              <a:t>número</a:t>
            </a:r>
            <a:r>
              <a:rPr dirty="0"/>
              <a:t> total de </a:t>
            </a:r>
            <a:r>
              <a:rPr dirty="0" err="1"/>
              <a:t>trabajos</a:t>
            </a:r>
            <a:r>
              <a:rPr dirty="0"/>
              <a:t> </a:t>
            </a:r>
            <a:r>
              <a:rPr dirty="0" err="1"/>
              <a:t>atendidos</a:t>
            </a:r>
            <a:r>
              <a:rPr dirty="0"/>
              <a:t> </a:t>
            </a:r>
            <a:r>
              <a:rPr dirty="0" err="1"/>
              <a:t>por</a:t>
            </a:r>
            <a:r>
              <a:rPr dirty="0"/>
              <a:t> </a:t>
            </a:r>
            <a:r>
              <a:rPr dirty="0" err="1"/>
              <a:t>cada</a:t>
            </a:r>
            <a:r>
              <a:rPr dirty="0"/>
              <a:t> </a:t>
            </a:r>
            <a:r>
              <a:rPr dirty="0" err="1"/>
              <a:t>servidor</a:t>
            </a:r>
            <a:r>
              <a:rPr dirty="0"/>
              <a:t>;</a:t>
            </a:r>
          </a:p>
          <a:p>
            <a:pPr lvl="1"/>
            <a:r>
              <a:rPr dirty="0" err="1"/>
              <a:t>el</a:t>
            </a:r>
            <a:r>
              <a:rPr dirty="0"/>
              <a:t> </a:t>
            </a:r>
            <a:r>
              <a:rPr dirty="0" err="1"/>
              <a:t>tiempo</a:t>
            </a:r>
            <a:r>
              <a:rPr dirty="0"/>
              <a:t> medio de </a:t>
            </a:r>
            <a:r>
              <a:rPr dirty="0" err="1"/>
              <a:t>espera</a:t>
            </a:r>
            <a:r>
              <a:rPr dirty="0"/>
              <a:t>;</a:t>
            </a:r>
          </a:p>
          <a:p>
            <a:pPr lvl="1"/>
            <a:r>
              <a:rPr dirty="0" err="1"/>
              <a:t>el</a:t>
            </a:r>
            <a:r>
              <a:rPr dirty="0"/>
              <a:t> </a:t>
            </a:r>
            <a:r>
              <a:rPr dirty="0" err="1"/>
              <a:t>tiempo</a:t>
            </a:r>
            <a:r>
              <a:rPr dirty="0"/>
              <a:t> de </a:t>
            </a:r>
            <a:r>
              <a:rPr dirty="0" err="1"/>
              <a:t>espera</a:t>
            </a:r>
            <a:r>
              <a:rPr dirty="0"/>
              <a:t> </a:t>
            </a:r>
            <a:r>
              <a:rPr dirty="0" err="1"/>
              <a:t>más</a:t>
            </a:r>
            <a:r>
              <a:rPr dirty="0"/>
              <a:t> largo;</a:t>
            </a:r>
          </a:p>
          <a:p>
            <a:pPr lvl="1"/>
            <a:r>
              <a:rPr dirty="0" err="1"/>
              <a:t>el</a:t>
            </a:r>
            <a:r>
              <a:rPr dirty="0"/>
              <a:t> </a:t>
            </a:r>
            <a:r>
              <a:rPr dirty="0" err="1"/>
              <a:t>número</a:t>
            </a:r>
            <a:r>
              <a:rPr dirty="0"/>
              <a:t> de </a:t>
            </a:r>
            <a:r>
              <a:rPr dirty="0" err="1"/>
              <a:t>trabajo</a:t>
            </a:r>
            <a:r>
              <a:rPr dirty="0"/>
              <a:t> </a:t>
            </a:r>
            <a:r>
              <a:rPr dirty="0" err="1"/>
              <a:t>retirados</a:t>
            </a:r>
            <a:r>
              <a:rPr dirty="0"/>
              <a:t>;</a:t>
            </a:r>
          </a:p>
          <a:p>
            <a:pPr lvl="1"/>
            <a:r>
              <a:rPr dirty="0" err="1"/>
              <a:t>el</a:t>
            </a:r>
            <a:r>
              <a:rPr dirty="0"/>
              <a:t> </a:t>
            </a:r>
            <a:r>
              <a:rPr dirty="0" err="1"/>
              <a:t>número</a:t>
            </a:r>
            <a:r>
              <a:rPr dirty="0"/>
              <a:t> de </a:t>
            </a:r>
            <a:r>
              <a:rPr dirty="0" err="1"/>
              <a:t>veces</a:t>
            </a:r>
            <a:r>
              <a:rPr dirty="0"/>
              <a:t> que un </a:t>
            </a:r>
            <a:r>
              <a:rPr dirty="0" err="1"/>
              <a:t>servidor</a:t>
            </a:r>
            <a:r>
              <a:rPr dirty="0"/>
              <a:t> </a:t>
            </a:r>
            <a:r>
              <a:rPr dirty="0" err="1"/>
              <a:t>estaba</a:t>
            </a:r>
            <a:r>
              <a:rPr dirty="0"/>
              <a:t> disponible </a:t>
            </a:r>
            <a:r>
              <a:rPr dirty="0" err="1"/>
              <a:t>inmediatamente</a:t>
            </a:r>
            <a:r>
              <a:rPr dirty="0"/>
              <a:t> (</a:t>
            </a:r>
            <a:r>
              <a:rPr lang="es-ES" dirty="0"/>
              <a:t>es decir, e</a:t>
            </a:r>
            <a:r>
              <a:rPr dirty="0"/>
              <a:t>l </a:t>
            </a:r>
            <a:r>
              <a:rPr dirty="0" err="1"/>
              <a:t>número</a:t>
            </a:r>
            <a:r>
              <a:rPr dirty="0"/>
              <a:t> de </a:t>
            </a:r>
            <a:r>
              <a:rPr dirty="0" err="1"/>
              <a:t>trabajos</a:t>
            </a:r>
            <a:r>
              <a:rPr dirty="0"/>
              <a:t> sin </a:t>
            </a:r>
            <a:r>
              <a:rPr dirty="0" err="1"/>
              <a:t>tiempo</a:t>
            </a:r>
            <a:r>
              <a:rPr dirty="0"/>
              <a:t> de </a:t>
            </a:r>
            <a:r>
              <a:rPr dirty="0" err="1"/>
              <a:t>espera</a:t>
            </a:r>
            <a:r>
              <a:rPr dirty="0"/>
              <a:t>);</a:t>
            </a:r>
          </a:p>
          <a:p>
            <a:pPr lvl="1"/>
            <a:r>
              <a:rPr dirty="0" err="1"/>
              <a:t>el</a:t>
            </a:r>
            <a:r>
              <a:rPr dirty="0"/>
              <a:t> </a:t>
            </a:r>
            <a:r>
              <a:rPr dirty="0" err="1"/>
              <a:t>número</a:t>
            </a:r>
            <a:r>
              <a:rPr dirty="0"/>
              <a:t> </a:t>
            </a:r>
            <a:r>
              <a:rPr lang="es-ES" dirty="0"/>
              <a:t>que </a:t>
            </a:r>
            <a:r>
              <a:rPr dirty="0" err="1"/>
              <a:t>quedan</a:t>
            </a:r>
            <a:r>
              <a:rPr dirty="0"/>
              <a:t> en </a:t>
            </a:r>
            <a:r>
              <a:rPr dirty="0" err="1"/>
              <a:t>el</a:t>
            </a:r>
            <a:r>
              <a:rPr dirty="0"/>
              <a:t> </a:t>
            </a:r>
            <a:r>
              <a:rPr dirty="0" err="1"/>
              <a:t>sistema</a:t>
            </a:r>
            <a:r>
              <a:rPr dirty="0"/>
              <a:t> a las 10 pm.</a:t>
            </a:r>
          </a:p>
          <a:p>
            <a:r>
              <a:rPr lang="es-ES" dirty="0"/>
              <a:t>Se pueden ver </a:t>
            </a:r>
            <a:r>
              <a:rPr dirty="0"/>
              <a:t>los </a:t>
            </a:r>
            <a:r>
              <a:rPr dirty="0" err="1"/>
              <a:t>resultados</a:t>
            </a:r>
            <a:r>
              <a:rPr dirty="0"/>
              <a:t> en </a:t>
            </a:r>
            <a:r>
              <a:rPr dirty="0" err="1"/>
              <a:t>el</a:t>
            </a:r>
            <a:r>
              <a:rPr dirty="0"/>
              <a:t> </a:t>
            </a:r>
            <a:r>
              <a:rPr dirty="0" err="1"/>
              <a:t>libro</a:t>
            </a:r>
            <a:r>
              <a:rPr lang="es-ES" dirty="0"/>
              <a:t>, que incluye el código para Matlab y R de la simulación</a:t>
            </a:r>
            <a:r>
              <a:rPr dirty="0"/>
              <a:t>.</a:t>
            </a:r>
          </a:p>
          <a:p>
            <a:pPr marL="0" indent="0">
              <a:buNone/>
            </a:pPr>
            <a:endParaRPr dirty="0"/>
          </a:p>
        </p:txBody>
      </p:sp>
      <p:sp>
        <p:nvSpPr>
          <p:cNvPr id="4" name="Marcador de número de diapositiva 3">
            <a:extLst>
              <a:ext uri="{FF2B5EF4-FFF2-40B4-BE49-F238E27FC236}">
                <a16:creationId xmlns:a16="http://schemas.microsoft.com/office/drawing/2014/main" id="{FF240721-8557-AEE8-D201-8BF732BA3030}"/>
              </a:ext>
            </a:extLst>
          </p:cNvPr>
          <p:cNvSpPr>
            <a:spLocks noGrp="1"/>
          </p:cNvSpPr>
          <p:nvPr>
            <p:ph type="sldNum" sz="quarter" idx="12"/>
          </p:nvPr>
        </p:nvSpPr>
        <p:spPr/>
        <p:txBody>
          <a:bodyPr/>
          <a:lstStyle/>
          <a:p>
            <a:fld id="{336CAFD0-1F6E-4E11-9822-836563A02839}" type="slidenum">
              <a:rPr lang="es-ES" smtClean="0"/>
              <a:t>23</a:t>
            </a:fld>
            <a:endParaRPr lang="es-ES" dirty="0"/>
          </a:p>
        </p:txBody>
      </p:sp>
    </p:spTree>
    <p:extLst>
      <p:ext uri="{BB962C8B-B14F-4D97-AF65-F5344CB8AC3E}">
        <p14:creationId xmlns:p14="http://schemas.microsoft.com/office/powerpoint/2010/main" val="9137686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C31602-0173-86DB-1B87-31E0298D1528}"/>
              </a:ext>
            </a:extLst>
          </p:cNvPr>
          <p:cNvSpPr>
            <a:spLocks noGrp="1"/>
          </p:cNvSpPr>
          <p:nvPr>
            <p:ph type="title"/>
          </p:nvPr>
        </p:nvSpPr>
        <p:spPr/>
        <p:txBody>
          <a:bodyPr/>
          <a:lstStyle/>
          <a:p>
            <a:r>
              <a:rPr lang="es-ES" dirty="0"/>
              <a:t>7</a:t>
            </a:r>
            <a:r>
              <a:rPr dirty="0"/>
              <a:t>. Resumen</a:t>
            </a:r>
          </a:p>
        </p:txBody>
      </p:sp>
      <p:sp>
        <p:nvSpPr>
          <p:cNvPr id="3" name="Marcador de contenido 2">
            <a:extLst>
              <a:ext uri="{FF2B5EF4-FFF2-40B4-BE49-F238E27FC236}">
                <a16:creationId xmlns:a16="http://schemas.microsoft.com/office/drawing/2014/main" id="{C7C24067-56F0-60D2-7DCF-60718F0077D8}"/>
              </a:ext>
            </a:extLst>
          </p:cNvPr>
          <p:cNvSpPr>
            <a:spLocks noGrp="1"/>
          </p:cNvSpPr>
          <p:nvPr>
            <p:ph idx="1"/>
          </p:nvPr>
        </p:nvSpPr>
        <p:spPr/>
        <p:txBody>
          <a:bodyPr>
            <a:normAutofit fontScale="92500" lnSpcReduction="20000"/>
          </a:bodyPr>
          <a:lstStyle/>
          <a:p>
            <a:r>
              <a:rPr lang="es-ES" dirty="0"/>
              <a:t>Un sistema de cola es una instalación que consiste en uno o varios servidores que procesan ciertos trabajos que llegan al azar y una cola de trabajos que esperan ser procesados </a:t>
            </a:r>
          </a:p>
          <a:p>
            <a:r>
              <a:rPr dirty="0"/>
              <a:t>Hay </a:t>
            </a:r>
            <a:r>
              <a:rPr dirty="0" err="1"/>
              <a:t>vari</a:t>
            </a:r>
            <a:r>
              <a:rPr lang="es-ES" dirty="0"/>
              <a:t>os tipos </a:t>
            </a:r>
            <a:r>
              <a:rPr dirty="0"/>
              <a:t>de </a:t>
            </a:r>
            <a:r>
              <a:rPr dirty="0" err="1"/>
              <a:t>sistemas</a:t>
            </a:r>
            <a:r>
              <a:rPr dirty="0"/>
              <a:t> de cola</a:t>
            </a:r>
            <a:r>
              <a:rPr lang="es-ES" dirty="0"/>
              <a:t>s</a:t>
            </a:r>
            <a:r>
              <a:rPr dirty="0"/>
              <a:t>. </a:t>
            </a:r>
          </a:p>
          <a:p>
            <a:pPr lvl="1"/>
            <a:r>
              <a:rPr dirty="0"/>
              <a:t>La </a:t>
            </a:r>
            <a:r>
              <a:rPr dirty="0" err="1"/>
              <a:t>notación</a:t>
            </a:r>
            <a:r>
              <a:rPr dirty="0"/>
              <a:t> Kendall se </a:t>
            </a:r>
            <a:r>
              <a:rPr dirty="0" err="1"/>
              <a:t>utiliza</a:t>
            </a:r>
            <a:r>
              <a:rPr dirty="0"/>
              <a:t> para </a:t>
            </a:r>
            <a:r>
              <a:rPr dirty="0" err="1"/>
              <a:t>identificar</a:t>
            </a:r>
            <a:r>
              <a:rPr dirty="0"/>
              <a:t> </a:t>
            </a:r>
            <a:r>
              <a:rPr dirty="0" err="1"/>
              <a:t>diferentes</a:t>
            </a:r>
            <a:r>
              <a:rPr dirty="0"/>
              <a:t> </a:t>
            </a:r>
            <a:r>
              <a:rPr lang="es-ES" dirty="0"/>
              <a:t>tipos</a:t>
            </a:r>
            <a:r>
              <a:rPr dirty="0"/>
              <a:t>.</a:t>
            </a:r>
          </a:p>
          <a:p>
            <a:pPr lvl="1"/>
            <a:r>
              <a:rPr dirty="0"/>
              <a:t>Los </a:t>
            </a:r>
            <a:r>
              <a:rPr dirty="0" err="1"/>
              <a:t>sistemas</a:t>
            </a:r>
            <a:r>
              <a:rPr dirty="0"/>
              <a:t> de cola </a:t>
            </a:r>
            <a:r>
              <a:rPr lang="es-ES" dirty="0"/>
              <a:t>más usuales son </a:t>
            </a:r>
            <a:r>
              <a:rPr dirty="0"/>
              <a:t>M/M/1, M/M/k y M/M/</a:t>
            </a:r>
            <a:r>
              <a:rPr lang="en-US" dirty="0"/>
              <a:t> ∞</a:t>
            </a:r>
            <a:r>
              <a:rPr dirty="0"/>
              <a:t>.</a:t>
            </a:r>
          </a:p>
          <a:p>
            <a:r>
              <a:rPr dirty="0"/>
              <a:t>Hay </a:t>
            </a:r>
            <a:r>
              <a:rPr dirty="0" err="1"/>
              <a:t>fórmulas</a:t>
            </a:r>
            <a:r>
              <a:rPr dirty="0"/>
              <a:t> </a:t>
            </a:r>
            <a:r>
              <a:rPr dirty="0" err="1"/>
              <a:t>útiles</a:t>
            </a:r>
            <a:r>
              <a:rPr dirty="0"/>
              <a:t> para </a:t>
            </a:r>
            <a:r>
              <a:rPr dirty="0" err="1"/>
              <a:t>evaluar</a:t>
            </a:r>
            <a:r>
              <a:rPr dirty="0"/>
              <a:t> </a:t>
            </a:r>
            <a:r>
              <a:rPr dirty="0" err="1"/>
              <a:t>el</a:t>
            </a:r>
            <a:r>
              <a:rPr dirty="0"/>
              <a:t> </a:t>
            </a:r>
            <a:r>
              <a:rPr dirty="0" err="1"/>
              <a:t>rendimiento</a:t>
            </a:r>
            <a:r>
              <a:rPr dirty="0"/>
              <a:t> de un </a:t>
            </a:r>
            <a:r>
              <a:rPr dirty="0" err="1"/>
              <a:t>sistema</a:t>
            </a:r>
            <a:r>
              <a:rPr dirty="0"/>
              <a:t> de cola, </a:t>
            </a:r>
            <a:r>
              <a:rPr dirty="0" err="1"/>
              <a:t>pronosticar</a:t>
            </a:r>
            <a:r>
              <a:rPr dirty="0"/>
              <a:t> </a:t>
            </a:r>
            <a:r>
              <a:rPr dirty="0" err="1"/>
              <a:t>su</a:t>
            </a:r>
            <a:r>
              <a:rPr dirty="0"/>
              <a:t> </a:t>
            </a:r>
            <a:r>
              <a:rPr dirty="0" err="1"/>
              <a:t>eficiencia</a:t>
            </a:r>
            <a:r>
              <a:rPr dirty="0"/>
              <a:t> </a:t>
            </a:r>
            <a:r>
              <a:rPr dirty="0" err="1"/>
              <a:t>futura</a:t>
            </a:r>
            <a:r>
              <a:rPr dirty="0"/>
              <a:t> </a:t>
            </a:r>
            <a:r>
              <a:rPr dirty="0" err="1"/>
              <a:t>cuando</a:t>
            </a:r>
            <a:r>
              <a:rPr dirty="0"/>
              <a:t> los </a:t>
            </a:r>
            <a:r>
              <a:rPr dirty="0" err="1"/>
              <a:t>parámetros</a:t>
            </a:r>
            <a:r>
              <a:rPr dirty="0"/>
              <a:t> </a:t>
            </a:r>
            <a:r>
              <a:rPr dirty="0" err="1"/>
              <a:t>cambian</a:t>
            </a:r>
            <a:r>
              <a:rPr dirty="0"/>
              <a:t>, y </a:t>
            </a:r>
            <a:r>
              <a:rPr dirty="0" err="1"/>
              <a:t>ver</a:t>
            </a:r>
            <a:r>
              <a:rPr dirty="0"/>
              <a:t> </a:t>
            </a:r>
            <a:r>
              <a:rPr dirty="0" err="1"/>
              <a:t>si</a:t>
            </a:r>
            <a:r>
              <a:rPr dirty="0"/>
              <a:t> </a:t>
            </a:r>
            <a:r>
              <a:rPr dirty="0" err="1"/>
              <a:t>sigue</a:t>
            </a:r>
            <a:r>
              <a:rPr dirty="0"/>
              <a:t> </a:t>
            </a:r>
            <a:r>
              <a:rPr dirty="0" err="1"/>
              <a:t>funcionando</a:t>
            </a:r>
            <a:r>
              <a:rPr dirty="0"/>
              <a:t> bajo las </a:t>
            </a:r>
            <a:r>
              <a:rPr dirty="0" err="1"/>
              <a:t>nuevas</a:t>
            </a:r>
            <a:r>
              <a:rPr dirty="0"/>
              <a:t> </a:t>
            </a:r>
            <a:r>
              <a:rPr dirty="0" err="1"/>
              <a:t>condiciones</a:t>
            </a:r>
            <a:r>
              <a:rPr dirty="0"/>
              <a:t>.</a:t>
            </a:r>
          </a:p>
          <a:p>
            <a:r>
              <a:rPr dirty="0"/>
              <a:t>El </a:t>
            </a:r>
            <a:r>
              <a:rPr dirty="0" err="1"/>
              <a:t>rendimiento</a:t>
            </a:r>
            <a:r>
              <a:rPr dirty="0"/>
              <a:t> de los </a:t>
            </a:r>
            <a:r>
              <a:rPr dirty="0" err="1"/>
              <a:t>sistemas</a:t>
            </a:r>
            <a:r>
              <a:rPr dirty="0"/>
              <a:t> de cola </a:t>
            </a:r>
            <a:r>
              <a:rPr dirty="0" err="1"/>
              <a:t>más</a:t>
            </a:r>
            <a:r>
              <a:rPr dirty="0"/>
              <a:t> </a:t>
            </a:r>
            <a:r>
              <a:rPr dirty="0" err="1"/>
              <a:t>complicados</a:t>
            </a:r>
            <a:r>
              <a:rPr dirty="0"/>
              <a:t> y </a:t>
            </a:r>
            <a:r>
              <a:rPr dirty="0" err="1"/>
              <a:t>avanzados</a:t>
            </a:r>
            <a:r>
              <a:rPr dirty="0"/>
              <a:t> </a:t>
            </a:r>
            <a:r>
              <a:rPr dirty="0" err="1"/>
              <a:t>puede</a:t>
            </a:r>
            <a:r>
              <a:rPr dirty="0"/>
              <a:t> </a:t>
            </a:r>
            <a:r>
              <a:rPr dirty="0" err="1"/>
              <a:t>evaluarse</a:t>
            </a:r>
            <a:r>
              <a:rPr dirty="0"/>
              <a:t> </a:t>
            </a:r>
            <a:r>
              <a:rPr dirty="0" err="1"/>
              <a:t>mediante</a:t>
            </a:r>
            <a:r>
              <a:rPr dirty="0"/>
              <a:t> </a:t>
            </a:r>
            <a:r>
              <a:rPr dirty="0" err="1"/>
              <a:t>simulación</a:t>
            </a:r>
            <a:r>
              <a:rPr dirty="0"/>
              <a:t> </a:t>
            </a:r>
            <a:r>
              <a:rPr dirty="0" err="1"/>
              <a:t>por</a:t>
            </a:r>
            <a:r>
              <a:rPr dirty="0"/>
              <a:t> </a:t>
            </a:r>
            <a:r>
              <a:rPr dirty="0" err="1"/>
              <a:t>ordenador</a:t>
            </a:r>
            <a:r>
              <a:rPr dirty="0"/>
              <a:t>; </a:t>
            </a:r>
            <a:r>
              <a:rPr dirty="0" err="1"/>
              <a:t>simular</a:t>
            </a:r>
            <a:r>
              <a:rPr dirty="0"/>
              <a:t> </a:t>
            </a:r>
            <a:r>
              <a:rPr dirty="0" err="1"/>
              <a:t>llegadas</a:t>
            </a:r>
            <a:r>
              <a:rPr dirty="0"/>
              <a:t> de </a:t>
            </a:r>
            <a:r>
              <a:rPr dirty="0" err="1"/>
              <a:t>trabajos</a:t>
            </a:r>
            <a:r>
              <a:rPr dirty="0"/>
              <a:t>, </a:t>
            </a:r>
            <a:r>
              <a:rPr dirty="0" err="1"/>
              <a:t>asignación</a:t>
            </a:r>
            <a:r>
              <a:rPr dirty="0"/>
              <a:t> de </a:t>
            </a:r>
            <a:r>
              <a:rPr dirty="0" err="1"/>
              <a:t>servidores</a:t>
            </a:r>
            <a:r>
              <a:rPr dirty="0"/>
              <a:t> y </a:t>
            </a:r>
            <a:r>
              <a:rPr dirty="0" err="1"/>
              <a:t>tiempos</a:t>
            </a:r>
            <a:r>
              <a:rPr dirty="0"/>
              <a:t> de </a:t>
            </a:r>
            <a:r>
              <a:rPr dirty="0" err="1"/>
              <a:t>servicio</a:t>
            </a:r>
            <a:r>
              <a:rPr dirty="0"/>
              <a:t> y </a:t>
            </a:r>
            <a:r>
              <a:rPr dirty="0" err="1"/>
              <a:t>realizar</a:t>
            </a:r>
            <a:r>
              <a:rPr dirty="0"/>
              <a:t> un </a:t>
            </a:r>
            <a:r>
              <a:rPr dirty="0" err="1"/>
              <a:t>seguimiento</a:t>
            </a:r>
            <a:r>
              <a:rPr dirty="0"/>
              <a:t> de </a:t>
            </a:r>
            <a:r>
              <a:rPr dirty="0" err="1"/>
              <a:t>todas</a:t>
            </a:r>
            <a:r>
              <a:rPr dirty="0"/>
              <a:t> las variables de </a:t>
            </a:r>
            <a:r>
              <a:rPr dirty="0" err="1"/>
              <a:t>interés</a:t>
            </a:r>
            <a:r>
              <a:rPr lang="es-ES" dirty="0"/>
              <a:t>.</a:t>
            </a:r>
          </a:p>
        </p:txBody>
      </p:sp>
      <p:sp>
        <p:nvSpPr>
          <p:cNvPr id="4" name="Marcador de número de diapositiva 3">
            <a:extLst>
              <a:ext uri="{FF2B5EF4-FFF2-40B4-BE49-F238E27FC236}">
                <a16:creationId xmlns:a16="http://schemas.microsoft.com/office/drawing/2014/main" id="{F88EA456-A29C-8A97-B441-9F7D407B7C25}"/>
              </a:ext>
            </a:extLst>
          </p:cNvPr>
          <p:cNvSpPr>
            <a:spLocks noGrp="1"/>
          </p:cNvSpPr>
          <p:nvPr>
            <p:ph type="sldNum" sz="quarter" idx="12"/>
          </p:nvPr>
        </p:nvSpPr>
        <p:spPr/>
        <p:txBody>
          <a:bodyPr/>
          <a:lstStyle/>
          <a:p>
            <a:fld id="{336CAFD0-1F6E-4E11-9822-836563A02839}" type="slidenum">
              <a:rPr lang="es-ES" smtClean="0"/>
              <a:t>24</a:t>
            </a:fld>
            <a:endParaRPr lang="es-ES"/>
          </a:p>
        </p:txBody>
      </p:sp>
    </p:spTree>
    <p:extLst>
      <p:ext uri="{BB962C8B-B14F-4D97-AF65-F5344CB8AC3E}">
        <p14:creationId xmlns:p14="http://schemas.microsoft.com/office/powerpoint/2010/main" val="307709968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1849</TotalTime>
  <Words>2643</Words>
  <Application>Microsoft Office PowerPoint</Application>
  <PresentationFormat>Panorámica</PresentationFormat>
  <Paragraphs>239</Paragraphs>
  <Slides>24</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24</vt:i4>
      </vt:variant>
    </vt:vector>
  </HeadingPairs>
  <TitlesOfParts>
    <vt:vector size="29" baseType="lpstr">
      <vt:lpstr>Arial</vt:lpstr>
      <vt:lpstr>Calibri</vt:lpstr>
      <vt:lpstr>Calibri Light</vt:lpstr>
      <vt:lpstr>Cambria Math</vt:lpstr>
      <vt:lpstr>Tema de Office</vt:lpstr>
      <vt:lpstr>Sistemas de colas</vt:lpstr>
      <vt:lpstr>Contenido</vt:lpstr>
      <vt:lpstr>1. Objetivos</vt:lpstr>
      <vt:lpstr>2. Introducción</vt:lpstr>
      <vt:lpstr>2.1 Definición de sistema de cola</vt:lpstr>
      <vt:lpstr>2.2 Componentes principales de un sistema de cola</vt:lpstr>
      <vt:lpstr>2.3 Parámetros de un sistema de cola</vt:lpstr>
      <vt:lpstr>2.4 Variables aleatorias en un sistema de cola</vt:lpstr>
      <vt:lpstr>3. Ley de Little</vt:lpstr>
      <vt:lpstr>4. Tipos de sistemas de cola</vt:lpstr>
      <vt:lpstr>5. Sistema M/M/1</vt:lpstr>
      <vt:lpstr>5. Sistema M/M/1 Distribución estacionaria del número de trabajos</vt:lpstr>
      <vt:lpstr>5. Sistema M/M/1 Evaluación del rendimiento del sistema (I)</vt:lpstr>
      <vt:lpstr>5. Sistema M/M/1 Evaluación del rendimiento del sistema (II)</vt:lpstr>
      <vt:lpstr>5. Sistema M/M/1 Ejemplo 7.4 (Transmisión de mensajes)</vt:lpstr>
      <vt:lpstr>5. Sistema M/M/1 Ejemplo 7.4 (Solución) (I)</vt:lpstr>
      <vt:lpstr>5. Sistema M/M/1 Ejemplo 7.4 (Solución) (II)</vt:lpstr>
      <vt:lpstr>5. Sistema M/M/1 Ejemplo 7.5 (Predicciones)</vt:lpstr>
      <vt:lpstr>5. Sistema M/M/1 Ejemplo 7.5 (Solución)</vt:lpstr>
      <vt:lpstr>5. Sistema M/M/1 Ejercicios propuestos</vt:lpstr>
      <vt:lpstr>6. Simulación de sistemas de colas </vt:lpstr>
      <vt:lpstr>6. Simulación de sistemas de colas Procedimiento </vt:lpstr>
      <vt:lpstr>6. Simulación de sistemas de colas Ejemplo </vt:lpstr>
      <vt:lpstr>7. Resumen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Sistemas de colas</dc:title>
  <dc:creator/>
  <cp:lastModifiedBy>jose hilera</cp:lastModifiedBy>
  <cp:revision>51</cp:revision>
  <dcterms:created xsi:type="dcterms:W3CDTF">2022-12-26T19:51:11Z</dcterms:created>
  <dcterms:modified xsi:type="dcterms:W3CDTF">2023-11-17T14:10:56Z</dcterms:modified>
</cp:coreProperties>
</file>