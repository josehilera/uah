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445" r:id="rId4"/>
    <p:sldId id="454" r:id="rId5"/>
    <p:sldId id="449" r:id="rId6"/>
    <p:sldId id="450" r:id="rId7"/>
    <p:sldId id="448" r:id="rId8"/>
    <p:sldId id="453" r:id="rId9"/>
    <p:sldId id="451" r:id="rId10"/>
    <p:sldId id="458" r:id="rId11"/>
    <p:sldId id="459" r:id="rId12"/>
    <p:sldId id="461" r:id="rId13"/>
    <p:sldId id="463" r:id="rId14"/>
    <p:sldId id="464" r:id="rId15"/>
    <p:sldId id="446" r:id="rId16"/>
    <p:sldId id="455" r:id="rId17"/>
    <p:sldId id="456" r:id="rId18"/>
    <p:sldId id="462" r:id="rId19"/>
    <p:sldId id="465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76" autoAdjust="0"/>
    <p:restoredTop sz="94809" autoAdjust="0"/>
  </p:normalViewPr>
  <p:slideViewPr>
    <p:cSldViewPr snapToGrid="0">
      <p:cViewPr varScale="1">
        <p:scale>
          <a:sx n="69" d="100"/>
          <a:sy n="69" d="100"/>
        </p:scale>
        <p:origin x="14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276993FA-F4EB-4F5C-AC0E-D19D76C7FE18}" type="datetimeFigureOut">
              <a:rPr lang="es-ES" smtClean="0"/>
              <a:t>10/09/2024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t>Haga clic para modificar los estilos de texto del patrón</a:t>
            </a:r>
          </a:p>
          <a:p>
            <a:pPr lvl="1"/>
            <a:r>
              <a:t>Segundo nivel</a:t>
            </a:r>
          </a:p>
          <a:p>
            <a:pPr lvl="2"/>
            <a:r>
              <a:t>Tercer nivel</a:t>
            </a:r>
          </a:p>
          <a:p>
            <a:pPr lvl="3"/>
            <a:r>
              <a:t>Cuarto nivel</a:t>
            </a:r>
          </a:p>
          <a:p>
            <a:pPr lvl="4"/>
            <a:r>
              <a:t>Nivel de Quinto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fld id="{93B7C101-15E4-4D70-A114-C89E83A70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43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7C101-15E4-4D70-A114-C89E83A709C8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5371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0737A-30E0-41A2-B461-25A548C91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BE166C-5633-4873-B852-3A4F5546F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9014F-1DFE-4927-921F-4E53CB68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5FDD-93E9-4DED-94FB-E13CBFB13D77}" type="datetime1">
              <a:rPr lang="es-ES" smtClean="0"/>
              <a:t>10/09/2024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D05DA-9B6F-44F8-A333-ABA84FFE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41CCAC-F1C7-439D-A1C6-148B192B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29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16EB7-D1A7-4CEF-B7B0-D69F5E52A25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099EC-4D79-4FBE-A0F3-85058A8B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Haga clic para modificar los estilos de texto del patrón</a:t>
            </a:r>
          </a:p>
          <a:p>
            <a:pPr lvl="1"/>
            <a:r>
              <a:t>Segundo nivel</a:t>
            </a:r>
          </a:p>
          <a:p>
            <a:pPr lvl="2"/>
            <a:r>
              <a:t>Tercer nivel</a:t>
            </a:r>
          </a:p>
          <a:p>
            <a:pPr lvl="3"/>
            <a:r>
              <a:t>Cuarto nivel</a:t>
            </a:r>
          </a:p>
          <a:p>
            <a:pPr lvl="4"/>
            <a:r>
              <a:t>Nivel de Quinto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9089A4-937F-4BD1-809E-44AE307B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566B-D29A-48B5-AE66-02FE67909A5D}" type="datetime1">
              <a:rPr lang="es-ES" smtClean="0"/>
              <a:t>10/09/2024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26FFB-669E-4FEF-AAF4-FCBE8D20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302B3-AB25-45B7-A138-5DD3F6FD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281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BB67B-96F2-4E3B-AD4B-986D490B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A24320-D7DC-4240-B4DF-339532FE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2E11C2-AD04-4ED6-82A4-3FD71B6F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50F2-204D-422E-A62C-8A2A95FE0EA0}" type="datetime1">
              <a:rPr lang="es-ES" smtClean="0"/>
              <a:t>10/09/2024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448CB-E41F-4F50-8E08-202E8756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FAE15-CF45-4AED-8356-CE6C9EE8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93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246AD-7BE6-483F-96A3-541DAD4B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C3E4F-C907-4C22-B083-DDF5EDF27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5065CB-41D1-4202-A34D-7BB99EB7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AE56AF-AE89-4D7B-A003-4931E6EA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192F-D937-48F6-B938-D4FF2285D339}" type="datetime1">
              <a:rPr lang="es-ES" smtClean="0"/>
              <a:t>10/09/2024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7D8F9-491C-4103-A8F2-5F9F0FA5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04D832-55CC-4538-B057-CA9881D9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388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EF558-0175-4BD0-979F-D483F1A0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74E40B-3DF7-44C5-860B-A36DE85FE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06F954-C6D4-4723-8E03-55A1E79F0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871A73-8828-4197-ADC1-0C21128F6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3081A4-0280-4B19-9B06-BA7D80769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340A08-2899-40F7-B8EE-A496CBD8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8F57-2DA1-4DBA-AA33-8D93DD9494F9}" type="datetime1">
              <a:rPr lang="es-ES" smtClean="0"/>
              <a:t>10/09/2024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5E94AC-0958-41A7-A416-28A3791B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A743E3-167E-4DC6-AF9F-963C2A2C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59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C0657-7B1A-442F-A5A8-F68C547D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0B9629-5B37-4C68-BCAF-4F204AD5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AA46-ADD9-4633-900E-54294B546C39}" type="datetime1">
              <a:rPr lang="es-ES" smtClean="0"/>
              <a:t>10/09/2024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496A21-694B-4235-9BDF-7FA776CD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C769F2-5C78-4519-AE94-E67F0F38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25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476251-88E2-4CBD-95F9-95E8112B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AD164-930E-44E1-8AD6-DA81FFB2E87B}" type="datetime1">
              <a:rPr lang="es-ES" smtClean="0"/>
              <a:t>10/09/2024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9AE1B3-12A0-41E5-8708-38E7CDE6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8E5739-F16D-4ED7-934D-15DD6F3F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49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5BC6A-6581-45ED-97B2-665F6CC3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E2A75-C11D-4D21-973A-6BD6B12AB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2970D4-7A79-4101-849B-C52805575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24EC5D-1BA5-4E28-9CF2-850714ED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9943-A7E6-4D67-A3E5-3CC6ADA523F1}" type="datetime1">
              <a:rPr lang="es-ES" smtClean="0"/>
              <a:t>10/09/2024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84FBFE-5582-479B-A6E8-8BD08A0B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81D782-F740-4365-8C21-A299A8B5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0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35E2E-4483-4902-9BE4-8F6FA962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9D67D1-94DE-4CC9-85D5-7FFF8811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44DCF8-D22F-4389-B4E4-967056334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62798B-5681-4C69-BB09-2388DA3C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2756-8293-4ED7-8C53-E15A36E0B819}" type="datetime1">
              <a:rPr lang="es-ES" smtClean="0"/>
              <a:t>10/09/2024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B9532C-97BB-441B-B506-C25F8CF2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D157D7-9A5A-414D-A0CA-96FAE873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9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7A50E-F7F5-4C4D-8B77-79BAEF2E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AFBB6D-17BE-4C49-BCCF-B5C5CFE9F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176D5-891E-44BA-B401-E3A04EAF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88EC-7283-4406-9DFD-E99FA692D75C}" type="datetime1">
              <a:rPr lang="es-ES" smtClean="0"/>
              <a:t>10/09/2024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34A99-FA15-4D15-97E2-3E17E0383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8D24B-343C-4B37-A9F6-33CE51FE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46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F92B8F-BB2D-45E5-A81C-009359D30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9973B1-2492-45DB-BA9B-BD3B59B4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7A9D75-FCEC-47C9-AA6E-4D2F6CFF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9286-D927-4095-B743-3451D71D767F}" type="datetime1">
              <a:rPr lang="es-ES" smtClean="0"/>
              <a:t>10/09/2024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0CC3E-8F0C-4A5B-B192-6F292AE4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C7BE2D-24E9-4481-AEB9-697A2447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17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3CBADE-FD33-4AF1-9F6F-A44E4356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4D713-AFC9-4141-B355-05ABF7893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t>Haga clic para modificar los estilos de texto del patrón</a:t>
            </a:r>
          </a:p>
          <a:p>
            <a:pPr lvl="1"/>
            <a:r>
              <a:t>Segundo nivel</a:t>
            </a:r>
          </a:p>
          <a:p>
            <a:pPr lvl="2"/>
            <a:r>
              <a:t>Tercer nivel</a:t>
            </a:r>
          </a:p>
          <a:p>
            <a:pPr lvl="3"/>
            <a:r>
              <a:t>Cuarto nivel</a:t>
            </a:r>
          </a:p>
          <a:p>
            <a:pPr lvl="4"/>
            <a:r>
              <a:t>Nivel de Quinto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666BF8-72F7-4108-81B8-D74BF52FE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EDC6-F719-4D5C-BB7F-D599F6A812F4}" type="datetime1">
              <a:rPr lang="es-ES" smtClean="0"/>
              <a:t>10/09/2024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F725B7-4457-4323-8704-24025C493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1E65A2-2681-4AF8-8875-39AE9558A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670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ah.es/es/estudios/descarga-de-ficheros/?anio=2024-25&amp;codAsig=780004&amp;codPlan=G58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oyectodescartes.org/iCartesiLibri/materiales_didacticos/IntroduccionEstadisticaProbabilidad/4ESO/Estadistica/1Introduccion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ash.utrng.edu.mx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royectodescartes.org/iCartesiLibri/materiales_didacticos/IntroduccionEstadisticaProbabilidad/3ESO/8ExperimentoAleatorioEspacioMuestral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ilera.web.uah.es/estadistica/discusiones/" TargetMode="External"/><Relationship Id="rId2" Type="http://schemas.openxmlformats.org/officeDocument/2006/relationships/hyperlink" Target="https://elpais.com/ciencia/cafe-y-teoremas/2024-03-27/al-tirar-una-moneda-al-aire-es-mas-probable-que-caiga-del-mismo-lado-del-que-se-lanzo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Desviaci%C3%B3n+est%C3%A1ndar&amp;sca_esv=96aecac85dcc2bdb&amp;rlz=1C1YTUH_esES1052ES1052&amp;biw=1549&amp;bih=681&amp;tbm=nws&amp;sxsrf=ADLYWIJ9aAM_PrlbcYzAedRR6l70DVlgOw%3A1725692587060&amp;ei=q_rbZvyvA6fjxc8PjrDi6Q8&amp;ved=0ahUKEwi8sZLtobCIAxWncfEDHQ6YOP0Q4dUDCA4&amp;uact=5&amp;oq=Desviaci%C3%B3n+est%C3%A1ndar&amp;gs_lp=Egxnd3Mtd2l6LW5ld3MiFURlc3ZpYWNpw7NuIGVzdMOhbmRhcjIFEAAYgAQyBRAAGIAEMgUQABiABDIFEAAYgAQyBRAAGIAEMgUQABiABDIFEAAYgAQyBRAAGIAEMgUQABiABDIFEAAYgARIkxxQwBRYwBRwAHgAkAEAmAFeoAG4AaoBATK4AQPIAQD4AQL4AQGYAgKgAsQBwgINEAAYgAQYsQMYQxiKBcICCBAAGIAEGLEDwgILEAAYgAQYsQMYgwGYAwCIBgGSBwEyoAeDDA&amp;sclient=gws-wiz-news" TargetMode="External"/><Relationship Id="rId3" Type="http://schemas.openxmlformats.org/officeDocument/2006/relationships/hyperlink" Target="https://www.google.com/search?sca_esv=96aecac85dcc2bdb&amp;rlz=1C1YTUH_esES1052ES1052&amp;sxsrf=ADLYWIL88xDa5IOpM5SSjkOnwT4HbIANbw:1725692300868&amp;q=Estad%C3%ADstica&amp;tbm=nws&amp;source=lnms&amp;fbs=AEQNm0CbCVgAZ5mWEJDg6aoPVcBgWizR0-0aFOH11Sb5tlNhdzTfxpAVBoexMFZnKJBpl_OnTFfcge8advfRBIXE7C_RezcKtzzoo30BU_DvyMiKvqR1OqgLBfwUcS3SX0gXr68loB6xwAGagy2ePrV6qVso8O4zie3zJmKSUqhxY0XCWYKMt7U&amp;sa=X&amp;ved=2ahUKEwj9y9bkoLCIAxVvhf0HHRLrFxsQ0pQJegQIFBAB&amp;biw=1549&amp;bih=681&amp;dpr=1.24" TargetMode="External"/><Relationship Id="rId7" Type="http://schemas.openxmlformats.org/officeDocument/2006/relationships/hyperlink" Target="https://www.google.com/search?q=Encuesta&amp;sca_esv=96aecac85dcc2bdb&amp;rlz=1C1YTUH_esES1052ES1052&amp;biw=1549&amp;bih=681&amp;tbm=nws&amp;sxsrf=ADLYWIK3Z49cL7oL5Ji9_jqepUF1W66Ozw%3A1725692561826&amp;ei=kfrbZqbBMfSBxc8P--boqAY&amp;ved=0ahUKEwjmzY3hobCIAxX0QPEDHXszGmUQ4dUDCA4&amp;uact=5&amp;oq=Encuesta&amp;gs_lp=Egxnd3Mtd2l6LW5ld3MiCEVuY3Vlc3RhMggQABiABBixAzIIEAAYgAQYsQMyCBAAGIAEGLEDMggQABiABBixAzIIEAAYgAQYsQMyCBAAGIAEGLEDMggQABiABBixAzILEAAYgAQYsQMYgwEyCxAAGIAEGLEDGIMBMggQABiABBixA0jkB1AAWABwAHgAkAEAmAFYoAFYqgEBMbgBA8gBAPgBAvgBAZgCAaACYZgDAJIHATGgB-gF&amp;sclient=gws-wiz-news" TargetMode="External"/><Relationship Id="rId12" Type="http://schemas.openxmlformats.org/officeDocument/2006/relationships/image" Target="../media/image5.png"/><Relationship Id="rId2" Type="http://schemas.openxmlformats.org/officeDocument/2006/relationships/hyperlink" Target="https://www.google.com/search?q=Probabilidad&amp;sca_esv=96aecac85dcc2bdb&amp;rlz=1C1YTUH_esES1052ES1052&amp;biw=1549&amp;bih=681&amp;tbm=nws&amp;sxsrf=ADLYWIK4MGByMpAwa06WoWD7t9T42hUD7g%3A1725692303183&amp;ei=j_nbZq_vCtWJ9u8PqpyGyQ8&amp;ved=0ahUKEwjv8uPloLCIAxXVhP0HHSqOIfkQ4dUDCA4&amp;uact=5&amp;oq=Probabilidad&amp;gs_lp=Egxnd3Mtd2l6LW5ld3MiDFByb2JhYmlsaWRhZDINEAAYgAQYsQMYQxiKBTIIEAAYgAQYsQMyChAAGIAEGEMYigUyChAAGIAEGEMYigUyChAAGIAEGEMYigUyChAAGIAEGEMYigUyChAAGIAEGEMYigUyChAAGIAEGEMYigUyChAAGIAEGEMYigUyBRAAGIAESJwWUNcOWNcOcAB4AJABAJgBa6ABugGqAQMxLjG4AQPIAQD4AQL4AQGYAgKgAsUBwgIEEAAYA8ICDhAAGIAEGLEDGIMBGIoFwgILEAAYgAQYsQMYgwGYAwCIBgGSBwMxLjGgB4wN&amp;sclient=gws-wiz-new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Porcentaje&amp;sca_esv=96aecac85dcc2bdb&amp;rlz=1C1YTUH_esES1052ES1052&amp;biw=1549&amp;bih=681&amp;tbm=nws&amp;sxsrf=ADLYWIKLOuMgn16kGEFVY_GhK6ICTVxM2g%3A1725692456871&amp;ei=KPrbZt7fNLOA9u8P8tGbuQc&amp;ved=0ahUKEwjek4ivobCIAxUzgP0HHfLoJncQ4dUDCA4&amp;uact=5&amp;oq=Porcentaje&amp;gs_lp=Egxnd3Mtd2l6LW5ld3MiClBvcmNlbnRhamUyDRAAGIAEGLEDGEMYigUyCBAAGIAEGLEDMggQABiABBixAzILEAAYgAQYsQMYgwEyCBAAGIAEGLEDMggQABiABBixAzILEAAYgAQYsQMYigUyDhAAGIAEGLEDGIMBGIoFMgoQABiABBhDGIoFMgUQABiABEiLC1AAWABwAHgAkAEAmAFdoAFdqgEBMbgBA8gBAPgBAvgBAZgCAaACZZgDAJIHAzAuMaAHhwY&amp;sclient=gws-wiz-news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www.google.com/search?q=Promedio&amp;sca_esv=96aecac85dcc2bdb&amp;rlz=1C1YTUH_esES1052ES1052&amp;biw=1549&amp;bih=681&amp;tbm=nws&amp;sxsrf=ADLYWIIOtAEl7m7-FzZZZP3OqYJZ2chnKA%3A1725692352834&amp;ei=wPnbZrPLMvOV9u8P5r-AgQ8&amp;ved=0ahUKEwizq7r9oLCIAxXziv0HHeYfIPAQ4dUDCA4&amp;uact=5&amp;oq=Promedio&amp;gs_lp=Egxnd3Mtd2l6LW5ld3MiCFByb21lZGlvMg0QABiABBixAxhDGIoFMgsQABiABBixAxiDATIKEAAYgAQYQxiKBTIFEAAYgAQyBRAAGIAEMgUQABiABDIFEAAYgAQyBRAAGIAEMgUQABiABDIFEAAYgARItBFQAFjdCHAAeACQAQCYAVGgAc4EqgEBOLgBA8gBAPgBAZgCCKAC7QTCAggQABiABBixA8ICDhAAGIAEGLEDGIMBGIoFwgIEEAAYA8ICEBAAGIAEGLEDGEMYgwEYigWYAwCSBwE4oAeULA&amp;sclient=gws-wiz-news" TargetMode="External"/><Relationship Id="rId10" Type="http://schemas.openxmlformats.org/officeDocument/2006/relationships/hyperlink" Target="https://www.google.com/search?q=Correlaci%C3%B3n&amp;sca_esv=96aecac85dcc2bdb&amp;rlz=1C1YTUH_esES1052ES1052&amp;biw=1549&amp;bih=681&amp;tbm=nws&amp;sxsrf=ADLYWIJ9e8AFiAcUmU8wxInegOnyw_pklw%3A1725692673156&amp;ei=AfvbZsn7CKOExc8PkY_E2Qs&amp;ved=0ahUKEwiJgJmWorCIAxUjQvEDHZEHMbsQ4dUDCA4&amp;uact=5&amp;oq=Correlaci%C3%B3n&amp;gs_lp=Egxnd3Mtd2l6LW5ld3MiDENvcnJlbGFjacOzbjIFEAAYgAQyBRAAGIAEMgUQABiABDIFEAAYgAQyBRAAGIAEMgUQABiABDIFEAAYgAQyBRAAGIAEMgUQABiABDIFEAAYgARItAZQAFgAcAB4AJABAJgBV6ABV6oBATG4AQPIAQD4AQL4AQGYAgGgAl-YAwCSBwExoAewBQ&amp;sclient=gws-wiz-news" TargetMode="External"/><Relationship Id="rId4" Type="http://schemas.openxmlformats.org/officeDocument/2006/relationships/hyperlink" Target="https://www.google.com/search?q=Estad%C3%ADstica+%2B+TIC&amp;sca_esv=96aecac85dcc2bdb&amp;rlz=1C1YTUH_esES1052ES1052&amp;biw=1549&amp;bih=681&amp;tbm=nws&amp;sxsrf=ADLYWIL7IrWUBQ_X-aE2obNgyvhw3hXoVw%3A1725692382107&amp;ei=3vnbZoKhBoGD9u8Pkp6l4QY&amp;ved=0ahUKEwiCiLWLobCIAxWBgf0HHRJPKWwQ4dUDCA4&amp;uact=5&amp;oq=Estad%C3%ADstica+%2B+TIC&amp;gs_lp=Egxnd3Mtd2l6LW5ld3MiEkVzdGFkw61zdGljYSArIFRJQzIGEAAYFhgeMggQABgWGAoYHjIIEAAYFhgKGB4yBhAAGBYYHjIIEAAYgAQYogQyCBAAGIAEGKIESIAlUABYAHAAeACQAQCYAVugAVuqAQExuAEDyAEA-AEC-AEBmAIBoAJimAMAkgcBMaAHkQQ&amp;sclient=gws-wiz-news" TargetMode="External"/><Relationship Id="rId9" Type="http://schemas.openxmlformats.org/officeDocument/2006/relationships/hyperlink" Target="https://www.google.com/search?q=%22Intervalo+de+confianza%22&amp;sca_esv=96aecac85dcc2bdb&amp;rlz=1C1YTUH_esES1052ES1052&amp;biw=1549&amp;bih=681&amp;tbm=nws&amp;sxsrf=ADLYWIJaogfwYqOKNECl0IgdkTwzglbxKw%3A1725692623344&amp;ei=z_rbZpDUFNaCxc8Pyr-zyQM&amp;ved=0ahUKEwjQ97j-obCIAxVWQfEDHcrfLDkQ4dUDCA4&amp;uact=5&amp;oq=%22Intervalo+de+confianza%22&amp;gs_lp=Egxnd3Mtd2l6LW5ld3MiGCJJbnRlcnZhbG8gZGUgY29uZmlhbnphIjIKEAAYgAQYQxiKBTIKEAAYgAQYQxiKBTIKEAAYgAQYQxiKBTIGEAAYBxgeMgoQABiABBhDGIoFMgoQABiABBhDGIoFMgoQABiABBhDGIoFMgoQABiABBhDGIoFMgUQABiABDIGEAAYBxgeSPQqUABYhCNwAHgAkAEAmAF0oAGVAqoBAzIuMbgBA8gBAPgBAvgBAZgCA6ACpAKYAwCSBwMyLjGgB88U&amp;sclient=gws-wiz-new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es/scholar?hl=es&amp;as_sdt=0%2C5&amp;q=Case+of+study&amp;oq=Case+of+study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scholar.google.es/scholar?hl=es&amp;as_sdt=0%2C5&amp;q=Statistical+analysis&amp;btnG=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scholar.google.es/scholar?hl=es&amp;as_sdt=0%2C5&amp;q=Quartile&amp;btnG=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upcommons.upc.edu/handle/2117/7915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es.wikipedia.org/wiki/Paquete_estad%C3%ADstico#:~:text=Un%20paquete%20estad%C3%ADstico%20es%20un,resolver%20problemas%20de%20esta%20%C3%A1rea.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s-educate.com/p/comparison-of-statistical-software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yectodescartes.org/iCartesiLibri/materiales_didacticos/IntroduccionEstadisticaProbabilidad/aux-portada/LibroESO.html" TargetMode="External"/><Relationship Id="rId2" Type="http://schemas.openxmlformats.org/officeDocument/2006/relationships/hyperlink" Target="https://www.boe.es/eli/es/rd/2022/03/29/217/co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yectodescartes.org/iCartesiLibri/materiales_didacticos/EstadisticaProbabilidadInferencia/index.html" TargetMode="External"/><Relationship Id="rId2" Type="http://schemas.openxmlformats.org/officeDocument/2006/relationships/hyperlink" Target="https://www.boe.es/eli/es/rd/2022/04/05/243/con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bibliobuscador.uah.es/permalink/f/d835tr/34UAH_ALMA514691335000421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hilera.web.uah.es/estadistica/discusion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pulse/controversies-statistics-tanya-tand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5024B-BC8C-4A3E-B772-46F315976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Introducción</a:t>
            </a:r>
            <a:endParaRPr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4039B036-2273-FC7C-206B-66C670438F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Asignatura Estadística (código 780004)</a:t>
            </a:r>
          </a:p>
          <a:p>
            <a:r>
              <a:rPr lang="es-ES" dirty="0"/>
              <a:t>Curso 2024/25</a:t>
            </a:r>
            <a:br>
              <a:rPr lang="es-ES" dirty="0"/>
            </a:br>
            <a:r>
              <a:rPr lang="es-ES" dirty="0"/>
              <a:t>Universidad de Alcalá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751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0BF6A-4F76-40F2-AADF-4A9781E2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Contenido</a:t>
            </a:r>
            <a:r>
              <a:rPr lang="es-ES" dirty="0"/>
              <a:t>s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D641DE-CE43-4099-914E-C8A920DB3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Temario de la asignatura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Conceptos básicos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Aplicaciones prácticas de la Estadística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Software estadístico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Estadística en estudios preuniversitarios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Planificación de la asignatura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Libro de texto recomendado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Discusiones sobre Estadística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184F0A-2B41-D9D8-BF21-77971EAE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706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8D74D-BDDF-1C25-911B-86A5190A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Temario de la asignatura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2C495E-D52C-8834-4B07-A00D5887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Está establecido en la </a:t>
            </a:r>
            <a:r>
              <a:rPr lang="es-ES" dirty="0">
                <a:hlinkClick r:id="rId2"/>
              </a:rPr>
              <a:t>Guía docente</a:t>
            </a:r>
            <a:endParaRPr lang="es-ES" dirty="0"/>
          </a:p>
          <a:p>
            <a:pPr lvl="1"/>
            <a:r>
              <a:rPr lang="es-ES" dirty="0"/>
              <a:t>Tema 1. Introducción</a:t>
            </a:r>
          </a:p>
          <a:p>
            <a:pPr lvl="1"/>
            <a:r>
              <a:rPr lang="es-ES" dirty="0"/>
              <a:t>Tema 2. Herramientas de estadística descriptiva</a:t>
            </a:r>
          </a:p>
          <a:p>
            <a:pPr lvl="1"/>
            <a:r>
              <a:rPr lang="es-ES" dirty="0"/>
              <a:t>Tema 3. Variables Aleatorias y Modelos de Distribución de Probabilidad</a:t>
            </a:r>
          </a:p>
          <a:p>
            <a:pPr lvl="1"/>
            <a:r>
              <a:rPr lang="es-ES" dirty="0"/>
              <a:t>Tema 4. Inferencia Estadística</a:t>
            </a:r>
          </a:p>
          <a:p>
            <a:r>
              <a:rPr lang="es-ES" dirty="0"/>
              <a:t>Relación entre temas:</a:t>
            </a:r>
          </a:p>
          <a:p>
            <a:pPr lvl="1"/>
            <a:r>
              <a:rPr lang="es-ES" i="1" dirty="0"/>
              <a:t>La Inferencia estadística (</a:t>
            </a:r>
            <a:r>
              <a:rPr lang="es-ES" b="1" i="1" dirty="0"/>
              <a:t>Tema 4</a:t>
            </a:r>
            <a:r>
              <a:rPr lang="es-ES" i="1" dirty="0"/>
              <a:t>) utiliza la información que se obtiene con las herramientas de estadística descriptiva (</a:t>
            </a:r>
            <a:r>
              <a:rPr lang="es-ES" b="1" i="1" dirty="0"/>
              <a:t>Tema 2</a:t>
            </a:r>
            <a:r>
              <a:rPr lang="es-ES" i="1" dirty="0"/>
              <a:t>) y maneja modelos de distribución de probabilidad de variables aleatorias (</a:t>
            </a:r>
            <a:r>
              <a:rPr lang="es-ES" b="1" i="1" dirty="0"/>
              <a:t>Tema 3</a:t>
            </a:r>
            <a:r>
              <a:rPr lang="es-ES" i="1" dirty="0"/>
              <a:t>) para minimizar el error que se produce al realizar estimaciones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451FA0-398C-1AA8-C03C-622472FA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594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766E6-0591-47A0-956B-6FF7F0EC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Conceptos básicos</a:t>
            </a:r>
            <a:br>
              <a:rPr lang="es-ES" dirty="0"/>
            </a:br>
            <a:r>
              <a:rPr lang="es-ES" dirty="0"/>
              <a:t>Estadística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251FA9-E617-7687-D773-1033E73F2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</a:t>
            </a:r>
            <a:r>
              <a:rPr lang="es-ES" dirty="0">
                <a:hlinkClick r:id="rId2"/>
              </a:rPr>
              <a:t>Estadística</a:t>
            </a:r>
            <a:r>
              <a:rPr lang="es-ES" dirty="0"/>
              <a:t>, en general, es la ciencia que trata de la recopilación, organización presentación, análisis e interpretación de datos que intervienen en un fenómeno</a:t>
            </a:r>
          </a:p>
          <a:p>
            <a:r>
              <a:rPr lang="es-ES" dirty="0"/>
              <a:t>Dentro de la Estadística se distinguen dos ramas fundamentales</a:t>
            </a:r>
          </a:p>
          <a:p>
            <a:pPr lvl="1"/>
            <a:r>
              <a:rPr lang="es-ES" dirty="0"/>
              <a:t>Estadística descriptiva</a:t>
            </a:r>
          </a:p>
          <a:p>
            <a:pPr lvl="2"/>
            <a:r>
              <a:rPr lang="es-ES" dirty="0"/>
              <a:t>Se estudia en el Tema 2 de la asignatura</a:t>
            </a:r>
          </a:p>
          <a:p>
            <a:pPr lvl="1"/>
            <a:r>
              <a:rPr lang="es-ES" dirty="0"/>
              <a:t>Estadística inferencial</a:t>
            </a:r>
          </a:p>
          <a:p>
            <a:pPr lvl="2"/>
            <a:r>
              <a:rPr lang="es-ES" dirty="0"/>
              <a:t>Se estudia en el Tema 4 de la asignatura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621027-0DD9-A48A-B371-2E1013FD4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301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80B78-65BB-2E73-16EC-30D253F9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Conceptos básicos </a:t>
            </a:r>
            <a:br>
              <a:rPr lang="es-ES" dirty="0"/>
            </a:br>
            <a:r>
              <a:rPr lang="es-ES" dirty="0"/>
              <a:t>Estadística descriptiva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70B8B2-6D60-C065-AC94-035593AB9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 estadística descriptiva es la rama de la Estadística que describe un conjunto de datos numéricamente y gráficamente.</a:t>
            </a:r>
          </a:p>
          <a:p>
            <a:pPr lvl="1"/>
            <a:r>
              <a:rPr lang="es-ES" dirty="0"/>
              <a:t>Para ello, se utilizan medidas estadísticas (media, mediana, moda, varianza, desviación estándar, rango, etc.),  </a:t>
            </a:r>
          </a:p>
          <a:p>
            <a:pPr lvl="1"/>
            <a:r>
              <a:rPr lang="es-ES" dirty="0"/>
              <a:t>y gráficos estadísticos (diagrama de barras, histograma, diagrama de sectores, diagrama de dispersión, diagrama de caja o </a:t>
            </a:r>
            <a:r>
              <a:rPr lang="es-ES" dirty="0" err="1"/>
              <a:t>boxplot</a:t>
            </a:r>
            <a:r>
              <a:rPr lang="es-ES" dirty="0"/>
              <a:t>, etc.)</a:t>
            </a:r>
          </a:p>
          <a:p>
            <a:r>
              <a:rPr lang="es-ES" dirty="0"/>
              <a:t>Las medidas estadísticas pueden referirse a:</a:t>
            </a:r>
          </a:p>
          <a:p>
            <a:pPr lvl="1"/>
            <a:r>
              <a:rPr lang="es-ES" dirty="0"/>
              <a:t>Una población: se denominan “parámetros” de la población (media poblacional, varianza poblacional, ...)</a:t>
            </a:r>
          </a:p>
          <a:p>
            <a:pPr lvl="1"/>
            <a:r>
              <a:rPr lang="es-ES" dirty="0"/>
              <a:t>Una muestra de una población: se denominan estadísticos de la muestra (media muestral, varianza muestral, …)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F0A711-71C5-BF5C-A227-A4D0EB2E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649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80B78-65BB-2E73-16EC-30D253F9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Conceptos básicos </a:t>
            </a:r>
            <a:br>
              <a:rPr lang="es-ES" dirty="0"/>
            </a:br>
            <a:r>
              <a:rPr lang="es-ES" dirty="0"/>
              <a:t>Estadística inferencial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70B8B2-6D60-C065-AC94-035593AB9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estadística inferencial es la rama de la Estadística que se dedica a generar modelos y predicciones teniendo en cuenta los resultados observados</a:t>
            </a:r>
          </a:p>
          <a:p>
            <a:pPr lvl="1"/>
            <a:r>
              <a:rPr lang="es-ES" dirty="0"/>
              <a:t>Por ejemplo, con la estadística inferencial se pueden hacer estimaciones, pruebas de hipótesis, análisis de regresión y estudiar la correlación entre diferentes variables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F0A711-71C5-BF5C-A227-A4D0EB2E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7327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FA57E-F0FD-7527-253F-78AE5311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 Conceptos básicos </a:t>
            </a:r>
            <a:br>
              <a:rPr lang="es-ES" dirty="0"/>
            </a:br>
            <a:r>
              <a:rPr lang="es-ES" dirty="0"/>
              <a:t>Relación entre estadística descriptiva e inferencial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B43A9B-413F-C1B1-B58D-4734F4517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58666" cy="4351338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En estadística inferencial se realiza inferencia estadística, que consiste en estimar (inferir) las propiedades de una población (personas, cosas, ..) a partir de una parte o muestra de la misma.</a:t>
            </a:r>
          </a:p>
          <a:p>
            <a:r>
              <a:rPr lang="es-ES" dirty="0"/>
              <a:t>La </a:t>
            </a:r>
            <a:r>
              <a:rPr lang="es-ES" b="1" dirty="0"/>
              <a:t>estadística inferencial </a:t>
            </a:r>
            <a:r>
              <a:rPr lang="es-ES" dirty="0"/>
              <a:t>utiliza la información sobre la muestra que se obtiene aplicando técnicas de </a:t>
            </a:r>
            <a:r>
              <a:rPr lang="es-ES" b="1" dirty="0"/>
              <a:t>estadística descriptiva</a:t>
            </a:r>
            <a:r>
              <a:rPr lang="es-ES" dirty="0"/>
              <a:t>.</a:t>
            </a:r>
          </a:p>
          <a:p>
            <a:r>
              <a:rPr lang="es-ES" dirty="0"/>
              <a:t>En </a:t>
            </a:r>
            <a:r>
              <a:rPr lang="es-ES" b="1" dirty="0"/>
              <a:t>estadística inferencial </a:t>
            </a:r>
            <a:r>
              <a:rPr lang="es-ES" dirty="0"/>
              <a:t>se trabaja con incertidumbre al no disponer de todos los datos de la población, por lo que se manejan distribuciones de </a:t>
            </a:r>
            <a:r>
              <a:rPr lang="es-ES" b="1" dirty="0"/>
              <a:t>probabilidad</a:t>
            </a:r>
            <a:r>
              <a:rPr lang="es-ES" dirty="0"/>
              <a:t> para minimizar el error que se produce al realizar una estimación.</a:t>
            </a:r>
          </a:p>
          <a:p>
            <a:r>
              <a:rPr lang="es-ES" dirty="0"/>
              <a:t>NOTA: Las distribuciones de probabilidad se estudian en el tema 3 de la asignatura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1A600D-EDAD-DD7B-B432-80563628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7</a:t>
            </a:fld>
            <a:endParaRPr lang="es-E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3ECE97-A0F5-0DD8-4BF1-77081B62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347" y="1870075"/>
            <a:ext cx="4813262" cy="346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754D0D8-74E3-650E-593E-29E360954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692178" y="5430817"/>
            <a:ext cx="22603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i="1" dirty="0"/>
              <a:t>Fuente: </a:t>
            </a:r>
            <a:r>
              <a:rPr lang="es-ES" sz="1200" i="1" dirty="0">
                <a:hlinkClick r:id="rId3"/>
              </a:rPr>
              <a:t>http://lash.utrng.edu.mx</a:t>
            </a:r>
            <a:r>
              <a:rPr lang="es-ES" sz="1200" i="1" dirty="0"/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AF4DE5B-347F-132D-0D04-6C4491F68ABD}"/>
              </a:ext>
            </a:extLst>
          </p:cNvPr>
          <p:cNvSpPr txBox="1"/>
          <p:nvPr/>
        </p:nvSpPr>
        <p:spPr>
          <a:xfrm>
            <a:off x="9496778" y="3862794"/>
            <a:ext cx="970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Probabilidad</a:t>
            </a:r>
          </a:p>
        </p:txBody>
      </p:sp>
    </p:spTree>
    <p:extLst>
      <p:ext uri="{BB962C8B-B14F-4D97-AF65-F5344CB8AC3E}">
        <p14:creationId xmlns:p14="http://schemas.microsoft.com/office/powerpoint/2010/main" val="62755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5E914-D6E9-9684-D002-361E5606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Conceptos básicos </a:t>
            </a:r>
            <a:br>
              <a:rPr lang="es-ES" dirty="0"/>
            </a:br>
            <a:r>
              <a:rPr lang="es-ES" dirty="0"/>
              <a:t>Teoría de la probabilidad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551818-2401-D48B-F108-C9E88AB7A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 Teoría de la probabilidad es la rama de las Matemáticas que estudia los experimentos o fenómenos aleatorios</a:t>
            </a:r>
          </a:p>
          <a:p>
            <a:pPr lvl="1"/>
            <a:r>
              <a:rPr lang="es-ES" dirty="0">
                <a:hlinkClick r:id="rId2"/>
              </a:rPr>
              <a:t>Experimento aleatorio</a:t>
            </a:r>
            <a:r>
              <a:rPr lang="es-ES" dirty="0"/>
              <a:t> es aquel en el que existe incertidumbre sobre el resultado que se obtendrá </a:t>
            </a:r>
          </a:p>
          <a:p>
            <a:pPr lvl="2"/>
            <a:r>
              <a:rPr lang="es-ES" dirty="0"/>
              <a:t>Si lo repetimos con las mismas condiciones iniciales no garantiza los mismos resultados.</a:t>
            </a:r>
          </a:p>
          <a:p>
            <a:pPr lvl="2"/>
            <a:r>
              <a:rPr lang="es-ES" dirty="0"/>
              <a:t>Ejemplos: Lanzamiento de un dado, lanzamiento de una moneda, extracción de una carta de una baraja</a:t>
            </a:r>
          </a:p>
          <a:p>
            <a:pPr lvl="1"/>
            <a:r>
              <a:rPr lang="es-ES" dirty="0">
                <a:hlinkClick r:id="rId2"/>
              </a:rPr>
              <a:t>Experimento determinista</a:t>
            </a:r>
            <a:r>
              <a:rPr lang="es-ES" dirty="0"/>
              <a:t> es aquel en el que si se repiten las mismas condiciones iniciales se garantiza el mismo resultado</a:t>
            </a:r>
          </a:p>
          <a:p>
            <a:pPr lvl="2"/>
            <a:r>
              <a:rPr lang="es-ES" dirty="0"/>
              <a:t>Ejemplos:  Calcular el espacio que recorre un objeto que circula a una velocidad constante durante un determinado tiempo, calcular la puntuación de un examen con ninguna respuesta correcta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589389-3978-D0CF-687F-8F7865DC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765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F3B04-9C67-7F3D-9A72-86A0C058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Conceptos básicos </a:t>
            </a:r>
            <a:br>
              <a:rPr lang="es-ES" dirty="0"/>
            </a:br>
            <a:r>
              <a:rPr lang="es-ES" dirty="0"/>
              <a:t>Probabilidad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/>
                  <a:t>La probabilidad es una medida de la certidumbre de que ocurra un suceso en un experimento aleatorio </a:t>
                </a:r>
              </a:p>
              <a:p>
                <a:pPr lvl="1"/>
                <a:r>
                  <a:rPr lang="es-ES" dirty="0"/>
                  <a:t>Su valor es un número entre 0 y 1, donde un suceso imposible corresponde a cero y uno seguro corresponde a uno</a:t>
                </a:r>
              </a:p>
              <a:p>
                <a:pPr lvl="1"/>
                <a:r>
                  <a:rPr lang="es-ES" dirty="0"/>
                  <a:t>Ejemplo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𝑂𝑏𝑡𝑒𝑛𝑒𝑟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𝑐𝑎𝑟𝑎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𝑙𝑎𝑛𝑧𝑎𝑟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𝑢𝑛𝑎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𝑚𝑜𝑛𝑒𝑑𝑎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=0.50</m:t>
                    </m:r>
                  </m:oMath>
                </a14:m>
                <a:endParaRPr lang="es-ES" dirty="0"/>
              </a:p>
              <a:p>
                <a:pPr lvl="1"/>
                <a:r>
                  <a:rPr lang="es-ES" dirty="0"/>
                  <a:t>Se puede expresar en porcentaje</a:t>
                </a:r>
              </a:p>
              <a:p>
                <a:pPr lvl="2"/>
                <a:r>
                  <a:rPr lang="es-ES" dirty="0"/>
                  <a:t>Ejemplo: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=0.50 →50%</m:t>
                    </m:r>
                  </m:oMath>
                </a14:m>
                <a:endParaRPr lang="es-ES" dirty="0">
                  <a:sym typeface="Wingdings" panose="05000000000000000000" pitchFamily="2" charset="2"/>
                </a:endParaRPr>
              </a:p>
              <a:p>
                <a:pPr lvl="2"/>
                <a:r>
                  <a:rPr lang="es-ES" dirty="0">
                    <a:sym typeface="Wingdings" panose="05000000000000000000" pitchFamily="2" charset="2"/>
                  </a:rPr>
                  <a:t>Significa que de cada 100 veces que se repita el experimento, lo previsible es que ocurra 50 veces el suceso obtener cara</a:t>
                </a:r>
              </a:p>
              <a:p>
                <a:pPr lvl="2"/>
                <a:r>
                  <a:rPr lang="es-ES" dirty="0">
                    <a:sym typeface="Wingdings" panose="05000000000000000000" pitchFamily="2" charset="2"/>
                  </a:rPr>
                  <a:t>… </a:t>
                </a:r>
                <a:r>
                  <a:rPr lang="es-ES" i="1" dirty="0">
                    <a:sym typeface="Wingdings" panose="05000000000000000000" pitchFamily="2" charset="2"/>
                    <a:hlinkClick r:id="rId2"/>
                  </a:rPr>
                  <a:t>¿Seguro que es el 50%?</a:t>
                </a:r>
                <a:r>
                  <a:rPr lang="es-ES" i="1" dirty="0">
                    <a:sym typeface="Wingdings" panose="05000000000000000000" pitchFamily="2" charset="2"/>
                  </a:rPr>
                  <a:t>   En el campo de la Estadística hay </a:t>
                </a:r>
                <a:r>
                  <a:rPr lang="es-ES" i="1" dirty="0">
                    <a:sym typeface="Wingdings" panose="05000000000000000000" pitchFamily="2" charset="2"/>
                    <a:hlinkClick r:id="rId3"/>
                  </a:rPr>
                  <a:t>diferentes enfoques</a:t>
                </a:r>
                <a:endParaRPr lang="es-ES" i="1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 r="-11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63DF0B-09C7-9A74-9E51-0E52F90D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7674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F3B04-9C67-7F3D-9A72-86A0C058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 Conceptos básicos </a:t>
            </a:r>
            <a:br>
              <a:rPr lang="es-ES" dirty="0"/>
            </a:br>
            <a:r>
              <a:rPr lang="es-ES" dirty="0"/>
              <a:t>Variable aleatoria y distribución de probabilidad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Una variable aleatoria es un valor numérico asociado al resultado de un experimento aleatorio</a:t>
                </a:r>
              </a:p>
              <a:p>
                <a:pPr lvl="1"/>
                <a:r>
                  <a:rPr lang="es-ES" dirty="0"/>
                  <a:t>Ejemplo: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ú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𝑚𝑒𝑟𝑜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𝑐𝑎𝑟𝑎𝑠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𝑞𝑢𝑒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𝑜𝑏𝑡𝑖𝑒𝑛𝑒𝑛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𝑙𝑎𝑛𝑧𝑎𝑟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𝑢𝑛𝑎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𝑚𝑜𝑛𝑒𝑑𝑎</m:t>
                    </m:r>
                  </m:oMath>
                </a14:m>
                <a:endParaRPr lang="es-ES" dirty="0"/>
              </a:p>
              <a:p>
                <a:r>
                  <a:rPr lang="es-ES" dirty="0"/>
                  <a:t>Una variable aleatoria tiene asociada una distribución de probabilidad</a:t>
                </a:r>
              </a:p>
              <a:p>
                <a:r>
                  <a:rPr lang="es-ES" dirty="0"/>
                  <a:t>La distribución de probabilidad de una variable aleatoria es la colección de todas las probabilidades relacionadas con dicha variable</a:t>
                </a:r>
              </a:p>
              <a:p>
                <a:pPr lvl="1"/>
                <a:r>
                  <a:rPr lang="es-ES" dirty="0"/>
                  <a:t>Ejemplo: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𝐷𝑖𝑠𝑡𝑟𝑖𝑏𝑢𝑐𝑖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ó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𝑝𝑟𝑜𝑏𝑎𝑏𝑖𝑙𝑖𝑑𝑎𝑑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s-ES" b="0" dirty="0"/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s-ES" b="0" dirty="0"/>
              </a:p>
              <a:p>
                <a:pPr lvl="1"/>
                <a:r>
                  <a:rPr lang="es-ES" dirty="0"/>
                  <a:t>La suma de todas las probabilidades de una distribución de probabilidad es 1</a:t>
                </a:r>
              </a:p>
              <a:p>
                <a:pPr lvl="1"/>
                <a:endParaRPr lang="es-E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5405715-08D2-3843-82D6-2626F5F133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75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63DF0B-09C7-9A74-9E51-0E52F90D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7100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18E87-8D66-AC97-35DA-C8298934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Aplicaciones prácticas de la estadística</a:t>
            </a:r>
            <a:br>
              <a:rPr lang="es-ES" dirty="0"/>
            </a:br>
            <a:r>
              <a:rPr lang="es-ES" dirty="0"/>
              <a:t> Noticias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627869-7095-189D-7E83-B74FEC775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pueden encontrar buscando noticias en Google con términos como</a:t>
            </a:r>
          </a:p>
          <a:p>
            <a:pPr lvl="1"/>
            <a:r>
              <a:rPr lang="es-ES" dirty="0">
                <a:hlinkClick r:id="rId2"/>
              </a:rPr>
              <a:t>Probabilidad</a:t>
            </a:r>
            <a:endParaRPr lang="es-ES" dirty="0"/>
          </a:p>
          <a:p>
            <a:pPr lvl="1"/>
            <a:r>
              <a:rPr lang="es-ES" dirty="0">
                <a:hlinkClick r:id="rId3"/>
              </a:rPr>
              <a:t>Estadísitica</a:t>
            </a:r>
            <a:endParaRPr lang="es-ES" dirty="0"/>
          </a:p>
          <a:p>
            <a:pPr lvl="1"/>
            <a:r>
              <a:rPr lang="es-ES" dirty="0">
                <a:hlinkClick r:id="rId4"/>
              </a:rPr>
              <a:t>Estadística + TIC</a:t>
            </a:r>
            <a:endParaRPr lang="es-ES" dirty="0"/>
          </a:p>
          <a:p>
            <a:pPr lvl="1"/>
            <a:r>
              <a:rPr lang="es-ES" dirty="0">
                <a:hlinkClick r:id="rId5"/>
              </a:rPr>
              <a:t>Promedio</a:t>
            </a:r>
            <a:endParaRPr lang="es-ES" dirty="0"/>
          </a:p>
          <a:p>
            <a:pPr lvl="1"/>
            <a:r>
              <a:rPr lang="es-ES" dirty="0">
                <a:hlinkClick r:id="rId6"/>
              </a:rPr>
              <a:t>Porcentaje</a:t>
            </a:r>
            <a:endParaRPr lang="es-ES" dirty="0"/>
          </a:p>
          <a:p>
            <a:pPr lvl="1"/>
            <a:r>
              <a:rPr lang="es-ES" dirty="0">
                <a:hlinkClick r:id="rId7"/>
              </a:rPr>
              <a:t>Encuesta</a:t>
            </a:r>
            <a:endParaRPr lang="es-ES" dirty="0"/>
          </a:p>
          <a:p>
            <a:pPr lvl="1"/>
            <a:r>
              <a:rPr lang="es-ES" dirty="0">
                <a:hlinkClick r:id="rId8"/>
              </a:rPr>
              <a:t>Desviación estándar</a:t>
            </a:r>
            <a:endParaRPr lang="es-ES" dirty="0"/>
          </a:p>
          <a:p>
            <a:pPr lvl="1"/>
            <a:r>
              <a:rPr lang="es-ES" dirty="0">
                <a:hlinkClick r:id="rId9"/>
              </a:rPr>
              <a:t>Intervalo de confianza</a:t>
            </a:r>
            <a:r>
              <a:rPr lang="es-ES" dirty="0"/>
              <a:t> </a:t>
            </a:r>
          </a:p>
          <a:p>
            <a:pPr lvl="1"/>
            <a:r>
              <a:rPr lang="es-ES" dirty="0">
                <a:hlinkClick r:id="rId10"/>
              </a:rPr>
              <a:t>Correlación</a:t>
            </a:r>
            <a:endParaRPr lang="es-ES" dirty="0"/>
          </a:p>
          <a:p>
            <a:pPr marL="457200" lvl="1" indent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4BCB8C-1984-92FE-59DA-F3499190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11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E0171A2-39B9-8AD4-C9D4-B9ED51A4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79920" y="4001294"/>
            <a:ext cx="5673880" cy="13119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AC84BBB-988D-B32B-7C28-C6E179298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79920" y="2561379"/>
            <a:ext cx="5673880" cy="11251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387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18E87-8D66-AC97-35DA-C8298934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Aplicaciones prácticas de la estadística</a:t>
            </a:r>
            <a:br>
              <a:rPr lang="es-ES" dirty="0"/>
            </a:br>
            <a:r>
              <a:rPr lang="es-ES" dirty="0"/>
              <a:t>Artículos científicos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627869-7095-189D-7E83-B74FEC775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pueden encontrar buscando artículos en Google Académico con términos como</a:t>
            </a:r>
          </a:p>
          <a:p>
            <a:pPr lvl="1"/>
            <a:r>
              <a:rPr lang="es-ES" dirty="0" err="1">
                <a:hlinkClick r:id="rId2"/>
              </a:rPr>
              <a:t>Statistical</a:t>
            </a:r>
            <a:r>
              <a:rPr lang="es-ES" dirty="0">
                <a:hlinkClick r:id="rId2"/>
              </a:rPr>
              <a:t> </a:t>
            </a:r>
            <a:r>
              <a:rPr lang="es-ES" dirty="0" err="1">
                <a:hlinkClick r:id="rId2"/>
              </a:rPr>
              <a:t>analysis</a:t>
            </a:r>
            <a:endParaRPr lang="es-ES" dirty="0"/>
          </a:p>
          <a:p>
            <a:pPr lvl="1"/>
            <a:r>
              <a:rPr lang="es-ES" dirty="0">
                <a:hlinkClick r:id="rId3"/>
              </a:rPr>
              <a:t>Case of </a:t>
            </a:r>
            <a:r>
              <a:rPr lang="es-ES" dirty="0" err="1">
                <a:hlinkClick r:id="rId3"/>
              </a:rPr>
              <a:t>study</a:t>
            </a:r>
            <a:endParaRPr lang="es-ES" dirty="0"/>
          </a:p>
          <a:p>
            <a:pPr lvl="1"/>
            <a:r>
              <a:rPr lang="es-ES" dirty="0">
                <a:hlinkClick r:id="rId4"/>
              </a:rPr>
              <a:t>Quartile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4BCB8C-1984-92FE-59DA-F3499190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12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99E9AC1-9B85-671E-3B68-4B4EEFBEE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568" y="2486112"/>
            <a:ext cx="3752217" cy="17174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183A015-AFDC-100C-F423-A786804ED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9492" y="4450577"/>
            <a:ext cx="3579538" cy="19057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FF035D1-5AF0-AC08-98A1-66EA095A2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568" y="4495424"/>
            <a:ext cx="3752217" cy="18609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3360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18E87-8D66-AC97-35DA-C8298934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Aplicaciones prácticas de la estadística</a:t>
            </a:r>
            <a:br>
              <a:rPr lang="es-ES" dirty="0"/>
            </a:br>
            <a:r>
              <a:rPr lang="es-ES" dirty="0"/>
              <a:t>Trabajos Fin de Grado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627869-7095-189D-7E83-B74FEC775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12980" cy="4351338"/>
          </a:xfrm>
        </p:spPr>
        <p:txBody>
          <a:bodyPr/>
          <a:lstStyle/>
          <a:p>
            <a:r>
              <a:rPr lang="es-ES" dirty="0">
                <a:hlinkClick r:id="rId2"/>
              </a:rPr>
              <a:t>Estadística en acción: qué es y para qué sirve la estadística a través de casos prácticos basados en proyectos final de carrera</a:t>
            </a:r>
            <a:r>
              <a:rPr lang="es-ES" dirty="0"/>
              <a:t>. Grima, P. (ed.). </a:t>
            </a:r>
            <a:r>
              <a:rPr lang="es-ES" dirty="0" err="1"/>
              <a:t>Universitat</a:t>
            </a:r>
            <a:r>
              <a:rPr lang="es-ES" dirty="0"/>
              <a:t> </a:t>
            </a:r>
            <a:r>
              <a:rPr lang="es-ES" dirty="0" err="1"/>
              <a:t>Politècnica</a:t>
            </a:r>
            <a:r>
              <a:rPr lang="es-ES" dirty="0"/>
              <a:t> de Catalunya.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4BCB8C-1984-92FE-59DA-F3499190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13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0B13BA3-3F59-9691-A57F-4FD59980F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277" y="1847850"/>
            <a:ext cx="26369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516DF-37F1-1839-5E4D-D886C3E0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Software estadístico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C4E0AA-E89E-7B0E-2662-51C36967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79127" cy="4351338"/>
          </a:xfrm>
        </p:spPr>
        <p:txBody>
          <a:bodyPr/>
          <a:lstStyle/>
          <a:p>
            <a:r>
              <a:rPr lang="es-ES" dirty="0"/>
              <a:t>Un </a:t>
            </a:r>
            <a:r>
              <a:rPr lang="es-ES" dirty="0">
                <a:hlinkClick r:id="rId2"/>
              </a:rPr>
              <a:t>software o paquete estadístico</a:t>
            </a:r>
            <a:r>
              <a:rPr lang="es-ES" dirty="0"/>
              <a:t> es un programa informático que está especialmente diseñado para resolver problemas en el área de la estadística</a:t>
            </a:r>
          </a:p>
          <a:p>
            <a:r>
              <a:rPr lang="es-ES" dirty="0"/>
              <a:t>Ejemplos</a:t>
            </a:r>
          </a:p>
          <a:p>
            <a:pPr lvl="1"/>
            <a:r>
              <a:rPr lang="es-ES" dirty="0"/>
              <a:t>R, SPSS, SAS, Stata, </a:t>
            </a:r>
            <a:r>
              <a:rPr lang="es-ES" dirty="0" err="1"/>
              <a:t>Statgraphics</a:t>
            </a:r>
            <a:r>
              <a:rPr lang="es-ES" dirty="0"/>
              <a:t>, Minitab, Excel, etc.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2583D2-095F-F6AF-5A8A-D172E107E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14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DCED278-2A0A-E280-EB33-69891D8D1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556" y="2075733"/>
            <a:ext cx="7373215" cy="385112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99D61DC-1942-51C0-FBC3-9057BDF60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374675" y="6079351"/>
            <a:ext cx="1719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Fuente: </a:t>
            </a:r>
            <a:r>
              <a:rPr lang="es-ES" sz="1200" dirty="0">
                <a:hlinkClick r:id="rId4"/>
              </a:rPr>
              <a:t>lis-educate.com</a:t>
            </a:r>
            <a:endParaRPr lang="es-ES" sz="120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6CE8BC6-591D-0C3E-3A63-E4CDD830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8361" y="3189249"/>
            <a:ext cx="1170878" cy="34568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5835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8FE0-F58F-F32F-7E34-A5B2C8C1D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Estadística en estudios preuniversitario</a:t>
            </a:r>
            <a:br>
              <a:rPr lang="es-ES" dirty="0"/>
            </a:br>
            <a:r>
              <a:rPr lang="es-ES" dirty="0"/>
              <a:t>Enseñanza Secundaria Obligatoria (ESO)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465898-807F-9270-0FC7-495DF303E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62500" lnSpcReduction="20000"/>
          </a:bodyPr>
          <a:lstStyle/>
          <a:p>
            <a:r>
              <a:rPr lang="es-ES" dirty="0"/>
              <a:t>Enseñanza Secundaria Obligatoria: </a:t>
            </a:r>
            <a:r>
              <a:rPr lang="es-ES" dirty="0">
                <a:hlinkClick r:id="rId2"/>
              </a:rPr>
              <a:t>Contenidos obligatorios</a:t>
            </a:r>
            <a:r>
              <a:rPr lang="es-ES" dirty="0"/>
              <a:t>, </a:t>
            </a:r>
            <a:r>
              <a:rPr lang="es-ES" dirty="0">
                <a:hlinkClick r:id="rId3"/>
              </a:rPr>
              <a:t>Recursos didácticos</a:t>
            </a:r>
            <a:endParaRPr lang="es-ES" dirty="0"/>
          </a:p>
          <a:p>
            <a:r>
              <a:rPr lang="es-ES" dirty="0"/>
              <a:t>Probabilidad</a:t>
            </a:r>
          </a:p>
          <a:p>
            <a:pPr lvl="1"/>
            <a:r>
              <a:rPr lang="es-ES" dirty="0"/>
              <a:t>Fenómenos deterministas y aleatorios. Aproximación a la probabilidad, asignación de probabilidades mediante experimentación: frecuencias relativas. </a:t>
            </a:r>
          </a:p>
          <a:p>
            <a:pPr lvl="1"/>
            <a:r>
              <a:rPr lang="es-ES" dirty="0"/>
              <a:t>Regla de Laplace y técnicas de recuento en experimentos simples y compuestos.</a:t>
            </a:r>
          </a:p>
          <a:p>
            <a:r>
              <a:rPr lang="es-ES" dirty="0"/>
              <a:t>Estadística descriptiva</a:t>
            </a:r>
          </a:p>
          <a:p>
            <a:pPr lvl="1"/>
            <a:r>
              <a:rPr lang="es-ES" dirty="0"/>
              <a:t>Estrategias de recogida y organización de datos de situaciones de la vida cotidiana que involucran una y dos variables estadísticas. Tablas de contingencia.</a:t>
            </a:r>
          </a:p>
          <a:p>
            <a:pPr lvl="1"/>
            <a:r>
              <a:rPr lang="es-ES" dirty="0"/>
              <a:t>Representación, análisis e interpretación de tablas y gráficos estadísticos de variables estadísticas cualitativas, cuantitativas discretas y cuantitativas continuas.</a:t>
            </a:r>
          </a:p>
          <a:p>
            <a:pPr lvl="1"/>
            <a:r>
              <a:rPr lang="es-ES" dirty="0"/>
              <a:t>Medidas de localización y dispersión: interpretación y análisis de la variabilidad, comparación en dos conjuntos de datos.</a:t>
            </a:r>
          </a:p>
          <a:p>
            <a:pPr lvl="1"/>
            <a:r>
              <a:rPr lang="es-ES" dirty="0"/>
              <a:t>Interpretación de la relación entre dos variables estadísticas, valorando gráficamente con herramientas tecnológicas la pertinencia de realizar una regresión lineal.</a:t>
            </a:r>
          </a:p>
          <a:p>
            <a:r>
              <a:rPr lang="es-ES" dirty="0"/>
              <a:t>Estadística inferencial</a:t>
            </a:r>
          </a:p>
          <a:p>
            <a:pPr lvl="1"/>
            <a:r>
              <a:rPr lang="es-ES" dirty="0"/>
              <a:t>Diferentes etapas del diseño de estudios estadísticos.</a:t>
            </a:r>
          </a:p>
          <a:p>
            <a:pPr lvl="1"/>
            <a:r>
              <a:rPr lang="es-ES" dirty="0"/>
              <a:t>Formulación de preguntas adecuadas que permitan conocer las características de interés de una población.</a:t>
            </a:r>
          </a:p>
          <a:p>
            <a:pPr lvl="1"/>
            <a:r>
              <a:rPr lang="es-ES" dirty="0"/>
              <a:t>Datos relevantes para dar respuesta a cuestiones planteadas en investigaciones estadísticas: presentación de la información procedente de una muestra mediante herramientas digitales.</a:t>
            </a:r>
          </a:p>
          <a:p>
            <a:pPr lvl="1"/>
            <a:r>
              <a:rPr lang="es-ES" dirty="0"/>
              <a:t>Estrategias de deducción de conclusiones a partir de una muestra con el fin de emitir juicios y tomar decisiones adecuadas.</a:t>
            </a:r>
          </a:p>
          <a:p>
            <a:pPr lvl="1"/>
            <a:r>
              <a:rPr lang="es-ES" dirty="0"/>
              <a:t>Estrategias y herramientas de presentación e interpretación de datos relevantes en investigaciones estadísticas mediante herramientas digitales adecuadas.</a:t>
            </a:r>
          </a:p>
          <a:p>
            <a:pPr lvl="1"/>
            <a:r>
              <a:rPr lang="es-ES" dirty="0"/>
              <a:t>Análisis del alcance de las conclusiones de un estudio estadístico valorando la representatividad de la muestra.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0420D4-D738-2B8A-AF46-FBA4CCA4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549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8FE0-F58F-F32F-7E34-A5B2C8C1D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Estadística en estudios preuniversitarios</a:t>
            </a:r>
            <a:br>
              <a:rPr lang="es-ES" dirty="0"/>
            </a:br>
            <a:r>
              <a:rPr lang="es-ES" dirty="0"/>
              <a:t>Bachillerato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465898-807F-9270-0FC7-495DF303E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dirty="0"/>
              <a:t>Bachillerato: </a:t>
            </a:r>
            <a:r>
              <a:rPr lang="es-ES" dirty="0">
                <a:hlinkClick r:id="rId2"/>
              </a:rPr>
              <a:t>Contenidos</a:t>
            </a:r>
            <a:r>
              <a:rPr lang="es-ES" dirty="0"/>
              <a:t>, </a:t>
            </a:r>
            <a:r>
              <a:rPr lang="es-ES" dirty="0">
                <a:hlinkClick r:id="rId3"/>
              </a:rPr>
              <a:t>Recursos didácticos</a:t>
            </a:r>
            <a:endParaRPr lang="es-ES" dirty="0"/>
          </a:p>
          <a:p>
            <a:r>
              <a:rPr lang="es-ES" dirty="0"/>
              <a:t>Probabilidad</a:t>
            </a:r>
          </a:p>
          <a:p>
            <a:pPr lvl="1"/>
            <a:r>
              <a:rPr lang="es-ES" dirty="0"/>
              <a:t>La probabilidad como medida de la incertidumbre asociada a fenómenos aleatorios.</a:t>
            </a:r>
          </a:p>
          <a:p>
            <a:pPr lvl="1"/>
            <a:r>
              <a:rPr lang="es-ES" dirty="0"/>
              <a:t>Cálculo de probabilidades asociadas mediante herramientas tecnológicas: aplicación a la resolución de problemas.</a:t>
            </a:r>
          </a:p>
          <a:p>
            <a:pPr lvl="1"/>
            <a:r>
              <a:rPr lang="es-ES" dirty="0"/>
              <a:t>Teoremas de la probabilidad total y de Bayes.</a:t>
            </a:r>
          </a:p>
          <a:p>
            <a:pPr lvl="1"/>
            <a:r>
              <a:rPr lang="es-ES" dirty="0"/>
              <a:t>Variables aleatorias discretas y continuas. </a:t>
            </a:r>
          </a:p>
          <a:p>
            <a:pPr lvl="1"/>
            <a:r>
              <a:rPr lang="es-ES" dirty="0"/>
              <a:t>Distribuciones de probabilidad uniforme, binomial y normal. </a:t>
            </a:r>
          </a:p>
          <a:p>
            <a:pPr lvl="1"/>
            <a:r>
              <a:rPr lang="es-ES" dirty="0"/>
              <a:t>Estimación de probabilidades mediante la aproximación de la binomial por la normal.</a:t>
            </a:r>
          </a:p>
          <a:p>
            <a:r>
              <a:rPr lang="es-ES" dirty="0"/>
              <a:t>Estadística descriptiva</a:t>
            </a:r>
          </a:p>
          <a:p>
            <a:pPr lvl="1"/>
            <a:r>
              <a:rPr lang="es-ES" dirty="0"/>
              <a:t>Organización de los datos procedentes de variables bidimensionales: distribución conjunta y distribuciones marginales y condicionadas. Análisis de la dependencia estadística.</a:t>
            </a:r>
          </a:p>
          <a:p>
            <a:pPr lvl="1"/>
            <a:r>
              <a:rPr lang="es-ES" dirty="0"/>
              <a:t>Estudio de la relación entre dos variables mediante la regresión lineal y cuadrática: valoración gráfica de la pertinencia del ajuste. Diferencia entre correlación y causalidad.</a:t>
            </a:r>
          </a:p>
          <a:p>
            <a:pPr lvl="1"/>
            <a:r>
              <a:rPr lang="es-ES" dirty="0"/>
              <a:t>Coeficientes de correlación lineal y de determinación: cuantificación de la relación lineal, predicción y valoración de su fiabilidad.</a:t>
            </a:r>
          </a:p>
          <a:p>
            <a:r>
              <a:rPr lang="es-ES" dirty="0"/>
              <a:t>Estadística inferencial</a:t>
            </a:r>
          </a:p>
          <a:p>
            <a:pPr lvl="1"/>
            <a:r>
              <a:rPr lang="es-ES" dirty="0"/>
              <a:t>Diseño de estudios estadísticos. </a:t>
            </a:r>
          </a:p>
          <a:p>
            <a:pPr lvl="1"/>
            <a:r>
              <a:rPr lang="es-ES" dirty="0"/>
              <a:t>Selección de muestras representativas. Técnicas de muestreo. </a:t>
            </a:r>
          </a:p>
          <a:p>
            <a:pPr lvl="1"/>
            <a:r>
              <a:rPr lang="es-ES" dirty="0"/>
              <a:t>Análisis de muestras unidimensionales y bidimensionales con herramientas tecnológicas: estimación puntual.</a:t>
            </a:r>
          </a:p>
          <a:p>
            <a:pPr lvl="1"/>
            <a:r>
              <a:rPr lang="es-ES" dirty="0"/>
              <a:t>Estimación de la media, la proporción y la desviación típica. Aproximación de la distribución de la media y de la proporción muestrales por la normal.</a:t>
            </a:r>
          </a:p>
          <a:p>
            <a:pPr lvl="1"/>
            <a:r>
              <a:rPr lang="es-ES" dirty="0"/>
              <a:t>Intervalos de confianza basados en la distribución normal.</a:t>
            </a:r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0420D4-D738-2B8A-AF46-FBA4CCA4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397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68465-B831-EB4F-5F7B-31AD3C598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Planificación de la asignatura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4B6B7E-3BF2-8594-D55E-B2E21026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17</a:t>
            </a:fld>
            <a:endParaRPr lang="es-ES"/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37A34D45-593A-2685-7CF7-3AD1D3A68F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0730863"/>
              </p:ext>
            </p:extLst>
          </p:nvPr>
        </p:nvGraphicFramePr>
        <p:xfrm>
          <a:off x="838200" y="2114796"/>
          <a:ext cx="10515600" cy="3134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76520">
                  <a:extLst>
                    <a:ext uri="{9D8B030D-6E8A-4147-A177-3AD203B41FA5}">
                      <a16:colId xmlns:a16="http://schemas.microsoft.com/office/drawing/2014/main" val="205832438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99575675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944025263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4043604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Tema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Horas de clase (</a:t>
                      </a:r>
                      <a:r>
                        <a:rPr lang="es-ES" b="1" dirty="0" err="1"/>
                        <a:t>teoría+laboratorio</a:t>
                      </a:r>
                      <a:r>
                        <a:rPr lang="es-ES" b="1" dirty="0"/>
                        <a:t>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Horas trabajo autónomo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Horas totales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924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Tema 1. Introducción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6h (2h+4h)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9h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601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Tema 2. Herramientas de estadística descriptiva y PL1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12h (4h+8h)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30h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824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Tema 3. Variables aleatorias y modelos de distribución de probabilidad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12h (6h+6h)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30h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644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Tema 4. Inferencia estadística y PL2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26h (14h+12h)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39h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65h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257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PEC1, PEC2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4h (4h+0h)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19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60h (30h+30h)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90h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150h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955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561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39D62-1D97-D9AC-546D-ED5EB88B3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Libro de texto recomendado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6C3895-5D40-44B7-A5C0-049866DA6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53654" cy="4351338"/>
          </a:xfrm>
        </p:spPr>
        <p:txBody>
          <a:bodyPr/>
          <a:lstStyle/>
          <a:p>
            <a:r>
              <a:rPr lang="en-US" dirty="0">
                <a:hlinkClick r:id="rId3"/>
              </a:rPr>
              <a:t>Probability and statistics for computer scientists, Second edition, M. Baron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234000-EFB1-BA22-31B6-91BD45C2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18</a:t>
            </a:fld>
            <a:endParaRPr lang="es-ES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364EF193-F341-F6E9-5E2E-BD665BEE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5220" y="2611087"/>
            <a:ext cx="2488580" cy="354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2145C85-D99F-0690-DFD9-5AC8AD053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9220" y="2641079"/>
            <a:ext cx="5386040" cy="385179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AB69137-A90F-CB43-79EE-CA99323C4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35551" y="5463791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6137154-97A3-4E2C-16A8-38A8A4BF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494156" y="4093273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CC24CF0-9ADB-F995-867C-D85F18283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023284" y="4839886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rgbClr val="C00000"/>
                </a:solidFill>
              </a:rPr>
              <a:t>(*)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F2611B-E6B7-3437-354D-37665D16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019570" y="6040496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rgbClr val="C00000"/>
                </a:solidFill>
              </a:rPr>
              <a:t>(*)</a:t>
            </a:r>
          </a:p>
        </p:txBody>
      </p:sp>
    </p:spTree>
    <p:extLst>
      <p:ext uri="{BB962C8B-B14F-4D97-AF65-F5344CB8AC3E}">
        <p14:creationId xmlns:p14="http://schemas.microsoft.com/office/powerpoint/2010/main" val="3180149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681A-66EA-7F2F-6AC6-A477ADBF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Discusiones sobre Estadística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C4CA97-F976-E531-3AF4-EC47B79B8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Estadística no está libre de controversias</a:t>
            </a:r>
          </a:p>
          <a:p>
            <a:r>
              <a:rPr lang="es-ES" dirty="0"/>
              <a:t>Existen </a:t>
            </a:r>
            <a:r>
              <a:rPr lang="es-ES" dirty="0">
                <a:hlinkClick r:id="rId2"/>
              </a:rPr>
              <a:t>diferentes enfoques y opiniones</a:t>
            </a:r>
            <a:endParaRPr lang="es-ES" dirty="0"/>
          </a:p>
          <a:p>
            <a:r>
              <a:rPr lang="es-ES" dirty="0"/>
              <a:t>Es conveniente conocer las discusiones planteadas en este campo para formarse una opinión propia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631666-9280-FFAE-1EEF-5F91B7AD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19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0EA90E3-0E31-4106-7002-DD0DDE83A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041" y="3914078"/>
            <a:ext cx="6273917" cy="257879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4D950F5-0690-C99E-9138-37791164B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344722" y="5374888"/>
            <a:ext cx="1318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 </a:t>
            </a:r>
            <a:r>
              <a:rPr lang="es-ES" sz="1200" dirty="0">
                <a:hlinkClick r:id="rId4"/>
              </a:rPr>
              <a:t>T. </a:t>
            </a:r>
            <a:r>
              <a:rPr lang="es-ES" sz="1200" dirty="0" err="1">
                <a:hlinkClick r:id="rId4"/>
              </a:rPr>
              <a:t>Tandon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9089216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5717</TotalTime>
  <Words>1644</Words>
  <Application>Microsoft Office PowerPoint</Application>
  <PresentationFormat>Panorámica</PresentationFormat>
  <Paragraphs>187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Wingdings</vt:lpstr>
      <vt:lpstr>Tema de Office</vt:lpstr>
      <vt:lpstr>Introducción</vt:lpstr>
      <vt:lpstr>Contenidos</vt:lpstr>
      <vt:lpstr>1. Temario de la asignatura</vt:lpstr>
      <vt:lpstr>2. Conceptos básicos Estadística</vt:lpstr>
      <vt:lpstr>2. Conceptos básicos  Estadística descriptiva</vt:lpstr>
      <vt:lpstr>2. Conceptos básicos  Estadística inferencial</vt:lpstr>
      <vt:lpstr>2. Conceptos básicos  Relación entre estadística descriptiva e inferencial</vt:lpstr>
      <vt:lpstr>2. Conceptos básicos  Teoría de la probabilidad</vt:lpstr>
      <vt:lpstr>2. Conceptos básicos  Probabilidad</vt:lpstr>
      <vt:lpstr>2. Conceptos básicos  Variable aleatoria y distribución de probabilidad</vt:lpstr>
      <vt:lpstr>3. Aplicaciones prácticas de la estadística  Noticias</vt:lpstr>
      <vt:lpstr>3. Aplicaciones prácticas de la estadística Artículos científicos</vt:lpstr>
      <vt:lpstr>3. Aplicaciones prácticas de la estadística Trabajos Fin de Grado</vt:lpstr>
      <vt:lpstr>4. Software estadístico</vt:lpstr>
      <vt:lpstr>5. Estadística en estudios preuniversitario Enseñanza Secundaria Obligatoria (ESO)</vt:lpstr>
      <vt:lpstr>5. Estadística en estudios preuniversitarios Bachillerato</vt:lpstr>
      <vt:lpstr>6. Planificación de la asignatura</vt:lpstr>
      <vt:lpstr>7. Libro de texto recomendado</vt:lpstr>
      <vt:lpstr>8. Discusiones sobre Estadística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</dc:title>
  <dc:creator/>
  <cp:lastModifiedBy>jose hilera</cp:lastModifiedBy>
  <cp:revision>174</cp:revision>
  <dcterms:created xsi:type="dcterms:W3CDTF">2022-12-26T19:51:11Z</dcterms:created>
  <dcterms:modified xsi:type="dcterms:W3CDTF">2024-09-10T08:52:09Z</dcterms:modified>
</cp:coreProperties>
</file>