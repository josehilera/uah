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2"/>
  </p:notesMasterIdLst>
  <p:sldIdLst>
    <p:sldId id="256" r:id="rId2"/>
    <p:sldId id="257" r:id="rId3"/>
    <p:sldId id="407" r:id="rId4"/>
    <p:sldId id="439" r:id="rId5"/>
    <p:sldId id="276" r:id="rId6"/>
    <p:sldId id="440" r:id="rId7"/>
    <p:sldId id="600" r:id="rId8"/>
    <p:sldId id="602" r:id="rId9"/>
    <p:sldId id="601" r:id="rId10"/>
    <p:sldId id="426" r:id="rId11"/>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Estilo claro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16DA210-FB5B-4158-B5E0-FEB733F419BA}" styleName="Estilo claro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861" autoAdjust="0"/>
    <p:restoredTop sz="94809" autoAdjust="0"/>
  </p:normalViewPr>
  <p:slideViewPr>
    <p:cSldViewPr snapToGrid="0">
      <p:cViewPr>
        <p:scale>
          <a:sx n="75" d="100"/>
          <a:sy n="75" d="100"/>
        </p:scale>
        <p:origin x="710" y="-2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6993FA-F4EB-4F5C-AC0E-D19D76C7FE18}" type="datetimeFigureOut">
              <a:rPr lang="es-ES" smtClean="0"/>
              <a:t>13/09/2025</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B7C101-15E4-4D70-A114-C89E83A709C8}" type="slidenum">
              <a:rPr lang="es-ES" smtClean="0"/>
              <a:t>‹Nº›</a:t>
            </a:fld>
            <a:endParaRPr lang="es-ES"/>
          </a:p>
        </p:txBody>
      </p:sp>
    </p:spTree>
    <p:extLst>
      <p:ext uri="{BB962C8B-B14F-4D97-AF65-F5344CB8AC3E}">
        <p14:creationId xmlns:p14="http://schemas.microsoft.com/office/powerpoint/2010/main" val="5414351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170737A-30E0-41A2-B461-25A548C913B6}"/>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3EBE166C-5633-4873-B852-3A4F5546FEE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9639014F-1DFE-4927-921F-4E53CB687F37}"/>
              </a:ext>
            </a:extLst>
          </p:cNvPr>
          <p:cNvSpPr>
            <a:spLocks noGrp="1"/>
          </p:cNvSpPr>
          <p:nvPr>
            <p:ph type="dt" sz="half" idx="10"/>
          </p:nvPr>
        </p:nvSpPr>
        <p:spPr/>
        <p:txBody>
          <a:bodyPr/>
          <a:lstStyle/>
          <a:p>
            <a:fld id="{CFE85FDD-93E9-4DED-94FB-E13CBFB13D77}" type="datetime1">
              <a:rPr lang="es-ES" smtClean="0"/>
              <a:t>13/09/2025</a:t>
            </a:fld>
            <a:endParaRPr lang="es-ES"/>
          </a:p>
        </p:txBody>
      </p:sp>
      <p:sp>
        <p:nvSpPr>
          <p:cNvPr id="5" name="Marcador de pie de página 4">
            <a:extLst>
              <a:ext uri="{FF2B5EF4-FFF2-40B4-BE49-F238E27FC236}">
                <a16:creationId xmlns:a16="http://schemas.microsoft.com/office/drawing/2014/main" id="{703D05DA-9B6F-44F8-A333-ABA84FFE4776}"/>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4B41CCAC-F1C7-439D-A1C6-148B192BEE2C}"/>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4882987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E16EB7-D1A7-4CEF-B7B0-D69F5E52A25D}"/>
              </a:ext>
            </a:extLst>
          </p:cNvPr>
          <p:cNvSpPr>
            <a:spLocks noGrp="1"/>
          </p:cNvSpPr>
          <p:nvPr>
            <p:ph type="title"/>
          </p:nvPr>
        </p:nvSpPr>
        <p:spPr>
          <a:ln>
            <a:solidFill>
              <a:schemeClr val="tx1"/>
            </a:solidFill>
          </a:ln>
        </p:spPr>
        <p:txBody>
          <a:bodyPr/>
          <a:lstStyle/>
          <a:p>
            <a:r>
              <a:rPr lang="es-ES" dirty="0"/>
              <a:t>Haga clic para modificar el estilo de título del patrón</a:t>
            </a:r>
          </a:p>
        </p:txBody>
      </p:sp>
      <p:sp>
        <p:nvSpPr>
          <p:cNvPr id="3" name="Marcador de contenido 2">
            <a:extLst>
              <a:ext uri="{FF2B5EF4-FFF2-40B4-BE49-F238E27FC236}">
                <a16:creationId xmlns:a16="http://schemas.microsoft.com/office/drawing/2014/main" id="{2B2099EC-4D79-4FBE-A0F3-85058A8B9915}"/>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519089A4-937F-4BD1-809E-44AE307B15D7}"/>
              </a:ext>
            </a:extLst>
          </p:cNvPr>
          <p:cNvSpPr>
            <a:spLocks noGrp="1"/>
          </p:cNvSpPr>
          <p:nvPr>
            <p:ph type="dt" sz="half" idx="10"/>
          </p:nvPr>
        </p:nvSpPr>
        <p:spPr/>
        <p:txBody>
          <a:bodyPr/>
          <a:lstStyle/>
          <a:p>
            <a:fld id="{3530566B-D29A-48B5-AE66-02FE67909A5D}" type="datetime1">
              <a:rPr lang="es-ES" smtClean="0"/>
              <a:t>13/09/2025</a:t>
            </a:fld>
            <a:endParaRPr lang="es-ES"/>
          </a:p>
        </p:txBody>
      </p:sp>
      <p:sp>
        <p:nvSpPr>
          <p:cNvPr id="5" name="Marcador de pie de página 4">
            <a:extLst>
              <a:ext uri="{FF2B5EF4-FFF2-40B4-BE49-F238E27FC236}">
                <a16:creationId xmlns:a16="http://schemas.microsoft.com/office/drawing/2014/main" id="{3A626FFB-669E-4FEF-AAF4-FCBE8D204984}"/>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8B3302B3-AB25-45B7-A138-5DD3F6FD07BE}"/>
              </a:ext>
            </a:extLst>
          </p:cNvPr>
          <p:cNvSpPr>
            <a:spLocks noGrp="1"/>
          </p:cNvSpPr>
          <p:nvPr>
            <p:ph type="sldNum" sz="quarter" idx="12"/>
          </p:nvPr>
        </p:nvSpPr>
        <p:spPr/>
        <p:txBody>
          <a:bodyPr/>
          <a:lstStyle>
            <a:lvl1pPr>
              <a:defRPr sz="1600"/>
            </a:lvl1pPr>
          </a:lstStyle>
          <a:p>
            <a:fld id="{336CAFD0-1F6E-4E11-9822-836563A02839}" type="slidenum">
              <a:rPr lang="es-ES" smtClean="0"/>
              <a:pPr/>
              <a:t>‹Nº›</a:t>
            </a:fld>
            <a:endParaRPr lang="es-ES" dirty="0"/>
          </a:p>
        </p:txBody>
      </p:sp>
    </p:spTree>
    <p:extLst>
      <p:ext uri="{BB962C8B-B14F-4D97-AF65-F5344CB8AC3E}">
        <p14:creationId xmlns:p14="http://schemas.microsoft.com/office/powerpoint/2010/main" val="12328180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DBB67B-96F2-4E3B-AD4B-986D490B90D9}"/>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2CA24320-D7DC-4240-B4DF-339532FE9CF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942E11C2-AD04-4ED6-82A4-3FD71B6FB041}"/>
              </a:ext>
            </a:extLst>
          </p:cNvPr>
          <p:cNvSpPr>
            <a:spLocks noGrp="1"/>
          </p:cNvSpPr>
          <p:nvPr>
            <p:ph type="dt" sz="half" idx="10"/>
          </p:nvPr>
        </p:nvSpPr>
        <p:spPr/>
        <p:txBody>
          <a:bodyPr/>
          <a:lstStyle/>
          <a:p>
            <a:fld id="{690E50F2-204D-422E-A62C-8A2A95FE0EA0}" type="datetime1">
              <a:rPr lang="es-ES" smtClean="0"/>
              <a:t>13/09/2025</a:t>
            </a:fld>
            <a:endParaRPr lang="es-ES"/>
          </a:p>
        </p:txBody>
      </p:sp>
      <p:sp>
        <p:nvSpPr>
          <p:cNvPr id="5" name="Marcador de pie de página 4">
            <a:extLst>
              <a:ext uri="{FF2B5EF4-FFF2-40B4-BE49-F238E27FC236}">
                <a16:creationId xmlns:a16="http://schemas.microsoft.com/office/drawing/2014/main" id="{0E0448CB-E41F-4F50-8E08-202E8756D237}"/>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804FAE15-CF45-4AED-8356-CE6C9EE83A17}"/>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28809384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0246AD-7BE6-483F-96A3-541DAD4B8C92}"/>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BA3C3E4F-C907-4C22-B083-DDF5EDF27FF1}"/>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265065CB-41D1-4202-A34D-7BB99EB785ED}"/>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6FAE56AF-AE89-4D7B-A003-4931E6EA89F0}"/>
              </a:ext>
            </a:extLst>
          </p:cNvPr>
          <p:cNvSpPr>
            <a:spLocks noGrp="1"/>
          </p:cNvSpPr>
          <p:nvPr>
            <p:ph type="dt" sz="half" idx="10"/>
          </p:nvPr>
        </p:nvSpPr>
        <p:spPr/>
        <p:txBody>
          <a:bodyPr/>
          <a:lstStyle/>
          <a:p>
            <a:fld id="{39F0192F-D937-48F6-B938-D4FF2285D339}" type="datetime1">
              <a:rPr lang="es-ES" smtClean="0"/>
              <a:t>13/09/2025</a:t>
            </a:fld>
            <a:endParaRPr lang="es-ES"/>
          </a:p>
        </p:txBody>
      </p:sp>
      <p:sp>
        <p:nvSpPr>
          <p:cNvPr id="6" name="Marcador de pie de página 5">
            <a:extLst>
              <a:ext uri="{FF2B5EF4-FFF2-40B4-BE49-F238E27FC236}">
                <a16:creationId xmlns:a16="http://schemas.microsoft.com/office/drawing/2014/main" id="{EAF7D8F9-491C-4103-A8F2-5F9F0FA5D70A}"/>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7F04D832-55CC-4538-B057-CA9881D9ABC9}"/>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20538821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28EF558-0175-4BD0-979F-D483F1A0D868}"/>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C974E40B-3DF7-44C5-860B-A36DE85FED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C106F954-C6D4-4723-8E03-55A1E79F00B1}"/>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0C871A73-8828-4197-ADC1-0C21128F615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733081A4-0280-4B19-9B06-BA7D80769318}"/>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29340A08-2899-40F7-B8EE-A496CBD88CC2}"/>
              </a:ext>
            </a:extLst>
          </p:cNvPr>
          <p:cNvSpPr>
            <a:spLocks noGrp="1"/>
          </p:cNvSpPr>
          <p:nvPr>
            <p:ph type="dt" sz="half" idx="10"/>
          </p:nvPr>
        </p:nvSpPr>
        <p:spPr/>
        <p:txBody>
          <a:bodyPr/>
          <a:lstStyle/>
          <a:p>
            <a:fld id="{C2B58F57-2DA1-4DBA-AA33-8D93DD9494F9}" type="datetime1">
              <a:rPr lang="es-ES" smtClean="0"/>
              <a:t>13/09/2025</a:t>
            </a:fld>
            <a:endParaRPr lang="es-ES"/>
          </a:p>
        </p:txBody>
      </p:sp>
      <p:sp>
        <p:nvSpPr>
          <p:cNvPr id="8" name="Marcador de pie de página 7">
            <a:extLst>
              <a:ext uri="{FF2B5EF4-FFF2-40B4-BE49-F238E27FC236}">
                <a16:creationId xmlns:a16="http://schemas.microsoft.com/office/drawing/2014/main" id="{275E94AC-0958-41A7-A416-28A3791B2DA4}"/>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87A743E3-167E-4DC6-AF9F-963C2A2C8675}"/>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28115944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0C0657-7B1A-442F-A5A8-F68C547D6CCC}"/>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220B9629-5B37-4C68-BCAF-4F204AD59B8A}"/>
              </a:ext>
            </a:extLst>
          </p:cNvPr>
          <p:cNvSpPr>
            <a:spLocks noGrp="1"/>
          </p:cNvSpPr>
          <p:nvPr>
            <p:ph type="dt" sz="half" idx="10"/>
          </p:nvPr>
        </p:nvSpPr>
        <p:spPr/>
        <p:txBody>
          <a:bodyPr/>
          <a:lstStyle/>
          <a:p>
            <a:fld id="{A88FAA46-ADD9-4633-900E-54294B546C39}" type="datetime1">
              <a:rPr lang="es-ES" smtClean="0"/>
              <a:t>13/09/2025</a:t>
            </a:fld>
            <a:endParaRPr lang="es-ES"/>
          </a:p>
        </p:txBody>
      </p:sp>
      <p:sp>
        <p:nvSpPr>
          <p:cNvPr id="4" name="Marcador de pie de página 3">
            <a:extLst>
              <a:ext uri="{FF2B5EF4-FFF2-40B4-BE49-F238E27FC236}">
                <a16:creationId xmlns:a16="http://schemas.microsoft.com/office/drawing/2014/main" id="{AF496A21-694B-4235-9BDF-7FA776CD648A}"/>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FFC769F2-5C78-4519-AE94-E67F0F38EE16}"/>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19852551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63476251-88E2-4CBD-95F9-95E8112B58A1}"/>
              </a:ext>
            </a:extLst>
          </p:cNvPr>
          <p:cNvSpPr>
            <a:spLocks noGrp="1"/>
          </p:cNvSpPr>
          <p:nvPr>
            <p:ph type="dt" sz="half" idx="10"/>
          </p:nvPr>
        </p:nvSpPr>
        <p:spPr/>
        <p:txBody>
          <a:bodyPr/>
          <a:lstStyle/>
          <a:p>
            <a:fld id="{DCCAD164-930E-44E1-8AD6-DA81FFB2E87B}" type="datetime1">
              <a:rPr lang="es-ES" smtClean="0"/>
              <a:t>13/09/2025</a:t>
            </a:fld>
            <a:endParaRPr lang="es-ES"/>
          </a:p>
        </p:txBody>
      </p:sp>
      <p:sp>
        <p:nvSpPr>
          <p:cNvPr id="3" name="Marcador de pie de página 2">
            <a:extLst>
              <a:ext uri="{FF2B5EF4-FFF2-40B4-BE49-F238E27FC236}">
                <a16:creationId xmlns:a16="http://schemas.microsoft.com/office/drawing/2014/main" id="{A49AE1B3-12A0-41E5-8708-38E7CDE67E4E}"/>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ED8E5739-F16D-4ED7-934D-15DD6F3FD68A}"/>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10414948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05BC6A-6581-45ED-97B2-665F6CC3E5F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EF6E2A75-C11D-4D21-973A-6BD6B12AB57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7C2970D4-7A79-4101-849B-C528055754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224EC5D-1BA5-4E28-9CF2-850714ED1F67}"/>
              </a:ext>
            </a:extLst>
          </p:cNvPr>
          <p:cNvSpPr>
            <a:spLocks noGrp="1"/>
          </p:cNvSpPr>
          <p:nvPr>
            <p:ph type="dt" sz="half" idx="10"/>
          </p:nvPr>
        </p:nvSpPr>
        <p:spPr/>
        <p:txBody>
          <a:bodyPr/>
          <a:lstStyle/>
          <a:p>
            <a:fld id="{E7A19943-A7E6-4D67-A3E5-3CC6ADA523F1}" type="datetime1">
              <a:rPr lang="es-ES" smtClean="0"/>
              <a:t>13/09/2025</a:t>
            </a:fld>
            <a:endParaRPr lang="es-ES"/>
          </a:p>
        </p:txBody>
      </p:sp>
      <p:sp>
        <p:nvSpPr>
          <p:cNvPr id="6" name="Marcador de pie de página 5">
            <a:extLst>
              <a:ext uri="{FF2B5EF4-FFF2-40B4-BE49-F238E27FC236}">
                <a16:creationId xmlns:a16="http://schemas.microsoft.com/office/drawing/2014/main" id="{9B84FBFE-5582-479B-A6E8-8BD08A0B9E31}"/>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CF81D782-F740-4365-8C21-A299A8B5FFB5}"/>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1205060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935E2E-4483-4902-9BE4-8F6FA962B21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1E9D67D1-94DE-4CC9-85D5-7FFF8811828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5544DCF8-D22F-4389-B4E4-9670563345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762798B-5681-4C69-BB09-2388DA3C2064}"/>
              </a:ext>
            </a:extLst>
          </p:cNvPr>
          <p:cNvSpPr>
            <a:spLocks noGrp="1"/>
          </p:cNvSpPr>
          <p:nvPr>
            <p:ph type="dt" sz="half" idx="10"/>
          </p:nvPr>
        </p:nvSpPr>
        <p:spPr/>
        <p:txBody>
          <a:bodyPr/>
          <a:lstStyle/>
          <a:p>
            <a:fld id="{02312756-8293-4ED7-8C53-E15A36E0B819}" type="datetime1">
              <a:rPr lang="es-ES" smtClean="0"/>
              <a:t>13/09/2025</a:t>
            </a:fld>
            <a:endParaRPr lang="es-ES"/>
          </a:p>
        </p:txBody>
      </p:sp>
      <p:sp>
        <p:nvSpPr>
          <p:cNvPr id="6" name="Marcador de pie de página 5">
            <a:extLst>
              <a:ext uri="{FF2B5EF4-FFF2-40B4-BE49-F238E27FC236}">
                <a16:creationId xmlns:a16="http://schemas.microsoft.com/office/drawing/2014/main" id="{D4B9532C-97BB-441B-B506-C25F8CF28440}"/>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88D157D7-9A5A-414D-A0CA-96FAE873A543}"/>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32489355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67A50E-F7F5-4C4D-8B77-79BAEF2E5C0F}"/>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95AFBB6D-17BE-4C49-BCCF-B5C5CFE9F99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A09176D5-891E-44BA-B401-E3A04EAFABAC}"/>
              </a:ext>
            </a:extLst>
          </p:cNvPr>
          <p:cNvSpPr>
            <a:spLocks noGrp="1"/>
          </p:cNvSpPr>
          <p:nvPr>
            <p:ph type="dt" sz="half" idx="10"/>
          </p:nvPr>
        </p:nvSpPr>
        <p:spPr/>
        <p:txBody>
          <a:bodyPr/>
          <a:lstStyle/>
          <a:p>
            <a:fld id="{2D5988EC-7283-4406-9DFD-E99FA692D75C}" type="datetime1">
              <a:rPr lang="es-ES" smtClean="0"/>
              <a:t>13/09/2025</a:t>
            </a:fld>
            <a:endParaRPr lang="es-ES"/>
          </a:p>
        </p:txBody>
      </p:sp>
      <p:sp>
        <p:nvSpPr>
          <p:cNvPr id="5" name="Marcador de pie de página 4">
            <a:extLst>
              <a:ext uri="{FF2B5EF4-FFF2-40B4-BE49-F238E27FC236}">
                <a16:creationId xmlns:a16="http://schemas.microsoft.com/office/drawing/2014/main" id="{9F934A99-FA15-4D15-97E2-3E17E0383DFE}"/>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F6A8D24B-343C-4B37-A9F6-33CE51FE33A9}"/>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23914689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FF92B8F-BB2D-45E5-A81C-009359D306A8}"/>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849973B1-2492-45DB-BA9B-BD3B59B4B8B6}"/>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F07A9D75-FCEC-47C9-AA6E-4D2F6CFF65C0}"/>
              </a:ext>
            </a:extLst>
          </p:cNvPr>
          <p:cNvSpPr>
            <a:spLocks noGrp="1"/>
          </p:cNvSpPr>
          <p:nvPr>
            <p:ph type="dt" sz="half" idx="10"/>
          </p:nvPr>
        </p:nvSpPr>
        <p:spPr/>
        <p:txBody>
          <a:bodyPr/>
          <a:lstStyle/>
          <a:p>
            <a:fld id="{979A9286-D927-4095-B743-3451D71D767F}" type="datetime1">
              <a:rPr lang="es-ES" smtClean="0"/>
              <a:t>13/09/2025</a:t>
            </a:fld>
            <a:endParaRPr lang="es-ES"/>
          </a:p>
        </p:txBody>
      </p:sp>
      <p:sp>
        <p:nvSpPr>
          <p:cNvPr id="5" name="Marcador de pie de página 4">
            <a:extLst>
              <a:ext uri="{FF2B5EF4-FFF2-40B4-BE49-F238E27FC236}">
                <a16:creationId xmlns:a16="http://schemas.microsoft.com/office/drawing/2014/main" id="{8320CC3E-8F0C-4A5B-B192-6F292AE46AA6}"/>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25C7BE2D-24E9-4481-AEB9-697A2447AA61}"/>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42131711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23CBADE-FD33-4AF1-9F6F-A44E4356A62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1674D713-AFC9-4141-B355-05ABF789356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21666BF8-72F7-4108-81B8-D74BF52FE0D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D6AEDC6-F719-4D5C-BB7F-D599F6A812F4}" type="datetime1">
              <a:rPr lang="es-ES" smtClean="0"/>
              <a:t>13/09/2025</a:t>
            </a:fld>
            <a:endParaRPr lang="es-ES"/>
          </a:p>
        </p:txBody>
      </p:sp>
      <p:sp>
        <p:nvSpPr>
          <p:cNvPr id="5" name="Marcador de pie de página 4">
            <a:extLst>
              <a:ext uri="{FF2B5EF4-FFF2-40B4-BE49-F238E27FC236}">
                <a16:creationId xmlns:a16="http://schemas.microsoft.com/office/drawing/2014/main" id="{30F725B7-4457-4323-8704-24025C4934C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a:extLst>
              <a:ext uri="{FF2B5EF4-FFF2-40B4-BE49-F238E27FC236}">
                <a16:creationId xmlns:a16="http://schemas.microsoft.com/office/drawing/2014/main" id="{B81E65A2-2681-4AF8-8875-39AE9558A14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6CAFD0-1F6E-4E11-9822-836563A02839}" type="slidenum">
              <a:rPr lang="es-ES" smtClean="0"/>
              <a:t>‹Nº›</a:t>
            </a:fld>
            <a:endParaRPr lang="es-ES"/>
          </a:p>
        </p:txBody>
      </p:sp>
    </p:spTree>
    <p:extLst>
      <p:ext uri="{BB962C8B-B14F-4D97-AF65-F5344CB8AC3E}">
        <p14:creationId xmlns:p14="http://schemas.microsoft.com/office/powerpoint/2010/main" val="29167074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www.oreilly.com/library-access/?next=/library/view/Probability-and-statistics/9781439875919/"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4"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05024B-BC8C-4A3E-B772-46F3159760AA}"/>
              </a:ext>
            </a:extLst>
          </p:cNvPr>
          <p:cNvSpPr>
            <a:spLocks noGrp="1"/>
          </p:cNvSpPr>
          <p:nvPr>
            <p:ph type="ctrTitle"/>
          </p:nvPr>
        </p:nvSpPr>
        <p:spPr/>
        <p:txBody>
          <a:bodyPr>
            <a:normAutofit fontScale="90000"/>
          </a:bodyPr>
          <a:lstStyle/>
          <a:p>
            <a:r>
              <a:rPr lang="es-ES" dirty="0" err="1"/>
              <a:t>Pueba</a:t>
            </a:r>
            <a:r>
              <a:rPr lang="es-ES" dirty="0"/>
              <a:t> Chi cuadrado</a:t>
            </a:r>
            <a:br>
              <a:rPr lang="es-ES" dirty="0"/>
            </a:br>
            <a:r>
              <a:rPr lang="es-ES" dirty="0"/>
              <a:t> de independencia </a:t>
            </a:r>
            <a:br>
              <a:rPr lang="es-ES" dirty="0"/>
            </a:br>
            <a:r>
              <a:rPr lang="es-ES" dirty="0"/>
              <a:t>de variables estadísticas</a:t>
            </a:r>
          </a:p>
        </p:txBody>
      </p:sp>
      <p:sp>
        <p:nvSpPr>
          <p:cNvPr id="3" name="Subtítulo 2">
            <a:extLst>
              <a:ext uri="{FF2B5EF4-FFF2-40B4-BE49-F238E27FC236}">
                <a16:creationId xmlns:a16="http://schemas.microsoft.com/office/drawing/2014/main" id="{C26AD6E3-038F-4B94-A53F-314F158509E6}"/>
              </a:ext>
            </a:extLst>
          </p:cNvPr>
          <p:cNvSpPr>
            <a:spLocks noGrp="1"/>
          </p:cNvSpPr>
          <p:nvPr>
            <p:ph type="subTitle" idx="1"/>
          </p:nvPr>
        </p:nvSpPr>
        <p:spPr/>
        <p:txBody>
          <a:bodyPr/>
          <a:lstStyle/>
          <a:p>
            <a:r>
              <a:rPr lang="es-ES" dirty="0"/>
              <a:t>Contenidos adaptados del libro “</a:t>
            </a:r>
            <a:r>
              <a:rPr lang="en-US" dirty="0">
                <a:hlinkClick r:id="rId2"/>
              </a:rPr>
              <a:t>Probability and statistics for computer scientists, Second edition, M. Baron</a:t>
            </a:r>
            <a:r>
              <a:rPr lang="en-US" dirty="0"/>
              <a:t>” (</a:t>
            </a:r>
            <a:r>
              <a:rPr lang="en-US" dirty="0" err="1"/>
              <a:t>Capítulo</a:t>
            </a:r>
            <a:r>
              <a:rPr lang="en-US" dirty="0"/>
              <a:t> 10.1.3)</a:t>
            </a:r>
            <a:endParaRPr lang="es-ES" dirty="0"/>
          </a:p>
        </p:txBody>
      </p:sp>
    </p:spTree>
    <p:extLst>
      <p:ext uri="{BB962C8B-B14F-4D97-AF65-F5344CB8AC3E}">
        <p14:creationId xmlns:p14="http://schemas.microsoft.com/office/powerpoint/2010/main" val="27375158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920BF6A-4F76-40F2-AADF-4A9781E2BEC8}"/>
              </a:ext>
            </a:extLst>
          </p:cNvPr>
          <p:cNvSpPr>
            <a:spLocks noGrp="1"/>
          </p:cNvSpPr>
          <p:nvPr>
            <p:ph type="title"/>
          </p:nvPr>
        </p:nvSpPr>
        <p:spPr/>
        <p:txBody>
          <a:bodyPr/>
          <a:lstStyle/>
          <a:p>
            <a:r>
              <a:rPr lang="es-ES" dirty="0"/>
              <a:t>Contenido</a:t>
            </a:r>
          </a:p>
        </p:txBody>
      </p:sp>
      <p:sp>
        <p:nvSpPr>
          <p:cNvPr id="3" name="Marcador de contenido 2">
            <a:extLst>
              <a:ext uri="{FF2B5EF4-FFF2-40B4-BE49-F238E27FC236}">
                <a16:creationId xmlns:a16="http://schemas.microsoft.com/office/drawing/2014/main" id="{3DD641DE-CE43-4099-914E-C8A920DB30F6}"/>
              </a:ext>
            </a:extLst>
          </p:cNvPr>
          <p:cNvSpPr>
            <a:spLocks noGrp="1"/>
          </p:cNvSpPr>
          <p:nvPr>
            <p:ph idx="1"/>
          </p:nvPr>
        </p:nvSpPr>
        <p:spPr/>
        <p:txBody>
          <a:bodyPr>
            <a:normAutofit/>
          </a:bodyPr>
          <a:lstStyle/>
          <a:p>
            <a:pPr marL="514350" indent="-514350">
              <a:buFont typeface="+mj-lt"/>
              <a:buAutoNum type="arabicPeriod"/>
            </a:pPr>
            <a:r>
              <a:rPr lang="es-ES" dirty="0"/>
              <a:t>Objetivos</a:t>
            </a:r>
          </a:p>
          <a:p>
            <a:pPr marL="514350" indent="-514350">
              <a:buFont typeface="+mj-lt"/>
              <a:buAutoNum type="arabicPeriod"/>
            </a:pPr>
            <a:r>
              <a:rPr lang="es-ES" dirty="0"/>
              <a:t>Introducción</a:t>
            </a:r>
          </a:p>
          <a:p>
            <a:pPr marL="514350" indent="-514350">
              <a:buFont typeface="+mj-lt"/>
              <a:buAutoNum type="arabicPeriod"/>
            </a:pPr>
            <a:r>
              <a:rPr lang="es-ES" dirty="0"/>
              <a:t>Tabla de contingencia</a:t>
            </a:r>
          </a:p>
          <a:p>
            <a:pPr marL="514350" indent="-514350">
              <a:buFont typeface="+mj-lt"/>
              <a:buAutoNum type="arabicPeriod"/>
            </a:pPr>
            <a:r>
              <a:rPr lang="es-ES" dirty="0"/>
              <a:t>Contraste de hipótesis</a:t>
            </a:r>
          </a:p>
          <a:p>
            <a:pPr marL="514350" indent="-514350">
              <a:buFont typeface="+mj-lt"/>
              <a:buAutoNum type="arabicPeriod"/>
            </a:pPr>
            <a:r>
              <a:rPr lang="es-ES" dirty="0"/>
              <a:t> Resumen</a:t>
            </a:r>
          </a:p>
        </p:txBody>
      </p:sp>
      <p:sp>
        <p:nvSpPr>
          <p:cNvPr id="4" name="Marcador de número de diapositiva 3">
            <a:extLst>
              <a:ext uri="{FF2B5EF4-FFF2-40B4-BE49-F238E27FC236}">
                <a16:creationId xmlns:a16="http://schemas.microsoft.com/office/drawing/2014/main" id="{35184F0A-2B41-D9D8-BF21-77971EAEBAF2}"/>
              </a:ext>
            </a:extLst>
          </p:cNvPr>
          <p:cNvSpPr>
            <a:spLocks noGrp="1"/>
          </p:cNvSpPr>
          <p:nvPr>
            <p:ph type="sldNum" sz="quarter" idx="12"/>
          </p:nvPr>
        </p:nvSpPr>
        <p:spPr/>
        <p:txBody>
          <a:bodyPr/>
          <a:lstStyle/>
          <a:p>
            <a:fld id="{336CAFD0-1F6E-4E11-9822-836563A02839}" type="slidenum">
              <a:rPr lang="es-ES" smtClean="0"/>
              <a:t>2</a:t>
            </a:fld>
            <a:endParaRPr lang="es-ES" dirty="0"/>
          </a:p>
        </p:txBody>
      </p:sp>
    </p:spTree>
    <p:extLst>
      <p:ext uri="{BB962C8B-B14F-4D97-AF65-F5344CB8AC3E}">
        <p14:creationId xmlns:p14="http://schemas.microsoft.com/office/powerpoint/2010/main" val="35170646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388110-C1AC-CF5E-0110-8E2A3FC14E3D}"/>
              </a:ext>
            </a:extLst>
          </p:cNvPr>
          <p:cNvSpPr>
            <a:spLocks noGrp="1"/>
          </p:cNvSpPr>
          <p:nvPr>
            <p:ph type="title"/>
          </p:nvPr>
        </p:nvSpPr>
        <p:spPr/>
        <p:txBody>
          <a:bodyPr/>
          <a:lstStyle/>
          <a:p>
            <a:r>
              <a:rPr lang="es-ES" dirty="0"/>
              <a:t>1. Objetivos</a:t>
            </a:r>
          </a:p>
        </p:txBody>
      </p:sp>
      <p:sp>
        <p:nvSpPr>
          <p:cNvPr id="3" name="Marcador de contenido 2">
            <a:extLst>
              <a:ext uri="{FF2B5EF4-FFF2-40B4-BE49-F238E27FC236}">
                <a16:creationId xmlns:a16="http://schemas.microsoft.com/office/drawing/2014/main" id="{7802208F-81FD-3A6A-3B34-7D1B5CF276E4}"/>
              </a:ext>
            </a:extLst>
          </p:cNvPr>
          <p:cNvSpPr>
            <a:spLocks noGrp="1"/>
          </p:cNvSpPr>
          <p:nvPr>
            <p:ph idx="1"/>
          </p:nvPr>
        </p:nvSpPr>
        <p:spPr/>
        <p:txBody>
          <a:bodyPr/>
          <a:lstStyle/>
          <a:p>
            <a:r>
              <a:rPr lang="es-ES" dirty="0"/>
              <a:t>Comprender los conceptos de correlación y regresión</a:t>
            </a:r>
          </a:p>
          <a:p>
            <a:r>
              <a:rPr lang="es-ES" dirty="0"/>
              <a:t>Aplicar técnicas de regresión y correlación para establecer relaciones entre variables (estadísticas o aleatorias)</a:t>
            </a:r>
          </a:p>
        </p:txBody>
      </p:sp>
      <p:sp>
        <p:nvSpPr>
          <p:cNvPr id="4" name="Marcador de número de diapositiva 3">
            <a:extLst>
              <a:ext uri="{FF2B5EF4-FFF2-40B4-BE49-F238E27FC236}">
                <a16:creationId xmlns:a16="http://schemas.microsoft.com/office/drawing/2014/main" id="{2BAD5FBD-D86E-31E4-F426-3B558645492D}"/>
              </a:ext>
            </a:extLst>
          </p:cNvPr>
          <p:cNvSpPr>
            <a:spLocks noGrp="1"/>
          </p:cNvSpPr>
          <p:nvPr>
            <p:ph type="sldNum" sz="quarter" idx="12"/>
          </p:nvPr>
        </p:nvSpPr>
        <p:spPr/>
        <p:txBody>
          <a:bodyPr/>
          <a:lstStyle/>
          <a:p>
            <a:fld id="{336CAFD0-1F6E-4E11-9822-836563A02839}" type="slidenum">
              <a:rPr lang="es-ES" smtClean="0"/>
              <a:pPr/>
              <a:t>3</a:t>
            </a:fld>
            <a:endParaRPr lang="es-ES" dirty="0"/>
          </a:p>
        </p:txBody>
      </p:sp>
    </p:spTree>
    <p:extLst>
      <p:ext uri="{BB962C8B-B14F-4D97-AF65-F5344CB8AC3E}">
        <p14:creationId xmlns:p14="http://schemas.microsoft.com/office/powerpoint/2010/main" val="23759578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080D1-D86C-FAF4-A4DC-D0086C05F8F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A9EF71A-7215-9A75-0E4B-7228C1F0B2EA}"/>
              </a:ext>
            </a:extLst>
          </p:cNvPr>
          <p:cNvSpPr>
            <a:spLocks noGrp="1"/>
          </p:cNvSpPr>
          <p:nvPr>
            <p:ph type="title"/>
          </p:nvPr>
        </p:nvSpPr>
        <p:spPr/>
        <p:txBody>
          <a:bodyPr>
            <a:normAutofit/>
          </a:bodyPr>
          <a:lstStyle/>
          <a:p>
            <a:r>
              <a:rPr lang="es-ES" dirty="0"/>
              <a:t>2. Introducción</a:t>
            </a:r>
            <a:br>
              <a:rPr lang="es-ES" dirty="0"/>
            </a:br>
            <a:r>
              <a:rPr lang="es-ES" dirty="0"/>
              <a:t>Estadística descriptiva bidimensional</a:t>
            </a:r>
          </a:p>
        </p:txBody>
      </p:sp>
      <p:sp>
        <p:nvSpPr>
          <p:cNvPr id="3" name="Marcador de contenido 2">
            <a:extLst>
              <a:ext uri="{FF2B5EF4-FFF2-40B4-BE49-F238E27FC236}">
                <a16:creationId xmlns:a16="http://schemas.microsoft.com/office/drawing/2014/main" id="{55780D96-A11B-99AB-73C8-380A43D31ED6}"/>
              </a:ext>
            </a:extLst>
          </p:cNvPr>
          <p:cNvSpPr>
            <a:spLocks noGrp="1"/>
          </p:cNvSpPr>
          <p:nvPr>
            <p:ph idx="1"/>
          </p:nvPr>
        </p:nvSpPr>
        <p:spPr/>
        <p:txBody>
          <a:bodyPr>
            <a:normAutofit/>
          </a:bodyPr>
          <a:lstStyle/>
          <a:p>
            <a:r>
              <a:rPr lang="es-ES" dirty="0"/>
              <a:t>La estadística descriptiva bidimensional describe simultáneamente dos variables estadísticas que representan dos propiedades diferentes de cada individuo de una población o muestra</a:t>
            </a:r>
          </a:p>
          <a:p>
            <a:pPr lvl="1"/>
            <a:r>
              <a:rPr lang="es-ES" dirty="0"/>
              <a:t>Ejemplos:</a:t>
            </a:r>
          </a:p>
          <a:p>
            <a:pPr lvl="2"/>
            <a:r>
              <a:rPr lang="es-ES" dirty="0"/>
              <a:t>Número de puertas y Peso de un coche (dos variables cuantitativas)</a:t>
            </a:r>
          </a:p>
          <a:p>
            <a:pPr lvl="2"/>
            <a:r>
              <a:rPr lang="es-ES" dirty="0"/>
              <a:t>Marca y Peso de un coche (una variable cualitativa y otra cuantitativa)</a:t>
            </a:r>
          </a:p>
          <a:p>
            <a:pPr lvl="2"/>
            <a:r>
              <a:rPr lang="es-ES" dirty="0"/>
              <a:t>Marca y Color de un coche (dos variables cualitativas)</a:t>
            </a:r>
          </a:p>
        </p:txBody>
      </p:sp>
      <p:sp>
        <p:nvSpPr>
          <p:cNvPr id="4" name="Marcador de número de diapositiva 3">
            <a:extLst>
              <a:ext uri="{FF2B5EF4-FFF2-40B4-BE49-F238E27FC236}">
                <a16:creationId xmlns:a16="http://schemas.microsoft.com/office/drawing/2014/main" id="{100CEB96-3A0D-791D-76A9-CC2544E349BD}"/>
              </a:ext>
            </a:extLst>
          </p:cNvPr>
          <p:cNvSpPr>
            <a:spLocks noGrp="1"/>
          </p:cNvSpPr>
          <p:nvPr>
            <p:ph type="sldNum" sz="quarter" idx="12"/>
          </p:nvPr>
        </p:nvSpPr>
        <p:spPr/>
        <p:txBody>
          <a:bodyPr/>
          <a:lstStyle/>
          <a:p>
            <a:fld id="{336CAFD0-1F6E-4E11-9822-836563A02839}" type="slidenum">
              <a:rPr lang="es-ES" smtClean="0"/>
              <a:t>4</a:t>
            </a:fld>
            <a:endParaRPr lang="es-ES"/>
          </a:p>
        </p:txBody>
      </p:sp>
    </p:spTree>
    <p:extLst>
      <p:ext uri="{BB962C8B-B14F-4D97-AF65-F5344CB8AC3E}">
        <p14:creationId xmlns:p14="http://schemas.microsoft.com/office/powerpoint/2010/main" val="4324204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22C548-D817-6832-A529-F95FB7CE492B}"/>
              </a:ext>
            </a:extLst>
          </p:cNvPr>
          <p:cNvSpPr>
            <a:spLocks noGrp="1"/>
          </p:cNvSpPr>
          <p:nvPr>
            <p:ph type="title"/>
          </p:nvPr>
        </p:nvSpPr>
        <p:spPr/>
        <p:txBody>
          <a:bodyPr>
            <a:normAutofit/>
          </a:bodyPr>
          <a:lstStyle/>
          <a:p>
            <a:r>
              <a:rPr lang="es-ES" dirty="0"/>
              <a:t>2. Introducción</a:t>
            </a:r>
            <a:br>
              <a:rPr lang="es-ES" dirty="0"/>
            </a:br>
            <a:r>
              <a:rPr lang="es-ES" dirty="0"/>
              <a:t>Relación entre dos variables estadísticas</a:t>
            </a:r>
          </a:p>
        </p:txBody>
      </p:sp>
      <p:sp>
        <p:nvSpPr>
          <p:cNvPr id="3" name="Marcador de contenido 2">
            <a:extLst>
              <a:ext uri="{FF2B5EF4-FFF2-40B4-BE49-F238E27FC236}">
                <a16:creationId xmlns:a16="http://schemas.microsoft.com/office/drawing/2014/main" id="{1DB45E26-A1AA-28A8-DE00-11AE4C74F38C}"/>
              </a:ext>
            </a:extLst>
          </p:cNvPr>
          <p:cNvSpPr>
            <a:spLocks noGrp="1"/>
          </p:cNvSpPr>
          <p:nvPr>
            <p:ph idx="1"/>
          </p:nvPr>
        </p:nvSpPr>
        <p:spPr/>
        <p:txBody>
          <a:bodyPr>
            <a:normAutofit/>
          </a:bodyPr>
          <a:lstStyle/>
          <a:p>
            <a:pPr marL="0" indent="0">
              <a:buNone/>
            </a:pPr>
            <a:r>
              <a:rPr lang="es-ES" dirty="0"/>
              <a:t>Para determinar si existe relación entre dos variables estadísticas se puede utilizar</a:t>
            </a:r>
          </a:p>
          <a:p>
            <a:r>
              <a:rPr lang="es-ES" dirty="0"/>
              <a:t>Si son dos variables cuantitativas: </a:t>
            </a:r>
          </a:p>
          <a:p>
            <a:pPr lvl="1"/>
            <a:r>
              <a:rPr lang="es-ES" dirty="0"/>
              <a:t>Cálculo del coeficiente de correlación (ya tratado en el tema 2)</a:t>
            </a:r>
          </a:p>
          <a:p>
            <a:r>
              <a:rPr lang="es-ES" dirty="0"/>
              <a:t>Si una variable es cualitativa y la otra cuantitativa: </a:t>
            </a:r>
          </a:p>
          <a:p>
            <a:pPr lvl="1"/>
            <a:r>
              <a:rPr lang="es-ES" dirty="0"/>
              <a:t>Contraste de hipótesis sobre la media o la mediana de dos poblaciones (ya tratado en el tema 4)</a:t>
            </a:r>
          </a:p>
          <a:p>
            <a:r>
              <a:rPr lang="es-ES" b="1" dirty="0"/>
              <a:t>Si son dos variables cualitativas: </a:t>
            </a:r>
          </a:p>
          <a:p>
            <a:pPr lvl="1"/>
            <a:r>
              <a:rPr lang="es-ES" b="1" dirty="0"/>
              <a:t>Prueba Chi Cuadrado</a:t>
            </a:r>
          </a:p>
        </p:txBody>
      </p:sp>
      <p:sp>
        <p:nvSpPr>
          <p:cNvPr id="4" name="Marcador de número de diapositiva 3">
            <a:extLst>
              <a:ext uri="{FF2B5EF4-FFF2-40B4-BE49-F238E27FC236}">
                <a16:creationId xmlns:a16="http://schemas.microsoft.com/office/drawing/2014/main" id="{A1556083-00E7-701C-BB0C-742687A68C96}"/>
              </a:ext>
            </a:extLst>
          </p:cNvPr>
          <p:cNvSpPr>
            <a:spLocks noGrp="1"/>
          </p:cNvSpPr>
          <p:nvPr>
            <p:ph type="sldNum" sz="quarter" idx="12"/>
          </p:nvPr>
        </p:nvSpPr>
        <p:spPr/>
        <p:txBody>
          <a:bodyPr/>
          <a:lstStyle/>
          <a:p>
            <a:fld id="{336CAFD0-1F6E-4E11-9822-836563A02839}" type="slidenum">
              <a:rPr lang="es-ES" smtClean="0"/>
              <a:t>5</a:t>
            </a:fld>
            <a:endParaRPr lang="es-ES"/>
          </a:p>
        </p:txBody>
      </p:sp>
    </p:spTree>
    <p:extLst>
      <p:ext uri="{BB962C8B-B14F-4D97-AF65-F5344CB8AC3E}">
        <p14:creationId xmlns:p14="http://schemas.microsoft.com/office/powerpoint/2010/main" val="39196320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CEC2C9-9733-EB8C-E252-9D436870A62F}"/>
              </a:ext>
            </a:extLst>
          </p:cNvPr>
          <p:cNvSpPr>
            <a:spLocks noGrp="1"/>
          </p:cNvSpPr>
          <p:nvPr>
            <p:ph type="title"/>
          </p:nvPr>
        </p:nvSpPr>
        <p:spPr/>
        <p:txBody>
          <a:bodyPr/>
          <a:lstStyle/>
          <a:p>
            <a:r>
              <a:rPr lang="es-ES" dirty="0"/>
              <a:t>3. Prueba Chi cuadrado</a:t>
            </a:r>
            <a:br>
              <a:rPr lang="es-ES" dirty="0"/>
            </a:br>
            <a:r>
              <a:rPr lang="es-ES" dirty="0"/>
              <a:t>Pasos</a:t>
            </a:r>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49250CC4-4B60-5876-7F4C-93DFE3A8DC61}"/>
                  </a:ext>
                </a:extLst>
              </p:cNvPr>
              <p:cNvSpPr>
                <a:spLocks noGrp="1"/>
              </p:cNvSpPr>
              <p:nvPr>
                <p:ph idx="1"/>
              </p:nvPr>
            </p:nvSpPr>
            <p:spPr/>
            <p:txBody>
              <a:bodyPr>
                <a:normAutofit fontScale="85000" lnSpcReduction="20000"/>
              </a:bodyPr>
              <a:lstStyle/>
              <a:p>
                <a:r>
                  <a:rPr lang="es-ES" dirty="0"/>
                  <a:t>La prueba consiste en resolver el contraste de hipótesis</a:t>
                </a:r>
              </a:p>
              <a:p>
                <a:pPr lvl="1"/>
                <a14:m>
                  <m:oMath xmlns:m="http://schemas.openxmlformats.org/officeDocument/2006/math">
                    <m:sSub>
                      <m:sSubPr>
                        <m:ctrlPr>
                          <a:rPr lang="es-ES" b="0" i="1" smtClean="0">
                            <a:latin typeface="Cambria Math" panose="02040503050406030204" pitchFamily="18" charset="0"/>
                          </a:rPr>
                        </m:ctrlPr>
                      </m:sSubPr>
                      <m:e>
                        <m:r>
                          <a:rPr lang="es-ES" b="0" i="1" smtClean="0">
                            <a:latin typeface="Cambria Math" panose="02040503050406030204" pitchFamily="18" charset="0"/>
                          </a:rPr>
                          <m:t>𝐻</m:t>
                        </m:r>
                      </m:e>
                      <m:sub>
                        <m:r>
                          <a:rPr lang="es-ES" b="0" i="1" smtClean="0">
                            <a:latin typeface="Cambria Math" panose="02040503050406030204" pitchFamily="18" charset="0"/>
                          </a:rPr>
                          <m:t>0</m:t>
                        </m:r>
                      </m:sub>
                    </m:sSub>
                    <m:r>
                      <a:rPr lang="es-ES" b="0" i="1" smtClean="0">
                        <a:latin typeface="Cambria Math" panose="02040503050406030204" pitchFamily="18" charset="0"/>
                      </a:rPr>
                      <m:t>:</m:t>
                    </m:r>
                    <m:r>
                      <a:rPr lang="es-ES" b="0" i="1" smtClean="0">
                        <a:latin typeface="Cambria Math" panose="02040503050406030204" pitchFamily="18" charset="0"/>
                      </a:rPr>
                      <m:t>𝐿𝑎𝑠</m:t>
                    </m:r>
                    <m:r>
                      <a:rPr lang="es-ES" b="0" i="1" smtClean="0">
                        <a:latin typeface="Cambria Math" panose="02040503050406030204" pitchFamily="18" charset="0"/>
                      </a:rPr>
                      <m:t> </m:t>
                    </m:r>
                    <m:r>
                      <a:rPr lang="es-ES" b="0" i="1" smtClean="0">
                        <a:latin typeface="Cambria Math" panose="02040503050406030204" pitchFamily="18" charset="0"/>
                      </a:rPr>
                      <m:t>𝑣𝑎𝑟𝑖𝑎𝑏𝑙𝑒𝑠</m:t>
                    </m:r>
                    <m:r>
                      <a:rPr lang="es-ES" b="0" i="1" smtClean="0">
                        <a:latin typeface="Cambria Math" panose="02040503050406030204" pitchFamily="18" charset="0"/>
                      </a:rPr>
                      <m:t> </m:t>
                    </m:r>
                    <m:r>
                      <a:rPr lang="es-ES" b="0" i="1" smtClean="0">
                        <a:latin typeface="Cambria Math" panose="02040503050406030204" pitchFamily="18" charset="0"/>
                      </a:rPr>
                      <m:t>𝐴</m:t>
                    </m:r>
                    <m:r>
                      <a:rPr lang="es-ES" b="0" i="1" smtClean="0">
                        <a:latin typeface="Cambria Math" panose="02040503050406030204" pitchFamily="18" charset="0"/>
                      </a:rPr>
                      <m:t> </m:t>
                    </m:r>
                    <m:r>
                      <a:rPr lang="es-ES" b="0" i="1" smtClean="0">
                        <a:latin typeface="Cambria Math" panose="02040503050406030204" pitchFamily="18" charset="0"/>
                      </a:rPr>
                      <m:t>𝑦</m:t>
                    </m:r>
                    <m:r>
                      <a:rPr lang="es-ES" b="0" i="1" smtClean="0">
                        <a:latin typeface="Cambria Math" panose="02040503050406030204" pitchFamily="18" charset="0"/>
                      </a:rPr>
                      <m:t> </m:t>
                    </m:r>
                    <m:r>
                      <a:rPr lang="es-ES" b="0" i="1" smtClean="0">
                        <a:latin typeface="Cambria Math" panose="02040503050406030204" pitchFamily="18" charset="0"/>
                      </a:rPr>
                      <m:t>𝐵</m:t>
                    </m:r>
                    <m:r>
                      <a:rPr lang="es-ES" b="0" i="1" smtClean="0">
                        <a:latin typeface="Cambria Math" panose="02040503050406030204" pitchFamily="18" charset="0"/>
                      </a:rPr>
                      <m:t> </m:t>
                    </m:r>
                    <m:r>
                      <a:rPr lang="es-ES" b="0" i="1" smtClean="0">
                        <a:latin typeface="Cambria Math" panose="02040503050406030204" pitchFamily="18" charset="0"/>
                      </a:rPr>
                      <m:t>𝑠𝑜𝑛</m:t>
                    </m:r>
                    <m:r>
                      <a:rPr lang="es-ES" b="0" i="1" smtClean="0">
                        <a:latin typeface="Cambria Math" panose="02040503050406030204" pitchFamily="18" charset="0"/>
                      </a:rPr>
                      <m:t> </m:t>
                    </m:r>
                    <m:r>
                      <a:rPr lang="es-ES" b="0" i="1" smtClean="0">
                        <a:latin typeface="Cambria Math" panose="02040503050406030204" pitchFamily="18" charset="0"/>
                      </a:rPr>
                      <m:t>𝑖𝑛𝑑𝑒𝑝𝑒𝑛𝑑𝑖𝑒𝑛𝑡𝑒𝑠</m:t>
                    </m:r>
                    <m:r>
                      <a:rPr lang="es-ES" b="0" i="1" smtClean="0">
                        <a:latin typeface="Cambria Math" panose="02040503050406030204" pitchFamily="18" charset="0"/>
                      </a:rPr>
                      <m:t> </m:t>
                    </m:r>
                    <m:r>
                      <a:rPr lang="es-ES" b="0" i="1" smtClean="0">
                        <a:latin typeface="Cambria Math" panose="02040503050406030204" pitchFamily="18" charset="0"/>
                      </a:rPr>
                      <m:t>𝑣𝑠</m:t>
                    </m:r>
                    <m:r>
                      <a:rPr lang="es-ES" b="0" i="1" smtClean="0">
                        <a:latin typeface="Cambria Math" panose="02040503050406030204" pitchFamily="18" charset="0"/>
                      </a:rPr>
                      <m:t> </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𝐻</m:t>
                        </m:r>
                      </m:e>
                      <m:sub>
                        <m:r>
                          <a:rPr lang="es-ES" b="0" i="1" smtClean="0">
                            <a:latin typeface="Cambria Math" panose="02040503050406030204" pitchFamily="18" charset="0"/>
                          </a:rPr>
                          <m:t>𝐴</m:t>
                        </m:r>
                      </m:sub>
                    </m:sSub>
                    <m:r>
                      <a:rPr lang="es-ES" b="0" i="1" smtClean="0">
                        <a:latin typeface="Cambria Math" panose="02040503050406030204" pitchFamily="18" charset="0"/>
                      </a:rPr>
                      <m:t>:</m:t>
                    </m:r>
                    <m:r>
                      <a:rPr lang="es-ES" b="0" i="1" smtClean="0">
                        <a:latin typeface="Cambria Math" panose="02040503050406030204" pitchFamily="18" charset="0"/>
                      </a:rPr>
                      <m:t>𝐿𝑎𝑠</m:t>
                    </m:r>
                    <m:r>
                      <a:rPr lang="es-ES" b="0" i="1" smtClean="0">
                        <a:latin typeface="Cambria Math" panose="02040503050406030204" pitchFamily="18" charset="0"/>
                      </a:rPr>
                      <m:t> </m:t>
                    </m:r>
                    <m:r>
                      <a:rPr lang="es-ES" b="0" i="1" smtClean="0">
                        <a:latin typeface="Cambria Math" panose="02040503050406030204" pitchFamily="18" charset="0"/>
                      </a:rPr>
                      <m:t>𝑣𝑎𝑟𝑖𝑎𝑏𝑙𝑒𝑠</m:t>
                    </m:r>
                    <m:r>
                      <a:rPr lang="es-ES" b="0" i="1" smtClean="0">
                        <a:latin typeface="Cambria Math" panose="02040503050406030204" pitchFamily="18" charset="0"/>
                      </a:rPr>
                      <m:t> </m:t>
                    </m:r>
                    <m:r>
                      <a:rPr lang="es-ES" b="0" i="1" smtClean="0">
                        <a:latin typeface="Cambria Math" panose="02040503050406030204" pitchFamily="18" charset="0"/>
                      </a:rPr>
                      <m:t>𝐴</m:t>
                    </m:r>
                    <m:r>
                      <a:rPr lang="es-ES" b="0" i="1" smtClean="0">
                        <a:latin typeface="Cambria Math" panose="02040503050406030204" pitchFamily="18" charset="0"/>
                      </a:rPr>
                      <m:t> </m:t>
                    </m:r>
                    <m:r>
                      <a:rPr lang="es-ES" b="0" i="1" smtClean="0">
                        <a:latin typeface="Cambria Math" panose="02040503050406030204" pitchFamily="18" charset="0"/>
                      </a:rPr>
                      <m:t>𝑦</m:t>
                    </m:r>
                    <m:r>
                      <a:rPr lang="es-ES" b="0" i="1" smtClean="0">
                        <a:latin typeface="Cambria Math" panose="02040503050406030204" pitchFamily="18" charset="0"/>
                      </a:rPr>
                      <m:t> </m:t>
                    </m:r>
                    <m:r>
                      <a:rPr lang="es-ES" b="0" i="1" smtClean="0">
                        <a:latin typeface="Cambria Math" panose="02040503050406030204" pitchFamily="18" charset="0"/>
                      </a:rPr>
                      <m:t>𝐵</m:t>
                    </m:r>
                    <m:r>
                      <a:rPr lang="es-ES" b="0" i="1" smtClean="0">
                        <a:latin typeface="Cambria Math" panose="02040503050406030204" pitchFamily="18" charset="0"/>
                      </a:rPr>
                      <m:t> </m:t>
                    </m:r>
                    <m:r>
                      <a:rPr lang="es-ES" b="0" i="1" smtClean="0">
                        <a:latin typeface="Cambria Math" panose="02040503050406030204" pitchFamily="18" charset="0"/>
                      </a:rPr>
                      <m:t>𝑠𝑜𝑛</m:t>
                    </m:r>
                    <m:r>
                      <a:rPr lang="es-ES" b="0" i="1" smtClean="0">
                        <a:latin typeface="Cambria Math" panose="02040503050406030204" pitchFamily="18" charset="0"/>
                      </a:rPr>
                      <m:t> </m:t>
                    </m:r>
                    <m:r>
                      <a:rPr lang="es-ES" b="0" i="1" smtClean="0">
                        <a:latin typeface="Cambria Math" panose="02040503050406030204" pitchFamily="18" charset="0"/>
                      </a:rPr>
                      <m:t>𝑑𝑒𝑝𝑒𝑛𝑑𝑖𝑒𝑛𝑡𝑒𝑠</m:t>
                    </m:r>
                  </m:oMath>
                </a14:m>
                <a:endParaRPr lang="es-ES" dirty="0"/>
              </a:p>
              <a:p>
                <a:r>
                  <a:rPr lang="es-ES" dirty="0"/>
                  <a:t>Se plantea una tabla de contingencia con las frecuencias obtenidas en las observaciones</a:t>
                </a:r>
              </a:p>
              <a:p>
                <a:r>
                  <a:rPr lang="es-ES" dirty="0"/>
                  <a:t>Se calculan las frecuencias que cabría esperar si las dos variables fueran independientes, aplicando cálculo de probabilidades</a:t>
                </a:r>
              </a:p>
              <a:p>
                <a:r>
                  <a:rPr lang="es-ES" dirty="0"/>
                  <a:t>Se define un estadístico de contraste a partir de la las diferencias entre las  frecuencias observadas y las esperadas</a:t>
                </a:r>
              </a:p>
              <a:p>
                <a:r>
                  <a:rPr lang="es-ES" dirty="0"/>
                  <a:t>Se asume que el estadístico de contraste tiene distribución Chi cuadrado</a:t>
                </a:r>
              </a:p>
              <a:p>
                <a:r>
                  <a:rPr lang="es-ES" dirty="0"/>
                  <a:t>Se establece un nivel de confianza (</a:t>
                </a:r>
                <a14:m>
                  <m:oMath xmlns:m="http://schemas.openxmlformats.org/officeDocument/2006/math">
                    <m:r>
                      <a:rPr lang="es-ES" b="0" i="0" smtClean="0">
                        <a:latin typeface="Cambria Math" panose="02040503050406030204" pitchFamily="18" charset="0"/>
                        <a:ea typeface="Cambria Math" panose="02040503050406030204" pitchFamily="18" charset="0"/>
                      </a:rPr>
                      <m:t>1−</m:t>
                    </m:r>
                    <m:r>
                      <a:rPr lang="es-ES" i="1" smtClean="0">
                        <a:latin typeface="Cambria Math" panose="02040503050406030204" pitchFamily="18" charset="0"/>
                        <a:ea typeface="Cambria Math" panose="02040503050406030204" pitchFamily="18" charset="0"/>
                      </a:rPr>
                      <m:t>𝛼</m:t>
                    </m:r>
                  </m:oMath>
                </a14:m>
                <a:r>
                  <a:rPr lang="es-ES" dirty="0"/>
                  <a:t>) o de significación (</a:t>
                </a:r>
                <a14:m>
                  <m:oMath xmlns:m="http://schemas.openxmlformats.org/officeDocument/2006/math">
                    <m:r>
                      <a:rPr lang="es-ES" i="1" smtClean="0">
                        <a:latin typeface="Cambria Math" panose="02040503050406030204" pitchFamily="18" charset="0"/>
                        <a:ea typeface="Cambria Math" panose="02040503050406030204" pitchFamily="18" charset="0"/>
                      </a:rPr>
                      <m:t>𝛼</m:t>
                    </m:r>
                  </m:oMath>
                </a14:m>
                <a:r>
                  <a:rPr lang="es-ES" dirty="0"/>
                  <a:t>)</a:t>
                </a:r>
              </a:p>
              <a:p>
                <a:r>
                  <a:rPr lang="es-ES" dirty="0"/>
                  <a:t>Se calcula el p-valor del contraste</a:t>
                </a:r>
              </a:p>
              <a:p>
                <a:pPr lvl="1"/>
                <a:r>
                  <a:rPr lang="es-ES" dirty="0"/>
                  <a:t>Si el p-valor es &lt; que el nivel de significación (</a:t>
                </a:r>
                <a14:m>
                  <m:oMath xmlns:m="http://schemas.openxmlformats.org/officeDocument/2006/math">
                    <m:r>
                      <a:rPr lang="es-ES" i="1">
                        <a:latin typeface="Cambria Math" panose="02040503050406030204" pitchFamily="18" charset="0"/>
                        <a:ea typeface="Cambria Math" panose="02040503050406030204" pitchFamily="18" charset="0"/>
                      </a:rPr>
                      <m:t>𝛼</m:t>
                    </m:r>
                  </m:oMath>
                </a14:m>
                <a:r>
                  <a:rPr lang="es-ES" dirty="0"/>
                  <a:t>), se acepta HA (hay relación entre A y B)</a:t>
                </a:r>
              </a:p>
              <a:p>
                <a:pPr lvl="1"/>
                <a:r>
                  <a:rPr lang="es-ES" dirty="0"/>
                  <a:t>Si el p-valor es &gt; que el nivel de significación (</a:t>
                </a:r>
                <a14:m>
                  <m:oMath xmlns:m="http://schemas.openxmlformats.org/officeDocument/2006/math">
                    <m:r>
                      <a:rPr lang="es-ES" i="1">
                        <a:latin typeface="Cambria Math" panose="02040503050406030204" pitchFamily="18" charset="0"/>
                        <a:ea typeface="Cambria Math" panose="02040503050406030204" pitchFamily="18" charset="0"/>
                      </a:rPr>
                      <m:t>𝛼</m:t>
                    </m:r>
                  </m:oMath>
                </a14:m>
                <a:r>
                  <a:rPr lang="es-ES" dirty="0"/>
                  <a:t>), no se acepta HA</a:t>
                </a:r>
              </a:p>
              <a:p>
                <a:pPr lvl="1"/>
                <a:endParaRPr lang="es-ES" dirty="0"/>
              </a:p>
              <a:p>
                <a:pPr lvl="1"/>
                <a:endParaRPr lang="es-ES" dirty="0"/>
              </a:p>
              <a:p>
                <a:endParaRPr lang="es-ES" dirty="0"/>
              </a:p>
            </p:txBody>
          </p:sp>
        </mc:Choice>
        <mc:Fallback>
          <p:sp>
            <p:nvSpPr>
              <p:cNvPr id="3" name="Marcador de contenido 2">
                <a:extLst>
                  <a:ext uri="{FF2B5EF4-FFF2-40B4-BE49-F238E27FC236}">
                    <a16:creationId xmlns:a16="http://schemas.microsoft.com/office/drawing/2014/main" id="{49250CC4-4B60-5876-7F4C-93DFE3A8DC61}"/>
                  </a:ext>
                </a:extLst>
              </p:cNvPr>
              <p:cNvSpPr>
                <a:spLocks noGrp="1" noRot="1" noChangeAspect="1" noMove="1" noResize="1" noEditPoints="1" noAdjustHandles="1" noChangeArrowheads="1" noChangeShapeType="1" noTextEdit="1"/>
              </p:cNvSpPr>
              <p:nvPr>
                <p:ph idx="1"/>
              </p:nvPr>
            </p:nvSpPr>
            <p:spPr>
              <a:blipFill>
                <a:blip r:embed="rId2"/>
                <a:stretch>
                  <a:fillRect l="-812" t="-3221" r="-2435" b="-1821"/>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B68DF277-3AE2-5AF7-4650-9E0092E28703}"/>
              </a:ext>
            </a:extLst>
          </p:cNvPr>
          <p:cNvSpPr>
            <a:spLocks noGrp="1"/>
          </p:cNvSpPr>
          <p:nvPr>
            <p:ph type="sldNum" sz="quarter" idx="12"/>
          </p:nvPr>
        </p:nvSpPr>
        <p:spPr/>
        <p:txBody>
          <a:bodyPr/>
          <a:lstStyle/>
          <a:p>
            <a:fld id="{336CAFD0-1F6E-4E11-9822-836563A02839}" type="slidenum">
              <a:rPr lang="es-ES" smtClean="0"/>
              <a:pPr/>
              <a:t>6</a:t>
            </a:fld>
            <a:endParaRPr lang="es-ES" dirty="0"/>
          </a:p>
        </p:txBody>
      </p:sp>
    </p:spTree>
    <p:extLst>
      <p:ext uri="{BB962C8B-B14F-4D97-AF65-F5344CB8AC3E}">
        <p14:creationId xmlns:p14="http://schemas.microsoft.com/office/powerpoint/2010/main" val="32035224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0474FA5-5389-9719-6C67-1578DFBD2BD2}"/>
              </a:ext>
            </a:extLst>
          </p:cNvPr>
          <p:cNvSpPr>
            <a:spLocks noGrp="1"/>
          </p:cNvSpPr>
          <p:nvPr>
            <p:ph type="title"/>
          </p:nvPr>
        </p:nvSpPr>
        <p:spPr/>
        <p:txBody>
          <a:bodyPr>
            <a:normAutofit fontScale="90000"/>
          </a:bodyPr>
          <a:lstStyle/>
          <a:p>
            <a:r>
              <a:rPr lang="es-ES" dirty="0"/>
              <a:t>3. Prueba Chi cuadrado</a:t>
            </a:r>
            <a:br>
              <a:rPr lang="es-ES" dirty="0"/>
            </a:br>
            <a:r>
              <a:rPr lang="es-ES" dirty="0"/>
              <a:t>Paso 1: Tabla de contingencia de </a:t>
            </a:r>
            <a:r>
              <a:rPr lang="es-ES" dirty="0" err="1"/>
              <a:t>frec</a:t>
            </a:r>
            <a:r>
              <a:rPr lang="es-ES" dirty="0"/>
              <a:t>. observadas</a:t>
            </a:r>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919E1EF6-E59F-6876-79A4-CAEC174E6470}"/>
                  </a:ext>
                </a:extLst>
              </p:cNvPr>
              <p:cNvSpPr>
                <a:spLocks noGrp="1"/>
              </p:cNvSpPr>
              <p:nvPr>
                <p:ph idx="1"/>
              </p:nvPr>
            </p:nvSpPr>
            <p:spPr>
              <a:xfrm>
                <a:off x="838200" y="1825625"/>
                <a:ext cx="5747795" cy="4895850"/>
              </a:xfrm>
            </p:spPr>
            <p:txBody>
              <a:bodyPr>
                <a:normAutofit fontScale="70000" lnSpcReduction="20000"/>
              </a:bodyPr>
              <a:lstStyle/>
              <a:p>
                <a:r>
                  <a:rPr lang="es-ES" dirty="0"/>
                  <a:t>Se elabora la tabla para las variables A y B, cuyos posibles valores son:</a:t>
                </a:r>
              </a:p>
              <a:p>
                <a:pPr lvl="1"/>
                <a14:m>
                  <m:oMath xmlns:m="http://schemas.openxmlformats.org/officeDocument/2006/math">
                    <m:r>
                      <a:rPr lang="es-ES" b="0" i="1" smtClean="0">
                        <a:latin typeface="Cambria Math" panose="02040503050406030204" pitchFamily="18" charset="0"/>
                      </a:rPr>
                      <m:t>𝐴</m:t>
                    </m:r>
                    <m:r>
                      <a:rPr lang="es-ES" b="0" i="1" smtClean="0">
                        <a:latin typeface="Cambria Math" panose="02040503050406030204" pitchFamily="18" charset="0"/>
                      </a:rPr>
                      <m:t>=</m:t>
                    </m:r>
                    <m:d>
                      <m:dPr>
                        <m:begChr m:val="{"/>
                        <m:endChr m:val="}"/>
                        <m:ctrlPr>
                          <a:rPr lang="es-ES" b="0" i="1" smtClean="0">
                            <a:latin typeface="Cambria Math" panose="02040503050406030204" pitchFamily="18" charset="0"/>
                          </a:rPr>
                        </m:ctrlPr>
                      </m:dPr>
                      <m:e>
                        <m:sSub>
                          <m:sSubPr>
                            <m:ctrlPr>
                              <a:rPr lang="es-ES" b="0" i="1" smtClean="0">
                                <a:latin typeface="Cambria Math" panose="02040503050406030204" pitchFamily="18" charset="0"/>
                              </a:rPr>
                            </m:ctrlPr>
                          </m:sSubPr>
                          <m:e>
                            <m:r>
                              <a:rPr lang="es-ES" b="0" i="1" smtClean="0">
                                <a:latin typeface="Cambria Math" panose="02040503050406030204" pitchFamily="18" charset="0"/>
                              </a:rPr>
                              <m:t>𝐴</m:t>
                            </m:r>
                          </m:e>
                          <m:sub>
                            <m:r>
                              <a:rPr lang="es-ES" b="0" i="1" smtClean="0">
                                <a:latin typeface="Cambria Math" panose="02040503050406030204" pitchFamily="18" charset="0"/>
                              </a:rPr>
                              <m:t>1</m:t>
                            </m:r>
                          </m:sub>
                        </m:sSub>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𝐴</m:t>
                            </m:r>
                          </m:e>
                          <m:sub>
                            <m:r>
                              <a:rPr lang="es-ES" b="0" i="1" smtClean="0">
                                <a:latin typeface="Cambria Math" panose="02040503050406030204" pitchFamily="18" charset="0"/>
                              </a:rPr>
                              <m:t>2</m:t>
                            </m:r>
                          </m:sub>
                        </m:sSub>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𝐴</m:t>
                            </m:r>
                          </m:e>
                          <m:sub>
                            <m:r>
                              <a:rPr lang="es-ES" b="0" i="1" smtClean="0">
                                <a:latin typeface="Cambria Math" panose="02040503050406030204" pitchFamily="18" charset="0"/>
                              </a:rPr>
                              <m:t>𝑘</m:t>
                            </m:r>
                          </m:sub>
                        </m:sSub>
                      </m:e>
                    </m:d>
                  </m:oMath>
                </a14:m>
                <a:endParaRPr lang="es-ES" dirty="0"/>
              </a:p>
              <a:p>
                <a:pPr lvl="1"/>
                <a14:m>
                  <m:oMath xmlns:m="http://schemas.openxmlformats.org/officeDocument/2006/math">
                    <m:r>
                      <a:rPr lang="es-ES" b="0" i="1" smtClean="0">
                        <a:latin typeface="Cambria Math" panose="02040503050406030204" pitchFamily="18" charset="0"/>
                      </a:rPr>
                      <m:t>𝐵</m:t>
                    </m:r>
                    <m:r>
                      <a:rPr lang="es-ES" i="1">
                        <a:latin typeface="Cambria Math" panose="02040503050406030204" pitchFamily="18" charset="0"/>
                      </a:rPr>
                      <m:t>=</m:t>
                    </m:r>
                    <m:d>
                      <m:dPr>
                        <m:begChr m:val="{"/>
                        <m:endChr m:val="}"/>
                        <m:ctrlPr>
                          <a:rPr lang="es-ES" i="1">
                            <a:latin typeface="Cambria Math" panose="02040503050406030204" pitchFamily="18" charset="0"/>
                          </a:rPr>
                        </m:ctrlPr>
                      </m:dPr>
                      <m:e>
                        <m:sSub>
                          <m:sSubPr>
                            <m:ctrlPr>
                              <a:rPr lang="es-ES" i="1">
                                <a:latin typeface="Cambria Math" panose="02040503050406030204" pitchFamily="18" charset="0"/>
                              </a:rPr>
                            </m:ctrlPr>
                          </m:sSubPr>
                          <m:e>
                            <m:r>
                              <a:rPr lang="es-ES" b="0" i="1" smtClean="0">
                                <a:latin typeface="Cambria Math" panose="02040503050406030204" pitchFamily="18" charset="0"/>
                              </a:rPr>
                              <m:t>𝐵</m:t>
                            </m:r>
                          </m:e>
                          <m:sub>
                            <m:r>
                              <a:rPr lang="es-ES" i="1">
                                <a:latin typeface="Cambria Math" panose="02040503050406030204" pitchFamily="18" charset="0"/>
                              </a:rPr>
                              <m:t>1</m:t>
                            </m:r>
                          </m:sub>
                        </m:sSub>
                        <m:r>
                          <a:rPr lang="es-ES" i="1">
                            <a:latin typeface="Cambria Math" panose="02040503050406030204" pitchFamily="18" charset="0"/>
                          </a:rPr>
                          <m:t>,</m:t>
                        </m:r>
                        <m:sSub>
                          <m:sSubPr>
                            <m:ctrlPr>
                              <a:rPr lang="es-ES" i="1">
                                <a:latin typeface="Cambria Math" panose="02040503050406030204" pitchFamily="18" charset="0"/>
                              </a:rPr>
                            </m:ctrlPr>
                          </m:sSubPr>
                          <m:e>
                            <m:r>
                              <a:rPr lang="es-ES" b="0" i="1" smtClean="0">
                                <a:latin typeface="Cambria Math" panose="02040503050406030204" pitchFamily="18" charset="0"/>
                              </a:rPr>
                              <m:t>𝐵</m:t>
                            </m:r>
                          </m:e>
                          <m:sub>
                            <m:r>
                              <a:rPr lang="es-ES" i="1">
                                <a:latin typeface="Cambria Math" panose="02040503050406030204" pitchFamily="18" charset="0"/>
                              </a:rPr>
                              <m:t>2</m:t>
                            </m:r>
                          </m:sub>
                        </m:sSub>
                        <m:r>
                          <a:rPr lang="es-ES" i="1">
                            <a:latin typeface="Cambria Math" panose="02040503050406030204" pitchFamily="18" charset="0"/>
                          </a:rPr>
                          <m:t>,..,</m:t>
                        </m:r>
                        <m:sSub>
                          <m:sSubPr>
                            <m:ctrlPr>
                              <a:rPr lang="es-ES" i="1">
                                <a:latin typeface="Cambria Math" panose="02040503050406030204" pitchFamily="18" charset="0"/>
                              </a:rPr>
                            </m:ctrlPr>
                          </m:sSubPr>
                          <m:e>
                            <m:r>
                              <a:rPr lang="es-ES" b="0" i="1" smtClean="0">
                                <a:latin typeface="Cambria Math" panose="02040503050406030204" pitchFamily="18" charset="0"/>
                              </a:rPr>
                              <m:t>𝐵</m:t>
                            </m:r>
                          </m:e>
                          <m:sub>
                            <m:r>
                              <a:rPr lang="es-ES" b="0" i="1" smtClean="0">
                                <a:latin typeface="Cambria Math" panose="02040503050406030204" pitchFamily="18" charset="0"/>
                              </a:rPr>
                              <m:t>𝑚</m:t>
                            </m:r>
                          </m:sub>
                        </m:sSub>
                      </m:e>
                    </m:d>
                  </m:oMath>
                </a14:m>
                <a:endParaRPr lang="es-ES" dirty="0"/>
              </a:p>
              <a:p>
                <a:pPr lvl="1"/>
                <a:endParaRPr lang="es-ES" dirty="0"/>
              </a:p>
              <a:p>
                <a:pPr marL="0" indent="0">
                  <a:buNone/>
                </a:pPr>
                <a:r>
                  <a:rPr lang="es-ES" dirty="0"/>
                  <a:t>Debe incluir las frecuencias absolutas observadas</a:t>
                </a:r>
              </a:p>
              <a:p>
                <a:pPr lvl="1"/>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𝑛</m:t>
                        </m:r>
                      </m:e>
                      <m:sub>
                        <m:r>
                          <a:rPr lang="es-ES" b="0" i="1" smtClean="0">
                            <a:latin typeface="Cambria Math" panose="02040503050406030204" pitchFamily="18" charset="0"/>
                          </a:rPr>
                          <m:t>𝑖</m:t>
                        </m:r>
                        <m:r>
                          <a:rPr lang="es-ES" b="0" i="1" smtClean="0">
                            <a:latin typeface="Cambria Math" panose="02040503050406030204" pitchFamily="18" charset="0"/>
                          </a:rPr>
                          <m:t>,</m:t>
                        </m:r>
                        <m:r>
                          <a:rPr lang="es-ES" b="0" i="1" smtClean="0">
                            <a:latin typeface="Cambria Math" panose="02040503050406030204" pitchFamily="18" charset="0"/>
                          </a:rPr>
                          <m:t>𝑗</m:t>
                        </m:r>
                      </m:sub>
                    </m:sSub>
                  </m:oMath>
                </a14:m>
                <a:endParaRPr lang="es-ES" dirty="0"/>
              </a:p>
              <a:p>
                <a:pPr marL="0" indent="0">
                  <a:buNone/>
                </a:pPr>
                <a:r>
                  <a:rPr lang="es-ES" dirty="0"/>
                  <a:t>Y las frecuencias marginales:</a:t>
                </a:r>
              </a:p>
              <a:p>
                <a:r>
                  <a:rPr lang="es-ES" dirty="0"/>
                  <a:t>Frecuencia absoluta </a:t>
                </a:r>
                <a:r>
                  <a:rPr lang="es-ES" b="1" dirty="0"/>
                  <a:t>marginal</a:t>
                </a:r>
                <a:r>
                  <a:rPr lang="es-ES" dirty="0"/>
                  <a:t> del valor </a:t>
                </a:r>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𝐴</m:t>
                        </m:r>
                      </m:e>
                      <m:sub>
                        <m:r>
                          <a:rPr lang="es-ES" b="0" i="1" smtClean="0">
                            <a:latin typeface="Cambria Math" panose="02040503050406030204" pitchFamily="18" charset="0"/>
                          </a:rPr>
                          <m:t>𝑖</m:t>
                        </m:r>
                      </m:sub>
                    </m:sSub>
                  </m:oMath>
                </a14:m>
                <a:r>
                  <a:rPr lang="es-ES" dirty="0"/>
                  <a:t> de la variable </a:t>
                </a:r>
                <a14:m>
                  <m:oMath xmlns:m="http://schemas.openxmlformats.org/officeDocument/2006/math">
                    <m:r>
                      <a:rPr lang="es-ES" b="0" i="1" smtClean="0">
                        <a:latin typeface="Cambria Math" panose="02040503050406030204" pitchFamily="18" charset="0"/>
                      </a:rPr>
                      <m:t>𝐴</m:t>
                    </m:r>
                  </m:oMath>
                </a14:m>
                <a:r>
                  <a:rPr lang="es-ES" dirty="0"/>
                  <a:t>:</a:t>
                </a:r>
              </a:p>
              <a:p>
                <a:pPr lvl="1"/>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𝑛</m:t>
                        </m:r>
                      </m:e>
                      <m:sub>
                        <m:sSub>
                          <m:sSubPr>
                            <m:ctrlPr>
                              <a:rPr lang="es-ES" b="0" i="1" smtClean="0">
                                <a:latin typeface="Cambria Math" panose="02040503050406030204" pitchFamily="18" charset="0"/>
                              </a:rPr>
                            </m:ctrlPr>
                          </m:sSubPr>
                          <m:e>
                            <m:r>
                              <a:rPr lang="es-ES" b="0" i="1" smtClean="0">
                                <a:latin typeface="Cambria Math" panose="02040503050406030204" pitchFamily="18" charset="0"/>
                              </a:rPr>
                              <m:t>𝐴</m:t>
                            </m:r>
                          </m:e>
                          <m:sub>
                            <m:r>
                              <a:rPr lang="es-ES" b="0" i="1" smtClean="0">
                                <a:latin typeface="Cambria Math" panose="02040503050406030204" pitchFamily="18" charset="0"/>
                              </a:rPr>
                              <m:t>𝑖</m:t>
                            </m:r>
                          </m:sub>
                        </m:sSub>
                      </m:sub>
                    </m:sSub>
                    <m:r>
                      <a:rPr lang="es-ES" b="0" i="1" smtClean="0">
                        <a:latin typeface="Cambria Math" panose="02040503050406030204" pitchFamily="18" charset="0"/>
                      </a:rPr>
                      <m:t>=</m:t>
                    </m:r>
                    <m:nary>
                      <m:naryPr>
                        <m:chr m:val="∑"/>
                        <m:ctrlPr>
                          <a:rPr lang="es-ES" b="0" i="1" smtClean="0">
                            <a:latin typeface="Cambria Math" panose="02040503050406030204" pitchFamily="18" charset="0"/>
                          </a:rPr>
                        </m:ctrlPr>
                      </m:naryPr>
                      <m:sub>
                        <m:r>
                          <m:rPr>
                            <m:brk m:alnAt="23"/>
                          </m:rPr>
                          <a:rPr lang="es-ES" b="0" i="1" smtClean="0">
                            <a:latin typeface="Cambria Math" panose="02040503050406030204" pitchFamily="18" charset="0"/>
                          </a:rPr>
                          <m:t>𝑗</m:t>
                        </m:r>
                        <m:r>
                          <a:rPr lang="es-ES" b="0" i="1" smtClean="0">
                            <a:latin typeface="Cambria Math" panose="02040503050406030204" pitchFamily="18" charset="0"/>
                          </a:rPr>
                          <m:t>=1</m:t>
                        </m:r>
                      </m:sub>
                      <m:sup>
                        <m:r>
                          <a:rPr lang="es-ES" b="0" i="1" smtClean="0">
                            <a:latin typeface="Cambria Math" panose="02040503050406030204" pitchFamily="18" charset="0"/>
                          </a:rPr>
                          <m:t>𝑚</m:t>
                        </m:r>
                      </m:sup>
                      <m:e>
                        <m:sSub>
                          <m:sSubPr>
                            <m:ctrlPr>
                              <a:rPr lang="es-ES" b="0" i="1" smtClean="0">
                                <a:latin typeface="Cambria Math" panose="02040503050406030204" pitchFamily="18" charset="0"/>
                              </a:rPr>
                            </m:ctrlPr>
                          </m:sSubPr>
                          <m:e>
                            <m:r>
                              <a:rPr lang="es-ES" b="0" i="1" smtClean="0">
                                <a:latin typeface="Cambria Math" panose="02040503050406030204" pitchFamily="18" charset="0"/>
                              </a:rPr>
                              <m:t>𝑛</m:t>
                            </m:r>
                          </m:e>
                          <m:sub>
                            <m:r>
                              <a:rPr lang="es-ES" b="0" i="1" smtClean="0">
                                <a:latin typeface="Cambria Math" panose="02040503050406030204" pitchFamily="18" charset="0"/>
                              </a:rPr>
                              <m:t>𝑖</m:t>
                            </m:r>
                            <m:r>
                              <a:rPr lang="es-ES" b="0" i="1" smtClean="0">
                                <a:latin typeface="Cambria Math" panose="02040503050406030204" pitchFamily="18" charset="0"/>
                              </a:rPr>
                              <m:t>,</m:t>
                            </m:r>
                            <m:r>
                              <a:rPr lang="es-ES" b="0" i="1" smtClean="0">
                                <a:latin typeface="Cambria Math" panose="02040503050406030204" pitchFamily="18" charset="0"/>
                              </a:rPr>
                              <m:t>𝑗</m:t>
                            </m:r>
                          </m:sub>
                        </m:sSub>
                      </m:e>
                    </m:nary>
                  </m:oMath>
                </a14:m>
                <a:r>
                  <a:rPr lang="es-ES" dirty="0"/>
                  <a:t> </a:t>
                </a:r>
              </a:p>
              <a:p>
                <a:pPr lvl="1"/>
                <a:r>
                  <a:rPr lang="es-ES" dirty="0"/>
                  <a:t>Siendo </a:t>
                </a:r>
                <a14:m>
                  <m:oMath xmlns:m="http://schemas.openxmlformats.org/officeDocument/2006/math">
                    <m:r>
                      <a:rPr lang="es-ES" b="0" i="1" smtClean="0">
                        <a:latin typeface="Cambria Math" panose="02040503050406030204" pitchFamily="18" charset="0"/>
                      </a:rPr>
                      <m:t>𝑚</m:t>
                    </m:r>
                  </m:oMath>
                </a14:m>
                <a:r>
                  <a:rPr lang="es-ES" dirty="0"/>
                  <a:t> el número de valores diferentes de </a:t>
                </a:r>
                <a14:m>
                  <m:oMath xmlns:m="http://schemas.openxmlformats.org/officeDocument/2006/math">
                    <m:r>
                      <a:rPr lang="es-ES" b="0" i="1" smtClean="0">
                        <a:latin typeface="Cambria Math" panose="02040503050406030204" pitchFamily="18" charset="0"/>
                      </a:rPr>
                      <m:t>𝐵</m:t>
                    </m:r>
                  </m:oMath>
                </a14:m>
                <a:endParaRPr lang="es-ES" dirty="0"/>
              </a:p>
              <a:p>
                <a:r>
                  <a:rPr lang="es-ES" dirty="0"/>
                  <a:t>Frecuencia absoluta </a:t>
                </a:r>
                <a:r>
                  <a:rPr lang="es-ES" b="1" dirty="0"/>
                  <a:t>marginal</a:t>
                </a:r>
                <a:r>
                  <a:rPr lang="es-ES" dirty="0"/>
                  <a:t> del valor </a:t>
                </a:r>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𝐵</m:t>
                        </m:r>
                      </m:e>
                      <m:sub>
                        <m:r>
                          <a:rPr lang="es-ES" b="0" i="1" smtClean="0">
                            <a:latin typeface="Cambria Math" panose="02040503050406030204" pitchFamily="18" charset="0"/>
                          </a:rPr>
                          <m:t>𝑗</m:t>
                        </m:r>
                      </m:sub>
                    </m:sSub>
                  </m:oMath>
                </a14:m>
                <a:r>
                  <a:rPr lang="es-ES" dirty="0"/>
                  <a:t> de la variable </a:t>
                </a:r>
                <a14:m>
                  <m:oMath xmlns:m="http://schemas.openxmlformats.org/officeDocument/2006/math">
                    <m:r>
                      <a:rPr lang="es-ES" b="0" i="1" smtClean="0">
                        <a:latin typeface="Cambria Math" panose="02040503050406030204" pitchFamily="18" charset="0"/>
                      </a:rPr>
                      <m:t>𝐵</m:t>
                    </m:r>
                  </m:oMath>
                </a14:m>
                <a:r>
                  <a:rPr lang="es-ES" dirty="0"/>
                  <a:t>:</a:t>
                </a:r>
              </a:p>
              <a:p>
                <a:pPr lvl="1"/>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𝑛</m:t>
                        </m:r>
                      </m:e>
                      <m:sub>
                        <m:sSub>
                          <m:sSubPr>
                            <m:ctrlPr>
                              <a:rPr lang="es-ES" b="0" i="1" smtClean="0">
                                <a:latin typeface="Cambria Math" panose="02040503050406030204" pitchFamily="18" charset="0"/>
                              </a:rPr>
                            </m:ctrlPr>
                          </m:sSubPr>
                          <m:e>
                            <m:r>
                              <a:rPr lang="es-ES" b="0" i="1" smtClean="0">
                                <a:latin typeface="Cambria Math" panose="02040503050406030204" pitchFamily="18" charset="0"/>
                              </a:rPr>
                              <m:t>𝐵</m:t>
                            </m:r>
                          </m:e>
                          <m:sub>
                            <m:r>
                              <a:rPr lang="es-ES" b="0" i="1" smtClean="0">
                                <a:latin typeface="Cambria Math" panose="02040503050406030204" pitchFamily="18" charset="0"/>
                              </a:rPr>
                              <m:t>𝑗</m:t>
                            </m:r>
                          </m:sub>
                        </m:sSub>
                      </m:sub>
                    </m:sSub>
                    <m:r>
                      <a:rPr lang="es-ES" b="0" i="1" smtClean="0">
                        <a:latin typeface="Cambria Math" panose="02040503050406030204" pitchFamily="18" charset="0"/>
                      </a:rPr>
                      <m:t>=</m:t>
                    </m:r>
                    <m:nary>
                      <m:naryPr>
                        <m:chr m:val="∑"/>
                        <m:ctrlPr>
                          <a:rPr lang="es-ES" b="0" i="1" smtClean="0">
                            <a:latin typeface="Cambria Math" panose="02040503050406030204" pitchFamily="18" charset="0"/>
                          </a:rPr>
                        </m:ctrlPr>
                      </m:naryPr>
                      <m:sub>
                        <m:r>
                          <a:rPr lang="es-ES" b="0" i="1" smtClean="0">
                            <a:latin typeface="Cambria Math" panose="02040503050406030204" pitchFamily="18" charset="0"/>
                          </a:rPr>
                          <m:t>𝑖</m:t>
                        </m:r>
                        <m:r>
                          <a:rPr lang="es-ES" b="0" i="1" smtClean="0">
                            <a:latin typeface="Cambria Math" panose="02040503050406030204" pitchFamily="18" charset="0"/>
                          </a:rPr>
                          <m:t>=1</m:t>
                        </m:r>
                      </m:sub>
                      <m:sup>
                        <m:r>
                          <a:rPr lang="es-ES" b="0" i="1" smtClean="0">
                            <a:latin typeface="Cambria Math" panose="02040503050406030204" pitchFamily="18" charset="0"/>
                          </a:rPr>
                          <m:t>𝑘</m:t>
                        </m:r>
                      </m:sup>
                      <m:e>
                        <m:sSub>
                          <m:sSubPr>
                            <m:ctrlPr>
                              <a:rPr lang="es-ES" b="0" i="1" smtClean="0">
                                <a:latin typeface="Cambria Math" panose="02040503050406030204" pitchFamily="18" charset="0"/>
                              </a:rPr>
                            </m:ctrlPr>
                          </m:sSubPr>
                          <m:e>
                            <m:r>
                              <a:rPr lang="es-ES" b="0" i="1" smtClean="0">
                                <a:latin typeface="Cambria Math" panose="02040503050406030204" pitchFamily="18" charset="0"/>
                              </a:rPr>
                              <m:t>𝑛</m:t>
                            </m:r>
                          </m:e>
                          <m:sub>
                            <m:r>
                              <a:rPr lang="es-ES" b="0" i="1" smtClean="0">
                                <a:latin typeface="Cambria Math" panose="02040503050406030204" pitchFamily="18" charset="0"/>
                              </a:rPr>
                              <m:t>𝑖</m:t>
                            </m:r>
                            <m:r>
                              <a:rPr lang="es-ES" b="0" i="1" smtClean="0">
                                <a:latin typeface="Cambria Math" panose="02040503050406030204" pitchFamily="18" charset="0"/>
                              </a:rPr>
                              <m:t>,</m:t>
                            </m:r>
                            <m:r>
                              <a:rPr lang="es-ES" b="0" i="1" smtClean="0">
                                <a:latin typeface="Cambria Math" panose="02040503050406030204" pitchFamily="18" charset="0"/>
                              </a:rPr>
                              <m:t>𝑗</m:t>
                            </m:r>
                          </m:sub>
                        </m:sSub>
                      </m:e>
                    </m:nary>
                  </m:oMath>
                </a14:m>
                <a:endParaRPr lang="es-ES" dirty="0"/>
              </a:p>
              <a:p>
                <a:pPr lvl="1"/>
                <a:r>
                  <a:rPr lang="es-ES" dirty="0"/>
                  <a:t>Siendo </a:t>
                </a:r>
                <a14:m>
                  <m:oMath xmlns:m="http://schemas.openxmlformats.org/officeDocument/2006/math">
                    <m:r>
                      <a:rPr lang="es-ES" i="1" dirty="0" smtClean="0">
                        <a:latin typeface="Cambria Math" panose="02040503050406030204" pitchFamily="18" charset="0"/>
                      </a:rPr>
                      <m:t>𝑘</m:t>
                    </m:r>
                  </m:oMath>
                </a14:m>
                <a:r>
                  <a:rPr lang="es-ES" dirty="0"/>
                  <a:t> el número de valores diferentes de </a:t>
                </a:r>
                <a14:m>
                  <m:oMath xmlns:m="http://schemas.openxmlformats.org/officeDocument/2006/math">
                    <m:r>
                      <a:rPr lang="es-ES" b="0" i="1" dirty="0" smtClean="0">
                        <a:latin typeface="Cambria Math" panose="02040503050406030204" pitchFamily="18" charset="0"/>
                      </a:rPr>
                      <m:t>𝐴</m:t>
                    </m:r>
                  </m:oMath>
                </a14:m>
                <a:endParaRPr lang="es-ES" dirty="0"/>
              </a:p>
              <a:p>
                <a:pPr lvl="1"/>
                <a:endParaRPr lang="es-ES" dirty="0"/>
              </a:p>
              <a:p>
                <a:endParaRPr lang="es-ES" dirty="0"/>
              </a:p>
            </p:txBody>
          </p:sp>
        </mc:Choice>
        <mc:Fallback>
          <p:sp>
            <p:nvSpPr>
              <p:cNvPr id="3" name="Marcador de contenido 2">
                <a:extLst>
                  <a:ext uri="{FF2B5EF4-FFF2-40B4-BE49-F238E27FC236}">
                    <a16:creationId xmlns:a16="http://schemas.microsoft.com/office/drawing/2014/main" id="{919E1EF6-E59F-6876-79A4-CAEC174E6470}"/>
                  </a:ext>
                </a:extLst>
              </p:cNvPr>
              <p:cNvSpPr>
                <a:spLocks noGrp="1" noRot="1" noChangeAspect="1" noMove="1" noResize="1" noEditPoints="1" noAdjustHandles="1" noChangeArrowheads="1" noChangeShapeType="1" noTextEdit="1"/>
              </p:cNvSpPr>
              <p:nvPr>
                <p:ph idx="1"/>
              </p:nvPr>
            </p:nvSpPr>
            <p:spPr>
              <a:xfrm>
                <a:off x="838200" y="1825625"/>
                <a:ext cx="5747795" cy="4895850"/>
              </a:xfrm>
              <a:blipFill>
                <a:blip r:embed="rId2"/>
                <a:stretch>
                  <a:fillRect l="-1168" t="-2239" b="-498"/>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20DF9210-6429-E834-7DF3-0B581FE1C174}"/>
              </a:ext>
            </a:extLst>
          </p:cNvPr>
          <p:cNvSpPr>
            <a:spLocks noGrp="1"/>
          </p:cNvSpPr>
          <p:nvPr>
            <p:ph type="sldNum" sz="quarter" idx="12"/>
          </p:nvPr>
        </p:nvSpPr>
        <p:spPr/>
        <p:txBody>
          <a:bodyPr/>
          <a:lstStyle/>
          <a:p>
            <a:fld id="{336CAFD0-1F6E-4E11-9822-836563A02839}" type="slidenum">
              <a:rPr lang="es-ES" smtClean="0"/>
              <a:pPr/>
              <a:t>7</a:t>
            </a:fld>
            <a:endParaRPr lang="es-ES" dirty="0"/>
          </a:p>
        </p:txBody>
      </p:sp>
      <mc:AlternateContent xmlns:mc="http://schemas.openxmlformats.org/markup-compatibility/2006">
        <mc:Choice xmlns:a14="http://schemas.microsoft.com/office/drawing/2010/main" Requires="a14">
          <p:graphicFrame>
            <p:nvGraphicFramePr>
              <p:cNvPr id="5" name="Tabla 5">
                <a:extLst>
                  <a:ext uri="{FF2B5EF4-FFF2-40B4-BE49-F238E27FC236}">
                    <a16:creationId xmlns:a16="http://schemas.microsoft.com/office/drawing/2014/main" id="{1571EAC2-8CED-9816-1B00-A6898D3DD682}"/>
                  </a:ext>
                </a:extLst>
              </p:cNvPr>
              <p:cNvGraphicFramePr>
                <a:graphicFrameLocks noGrp="1"/>
              </p:cNvGraphicFramePr>
              <p:nvPr>
                <p:extLst>
                  <p:ext uri="{D42A27DB-BD31-4B8C-83A1-F6EECF244321}">
                    <p14:modId xmlns:p14="http://schemas.microsoft.com/office/powerpoint/2010/main" val="2186158082"/>
                  </p:ext>
                </p:extLst>
              </p:nvPr>
            </p:nvGraphicFramePr>
            <p:xfrm>
              <a:off x="6996104" y="2790190"/>
              <a:ext cx="4158618" cy="2966720"/>
            </p:xfrm>
            <a:graphic>
              <a:graphicData uri="http://schemas.openxmlformats.org/drawingml/2006/table">
                <a:tbl>
                  <a:tblPr firstRow="1" bandRow="1">
                    <a:tableStyleId>{5940675A-B579-460E-94D1-54222C63F5DA}</a:tableStyleId>
                  </a:tblPr>
                  <a:tblGrid>
                    <a:gridCol w="605211">
                      <a:extLst>
                        <a:ext uri="{9D8B030D-6E8A-4147-A177-3AD203B41FA5}">
                          <a16:colId xmlns:a16="http://schemas.microsoft.com/office/drawing/2014/main" val="1709859660"/>
                        </a:ext>
                      </a:extLst>
                    </a:gridCol>
                    <a:gridCol w="568269">
                      <a:extLst>
                        <a:ext uri="{9D8B030D-6E8A-4147-A177-3AD203B41FA5}">
                          <a16:colId xmlns:a16="http://schemas.microsoft.com/office/drawing/2014/main" val="3441740441"/>
                        </a:ext>
                      </a:extLst>
                    </a:gridCol>
                    <a:gridCol w="556260">
                      <a:extLst>
                        <a:ext uri="{9D8B030D-6E8A-4147-A177-3AD203B41FA5}">
                          <a16:colId xmlns:a16="http://schemas.microsoft.com/office/drawing/2014/main" val="2705658812"/>
                        </a:ext>
                      </a:extLst>
                    </a:gridCol>
                    <a:gridCol w="365760">
                      <a:extLst>
                        <a:ext uri="{9D8B030D-6E8A-4147-A177-3AD203B41FA5}">
                          <a16:colId xmlns:a16="http://schemas.microsoft.com/office/drawing/2014/main" val="3883677733"/>
                        </a:ext>
                      </a:extLst>
                    </a:gridCol>
                    <a:gridCol w="571500">
                      <a:extLst>
                        <a:ext uri="{9D8B030D-6E8A-4147-A177-3AD203B41FA5}">
                          <a16:colId xmlns:a16="http://schemas.microsoft.com/office/drawing/2014/main" val="3464686749"/>
                        </a:ext>
                      </a:extLst>
                    </a:gridCol>
                    <a:gridCol w="411480">
                      <a:extLst>
                        <a:ext uri="{9D8B030D-6E8A-4147-A177-3AD203B41FA5}">
                          <a16:colId xmlns:a16="http://schemas.microsoft.com/office/drawing/2014/main" val="2359465122"/>
                        </a:ext>
                      </a:extLst>
                    </a:gridCol>
                    <a:gridCol w="533400">
                      <a:extLst>
                        <a:ext uri="{9D8B030D-6E8A-4147-A177-3AD203B41FA5}">
                          <a16:colId xmlns:a16="http://schemas.microsoft.com/office/drawing/2014/main" val="2261216985"/>
                        </a:ext>
                      </a:extLst>
                    </a:gridCol>
                    <a:gridCol w="546738">
                      <a:extLst>
                        <a:ext uri="{9D8B030D-6E8A-4147-A177-3AD203B41FA5}">
                          <a16:colId xmlns:a16="http://schemas.microsoft.com/office/drawing/2014/main" val="2537795203"/>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s-ES" sz="1400" b="1" i="1" dirty="0" smtClean="0">
                                    <a:latin typeface="Cambria Math" panose="02040503050406030204" pitchFamily="18" charset="0"/>
                                  </a:rPr>
                                  <m:t>𝑨</m:t>
                                </m:r>
                                <m:r>
                                  <a:rPr lang="es-ES" sz="1400" b="1" i="1" dirty="0" smtClean="0">
                                    <a:latin typeface="Cambria Math" panose="02040503050406030204" pitchFamily="18" charset="0"/>
                                  </a:rPr>
                                  <m:t>/</m:t>
                                </m:r>
                                <m:r>
                                  <a:rPr lang="es-ES" sz="1400" b="1" i="1" dirty="0" smtClean="0">
                                    <a:latin typeface="Cambria Math" panose="02040503050406030204" pitchFamily="18" charset="0"/>
                                  </a:rPr>
                                  <m:t>𝑩</m:t>
                                </m:r>
                              </m:oMath>
                            </m:oMathPara>
                          </a14:m>
                          <a:endParaRPr lang="es-ES" sz="1400" b="1" dirty="0"/>
                        </a:p>
                      </a:txBody>
                      <a:tcPr anchor="ctr">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s-ES" sz="1400" b="1" i="1" dirty="0" smtClean="0">
                                        <a:latin typeface="Cambria Math" panose="02040503050406030204" pitchFamily="18" charset="0"/>
                                      </a:rPr>
                                    </m:ctrlPr>
                                  </m:sSubPr>
                                  <m:e>
                                    <m:r>
                                      <a:rPr lang="es-ES" sz="1400" b="1" i="1" dirty="0" smtClean="0">
                                        <a:latin typeface="Cambria Math" panose="02040503050406030204" pitchFamily="18" charset="0"/>
                                      </a:rPr>
                                      <m:t>𝑩</m:t>
                                    </m:r>
                                  </m:e>
                                  <m:sub>
                                    <m:r>
                                      <a:rPr lang="es-ES" sz="1400" b="1" i="1" dirty="0" smtClean="0">
                                        <a:latin typeface="Cambria Math" panose="02040503050406030204" pitchFamily="18" charset="0"/>
                                      </a:rPr>
                                      <m:t>𝟏</m:t>
                                    </m:r>
                                  </m:sub>
                                </m:sSub>
                              </m:oMath>
                            </m:oMathPara>
                          </a14:m>
                          <a:endParaRPr lang="es-ES" sz="1400" b="1" dirty="0"/>
                        </a:p>
                      </a:txBody>
                      <a:tcPr anchor="ctr">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s-ES" sz="1400" b="1" i="1" dirty="0" smtClean="0">
                                        <a:latin typeface="Cambria Math" panose="02040503050406030204" pitchFamily="18" charset="0"/>
                                      </a:rPr>
                                    </m:ctrlPr>
                                  </m:sSubPr>
                                  <m:e>
                                    <m:r>
                                      <a:rPr lang="es-ES" sz="1400" b="1" i="1" dirty="0" smtClean="0">
                                        <a:latin typeface="Cambria Math" panose="02040503050406030204" pitchFamily="18" charset="0"/>
                                      </a:rPr>
                                      <m:t>𝑩</m:t>
                                    </m:r>
                                  </m:e>
                                  <m:sub>
                                    <m:r>
                                      <a:rPr lang="es-ES" sz="1400" b="1" i="1" dirty="0" smtClean="0">
                                        <a:latin typeface="Cambria Math" panose="02040503050406030204" pitchFamily="18" charset="0"/>
                                      </a:rPr>
                                      <m:t>𝟐</m:t>
                                    </m:r>
                                  </m:sub>
                                </m:sSub>
                              </m:oMath>
                            </m:oMathPara>
                          </a14:m>
                          <a:endParaRPr lang="es-ES" sz="1400" b="1" dirty="0"/>
                        </a:p>
                      </a:txBody>
                      <a:tcPr anchor="ctr">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r>
                                  <a:rPr lang="es-ES" sz="1400" b="1" i="1" smtClean="0">
                                    <a:latin typeface="Cambria Math" panose="02040503050406030204" pitchFamily="18" charset="0"/>
                                  </a:rPr>
                                  <m:t>…</m:t>
                                </m:r>
                              </m:oMath>
                            </m:oMathPara>
                          </a14:m>
                          <a:endParaRPr lang="es-ES" sz="1400" b="1" dirty="0"/>
                        </a:p>
                      </a:txBody>
                      <a:tcPr anchor="ctr">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s-ES" sz="1400" b="1" i="1" dirty="0" smtClean="0">
                                        <a:latin typeface="Cambria Math" panose="02040503050406030204" pitchFamily="18" charset="0"/>
                                      </a:rPr>
                                    </m:ctrlPr>
                                  </m:sSubPr>
                                  <m:e>
                                    <m:r>
                                      <a:rPr lang="es-ES" sz="1400" b="1" i="1" dirty="0" smtClean="0">
                                        <a:latin typeface="Cambria Math" panose="02040503050406030204" pitchFamily="18" charset="0"/>
                                      </a:rPr>
                                      <m:t>𝑩</m:t>
                                    </m:r>
                                  </m:e>
                                  <m:sub>
                                    <m:r>
                                      <a:rPr lang="es-ES" sz="1400" b="1" i="1" dirty="0" smtClean="0">
                                        <a:latin typeface="Cambria Math" panose="02040503050406030204" pitchFamily="18" charset="0"/>
                                      </a:rPr>
                                      <m:t>𝒋</m:t>
                                    </m:r>
                                  </m:sub>
                                </m:sSub>
                              </m:oMath>
                            </m:oMathPara>
                          </a14:m>
                          <a:endParaRPr lang="es-ES" sz="1400" b="1" dirty="0"/>
                        </a:p>
                      </a:txBody>
                      <a:tcPr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s-ES" sz="1400" b="1" i="1" dirty="0" smtClean="0">
                                    <a:latin typeface="Cambria Math" panose="02040503050406030204" pitchFamily="18" charset="0"/>
                                  </a:rPr>
                                  <m:t>…</m:t>
                                </m:r>
                              </m:oMath>
                            </m:oMathPara>
                          </a14:m>
                          <a:endParaRPr lang="es-ES" sz="1400" b="1" dirty="0"/>
                        </a:p>
                      </a:txBody>
                      <a:tcPr anchor="ctr">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s-ES" sz="1400" b="1" i="1" dirty="0" smtClean="0">
                                        <a:latin typeface="Cambria Math" panose="02040503050406030204" pitchFamily="18" charset="0"/>
                                      </a:rPr>
                                    </m:ctrlPr>
                                  </m:sSubPr>
                                  <m:e>
                                    <m:r>
                                      <a:rPr lang="es-ES" sz="1400" b="1" i="1" dirty="0" smtClean="0">
                                        <a:latin typeface="Cambria Math" panose="02040503050406030204" pitchFamily="18" charset="0"/>
                                      </a:rPr>
                                      <m:t>𝑩</m:t>
                                    </m:r>
                                  </m:e>
                                  <m:sub>
                                    <m:r>
                                      <a:rPr lang="es-ES" sz="1400" b="1" i="1" dirty="0" smtClean="0">
                                        <a:latin typeface="Cambria Math" panose="02040503050406030204" pitchFamily="18" charset="0"/>
                                      </a:rPr>
                                      <m:t>𝒎</m:t>
                                    </m:r>
                                  </m:sub>
                                </m:sSub>
                              </m:oMath>
                            </m:oMathPara>
                          </a14:m>
                          <a:endParaRPr lang="es-ES" sz="1400" b="1" dirty="0"/>
                        </a:p>
                      </a:txBody>
                      <a:tcPr anchor="ctr">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s-ES" sz="1400" b="1" i="1" smtClean="0">
                                        <a:latin typeface="Cambria Math" panose="02040503050406030204" pitchFamily="18" charset="0"/>
                                      </a:rPr>
                                    </m:ctrlPr>
                                  </m:sSubPr>
                                  <m:e>
                                    <m:r>
                                      <a:rPr lang="es-ES" sz="1400" b="1" i="1" smtClean="0">
                                        <a:latin typeface="Cambria Math" panose="02040503050406030204" pitchFamily="18" charset="0"/>
                                      </a:rPr>
                                      <m:t>𝒏</m:t>
                                    </m:r>
                                  </m:e>
                                  <m:sub>
                                    <m:r>
                                      <a:rPr lang="es-ES" sz="1400" b="1" i="1" smtClean="0">
                                        <a:latin typeface="Cambria Math" panose="02040503050406030204" pitchFamily="18" charset="0"/>
                                      </a:rPr>
                                      <m:t>𝑩</m:t>
                                    </m:r>
                                  </m:sub>
                                </m:sSub>
                              </m:oMath>
                            </m:oMathPara>
                          </a14:m>
                          <a:endParaRPr lang="es-ES" sz="1400" b="1" dirty="0"/>
                        </a:p>
                      </a:txBody>
                      <a:tcPr anchor="ctr">
                        <a:solidFill>
                          <a:schemeClr val="bg1">
                            <a:lumMod val="85000"/>
                          </a:schemeClr>
                        </a:solidFill>
                      </a:tcPr>
                    </a:tc>
                    <a:extLst>
                      <a:ext uri="{0D108BD9-81ED-4DB2-BD59-A6C34878D82A}">
                        <a16:rowId xmlns:a16="http://schemas.microsoft.com/office/drawing/2014/main" val="1876346771"/>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s-ES" sz="1400" b="1" i="1" smtClean="0">
                                        <a:latin typeface="Cambria Math" panose="02040503050406030204" pitchFamily="18" charset="0"/>
                                      </a:rPr>
                                    </m:ctrlPr>
                                  </m:sSubPr>
                                  <m:e>
                                    <m:r>
                                      <a:rPr lang="es-ES" sz="1400" b="1" i="1" smtClean="0">
                                        <a:latin typeface="Cambria Math" panose="02040503050406030204" pitchFamily="18" charset="0"/>
                                      </a:rPr>
                                      <m:t>𝑨</m:t>
                                    </m:r>
                                  </m:e>
                                  <m:sub>
                                    <m:r>
                                      <a:rPr lang="es-ES" sz="1400" b="1" i="1" smtClean="0">
                                        <a:latin typeface="Cambria Math" panose="02040503050406030204" pitchFamily="18" charset="0"/>
                                      </a:rPr>
                                      <m:t>𝟏</m:t>
                                    </m:r>
                                  </m:sub>
                                </m:sSub>
                              </m:oMath>
                            </m:oMathPara>
                          </a14:m>
                          <a:endParaRPr lang="es-ES" sz="1400" b="1" dirty="0"/>
                        </a:p>
                      </a:txBody>
                      <a:tcPr anchor="ctr">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s-ES" sz="1400" b="0" i="1" smtClean="0">
                                        <a:latin typeface="Cambria Math" panose="02040503050406030204" pitchFamily="18" charset="0"/>
                                      </a:rPr>
                                    </m:ctrlPr>
                                  </m:sSubPr>
                                  <m:e>
                                    <m:r>
                                      <a:rPr lang="es-ES" sz="1400" b="0" i="1" smtClean="0">
                                        <a:latin typeface="Cambria Math" panose="02040503050406030204" pitchFamily="18" charset="0"/>
                                      </a:rPr>
                                      <m:t>𝑛</m:t>
                                    </m:r>
                                  </m:e>
                                  <m:sub>
                                    <m:r>
                                      <a:rPr lang="es-ES" sz="1400" b="0" i="1" smtClean="0">
                                        <a:latin typeface="Cambria Math" panose="02040503050406030204" pitchFamily="18" charset="0"/>
                                      </a:rPr>
                                      <m:t>1,1</m:t>
                                    </m:r>
                                  </m:sub>
                                </m:sSub>
                              </m:oMath>
                            </m:oMathPara>
                          </a14:m>
                          <a:endParaRPr lang="es-ES" sz="1400" dirty="0"/>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s-ES" sz="1400" b="0" i="1" smtClean="0">
                                        <a:latin typeface="Cambria Math" panose="02040503050406030204" pitchFamily="18" charset="0"/>
                                      </a:rPr>
                                    </m:ctrlPr>
                                  </m:sSubPr>
                                  <m:e>
                                    <m:r>
                                      <a:rPr lang="es-ES" sz="1400" b="0" i="1" smtClean="0">
                                        <a:latin typeface="Cambria Math" panose="02040503050406030204" pitchFamily="18" charset="0"/>
                                      </a:rPr>
                                      <m:t>𝑛</m:t>
                                    </m:r>
                                  </m:e>
                                  <m:sub>
                                    <m:r>
                                      <a:rPr lang="es-ES" sz="1400" b="0" i="1" smtClean="0">
                                        <a:latin typeface="Cambria Math" panose="02040503050406030204" pitchFamily="18" charset="0"/>
                                      </a:rPr>
                                      <m:t>1,2</m:t>
                                    </m:r>
                                  </m:sub>
                                </m:sSub>
                              </m:oMath>
                            </m:oMathPara>
                          </a14:m>
                          <a:endParaRPr lang="es-ES" sz="1400" dirty="0"/>
                        </a:p>
                      </a:txBody>
                      <a:tcPr anchor="ct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s-ES" sz="1400" dirty="0"/>
                            <a:t>…</a:t>
                          </a:r>
                        </a:p>
                      </a:txBody>
                      <a:tcPr marL="68580" marR="68580" marT="0" marB="0" anchor="ctr"/>
                    </a:tc>
                    <a:tc>
                      <a:txBody>
                        <a:bodyPr/>
                        <a:lstStyle/>
                        <a:p>
                          <a:pPr algn="ctr"/>
                          <a14:m>
                            <m:oMathPara xmlns:m="http://schemas.openxmlformats.org/officeDocument/2006/math">
                              <m:oMathParaPr>
                                <m:jc m:val="centerGroup"/>
                              </m:oMathParaPr>
                              <m:oMath xmlns:m="http://schemas.openxmlformats.org/officeDocument/2006/math">
                                <m:sSub>
                                  <m:sSubPr>
                                    <m:ctrlPr>
                                      <a:rPr lang="es-ES" sz="1400" b="0" i="1" smtClean="0">
                                        <a:latin typeface="Cambria Math" panose="02040503050406030204" pitchFamily="18" charset="0"/>
                                      </a:rPr>
                                    </m:ctrlPr>
                                  </m:sSubPr>
                                  <m:e>
                                    <m:r>
                                      <a:rPr lang="es-ES" sz="1400" b="0" i="1" smtClean="0">
                                        <a:latin typeface="Cambria Math" panose="02040503050406030204" pitchFamily="18" charset="0"/>
                                      </a:rPr>
                                      <m:t>𝑛</m:t>
                                    </m:r>
                                  </m:e>
                                  <m:sub>
                                    <m:r>
                                      <a:rPr lang="es-ES" sz="1400" b="0" i="1" smtClean="0">
                                        <a:latin typeface="Cambria Math" panose="02040503050406030204" pitchFamily="18" charset="0"/>
                                      </a:rPr>
                                      <m:t>1,</m:t>
                                    </m:r>
                                    <m:r>
                                      <a:rPr lang="es-ES" sz="1400" b="0" i="1" smtClean="0">
                                        <a:latin typeface="Cambria Math" panose="02040503050406030204" pitchFamily="18" charset="0"/>
                                      </a:rPr>
                                      <m:t>𝑗</m:t>
                                    </m:r>
                                  </m:sub>
                                </m:sSub>
                              </m:oMath>
                            </m:oMathPara>
                          </a14:m>
                          <a:endParaRPr lang="es-ES" sz="1400" dirty="0"/>
                        </a:p>
                      </a:txBody>
                      <a:tcPr anchor="ct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14:m>
                            <m:oMathPara xmlns:m="http://schemas.openxmlformats.org/officeDocument/2006/math">
                              <m:oMathParaPr>
                                <m:jc m:val="centerGroup"/>
                              </m:oMathParaPr>
                              <m:oMath xmlns:m="http://schemas.openxmlformats.org/officeDocument/2006/math">
                                <m:r>
                                  <a:rPr lang="es-ES" sz="1400" i="1" smtClean="0">
                                    <a:latin typeface="Cambria Math" panose="02040503050406030204" pitchFamily="18" charset="0"/>
                                  </a:rPr>
                                  <m:t>…</m:t>
                                </m:r>
                              </m:oMath>
                            </m:oMathPara>
                          </a14:m>
                          <a:endParaRPr lang="es-ES" sz="1400" dirty="0"/>
                        </a:p>
                      </a:txBody>
                      <a:tcPr marL="68580" marR="68580" marT="0" marB="0" anchor="ct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ES" sz="1400" b="0" i="1" smtClean="0">
                                        <a:latin typeface="Cambria Math" panose="02040503050406030204" pitchFamily="18" charset="0"/>
                                      </a:rPr>
                                    </m:ctrlPr>
                                  </m:sSubPr>
                                  <m:e>
                                    <m:r>
                                      <a:rPr lang="es-ES" sz="1400" b="0" i="1" smtClean="0">
                                        <a:latin typeface="Cambria Math" panose="02040503050406030204" pitchFamily="18" charset="0"/>
                                      </a:rPr>
                                      <m:t>𝑛</m:t>
                                    </m:r>
                                  </m:e>
                                  <m:sub>
                                    <m:r>
                                      <a:rPr lang="es-ES" sz="1400" b="0" i="1" smtClean="0">
                                        <a:latin typeface="Cambria Math" panose="02040503050406030204" pitchFamily="18" charset="0"/>
                                      </a:rPr>
                                      <m:t>1,</m:t>
                                    </m:r>
                                    <m:r>
                                      <a:rPr lang="es-ES" sz="1400" b="0" i="1" smtClean="0">
                                        <a:latin typeface="Cambria Math" panose="02040503050406030204" pitchFamily="18" charset="0"/>
                                      </a:rPr>
                                      <m:t>𝑚</m:t>
                                    </m:r>
                                  </m:sub>
                                </m:sSub>
                              </m:oMath>
                            </m:oMathPara>
                          </a14:m>
                          <a:endParaRPr lang="es-E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ES" sz="1400" i="1" kern="100" smtClean="0">
                                        <a:effectLst/>
                                        <a:latin typeface="Cambria Math" panose="02040503050406030204" pitchFamily="18" charset="0"/>
                                        <a:cs typeface="Times New Roman" panose="02020603050405020304" pitchFamily="18" charset="0"/>
                                      </a:rPr>
                                    </m:ctrlPr>
                                  </m:sSubPr>
                                  <m:e>
                                    <m:r>
                                      <a:rPr lang="es-ES" sz="1400" b="0" i="1" kern="100" smtClean="0">
                                        <a:effectLst/>
                                        <a:latin typeface="Cambria Math" panose="02040503050406030204" pitchFamily="18" charset="0"/>
                                        <a:cs typeface="Times New Roman" panose="02020603050405020304" pitchFamily="18" charset="0"/>
                                      </a:rPr>
                                      <m:t>𝑛</m:t>
                                    </m:r>
                                  </m:e>
                                  <m:sub>
                                    <m:sSub>
                                      <m:sSubPr>
                                        <m:ctrlPr>
                                          <a:rPr lang="es-ES" sz="1400" i="1" kern="100" smtClean="0">
                                            <a:effectLst/>
                                            <a:latin typeface="Cambria Math" panose="02040503050406030204" pitchFamily="18" charset="0"/>
                                            <a:cs typeface="Times New Roman" panose="02020603050405020304" pitchFamily="18" charset="0"/>
                                          </a:rPr>
                                        </m:ctrlPr>
                                      </m:sSubPr>
                                      <m:e>
                                        <m:r>
                                          <a:rPr lang="es-ES" sz="1400" b="0" i="1" kern="100" smtClean="0">
                                            <a:effectLst/>
                                            <a:latin typeface="Cambria Math" panose="02040503050406030204" pitchFamily="18" charset="0"/>
                                            <a:cs typeface="Times New Roman" panose="02020603050405020304" pitchFamily="18" charset="0"/>
                                          </a:rPr>
                                          <m:t>𝐴</m:t>
                                        </m:r>
                                      </m:e>
                                      <m:sub>
                                        <m:r>
                                          <a:rPr lang="es-ES" sz="1400" b="0" i="1" kern="100" smtClean="0">
                                            <a:effectLst/>
                                            <a:latin typeface="Cambria Math" panose="02040503050406030204" pitchFamily="18" charset="0"/>
                                            <a:cs typeface="Times New Roman" panose="02020603050405020304" pitchFamily="18" charset="0"/>
                                          </a:rPr>
                                          <m:t>1</m:t>
                                        </m:r>
                                      </m:sub>
                                    </m:sSub>
                                  </m:sub>
                                </m:sSub>
                              </m:oMath>
                            </m:oMathPara>
                          </a14:m>
                          <a:endParaRPr lang="es-E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352149211"/>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s-ES" sz="1400" b="1" i="1" smtClean="0">
                                        <a:latin typeface="Cambria Math" panose="02040503050406030204" pitchFamily="18" charset="0"/>
                                      </a:rPr>
                                    </m:ctrlPr>
                                  </m:sSubPr>
                                  <m:e>
                                    <m:r>
                                      <a:rPr lang="es-ES" sz="1400" b="1" i="1" smtClean="0">
                                        <a:latin typeface="Cambria Math" panose="02040503050406030204" pitchFamily="18" charset="0"/>
                                      </a:rPr>
                                      <m:t>𝑨</m:t>
                                    </m:r>
                                  </m:e>
                                  <m:sub>
                                    <m:r>
                                      <a:rPr lang="es-ES" sz="1400" b="1" i="1" smtClean="0">
                                        <a:latin typeface="Cambria Math" panose="02040503050406030204" pitchFamily="18" charset="0"/>
                                      </a:rPr>
                                      <m:t>𝟐</m:t>
                                    </m:r>
                                  </m:sub>
                                </m:sSub>
                              </m:oMath>
                            </m:oMathPara>
                          </a14:m>
                          <a:endParaRPr lang="es-ES" sz="1400" b="1" dirty="0"/>
                        </a:p>
                      </a:txBody>
                      <a:tcPr anchor="ctr">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s-ES" sz="1400" b="0" i="1" smtClean="0">
                                        <a:latin typeface="Cambria Math" panose="02040503050406030204" pitchFamily="18" charset="0"/>
                                      </a:rPr>
                                    </m:ctrlPr>
                                  </m:sSubPr>
                                  <m:e>
                                    <m:r>
                                      <a:rPr lang="es-ES" sz="1400" b="0" i="1" smtClean="0">
                                        <a:latin typeface="Cambria Math" panose="02040503050406030204" pitchFamily="18" charset="0"/>
                                      </a:rPr>
                                      <m:t>𝑛</m:t>
                                    </m:r>
                                  </m:e>
                                  <m:sub>
                                    <m:r>
                                      <a:rPr lang="es-ES" sz="1400" b="0" i="1" smtClean="0">
                                        <a:latin typeface="Cambria Math" panose="02040503050406030204" pitchFamily="18" charset="0"/>
                                      </a:rPr>
                                      <m:t>2,1</m:t>
                                    </m:r>
                                  </m:sub>
                                </m:sSub>
                              </m:oMath>
                            </m:oMathPara>
                          </a14:m>
                          <a:endParaRPr lang="es-ES" sz="1400" dirty="0"/>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s-ES" sz="1400" b="0" i="1" smtClean="0">
                                        <a:latin typeface="Cambria Math" panose="02040503050406030204" pitchFamily="18" charset="0"/>
                                      </a:rPr>
                                    </m:ctrlPr>
                                  </m:sSubPr>
                                  <m:e>
                                    <m:r>
                                      <a:rPr lang="es-ES" sz="1400" b="0" i="1" smtClean="0">
                                        <a:latin typeface="Cambria Math" panose="02040503050406030204" pitchFamily="18" charset="0"/>
                                      </a:rPr>
                                      <m:t>𝑛</m:t>
                                    </m:r>
                                  </m:e>
                                  <m:sub>
                                    <m:r>
                                      <a:rPr lang="es-ES" sz="1400" b="0" i="1" smtClean="0">
                                        <a:latin typeface="Cambria Math" panose="02040503050406030204" pitchFamily="18" charset="0"/>
                                      </a:rPr>
                                      <m:t>2,2</m:t>
                                    </m:r>
                                  </m:sub>
                                </m:sSub>
                              </m:oMath>
                            </m:oMathPara>
                          </a14:m>
                          <a:endParaRPr lang="es-ES" sz="1400" dirty="0"/>
                        </a:p>
                      </a:txBody>
                      <a:tcPr anchor="ct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s-ES" sz="1400" dirty="0"/>
                            <a:t>…</a:t>
                          </a:r>
                        </a:p>
                      </a:txBody>
                      <a:tcPr marL="68580" marR="68580" marT="0" marB="0" anchor="ctr"/>
                    </a:tc>
                    <a:tc>
                      <a:txBody>
                        <a:bodyPr/>
                        <a:lstStyle/>
                        <a:p>
                          <a:pPr algn="ctr"/>
                          <a14:m>
                            <m:oMathPara xmlns:m="http://schemas.openxmlformats.org/officeDocument/2006/math">
                              <m:oMathParaPr>
                                <m:jc m:val="centerGroup"/>
                              </m:oMathParaPr>
                              <m:oMath xmlns:m="http://schemas.openxmlformats.org/officeDocument/2006/math">
                                <m:sSub>
                                  <m:sSubPr>
                                    <m:ctrlPr>
                                      <a:rPr lang="es-ES" sz="1400" b="0" i="1" smtClean="0">
                                        <a:latin typeface="Cambria Math" panose="02040503050406030204" pitchFamily="18" charset="0"/>
                                      </a:rPr>
                                    </m:ctrlPr>
                                  </m:sSubPr>
                                  <m:e>
                                    <m:r>
                                      <a:rPr lang="es-ES" sz="1400" b="0" i="1" smtClean="0">
                                        <a:latin typeface="Cambria Math" panose="02040503050406030204" pitchFamily="18" charset="0"/>
                                      </a:rPr>
                                      <m:t>𝑛</m:t>
                                    </m:r>
                                  </m:e>
                                  <m:sub>
                                    <m:r>
                                      <a:rPr lang="es-ES" sz="1400" b="0" i="1" smtClean="0">
                                        <a:latin typeface="Cambria Math" panose="02040503050406030204" pitchFamily="18" charset="0"/>
                                      </a:rPr>
                                      <m:t>2,</m:t>
                                    </m:r>
                                    <m:r>
                                      <a:rPr lang="es-ES" sz="1400" b="0" i="1" smtClean="0">
                                        <a:latin typeface="Cambria Math" panose="02040503050406030204" pitchFamily="18" charset="0"/>
                                      </a:rPr>
                                      <m:t>𝑗</m:t>
                                    </m:r>
                                  </m:sub>
                                </m:sSub>
                              </m:oMath>
                            </m:oMathPara>
                          </a14:m>
                          <a:endParaRPr lang="es-ES" sz="1400" dirty="0"/>
                        </a:p>
                      </a:txBody>
                      <a:tcPr anchor="ct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14:m>
                            <m:oMathPara xmlns:m="http://schemas.openxmlformats.org/officeDocument/2006/math">
                              <m:oMathParaPr>
                                <m:jc m:val="centerGroup"/>
                              </m:oMathParaPr>
                              <m:oMath xmlns:m="http://schemas.openxmlformats.org/officeDocument/2006/math">
                                <m:r>
                                  <a:rPr lang="es-ES" sz="1400" i="1" smtClean="0">
                                    <a:latin typeface="Cambria Math" panose="02040503050406030204" pitchFamily="18" charset="0"/>
                                  </a:rPr>
                                  <m:t>…</m:t>
                                </m:r>
                              </m:oMath>
                            </m:oMathPara>
                          </a14:m>
                          <a:endParaRPr lang="es-ES" sz="1400" dirty="0"/>
                        </a:p>
                      </a:txBody>
                      <a:tcPr marL="68580" marR="68580" marT="0" marB="0" anchor="ct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ES" sz="1400" b="0" i="1" smtClean="0">
                                        <a:latin typeface="Cambria Math" panose="02040503050406030204" pitchFamily="18" charset="0"/>
                                      </a:rPr>
                                    </m:ctrlPr>
                                  </m:sSubPr>
                                  <m:e>
                                    <m:r>
                                      <a:rPr lang="es-ES" sz="1400" b="0" i="1" smtClean="0">
                                        <a:latin typeface="Cambria Math" panose="02040503050406030204" pitchFamily="18" charset="0"/>
                                      </a:rPr>
                                      <m:t>𝑛</m:t>
                                    </m:r>
                                  </m:e>
                                  <m:sub>
                                    <m:r>
                                      <a:rPr lang="es-ES" sz="1400" b="0" i="1" smtClean="0">
                                        <a:latin typeface="Cambria Math" panose="02040503050406030204" pitchFamily="18" charset="0"/>
                                      </a:rPr>
                                      <m:t>2,</m:t>
                                    </m:r>
                                    <m:r>
                                      <a:rPr lang="es-ES" sz="1400" b="0" i="1" smtClean="0">
                                        <a:latin typeface="Cambria Math" panose="02040503050406030204" pitchFamily="18" charset="0"/>
                                      </a:rPr>
                                      <m:t>𝑚</m:t>
                                    </m:r>
                                  </m:sub>
                                </m:sSub>
                              </m:oMath>
                            </m:oMathPara>
                          </a14:m>
                          <a:endParaRPr lang="es-E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ES" sz="1400" i="1" kern="100" smtClean="0">
                                        <a:effectLst/>
                                        <a:latin typeface="Cambria Math" panose="02040503050406030204" pitchFamily="18" charset="0"/>
                                        <a:cs typeface="Times New Roman" panose="02020603050405020304" pitchFamily="18" charset="0"/>
                                      </a:rPr>
                                    </m:ctrlPr>
                                  </m:sSubPr>
                                  <m:e>
                                    <m:r>
                                      <a:rPr lang="es-ES" sz="1400" b="0" i="1" kern="100" smtClean="0">
                                        <a:effectLst/>
                                        <a:latin typeface="Cambria Math" panose="02040503050406030204" pitchFamily="18" charset="0"/>
                                        <a:cs typeface="Times New Roman" panose="02020603050405020304" pitchFamily="18" charset="0"/>
                                      </a:rPr>
                                      <m:t>𝑛</m:t>
                                    </m:r>
                                  </m:e>
                                  <m:sub>
                                    <m:sSub>
                                      <m:sSubPr>
                                        <m:ctrlPr>
                                          <a:rPr lang="es-ES" sz="1400" i="1" kern="100" smtClean="0">
                                            <a:effectLst/>
                                            <a:latin typeface="Cambria Math" panose="02040503050406030204" pitchFamily="18" charset="0"/>
                                            <a:cs typeface="Times New Roman" panose="02020603050405020304" pitchFamily="18" charset="0"/>
                                          </a:rPr>
                                        </m:ctrlPr>
                                      </m:sSubPr>
                                      <m:e>
                                        <m:r>
                                          <a:rPr lang="es-ES" sz="1400" b="0" i="1" kern="100" smtClean="0">
                                            <a:effectLst/>
                                            <a:latin typeface="Cambria Math" panose="02040503050406030204" pitchFamily="18" charset="0"/>
                                            <a:cs typeface="Times New Roman" panose="02020603050405020304" pitchFamily="18" charset="0"/>
                                          </a:rPr>
                                          <m:t>𝐴</m:t>
                                        </m:r>
                                      </m:e>
                                      <m:sub>
                                        <m:r>
                                          <a:rPr lang="es-ES" sz="1400" b="0" i="1" kern="100" smtClean="0">
                                            <a:effectLst/>
                                            <a:latin typeface="Cambria Math" panose="02040503050406030204" pitchFamily="18" charset="0"/>
                                            <a:cs typeface="Times New Roman" panose="02020603050405020304" pitchFamily="18" charset="0"/>
                                          </a:rPr>
                                          <m:t>2</m:t>
                                        </m:r>
                                      </m:sub>
                                    </m:sSub>
                                  </m:sub>
                                </m:sSub>
                              </m:oMath>
                            </m:oMathPara>
                          </a14:m>
                          <a:endParaRPr lang="es-E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02863625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1"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marL="68580" marR="68580" marT="0" marB="0" anchor="ctr"/>
                    </a:tc>
                    <a:extLst>
                      <a:ext uri="{0D108BD9-81ED-4DB2-BD59-A6C34878D82A}">
                        <a16:rowId xmlns:a16="http://schemas.microsoft.com/office/drawing/2014/main" val="3338217678"/>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s-ES" sz="1400" b="1" i="1" smtClean="0">
                                        <a:latin typeface="Cambria Math" panose="02040503050406030204" pitchFamily="18" charset="0"/>
                                      </a:rPr>
                                    </m:ctrlPr>
                                  </m:sSubPr>
                                  <m:e>
                                    <m:r>
                                      <a:rPr lang="es-ES" sz="1400" b="1" i="1" smtClean="0">
                                        <a:latin typeface="Cambria Math" panose="02040503050406030204" pitchFamily="18" charset="0"/>
                                      </a:rPr>
                                      <m:t>𝑨</m:t>
                                    </m:r>
                                  </m:e>
                                  <m:sub>
                                    <m:r>
                                      <a:rPr lang="es-ES" sz="1400" b="1" i="1" smtClean="0">
                                        <a:latin typeface="Cambria Math" panose="02040503050406030204" pitchFamily="18" charset="0"/>
                                      </a:rPr>
                                      <m:t>𝒊</m:t>
                                    </m:r>
                                  </m:sub>
                                </m:sSub>
                              </m:oMath>
                            </m:oMathPara>
                          </a14:m>
                          <a:endParaRPr lang="es-ES" sz="1400" b="1" dirty="0"/>
                        </a:p>
                      </a:txBody>
                      <a:tcPr anchor="ctr">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s-ES" sz="1400" b="0" i="1" smtClean="0">
                                        <a:latin typeface="Cambria Math" panose="02040503050406030204" pitchFamily="18" charset="0"/>
                                      </a:rPr>
                                    </m:ctrlPr>
                                  </m:sSubPr>
                                  <m:e>
                                    <m:r>
                                      <a:rPr lang="es-ES" sz="1400" b="0" i="1" smtClean="0">
                                        <a:latin typeface="Cambria Math" panose="02040503050406030204" pitchFamily="18" charset="0"/>
                                      </a:rPr>
                                      <m:t>𝑛</m:t>
                                    </m:r>
                                  </m:e>
                                  <m:sub>
                                    <m:r>
                                      <a:rPr lang="es-ES" sz="1400" b="0" i="1" smtClean="0">
                                        <a:latin typeface="Cambria Math" panose="02040503050406030204" pitchFamily="18" charset="0"/>
                                      </a:rPr>
                                      <m:t>𝑖</m:t>
                                    </m:r>
                                    <m:r>
                                      <a:rPr lang="es-ES" sz="1400" b="0" i="1" smtClean="0">
                                        <a:latin typeface="Cambria Math" panose="02040503050406030204" pitchFamily="18" charset="0"/>
                                      </a:rPr>
                                      <m:t>,1</m:t>
                                    </m:r>
                                  </m:sub>
                                </m:sSub>
                              </m:oMath>
                            </m:oMathPara>
                          </a14:m>
                          <a:endParaRPr lang="es-ES" sz="1400" dirty="0"/>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s-ES" sz="1400" b="0" i="1" smtClean="0">
                                        <a:latin typeface="Cambria Math" panose="02040503050406030204" pitchFamily="18" charset="0"/>
                                      </a:rPr>
                                    </m:ctrlPr>
                                  </m:sSubPr>
                                  <m:e>
                                    <m:r>
                                      <a:rPr lang="es-ES" sz="1400" b="0" i="1" smtClean="0">
                                        <a:latin typeface="Cambria Math" panose="02040503050406030204" pitchFamily="18" charset="0"/>
                                      </a:rPr>
                                      <m:t>𝑛</m:t>
                                    </m:r>
                                  </m:e>
                                  <m:sub>
                                    <m:r>
                                      <a:rPr lang="es-ES" sz="1400" b="0" i="1" smtClean="0">
                                        <a:latin typeface="Cambria Math" panose="02040503050406030204" pitchFamily="18" charset="0"/>
                                      </a:rPr>
                                      <m:t>𝑖</m:t>
                                    </m:r>
                                    <m:r>
                                      <a:rPr lang="es-ES" sz="1400" b="0" i="1" smtClean="0">
                                        <a:latin typeface="Cambria Math" panose="02040503050406030204" pitchFamily="18" charset="0"/>
                                      </a:rPr>
                                      <m:t>,2</m:t>
                                    </m:r>
                                  </m:sub>
                                </m:sSub>
                              </m:oMath>
                            </m:oMathPara>
                          </a14:m>
                          <a:endParaRPr lang="es-ES" sz="1400" dirty="0"/>
                        </a:p>
                      </a:txBody>
                      <a:tcPr anchor="ct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s-ES" sz="1400" dirty="0"/>
                            <a:t>…</a:t>
                          </a:r>
                        </a:p>
                      </a:txBody>
                      <a:tcPr marL="68580" marR="68580" marT="0" marB="0" anchor="ctr"/>
                    </a:tc>
                    <a:tc>
                      <a:txBody>
                        <a:bodyPr/>
                        <a:lstStyle/>
                        <a:p>
                          <a:pPr algn="ctr"/>
                          <a14:m>
                            <m:oMathPara xmlns:m="http://schemas.openxmlformats.org/officeDocument/2006/math">
                              <m:oMathParaPr>
                                <m:jc m:val="centerGroup"/>
                              </m:oMathParaPr>
                              <m:oMath xmlns:m="http://schemas.openxmlformats.org/officeDocument/2006/math">
                                <m:sSub>
                                  <m:sSubPr>
                                    <m:ctrlPr>
                                      <a:rPr lang="es-ES" sz="1400" b="0" i="1" smtClean="0">
                                        <a:latin typeface="Cambria Math" panose="02040503050406030204" pitchFamily="18" charset="0"/>
                                      </a:rPr>
                                    </m:ctrlPr>
                                  </m:sSubPr>
                                  <m:e>
                                    <m:r>
                                      <a:rPr lang="es-ES" sz="1400" b="0" i="1" smtClean="0">
                                        <a:latin typeface="Cambria Math" panose="02040503050406030204" pitchFamily="18" charset="0"/>
                                      </a:rPr>
                                      <m:t>𝑛</m:t>
                                    </m:r>
                                  </m:e>
                                  <m:sub>
                                    <m:r>
                                      <a:rPr lang="es-ES" sz="1400" b="0" i="1" smtClean="0">
                                        <a:latin typeface="Cambria Math" panose="02040503050406030204" pitchFamily="18" charset="0"/>
                                      </a:rPr>
                                      <m:t>𝑖</m:t>
                                    </m:r>
                                    <m:r>
                                      <a:rPr lang="es-ES" sz="1400" b="0" i="1" smtClean="0">
                                        <a:latin typeface="Cambria Math" panose="02040503050406030204" pitchFamily="18" charset="0"/>
                                      </a:rPr>
                                      <m:t>,</m:t>
                                    </m:r>
                                    <m:r>
                                      <a:rPr lang="es-ES" sz="1400" b="0" i="1" smtClean="0">
                                        <a:latin typeface="Cambria Math" panose="02040503050406030204" pitchFamily="18" charset="0"/>
                                      </a:rPr>
                                      <m:t>𝑗</m:t>
                                    </m:r>
                                  </m:sub>
                                </m:sSub>
                              </m:oMath>
                            </m:oMathPara>
                          </a14:m>
                          <a:endParaRPr lang="es-ES" sz="1400" dirty="0"/>
                        </a:p>
                      </a:txBody>
                      <a:tcPr anchor="ct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14:m>
                            <m:oMathPara xmlns:m="http://schemas.openxmlformats.org/officeDocument/2006/math">
                              <m:oMathParaPr>
                                <m:jc m:val="centerGroup"/>
                              </m:oMathParaPr>
                              <m:oMath xmlns:m="http://schemas.openxmlformats.org/officeDocument/2006/math">
                                <m:r>
                                  <a:rPr lang="es-ES" sz="1400" i="1" smtClean="0">
                                    <a:latin typeface="Cambria Math" panose="02040503050406030204" pitchFamily="18" charset="0"/>
                                  </a:rPr>
                                  <m:t>…</m:t>
                                </m:r>
                              </m:oMath>
                            </m:oMathPara>
                          </a14:m>
                          <a:endParaRPr lang="es-ES" sz="1400" dirty="0"/>
                        </a:p>
                      </a:txBody>
                      <a:tcPr marL="68580" marR="68580" marT="0" marB="0" anchor="ct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ES" sz="1400" b="0" i="1" smtClean="0">
                                        <a:latin typeface="Cambria Math" panose="02040503050406030204" pitchFamily="18" charset="0"/>
                                      </a:rPr>
                                    </m:ctrlPr>
                                  </m:sSubPr>
                                  <m:e>
                                    <m:r>
                                      <a:rPr lang="es-ES" sz="1400" b="0" i="1" smtClean="0">
                                        <a:latin typeface="Cambria Math" panose="02040503050406030204" pitchFamily="18" charset="0"/>
                                      </a:rPr>
                                      <m:t>𝑛</m:t>
                                    </m:r>
                                  </m:e>
                                  <m:sub>
                                    <m:r>
                                      <a:rPr lang="es-ES" sz="1400" b="0" i="1" smtClean="0">
                                        <a:latin typeface="Cambria Math" panose="02040503050406030204" pitchFamily="18" charset="0"/>
                                      </a:rPr>
                                      <m:t>𝑖</m:t>
                                    </m:r>
                                    <m:r>
                                      <a:rPr lang="es-ES" sz="1400" b="0" i="1" smtClean="0">
                                        <a:latin typeface="Cambria Math" panose="02040503050406030204" pitchFamily="18" charset="0"/>
                                      </a:rPr>
                                      <m:t>,</m:t>
                                    </m:r>
                                    <m:r>
                                      <a:rPr lang="es-ES" sz="1400" b="0" i="1" smtClean="0">
                                        <a:latin typeface="Cambria Math" panose="02040503050406030204" pitchFamily="18" charset="0"/>
                                      </a:rPr>
                                      <m:t>𝑚</m:t>
                                    </m:r>
                                  </m:sub>
                                </m:sSub>
                              </m:oMath>
                            </m:oMathPara>
                          </a14:m>
                          <a:endParaRPr lang="es-E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ES" sz="1400" i="1" kern="100" smtClean="0">
                                        <a:effectLst/>
                                        <a:latin typeface="Cambria Math" panose="02040503050406030204" pitchFamily="18" charset="0"/>
                                        <a:cs typeface="Times New Roman" panose="02020603050405020304" pitchFamily="18" charset="0"/>
                                      </a:rPr>
                                    </m:ctrlPr>
                                  </m:sSubPr>
                                  <m:e>
                                    <m:r>
                                      <a:rPr lang="es-ES" sz="1400" b="0" i="1" kern="100" smtClean="0">
                                        <a:effectLst/>
                                        <a:latin typeface="Cambria Math" panose="02040503050406030204" pitchFamily="18" charset="0"/>
                                        <a:cs typeface="Times New Roman" panose="02020603050405020304" pitchFamily="18" charset="0"/>
                                      </a:rPr>
                                      <m:t>𝑛</m:t>
                                    </m:r>
                                  </m:e>
                                  <m:sub>
                                    <m:sSub>
                                      <m:sSubPr>
                                        <m:ctrlPr>
                                          <a:rPr lang="es-ES" sz="1400" i="1" kern="100" smtClean="0">
                                            <a:effectLst/>
                                            <a:latin typeface="Cambria Math" panose="02040503050406030204" pitchFamily="18" charset="0"/>
                                            <a:cs typeface="Times New Roman" panose="02020603050405020304" pitchFamily="18" charset="0"/>
                                          </a:rPr>
                                        </m:ctrlPr>
                                      </m:sSubPr>
                                      <m:e>
                                        <m:r>
                                          <a:rPr lang="es-ES" sz="1400" b="0" i="1" kern="100" smtClean="0">
                                            <a:effectLst/>
                                            <a:latin typeface="Cambria Math" panose="02040503050406030204" pitchFamily="18" charset="0"/>
                                            <a:cs typeface="Times New Roman" panose="02020603050405020304" pitchFamily="18" charset="0"/>
                                          </a:rPr>
                                          <m:t>𝐴</m:t>
                                        </m:r>
                                      </m:e>
                                      <m:sub>
                                        <m:r>
                                          <a:rPr lang="es-ES" sz="1400" b="0" i="1" kern="100" smtClean="0">
                                            <a:effectLst/>
                                            <a:latin typeface="Cambria Math" panose="02040503050406030204" pitchFamily="18" charset="0"/>
                                            <a:cs typeface="Times New Roman" panose="02020603050405020304" pitchFamily="18" charset="0"/>
                                          </a:rPr>
                                          <m:t>𝑖</m:t>
                                        </m:r>
                                      </m:sub>
                                    </m:sSub>
                                  </m:sub>
                                </m:sSub>
                              </m:oMath>
                            </m:oMathPara>
                          </a14:m>
                          <a:endParaRPr lang="es-E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65036747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1"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marL="68580" marR="68580" marT="0" marB="0" anchor="ctr"/>
                    </a:tc>
                    <a:extLst>
                      <a:ext uri="{0D108BD9-81ED-4DB2-BD59-A6C34878D82A}">
                        <a16:rowId xmlns:a16="http://schemas.microsoft.com/office/drawing/2014/main" val="2902693385"/>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s-ES" sz="1400" b="1" i="1" smtClean="0">
                                        <a:latin typeface="Cambria Math" panose="02040503050406030204" pitchFamily="18" charset="0"/>
                                      </a:rPr>
                                    </m:ctrlPr>
                                  </m:sSubPr>
                                  <m:e>
                                    <m:r>
                                      <a:rPr lang="es-ES" sz="1400" b="1" i="1" smtClean="0">
                                        <a:latin typeface="Cambria Math" panose="02040503050406030204" pitchFamily="18" charset="0"/>
                                      </a:rPr>
                                      <m:t>𝑨</m:t>
                                    </m:r>
                                  </m:e>
                                  <m:sub>
                                    <m:r>
                                      <a:rPr lang="es-ES" sz="1400" b="1" i="1" smtClean="0">
                                        <a:latin typeface="Cambria Math" panose="02040503050406030204" pitchFamily="18" charset="0"/>
                                      </a:rPr>
                                      <m:t>𝒌</m:t>
                                    </m:r>
                                  </m:sub>
                                </m:sSub>
                              </m:oMath>
                            </m:oMathPara>
                          </a14:m>
                          <a:endParaRPr lang="es-ES" sz="1400" b="1" dirty="0"/>
                        </a:p>
                      </a:txBody>
                      <a:tcPr anchor="ctr">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s-ES" sz="1400" b="0" i="1" smtClean="0">
                                        <a:latin typeface="Cambria Math" panose="02040503050406030204" pitchFamily="18" charset="0"/>
                                      </a:rPr>
                                    </m:ctrlPr>
                                  </m:sSubPr>
                                  <m:e>
                                    <m:r>
                                      <a:rPr lang="es-ES" sz="1400" b="0" i="1" smtClean="0">
                                        <a:latin typeface="Cambria Math" panose="02040503050406030204" pitchFamily="18" charset="0"/>
                                      </a:rPr>
                                      <m:t>𝑛</m:t>
                                    </m:r>
                                  </m:e>
                                  <m:sub>
                                    <m:r>
                                      <a:rPr lang="es-ES" sz="1400" b="0" i="1" smtClean="0">
                                        <a:latin typeface="Cambria Math" panose="02040503050406030204" pitchFamily="18" charset="0"/>
                                      </a:rPr>
                                      <m:t>𝑘</m:t>
                                    </m:r>
                                    <m:r>
                                      <a:rPr lang="es-ES" sz="1400" b="0" i="1" smtClean="0">
                                        <a:latin typeface="Cambria Math" panose="02040503050406030204" pitchFamily="18" charset="0"/>
                                      </a:rPr>
                                      <m:t>,1</m:t>
                                    </m:r>
                                  </m:sub>
                                </m:sSub>
                              </m:oMath>
                            </m:oMathPara>
                          </a14:m>
                          <a:endParaRPr lang="es-ES" sz="1400" dirty="0"/>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s-ES" sz="1400" b="0" i="1" smtClean="0">
                                        <a:latin typeface="Cambria Math" panose="02040503050406030204" pitchFamily="18" charset="0"/>
                                      </a:rPr>
                                    </m:ctrlPr>
                                  </m:sSubPr>
                                  <m:e>
                                    <m:r>
                                      <a:rPr lang="es-ES" sz="1400" b="0" i="1" smtClean="0">
                                        <a:latin typeface="Cambria Math" panose="02040503050406030204" pitchFamily="18" charset="0"/>
                                      </a:rPr>
                                      <m:t>𝑛</m:t>
                                    </m:r>
                                  </m:e>
                                  <m:sub>
                                    <m:r>
                                      <a:rPr lang="es-ES" sz="1400" b="0" i="1" smtClean="0">
                                        <a:latin typeface="Cambria Math" panose="02040503050406030204" pitchFamily="18" charset="0"/>
                                      </a:rPr>
                                      <m:t>𝑘</m:t>
                                    </m:r>
                                    <m:r>
                                      <a:rPr lang="es-ES" sz="1400" b="0" i="1" smtClean="0">
                                        <a:latin typeface="Cambria Math" panose="02040503050406030204" pitchFamily="18" charset="0"/>
                                      </a:rPr>
                                      <m:t>,2</m:t>
                                    </m:r>
                                  </m:sub>
                                </m:sSub>
                              </m:oMath>
                            </m:oMathPara>
                          </a14:m>
                          <a:endParaRPr lang="es-ES" sz="1400" dirty="0"/>
                        </a:p>
                      </a:txBody>
                      <a:tcPr anchor="ct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s-ES" sz="1400" dirty="0"/>
                            <a:t>…</a:t>
                          </a:r>
                        </a:p>
                      </a:txBody>
                      <a:tcPr marL="68580" marR="68580" marT="0" marB="0" anchor="ctr"/>
                    </a:tc>
                    <a:tc>
                      <a:txBody>
                        <a:bodyPr/>
                        <a:lstStyle/>
                        <a:p>
                          <a:pPr algn="ctr"/>
                          <a14:m>
                            <m:oMathPara xmlns:m="http://schemas.openxmlformats.org/officeDocument/2006/math">
                              <m:oMathParaPr>
                                <m:jc m:val="centerGroup"/>
                              </m:oMathParaPr>
                              <m:oMath xmlns:m="http://schemas.openxmlformats.org/officeDocument/2006/math">
                                <m:sSub>
                                  <m:sSubPr>
                                    <m:ctrlPr>
                                      <a:rPr lang="es-ES" sz="1400" b="0" i="1" smtClean="0">
                                        <a:latin typeface="Cambria Math" panose="02040503050406030204" pitchFamily="18" charset="0"/>
                                      </a:rPr>
                                    </m:ctrlPr>
                                  </m:sSubPr>
                                  <m:e>
                                    <m:r>
                                      <a:rPr lang="es-ES" sz="1400" b="0" i="1" smtClean="0">
                                        <a:latin typeface="Cambria Math" panose="02040503050406030204" pitchFamily="18" charset="0"/>
                                      </a:rPr>
                                      <m:t>𝑛</m:t>
                                    </m:r>
                                  </m:e>
                                  <m:sub>
                                    <m:r>
                                      <a:rPr lang="es-ES" sz="1400" b="0" i="1" smtClean="0">
                                        <a:latin typeface="Cambria Math" panose="02040503050406030204" pitchFamily="18" charset="0"/>
                                      </a:rPr>
                                      <m:t>𝑘</m:t>
                                    </m:r>
                                    <m:r>
                                      <a:rPr lang="es-ES" sz="1400" b="0" i="1" smtClean="0">
                                        <a:latin typeface="Cambria Math" panose="02040503050406030204" pitchFamily="18" charset="0"/>
                                      </a:rPr>
                                      <m:t>,</m:t>
                                    </m:r>
                                    <m:r>
                                      <a:rPr lang="es-ES" sz="1400" b="0" i="1" smtClean="0">
                                        <a:latin typeface="Cambria Math" panose="02040503050406030204" pitchFamily="18" charset="0"/>
                                      </a:rPr>
                                      <m:t>𝑗</m:t>
                                    </m:r>
                                  </m:sub>
                                </m:sSub>
                              </m:oMath>
                            </m:oMathPara>
                          </a14:m>
                          <a:endParaRPr lang="es-ES" sz="1400" dirty="0"/>
                        </a:p>
                      </a:txBody>
                      <a:tcPr anchor="ct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14:m>
                            <m:oMathPara xmlns:m="http://schemas.openxmlformats.org/officeDocument/2006/math">
                              <m:oMathParaPr>
                                <m:jc m:val="centerGroup"/>
                              </m:oMathParaPr>
                              <m:oMath xmlns:m="http://schemas.openxmlformats.org/officeDocument/2006/math">
                                <m:r>
                                  <a:rPr lang="es-ES" sz="1400" i="1" smtClean="0">
                                    <a:latin typeface="Cambria Math" panose="02040503050406030204" pitchFamily="18" charset="0"/>
                                  </a:rPr>
                                  <m:t>…</m:t>
                                </m:r>
                              </m:oMath>
                            </m:oMathPara>
                          </a14:m>
                          <a:endParaRPr lang="es-ES" sz="1400" dirty="0"/>
                        </a:p>
                      </a:txBody>
                      <a:tcPr marL="68580" marR="68580" marT="0" marB="0" anchor="ct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ES" sz="1400" b="0" i="1" smtClean="0">
                                        <a:latin typeface="Cambria Math" panose="02040503050406030204" pitchFamily="18" charset="0"/>
                                      </a:rPr>
                                    </m:ctrlPr>
                                  </m:sSubPr>
                                  <m:e>
                                    <m:r>
                                      <a:rPr lang="es-ES" sz="1400" b="0" i="1" smtClean="0">
                                        <a:latin typeface="Cambria Math" panose="02040503050406030204" pitchFamily="18" charset="0"/>
                                      </a:rPr>
                                      <m:t>𝑛</m:t>
                                    </m:r>
                                  </m:e>
                                  <m:sub>
                                    <m:r>
                                      <a:rPr lang="es-ES" sz="1400" b="0" i="1" smtClean="0">
                                        <a:latin typeface="Cambria Math" panose="02040503050406030204" pitchFamily="18" charset="0"/>
                                      </a:rPr>
                                      <m:t>𝑘</m:t>
                                    </m:r>
                                    <m:r>
                                      <a:rPr lang="es-ES" sz="1400" b="0" i="1" smtClean="0">
                                        <a:latin typeface="Cambria Math" panose="02040503050406030204" pitchFamily="18" charset="0"/>
                                      </a:rPr>
                                      <m:t>,</m:t>
                                    </m:r>
                                    <m:r>
                                      <a:rPr lang="es-ES" sz="1400" b="0" i="1" smtClean="0">
                                        <a:latin typeface="Cambria Math" panose="02040503050406030204" pitchFamily="18" charset="0"/>
                                      </a:rPr>
                                      <m:t>𝑚</m:t>
                                    </m:r>
                                  </m:sub>
                                </m:sSub>
                              </m:oMath>
                            </m:oMathPara>
                          </a14:m>
                          <a:endParaRPr lang="es-E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ES" sz="1400" i="1" kern="100" smtClean="0">
                                        <a:effectLst/>
                                        <a:latin typeface="Cambria Math" panose="02040503050406030204" pitchFamily="18" charset="0"/>
                                        <a:cs typeface="Times New Roman" panose="02020603050405020304" pitchFamily="18" charset="0"/>
                                      </a:rPr>
                                    </m:ctrlPr>
                                  </m:sSubPr>
                                  <m:e>
                                    <m:r>
                                      <a:rPr lang="es-ES" sz="1400" b="0" i="1" kern="100" smtClean="0">
                                        <a:effectLst/>
                                        <a:latin typeface="Cambria Math" panose="02040503050406030204" pitchFamily="18" charset="0"/>
                                        <a:cs typeface="Times New Roman" panose="02020603050405020304" pitchFamily="18" charset="0"/>
                                      </a:rPr>
                                      <m:t>𝑛</m:t>
                                    </m:r>
                                  </m:e>
                                  <m:sub>
                                    <m:sSub>
                                      <m:sSubPr>
                                        <m:ctrlPr>
                                          <a:rPr lang="es-ES" sz="1400" i="1" kern="100" smtClean="0">
                                            <a:effectLst/>
                                            <a:latin typeface="Cambria Math" panose="02040503050406030204" pitchFamily="18" charset="0"/>
                                            <a:cs typeface="Times New Roman" panose="02020603050405020304" pitchFamily="18" charset="0"/>
                                          </a:rPr>
                                        </m:ctrlPr>
                                      </m:sSubPr>
                                      <m:e>
                                        <m:r>
                                          <a:rPr lang="es-ES" sz="1400" b="0" i="1" kern="100" smtClean="0">
                                            <a:effectLst/>
                                            <a:latin typeface="Cambria Math" panose="02040503050406030204" pitchFamily="18" charset="0"/>
                                            <a:cs typeface="Times New Roman" panose="02020603050405020304" pitchFamily="18" charset="0"/>
                                          </a:rPr>
                                          <m:t>𝐴</m:t>
                                        </m:r>
                                      </m:e>
                                      <m:sub>
                                        <m:r>
                                          <a:rPr lang="es-ES" sz="1400" b="0" i="1" kern="100" smtClean="0">
                                            <a:effectLst/>
                                            <a:latin typeface="Cambria Math" panose="02040503050406030204" pitchFamily="18" charset="0"/>
                                            <a:cs typeface="Times New Roman" panose="02020603050405020304" pitchFamily="18" charset="0"/>
                                          </a:rPr>
                                          <m:t>𝑘</m:t>
                                        </m:r>
                                      </m:sub>
                                    </m:sSub>
                                  </m:sub>
                                </m:sSub>
                              </m:oMath>
                            </m:oMathPara>
                          </a14:m>
                          <a:endParaRPr lang="es-E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468268460"/>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s-ES" sz="1400" b="1" i="1" smtClean="0">
                                        <a:latin typeface="Cambria Math" panose="02040503050406030204" pitchFamily="18" charset="0"/>
                                      </a:rPr>
                                    </m:ctrlPr>
                                  </m:sSubPr>
                                  <m:e>
                                    <m:r>
                                      <a:rPr lang="es-ES" sz="1400" b="1" i="1" smtClean="0">
                                        <a:latin typeface="Cambria Math" panose="02040503050406030204" pitchFamily="18" charset="0"/>
                                      </a:rPr>
                                      <m:t>𝒏</m:t>
                                    </m:r>
                                  </m:e>
                                  <m:sub>
                                    <m:r>
                                      <a:rPr lang="es-ES" sz="1400" b="1" i="1" smtClean="0">
                                        <a:latin typeface="Cambria Math" panose="02040503050406030204" pitchFamily="18" charset="0"/>
                                      </a:rPr>
                                      <m:t>𝑨</m:t>
                                    </m:r>
                                  </m:sub>
                                </m:sSub>
                              </m:oMath>
                            </m:oMathPara>
                          </a14:m>
                          <a:endParaRPr lang="es-ES" sz="1400" b="1" dirty="0"/>
                        </a:p>
                      </a:txBody>
                      <a:tcPr anchor="ctr">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s-ES" sz="1400" i="1" kern="100" smtClean="0">
                                        <a:effectLst/>
                                        <a:latin typeface="Cambria Math" panose="02040503050406030204" pitchFamily="18" charset="0"/>
                                        <a:cs typeface="Times New Roman" panose="02020603050405020304" pitchFamily="18" charset="0"/>
                                      </a:rPr>
                                    </m:ctrlPr>
                                  </m:sSubPr>
                                  <m:e>
                                    <m:r>
                                      <a:rPr lang="es-ES" sz="1400" b="0" i="1" kern="100" smtClean="0">
                                        <a:effectLst/>
                                        <a:latin typeface="Cambria Math" panose="02040503050406030204" pitchFamily="18" charset="0"/>
                                        <a:cs typeface="Times New Roman" panose="02020603050405020304" pitchFamily="18" charset="0"/>
                                      </a:rPr>
                                      <m:t>𝑛</m:t>
                                    </m:r>
                                  </m:e>
                                  <m:sub>
                                    <m:sSub>
                                      <m:sSubPr>
                                        <m:ctrlPr>
                                          <a:rPr lang="es-ES" sz="1400" i="1" kern="100" smtClean="0">
                                            <a:effectLst/>
                                            <a:latin typeface="Cambria Math" panose="02040503050406030204" pitchFamily="18" charset="0"/>
                                            <a:cs typeface="Times New Roman" panose="02020603050405020304" pitchFamily="18" charset="0"/>
                                          </a:rPr>
                                        </m:ctrlPr>
                                      </m:sSubPr>
                                      <m:e>
                                        <m:r>
                                          <a:rPr lang="es-ES" sz="1400" b="0" i="1" kern="100" smtClean="0">
                                            <a:effectLst/>
                                            <a:latin typeface="Cambria Math" panose="02040503050406030204" pitchFamily="18" charset="0"/>
                                            <a:cs typeface="Times New Roman" panose="02020603050405020304" pitchFamily="18" charset="0"/>
                                          </a:rPr>
                                          <m:t>𝐵</m:t>
                                        </m:r>
                                      </m:e>
                                      <m:sub>
                                        <m:r>
                                          <a:rPr lang="es-ES" sz="1400" b="0" i="1" kern="100" smtClean="0">
                                            <a:effectLst/>
                                            <a:latin typeface="Cambria Math" panose="02040503050406030204" pitchFamily="18" charset="0"/>
                                            <a:cs typeface="Times New Roman" panose="02020603050405020304" pitchFamily="18" charset="0"/>
                                          </a:rPr>
                                          <m:t>1</m:t>
                                        </m:r>
                                      </m:sub>
                                    </m:sSub>
                                  </m:sub>
                                </m:sSub>
                              </m:oMath>
                            </m:oMathPara>
                          </a14:m>
                          <a:endParaRPr lang="es-ES" sz="1400" dirty="0"/>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s-ES" sz="1400" i="1" kern="100" smtClean="0">
                                        <a:effectLst/>
                                        <a:latin typeface="Cambria Math" panose="02040503050406030204" pitchFamily="18" charset="0"/>
                                        <a:cs typeface="Times New Roman" panose="02020603050405020304" pitchFamily="18" charset="0"/>
                                      </a:rPr>
                                    </m:ctrlPr>
                                  </m:sSubPr>
                                  <m:e>
                                    <m:r>
                                      <a:rPr lang="es-ES" sz="1400" b="0" i="1" kern="100" smtClean="0">
                                        <a:effectLst/>
                                        <a:latin typeface="Cambria Math" panose="02040503050406030204" pitchFamily="18" charset="0"/>
                                        <a:cs typeface="Times New Roman" panose="02020603050405020304" pitchFamily="18" charset="0"/>
                                      </a:rPr>
                                      <m:t>𝑛</m:t>
                                    </m:r>
                                  </m:e>
                                  <m:sub>
                                    <m:sSub>
                                      <m:sSubPr>
                                        <m:ctrlPr>
                                          <a:rPr lang="es-ES" sz="1400" i="1" kern="100" smtClean="0">
                                            <a:effectLst/>
                                            <a:latin typeface="Cambria Math" panose="02040503050406030204" pitchFamily="18" charset="0"/>
                                            <a:cs typeface="Times New Roman" panose="02020603050405020304" pitchFamily="18" charset="0"/>
                                          </a:rPr>
                                        </m:ctrlPr>
                                      </m:sSubPr>
                                      <m:e>
                                        <m:r>
                                          <a:rPr lang="es-ES" sz="1400" b="0" i="1" kern="100" smtClean="0">
                                            <a:effectLst/>
                                            <a:latin typeface="Cambria Math" panose="02040503050406030204" pitchFamily="18" charset="0"/>
                                            <a:cs typeface="Times New Roman" panose="02020603050405020304" pitchFamily="18" charset="0"/>
                                          </a:rPr>
                                          <m:t>𝐵</m:t>
                                        </m:r>
                                      </m:e>
                                      <m:sub>
                                        <m:r>
                                          <a:rPr lang="es-ES" sz="1400" b="0" i="1" kern="100" smtClean="0">
                                            <a:effectLst/>
                                            <a:latin typeface="Cambria Math" panose="02040503050406030204" pitchFamily="18" charset="0"/>
                                            <a:cs typeface="Times New Roman" panose="02020603050405020304" pitchFamily="18" charset="0"/>
                                          </a:rPr>
                                          <m:t>2</m:t>
                                        </m:r>
                                      </m:sub>
                                    </m:sSub>
                                  </m:sub>
                                </m:sSub>
                              </m:oMath>
                            </m:oMathPara>
                          </a14:m>
                          <a:endParaRPr lang="es-ES" sz="1400" dirty="0"/>
                        </a:p>
                      </a:txBody>
                      <a:tcPr anchor="ctr"/>
                    </a:tc>
                    <a:tc>
                      <a:txBody>
                        <a:bodyPr/>
                        <a:lstStyle/>
                        <a:p>
                          <a:pPr algn="ctr">
                            <a:lnSpc>
                              <a:spcPct val="107000"/>
                            </a:lnSpc>
                            <a:spcAft>
                              <a:spcPts val="800"/>
                            </a:spcAft>
                          </a:pPr>
                          <a:r>
                            <a:rPr lang="es-ES" sz="1200" kern="100" dirty="0">
                              <a:effectLst/>
                              <a:latin typeface="Calibri" panose="020F0502020204030204" pitchFamily="34" charset="0"/>
                              <a:ea typeface="Calibri" panose="020F0502020204030204" pitchFamily="34" charset="0"/>
                              <a:cs typeface="Times New Roman" panose="02020603050405020304" pitchFamily="18" charset="0"/>
                            </a:rPr>
                            <a:t>…</a:t>
                          </a:r>
                        </a:p>
                      </a:txBody>
                      <a:tcPr marL="68580" marR="68580" marT="0" marB="0" anchor="ctr"/>
                    </a:tc>
                    <a:tc>
                      <a:txBody>
                        <a:bodyPr/>
                        <a:lstStyle/>
                        <a:p>
                          <a:pPr algn="ctr"/>
                          <a14:m>
                            <m:oMathPara xmlns:m="http://schemas.openxmlformats.org/officeDocument/2006/math">
                              <m:oMathParaPr>
                                <m:jc m:val="centerGroup"/>
                              </m:oMathParaPr>
                              <m:oMath xmlns:m="http://schemas.openxmlformats.org/officeDocument/2006/math">
                                <m:sSub>
                                  <m:sSubPr>
                                    <m:ctrlPr>
                                      <a:rPr lang="es-ES" sz="1400" i="1" kern="100" smtClean="0">
                                        <a:effectLst/>
                                        <a:latin typeface="Cambria Math" panose="02040503050406030204" pitchFamily="18" charset="0"/>
                                        <a:cs typeface="Times New Roman" panose="02020603050405020304" pitchFamily="18" charset="0"/>
                                      </a:rPr>
                                    </m:ctrlPr>
                                  </m:sSubPr>
                                  <m:e>
                                    <m:r>
                                      <a:rPr lang="es-ES" sz="1400" b="0" i="1" kern="100" smtClean="0">
                                        <a:effectLst/>
                                        <a:latin typeface="Cambria Math" panose="02040503050406030204" pitchFamily="18" charset="0"/>
                                        <a:cs typeface="Times New Roman" panose="02020603050405020304" pitchFamily="18" charset="0"/>
                                      </a:rPr>
                                      <m:t>𝑛</m:t>
                                    </m:r>
                                  </m:e>
                                  <m:sub>
                                    <m:sSub>
                                      <m:sSubPr>
                                        <m:ctrlPr>
                                          <a:rPr lang="es-ES" sz="1400" i="1" kern="100" smtClean="0">
                                            <a:effectLst/>
                                            <a:latin typeface="Cambria Math" panose="02040503050406030204" pitchFamily="18" charset="0"/>
                                            <a:cs typeface="Times New Roman" panose="02020603050405020304" pitchFamily="18" charset="0"/>
                                          </a:rPr>
                                        </m:ctrlPr>
                                      </m:sSubPr>
                                      <m:e>
                                        <m:r>
                                          <a:rPr lang="es-ES" sz="1400" b="0" i="1" kern="100" smtClean="0">
                                            <a:effectLst/>
                                            <a:latin typeface="Cambria Math" panose="02040503050406030204" pitchFamily="18" charset="0"/>
                                            <a:cs typeface="Times New Roman" panose="02020603050405020304" pitchFamily="18" charset="0"/>
                                          </a:rPr>
                                          <m:t>𝐵</m:t>
                                        </m:r>
                                      </m:e>
                                      <m:sub>
                                        <m:r>
                                          <a:rPr lang="es-ES" sz="1400" b="0" i="1" kern="100" smtClean="0">
                                            <a:effectLst/>
                                            <a:latin typeface="Cambria Math" panose="02040503050406030204" pitchFamily="18" charset="0"/>
                                            <a:cs typeface="Times New Roman" panose="02020603050405020304" pitchFamily="18" charset="0"/>
                                          </a:rPr>
                                          <m:t>𝑗</m:t>
                                        </m:r>
                                      </m:sub>
                                    </m:sSub>
                                  </m:sub>
                                </m:sSub>
                              </m:oMath>
                            </m:oMathPara>
                          </a14:m>
                          <a:endParaRPr lang="es-ES" sz="1400" dirty="0"/>
                        </a:p>
                      </a:txBody>
                      <a:tcPr marL="68580" marR="68580" marT="0" marB="0" anchor="ctr"/>
                    </a:tc>
                    <a:tc>
                      <a:txBody>
                        <a:bodyPr/>
                        <a:lstStyle/>
                        <a:p>
                          <a:pPr algn="ctr">
                            <a:lnSpc>
                              <a:spcPct val="107000"/>
                            </a:lnSpc>
                            <a:spcAft>
                              <a:spcPts val="800"/>
                            </a:spcAft>
                          </a:pPr>
                          <a:r>
                            <a:rPr lang="es-ES" sz="1400" kern="100" dirty="0">
                              <a:effectLst/>
                              <a:latin typeface="Calibri" panose="020F0502020204030204" pitchFamily="34" charset="0"/>
                              <a:ea typeface="Calibri" panose="020F0502020204030204" pitchFamily="34" charset="0"/>
                              <a:cs typeface="Times New Roman" panose="02020603050405020304" pitchFamily="18" charset="0"/>
                            </a:rPr>
                            <a:t>…</a:t>
                          </a:r>
                        </a:p>
                      </a:txBody>
                      <a:tcPr marL="68580" marR="68580" marT="0" marB="0" anchor="ct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ES" sz="1400" i="1" kern="100" smtClean="0">
                                        <a:effectLst/>
                                        <a:latin typeface="Cambria Math" panose="02040503050406030204" pitchFamily="18" charset="0"/>
                                        <a:cs typeface="Times New Roman" panose="02020603050405020304" pitchFamily="18" charset="0"/>
                                      </a:rPr>
                                    </m:ctrlPr>
                                  </m:sSubPr>
                                  <m:e>
                                    <m:r>
                                      <a:rPr lang="es-ES" sz="1400" b="0" i="1" kern="100" smtClean="0">
                                        <a:effectLst/>
                                        <a:latin typeface="Cambria Math" panose="02040503050406030204" pitchFamily="18" charset="0"/>
                                        <a:cs typeface="Times New Roman" panose="02020603050405020304" pitchFamily="18" charset="0"/>
                                      </a:rPr>
                                      <m:t>𝑛</m:t>
                                    </m:r>
                                  </m:e>
                                  <m:sub>
                                    <m:sSub>
                                      <m:sSubPr>
                                        <m:ctrlPr>
                                          <a:rPr lang="es-ES" sz="1400" i="1" kern="100" smtClean="0">
                                            <a:effectLst/>
                                            <a:latin typeface="Cambria Math" panose="02040503050406030204" pitchFamily="18" charset="0"/>
                                            <a:cs typeface="Times New Roman" panose="02020603050405020304" pitchFamily="18" charset="0"/>
                                          </a:rPr>
                                        </m:ctrlPr>
                                      </m:sSubPr>
                                      <m:e>
                                        <m:r>
                                          <a:rPr lang="es-ES" sz="1400" b="0" i="1" kern="100" smtClean="0">
                                            <a:effectLst/>
                                            <a:latin typeface="Cambria Math" panose="02040503050406030204" pitchFamily="18" charset="0"/>
                                            <a:cs typeface="Times New Roman" panose="02020603050405020304" pitchFamily="18" charset="0"/>
                                          </a:rPr>
                                          <m:t>𝐵</m:t>
                                        </m:r>
                                      </m:e>
                                      <m:sub>
                                        <m:r>
                                          <a:rPr lang="es-ES" sz="1400" b="0" i="1" kern="100" smtClean="0">
                                            <a:effectLst/>
                                            <a:latin typeface="Cambria Math" panose="02040503050406030204" pitchFamily="18" charset="0"/>
                                            <a:cs typeface="Times New Roman" panose="02020603050405020304" pitchFamily="18" charset="0"/>
                                          </a:rPr>
                                          <m:t>𝑚</m:t>
                                        </m:r>
                                      </m:sub>
                                    </m:sSub>
                                  </m:sub>
                                </m:sSub>
                              </m:oMath>
                            </m:oMathPara>
                          </a14:m>
                          <a:endParaRPr lang="es-E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s-ES" sz="1400" b="0" i="1" kern="100" smtClean="0">
                                    <a:effectLst/>
                                    <a:latin typeface="Cambria Math" panose="02040503050406030204" pitchFamily="18" charset="0"/>
                                    <a:ea typeface="Calibri" panose="020F0502020204030204" pitchFamily="34" charset="0"/>
                                    <a:cs typeface="Times New Roman" panose="02020603050405020304" pitchFamily="18" charset="0"/>
                                  </a:rPr>
                                  <m:t>𝑛</m:t>
                                </m:r>
                              </m:oMath>
                            </m:oMathPara>
                          </a14:m>
                          <a:endParaRPr lang="es-E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148768454"/>
                      </a:ext>
                    </a:extLst>
                  </a:tr>
                </a:tbl>
              </a:graphicData>
            </a:graphic>
          </p:graphicFrame>
        </mc:Choice>
        <mc:Fallback>
          <p:graphicFrame>
            <p:nvGraphicFramePr>
              <p:cNvPr id="5" name="Tabla 5">
                <a:extLst>
                  <a:ext uri="{FF2B5EF4-FFF2-40B4-BE49-F238E27FC236}">
                    <a16:creationId xmlns:a16="http://schemas.microsoft.com/office/drawing/2014/main" id="{1571EAC2-8CED-9816-1B00-A6898D3DD682}"/>
                  </a:ext>
                </a:extLst>
              </p:cNvPr>
              <p:cNvGraphicFramePr>
                <a:graphicFrameLocks noGrp="1"/>
              </p:cNvGraphicFramePr>
              <p:nvPr>
                <p:extLst>
                  <p:ext uri="{D42A27DB-BD31-4B8C-83A1-F6EECF244321}">
                    <p14:modId xmlns:p14="http://schemas.microsoft.com/office/powerpoint/2010/main" val="2186158082"/>
                  </p:ext>
                </p:extLst>
              </p:nvPr>
            </p:nvGraphicFramePr>
            <p:xfrm>
              <a:off x="6996104" y="2790190"/>
              <a:ext cx="4158618" cy="2966720"/>
            </p:xfrm>
            <a:graphic>
              <a:graphicData uri="http://schemas.openxmlformats.org/drawingml/2006/table">
                <a:tbl>
                  <a:tblPr firstRow="1" bandRow="1">
                    <a:tableStyleId>{5940675A-B579-460E-94D1-54222C63F5DA}</a:tableStyleId>
                  </a:tblPr>
                  <a:tblGrid>
                    <a:gridCol w="605211">
                      <a:extLst>
                        <a:ext uri="{9D8B030D-6E8A-4147-A177-3AD203B41FA5}">
                          <a16:colId xmlns:a16="http://schemas.microsoft.com/office/drawing/2014/main" val="1709859660"/>
                        </a:ext>
                      </a:extLst>
                    </a:gridCol>
                    <a:gridCol w="568269">
                      <a:extLst>
                        <a:ext uri="{9D8B030D-6E8A-4147-A177-3AD203B41FA5}">
                          <a16:colId xmlns:a16="http://schemas.microsoft.com/office/drawing/2014/main" val="3441740441"/>
                        </a:ext>
                      </a:extLst>
                    </a:gridCol>
                    <a:gridCol w="556260">
                      <a:extLst>
                        <a:ext uri="{9D8B030D-6E8A-4147-A177-3AD203B41FA5}">
                          <a16:colId xmlns:a16="http://schemas.microsoft.com/office/drawing/2014/main" val="2705658812"/>
                        </a:ext>
                      </a:extLst>
                    </a:gridCol>
                    <a:gridCol w="365760">
                      <a:extLst>
                        <a:ext uri="{9D8B030D-6E8A-4147-A177-3AD203B41FA5}">
                          <a16:colId xmlns:a16="http://schemas.microsoft.com/office/drawing/2014/main" val="3883677733"/>
                        </a:ext>
                      </a:extLst>
                    </a:gridCol>
                    <a:gridCol w="571500">
                      <a:extLst>
                        <a:ext uri="{9D8B030D-6E8A-4147-A177-3AD203B41FA5}">
                          <a16:colId xmlns:a16="http://schemas.microsoft.com/office/drawing/2014/main" val="3464686749"/>
                        </a:ext>
                      </a:extLst>
                    </a:gridCol>
                    <a:gridCol w="411480">
                      <a:extLst>
                        <a:ext uri="{9D8B030D-6E8A-4147-A177-3AD203B41FA5}">
                          <a16:colId xmlns:a16="http://schemas.microsoft.com/office/drawing/2014/main" val="2359465122"/>
                        </a:ext>
                      </a:extLst>
                    </a:gridCol>
                    <a:gridCol w="533400">
                      <a:extLst>
                        <a:ext uri="{9D8B030D-6E8A-4147-A177-3AD203B41FA5}">
                          <a16:colId xmlns:a16="http://schemas.microsoft.com/office/drawing/2014/main" val="2261216985"/>
                        </a:ext>
                      </a:extLst>
                    </a:gridCol>
                    <a:gridCol w="546738">
                      <a:extLst>
                        <a:ext uri="{9D8B030D-6E8A-4147-A177-3AD203B41FA5}">
                          <a16:colId xmlns:a16="http://schemas.microsoft.com/office/drawing/2014/main" val="2537795203"/>
                        </a:ext>
                      </a:extLst>
                    </a:gridCol>
                  </a:tblGrid>
                  <a:tr h="370840">
                    <a:tc>
                      <a:txBody>
                        <a:bodyPr/>
                        <a:lstStyle/>
                        <a:p>
                          <a:endParaRPr lang="es-ES"/>
                        </a:p>
                      </a:txBody>
                      <a:tcPr anchor="ctr">
                        <a:blipFill>
                          <a:blip r:embed="rId3"/>
                          <a:stretch>
                            <a:fillRect l="-1010" t="-1639" r="-591919" b="-708197"/>
                          </a:stretch>
                        </a:blipFill>
                      </a:tcPr>
                    </a:tc>
                    <a:tc>
                      <a:txBody>
                        <a:bodyPr/>
                        <a:lstStyle/>
                        <a:p>
                          <a:endParaRPr lang="es-ES"/>
                        </a:p>
                      </a:txBody>
                      <a:tcPr anchor="ctr">
                        <a:blipFill>
                          <a:blip r:embed="rId3"/>
                          <a:stretch>
                            <a:fillRect l="-106383" t="-1639" r="-523404" b="-708197"/>
                          </a:stretch>
                        </a:blipFill>
                      </a:tcPr>
                    </a:tc>
                    <a:tc>
                      <a:txBody>
                        <a:bodyPr/>
                        <a:lstStyle/>
                        <a:p>
                          <a:endParaRPr lang="es-ES"/>
                        </a:p>
                      </a:txBody>
                      <a:tcPr anchor="ctr">
                        <a:blipFill>
                          <a:blip r:embed="rId3"/>
                          <a:stretch>
                            <a:fillRect l="-213187" t="-1639" r="-440659" b="-708197"/>
                          </a:stretch>
                        </a:blipFill>
                      </a:tcPr>
                    </a:tc>
                    <a:tc>
                      <a:txBody>
                        <a:bodyPr/>
                        <a:lstStyle/>
                        <a:p>
                          <a:endParaRPr lang="es-ES"/>
                        </a:p>
                      </a:txBody>
                      <a:tcPr anchor="ctr">
                        <a:blipFill>
                          <a:blip r:embed="rId3"/>
                          <a:stretch>
                            <a:fillRect l="-475000" t="-1639" r="-568333" b="-708197"/>
                          </a:stretch>
                        </a:blipFill>
                      </a:tcPr>
                    </a:tc>
                    <a:tc>
                      <a:txBody>
                        <a:bodyPr/>
                        <a:lstStyle/>
                        <a:p>
                          <a:endParaRPr lang="es-ES"/>
                        </a:p>
                      </a:txBody>
                      <a:tcPr anchor="ctr">
                        <a:blipFill>
                          <a:blip r:embed="rId3"/>
                          <a:stretch>
                            <a:fillRect l="-367021" t="-1639" r="-262766" b="-708197"/>
                          </a:stretch>
                        </a:blipFill>
                      </a:tcPr>
                    </a:tc>
                    <a:tc>
                      <a:txBody>
                        <a:bodyPr/>
                        <a:lstStyle/>
                        <a:p>
                          <a:endParaRPr lang="es-ES"/>
                        </a:p>
                      </a:txBody>
                      <a:tcPr anchor="ctr">
                        <a:blipFill>
                          <a:blip r:embed="rId3"/>
                          <a:stretch>
                            <a:fillRect l="-645588" t="-1639" r="-263235" b="-708197"/>
                          </a:stretch>
                        </a:blipFill>
                      </a:tcPr>
                    </a:tc>
                    <a:tc>
                      <a:txBody>
                        <a:bodyPr/>
                        <a:lstStyle/>
                        <a:p>
                          <a:endParaRPr lang="es-ES"/>
                        </a:p>
                      </a:txBody>
                      <a:tcPr anchor="ctr">
                        <a:blipFill>
                          <a:blip r:embed="rId3"/>
                          <a:stretch>
                            <a:fillRect l="-582759" t="-1639" r="-105747" b="-708197"/>
                          </a:stretch>
                        </a:blipFill>
                      </a:tcPr>
                    </a:tc>
                    <a:tc>
                      <a:txBody>
                        <a:bodyPr/>
                        <a:lstStyle/>
                        <a:p>
                          <a:endParaRPr lang="es-ES"/>
                        </a:p>
                      </a:txBody>
                      <a:tcPr anchor="ctr">
                        <a:blipFill>
                          <a:blip r:embed="rId3"/>
                          <a:stretch>
                            <a:fillRect l="-660000" t="-1639" r="-2222" b="-708197"/>
                          </a:stretch>
                        </a:blipFill>
                      </a:tcPr>
                    </a:tc>
                    <a:extLst>
                      <a:ext uri="{0D108BD9-81ED-4DB2-BD59-A6C34878D82A}">
                        <a16:rowId xmlns:a16="http://schemas.microsoft.com/office/drawing/2014/main" val="1876346771"/>
                      </a:ext>
                    </a:extLst>
                  </a:tr>
                  <a:tr h="370840">
                    <a:tc>
                      <a:txBody>
                        <a:bodyPr/>
                        <a:lstStyle/>
                        <a:p>
                          <a:endParaRPr lang="es-ES"/>
                        </a:p>
                      </a:txBody>
                      <a:tcPr anchor="ctr">
                        <a:blipFill>
                          <a:blip r:embed="rId3"/>
                          <a:stretch>
                            <a:fillRect l="-1010" t="-101639" r="-591919" b="-608197"/>
                          </a:stretch>
                        </a:blipFill>
                      </a:tcPr>
                    </a:tc>
                    <a:tc>
                      <a:txBody>
                        <a:bodyPr/>
                        <a:lstStyle/>
                        <a:p>
                          <a:endParaRPr lang="es-ES"/>
                        </a:p>
                      </a:txBody>
                      <a:tcPr anchor="ctr">
                        <a:blipFill>
                          <a:blip r:embed="rId3"/>
                          <a:stretch>
                            <a:fillRect l="-106383" t="-101639" r="-523404" b="-608197"/>
                          </a:stretch>
                        </a:blipFill>
                      </a:tcPr>
                    </a:tc>
                    <a:tc>
                      <a:txBody>
                        <a:bodyPr/>
                        <a:lstStyle/>
                        <a:p>
                          <a:endParaRPr lang="es-ES"/>
                        </a:p>
                      </a:txBody>
                      <a:tcPr anchor="ctr">
                        <a:blipFill>
                          <a:blip r:embed="rId3"/>
                          <a:stretch>
                            <a:fillRect l="-213187" t="-101639" r="-440659" b="-608197"/>
                          </a:stretch>
                        </a:blipFill>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s-ES" sz="1400" dirty="0"/>
                            <a:t>…</a:t>
                          </a:r>
                        </a:p>
                      </a:txBody>
                      <a:tcPr marL="68580" marR="68580" marT="0" marB="0" anchor="ctr"/>
                    </a:tc>
                    <a:tc>
                      <a:txBody>
                        <a:bodyPr/>
                        <a:lstStyle/>
                        <a:p>
                          <a:endParaRPr lang="es-ES"/>
                        </a:p>
                      </a:txBody>
                      <a:tcPr anchor="ctr">
                        <a:blipFill>
                          <a:blip r:embed="rId3"/>
                          <a:stretch>
                            <a:fillRect l="-367021" t="-101639" r="-262766" b="-608197"/>
                          </a:stretch>
                        </a:blipFill>
                      </a:tcPr>
                    </a:tc>
                    <a:tc>
                      <a:txBody>
                        <a:bodyPr/>
                        <a:lstStyle/>
                        <a:p>
                          <a:endParaRPr lang="es-ES"/>
                        </a:p>
                      </a:txBody>
                      <a:tcPr marL="68580" marR="68580" marT="0" marB="0" anchor="ctr">
                        <a:blipFill>
                          <a:blip r:embed="rId3"/>
                          <a:stretch>
                            <a:fillRect l="-645588" t="-101639" r="-263235" b="-608197"/>
                          </a:stretch>
                        </a:blipFill>
                      </a:tcPr>
                    </a:tc>
                    <a:tc>
                      <a:txBody>
                        <a:bodyPr/>
                        <a:lstStyle/>
                        <a:p>
                          <a:endParaRPr lang="es-ES"/>
                        </a:p>
                      </a:txBody>
                      <a:tcPr marL="68580" marR="68580" marT="0" marB="0" anchor="ctr">
                        <a:blipFill>
                          <a:blip r:embed="rId3"/>
                          <a:stretch>
                            <a:fillRect l="-582759" t="-101639" r="-105747" b="-608197"/>
                          </a:stretch>
                        </a:blipFill>
                      </a:tcPr>
                    </a:tc>
                    <a:tc>
                      <a:txBody>
                        <a:bodyPr/>
                        <a:lstStyle/>
                        <a:p>
                          <a:endParaRPr lang="es-ES"/>
                        </a:p>
                      </a:txBody>
                      <a:tcPr marL="68580" marR="68580" marT="0" marB="0" anchor="ctr">
                        <a:blipFill>
                          <a:blip r:embed="rId3"/>
                          <a:stretch>
                            <a:fillRect l="-660000" t="-101639" r="-2222" b="-608197"/>
                          </a:stretch>
                        </a:blipFill>
                      </a:tcPr>
                    </a:tc>
                    <a:extLst>
                      <a:ext uri="{0D108BD9-81ED-4DB2-BD59-A6C34878D82A}">
                        <a16:rowId xmlns:a16="http://schemas.microsoft.com/office/drawing/2014/main" val="3352149211"/>
                      </a:ext>
                    </a:extLst>
                  </a:tr>
                  <a:tr h="370840">
                    <a:tc>
                      <a:txBody>
                        <a:bodyPr/>
                        <a:lstStyle/>
                        <a:p>
                          <a:endParaRPr lang="es-ES"/>
                        </a:p>
                      </a:txBody>
                      <a:tcPr anchor="ctr">
                        <a:blipFill>
                          <a:blip r:embed="rId3"/>
                          <a:stretch>
                            <a:fillRect l="-1010" t="-201639" r="-591919" b="-508197"/>
                          </a:stretch>
                        </a:blipFill>
                      </a:tcPr>
                    </a:tc>
                    <a:tc>
                      <a:txBody>
                        <a:bodyPr/>
                        <a:lstStyle/>
                        <a:p>
                          <a:endParaRPr lang="es-ES"/>
                        </a:p>
                      </a:txBody>
                      <a:tcPr anchor="ctr">
                        <a:blipFill>
                          <a:blip r:embed="rId3"/>
                          <a:stretch>
                            <a:fillRect l="-106383" t="-201639" r="-523404" b="-508197"/>
                          </a:stretch>
                        </a:blipFill>
                      </a:tcPr>
                    </a:tc>
                    <a:tc>
                      <a:txBody>
                        <a:bodyPr/>
                        <a:lstStyle/>
                        <a:p>
                          <a:endParaRPr lang="es-ES"/>
                        </a:p>
                      </a:txBody>
                      <a:tcPr anchor="ctr">
                        <a:blipFill>
                          <a:blip r:embed="rId3"/>
                          <a:stretch>
                            <a:fillRect l="-213187" t="-201639" r="-440659" b="-508197"/>
                          </a:stretch>
                        </a:blipFill>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s-ES" sz="1400" dirty="0"/>
                            <a:t>…</a:t>
                          </a:r>
                        </a:p>
                      </a:txBody>
                      <a:tcPr marL="68580" marR="68580" marT="0" marB="0" anchor="ctr"/>
                    </a:tc>
                    <a:tc>
                      <a:txBody>
                        <a:bodyPr/>
                        <a:lstStyle/>
                        <a:p>
                          <a:endParaRPr lang="es-ES"/>
                        </a:p>
                      </a:txBody>
                      <a:tcPr anchor="ctr">
                        <a:blipFill>
                          <a:blip r:embed="rId3"/>
                          <a:stretch>
                            <a:fillRect l="-367021" t="-201639" r="-262766" b="-508197"/>
                          </a:stretch>
                        </a:blipFill>
                      </a:tcPr>
                    </a:tc>
                    <a:tc>
                      <a:txBody>
                        <a:bodyPr/>
                        <a:lstStyle/>
                        <a:p>
                          <a:endParaRPr lang="es-ES"/>
                        </a:p>
                      </a:txBody>
                      <a:tcPr marL="68580" marR="68580" marT="0" marB="0" anchor="ctr">
                        <a:blipFill>
                          <a:blip r:embed="rId3"/>
                          <a:stretch>
                            <a:fillRect l="-645588" t="-201639" r="-263235" b="-508197"/>
                          </a:stretch>
                        </a:blipFill>
                      </a:tcPr>
                    </a:tc>
                    <a:tc>
                      <a:txBody>
                        <a:bodyPr/>
                        <a:lstStyle/>
                        <a:p>
                          <a:endParaRPr lang="es-ES"/>
                        </a:p>
                      </a:txBody>
                      <a:tcPr marL="68580" marR="68580" marT="0" marB="0" anchor="ctr">
                        <a:blipFill>
                          <a:blip r:embed="rId3"/>
                          <a:stretch>
                            <a:fillRect l="-582759" t="-201639" r="-105747" b="-508197"/>
                          </a:stretch>
                        </a:blipFill>
                      </a:tcPr>
                    </a:tc>
                    <a:tc>
                      <a:txBody>
                        <a:bodyPr/>
                        <a:lstStyle/>
                        <a:p>
                          <a:endParaRPr lang="es-ES"/>
                        </a:p>
                      </a:txBody>
                      <a:tcPr marL="68580" marR="68580" marT="0" marB="0" anchor="ctr">
                        <a:blipFill>
                          <a:blip r:embed="rId3"/>
                          <a:stretch>
                            <a:fillRect l="-660000" t="-201639" r="-2222" b="-508197"/>
                          </a:stretch>
                        </a:blipFill>
                      </a:tcPr>
                    </a:tc>
                    <a:extLst>
                      <a:ext uri="{0D108BD9-81ED-4DB2-BD59-A6C34878D82A}">
                        <a16:rowId xmlns:a16="http://schemas.microsoft.com/office/drawing/2014/main" val="202863625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1"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marL="68580" marR="68580" marT="0" marB="0" anchor="ctr"/>
                    </a:tc>
                    <a:extLst>
                      <a:ext uri="{0D108BD9-81ED-4DB2-BD59-A6C34878D82A}">
                        <a16:rowId xmlns:a16="http://schemas.microsoft.com/office/drawing/2014/main" val="3338217678"/>
                      </a:ext>
                    </a:extLst>
                  </a:tr>
                  <a:tr h="370840">
                    <a:tc>
                      <a:txBody>
                        <a:bodyPr/>
                        <a:lstStyle/>
                        <a:p>
                          <a:endParaRPr lang="es-ES"/>
                        </a:p>
                      </a:txBody>
                      <a:tcPr anchor="ctr">
                        <a:blipFill>
                          <a:blip r:embed="rId3"/>
                          <a:stretch>
                            <a:fillRect l="-1010" t="-401639" r="-591919" b="-308197"/>
                          </a:stretch>
                        </a:blipFill>
                      </a:tcPr>
                    </a:tc>
                    <a:tc>
                      <a:txBody>
                        <a:bodyPr/>
                        <a:lstStyle/>
                        <a:p>
                          <a:endParaRPr lang="es-ES"/>
                        </a:p>
                      </a:txBody>
                      <a:tcPr anchor="ctr">
                        <a:blipFill>
                          <a:blip r:embed="rId3"/>
                          <a:stretch>
                            <a:fillRect l="-106383" t="-401639" r="-523404" b="-308197"/>
                          </a:stretch>
                        </a:blipFill>
                      </a:tcPr>
                    </a:tc>
                    <a:tc>
                      <a:txBody>
                        <a:bodyPr/>
                        <a:lstStyle/>
                        <a:p>
                          <a:endParaRPr lang="es-ES"/>
                        </a:p>
                      </a:txBody>
                      <a:tcPr anchor="ctr">
                        <a:blipFill>
                          <a:blip r:embed="rId3"/>
                          <a:stretch>
                            <a:fillRect l="-213187" t="-401639" r="-440659" b="-308197"/>
                          </a:stretch>
                        </a:blipFill>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s-ES" sz="1400" dirty="0"/>
                            <a:t>…</a:t>
                          </a:r>
                        </a:p>
                      </a:txBody>
                      <a:tcPr marL="68580" marR="68580" marT="0" marB="0" anchor="ctr"/>
                    </a:tc>
                    <a:tc>
                      <a:txBody>
                        <a:bodyPr/>
                        <a:lstStyle/>
                        <a:p>
                          <a:endParaRPr lang="es-ES"/>
                        </a:p>
                      </a:txBody>
                      <a:tcPr anchor="ctr">
                        <a:blipFill>
                          <a:blip r:embed="rId3"/>
                          <a:stretch>
                            <a:fillRect l="-367021" t="-401639" r="-262766" b="-308197"/>
                          </a:stretch>
                        </a:blipFill>
                      </a:tcPr>
                    </a:tc>
                    <a:tc>
                      <a:txBody>
                        <a:bodyPr/>
                        <a:lstStyle/>
                        <a:p>
                          <a:endParaRPr lang="es-ES"/>
                        </a:p>
                      </a:txBody>
                      <a:tcPr marL="68580" marR="68580" marT="0" marB="0" anchor="ctr">
                        <a:blipFill>
                          <a:blip r:embed="rId3"/>
                          <a:stretch>
                            <a:fillRect l="-645588" t="-401639" r="-263235" b="-308197"/>
                          </a:stretch>
                        </a:blipFill>
                      </a:tcPr>
                    </a:tc>
                    <a:tc>
                      <a:txBody>
                        <a:bodyPr/>
                        <a:lstStyle/>
                        <a:p>
                          <a:endParaRPr lang="es-ES"/>
                        </a:p>
                      </a:txBody>
                      <a:tcPr marL="68580" marR="68580" marT="0" marB="0" anchor="ctr">
                        <a:blipFill>
                          <a:blip r:embed="rId3"/>
                          <a:stretch>
                            <a:fillRect l="-582759" t="-401639" r="-105747" b="-308197"/>
                          </a:stretch>
                        </a:blipFill>
                      </a:tcPr>
                    </a:tc>
                    <a:tc>
                      <a:txBody>
                        <a:bodyPr/>
                        <a:lstStyle/>
                        <a:p>
                          <a:endParaRPr lang="es-ES"/>
                        </a:p>
                      </a:txBody>
                      <a:tcPr marL="68580" marR="68580" marT="0" marB="0" anchor="ctr">
                        <a:blipFill>
                          <a:blip r:embed="rId3"/>
                          <a:stretch>
                            <a:fillRect l="-660000" t="-401639" r="-2222" b="-308197"/>
                          </a:stretch>
                        </a:blipFill>
                      </a:tcPr>
                    </a:tc>
                    <a:extLst>
                      <a:ext uri="{0D108BD9-81ED-4DB2-BD59-A6C34878D82A}">
                        <a16:rowId xmlns:a16="http://schemas.microsoft.com/office/drawing/2014/main" val="365036747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1"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marL="68580" marR="68580" marT="0" marB="0" anchor="ctr"/>
                    </a:tc>
                    <a:extLst>
                      <a:ext uri="{0D108BD9-81ED-4DB2-BD59-A6C34878D82A}">
                        <a16:rowId xmlns:a16="http://schemas.microsoft.com/office/drawing/2014/main" val="2902693385"/>
                      </a:ext>
                    </a:extLst>
                  </a:tr>
                  <a:tr h="370840">
                    <a:tc>
                      <a:txBody>
                        <a:bodyPr/>
                        <a:lstStyle/>
                        <a:p>
                          <a:endParaRPr lang="es-ES"/>
                        </a:p>
                      </a:txBody>
                      <a:tcPr anchor="ctr">
                        <a:blipFill>
                          <a:blip r:embed="rId3"/>
                          <a:stretch>
                            <a:fillRect l="-1010" t="-601639" r="-591919" b="-108197"/>
                          </a:stretch>
                        </a:blipFill>
                      </a:tcPr>
                    </a:tc>
                    <a:tc>
                      <a:txBody>
                        <a:bodyPr/>
                        <a:lstStyle/>
                        <a:p>
                          <a:endParaRPr lang="es-ES"/>
                        </a:p>
                      </a:txBody>
                      <a:tcPr anchor="ctr">
                        <a:blipFill>
                          <a:blip r:embed="rId3"/>
                          <a:stretch>
                            <a:fillRect l="-106383" t="-601639" r="-523404" b="-108197"/>
                          </a:stretch>
                        </a:blipFill>
                      </a:tcPr>
                    </a:tc>
                    <a:tc>
                      <a:txBody>
                        <a:bodyPr/>
                        <a:lstStyle/>
                        <a:p>
                          <a:endParaRPr lang="es-ES"/>
                        </a:p>
                      </a:txBody>
                      <a:tcPr anchor="ctr">
                        <a:blipFill>
                          <a:blip r:embed="rId3"/>
                          <a:stretch>
                            <a:fillRect l="-213187" t="-601639" r="-440659" b="-108197"/>
                          </a:stretch>
                        </a:blipFill>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s-ES" sz="1400" dirty="0"/>
                            <a:t>…</a:t>
                          </a:r>
                        </a:p>
                      </a:txBody>
                      <a:tcPr marL="68580" marR="68580" marT="0" marB="0" anchor="ctr"/>
                    </a:tc>
                    <a:tc>
                      <a:txBody>
                        <a:bodyPr/>
                        <a:lstStyle/>
                        <a:p>
                          <a:endParaRPr lang="es-ES"/>
                        </a:p>
                      </a:txBody>
                      <a:tcPr anchor="ctr">
                        <a:blipFill>
                          <a:blip r:embed="rId3"/>
                          <a:stretch>
                            <a:fillRect l="-367021" t="-601639" r="-262766" b="-108197"/>
                          </a:stretch>
                        </a:blipFill>
                      </a:tcPr>
                    </a:tc>
                    <a:tc>
                      <a:txBody>
                        <a:bodyPr/>
                        <a:lstStyle/>
                        <a:p>
                          <a:endParaRPr lang="es-ES"/>
                        </a:p>
                      </a:txBody>
                      <a:tcPr marL="68580" marR="68580" marT="0" marB="0" anchor="ctr">
                        <a:blipFill>
                          <a:blip r:embed="rId3"/>
                          <a:stretch>
                            <a:fillRect l="-645588" t="-601639" r="-263235" b="-108197"/>
                          </a:stretch>
                        </a:blipFill>
                      </a:tcPr>
                    </a:tc>
                    <a:tc>
                      <a:txBody>
                        <a:bodyPr/>
                        <a:lstStyle/>
                        <a:p>
                          <a:endParaRPr lang="es-ES"/>
                        </a:p>
                      </a:txBody>
                      <a:tcPr marL="68580" marR="68580" marT="0" marB="0" anchor="ctr">
                        <a:blipFill>
                          <a:blip r:embed="rId3"/>
                          <a:stretch>
                            <a:fillRect l="-582759" t="-601639" r="-105747" b="-108197"/>
                          </a:stretch>
                        </a:blipFill>
                      </a:tcPr>
                    </a:tc>
                    <a:tc>
                      <a:txBody>
                        <a:bodyPr/>
                        <a:lstStyle/>
                        <a:p>
                          <a:endParaRPr lang="es-ES"/>
                        </a:p>
                      </a:txBody>
                      <a:tcPr marL="68580" marR="68580" marT="0" marB="0" anchor="ctr">
                        <a:blipFill>
                          <a:blip r:embed="rId3"/>
                          <a:stretch>
                            <a:fillRect l="-660000" t="-601639" r="-2222" b="-108197"/>
                          </a:stretch>
                        </a:blipFill>
                      </a:tcPr>
                    </a:tc>
                    <a:extLst>
                      <a:ext uri="{0D108BD9-81ED-4DB2-BD59-A6C34878D82A}">
                        <a16:rowId xmlns:a16="http://schemas.microsoft.com/office/drawing/2014/main" val="3468268460"/>
                      </a:ext>
                    </a:extLst>
                  </a:tr>
                  <a:tr h="370840">
                    <a:tc>
                      <a:txBody>
                        <a:bodyPr/>
                        <a:lstStyle/>
                        <a:p>
                          <a:endParaRPr lang="es-ES"/>
                        </a:p>
                      </a:txBody>
                      <a:tcPr anchor="ctr">
                        <a:blipFill>
                          <a:blip r:embed="rId3"/>
                          <a:stretch>
                            <a:fillRect l="-1010" t="-701639" r="-591919" b="-8197"/>
                          </a:stretch>
                        </a:blipFill>
                      </a:tcPr>
                    </a:tc>
                    <a:tc>
                      <a:txBody>
                        <a:bodyPr/>
                        <a:lstStyle/>
                        <a:p>
                          <a:endParaRPr lang="es-ES"/>
                        </a:p>
                      </a:txBody>
                      <a:tcPr anchor="ctr">
                        <a:blipFill>
                          <a:blip r:embed="rId3"/>
                          <a:stretch>
                            <a:fillRect l="-106383" t="-701639" r="-523404" b="-8197"/>
                          </a:stretch>
                        </a:blipFill>
                      </a:tcPr>
                    </a:tc>
                    <a:tc>
                      <a:txBody>
                        <a:bodyPr/>
                        <a:lstStyle/>
                        <a:p>
                          <a:endParaRPr lang="es-ES"/>
                        </a:p>
                      </a:txBody>
                      <a:tcPr anchor="ctr">
                        <a:blipFill>
                          <a:blip r:embed="rId3"/>
                          <a:stretch>
                            <a:fillRect l="-213187" t="-701639" r="-440659" b="-8197"/>
                          </a:stretch>
                        </a:blipFill>
                      </a:tcPr>
                    </a:tc>
                    <a:tc>
                      <a:txBody>
                        <a:bodyPr/>
                        <a:lstStyle/>
                        <a:p>
                          <a:pPr algn="ctr">
                            <a:lnSpc>
                              <a:spcPct val="107000"/>
                            </a:lnSpc>
                            <a:spcAft>
                              <a:spcPts val="800"/>
                            </a:spcAft>
                          </a:pPr>
                          <a:r>
                            <a:rPr lang="es-ES" sz="1200" kern="100" dirty="0">
                              <a:effectLst/>
                              <a:latin typeface="Calibri" panose="020F0502020204030204" pitchFamily="34" charset="0"/>
                              <a:ea typeface="Calibri" panose="020F0502020204030204" pitchFamily="34" charset="0"/>
                              <a:cs typeface="Times New Roman" panose="02020603050405020304" pitchFamily="18" charset="0"/>
                            </a:rPr>
                            <a:t>…</a:t>
                          </a:r>
                        </a:p>
                      </a:txBody>
                      <a:tcPr marL="68580" marR="68580" marT="0" marB="0" anchor="ctr"/>
                    </a:tc>
                    <a:tc>
                      <a:txBody>
                        <a:bodyPr/>
                        <a:lstStyle/>
                        <a:p>
                          <a:endParaRPr lang="es-ES"/>
                        </a:p>
                      </a:txBody>
                      <a:tcPr marL="68580" marR="68580" marT="0" marB="0" anchor="ctr">
                        <a:blipFill>
                          <a:blip r:embed="rId3"/>
                          <a:stretch>
                            <a:fillRect l="-367021" t="-701639" r="-262766" b="-8197"/>
                          </a:stretch>
                        </a:blipFill>
                      </a:tcPr>
                    </a:tc>
                    <a:tc>
                      <a:txBody>
                        <a:bodyPr/>
                        <a:lstStyle/>
                        <a:p>
                          <a:pPr algn="ctr">
                            <a:lnSpc>
                              <a:spcPct val="107000"/>
                            </a:lnSpc>
                            <a:spcAft>
                              <a:spcPts val="800"/>
                            </a:spcAft>
                          </a:pPr>
                          <a:r>
                            <a:rPr lang="es-ES" sz="1400" kern="100" dirty="0">
                              <a:effectLst/>
                              <a:latin typeface="Calibri" panose="020F0502020204030204" pitchFamily="34" charset="0"/>
                              <a:ea typeface="Calibri" panose="020F0502020204030204" pitchFamily="34" charset="0"/>
                              <a:cs typeface="Times New Roman" panose="02020603050405020304" pitchFamily="18" charset="0"/>
                            </a:rPr>
                            <a:t>…</a:t>
                          </a:r>
                        </a:p>
                      </a:txBody>
                      <a:tcPr marL="68580" marR="68580" marT="0" marB="0" anchor="ctr"/>
                    </a:tc>
                    <a:tc>
                      <a:txBody>
                        <a:bodyPr/>
                        <a:lstStyle/>
                        <a:p>
                          <a:endParaRPr lang="es-ES"/>
                        </a:p>
                      </a:txBody>
                      <a:tcPr marL="68580" marR="68580" marT="0" marB="0" anchor="ctr">
                        <a:blipFill>
                          <a:blip r:embed="rId3"/>
                          <a:stretch>
                            <a:fillRect l="-582759" t="-701639" r="-105747" b="-8197"/>
                          </a:stretch>
                        </a:blipFill>
                      </a:tcPr>
                    </a:tc>
                    <a:tc>
                      <a:txBody>
                        <a:bodyPr/>
                        <a:lstStyle/>
                        <a:p>
                          <a:endParaRPr lang="es-ES"/>
                        </a:p>
                      </a:txBody>
                      <a:tcPr marL="68580" marR="68580" marT="0" marB="0" anchor="ctr">
                        <a:blipFill>
                          <a:blip r:embed="rId3"/>
                          <a:stretch>
                            <a:fillRect l="-660000" t="-701639" r="-2222" b="-8197"/>
                          </a:stretch>
                        </a:blipFill>
                      </a:tcPr>
                    </a:tc>
                    <a:extLst>
                      <a:ext uri="{0D108BD9-81ED-4DB2-BD59-A6C34878D82A}">
                        <a16:rowId xmlns:a16="http://schemas.microsoft.com/office/drawing/2014/main" val="4148768454"/>
                      </a:ext>
                    </a:extLst>
                  </a:tr>
                </a:tbl>
              </a:graphicData>
            </a:graphic>
          </p:graphicFrame>
        </mc:Fallback>
      </mc:AlternateContent>
    </p:spTree>
    <p:extLst>
      <p:ext uri="{BB962C8B-B14F-4D97-AF65-F5344CB8AC3E}">
        <p14:creationId xmlns:p14="http://schemas.microsoft.com/office/powerpoint/2010/main" val="21862058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AC1243-9834-4644-0152-D40EBD453342}"/>
              </a:ext>
            </a:extLst>
          </p:cNvPr>
          <p:cNvSpPr>
            <a:spLocks noGrp="1"/>
          </p:cNvSpPr>
          <p:nvPr>
            <p:ph type="title"/>
          </p:nvPr>
        </p:nvSpPr>
        <p:spPr/>
        <p:txBody>
          <a:bodyPr>
            <a:normAutofit/>
          </a:bodyPr>
          <a:lstStyle/>
          <a:p>
            <a:r>
              <a:rPr lang="es-ES" dirty="0"/>
              <a:t>3. Prueba Chi cuadrado</a:t>
            </a:r>
            <a:br>
              <a:rPr lang="es-ES" dirty="0"/>
            </a:br>
            <a:r>
              <a:rPr lang="es-ES" dirty="0"/>
              <a:t>Paso 2: Tabla de frecuencias esperadas</a:t>
            </a:r>
          </a:p>
        </p:txBody>
      </p:sp>
      <p:sp>
        <p:nvSpPr>
          <p:cNvPr id="4" name="Marcador de número de diapositiva 3">
            <a:extLst>
              <a:ext uri="{FF2B5EF4-FFF2-40B4-BE49-F238E27FC236}">
                <a16:creationId xmlns:a16="http://schemas.microsoft.com/office/drawing/2014/main" id="{2321189B-0C9B-0909-64D5-D50588301C48}"/>
              </a:ext>
            </a:extLst>
          </p:cNvPr>
          <p:cNvSpPr>
            <a:spLocks noGrp="1"/>
          </p:cNvSpPr>
          <p:nvPr>
            <p:ph type="sldNum" sz="quarter" idx="12"/>
          </p:nvPr>
        </p:nvSpPr>
        <p:spPr/>
        <p:txBody>
          <a:bodyPr/>
          <a:lstStyle/>
          <a:p>
            <a:fld id="{336CAFD0-1F6E-4E11-9822-836563A02839}" type="slidenum">
              <a:rPr lang="es-ES" smtClean="0"/>
              <a:pPr/>
              <a:t>8</a:t>
            </a:fld>
            <a:endParaRPr lang="es-ES" dirty="0"/>
          </a:p>
        </p:txBody>
      </p:sp>
      <mc:AlternateContent xmlns:mc="http://schemas.openxmlformats.org/markup-compatibility/2006">
        <mc:Choice xmlns:a14="http://schemas.microsoft.com/office/drawing/2010/main" Requires="a14">
          <p:graphicFrame>
            <p:nvGraphicFramePr>
              <p:cNvPr id="5" name="Tabla 5">
                <a:extLst>
                  <a:ext uri="{FF2B5EF4-FFF2-40B4-BE49-F238E27FC236}">
                    <a16:creationId xmlns:a16="http://schemas.microsoft.com/office/drawing/2014/main" id="{DCD1D2D9-CD73-2CD6-6784-3B5856DD600F}"/>
                  </a:ext>
                </a:extLst>
              </p:cNvPr>
              <p:cNvGraphicFramePr>
                <a:graphicFrameLocks noGrp="1"/>
              </p:cNvGraphicFramePr>
              <p:nvPr>
                <p:extLst>
                  <p:ext uri="{D42A27DB-BD31-4B8C-83A1-F6EECF244321}">
                    <p14:modId xmlns:p14="http://schemas.microsoft.com/office/powerpoint/2010/main" val="1287074368"/>
                  </p:ext>
                </p:extLst>
              </p:nvPr>
            </p:nvGraphicFramePr>
            <p:xfrm>
              <a:off x="5035236" y="2595880"/>
              <a:ext cx="6318564" cy="3566160"/>
            </p:xfrm>
            <a:graphic>
              <a:graphicData uri="http://schemas.openxmlformats.org/drawingml/2006/table">
                <a:tbl>
                  <a:tblPr firstRow="1" bandRow="1">
                    <a:tableStyleId>{5940675A-B579-460E-94D1-54222C63F5DA}</a:tableStyleId>
                  </a:tblPr>
                  <a:tblGrid>
                    <a:gridCol w="696252">
                      <a:extLst>
                        <a:ext uri="{9D8B030D-6E8A-4147-A177-3AD203B41FA5}">
                          <a16:colId xmlns:a16="http://schemas.microsoft.com/office/drawing/2014/main" val="1709859660"/>
                        </a:ext>
                      </a:extLst>
                    </a:gridCol>
                    <a:gridCol w="1109438">
                      <a:extLst>
                        <a:ext uri="{9D8B030D-6E8A-4147-A177-3AD203B41FA5}">
                          <a16:colId xmlns:a16="http://schemas.microsoft.com/office/drawing/2014/main" val="3441740441"/>
                        </a:ext>
                      </a:extLst>
                    </a:gridCol>
                    <a:gridCol w="822460">
                      <a:extLst>
                        <a:ext uri="{9D8B030D-6E8A-4147-A177-3AD203B41FA5}">
                          <a16:colId xmlns:a16="http://schemas.microsoft.com/office/drawing/2014/main" val="2705658812"/>
                        </a:ext>
                      </a:extLst>
                    </a:gridCol>
                    <a:gridCol w="555733">
                      <a:extLst>
                        <a:ext uri="{9D8B030D-6E8A-4147-A177-3AD203B41FA5}">
                          <a16:colId xmlns:a16="http://schemas.microsoft.com/office/drawing/2014/main" val="3883677733"/>
                        </a:ext>
                      </a:extLst>
                    </a:gridCol>
                    <a:gridCol w="868331">
                      <a:extLst>
                        <a:ext uri="{9D8B030D-6E8A-4147-A177-3AD203B41FA5}">
                          <a16:colId xmlns:a16="http://schemas.microsoft.com/office/drawing/2014/main" val="3464686749"/>
                        </a:ext>
                      </a:extLst>
                    </a:gridCol>
                    <a:gridCol w="625199">
                      <a:extLst>
                        <a:ext uri="{9D8B030D-6E8A-4147-A177-3AD203B41FA5}">
                          <a16:colId xmlns:a16="http://schemas.microsoft.com/office/drawing/2014/main" val="2359465122"/>
                        </a:ext>
                      </a:extLst>
                    </a:gridCol>
                    <a:gridCol w="810443">
                      <a:extLst>
                        <a:ext uri="{9D8B030D-6E8A-4147-A177-3AD203B41FA5}">
                          <a16:colId xmlns:a16="http://schemas.microsoft.com/office/drawing/2014/main" val="2261216985"/>
                        </a:ext>
                      </a:extLst>
                    </a:gridCol>
                    <a:gridCol w="830708">
                      <a:extLst>
                        <a:ext uri="{9D8B030D-6E8A-4147-A177-3AD203B41FA5}">
                          <a16:colId xmlns:a16="http://schemas.microsoft.com/office/drawing/2014/main" val="2537795203"/>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s-ES" sz="1400" b="1" i="1" dirty="0" smtClean="0">
                                    <a:latin typeface="Cambria Math" panose="02040503050406030204" pitchFamily="18" charset="0"/>
                                  </a:rPr>
                                  <m:t>𝑨</m:t>
                                </m:r>
                                <m:r>
                                  <a:rPr lang="es-ES" sz="1400" b="1" i="1" dirty="0" smtClean="0">
                                    <a:latin typeface="Cambria Math" panose="02040503050406030204" pitchFamily="18" charset="0"/>
                                  </a:rPr>
                                  <m:t>/</m:t>
                                </m:r>
                                <m:r>
                                  <a:rPr lang="es-ES" sz="1400" b="1" i="1" dirty="0" smtClean="0">
                                    <a:latin typeface="Cambria Math" panose="02040503050406030204" pitchFamily="18" charset="0"/>
                                  </a:rPr>
                                  <m:t>𝑩</m:t>
                                </m:r>
                              </m:oMath>
                            </m:oMathPara>
                          </a14:m>
                          <a:endParaRPr lang="es-ES" sz="1400" b="1" dirty="0"/>
                        </a:p>
                      </a:txBody>
                      <a:tcPr anchor="ctr">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s-ES" sz="1400" b="1" i="1" dirty="0" smtClean="0">
                                        <a:latin typeface="Cambria Math" panose="02040503050406030204" pitchFamily="18" charset="0"/>
                                      </a:rPr>
                                    </m:ctrlPr>
                                  </m:sSubPr>
                                  <m:e>
                                    <m:r>
                                      <a:rPr lang="es-ES" sz="1400" b="1" i="1" dirty="0" smtClean="0">
                                        <a:latin typeface="Cambria Math" panose="02040503050406030204" pitchFamily="18" charset="0"/>
                                      </a:rPr>
                                      <m:t>𝑩</m:t>
                                    </m:r>
                                  </m:e>
                                  <m:sub>
                                    <m:r>
                                      <a:rPr lang="es-ES" sz="1400" b="1" i="1" dirty="0" smtClean="0">
                                        <a:latin typeface="Cambria Math" panose="02040503050406030204" pitchFamily="18" charset="0"/>
                                      </a:rPr>
                                      <m:t>𝟏</m:t>
                                    </m:r>
                                  </m:sub>
                                </m:sSub>
                              </m:oMath>
                            </m:oMathPara>
                          </a14:m>
                          <a:endParaRPr lang="es-ES" sz="1400" b="1" dirty="0"/>
                        </a:p>
                      </a:txBody>
                      <a:tcPr anchor="ctr">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s-ES" sz="1400" b="1" i="1" dirty="0" smtClean="0">
                                        <a:latin typeface="Cambria Math" panose="02040503050406030204" pitchFamily="18" charset="0"/>
                                      </a:rPr>
                                    </m:ctrlPr>
                                  </m:sSubPr>
                                  <m:e>
                                    <m:r>
                                      <a:rPr lang="es-ES" sz="1400" b="1" i="1" dirty="0" smtClean="0">
                                        <a:latin typeface="Cambria Math" panose="02040503050406030204" pitchFamily="18" charset="0"/>
                                      </a:rPr>
                                      <m:t>𝑩</m:t>
                                    </m:r>
                                  </m:e>
                                  <m:sub>
                                    <m:r>
                                      <a:rPr lang="es-ES" sz="1400" b="1" i="1" dirty="0" smtClean="0">
                                        <a:latin typeface="Cambria Math" panose="02040503050406030204" pitchFamily="18" charset="0"/>
                                      </a:rPr>
                                      <m:t>𝟐</m:t>
                                    </m:r>
                                  </m:sub>
                                </m:sSub>
                              </m:oMath>
                            </m:oMathPara>
                          </a14:m>
                          <a:endParaRPr lang="es-ES" sz="1400" b="1" dirty="0"/>
                        </a:p>
                      </a:txBody>
                      <a:tcPr anchor="ctr">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r>
                                  <a:rPr lang="es-ES" sz="1400" b="1" i="1" smtClean="0">
                                    <a:latin typeface="Cambria Math" panose="02040503050406030204" pitchFamily="18" charset="0"/>
                                  </a:rPr>
                                  <m:t>…</m:t>
                                </m:r>
                              </m:oMath>
                            </m:oMathPara>
                          </a14:m>
                          <a:endParaRPr lang="es-ES" sz="1400" b="1" dirty="0"/>
                        </a:p>
                      </a:txBody>
                      <a:tcPr anchor="ctr">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s-ES" sz="1400" b="1" i="1" dirty="0" smtClean="0">
                                        <a:latin typeface="Cambria Math" panose="02040503050406030204" pitchFamily="18" charset="0"/>
                                      </a:rPr>
                                    </m:ctrlPr>
                                  </m:sSubPr>
                                  <m:e>
                                    <m:r>
                                      <a:rPr lang="es-ES" sz="1400" b="1" i="1" dirty="0" smtClean="0">
                                        <a:latin typeface="Cambria Math" panose="02040503050406030204" pitchFamily="18" charset="0"/>
                                      </a:rPr>
                                      <m:t>𝑩</m:t>
                                    </m:r>
                                  </m:e>
                                  <m:sub>
                                    <m:r>
                                      <a:rPr lang="es-ES" sz="1400" b="1" i="1" dirty="0" smtClean="0">
                                        <a:latin typeface="Cambria Math" panose="02040503050406030204" pitchFamily="18" charset="0"/>
                                      </a:rPr>
                                      <m:t>𝒋</m:t>
                                    </m:r>
                                  </m:sub>
                                </m:sSub>
                              </m:oMath>
                            </m:oMathPara>
                          </a14:m>
                          <a:endParaRPr lang="es-ES" sz="1400" b="1" dirty="0"/>
                        </a:p>
                      </a:txBody>
                      <a:tcPr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s-ES" sz="1400" b="1" i="1" dirty="0" smtClean="0">
                                    <a:latin typeface="Cambria Math" panose="02040503050406030204" pitchFamily="18" charset="0"/>
                                  </a:rPr>
                                  <m:t>…</m:t>
                                </m:r>
                              </m:oMath>
                            </m:oMathPara>
                          </a14:m>
                          <a:endParaRPr lang="es-ES" sz="1400" b="1" dirty="0"/>
                        </a:p>
                      </a:txBody>
                      <a:tcPr anchor="ctr">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s-ES" sz="1400" b="1" i="1" dirty="0" smtClean="0">
                                        <a:latin typeface="Cambria Math" panose="02040503050406030204" pitchFamily="18" charset="0"/>
                                      </a:rPr>
                                    </m:ctrlPr>
                                  </m:sSubPr>
                                  <m:e>
                                    <m:r>
                                      <a:rPr lang="es-ES" sz="1400" b="1" i="1" dirty="0" smtClean="0">
                                        <a:latin typeface="Cambria Math" panose="02040503050406030204" pitchFamily="18" charset="0"/>
                                      </a:rPr>
                                      <m:t>𝑩</m:t>
                                    </m:r>
                                  </m:e>
                                  <m:sub>
                                    <m:r>
                                      <a:rPr lang="es-ES" sz="1400" b="1" i="1" dirty="0" smtClean="0">
                                        <a:latin typeface="Cambria Math" panose="02040503050406030204" pitchFamily="18" charset="0"/>
                                      </a:rPr>
                                      <m:t>𝒎</m:t>
                                    </m:r>
                                  </m:sub>
                                </m:sSub>
                              </m:oMath>
                            </m:oMathPara>
                          </a14:m>
                          <a:endParaRPr lang="es-ES" sz="1400" b="1" dirty="0"/>
                        </a:p>
                      </a:txBody>
                      <a:tcPr anchor="ctr">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s-ES" sz="1400" b="1" i="1" smtClean="0">
                                        <a:latin typeface="Cambria Math" panose="02040503050406030204" pitchFamily="18" charset="0"/>
                                      </a:rPr>
                                    </m:ctrlPr>
                                  </m:sSubPr>
                                  <m:e>
                                    <m:r>
                                      <a:rPr lang="es-ES" sz="1400" b="1" i="1" smtClean="0">
                                        <a:latin typeface="Cambria Math" panose="02040503050406030204" pitchFamily="18" charset="0"/>
                                      </a:rPr>
                                      <m:t>𝒏</m:t>
                                    </m:r>
                                  </m:e>
                                  <m:sub>
                                    <m:r>
                                      <a:rPr lang="es-ES" sz="1400" b="1" i="1" smtClean="0">
                                        <a:latin typeface="Cambria Math" panose="02040503050406030204" pitchFamily="18" charset="0"/>
                                      </a:rPr>
                                      <m:t>𝑩</m:t>
                                    </m:r>
                                  </m:sub>
                                </m:sSub>
                              </m:oMath>
                            </m:oMathPara>
                          </a14:m>
                          <a:endParaRPr lang="es-ES" sz="1400" b="1" dirty="0"/>
                        </a:p>
                      </a:txBody>
                      <a:tcPr anchor="ctr">
                        <a:solidFill>
                          <a:schemeClr val="bg1">
                            <a:lumMod val="85000"/>
                          </a:schemeClr>
                        </a:solidFill>
                      </a:tcPr>
                    </a:tc>
                    <a:extLst>
                      <a:ext uri="{0D108BD9-81ED-4DB2-BD59-A6C34878D82A}">
                        <a16:rowId xmlns:a16="http://schemas.microsoft.com/office/drawing/2014/main" val="1876346771"/>
                      </a:ext>
                    </a:extLst>
                  </a:tr>
                  <a:tr h="619760">
                    <a:tc>
                      <a:txBody>
                        <a:bodyPr/>
                        <a:lstStyle/>
                        <a:p>
                          <a:pPr algn="ctr"/>
                          <a14:m>
                            <m:oMathPara xmlns:m="http://schemas.openxmlformats.org/officeDocument/2006/math">
                              <m:oMathParaPr>
                                <m:jc m:val="centerGroup"/>
                              </m:oMathParaPr>
                              <m:oMath xmlns:m="http://schemas.openxmlformats.org/officeDocument/2006/math">
                                <m:sSub>
                                  <m:sSubPr>
                                    <m:ctrlPr>
                                      <a:rPr lang="es-ES" sz="1400" b="1" i="1" smtClean="0">
                                        <a:latin typeface="Cambria Math" panose="02040503050406030204" pitchFamily="18" charset="0"/>
                                      </a:rPr>
                                    </m:ctrlPr>
                                  </m:sSubPr>
                                  <m:e>
                                    <m:r>
                                      <a:rPr lang="es-ES" sz="1400" b="1" i="1" smtClean="0">
                                        <a:latin typeface="Cambria Math" panose="02040503050406030204" pitchFamily="18" charset="0"/>
                                      </a:rPr>
                                      <m:t>𝑨</m:t>
                                    </m:r>
                                  </m:e>
                                  <m:sub>
                                    <m:r>
                                      <a:rPr lang="es-ES" sz="1400" b="1" i="1" smtClean="0">
                                        <a:latin typeface="Cambria Math" panose="02040503050406030204" pitchFamily="18" charset="0"/>
                                      </a:rPr>
                                      <m:t>𝟏</m:t>
                                    </m:r>
                                  </m:sub>
                                </m:sSub>
                              </m:oMath>
                            </m:oMathPara>
                          </a14:m>
                          <a:endParaRPr lang="es-ES" sz="1400" b="1" dirty="0"/>
                        </a:p>
                      </a:txBody>
                      <a:tcPr anchor="ctr">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acc>
                                  <m:accPr>
                                    <m:chr m:val="̂"/>
                                    <m:ctrlPr>
                                      <a:rPr lang="es-ES" sz="1400" i="1" smtClean="0">
                                        <a:latin typeface="Cambria Math" panose="02040503050406030204" pitchFamily="18" charset="0"/>
                                      </a:rPr>
                                    </m:ctrlPr>
                                  </m:accPr>
                                  <m:e>
                                    <m:r>
                                      <a:rPr lang="es-ES" sz="1400" b="0" i="1" smtClean="0">
                                        <a:latin typeface="Cambria Math" panose="02040503050406030204" pitchFamily="18" charset="0"/>
                                      </a:rPr>
                                      <m:t>𝐸𝑥𝑝</m:t>
                                    </m:r>
                                  </m:e>
                                </m:acc>
                                <m:r>
                                  <a:rPr lang="es-ES" sz="1400" b="0" i="1" smtClean="0">
                                    <a:latin typeface="Cambria Math" panose="02040503050406030204" pitchFamily="18" charset="0"/>
                                  </a:rPr>
                                  <m:t>(1,1)</m:t>
                                </m:r>
                              </m:oMath>
                            </m:oMathPara>
                          </a14:m>
                          <a:endParaRPr lang="es-ES" sz="1400" dirty="0"/>
                        </a:p>
                      </a:txBody>
                      <a:tcPr anchor="ctr"/>
                    </a:tc>
                    <a:tc>
                      <a:txBody>
                        <a:bodyPr/>
                        <a:lstStyle/>
                        <a:p>
                          <a:pPr algn="ctr"/>
                          <a14:m>
                            <m:oMathPara xmlns:m="http://schemas.openxmlformats.org/officeDocument/2006/math">
                              <m:oMathParaPr>
                                <m:jc m:val="centerGroup"/>
                              </m:oMathParaPr>
                              <m:oMath xmlns:m="http://schemas.openxmlformats.org/officeDocument/2006/math">
                                <m:acc>
                                  <m:accPr>
                                    <m:chr m:val="̂"/>
                                    <m:ctrlPr>
                                      <a:rPr lang="es-ES" sz="1400" i="1" smtClean="0">
                                        <a:latin typeface="Cambria Math" panose="02040503050406030204" pitchFamily="18" charset="0"/>
                                      </a:rPr>
                                    </m:ctrlPr>
                                  </m:accPr>
                                  <m:e>
                                    <m:r>
                                      <a:rPr lang="es-ES" sz="1400" b="0" i="1" smtClean="0">
                                        <a:latin typeface="Cambria Math" panose="02040503050406030204" pitchFamily="18" charset="0"/>
                                      </a:rPr>
                                      <m:t>𝐸𝑥𝑝</m:t>
                                    </m:r>
                                  </m:e>
                                </m:acc>
                                <m:r>
                                  <a:rPr lang="es-ES" sz="1400" b="0" i="1" smtClean="0">
                                    <a:latin typeface="Cambria Math" panose="02040503050406030204" pitchFamily="18" charset="0"/>
                                  </a:rPr>
                                  <m:t>(1,</m:t>
                                </m:r>
                                <m:r>
                                  <a:rPr lang="es-ES" sz="1400" b="0" i="1" smtClean="0">
                                    <a:latin typeface="Cambria Math" panose="02040503050406030204" pitchFamily="18" charset="0"/>
                                  </a:rPr>
                                  <m:t>2</m:t>
                                </m:r>
                                <m:r>
                                  <a:rPr lang="es-ES" sz="1400" b="0" i="1" smtClean="0">
                                    <a:latin typeface="Cambria Math" panose="02040503050406030204" pitchFamily="18" charset="0"/>
                                  </a:rPr>
                                  <m:t>)</m:t>
                                </m:r>
                              </m:oMath>
                            </m:oMathPara>
                          </a14:m>
                          <a:endParaRPr lang="es-ES" sz="1400" dirty="0"/>
                        </a:p>
                      </a:txBody>
                      <a:tcPr anchor="ct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s-ES" sz="1400" dirty="0"/>
                            <a:t>…</a:t>
                          </a:r>
                        </a:p>
                      </a:txBody>
                      <a:tcPr marL="68580" marR="68580" marT="0" marB="0" anchor="ctr"/>
                    </a:tc>
                    <a:tc>
                      <a:txBody>
                        <a:bodyPr/>
                        <a:lstStyle/>
                        <a:p>
                          <a:pPr algn="ctr"/>
                          <a14:m>
                            <m:oMathPara xmlns:m="http://schemas.openxmlformats.org/officeDocument/2006/math">
                              <m:oMathParaPr>
                                <m:jc m:val="centerGroup"/>
                              </m:oMathParaPr>
                              <m:oMath xmlns:m="http://schemas.openxmlformats.org/officeDocument/2006/math">
                                <m:acc>
                                  <m:accPr>
                                    <m:chr m:val="̂"/>
                                    <m:ctrlPr>
                                      <a:rPr lang="es-ES" sz="1400" i="1" smtClean="0">
                                        <a:latin typeface="Cambria Math" panose="02040503050406030204" pitchFamily="18" charset="0"/>
                                      </a:rPr>
                                    </m:ctrlPr>
                                  </m:accPr>
                                  <m:e>
                                    <m:r>
                                      <a:rPr lang="es-ES" sz="1400" b="0" i="1" smtClean="0">
                                        <a:latin typeface="Cambria Math" panose="02040503050406030204" pitchFamily="18" charset="0"/>
                                      </a:rPr>
                                      <m:t>𝐸𝑥𝑝</m:t>
                                    </m:r>
                                  </m:e>
                                </m:acc>
                                <m:r>
                                  <a:rPr lang="es-ES" sz="1400" b="0" i="1" smtClean="0">
                                    <a:latin typeface="Cambria Math" panose="02040503050406030204" pitchFamily="18" charset="0"/>
                                  </a:rPr>
                                  <m:t>(1,</m:t>
                                </m:r>
                                <m:r>
                                  <a:rPr lang="es-ES" sz="1400" b="0" i="1" smtClean="0">
                                    <a:latin typeface="Cambria Math" panose="02040503050406030204" pitchFamily="18" charset="0"/>
                                  </a:rPr>
                                  <m:t>𝑗</m:t>
                                </m:r>
                                <m:r>
                                  <a:rPr lang="es-ES" sz="1400" b="0" i="1" smtClean="0">
                                    <a:latin typeface="Cambria Math" panose="02040503050406030204" pitchFamily="18" charset="0"/>
                                  </a:rPr>
                                  <m:t>)</m:t>
                                </m:r>
                              </m:oMath>
                            </m:oMathPara>
                          </a14:m>
                          <a:endParaRPr lang="es-ES" sz="1400" dirty="0"/>
                        </a:p>
                      </a:txBody>
                      <a:tcPr anchor="ct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14:m>
                            <m:oMathPara xmlns:m="http://schemas.openxmlformats.org/officeDocument/2006/math">
                              <m:oMathParaPr>
                                <m:jc m:val="centerGroup"/>
                              </m:oMathParaPr>
                              <m:oMath xmlns:m="http://schemas.openxmlformats.org/officeDocument/2006/math">
                                <m:r>
                                  <a:rPr lang="es-ES" sz="1400" i="1" smtClean="0">
                                    <a:latin typeface="Cambria Math" panose="02040503050406030204" pitchFamily="18" charset="0"/>
                                  </a:rPr>
                                  <m:t>…</m:t>
                                </m:r>
                              </m:oMath>
                            </m:oMathPara>
                          </a14:m>
                          <a:endParaRPr lang="es-ES" sz="1400" dirty="0"/>
                        </a:p>
                      </a:txBody>
                      <a:tcPr marL="68580" marR="68580" marT="0" marB="0" anchor="ct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acc>
                                  <m:accPr>
                                    <m:chr m:val="̂"/>
                                    <m:ctrlPr>
                                      <a:rPr lang="es-ES" sz="1400" i="1" smtClean="0">
                                        <a:latin typeface="Cambria Math" panose="02040503050406030204" pitchFamily="18" charset="0"/>
                                      </a:rPr>
                                    </m:ctrlPr>
                                  </m:accPr>
                                  <m:e>
                                    <m:r>
                                      <a:rPr lang="es-ES" sz="1400" b="0" i="1" smtClean="0">
                                        <a:latin typeface="Cambria Math" panose="02040503050406030204" pitchFamily="18" charset="0"/>
                                      </a:rPr>
                                      <m:t>𝐸𝑥𝑝</m:t>
                                    </m:r>
                                  </m:e>
                                </m:acc>
                                <m:r>
                                  <a:rPr lang="es-ES" sz="1400" b="0" i="1" smtClean="0">
                                    <a:latin typeface="Cambria Math" panose="02040503050406030204" pitchFamily="18" charset="0"/>
                                  </a:rPr>
                                  <m:t>(1,</m:t>
                                </m:r>
                                <m:r>
                                  <a:rPr lang="es-ES" sz="1400" b="0" i="1" smtClean="0">
                                    <a:latin typeface="Cambria Math" panose="02040503050406030204" pitchFamily="18" charset="0"/>
                                  </a:rPr>
                                  <m:t>𝑚</m:t>
                                </m:r>
                                <m:r>
                                  <a:rPr lang="es-ES" sz="1400" b="0" i="1" smtClean="0">
                                    <a:latin typeface="Cambria Math" panose="02040503050406030204" pitchFamily="18" charset="0"/>
                                  </a:rPr>
                                  <m:t>)</m:t>
                                </m:r>
                              </m:oMath>
                            </m:oMathPara>
                          </a14:m>
                          <a:endParaRPr lang="es-E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ES" sz="1400" i="1" kern="100" smtClean="0">
                                        <a:effectLst/>
                                        <a:latin typeface="Cambria Math" panose="02040503050406030204" pitchFamily="18" charset="0"/>
                                        <a:cs typeface="Times New Roman" panose="02020603050405020304" pitchFamily="18" charset="0"/>
                                      </a:rPr>
                                    </m:ctrlPr>
                                  </m:sSubPr>
                                  <m:e>
                                    <m:r>
                                      <a:rPr lang="es-ES" sz="1400" b="0" i="1" kern="100" smtClean="0">
                                        <a:effectLst/>
                                        <a:latin typeface="Cambria Math" panose="02040503050406030204" pitchFamily="18" charset="0"/>
                                        <a:cs typeface="Times New Roman" panose="02020603050405020304" pitchFamily="18" charset="0"/>
                                      </a:rPr>
                                      <m:t>𝑛</m:t>
                                    </m:r>
                                  </m:e>
                                  <m:sub>
                                    <m:sSub>
                                      <m:sSubPr>
                                        <m:ctrlPr>
                                          <a:rPr lang="es-ES" sz="1400" i="1" kern="100" smtClean="0">
                                            <a:effectLst/>
                                            <a:latin typeface="Cambria Math" panose="02040503050406030204" pitchFamily="18" charset="0"/>
                                            <a:cs typeface="Times New Roman" panose="02020603050405020304" pitchFamily="18" charset="0"/>
                                          </a:rPr>
                                        </m:ctrlPr>
                                      </m:sSubPr>
                                      <m:e>
                                        <m:r>
                                          <a:rPr lang="es-ES" sz="1400" b="0" i="1" kern="100" smtClean="0">
                                            <a:effectLst/>
                                            <a:latin typeface="Cambria Math" panose="02040503050406030204" pitchFamily="18" charset="0"/>
                                            <a:cs typeface="Times New Roman" panose="02020603050405020304" pitchFamily="18" charset="0"/>
                                          </a:rPr>
                                          <m:t>𝐴</m:t>
                                        </m:r>
                                      </m:e>
                                      <m:sub>
                                        <m:r>
                                          <a:rPr lang="es-ES" sz="1400" b="0" i="1" kern="100" smtClean="0">
                                            <a:effectLst/>
                                            <a:latin typeface="Cambria Math" panose="02040503050406030204" pitchFamily="18" charset="0"/>
                                            <a:cs typeface="Times New Roman" panose="02020603050405020304" pitchFamily="18" charset="0"/>
                                          </a:rPr>
                                          <m:t>1</m:t>
                                        </m:r>
                                      </m:sub>
                                    </m:sSub>
                                  </m:sub>
                                </m:sSub>
                              </m:oMath>
                            </m:oMathPara>
                          </a14:m>
                          <a:endParaRPr lang="es-E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352149211"/>
                      </a:ext>
                    </a:extLst>
                  </a:tr>
                  <a:tr h="497840">
                    <a:tc>
                      <a:txBody>
                        <a:bodyPr/>
                        <a:lstStyle/>
                        <a:p>
                          <a:pPr algn="ctr"/>
                          <a14:m>
                            <m:oMathPara xmlns:m="http://schemas.openxmlformats.org/officeDocument/2006/math">
                              <m:oMathParaPr>
                                <m:jc m:val="centerGroup"/>
                              </m:oMathParaPr>
                              <m:oMath xmlns:m="http://schemas.openxmlformats.org/officeDocument/2006/math">
                                <m:sSub>
                                  <m:sSubPr>
                                    <m:ctrlPr>
                                      <a:rPr lang="es-ES" sz="1400" b="1" i="1" smtClean="0">
                                        <a:latin typeface="Cambria Math" panose="02040503050406030204" pitchFamily="18" charset="0"/>
                                      </a:rPr>
                                    </m:ctrlPr>
                                  </m:sSubPr>
                                  <m:e>
                                    <m:r>
                                      <a:rPr lang="es-ES" sz="1400" b="1" i="1" smtClean="0">
                                        <a:latin typeface="Cambria Math" panose="02040503050406030204" pitchFamily="18" charset="0"/>
                                      </a:rPr>
                                      <m:t>𝑨</m:t>
                                    </m:r>
                                  </m:e>
                                  <m:sub>
                                    <m:r>
                                      <a:rPr lang="es-ES" sz="1400" b="1" i="1" smtClean="0">
                                        <a:latin typeface="Cambria Math" panose="02040503050406030204" pitchFamily="18" charset="0"/>
                                      </a:rPr>
                                      <m:t>𝟐</m:t>
                                    </m:r>
                                  </m:sub>
                                </m:sSub>
                              </m:oMath>
                            </m:oMathPara>
                          </a14:m>
                          <a:endParaRPr lang="es-ES" sz="1400" b="1" dirty="0"/>
                        </a:p>
                      </a:txBody>
                      <a:tcPr anchor="ctr">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acc>
                                  <m:accPr>
                                    <m:chr m:val="̂"/>
                                    <m:ctrlPr>
                                      <a:rPr lang="es-ES" sz="1400" i="1" smtClean="0">
                                        <a:latin typeface="Cambria Math" panose="02040503050406030204" pitchFamily="18" charset="0"/>
                                      </a:rPr>
                                    </m:ctrlPr>
                                  </m:accPr>
                                  <m:e>
                                    <m:r>
                                      <a:rPr lang="es-ES" sz="1400" b="0" i="1" smtClean="0">
                                        <a:latin typeface="Cambria Math" panose="02040503050406030204" pitchFamily="18" charset="0"/>
                                      </a:rPr>
                                      <m:t>𝐸𝑥𝑝</m:t>
                                    </m:r>
                                  </m:e>
                                </m:acc>
                                <m:r>
                                  <a:rPr lang="es-ES" sz="1400" b="0" i="1" smtClean="0">
                                    <a:latin typeface="Cambria Math" panose="02040503050406030204" pitchFamily="18" charset="0"/>
                                  </a:rPr>
                                  <m:t>(</m:t>
                                </m:r>
                                <m:r>
                                  <a:rPr lang="es-ES" sz="1400" b="0" i="1" smtClean="0">
                                    <a:latin typeface="Cambria Math" panose="02040503050406030204" pitchFamily="18" charset="0"/>
                                  </a:rPr>
                                  <m:t>2</m:t>
                                </m:r>
                                <m:r>
                                  <a:rPr lang="es-ES" sz="1400" b="0" i="1" smtClean="0">
                                    <a:latin typeface="Cambria Math" panose="02040503050406030204" pitchFamily="18" charset="0"/>
                                  </a:rPr>
                                  <m:t>,1)</m:t>
                                </m:r>
                              </m:oMath>
                            </m:oMathPara>
                          </a14:m>
                          <a:endParaRPr lang="es-ES" sz="1400" dirty="0"/>
                        </a:p>
                      </a:txBody>
                      <a:tcPr anchor="ctr"/>
                    </a:tc>
                    <a:tc>
                      <a:txBody>
                        <a:bodyPr/>
                        <a:lstStyle/>
                        <a:p>
                          <a:pPr algn="ctr"/>
                          <a14:m>
                            <m:oMathPara xmlns:m="http://schemas.openxmlformats.org/officeDocument/2006/math">
                              <m:oMathParaPr>
                                <m:jc m:val="centerGroup"/>
                              </m:oMathParaPr>
                              <m:oMath xmlns:m="http://schemas.openxmlformats.org/officeDocument/2006/math">
                                <m:acc>
                                  <m:accPr>
                                    <m:chr m:val="̂"/>
                                    <m:ctrlPr>
                                      <a:rPr lang="es-ES" sz="1400" i="1" smtClean="0">
                                        <a:latin typeface="Cambria Math" panose="02040503050406030204" pitchFamily="18" charset="0"/>
                                      </a:rPr>
                                    </m:ctrlPr>
                                  </m:accPr>
                                  <m:e>
                                    <m:r>
                                      <a:rPr lang="es-ES" sz="1400" b="0" i="1" smtClean="0">
                                        <a:latin typeface="Cambria Math" panose="02040503050406030204" pitchFamily="18" charset="0"/>
                                      </a:rPr>
                                      <m:t>𝐸𝑥𝑝</m:t>
                                    </m:r>
                                  </m:e>
                                </m:acc>
                                <m:r>
                                  <a:rPr lang="es-ES" sz="1400" b="0" i="1" smtClean="0">
                                    <a:latin typeface="Cambria Math" panose="02040503050406030204" pitchFamily="18" charset="0"/>
                                  </a:rPr>
                                  <m:t>(</m:t>
                                </m:r>
                                <m:r>
                                  <a:rPr lang="es-ES" sz="1400" b="0" i="1" smtClean="0">
                                    <a:latin typeface="Cambria Math" panose="02040503050406030204" pitchFamily="18" charset="0"/>
                                  </a:rPr>
                                  <m:t>2</m:t>
                                </m:r>
                                <m:r>
                                  <a:rPr lang="es-ES" sz="1400" b="0" i="1" smtClean="0">
                                    <a:latin typeface="Cambria Math" panose="02040503050406030204" pitchFamily="18" charset="0"/>
                                  </a:rPr>
                                  <m:t>,</m:t>
                                </m:r>
                                <m:r>
                                  <a:rPr lang="es-ES" sz="1400" b="0" i="1" smtClean="0">
                                    <a:latin typeface="Cambria Math" panose="02040503050406030204" pitchFamily="18" charset="0"/>
                                  </a:rPr>
                                  <m:t>2</m:t>
                                </m:r>
                                <m:r>
                                  <a:rPr lang="es-ES" sz="1400" b="0" i="1" smtClean="0">
                                    <a:latin typeface="Cambria Math" panose="02040503050406030204" pitchFamily="18" charset="0"/>
                                  </a:rPr>
                                  <m:t>)</m:t>
                                </m:r>
                              </m:oMath>
                            </m:oMathPara>
                          </a14:m>
                          <a:endParaRPr lang="es-ES" sz="1400" dirty="0"/>
                        </a:p>
                      </a:txBody>
                      <a:tcPr anchor="ct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s-ES" sz="1400" dirty="0"/>
                            <a:t>…</a:t>
                          </a:r>
                        </a:p>
                      </a:txBody>
                      <a:tcPr marL="68580" marR="68580" marT="0" marB="0" anchor="ctr"/>
                    </a:tc>
                    <a:tc>
                      <a:txBody>
                        <a:bodyPr/>
                        <a:lstStyle/>
                        <a:p>
                          <a:pPr algn="ctr"/>
                          <a14:m>
                            <m:oMathPara xmlns:m="http://schemas.openxmlformats.org/officeDocument/2006/math">
                              <m:oMathParaPr>
                                <m:jc m:val="centerGroup"/>
                              </m:oMathParaPr>
                              <m:oMath xmlns:m="http://schemas.openxmlformats.org/officeDocument/2006/math">
                                <m:acc>
                                  <m:accPr>
                                    <m:chr m:val="̂"/>
                                    <m:ctrlPr>
                                      <a:rPr lang="es-ES" sz="1400" i="1" smtClean="0">
                                        <a:latin typeface="Cambria Math" panose="02040503050406030204" pitchFamily="18" charset="0"/>
                                      </a:rPr>
                                    </m:ctrlPr>
                                  </m:accPr>
                                  <m:e>
                                    <m:r>
                                      <a:rPr lang="es-ES" sz="1400" b="0" i="1" smtClean="0">
                                        <a:latin typeface="Cambria Math" panose="02040503050406030204" pitchFamily="18" charset="0"/>
                                      </a:rPr>
                                      <m:t>𝐸𝑥𝑝</m:t>
                                    </m:r>
                                  </m:e>
                                </m:acc>
                                <m:r>
                                  <a:rPr lang="es-ES" sz="1400" b="0" i="1" smtClean="0">
                                    <a:latin typeface="Cambria Math" panose="02040503050406030204" pitchFamily="18" charset="0"/>
                                  </a:rPr>
                                  <m:t>(</m:t>
                                </m:r>
                                <m:r>
                                  <a:rPr lang="es-ES" sz="1400" b="0" i="1" smtClean="0">
                                    <a:latin typeface="Cambria Math" panose="02040503050406030204" pitchFamily="18" charset="0"/>
                                  </a:rPr>
                                  <m:t>2</m:t>
                                </m:r>
                                <m:r>
                                  <a:rPr lang="es-ES" sz="1400" b="0" i="1" smtClean="0">
                                    <a:latin typeface="Cambria Math" panose="02040503050406030204" pitchFamily="18" charset="0"/>
                                  </a:rPr>
                                  <m:t>,</m:t>
                                </m:r>
                                <m:r>
                                  <a:rPr lang="es-ES" sz="1400" b="0" i="1" smtClean="0">
                                    <a:latin typeface="Cambria Math" panose="02040503050406030204" pitchFamily="18" charset="0"/>
                                  </a:rPr>
                                  <m:t>𝑗</m:t>
                                </m:r>
                                <m:r>
                                  <a:rPr lang="es-ES" sz="1400" b="0" i="1" smtClean="0">
                                    <a:latin typeface="Cambria Math" panose="02040503050406030204" pitchFamily="18" charset="0"/>
                                  </a:rPr>
                                  <m:t>)</m:t>
                                </m:r>
                              </m:oMath>
                            </m:oMathPara>
                          </a14:m>
                          <a:endParaRPr lang="es-ES" sz="1400" dirty="0"/>
                        </a:p>
                      </a:txBody>
                      <a:tcPr anchor="ct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14:m>
                            <m:oMathPara xmlns:m="http://schemas.openxmlformats.org/officeDocument/2006/math">
                              <m:oMathParaPr>
                                <m:jc m:val="centerGroup"/>
                              </m:oMathParaPr>
                              <m:oMath xmlns:m="http://schemas.openxmlformats.org/officeDocument/2006/math">
                                <m:r>
                                  <a:rPr lang="es-ES" sz="1400" i="1" smtClean="0">
                                    <a:latin typeface="Cambria Math" panose="02040503050406030204" pitchFamily="18" charset="0"/>
                                  </a:rPr>
                                  <m:t>…</m:t>
                                </m:r>
                              </m:oMath>
                            </m:oMathPara>
                          </a14:m>
                          <a:endParaRPr lang="es-ES" sz="1400" dirty="0"/>
                        </a:p>
                      </a:txBody>
                      <a:tcPr marL="68580" marR="68580" marT="0" marB="0" anchor="ct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acc>
                                  <m:accPr>
                                    <m:chr m:val="̂"/>
                                    <m:ctrlPr>
                                      <a:rPr lang="es-ES" sz="1400" i="1" smtClean="0">
                                        <a:latin typeface="Cambria Math" panose="02040503050406030204" pitchFamily="18" charset="0"/>
                                      </a:rPr>
                                    </m:ctrlPr>
                                  </m:accPr>
                                  <m:e>
                                    <m:r>
                                      <a:rPr lang="es-ES" sz="1400" b="0" i="1" smtClean="0">
                                        <a:latin typeface="Cambria Math" panose="02040503050406030204" pitchFamily="18" charset="0"/>
                                      </a:rPr>
                                      <m:t>𝐸𝑥𝑝</m:t>
                                    </m:r>
                                  </m:e>
                                </m:acc>
                                <m:r>
                                  <a:rPr lang="es-ES" sz="1400" b="0" i="1" smtClean="0">
                                    <a:latin typeface="Cambria Math" panose="02040503050406030204" pitchFamily="18" charset="0"/>
                                  </a:rPr>
                                  <m:t>(</m:t>
                                </m:r>
                                <m:r>
                                  <a:rPr lang="es-ES" sz="1400" b="0" i="1" smtClean="0">
                                    <a:latin typeface="Cambria Math" panose="02040503050406030204" pitchFamily="18" charset="0"/>
                                  </a:rPr>
                                  <m:t>2,</m:t>
                                </m:r>
                                <m:r>
                                  <a:rPr lang="es-ES" sz="1400" b="0" i="1" smtClean="0">
                                    <a:latin typeface="Cambria Math" panose="02040503050406030204" pitchFamily="18" charset="0"/>
                                  </a:rPr>
                                  <m:t>𝑚</m:t>
                                </m:r>
                                <m:r>
                                  <a:rPr lang="es-ES" sz="1400" b="0" i="1" smtClean="0">
                                    <a:latin typeface="Cambria Math" panose="02040503050406030204" pitchFamily="18" charset="0"/>
                                  </a:rPr>
                                  <m:t>)</m:t>
                                </m:r>
                              </m:oMath>
                            </m:oMathPara>
                          </a14:m>
                          <a:endParaRPr lang="es-E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ES" sz="1400" i="1" kern="100" smtClean="0">
                                        <a:effectLst/>
                                        <a:latin typeface="Cambria Math" panose="02040503050406030204" pitchFamily="18" charset="0"/>
                                        <a:cs typeface="Times New Roman" panose="02020603050405020304" pitchFamily="18" charset="0"/>
                                      </a:rPr>
                                    </m:ctrlPr>
                                  </m:sSubPr>
                                  <m:e>
                                    <m:r>
                                      <a:rPr lang="es-ES" sz="1400" b="0" i="1" kern="100" smtClean="0">
                                        <a:effectLst/>
                                        <a:latin typeface="Cambria Math" panose="02040503050406030204" pitchFamily="18" charset="0"/>
                                        <a:cs typeface="Times New Roman" panose="02020603050405020304" pitchFamily="18" charset="0"/>
                                      </a:rPr>
                                      <m:t>𝑛</m:t>
                                    </m:r>
                                  </m:e>
                                  <m:sub>
                                    <m:sSub>
                                      <m:sSubPr>
                                        <m:ctrlPr>
                                          <a:rPr lang="es-ES" sz="1400" i="1" kern="100" smtClean="0">
                                            <a:effectLst/>
                                            <a:latin typeface="Cambria Math" panose="02040503050406030204" pitchFamily="18" charset="0"/>
                                            <a:cs typeface="Times New Roman" panose="02020603050405020304" pitchFamily="18" charset="0"/>
                                          </a:rPr>
                                        </m:ctrlPr>
                                      </m:sSubPr>
                                      <m:e>
                                        <m:r>
                                          <a:rPr lang="es-ES" sz="1400" b="0" i="1" kern="100" smtClean="0">
                                            <a:effectLst/>
                                            <a:latin typeface="Cambria Math" panose="02040503050406030204" pitchFamily="18" charset="0"/>
                                            <a:cs typeface="Times New Roman" panose="02020603050405020304" pitchFamily="18" charset="0"/>
                                          </a:rPr>
                                          <m:t>𝐴</m:t>
                                        </m:r>
                                      </m:e>
                                      <m:sub>
                                        <m:r>
                                          <a:rPr lang="es-ES" sz="1400" b="0" i="1" kern="100" smtClean="0">
                                            <a:effectLst/>
                                            <a:latin typeface="Cambria Math" panose="02040503050406030204" pitchFamily="18" charset="0"/>
                                            <a:cs typeface="Times New Roman" panose="02020603050405020304" pitchFamily="18" charset="0"/>
                                          </a:rPr>
                                          <m:t>2</m:t>
                                        </m:r>
                                      </m:sub>
                                    </m:sSub>
                                  </m:sub>
                                </m:sSub>
                              </m:oMath>
                            </m:oMathPara>
                          </a14:m>
                          <a:endParaRPr lang="es-E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02863625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1"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marL="68580" marR="68580" marT="0" marB="0" anchor="ctr"/>
                    </a:tc>
                    <a:extLst>
                      <a:ext uri="{0D108BD9-81ED-4DB2-BD59-A6C34878D82A}">
                        <a16:rowId xmlns:a16="http://schemas.microsoft.com/office/drawing/2014/main" val="3338217678"/>
                      </a:ext>
                    </a:extLst>
                  </a:tr>
                  <a:tr h="492760">
                    <a:tc>
                      <a:txBody>
                        <a:bodyPr/>
                        <a:lstStyle/>
                        <a:p>
                          <a:pPr algn="ctr"/>
                          <a14:m>
                            <m:oMathPara xmlns:m="http://schemas.openxmlformats.org/officeDocument/2006/math">
                              <m:oMathParaPr>
                                <m:jc m:val="centerGroup"/>
                              </m:oMathParaPr>
                              <m:oMath xmlns:m="http://schemas.openxmlformats.org/officeDocument/2006/math">
                                <m:sSub>
                                  <m:sSubPr>
                                    <m:ctrlPr>
                                      <a:rPr lang="es-ES" sz="1400" b="1" i="1" smtClean="0">
                                        <a:latin typeface="Cambria Math" panose="02040503050406030204" pitchFamily="18" charset="0"/>
                                      </a:rPr>
                                    </m:ctrlPr>
                                  </m:sSubPr>
                                  <m:e>
                                    <m:r>
                                      <a:rPr lang="es-ES" sz="1400" b="1" i="1" smtClean="0">
                                        <a:latin typeface="Cambria Math" panose="02040503050406030204" pitchFamily="18" charset="0"/>
                                      </a:rPr>
                                      <m:t>𝑨</m:t>
                                    </m:r>
                                  </m:e>
                                  <m:sub>
                                    <m:r>
                                      <a:rPr lang="es-ES" sz="1400" b="1" i="1" smtClean="0">
                                        <a:latin typeface="Cambria Math" panose="02040503050406030204" pitchFamily="18" charset="0"/>
                                      </a:rPr>
                                      <m:t>𝒊</m:t>
                                    </m:r>
                                  </m:sub>
                                </m:sSub>
                              </m:oMath>
                            </m:oMathPara>
                          </a14:m>
                          <a:endParaRPr lang="es-ES" sz="1400" b="1" dirty="0"/>
                        </a:p>
                      </a:txBody>
                      <a:tcPr anchor="ctr">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acc>
                                  <m:accPr>
                                    <m:chr m:val="̂"/>
                                    <m:ctrlPr>
                                      <a:rPr lang="es-ES" sz="1400" i="1" smtClean="0">
                                        <a:latin typeface="Cambria Math" panose="02040503050406030204" pitchFamily="18" charset="0"/>
                                      </a:rPr>
                                    </m:ctrlPr>
                                  </m:accPr>
                                  <m:e>
                                    <m:r>
                                      <a:rPr lang="es-ES" sz="1400" b="0" i="1" smtClean="0">
                                        <a:latin typeface="Cambria Math" panose="02040503050406030204" pitchFamily="18" charset="0"/>
                                      </a:rPr>
                                      <m:t>𝐸𝑥𝑝</m:t>
                                    </m:r>
                                  </m:e>
                                </m:acc>
                                <m:r>
                                  <a:rPr lang="es-ES" sz="1400" b="0" i="1" smtClean="0">
                                    <a:latin typeface="Cambria Math" panose="02040503050406030204" pitchFamily="18" charset="0"/>
                                  </a:rPr>
                                  <m:t>(</m:t>
                                </m:r>
                                <m:r>
                                  <a:rPr lang="es-ES" sz="1400" b="0" i="1" smtClean="0">
                                    <a:latin typeface="Cambria Math" panose="02040503050406030204" pitchFamily="18" charset="0"/>
                                  </a:rPr>
                                  <m:t>𝑖</m:t>
                                </m:r>
                                <m:r>
                                  <a:rPr lang="es-ES" sz="1400" b="0" i="1" smtClean="0">
                                    <a:latin typeface="Cambria Math" panose="02040503050406030204" pitchFamily="18" charset="0"/>
                                  </a:rPr>
                                  <m:t>,1)</m:t>
                                </m:r>
                              </m:oMath>
                            </m:oMathPara>
                          </a14:m>
                          <a:endParaRPr lang="es-ES" sz="1400" dirty="0"/>
                        </a:p>
                      </a:txBody>
                      <a:tcPr anchor="ctr"/>
                    </a:tc>
                    <a:tc>
                      <a:txBody>
                        <a:bodyPr/>
                        <a:lstStyle/>
                        <a:p>
                          <a:pPr algn="ctr"/>
                          <a14:m>
                            <m:oMathPara xmlns:m="http://schemas.openxmlformats.org/officeDocument/2006/math">
                              <m:oMathParaPr>
                                <m:jc m:val="centerGroup"/>
                              </m:oMathParaPr>
                              <m:oMath xmlns:m="http://schemas.openxmlformats.org/officeDocument/2006/math">
                                <m:acc>
                                  <m:accPr>
                                    <m:chr m:val="̂"/>
                                    <m:ctrlPr>
                                      <a:rPr lang="es-ES" sz="1400" i="1" smtClean="0">
                                        <a:latin typeface="Cambria Math" panose="02040503050406030204" pitchFamily="18" charset="0"/>
                                      </a:rPr>
                                    </m:ctrlPr>
                                  </m:accPr>
                                  <m:e>
                                    <m:r>
                                      <a:rPr lang="es-ES" sz="1400" b="0" i="1" smtClean="0">
                                        <a:latin typeface="Cambria Math" panose="02040503050406030204" pitchFamily="18" charset="0"/>
                                      </a:rPr>
                                      <m:t>𝐸𝑥𝑝</m:t>
                                    </m:r>
                                  </m:e>
                                </m:acc>
                                <m:r>
                                  <a:rPr lang="es-ES" sz="1400" b="0" i="1" smtClean="0">
                                    <a:latin typeface="Cambria Math" panose="02040503050406030204" pitchFamily="18" charset="0"/>
                                  </a:rPr>
                                  <m:t>(</m:t>
                                </m:r>
                                <m:r>
                                  <a:rPr lang="es-ES" sz="1400" b="0" i="1" smtClean="0">
                                    <a:latin typeface="Cambria Math" panose="02040503050406030204" pitchFamily="18" charset="0"/>
                                  </a:rPr>
                                  <m:t>𝑖</m:t>
                                </m:r>
                                <m:r>
                                  <a:rPr lang="es-ES" sz="1400" b="0" i="1" smtClean="0">
                                    <a:latin typeface="Cambria Math" panose="02040503050406030204" pitchFamily="18" charset="0"/>
                                  </a:rPr>
                                  <m:t>,</m:t>
                                </m:r>
                                <m:r>
                                  <a:rPr lang="es-ES" sz="1400" b="0" i="1" smtClean="0">
                                    <a:latin typeface="Cambria Math" panose="02040503050406030204" pitchFamily="18" charset="0"/>
                                  </a:rPr>
                                  <m:t>2</m:t>
                                </m:r>
                                <m:r>
                                  <a:rPr lang="es-ES" sz="1400" b="0" i="1" smtClean="0">
                                    <a:latin typeface="Cambria Math" panose="02040503050406030204" pitchFamily="18" charset="0"/>
                                  </a:rPr>
                                  <m:t>)</m:t>
                                </m:r>
                              </m:oMath>
                            </m:oMathPara>
                          </a14:m>
                          <a:endParaRPr lang="es-ES" sz="1400" dirty="0"/>
                        </a:p>
                      </a:txBody>
                      <a:tcPr anchor="ct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s-ES" sz="1400" dirty="0"/>
                            <a:t>…</a:t>
                          </a:r>
                        </a:p>
                      </a:txBody>
                      <a:tcPr marL="68580" marR="68580" marT="0" marB="0" anchor="ctr"/>
                    </a:tc>
                    <a:tc>
                      <a:txBody>
                        <a:bodyPr/>
                        <a:lstStyle/>
                        <a:p>
                          <a:pPr algn="ctr"/>
                          <a14:m>
                            <m:oMathPara xmlns:m="http://schemas.openxmlformats.org/officeDocument/2006/math">
                              <m:oMathParaPr>
                                <m:jc m:val="centerGroup"/>
                              </m:oMathParaPr>
                              <m:oMath xmlns:m="http://schemas.openxmlformats.org/officeDocument/2006/math">
                                <m:acc>
                                  <m:accPr>
                                    <m:chr m:val="̂"/>
                                    <m:ctrlPr>
                                      <a:rPr lang="es-ES" sz="1400" i="1" smtClean="0">
                                        <a:latin typeface="Cambria Math" panose="02040503050406030204" pitchFamily="18" charset="0"/>
                                      </a:rPr>
                                    </m:ctrlPr>
                                  </m:accPr>
                                  <m:e>
                                    <m:r>
                                      <a:rPr lang="es-ES" sz="1400" b="0" i="1" smtClean="0">
                                        <a:latin typeface="Cambria Math" panose="02040503050406030204" pitchFamily="18" charset="0"/>
                                      </a:rPr>
                                      <m:t>𝐸𝑥𝑝</m:t>
                                    </m:r>
                                  </m:e>
                                </m:acc>
                                <m:r>
                                  <a:rPr lang="es-ES" sz="1400" b="0" i="1" smtClean="0">
                                    <a:latin typeface="Cambria Math" panose="02040503050406030204" pitchFamily="18" charset="0"/>
                                  </a:rPr>
                                  <m:t>(</m:t>
                                </m:r>
                                <m:r>
                                  <a:rPr lang="es-ES" sz="1400" b="0" i="1" smtClean="0">
                                    <a:latin typeface="Cambria Math" panose="02040503050406030204" pitchFamily="18" charset="0"/>
                                  </a:rPr>
                                  <m:t>𝑖</m:t>
                                </m:r>
                                <m:r>
                                  <a:rPr lang="es-ES" sz="1400" b="0" i="1" smtClean="0">
                                    <a:latin typeface="Cambria Math" panose="02040503050406030204" pitchFamily="18" charset="0"/>
                                  </a:rPr>
                                  <m:t>,</m:t>
                                </m:r>
                                <m:r>
                                  <a:rPr lang="es-ES" sz="1400" b="0" i="1" smtClean="0">
                                    <a:latin typeface="Cambria Math" panose="02040503050406030204" pitchFamily="18" charset="0"/>
                                  </a:rPr>
                                  <m:t>𝑗</m:t>
                                </m:r>
                                <m:r>
                                  <a:rPr lang="es-ES" sz="1400" b="0" i="1" smtClean="0">
                                    <a:latin typeface="Cambria Math" panose="02040503050406030204" pitchFamily="18" charset="0"/>
                                  </a:rPr>
                                  <m:t>)</m:t>
                                </m:r>
                              </m:oMath>
                            </m:oMathPara>
                          </a14:m>
                          <a:endParaRPr lang="es-ES" sz="1400" dirty="0"/>
                        </a:p>
                      </a:txBody>
                      <a:tcPr anchor="ct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14:m>
                            <m:oMathPara xmlns:m="http://schemas.openxmlformats.org/officeDocument/2006/math">
                              <m:oMathParaPr>
                                <m:jc m:val="centerGroup"/>
                              </m:oMathParaPr>
                              <m:oMath xmlns:m="http://schemas.openxmlformats.org/officeDocument/2006/math">
                                <m:r>
                                  <a:rPr lang="es-ES" sz="1400" i="1" smtClean="0">
                                    <a:latin typeface="Cambria Math" panose="02040503050406030204" pitchFamily="18" charset="0"/>
                                  </a:rPr>
                                  <m:t>…</m:t>
                                </m:r>
                              </m:oMath>
                            </m:oMathPara>
                          </a14:m>
                          <a:endParaRPr lang="es-ES" sz="1400" dirty="0"/>
                        </a:p>
                      </a:txBody>
                      <a:tcPr marL="68580" marR="68580" marT="0" marB="0" anchor="ct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acc>
                                  <m:accPr>
                                    <m:chr m:val="̂"/>
                                    <m:ctrlPr>
                                      <a:rPr lang="es-ES" sz="1400" i="1" smtClean="0">
                                        <a:latin typeface="Cambria Math" panose="02040503050406030204" pitchFamily="18" charset="0"/>
                                      </a:rPr>
                                    </m:ctrlPr>
                                  </m:accPr>
                                  <m:e>
                                    <m:r>
                                      <a:rPr lang="es-ES" sz="1400" b="0" i="1" smtClean="0">
                                        <a:latin typeface="Cambria Math" panose="02040503050406030204" pitchFamily="18" charset="0"/>
                                      </a:rPr>
                                      <m:t>𝐸𝑥𝑝</m:t>
                                    </m:r>
                                  </m:e>
                                </m:acc>
                                <m:r>
                                  <a:rPr lang="es-ES" sz="1400" b="0" i="1" smtClean="0">
                                    <a:latin typeface="Cambria Math" panose="02040503050406030204" pitchFamily="18" charset="0"/>
                                  </a:rPr>
                                  <m:t>(</m:t>
                                </m:r>
                                <m:r>
                                  <a:rPr lang="es-ES" sz="1400" b="0" i="1" smtClean="0">
                                    <a:latin typeface="Cambria Math" panose="02040503050406030204" pitchFamily="18" charset="0"/>
                                  </a:rPr>
                                  <m:t>𝑖</m:t>
                                </m:r>
                                <m:r>
                                  <a:rPr lang="es-ES" sz="1400" b="0" i="1" smtClean="0">
                                    <a:latin typeface="Cambria Math" panose="02040503050406030204" pitchFamily="18" charset="0"/>
                                  </a:rPr>
                                  <m:t>,</m:t>
                                </m:r>
                                <m:r>
                                  <a:rPr lang="es-ES" sz="1400" b="0" i="1" smtClean="0">
                                    <a:latin typeface="Cambria Math" panose="02040503050406030204" pitchFamily="18" charset="0"/>
                                  </a:rPr>
                                  <m:t>𝑚</m:t>
                                </m:r>
                                <m:r>
                                  <a:rPr lang="es-ES" sz="1400" b="0" i="1" smtClean="0">
                                    <a:latin typeface="Cambria Math" panose="02040503050406030204" pitchFamily="18" charset="0"/>
                                  </a:rPr>
                                  <m:t>)</m:t>
                                </m:r>
                              </m:oMath>
                            </m:oMathPara>
                          </a14:m>
                          <a:endParaRPr lang="es-E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ES" sz="1400" i="1" kern="100" smtClean="0">
                                        <a:effectLst/>
                                        <a:latin typeface="Cambria Math" panose="02040503050406030204" pitchFamily="18" charset="0"/>
                                        <a:cs typeface="Times New Roman" panose="02020603050405020304" pitchFamily="18" charset="0"/>
                                      </a:rPr>
                                    </m:ctrlPr>
                                  </m:sSubPr>
                                  <m:e>
                                    <m:r>
                                      <a:rPr lang="es-ES" sz="1400" b="0" i="1" kern="100" smtClean="0">
                                        <a:effectLst/>
                                        <a:latin typeface="Cambria Math" panose="02040503050406030204" pitchFamily="18" charset="0"/>
                                        <a:cs typeface="Times New Roman" panose="02020603050405020304" pitchFamily="18" charset="0"/>
                                      </a:rPr>
                                      <m:t>𝑛</m:t>
                                    </m:r>
                                  </m:e>
                                  <m:sub>
                                    <m:sSub>
                                      <m:sSubPr>
                                        <m:ctrlPr>
                                          <a:rPr lang="es-ES" sz="1400" i="1" kern="100" smtClean="0">
                                            <a:effectLst/>
                                            <a:latin typeface="Cambria Math" panose="02040503050406030204" pitchFamily="18" charset="0"/>
                                            <a:cs typeface="Times New Roman" panose="02020603050405020304" pitchFamily="18" charset="0"/>
                                          </a:rPr>
                                        </m:ctrlPr>
                                      </m:sSubPr>
                                      <m:e>
                                        <m:r>
                                          <a:rPr lang="es-ES" sz="1400" b="0" i="1" kern="100" smtClean="0">
                                            <a:effectLst/>
                                            <a:latin typeface="Cambria Math" panose="02040503050406030204" pitchFamily="18" charset="0"/>
                                            <a:cs typeface="Times New Roman" panose="02020603050405020304" pitchFamily="18" charset="0"/>
                                          </a:rPr>
                                          <m:t>𝐴</m:t>
                                        </m:r>
                                      </m:e>
                                      <m:sub>
                                        <m:r>
                                          <a:rPr lang="es-ES" sz="1400" b="0" i="1" kern="100" smtClean="0">
                                            <a:effectLst/>
                                            <a:latin typeface="Cambria Math" panose="02040503050406030204" pitchFamily="18" charset="0"/>
                                            <a:cs typeface="Times New Roman" panose="02020603050405020304" pitchFamily="18" charset="0"/>
                                          </a:rPr>
                                          <m:t>𝑖</m:t>
                                        </m:r>
                                      </m:sub>
                                    </m:sSub>
                                  </m:sub>
                                </m:sSub>
                              </m:oMath>
                            </m:oMathPara>
                          </a14:m>
                          <a:endParaRPr lang="es-E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65036747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1"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marL="68580" marR="68580" marT="0" marB="0" anchor="ctr"/>
                    </a:tc>
                    <a:extLst>
                      <a:ext uri="{0D108BD9-81ED-4DB2-BD59-A6C34878D82A}">
                        <a16:rowId xmlns:a16="http://schemas.microsoft.com/office/drawing/2014/main" val="2902693385"/>
                      </a:ext>
                    </a:extLst>
                  </a:tr>
                  <a:tr h="472440">
                    <a:tc>
                      <a:txBody>
                        <a:bodyPr/>
                        <a:lstStyle/>
                        <a:p>
                          <a:pPr algn="ctr"/>
                          <a14:m>
                            <m:oMathPara xmlns:m="http://schemas.openxmlformats.org/officeDocument/2006/math">
                              <m:oMathParaPr>
                                <m:jc m:val="centerGroup"/>
                              </m:oMathParaPr>
                              <m:oMath xmlns:m="http://schemas.openxmlformats.org/officeDocument/2006/math">
                                <m:sSub>
                                  <m:sSubPr>
                                    <m:ctrlPr>
                                      <a:rPr lang="es-ES" sz="1400" b="1" i="1" smtClean="0">
                                        <a:latin typeface="Cambria Math" panose="02040503050406030204" pitchFamily="18" charset="0"/>
                                      </a:rPr>
                                    </m:ctrlPr>
                                  </m:sSubPr>
                                  <m:e>
                                    <m:r>
                                      <a:rPr lang="es-ES" sz="1400" b="1" i="1" smtClean="0">
                                        <a:latin typeface="Cambria Math" panose="02040503050406030204" pitchFamily="18" charset="0"/>
                                      </a:rPr>
                                      <m:t>𝑨</m:t>
                                    </m:r>
                                  </m:e>
                                  <m:sub>
                                    <m:r>
                                      <a:rPr lang="es-ES" sz="1400" b="1" i="1" smtClean="0">
                                        <a:latin typeface="Cambria Math" panose="02040503050406030204" pitchFamily="18" charset="0"/>
                                      </a:rPr>
                                      <m:t>𝒌</m:t>
                                    </m:r>
                                  </m:sub>
                                </m:sSub>
                              </m:oMath>
                            </m:oMathPara>
                          </a14:m>
                          <a:endParaRPr lang="es-ES" sz="1400" b="1" dirty="0"/>
                        </a:p>
                      </a:txBody>
                      <a:tcPr anchor="ctr">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acc>
                                  <m:accPr>
                                    <m:chr m:val="̂"/>
                                    <m:ctrlPr>
                                      <a:rPr lang="es-ES" sz="1400" i="1" smtClean="0">
                                        <a:latin typeface="Cambria Math" panose="02040503050406030204" pitchFamily="18" charset="0"/>
                                      </a:rPr>
                                    </m:ctrlPr>
                                  </m:accPr>
                                  <m:e>
                                    <m:r>
                                      <a:rPr lang="es-ES" sz="1400" b="0" i="1" smtClean="0">
                                        <a:latin typeface="Cambria Math" panose="02040503050406030204" pitchFamily="18" charset="0"/>
                                      </a:rPr>
                                      <m:t>𝐸𝑥𝑝</m:t>
                                    </m:r>
                                  </m:e>
                                </m:acc>
                                <m:r>
                                  <a:rPr lang="es-ES" sz="1400" b="0" i="1" smtClean="0">
                                    <a:latin typeface="Cambria Math" panose="02040503050406030204" pitchFamily="18" charset="0"/>
                                  </a:rPr>
                                  <m:t>(</m:t>
                                </m:r>
                                <m:r>
                                  <a:rPr lang="es-ES" sz="1400" b="0" i="1" smtClean="0">
                                    <a:latin typeface="Cambria Math" panose="02040503050406030204" pitchFamily="18" charset="0"/>
                                  </a:rPr>
                                  <m:t>𝑘</m:t>
                                </m:r>
                                <m:r>
                                  <a:rPr lang="es-ES" sz="1400" b="0" i="1" smtClean="0">
                                    <a:latin typeface="Cambria Math" panose="02040503050406030204" pitchFamily="18" charset="0"/>
                                  </a:rPr>
                                  <m:t>,1)</m:t>
                                </m:r>
                              </m:oMath>
                            </m:oMathPara>
                          </a14:m>
                          <a:endParaRPr lang="es-ES" sz="1400" dirty="0"/>
                        </a:p>
                      </a:txBody>
                      <a:tcPr anchor="ctr"/>
                    </a:tc>
                    <a:tc>
                      <a:txBody>
                        <a:bodyPr/>
                        <a:lstStyle/>
                        <a:p>
                          <a:pPr algn="ctr"/>
                          <a14:m>
                            <m:oMathPara xmlns:m="http://schemas.openxmlformats.org/officeDocument/2006/math">
                              <m:oMathParaPr>
                                <m:jc m:val="centerGroup"/>
                              </m:oMathParaPr>
                              <m:oMath xmlns:m="http://schemas.openxmlformats.org/officeDocument/2006/math">
                                <m:acc>
                                  <m:accPr>
                                    <m:chr m:val="̂"/>
                                    <m:ctrlPr>
                                      <a:rPr lang="es-ES" sz="1400" i="1" smtClean="0">
                                        <a:latin typeface="Cambria Math" panose="02040503050406030204" pitchFamily="18" charset="0"/>
                                      </a:rPr>
                                    </m:ctrlPr>
                                  </m:accPr>
                                  <m:e>
                                    <m:r>
                                      <a:rPr lang="es-ES" sz="1400" b="0" i="1" smtClean="0">
                                        <a:latin typeface="Cambria Math" panose="02040503050406030204" pitchFamily="18" charset="0"/>
                                      </a:rPr>
                                      <m:t>𝐸𝑥𝑝</m:t>
                                    </m:r>
                                  </m:e>
                                </m:acc>
                                <m:r>
                                  <a:rPr lang="es-ES" sz="1400" b="0" i="1" smtClean="0">
                                    <a:latin typeface="Cambria Math" panose="02040503050406030204" pitchFamily="18" charset="0"/>
                                  </a:rPr>
                                  <m:t>(</m:t>
                                </m:r>
                                <m:r>
                                  <a:rPr lang="es-ES" sz="1400" b="0" i="1" smtClean="0">
                                    <a:latin typeface="Cambria Math" panose="02040503050406030204" pitchFamily="18" charset="0"/>
                                  </a:rPr>
                                  <m:t>𝑘</m:t>
                                </m:r>
                                <m:r>
                                  <a:rPr lang="es-ES" sz="1400" b="0" i="1" smtClean="0">
                                    <a:latin typeface="Cambria Math" panose="02040503050406030204" pitchFamily="18" charset="0"/>
                                  </a:rPr>
                                  <m:t>,2)</m:t>
                                </m:r>
                              </m:oMath>
                            </m:oMathPara>
                          </a14:m>
                          <a:endParaRPr lang="es-ES" sz="1400" dirty="0"/>
                        </a:p>
                      </a:txBody>
                      <a:tcPr anchor="ct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s-ES" sz="1400" dirty="0"/>
                            <a:t>…</a:t>
                          </a:r>
                        </a:p>
                      </a:txBody>
                      <a:tcPr marL="68580" marR="68580" marT="0" marB="0" anchor="ctr"/>
                    </a:tc>
                    <a:tc>
                      <a:txBody>
                        <a:bodyPr/>
                        <a:lstStyle/>
                        <a:p>
                          <a:pPr algn="ctr"/>
                          <a14:m>
                            <m:oMathPara xmlns:m="http://schemas.openxmlformats.org/officeDocument/2006/math">
                              <m:oMathParaPr>
                                <m:jc m:val="centerGroup"/>
                              </m:oMathParaPr>
                              <m:oMath xmlns:m="http://schemas.openxmlformats.org/officeDocument/2006/math">
                                <m:acc>
                                  <m:accPr>
                                    <m:chr m:val="̂"/>
                                    <m:ctrlPr>
                                      <a:rPr lang="es-ES" sz="1400" i="1" smtClean="0">
                                        <a:latin typeface="Cambria Math" panose="02040503050406030204" pitchFamily="18" charset="0"/>
                                      </a:rPr>
                                    </m:ctrlPr>
                                  </m:accPr>
                                  <m:e>
                                    <m:r>
                                      <a:rPr lang="es-ES" sz="1400" b="0" i="1" smtClean="0">
                                        <a:latin typeface="Cambria Math" panose="02040503050406030204" pitchFamily="18" charset="0"/>
                                      </a:rPr>
                                      <m:t>𝐸𝑥𝑝</m:t>
                                    </m:r>
                                  </m:e>
                                </m:acc>
                                <m:r>
                                  <a:rPr lang="es-ES" sz="1400" b="0" i="1" smtClean="0">
                                    <a:latin typeface="Cambria Math" panose="02040503050406030204" pitchFamily="18" charset="0"/>
                                  </a:rPr>
                                  <m:t>(</m:t>
                                </m:r>
                                <m:r>
                                  <a:rPr lang="es-ES" sz="1400" b="0" i="1" smtClean="0">
                                    <a:latin typeface="Cambria Math" panose="02040503050406030204" pitchFamily="18" charset="0"/>
                                  </a:rPr>
                                  <m:t>𝑘</m:t>
                                </m:r>
                                <m:r>
                                  <a:rPr lang="es-ES" sz="1400" b="0" i="1" smtClean="0">
                                    <a:latin typeface="Cambria Math" panose="02040503050406030204" pitchFamily="18" charset="0"/>
                                  </a:rPr>
                                  <m:t>,</m:t>
                                </m:r>
                                <m:r>
                                  <a:rPr lang="es-ES" sz="1400" b="0" i="1" smtClean="0">
                                    <a:latin typeface="Cambria Math" panose="02040503050406030204" pitchFamily="18" charset="0"/>
                                  </a:rPr>
                                  <m:t>𝑗</m:t>
                                </m:r>
                                <m:r>
                                  <a:rPr lang="es-ES" sz="1400" b="0" i="1" smtClean="0">
                                    <a:latin typeface="Cambria Math" panose="02040503050406030204" pitchFamily="18" charset="0"/>
                                  </a:rPr>
                                  <m:t>)</m:t>
                                </m:r>
                              </m:oMath>
                            </m:oMathPara>
                          </a14:m>
                          <a:endParaRPr lang="es-ES" sz="1400" dirty="0"/>
                        </a:p>
                      </a:txBody>
                      <a:tcPr anchor="ct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14:m>
                            <m:oMathPara xmlns:m="http://schemas.openxmlformats.org/officeDocument/2006/math">
                              <m:oMathParaPr>
                                <m:jc m:val="centerGroup"/>
                              </m:oMathParaPr>
                              <m:oMath xmlns:m="http://schemas.openxmlformats.org/officeDocument/2006/math">
                                <m:r>
                                  <a:rPr lang="es-ES" sz="1400" i="1" smtClean="0">
                                    <a:latin typeface="Cambria Math" panose="02040503050406030204" pitchFamily="18" charset="0"/>
                                  </a:rPr>
                                  <m:t>…</m:t>
                                </m:r>
                              </m:oMath>
                            </m:oMathPara>
                          </a14:m>
                          <a:endParaRPr lang="es-ES" sz="1400" dirty="0"/>
                        </a:p>
                      </a:txBody>
                      <a:tcPr marL="68580" marR="68580" marT="0" marB="0" anchor="ct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acc>
                                  <m:accPr>
                                    <m:chr m:val="̂"/>
                                    <m:ctrlPr>
                                      <a:rPr lang="es-ES" sz="1400" i="1" smtClean="0">
                                        <a:latin typeface="Cambria Math" panose="02040503050406030204" pitchFamily="18" charset="0"/>
                                      </a:rPr>
                                    </m:ctrlPr>
                                  </m:accPr>
                                  <m:e>
                                    <m:r>
                                      <a:rPr lang="es-ES" sz="1400" b="0" i="1" smtClean="0">
                                        <a:latin typeface="Cambria Math" panose="02040503050406030204" pitchFamily="18" charset="0"/>
                                      </a:rPr>
                                      <m:t>𝐸𝑥𝑝</m:t>
                                    </m:r>
                                  </m:e>
                                </m:acc>
                                <m:r>
                                  <a:rPr lang="es-ES" sz="1400" b="0" i="1" smtClean="0">
                                    <a:latin typeface="Cambria Math" panose="02040503050406030204" pitchFamily="18" charset="0"/>
                                  </a:rPr>
                                  <m:t>(</m:t>
                                </m:r>
                                <m:r>
                                  <a:rPr lang="es-ES" sz="1400" b="0" i="1" smtClean="0">
                                    <a:latin typeface="Cambria Math" panose="02040503050406030204" pitchFamily="18" charset="0"/>
                                  </a:rPr>
                                  <m:t>𝑘</m:t>
                                </m:r>
                                <m:r>
                                  <a:rPr lang="es-ES" sz="1400" b="0" i="1" smtClean="0">
                                    <a:latin typeface="Cambria Math" panose="02040503050406030204" pitchFamily="18" charset="0"/>
                                  </a:rPr>
                                  <m:t>,</m:t>
                                </m:r>
                                <m:r>
                                  <a:rPr lang="es-ES" sz="1400" b="0" i="1" smtClean="0">
                                    <a:latin typeface="Cambria Math" panose="02040503050406030204" pitchFamily="18" charset="0"/>
                                  </a:rPr>
                                  <m:t>𝑚</m:t>
                                </m:r>
                                <m:r>
                                  <a:rPr lang="es-ES" sz="1400" b="0" i="1" smtClean="0">
                                    <a:latin typeface="Cambria Math" panose="02040503050406030204" pitchFamily="18" charset="0"/>
                                  </a:rPr>
                                  <m:t>)</m:t>
                                </m:r>
                              </m:oMath>
                            </m:oMathPara>
                          </a14:m>
                          <a:endParaRPr lang="es-E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ES" sz="1400" i="1" kern="100" smtClean="0">
                                        <a:effectLst/>
                                        <a:latin typeface="Cambria Math" panose="02040503050406030204" pitchFamily="18" charset="0"/>
                                        <a:cs typeface="Times New Roman" panose="02020603050405020304" pitchFamily="18" charset="0"/>
                                      </a:rPr>
                                    </m:ctrlPr>
                                  </m:sSubPr>
                                  <m:e>
                                    <m:r>
                                      <a:rPr lang="es-ES" sz="1400" b="0" i="1" kern="100" smtClean="0">
                                        <a:effectLst/>
                                        <a:latin typeface="Cambria Math" panose="02040503050406030204" pitchFamily="18" charset="0"/>
                                        <a:cs typeface="Times New Roman" panose="02020603050405020304" pitchFamily="18" charset="0"/>
                                      </a:rPr>
                                      <m:t>𝑛</m:t>
                                    </m:r>
                                  </m:e>
                                  <m:sub>
                                    <m:sSub>
                                      <m:sSubPr>
                                        <m:ctrlPr>
                                          <a:rPr lang="es-ES" sz="1400" i="1" kern="100" smtClean="0">
                                            <a:effectLst/>
                                            <a:latin typeface="Cambria Math" panose="02040503050406030204" pitchFamily="18" charset="0"/>
                                            <a:cs typeface="Times New Roman" panose="02020603050405020304" pitchFamily="18" charset="0"/>
                                          </a:rPr>
                                        </m:ctrlPr>
                                      </m:sSubPr>
                                      <m:e>
                                        <m:r>
                                          <a:rPr lang="es-ES" sz="1400" b="0" i="1" kern="100" smtClean="0">
                                            <a:effectLst/>
                                            <a:latin typeface="Cambria Math" panose="02040503050406030204" pitchFamily="18" charset="0"/>
                                            <a:cs typeface="Times New Roman" panose="02020603050405020304" pitchFamily="18" charset="0"/>
                                          </a:rPr>
                                          <m:t>𝐴</m:t>
                                        </m:r>
                                      </m:e>
                                      <m:sub>
                                        <m:r>
                                          <a:rPr lang="es-ES" sz="1400" b="0" i="1" kern="100" smtClean="0">
                                            <a:effectLst/>
                                            <a:latin typeface="Cambria Math" panose="02040503050406030204" pitchFamily="18" charset="0"/>
                                            <a:cs typeface="Times New Roman" panose="02020603050405020304" pitchFamily="18" charset="0"/>
                                          </a:rPr>
                                          <m:t>𝑘</m:t>
                                        </m:r>
                                      </m:sub>
                                    </m:sSub>
                                  </m:sub>
                                </m:sSub>
                              </m:oMath>
                            </m:oMathPara>
                          </a14:m>
                          <a:endParaRPr lang="es-E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468268460"/>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s-ES" sz="1400" b="1" i="1" smtClean="0">
                                        <a:latin typeface="Cambria Math" panose="02040503050406030204" pitchFamily="18" charset="0"/>
                                      </a:rPr>
                                    </m:ctrlPr>
                                  </m:sSubPr>
                                  <m:e>
                                    <m:r>
                                      <a:rPr lang="es-ES" sz="1400" b="1" i="1" smtClean="0">
                                        <a:latin typeface="Cambria Math" panose="02040503050406030204" pitchFamily="18" charset="0"/>
                                      </a:rPr>
                                      <m:t>𝒏</m:t>
                                    </m:r>
                                  </m:e>
                                  <m:sub>
                                    <m:r>
                                      <a:rPr lang="es-ES" sz="1400" b="1" i="1" smtClean="0">
                                        <a:latin typeface="Cambria Math" panose="02040503050406030204" pitchFamily="18" charset="0"/>
                                      </a:rPr>
                                      <m:t>𝑨</m:t>
                                    </m:r>
                                  </m:sub>
                                </m:sSub>
                              </m:oMath>
                            </m:oMathPara>
                          </a14:m>
                          <a:endParaRPr lang="es-ES" sz="1400" b="1" dirty="0"/>
                        </a:p>
                      </a:txBody>
                      <a:tcPr anchor="ctr">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s-ES" sz="1400" i="1" kern="100" smtClean="0">
                                        <a:effectLst/>
                                        <a:latin typeface="Cambria Math" panose="02040503050406030204" pitchFamily="18" charset="0"/>
                                        <a:cs typeface="Times New Roman" panose="02020603050405020304" pitchFamily="18" charset="0"/>
                                      </a:rPr>
                                    </m:ctrlPr>
                                  </m:sSubPr>
                                  <m:e>
                                    <m:r>
                                      <a:rPr lang="es-ES" sz="1400" b="0" i="1" kern="100" smtClean="0">
                                        <a:effectLst/>
                                        <a:latin typeface="Cambria Math" panose="02040503050406030204" pitchFamily="18" charset="0"/>
                                        <a:cs typeface="Times New Roman" panose="02020603050405020304" pitchFamily="18" charset="0"/>
                                      </a:rPr>
                                      <m:t>𝑛</m:t>
                                    </m:r>
                                  </m:e>
                                  <m:sub>
                                    <m:sSub>
                                      <m:sSubPr>
                                        <m:ctrlPr>
                                          <a:rPr lang="es-ES" sz="1400" i="1" kern="100" smtClean="0">
                                            <a:effectLst/>
                                            <a:latin typeface="Cambria Math" panose="02040503050406030204" pitchFamily="18" charset="0"/>
                                            <a:cs typeface="Times New Roman" panose="02020603050405020304" pitchFamily="18" charset="0"/>
                                          </a:rPr>
                                        </m:ctrlPr>
                                      </m:sSubPr>
                                      <m:e>
                                        <m:r>
                                          <a:rPr lang="es-ES" sz="1400" b="0" i="1" kern="100" smtClean="0">
                                            <a:effectLst/>
                                            <a:latin typeface="Cambria Math" panose="02040503050406030204" pitchFamily="18" charset="0"/>
                                            <a:cs typeface="Times New Roman" panose="02020603050405020304" pitchFamily="18" charset="0"/>
                                          </a:rPr>
                                          <m:t>𝐵</m:t>
                                        </m:r>
                                      </m:e>
                                      <m:sub>
                                        <m:r>
                                          <a:rPr lang="es-ES" sz="1400" b="0" i="1" kern="100" smtClean="0">
                                            <a:effectLst/>
                                            <a:latin typeface="Cambria Math" panose="02040503050406030204" pitchFamily="18" charset="0"/>
                                            <a:cs typeface="Times New Roman" panose="02020603050405020304" pitchFamily="18" charset="0"/>
                                          </a:rPr>
                                          <m:t>1</m:t>
                                        </m:r>
                                      </m:sub>
                                    </m:sSub>
                                  </m:sub>
                                </m:sSub>
                              </m:oMath>
                            </m:oMathPara>
                          </a14:m>
                          <a:endParaRPr lang="es-ES" sz="1400" dirty="0"/>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s-ES" sz="1400" i="1" kern="100" smtClean="0">
                                        <a:effectLst/>
                                        <a:latin typeface="Cambria Math" panose="02040503050406030204" pitchFamily="18" charset="0"/>
                                        <a:cs typeface="Times New Roman" panose="02020603050405020304" pitchFamily="18" charset="0"/>
                                      </a:rPr>
                                    </m:ctrlPr>
                                  </m:sSubPr>
                                  <m:e>
                                    <m:r>
                                      <a:rPr lang="es-ES" sz="1400" b="0" i="1" kern="100" smtClean="0">
                                        <a:effectLst/>
                                        <a:latin typeface="Cambria Math" panose="02040503050406030204" pitchFamily="18" charset="0"/>
                                        <a:cs typeface="Times New Roman" panose="02020603050405020304" pitchFamily="18" charset="0"/>
                                      </a:rPr>
                                      <m:t>𝑛</m:t>
                                    </m:r>
                                  </m:e>
                                  <m:sub>
                                    <m:sSub>
                                      <m:sSubPr>
                                        <m:ctrlPr>
                                          <a:rPr lang="es-ES" sz="1400" i="1" kern="100" smtClean="0">
                                            <a:effectLst/>
                                            <a:latin typeface="Cambria Math" panose="02040503050406030204" pitchFamily="18" charset="0"/>
                                            <a:cs typeface="Times New Roman" panose="02020603050405020304" pitchFamily="18" charset="0"/>
                                          </a:rPr>
                                        </m:ctrlPr>
                                      </m:sSubPr>
                                      <m:e>
                                        <m:r>
                                          <a:rPr lang="es-ES" sz="1400" b="0" i="1" kern="100" smtClean="0">
                                            <a:effectLst/>
                                            <a:latin typeface="Cambria Math" panose="02040503050406030204" pitchFamily="18" charset="0"/>
                                            <a:cs typeface="Times New Roman" panose="02020603050405020304" pitchFamily="18" charset="0"/>
                                          </a:rPr>
                                          <m:t>𝐵</m:t>
                                        </m:r>
                                      </m:e>
                                      <m:sub>
                                        <m:r>
                                          <a:rPr lang="es-ES" sz="1400" b="0" i="1" kern="100" smtClean="0">
                                            <a:effectLst/>
                                            <a:latin typeface="Cambria Math" panose="02040503050406030204" pitchFamily="18" charset="0"/>
                                            <a:cs typeface="Times New Roman" panose="02020603050405020304" pitchFamily="18" charset="0"/>
                                          </a:rPr>
                                          <m:t>2</m:t>
                                        </m:r>
                                      </m:sub>
                                    </m:sSub>
                                  </m:sub>
                                </m:sSub>
                              </m:oMath>
                            </m:oMathPara>
                          </a14:m>
                          <a:endParaRPr lang="es-ES" sz="1400" dirty="0"/>
                        </a:p>
                      </a:txBody>
                      <a:tcPr anchor="ctr"/>
                    </a:tc>
                    <a:tc>
                      <a:txBody>
                        <a:bodyPr/>
                        <a:lstStyle/>
                        <a:p>
                          <a:pPr algn="ctr">
                            <a:lnSpc>
                              <a:spcPct val="107000"/>
                            </a:lnSpc>
                            <a:spcAft>
                              <a:spcPts val="800"/>
                            </a:spcAft>
                          </a:pPr>
                          <a:r>
                            <a:rPr lang="es-ES" sz="1200" kern="100" dirty="0">
                              <a:effectLst/>
                              <a:latin typeface="Calibri" panose="020F0502020204030204" pitchFamily="34" charset="0"/>
                              <a:ea typeface="Calibri" panose="020F0502020204030204" pitchFamily="34" charset="0"/>
                              <a:cs typeface="Times New Roman" panose="02020603050405020304" pitchFamily="18" charset="0"/>
                            </a:rPr>
                            <a:t>…</a:t>
                          </a:r>
                        </a:p>
                      </a:txBody>
                      <a:tcPr marL="68580" marR="68580" marT="0" marB="0" anchor="ctr"/>
                    </a:tc>
                    <a:tc>
                      <a:txBody>
                        <a:bodyPr/>
                        <a:lstStyle/>
                        <a:p>
                          <a:pPr algn="ctr"/>
                          <a14:m>
                            <m:oMathPara xmlns:m="http://schemas.openxmlformats.org/officeDocument/2006/math">
                              <m:oMathParaPr>
                                <m:jc m:val="centerGroup"/>
                              </m:oMathParaPr>
                              <m:oMath xmlns:m="http://schemas.openxmlformats.org/officeDocument/2006/math">
                                <m:sSub>
                                  <m:sSubPr>
                                    <m:ctrlPr>
                                      <a:rPr lang="es-ES" sz="1400" i="1" kern="100" smtClean="0">
                                        <a:effectLst/>
                                        <a:latin typeface="Cambria Math" panose="02040503050406030204" pitchFamily="18" charset="0"/>
                                        <a:cs typeface="Times New Roman" panose="02020603050405020304" pitchFamily="18" charset="0"/>
                                      </a:rPr>
                                    </m:ctrlPr>
                                  </m:sSubPr>
                                  <m:e>
                                    <m:r>
                                      <a:rPr lang="es-ES" sz="1400" b="0" i="1" kern="100" smtClean="0">
                                        <a:effectLst/>
                                        <a:latin typeface="Cambria Math" panose="02040503050406030204" pitchFamily="18" charset="0"/>
                                        <a:cs typeface="Times New Roman" panose="02020603050405020304" pitchFamily="18" charset="0"/>
                                      </a:rPr>
                                      <m:t>𝑛</m:t>
                                    </m:r>
                                  </m:e>
                                  <m:sub>
                                    <m:sSub>
                                      <m:sSubPr>
                                        <m:ctrlPr>
                                          <a:rPr lang="es-ES" sz="1400" i="1" kern="100" smtClean="0">
                                            <a:effectLst/>
                                            <a:latin typeface="Cambria Math" panose="02040503050406030204" pitchFamily="18" charset="0"/>
                                            <a:cs typeface="Times New Roman" panose="02020603050405020304" pitchFamily="18" charset="0"/>
                                          </a:rPr>
                                        </m:ctrlPr>
                                      </m:sSubPr>
                                      <m:e>
                                        <m:r>
                                          <a:rPr lang="es-ES" sz="1400" b="0" i="1" kern="100" smtClean="0">
                                            <a:effectLst/>
                                            <a:latin typeface="Cambria Math" panose="02040503050406030204" pitchFamily="18" charset="0"/>
                                            <a:cs typeface="Times New Roman" panose="02020603050405020304" pitchFamily="18" charset="0"/>
                                          </a:rPr>
                                          <m:t>𝐵</m:t>
                                        </m:r>
                                      </m:e>
                                      <m:sub>
                                        <m:r>
                                          <a:rPr lang="es-ES" sz="1400" b="0" i="1" kern="100" smtClean="0">
                                            <a:effectLst/>
                                            <a:latin typeface="Cambria Math" panose="02040503050406030204" pitchFamily="18" charset="0"/>
                                            <a:cs typeface="Times New Roman" panose="02020603050405020304" pitchFamily="18" charset="0"/>
                                          </a:rPr>
                                          <m:t>𝑗</m:t>
                                        </m:r>
                                      </m:sub>
                                    </m:sSub>
                                  </m:sub>
                                </m:sSub>
                              </m:oMath>
                            </m:oMathPara>
                          </a14:m>
                          <a:endParaRPr lang="es-ES" sz="1400" dirty="0"/>
                        </a:p>
                      </a:txBody>
                      <a:tcPr marL="68580" marR="68580" marT="0" marB="0" anchor="ctr"/>
                    </a:tc>
                    <a:tc>
                      <a:txBody>
                        <a:bodyPr/>
                        <a:lstStyle/>
                        <a:p>
                          <a:pPr algn="ctr">
                            <a:lnSpc>
                              <a:spcPct val="107000"/>
                            </a:lnSpc>
                            <a:spcAft>
                              <a:spcPts val="800"/>
                            </a:spcAft>
                          </a:pPr>
                          <a:r>
                            <a:rPr lang="es-ES" sz="1400" kern="100" dirty="0">
                              <a:effectLst/>
                              <a:latin typeface="Calibri" panose="020F0502020204030204" pitchFamily="34" charset="0"/>
                              <a:ea typeface="Calibri" panose="020F0502020204030204" pitchFamily="34" charset="0"/>
                              <a:cs typeface="Times New Roman" panose="02020603050405020304" pitchFamily="18" charset="0"/>
                            </a:rPr>
                            <a:t>…</a:t>
                          </a:r>
                        </a:p>
                      </a:txBody>
                      <a:tcPr marL="68580" marR="68580" marT="0" marB="0" anchor="ct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ES" sz="1400" i="1" kern="100" smtClean="0">
                                        <a:effectLst/>
                                        <a:latin typeface="Cambria Math" panose="02040503050406030204" pitchFamily="18" charset="0"/>
                                        <a:cs typeface="Times New Roman" panose="02020603050405020304" pitchFamily="18" charset="0"/>
                                      </a:rPr>
                                    </m:ctrlPr>
                                  </m:sSubPr>
                                  <m:e>
                                    <m:r>
                                      <a:rPr lang="es-ES" sz="1400" b="0" i="1" kern="100" smtClean="0">
                                        <a:effectLst/>
                                        <a:latin typeface="Cambria Math" panose="02040503050406030204" pitchFamily="18" charset="0"/>
                                        <a:cs typeface="Times New Roman" panose="02020603050405020304" pitchFamily="18" charset="0"/>
                                      </a:rPr>
                                      <m:t>𝑛</m:t>
                                    </m:r>
                                  </m:e>
                                  <m:sub>
                                    <m:sSub>
                                      <m:sSubPr>
                                        <m:ctrlPr>
                                          <a:rPr lang="es-ES" sz="1400" i="1" kern="100" smtClean="0">
                                            <a:effectLst/>
                                            <a:latin typeface="Cambria Math" panose="02040503050406030204" pitchFamily="18" charset="0"/>
                                            <a:cs typeface="Times New Roman" panose="02020603050405020304" pitchFamily="18" charset="0"/>
                                          </a:rPr>
                                        </m:ctrlPr>
                                      </m:sSubPr>
                                      <m:e>
                                        <m:r>
                                          <a:rPr lang="es-ES" sz="1400" b="0" i="1" kern="100" smtClean="0">
                                            <a:effectLst/>
                                            <a:latin typeface="Cambria Math" panose="02040503050406030204" pitchFamily="18" charset="0"/>
                                            <a:cs typeface="Times New Roman" panose="02020603050405020304" pitchFamily="18" charset="0"/>
                                          </a:rPr>
                                          <m:t>𝐵</m:t>
                                        </m:r>
                                      </m:e>
                                      <m:sub>
                                        <m:r>
                                          <a:rPr lang="es-ES" sz="1400" b="0" i="1" kern="100" smtClean="0">
                                            <a:effectLst/>
                                            <a:latin typeface="Cambria Math" panose="02040503050406030204" pitchFamily="18" charset="0"/>
                                            <a:cs typeface="Times New Roman" panose="02020603050405020304" pitchFamily="18" charset="0"/>
                                          </a:rPr>
                                          <m:t>𝑚</m:t>
                                        </m:r>
                                      </m:sub>
                                    </m:sSub>
                                  </m:sub>
                                </m:sSub>
                              </m:oMath>
                            </m:oMathPara>
                          </a14:m>
                          <a:endParaRPr lang="es-E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s-ES" sz="1400" b="0" i="1" kern="100" smtClean="0">
                                    <a:effectLst/>
                                    <a:latin typeface="Cambria Math" panose="02040503050406030204" pitchFamily="18" charset="0"/>
                                    <a:ea typeface="Calibri" panose="020F0502020204030204" pitchFamily="34" charset="0"/>
                                    <a:cs typeface="Times New Roman" panose="02020603050405020304" pitchFamily="18" charset="0"/>
                                  </a:rPr>
                                  <m:t>𝑛</m:t>
                                </m:r>
                              </m:oMath>
                            </m:oMathPara>
                          </a14:m>
                          <a:endParaRPr lang="es-E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148768454"/>
                      </a:ext>
                    </a:extLst>
                  </a:tr>
                </a:tbl>
              </a:graphicData>
            </a:graphic>
          </p:graphicFrame>
        </mc:Choice>
        <mc:Fallback>
          <p:graphicFrame>
            <p:nvGraphicFramePr>
              <p:cNvPr id="5" name="Tabla 5">
                <a:extLst>
                  <a:ext uri="{FF2B5EF4-FFF2-40B4-BE49-F238E27FC236}">
                    <a16:creationId xmlns:a16="http://schemas.microsoft.com/office/drawing/2014/main" id="{DCD1D2D9-CD73-2CD6-6784-3B5856DD600F}"/>
                  </a:ext>
                </a:extLst>
              </p:cNvPr>
              <p:cNvGraphicFramePr>
                <a:graphicFrameLocks noGrp="1"/>
              </p:cNvGraphicFramePr>
              <p:nvPr>
                <p:extLst>
                  <p:ext uri="{D42A27DB-BD31-4B8C-83A1-F6EECF244321}">
                    <p14:modId xmlns:p14="http://schemas.microsoft.com/office/powerpoint/2010/main" val="1287074368"/>
                  </p:ext>
                </p:extLst>
              </p:nvPr>
            </p:nvGraphicFramePr>
            <p:xfrm>
              <a:off x="5035236" y="2595880"/>
              <a:ext cx="6318564" cy="3566160"/>
            </p:xfrm>
            <a:graphic>
              <a:graphicData uri="http://schemas.openxmlformats.org/drawingml/2006/table">
                <a:tbl>
                  <a:tblPr firstRow="1" bandRow="1">
                    <a:tableStyleId>{5940675A-B579-460E-94D1-54222C63F5DA}</a:tableStyleId>
                  </a:tblPr>
                  <a:tblGrid>
                    <a:gridCol w="696252">
                      <a:extLst>
                        <a:ext uri="{9D8B030D-6E8A-4147-A177-3AD203B41FA5}">
                          <a16:colId xmlns:a16="http://schemas.microsoft.com/office/drawing/2014/main" val="1709859660"/>
                        </a:ext>
                      </a:extLst>
                    </a:gridCol>
                    <a:gridCol w="1109438">
                      <a:extLst>
                        <a:ext uri="{9D8B030D-6E8A-4147-A177-3AD203B41FA5}">
                          <a16:colId xmlns:a16="http://schemas.microsoft.com/office/drawing/2014/main" val="3441740441"/>
                        </a:ext>
                      </a:extLst>
                    </a:gridCol>
                    <a:gridCol w="822460">
                      <a:extLst>
                        <a:ext uri="{9D8B030D-6E8A-4147-A177-3AD203B41FA5}">
                          <a16:colId xmlns:a16="http://schemas.microsoft.com/office/drawing/2014/main" val="2705658812"/>
                        </a:ext>
                      </a:extLst>
                    </a:gridCol>
                    <a:gridCol w="555733">
                      <a:extLst>
                        <a:ext uri="{9D8B030D-6E8A-4147-A177-3AD203B41FA5}">
                          <a16:colId xmlns:a16="http://schemas.microsoft.com/office/drawing/2014/main" val="3883677733"/>
                        </a:ext>
                      </a:extLst>
                    </a:gridCol>
                    <a:gridCol w="868331">
                      <a:extLst>
                        <a:ext uri="{9D8B030D-6E8A-4147-A177-3AD203B41FA5}">
                          <a16:colId xmlns:a16="http://schemas.microsoft.com/office/drawing/2014/main" val="3464686749"/>
                        </a:ext>
                      </a:extLst>
                    </a:gridCol>
                    <a:gridCol w="625199">
                      <a:extLst>
                        <a:ext uri="{9D8B030D-6E8A-4147-A177-3AD203B41FA5}">
                          <a16:colId xmlns:a16="http://schemas.microsoft.com/office/drawing/2014/main" val="2359465122"/>
                        </a:ext>
                      </a:extLst>
                    </a:gridCol>
                    <a:gridCol w="810443">
                      <a:extLst>
                        <a:ext uri="{9D8B030D-6E8A-4147-A177-3AD203B41FA5}">
                          <a16:colId xmlns:a16="http://schemas.microsoft.com/office/drawing/2014/main" val="2261216985"/>
                        </a:ext>
                      </a:extLst>
                    </a:gridCol>
                    <a:gridCol w="830708">
                      <a:extLst>
                        <a:ext uri="{9D8B030D-6E8A-4147-A177-3AD203B41FA5}">
                          <a16:colId xmlns:a16="http://schemas.microsoft.com/office/drawing/2014/main" val="2537795203"/>
                        </a:ext>
                      </a:extLst>
                    </a:gridCol>
                  </a:tblGrid>
                  <a:tr h="370840">
                    <a:tc>
                      <a:txBody>
                        <a:bodyPr/>
                        <a:lstStyle/>
                        <a:p>
                          <a:endParaRPr lang="es-ES"/>
                        </a:p>
                      </a:txBody>
                      <a:tcPr anchor="ctr">
                        <a:blipFill>
                          <a:blip r:embed="rId2"/>
                          <a:stretch>
                            <a:fillRect l="-877" t="-1639" r="-812281" b="-870492"/>
                          </a:stretch>
                        </a:blipFill>
                      </a:tcPr>
                    </a:tc>
                    <a:tc>
                      <a:txBody>
                        <a:bodyPr/>
                        <a:lstStyle/>
                        <a:p>
                          <a:endParaRPr lang="es-ES"/>
                        </a:p>
                      </a:txBody>
                      <a:tcPr anchor="ctr">
                        <a:blipFill>
                          <a:blip r:embed="rId2"/>
                          <a:stretch>
                            <a:fillRect l="-62842" t="-1639" r="-406011" b="-870492"/>
                          </a:stretch>
                        </a:blipFill>
                      </a:tcPr>
                    </a:tc>
                    <a:tc>
                      <a:txBody>
                        <a:bodyPr/>
                        <a:lstStyle/>
                        <a:p>
                          <a:endParaRPr lang="es-ES"/>
                        </a:p>
                      </a:txBody>
                      <a:tcPr anchor="ctr">
                        <a:blipFill>
                          <a:blip r:embed="rId2"/>
                          <a:stretch>
                            <a:fillRect l="-220741" t="-1639" r="-450370" b="-870492"/>
                          </a:stretch>
                        </a:blipFill>
                      </a:tcPr>
                    </a:tc>
                    <a:tc>
                      <a:txBody>
                        <a:bodyPr/>
                        <a:lstStyle/>
                        <a:p>
                          <a:endParaRPr lang="es-ES"/>
                        </a:p>
                      </a:txBody>
                      <a:tcPr anchor="ctr">
                        <a:blipFill>
                          <a:blip r:embed="rId2"/>
                          <a:stretch>
                            <a:fillRect l="-475824" t="-1639" r="-568132" b="-870492"/>
                          </a:stretch>
                        </a:blipFill>
                      </a:tcPr>
                    </a:tc>
                    <a:tc>
                      <a:txBody>
                        <a:bodyPr/>
                        <a:lstStyle/>
                        <a:p>
                          <a:endParaRPr lang="es-ES"/>
                        </a:p>
                      </a:txBody>
                      <a:tcPr anchor="ctr">
                        <a:blipFill>
                          <a:blip r:embed="rId2"/>
                          <a:stretch>
                            <a:fillRect l="-366434" t="-1639" r="-261538" b="-870492"/>
                          </a:stretch>
                        </a:blipFill>
                      </a:tcPr>
                    </a:tc>
                    <a:tc>
                      <a:txBody>
                        <a:bodyPr/>
                        <a:lstStyle/>
                        <a:p>
                          <a:endParaRPr lang="es-ES"/>
                        </a:p>
                      </a:txBody>
                      <a:tcPr anchor="ctr">
                        <a:blipFill>
                          <a:blip r:embed="rId2"/>
                          <a:stretch>
                            <a:fillRect l="-653922" t="-1639" r="-266667" b="-870492"/>
                          </a:stretch>
                        </a:blipFill>
                      </a:tcPr>
                    </a:tc>
                    <a:tc>
                      <a:txBody>
                        <a:bodyPr/>
                        <a:lstStyle/>
                        <a:p>
                          <a:endParaRPr lang="es-ES"/>
                        </a:p>
                      </a:txBody>
                      <a:tcPr anchor="ctr">
                        <a:blipFill>
                          <a:blip r:embed="rId2"/>
                          <a:stretch>
                            <a:fillRect l="-573881" t="-1639" r="-102985" b="-870492"/>
                          </a:stretch>
                        </a:blipFill>
                      </a:tcPr>
                    </a:tc>
                    <a:tc>
                      <a:txBody>
                        <a:bodyPr/>
                        <a:lstStyle/>
                        <a:p>
                          <a:endParaRPr lang="es-ES"/>
                        </a:p>
                      </a:txBody>
                      <a:tcPr anchor="ctr">
                        <a:blipFill>
                          <a:blip r:embed="rId2"/>
                          <a:stretch>
                            <a:fillRect l="-663971" t="-1639" r="-1471" b="-870492"/>
                          </a:stretch>
                        </a:blipFill>
                      </a:tcPr>
                    </a:tc>
                    <a:extLst>
                      <a:ext uri="{0D108BD9-81ED-4DB2-BD59-A6C34878D82A}">
                        <a16:rowId xmlns:a16="http://schemas.microsoft.com/office/drawing/2014/main" val="1876346771"/>
                      </a:ext>
                    </a:extLst>
                  </a:tr>
                  <a:tr h="619760">
                    <a:tc>
                      <a:txBody>
                        <a:bodyPr/>
                        <a:lstStyle/>
                        <a:p>
                          <a:endParaRPr lang="es-ES"/>
                        </a:p>
                      </a:txBody>
                      <a:tcPr anchor="ctr">
                        <a:blipFill>
                          <a:blip r:embed="rId2"/>
                          <a:stretch>
                            <a:fillRect l="-877" t="-60784" r="-812281" b="-420588"/>
                          </a:stretch>
                        </a:blipFill>
                      </a:tcPr>
                    </a:tc>
                    <a:tc>
                      <a:txBody>
                        <a:bodyPr/>
                        <a:lstStyle/>
                        <a:p>
                          <a:endParaRPr lang="es-ES"/>
                        </a:p>
                      </a:txBody>
                      <a:tcPr anchor="ctr">
                        <a:blipFill>
                          <a:blip r:embed="rId2"/>
                          <a:stretch>
                            <a:fillRect l="-62842" t="-60784" r="-406011" b="-420588"/>
                          </a:stretch>
                        </a:blipFill>
                      </a:tcPr>
                    </a:tc>
                    <a:tc>
                      <a:txBody>
                        <a:bodyPr/>
                        <a:lstStyle/>
                        <a:p>
                          <a:endParaRPr lang="es-ES"/>
                        </a:p>
                      </a:txBody>
                      <a:tcPr anchor="ctr">
                        <a:blipFill>
                          <a:blip r:embed="rId2"/>
                          <a:stretch>
                            <a:fillRect l="-220741" t="-60784" r="-450370" b="-420588"/>
                          </a:stretch>
                        </a:blipFill>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s-ES" sz="1400" dirty="0"/>
                            <a:t>…</a:t>
                          </a:r>
                        </a:p>
                      </a:txBody>
                      <a:tcPr marL="68580" marR="68580" marT="0" marB="0" anchor="ctr"/>
                    </a:tc>
                    <a:tc>
                      <a:txBody>
                        <a:bodyPr/>
                        <a:lstStyle/>
                        <a:p>
                          <a:endParaRPr lang="es-ES"/>
                        </a:p>
                      </a:txBody>
                      <a:tcPr anchor="ctr">
                        <a:blipFill>
                          <a:blip r:embed="rId2"/>
                          <a:stretch>
                            <a:fillRect l="-366434" t="-60784" r="-261538" b="-420588"/>
                          </a:stretch>
                        </a:blipFill>
                      </a:tcPr>
                    </a:tc>
                    <a:tc>
                      <a:txBody>
                        <a:bodyPr/>
                        <a:lstStyle/>
                        <a:p>
                          <a:endParaRPr lang="es-ES"/>
                        </a:p>
                      </a:txBody>
                      <a:tcPr marL="68580" marR="68580" marT="0" marB="0" anchor="ctr">
                        <a:blipFill>
                          <a:blip r:embed="rId2"/>
                          <a:stretch>
                            <a:fillRect l="-653922" t="-60784" r="-266667" b="-420588"/>
                          </a:stretch>
                        </a:blipFill>
                      </a:tcPr>
                    </a:tc>
                    <a:tc>
                      <a:txBody>
                        <a:bodyPr/>
                        <a:lstStyle/>
                        <a:p>
                          <a:endParaRPr lang="es-ES"/>
                        </a:p>
                      </a:txBody>
                      <a:tcPr marL="68580" marR="68580" marT="0" marB="0" anchor="ctr">
                        <a:blipFill>
                          <a:blip r:embed="rId2"/>
                          <a:stretch>
                            <a:fillRect l="-573881" t="-60784" r="-102985" b="-420588"/>
                          </a:stretch>
                        </a:blipFill>
                      </a:tcPr>
                    </a:tc>
                    <a:tc>
                      <a:txBody>
                        <a:bodyPr/>
                        <a:lstStyle/>
                        <a:p>
                          <a:endParaRPr lang="es-ES"/>
                        </a:p>
                      </a:txBody>
                      <a:tcPr marL="68580" marR="68580" marT="0" marB="0" anchor="ctr">
                        <a:blipFill>
                          <a:blip r:embed="rId2"/>
                          <a:stretch>
                            <a:fillRect l="-663971" t="-60784" r="-1471" b="-420588"/>
                          </a:stretch>
                        </a:blipFill>
                      </a:tcPr>
                    </a:tc>
                    <a:extLst>
                      <a:ext uri="{0D108BD9-81ED-4DB2-BD59-A6C34878D82A}">
                        <a16:rowId xmlns:a16="http://schemas.microsoft.com/office/drawing/2014/main" val="3352149211"/>
                      </a:ext>
                    </a:extLst>
                  </a:tr>
                  <a:tr h="497840">
                    <a:tc>
                      <a:txBody>
                        <a:bodyPr/>
                        <a:lstStyle/>
                        <a:p>
                          <a:endParaRPr lang="es-ES"/>
                        </a:p>
                      </a:txBody>
                      <a:tcPr anchor="ctr">
                        <a:blipFill>
                          <a:blip r:embed="rId2"/>
                          <a:stretch>
                            <a:fillRect l="-877" t="-200000" r="-812281" b="-423171"/>
                          </a:stretch>
                        </a:blipFill>
                      </a:tcPr>
                    </a:tc>
                    <a:tc>
                      <a:txBody>
                        <a:bodyPr/>
                        <a:lstStyle/>
                        <a:p>
                          <a:endParaRPr lang="es-ES"/>
                        </a:p>
                      </a:txBody>
                      <a:tcPr anchor="ctr">
                        <a:blipFill>
                          <a:blip r:embed="rId2"/>
                          <a:stretch>
                            <a:fillRect l="-62842" t="-200000" r="-406011" b="-423171"/>
                          </a:stretch>
                        </a:blipFill>
                      </a:tcPr>
                    </a:tc>
                    <a:tc>
                      <a:txBody>
                        <a:bodyPr/>
                        <a:lstStyle/>
                        <a:p>
                          <a:endParaRPr lang="es-ES"/>
                        </a:p>
                      </a:txBody>
                      <a:tcPr anchor="ctr">
                        <a:blipFill>
                          <a:blip r:embed="rId2"/>
                          <a:stretch>
                            <a:fillRect l="-220741" t="-200000" r="-450370" b="-423171"/>
                          </a:stretch>
                        </a:blipFill>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s-ES" sz="1400" dirty="0"/>
                            <a:t>…</a:t>
                          </a:r>
                        </a:p>
                      </a:txBody>
                      <a:tcPr marL="68580" marR="68580" marT="0" marB="0" anchor="ctr"/>
                    </a:tc>
                    <a:tc>
                      <a:txBody>
                        <a:bodyPr/>
                        <a:lstStyle/>
                        <a:p>
                          <a:endParaRPr lang="es-ES"/>
                        </a:p>
                      </a:txBody>
                      <a:tcPr anchor="ctr">
                        <a:blipFill>
                          <a:blip r:embed="rId2"/>
                          <a:stretch>
                            <a:fillRect l="-366434" t="-200000" r="-261538" b="-423171"/>
                          </a:stretch>
                        </a:blipFill>
                      </a:tcPr>
                    </a:tc>
                    <a:tc>
                      <a:txBody>
                        <a:bodyPr/>
                        <a:lstStyle/>
                        <a:p>
                          <a:endParaRPr lang="es-ES"/>
                        </a:p>
                      </a:txBody>
                      <a:tcPr marL="68580" marR="68580" marT="0" marB="0" anchor="ctr">
                        <a:blipFill>
                          <a:blip r:embed="rId2"/>
                          <a:stretch>
                            <a:fillRect l="-653922" t="-200000" r="-266667" b="-423171"/>
                          </a:stretch>
                        </a:blipFill>
                      </a:tcPr>
                    </a:tc>
                    <a:tc>
                      <a:txBody>
                        <a:bodyPr/>
                        <a:lstStyle/>
                        <a:p>
                          <a:endParaRPr lang="es-ES"/>
                        </a:p>
                      </a:txBody>
                      <a:tcPr marL="68580" marR="68580" marT="0" marB="0" anchor="ctr">
                        <a:blipFill>
                          <a:blip r:embed="rId2"/>
                          <a:stretch>
                            <a:fillRect l="-573881" t="-200000" r="-102985" b="-423171"/>
                          </a:stretch>
                        </a:blipFill>
                      </a:tcPr>
                    </a:tc>
                    <a:tc>
                      <a:txBody>
                        <a:bodyPr/>
                        <a:lstStyle/>
                        <a:p>
                          <a:endParaRPr lang="es-ES"/>
                        </a:p>
                      </a:txBody>
                      <a:tcPr marL="68580" marR="68580" marT="0" marB="0" anchor="ctr">
                        <a:blipFill>
                          <a:blip r:embed="rId2"/>
                          <a:stretch>
                            <a:fillRect l="-663971" t="-200000" r="-1471" b="-423171"/>
                          </a:stretch>
                        </a:blipFill>
                      </a:tcPr>
                    </a:tc>
                    <a:extLst>
                      <a:ext uri="{0D108BD9-81ED-4DB2-BD59-A6C34878D82A}">
                        <a16:rowId xmlns:a16="http://schemas.microsoft.com/office/drawing/2014/main" val="202863625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1"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marL="68580" marR="68580" marT="0" marB="0" anchor="ctr"/>
                    </a:tc>
                    <a:extLst>
                      <a:ext uri="{0D108BD9-81ED-4DB2-BD59-A6C34878D82A}">
                        <a16:rowId xmlns:a16="http://schemas.microsoft.com/office/drawing/2014/main" val="3338217678"/>
                      </a:ext>
                    </a:extLst>
                  </a:tr>
                  <a:tr h="492760">
                    <a:tc>
                      <a:txBody>
                        <a:bodyPr/>
                        <a:lstStyle/>
                        <a:p>
                          <a:endParaRPr lang="es-ES"/>
                        </a:p>
                      </a:txBody>
                      <a:tcPr anchor="ctr">
                        <a:blipFill>
                          <a:blip r:embed="rId2"/>
                          <a:stretch>
                            <a:fillRect l="-877" t="-383750" r="-812281" b="-257500"/>
                          </a:stretch>
                        </a:blipFill>
                      </a:tcPr>
                    </a:tc>
                    <a:tc>
                      <a:txBody>
                        <a:bodyPr/>
                        <a:lstStyle/>
                        <a:p>
                          <a:endParaRPr lang="es-ES"/>
                        </a:p>
                      </a:txBody>
                      <a:tcPr anchor="ctr">
                        <a:blipFill>
                          <a:blip r:embed="rId2"/>
                          <a:stretch>
                            <a:fillRect l="-62842" t="-383750" r="-406011" b="-257500"/>
                          </a:stretch>
                        </a:blipFill>
                      </a:tcPr>
                    </a:tc>
                    <a:tc>
                      <a:txBody>
                        <a:bodyPr/>
                        <a:lstStyle/>
                        <a:p>
                          <a:endParaRPr lang="es-ES"/>
                        </a:p>
                      </a:txBody>
                      <a:tcPr anchor="ctr">
                        <a:blipFill>
                          <a:blip r:embed="rId2"/>
                          <a:stretch>
                            <a:fillRect l="-220741" t="-383750" r="-450370" b="-257500"/>
                          </a:stretch>
                        </a:blipFill>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s-ES" sz="1400" dirty="0"/>
                            <a:t>…</a:t>
                          </a:r>
                        </a:p>
                      </a:txBody>
                      <a:tcPr marL="68580" marR="68580" marT="0" marB="0" anchor="ctr"/>
                    </a:tc>
                    <a:tc>
                      <a:txBody>
                        <a:bodyPr/>
                        <a:lstStyle/>
                        <a:p>
                          <a:endParaRPr lang="es-ES"/>
                        </a:p>
                      </a:txBody>
                      <a:tcPr anchor="ctr">
                        <a:blipFill>
                          <a:blip r:embed="rId2"/>
                          <a:stretch>
                            <a:fillRect l="-366434" t="-383750" r="-261538" b="-257500"/>
                          </a:stretch>
                        </a:blipFill>
                      </a:tcPr>
                    </a:tc>
                    <a:tc>
                      <a:txBody>
                        <a:bodyPr/>
                        <a:lstStyle/>
                        <a:p>
                          <a:endParaRPr lang="es-ES"/>
                        </a:p>
                      </a:txBody>
                      <a:tcPr marL="68580" marR="68580" marT="0" marB="0" anchor="ctr">
                        <a:blipFill>
                          <a:blip r:embed="rId2"/>
                          <a:stretch>
                            <a:fillRect l="-653922" t="-383750" r="-266667" b="-257500"/>
                          </a:stretch>
                        </a:blipFill>
                      </a:tcPr>
                    </a:tc>
                    <a:tc>
                      <a:txBody>
                        <a:bodyPr/>
                        <a:lstStyle/>
                        <a:p>
                          <a:endParaRPr lang="es-ES"/>
                        </a:p>
                      </a:txBody>
                      <a:tcPr marL="68580" marR="68580" marT="0" marB="0" anchor="ctr">
                        <a:blipFill>
                          <a:blip r:embed="rId2"/>
                          <a:stretch>
                            <a:fillRect l="-573881" t="-383750" r="-102985" b="-257500"/>
                          </a:stretch>
                        </a:blipFill>
                      </a:tcPr>
                    </a:tc>
                    <a:tc>
                      <a:txBody>
                        <a:bodyPr/>
                        <a:lstStyle/>
                        <a:p>
                          <a:endParaRPr lang="es-ES"/>
                        </a:p>
                      </a:txBody>
                      <a:tcPr marL="68580" marR="68580" marT="0" marB="0" anchor="ctr">
                        <a:blipFill>
                          <a:blip r:embed="rId2"/>
                          <a:stretch>
                            <a:fillRect l="-663971" t="-383750" r="-1471" b="-257500"/>
                          </a:stretch>
                        </a:blipFill>
                      </a:tcPr>
                    </a:tc>
                    <a:extLst>
                      <a:ext uri="{0D108BD9-81ED-4DB2-BD59-A6C34878D82A}">
                        <a16:rowId xmlns:a16="http://schemas.microsoft.com/office/drawing/2014/main" val="365036747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1"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marL="68580" marR="68580" marT="0" marB="0" anchor="ctr"/>
                    </a:tc>
                    <a:extLst>
                      <a:ext uri="{0D108BD9-81ED-4DB2-BD59-A6C34878D82A}">
                        <a16:rowId xmlns:a16="http://schemas.microsoft.com/office/drawing/2014/main" val="2902693385"/>
                      </a:ext>
                    </a:extLst>
                  </a:tr>
                  <a:tr h="472440">
                    <a:tc>
                      <a:txBody>
                        <a:bodyPr/>
                        <a:lstStyle/>
                        <a:p>
                          <a:endParaRPr lang="es-ES"/>
                        </a:p>
                      </a:txBody>
                      <a:tcPr anchor="ctr">
                        <a:blipFill>
                          <a:blip r:embed="rId2"/>
                          <a:stretch>
                            <a:fillRect l="-877" t="-574359" r="-812281" b="-85897"/>
                          </a:stretch>
                        </a:blipFill>
                      </a:tcPr>
                    </a:tc>
                    <a:tc>
                      <a:txBody>
                        <a:bodyPr/>
                        <a:lstStyle/>
                        <a:p>
                          <a:endParaRPr lang="es-ES"/>
                        </a:p>
                      </a:txBody>
                      <a:tcPr anchor="ctr">
                        <a:blipFill>
                          <a:blip r:embed="rId2"/>
                          <a:stretch>
                            <a:fillRect l="-62842" t="-574359" r="-406011" b="-85897"/>
                          </a:stretch>
                        </a:blipFill>
                      </a:tcPr>
                    </a:tc>
                    <a:tc>
                      <a:txBody>
                        <a:bodyPr/>
                        <a:lstStyle/>
                        <a:p>
                          <a:endParaRPr lang="es-ES"/>
                        </a:p>
                      </a:txBody>
                      <a:tcPr anchor="ctr">
                        <a:blipFill>
                          <a:blip r:embed="rId2"/>
                          <a:stretch>
                            <a:fillRect l="-220741" t="-574359" r="-450370" b="-85897"/>
                          </a:stretch>
                        </a:blipFill>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s-ES" sz="1400" dirty="0"/>
                            <a:t>…</a:t>
                          </a:r>
                        </a:p>
                      </a:txBody>
                      <a:tcPr marL="68580" marR="68580" marT="0" marB="0" anchor="ctr"/>
                    </a:tc>
                    <a:tc>
                      <a:txBody>
                        <a:bodyPr/>
                        <a:lstStyle/>
                        <a:p>
                          <a:endParaRPr lang="es-ES"/>
                        </a:p>
                      </a:txBody>
                      <a:tcPr anchor="ctr">
                        <a:blipFill>
                          <a:blip r:embed="rId2"/>
                          <a:stretch>
                            <a:fillRect l="-366434" t="-574359" r="-261538" b="-85897"/>
                          </a:stretch>
                        </a:blipFill>
                      </a:tcPr>
                    </a:tc>
                    <a:tc>
                      <a:txBody>
                        <a:bodyPr/>
                        <a:lstStyle/>
                        <a:p>
                          <a:endParaRPr lang="es-ES"/>
                        </a:p>
                      </a:txBody>
                      <a:tcPr marL="68580" marR="68580" marT="0" marB="0" anchor="ctr">
                        <a:blipFill>
                          <a:blip r:embed="rId2"/>
                          <a:stretch>
                            <a:fillRect l="-653922" t="-574359" r="-266667" b="-85897"/>
                          </a:stretch>
                        </a:blipFill>
                      </a:tcPr>
                    </a:tc>
                    <a:tc>
                      <a:txBody>
                        <a:bodyPr/>
                        <a:lstStyle/>
                        <a:p>
                          <a:endParaRPr lang="es-ES"/>
                        </a:p>
                      </a:txBody>
                      <a:tcPr marL="68580" marR="68580" marT="0" marB="0" anchor="ctr">
                        <a:blipFill>
                          <a:blip r:embed="rId2"/>
                          <a:stretch>
                            <a:fillRect l="-573881" t="-574359" r="-102985" b="-85897"/>
                          </a:stretch>
                        </a:blipFill>
                      </a:tcPr>
                    </a:tc>
                    <a:tc>
                      <a:txBody>
                        <a:bodyPr/>
                        <a:lstStyle/>
                        <a:p>
                          <a:endParaRPr lang="es-ES"/>
                        </a:p>
                      </a:txBody>
                      <a:tcPr marL="68580" marR="68580" marT="0" marB="0" anchor="ctr">
                        <a:blipFill>
                          <a:blip r:embed="rId2"/>
                          <a:stretch>
                            <a:fillRect l="-663971" t="-574359" r="-1471" b="-85897"/>
                          </a:stretch>
                        </a:blipFill>
                      </a:tcPr>
                    </a:tc>
                    <a:extLst>
                      <a:ext uri="{0D108BD9-81ED-4DB2-BD59-A6C34878D82A}">
                        <a16:rowId xmlns:a16="http://schemas.microsoft.com/office/drawing/2014/main" val="3468268460"/>
                      </a:ext>
                    </a:extLst>
                  </a:tr>
                  <a:tr h="370840">
                    <a:tc>
                      <a:txBody>
                        <a:bodyPr/>
                        <a:lstStyle/>
                        <a:p>
                          <a:endParaRPr lang="es-ES"/>
                        </a:p>
                      </a:txBody>
                      <a:tcPr anchor="ctr">
                        <a:blipFill>
                          <a:blip r:embed="rId2"/>
                          <a:stretch>
                            <a:fillRect l="-877" t="-862295" r="-812281" b="-9836"/>
                          </a:stretch>
                        </a:blipFill>
                      </a:tcPr>
                    </a:tc>
                    <a:tc>
                      <a:txBody>
                        <a:bodyPr/>
                        <a:lstStyle/>
                        <a:p>
                          <a:endParaRPr lang="es-ES"/>
                        </a:p>
                      </a:txBody>
                      <a:tcPr anchor="ctr">
                        <a:blipFill>
                          <a:blip r:embed="rId2"/>
                          <a:stretch>
                            <a:fillRect l="-62842" t="-862295" r="-406011" b="-9836"/>
                          </a:stretch>
                        </a:blipFill>
                      </a:tcPr>
                    </a:tc>
                    <a:tc>
                      <a:txBody>
                        <a:bodyPr/>
                        <a:lstStyle/>
                        <a:p>
                          <a:endParaRPr lang="es-ES"/>
                        </a:p>
                      </a:txBody>
                      <a:tcPr anchor="ctr">
                        <a:blipFill>
                          <a:blip r:embed="rId2"/>
                          <a:stretch>
                            <a:fillRect l="-220741" t="-862295" r="-450370" b="-9836"/>
                          </a:stretch>
                        </a:blipFill>
                      </a:tcPr>
                    </a:tc>
                    <a:tc>
                      <a:txBody>
                        <a:bodyPr/>
                        <a:lstStyle/>
                        <a:p>
                          <a:pPr algn="ctr">
                            <a:lnSpc>
                              <a:spcPct val="107000"/>
                            </a:lnSpc>
                            <a:spcAft>
                              <a:spcPts val="800"/>
                            </a:spcAft>
                          </a:pPr>
                          <a:r>
                            <a:rPr lang="es-ES" sz="1200" kern="100" dirty="0">
                              <a:effectLst/>
                              <a:latin typeface="Calibri" panose="020F0502020204030204" pitchFamily="34" charset="0"/>
                              <a:ea typeface="Calibri" panose="020F0502020204030204" pitchFamily="34" charset="0"/>
                              <a:cs typeface="Times New Roman" panose="02020603050405020304" pitchFamily="18" charset="0"/>
                            </a:rPr>
                            <a:t>…</a:t>
                          </a:r>
                        </a:p>
                      </a:txBody>
                      <a:tcPr marL="68580" marR="68580" marT="0" marB="0" anchor="ctr"/>
                    </a:tc>
                    <a:tc>
                      <a:txBody>
                        <a:bodyPr/>
                        <a:lstStyle/>
                        <a:p>
                          <a:endParaRPr lang="es-ES"/>
                        </a:p>
                      </a:txBody>
                      <a:tcPr marL="68580" marR="68580" marT="0" marB="0" anchor="ctr">
                        <a:blipFill>
                          <a:blip r:embed="rId2"/>
                          <a:stretch>
                            <a:fillRect l="-366434" t="-862295" r="-261538" b="-9836"/>
                          </a:stretch>
                        </a:blipFill>
                      </a:tcPr>
                    </a:tc>
                    <a:tc>
                      <a:txBody>
                        <a:bodyPr/>
                        <a:lstStyle/>
                        <a:p>
                          <a:pPr algn="ctr">
                            <a:lnSpc>
                              <a:spcPct val="107000"/>
                            </a:lnSpc>
                            <a:spcAft>
                              <a:spcPts val="800"/>
                            </a:spcAft>
                          </a:pPr>
                          <a:r>
                            <a:rPr lang="es-ES" sz="1400" kern="100" dirty="0">
                              <a:effectLst/>
                              <a:latin typeface="Calibri" panose="020F0502020204030204" pitchFamily="34" charset="0"/>
                              <a:ea typeface="Calibri" panose="020F0502020204030204" pitchFamily="34" charset="0"/>
                              <a:cs typeface="Times New Roman" panose="02020603050405020304" pitchFamily="18" charset="0"/>
                            </a:rPr>
                            <a:t>…</a:t>
                          </a:r>
                        </a:p>
                      </a:txBody>
                      <a:tcPr marL="68580" marR="68580" marT="0" marB="0" anchor="ctr"/>
                    </a:tc>
                    <a:tc>
                      <a:txBody>
                        <a:bodyPr/>
                        <a:lstStyle/>
                        <a:p>
                          <a:endParaRPr lang="es-ES"/>
                        </a:p>
                      </a:txBody>
                      <a:tcPr marL="68580" marR="68580" marT="0" marB="0" anchor="ctr">
                        <a:blipFill>
                          <a:blip r:embed="rId2"/>
                          <a:stretch>
                            <a:fillRect l="-573881" t="-862295" r="-102985" b="-9836"/>
                          </a:stretch>
                        </a:blipFill>
                      </a:tcPr>
                    </a:tc>
                    <a:tc>
                      <a:txBody>
                        <a:bodyPr/>
                        <a:lstStyle/>
                        <a:p>
                          <a:endParaRPr lang="es-ES"/>
                        </a:p>
                      </a:txBody>
                      <a:tcPr marL="68580" marR="68580" marT="0" marB="0" anchor="ctr">
                        <a:blipFill>
                          <a:blip r:embed="rId2"/>
                          <a:stretch>
                            <a:fillRect l="-663971" t="-862295" r="-1471" b="-9836"/>
                          </a:stretch>
                        </a:blipFill>
                      </a:tcPr>
                    </a:tc>
                    <a:extLst>
                      <a:ext uri="{0D108BD9-81ED-4DB2-BD59-A6C34878D82A}">
                        <a16:rowId xmlns:a16="http://schemas.microsoft.com/office/drawing/2014/main" val="4148768454"/>
                      </a:ext>
                    </a:extLst>
                  </a:tr>
                </a:tbl>
              </a:graphicData>
            </a:graphic>
          </p:graphicFrame>
        </mc:Fallback>
      </mc:AlternateContent>
      <mc:AlternateContent xmlns:mc="http://schemas.openxmlformats.org/markup-compatibility/2006">
        <mc:Choice xmlns:a14="http://schemas.microsoft.com/office/drawing/2010/main" Requires="a14">
          <p:sp>
            <p:nvSpPr>
              <p:cNvPr id="9" name="Marcador de contenido 2">
                <a:extLst>
                  <a:ext uri="{FF2B5EF4-FFF2-40B4-BE49-F238E27FC236}">
                    <a16:creationId xmlns:a16="http://schemas.microsoft.com/office/drawing/2014/main" id="{35902BAA-5D78-4486-3691-8F6A59BE10B5}"/>
                  </a:ext>
                </a:extLst>
              </p:cNvPr>
              <p:cNvSpPr>
                <a:spLocks noGrp="1"/>
              </p:cNvSpPr>
              <p:nvPr>
                <p:ph idx="1"/>
              </p:nvPr>
            </p:nvSpPr>
            <p:spPr>
              <a:xfrm>
                <a:off x="838200" y="1825625"/>
                <a:ext cx="5747795" cy="4895850"/>
              </a:xfrm>
            </p:spPr>
            <p:txBody>
              <a:bodyPr>
                <a:normAutofit/>
              </a:bodyPr>
              <a:lstStyle/>
              <a:p>
                <a:r>
                  <a:rPr lang="es-ES" dirty="0"/>
                  <a:t>Se elabora la tabla de frecuencias esperadas</a:t>
                </a:r>
              </a:p>
              <a:p>
                <a:pPr lvl="1"/>
                <a14:m>
                  <m:oMath xmlns:m="http://schemas.openxmlformats.org/officeDocument/2006/math">
                    <m:acc>
                      <m:accPr>
                        <m:chr m:val="̂"/>
                        <m:ctrlPr>
                          <a:rPr lang="es-ES" i="1" smtClean="0">
                            <a:latin typeface="Cambria Math" panose="02040503050406030204" pitchFamily="18" charset="0"/>
                          </a:rPr>
                        </m:ctrlPr>
                      </m:accPr>
                      <m:e>
                        <m:r>
                          <a:rPr lang="es-ES" b="0" i="1" smtClean="0">
                            <a:latin typeface="Cambria Math" panose="02040503050406030204" pitchFamily="18" charset="0"/>
                          </a:rPr>
                          <m:t>𝐸𝑥𝑝</m:t>
                        </m:r>
                      </m:e>
                    </m:acc>
                    <m:d>
                      <m:dPr>
                        <m:ctrlPr>
                          <a:rPr lang="es-ES" b="0" i="1" smtClean="0">
                            <a:latin typeface="Cambria Math" panose="02040503050406030204" pitchFamily="18" charset="0"/>
                          </a:rPr>
                        </m:ctrlPr>
                      </m:dPr>
                      <m:e>
                        <m:r>
                          <a:rPr lang="es-ES" b="0" i="1" smtClean="0">
                            <a:latin typeface="Cambria Math" panose="02040503050406030204" pitchFamily="18" charset="0"/>
                          </a:rPr>
                          <m:t>𝑖</m:t>
                        </m:r>
                        <m:r>
                          <a:rPr lang="es-ES" b="0" i="1" smtClean="0">
                            <a:latin typeface="Cambria Math" panose="02040503050406030204" pitchFamily="18" charset="0"/>
                          </a:rPr>
                          <m:t>,</m:t>
                        </m:r>
                        <m:r>
                          <a:rPr lang="es-ES" b="0" i="1" smtClean="0">
                            <a:latin typeface="Cambria Math" panose="02040503050406030204" pitchFamily="18" charset="0"/>
                          </a:rPr>
                          <m:t>𝑗</m:t>
                        </m:r>
                      </m:e>
                    </m:d>
                    <m:r>
                      <a:rPr lang="es-ES" b="0" i="1" smtClean="0">
                        <a:latin typeface="Cambria Math" panose="02040503050406030204" pitchFamily="18" charset="0"/>
                      </a:rPr>
                      <m:t>=</m:t>
                    </m:r>
                    <m:f>
                      <m:fPr>
                        <m:ctrlPr>
                          <a:rPr lang="es-ES" b="0" i="1" smtClean="0">
                            <a:latin typeface="Cambria Math" panose="02040503050406030204" pitchFamily="18" charset="0"/>
                          </a:rPr>
                        </m:ctrlPr>
                      </m:fPr>
                      <m:num>
                        <m:d>
                          <m:dPr>
                            <m:ctrlPr>
                              <a:rPr lang="es-ES" b="0" i="1" smtClean="0">
                                <a:latin typeface="Cambria Math" panose="02040503050406030204" pitchFamily="18" charset="0"/>
                              </a:rPr>
                            </m:ctrlPr>
                          </m:dPr>
                          <m:e>
                            <m:sSub>
                              <m:sSubPr>
                                <m:ctrlPr>
                                  <a:rPr lang="es-ES" b="0" i="1" smtClean="0">
                                    <a:latin typeface="Cambria Math" panose="02040503050406030204" pitchFamily="18" charset="0"/>
                                  </a:rPr>
                                </m:ctrlPr>
                              </m:sSubPr>
                              <m:e>
                                <m:r>
                                  <a:rPr lang="es-ES" b="0" i="1" smtClean="0">
                                    <a:latin typeface="Cambria Math" panose="02040503050406030204" pitchFamily="18" charset="0"/>
                                  </a:rPr>
                                  <m:t>𝑛</m:t>
                                </m:r>
                              </m:e>
                              <m:sub>
                                <m:sSub>
                                  <m:sSubPr>
                                    <m:ctrlPr>
                                      <a:rPr lang="es-ES" b="0" i="1" smtClean="0">
                                        <a:latin typeface="Cambria Math" panose="02040503050406030204" pitchFamily="18" charset="0"/>
                                      </a:rPr>
                                    </m:ctrlPr>
                                  </m:sSubPr>
                                  <m:e>
                                    <m:r>
                                      <a:rPr lang="es-ES" b="0" i="1" smtClean="0">
                                        <a:latin typeface="Cambria Math" panose="02040503050406030204" pitchFamily="18" charset="0"/>
                                      </a:rPr>
                                      <m:t>𝐴</m:t>
                                    </m:r>
                                  </m:e>
                                  <m:sub>
                                    <m:r>
                                      <a:rPr lang="es-ES" b="0" i="1" smtClean="0">
                                        <a:latin typeface="Cambria Math" panose="02040503050406030204" pitchFamily="18" charset="0"/>
                                      </a:rPr>
                                      <m:t>𝑖</m:t>
                                    </m:r>
                                  </m:sub>
                                </m:sSub>
                              </m:sub>
                            </m:sSub>
                          </m:e>
                        </m:d>
                        <m:d>
                          <m:dPr>
                            <m:ctrlPr>
                              <a:rPr lang="es-ES" b="0" i="1" smtClean="0">
                                <a:latin typeface="Cambria Math" panose="02040503050406030204" pitchFamily="18" charset="0"/>
                              </a:rPr>
                            </m:ctrlPr>
                          </m:dPr>
                          <m:e>
                            <m:sSub>
                              <m:sSubPr>
                                <m:ctrlPr>
                                  <a:rPr lang="es-ES" b="0" i="1" smtClean="0">
                                    <a:latin typeface="Cambria Math" panose="02040503050406030204" pitchFamily="18" charset="0"/>
                                  </a:rPr>
                                </m:ctrlPr>
                              </m:sSubPr>
                              <m:e>
                                <m:r>
                                  <a:rPr lang="es-ES" b="0" i="1" smtClean="0">
                                    <a:latin typeface="Cambria Math" panose="02040503050406030204" pitchFamily="18" charset="0"/>
                                  </a:rPr>
                                  <m:t>𝑛</m:t>
                                </m:r>
                              </m:e>
                              <m:sub>
                                <m:sSub>
                                  <m:sSubPr>
                                    <m:ctrlPr>
                                      <a:rPr lang="es-ES" b="0" i="1" smtClean="0">
                                        <a:latin typeface="Cambria Math" panose="02040503050406030204" pitchFamily="18" charset="0"/>
                                      </a:rPr>
                                    </m:ctrlPr>
                                  </m:sSubPr>
                                  <m:e>
                                    <m:r>
                                      <a:rPr lang="es-ES" b="0" i="1" smtClean="0">
                                        <a:latin typeface="Cambria Math" panose="02040503050406030204" pitchFamily="18" charset="0"/>
                                      </a:rPr>
                                      <m:t>𝐵</m:t>
                                    </m:r>
                                  </m:e>
                                  <m:sub>
                                    <m:r>
                                      <a:rPr lang="es-ES" b="0" i="1" smtClean="0">
                                        <a:latin typeface="Cambria Math" panose="02040503050406030204" pitchFamily="18" charset="0"/>
                                      </a:rPr>
                                      <m:t>𝑗</m:t>
                                    </m:r>
                                  </m:sub>
                                </m:sSub>
                              </m:sub>
                            </m:sSub>
                          </m:e>
                        </m:d>
                      </m:num>
                      <m:den>
                        <m:r>
                          <a:rPr lang="es-ES" b="0" i="1" smtClean="0">
                            <a:latin typeface="Cambria Math" panose="02040503050406030204" pitchFamily="18" charset="0"/>
                          </a:rPr>
                          <m:t>𝑛</m:t>
                        </m:r>
                      </m:den>
                    </m:f>
                  </m:oMath>
                </a14:m>
                <a:endParaRPr lang="es-ES" dirty="0"/>
              </a:p>
              <a:p>
                <a:endParaRPr lang="es-ES" dirty="0"/>
              </a:p>
              <a:p>
                <a:endParaRPr lang="es-ES" dirty="0"/>
              </a:p>
            </p:txBody>
          </p:sp>
        </mc:Choice>
        <mc:Fallback>
          <p:sp>
            <p:nvSpPr>
              <p:cNvPr id="9" name="Marcador de contenido 2">
                <a:extLst>
                  <a:ext uri="{FF2B5EF4-FFF2-40B4-BE49-F238E27FC236}">
                    <a16:creationId xmlns:a16="http://schemas.microsoft.com/office/drawing/2014/main" id="{35902BAA-5D78-4486-3691-8F6A59BE10B5}"/>
                  </a:ext>
                </a:extLst>
              </p:cNvPr>
              <p:cNvSpPr>
                <a:spLocks noGrp="1" noRot="1" noChangeAspect="1" noMove="1" noResize="1" noEditPoints="1" noAdjustHandles="1" noChangeArrowheads="1" noChangeShapeType="1" noTextEdit="1"/>
              </p:cNvSpPr>
              <p:nvPr>
                <p:ph idx="1"/>
              </p:nvPr>
            </p:nvSpPr>
            <p:spPr>
              <a:xfrm>
                <a:off x="838200" y="1825625"/>
                <a:ext cx="5747795" cy="4895850"/>
              </a:xfrm>
              <a:blipFill>
                <a:blip r:embed="rId3"/>
                <a:stretch>
                  <a:fillRect l="-1911" t="-1990"/>
                </a:stretch>
              </a:blipFill>
            </p:spPr>
            <p:txBody>
              <a:bodyPr/>
              <a:lstStyle/>
              <a:p>
                <a:r>
                  <a:rPr lang="es-ES">
                    <a:noFill/>
                  </a:rPr>
                  <a:t> </a:t>
                </a:r>
              </a:p>
            </p:txBody>
          </p:sp>
        </mc:Fallback>
      </mc:AlternateContent>
    </p:spTree>
    <p:extLst>
      <p:ext uri="{BB962C8B-B14F-4D97-AF65-F5344CB8AC3E}">
        <p14:creationId xmlns:p14="http://schemas.microsoft.com/office/powerpoint/2010/main" val="16480212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E2F49-ADAB-FEF4-CCB0-1A22CE160B3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9FD2E43-8594-A423-3F35-86850C963B85}"/>
              </a:ext>
            </a:extLst>
          </p:cNvPr>
          <p:cNvSpPr>
            <a:spLocks noGrp="1"/>
          </p:cNvSpPr>
          <p:nvPr>
            <p:ph type="title"/>
          </p:nvPr>
        </p:nvSpPr>
        <p:spPr/>
        <p:txBody>
          <a:bodyPr/>
          <a:lstStyle/>
          <a:p>
            <a:r>
              <a:rPr lang="es-ES" dirty="0"/>
              <a:t>5</a:t>
            </a:r>
            <a:r>
              <a:rPr dirty="0"/>
              <a:t>. </a:t>
            </a:r>
            <a:r>
              <a:rPr dirty="0" err="1"/>
              <a:t>Regresión</a:t>
            </a:r>
            <a:r>
              <a:rPr dirty="0"/>
              <a:t> lineal simple</a:t>
            </a:r>
            <a:br>
              <a:rPr lang="es-ES" dirty="0"/>
            </a:br>
            <a:r>
              <a:rPr dirty="0" err="1"/>
              <a:t>Ejercicios</a:t>
            </a:r>
            <a:r>
              <a:rPr dirty="0"/>
              <a:t> </a:t>
            </a:r>
            <a:r>
              <a:rPr dirty="0" err="1"/>
              <a:t>propuestos</a:t>
            </a:r>
            <a:endParaRPr dirty="0"/>
          </a:p>
        </p:txBody>
      </p:sp>
      <p:sp>
        <p:nvSpPr>
          <p:cNvPr id="3" name="Marcador de contenido 2">
            <a:extLst>
              <a:ext uri="{FF2B5EF4-FFF2-40B4-BE49-F238E27FC236}">
                <a16:creationId xmlns:a16="http://schemas.microsoft.com/office/drawing/2014/main" id="{2AF77A85-3091-BCDF-7A51-D0DE4070EC84}"/>
              </a:ext>
            </a:extLst>
          </p:cNvPr>
          <p:cNvSpPr>
            <a:spLocks noGrp="1"/>
          </p:cNvSpPr>
          <p:nvPr>
            <p:ph idx="1"/>
          </p:nvPr>
        </p:nvSpPr>
        <p:spPr/>
        <p:txBody>
          <a:bodyPr>
            <a:normAutofit/>
          </a:bodyPr>
          <a:lstStyle/>
          <a:p>
            <a:r>
              <a:rPr dirty="0" err="1"/>
              <a:t>Ejercicios</a:t>
            </a:r>
            <a:r>
              <a:rPr dirty="0"/>
              <a:t> 11.1, 11.2(a), 11.3</a:t>
            </a:r>
            <a:r>
              <a:rPr lang="es-ES" dirty="0"/>
              <a:t>(</a:t>
            </a:r>
            <a:r>
              <a:rPr lang="es-ES" dirty="0" err="1"/>
              <a:t>a,c</a:t>
            </a:r>
            <a:r>
              <a:rPr lang="es-ES" dirty="0"/>
              <a:t>), 11.4(c),</a:t>
            </a:r>
            <a:r>
              <a:rPr dirty="0"/>
              <a:t> 11.8(a</a:t>
            </a:r>
            <a:r>
              <a:rPr lang="es-ES" dirty="0"/>
              <a:t>,b</a:t>
            </a:r>
            <a:r>
              <a:rPr dirty="0"/>
              <a:t>)</a:t>
            </a:r>
            <a:r>
              <a:rPr lang="es-ES" dirty="0"/>
              <a:t>, 11.10(</a:t>
            </a:r>
            <a:r>
              <a:rPr lang="es-ES" dirty="0" err="1"/>
              <a:t>a,c</a:t>
            </a:r>
            <a:r>
              <a:rPr lang="es-ES" dirty="0"/>
              <a:t>)</a:t>
            </a:r>
            <a:r>
              <a:rPr dirty="0"/>
              <a:t> del </a:t>
            </a:r>
            <a:r>
              <a:rPr dirty="0" err="1"/>
              <a:t>libro</a:t>
            </a:r>
            <a:endParaRPr dirty="0"/>
          </a:p>
          <a:p>
            <a:pPr lvl="1"/>
            <a:r>
              <a:rPr dirty="0"/>
              <a:t>La </a:t>
            </a:r>
            <a:r>
              <a:rPr dirty="0" err="1"/>
              <a:t>respuesta</a:t>
            </a:r>
            <a:r>
              <a:rPr dirty="0"/>
              <a:t> de</a:t>
            </a:r>
            <a:r>
              <a:rPr lang="es-ES" dirty="0"/>
              <a:t> los ejercicios</a:t>
            </a:r>
            <a:r>
              <a:rPr dirty="0"/>
              <a:t> 11.2</a:t>
            </a:r>
            <a:r>
              <a:rPr lang="es-ES" dirty="0"/>
              <a:t> y 11.10 </a:t>
            </a:r>
            <a:r>
              <a:rPr dirty="0" err="1"/>
              <a:t>está</a:t>
            </a:r>
            <a:r>
              <a:rPr dirty="0"/>
              <a:t> disponible en </a:t>
            </a:r>
            <a:r>
              <a:rPr lang="es-ES" dirty="0"/>
              <a:t>el libro</a:t>
            </a:r>
            <a:endParaRPr dirty="0"/>
          </a:p>
        </p:txBody>
      </p:sp>
      <p:sp>
        <p:nvSpPr>
          <p:cNvPr id="4" name="Marcador de número de diapositiva 3">
            <a:extLst>
              <a:ext uri="{FF2B5EF4-FFF2-40B4-BE49-F238E27FC236}">
                <a16:creationId xmlns:a16="http://schemas.microsoft.com/office/drawing/2014/main" id="{271C4B4E-D12B-6F26-D9CD-BE6935E0CEE3}"/>
              </a:ext>
            </a:extLst>
          </p:cNvPr>
          <p:cNvSpPr>
            <a:spLocks noGrp="1"/>
          </p:cNvSpPr>
          <p:nvPr>
            <p:ph type="sldNum" sz="quarter" idx="12"/>
          </p:nvPr>
        </p:nvSpPr>
        <p:spPr/>
        <p:txBody>
          <a:bodyPr/>
          <a:lstStyle/>
          <a:p>
            <a:fld id="{336CAFD0-1F6E-4E11-9822-836563A02839}" type="slidenum">
              <a:rPr lang="es-ES" smtClean="0"/>
              <a:t>9</a:t>
            </a:fld>
            <a:endParaRPr lang="es-ES"/>
          </a:p>
        </p:txBody>
      </p:sp>
    </p:spTree>
    <p:extLst>
      <p:ext uri="{BB962C8B-B14F-4D97-AF65-F5344CB8AC3E}">
        <p14:creationId xmlns:p14="http://schemas.microsoft.com/office/powerpoint/2010/main" val="1169557031"/>
      </p:ext>
    </p:extLst>
  </p:cSld>
  <p:clrMapOvr>
    <a:masterClrMapping/>
  </p:clrMapOvr>
  <mc:AlternateContent xmlns:mc="http://schemas.openxmlformats.org/markup-compatibility/2006" xmlns:p14="http://schemas.microsoft.com/office/powerpoint/2010/main">
    <mc:Choice Requires="p14">
      <p:transition spd="slow" p14:dur="2000" advTm="22383"/>
    </mc:Choice>
    <mc:Fallback xmlns="">
      <p:transition spd="slow" advTm="22383"/>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DC31602-0173-86DB-1B87-31E0298D1528}"/>
              </a:ext>
            </a:extLst>
          </p:cNvPr>
          <p:cNvSpPr>
            <a:spLocks noGrp="1"/>
          </p:cNvSpPr>
          <p:nvPr>
            <p:ph type="title"/>
          </p:nvPr>
        </p:nvSpPr>
        <p:spPr/>
        <p:txBody>
          <a:bodyPr/>
          <a:lstStyle/>
          <a:p>
            <a:r>
              <a:rPr lang="es-ES" dirty="0"/>
              <a:t>7</a:t>
            </a:r>
            <a:r>
              <a:rPr dirty="0"/>
              <a:t>. Resumen</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C7C24067-56F0-60D2-7DCF-60718F0077D8}"/>
                  </a:ext>
                </a:extLst>
              </p:cNvPr>
              <p:cNvSpPr>
                <a:spLocks noGrp="1"/>
              </p:cNvSpPr>
              <p:nvPr>
                <p:ph idx="1"/>
              </p:nvPr>
            </p:nvSpPr>
            <p:spPr>
              <a:xfrm>
                <a:off x="838200" y="1825624"/>
                <a:ext cx="10515600" cy="4530725"/>
              </a:xfrm>
            </p:spPr>
            <p:txBody>
              <a:bodyPr>
                <a:normAutofit fontScale="85000" lnSpcReduction="20000"/>
              </a:bodyPr>
              <a:lstStyle/>
              <a:p>
                <a:r>
                  <a:rPr lang="es-ES" dirty="0"/>
                  <a:t>Los modelos de regresión proporcionan métodos para estimar relaciones matemáticas entre una o varias variables predictoras y una variable de respuesta</a:t>
                </a:r>
              </a:p>
              <a:p>
                <a:r>
                  <a:rPr lang="es-ES" dirty="0"/>
                  <a:t>Los resultados se utilizan para explicar el comportamiento de la respuesta y para predecir su valor para cualquier nuevo conjunto de predictores</a:t>
                </a:r>
              </a:p>
              <a:p>
                <a:r>
                  <a:rPr lang="es-ES" dirty="0"/>
                  <a:t>El método de mínimos cuadrados se utiliza para estimar los parámetros de regresión</a:t>
                </a:r>
              </a:p>
              <a:p>
                <a:r>
                  <a:rPr lang="es-ES" dirty="0"/>
                  <a:t>El coeficiente de determinación (denominado R-cuadrado o </a:t>
                </a:r>
                <a14:m>
                  <m:oMath xmlns:m="http://schemas.openxmlformats.org/officeDocument/2006/math">
                    <m:sSup>
                      <m:sSupPr>
                        <m:ctrlPr>
                          <a:rPr lang="ar-AE" i="1" smtClean="0">
                            <a:latin typeface="Cambria Math" panose="02040503050406030204" pitchFamily="18" charset="0"/>
                          </a:rPr>
                        </m:ctrlPr>
                      </m:sSupPr>
                      <m:e>
                        <m:r>
                          <a:rPr lang="ar-AE" b="0" i="1" smtClean="0">
                            <a:latin typeface="Cambria Math" panose="02040503050406030204" pitchFamily="18" charset="0"/>
                          </a:rPr>
                          <m:t>𝑅</m:t>
                        </m:r>
                      </m:e>
                      <m:sup>
                        <m:r>
                          <a:rPr lang="ar-AE" b="0" i="1" smtClean="0">
                            <a:latin typeface="Cambria Math" panose="02040503050406030204" pitchFamily="18" charset="0"/>
                          </a:rPr>
                          <m:t>2</m:t>
                        </m:r>
                      </m:sup>
                    </m:sSup>
                    <m:r>
                      <a:rPr lang="ar-AE" b="0" i="1" smtClean="0">
                        <a:latin typeface="Cambria Math" panose="02040503050406030204" pitchFamily="18" charset="0"/>
                      </a:rPr>
                      <m:t>)</m:t>
                    </m:r>
                  </m:oMath>
                </a14:m>
                <a:r>
                  <a:rPr lang="ar-AE" dirty="0"/>
                  <a:t> </a:t>
                </a:r>
                <a:r>
                  <a:rPr lang="es-ES" dirty="0"/>
                  <a:t>indica la calidad del modelo de regresión</a:t>
                </a:r>
              </a:p>
              <a:p>
                <a:pPr lvl="1"/>
                <a:r>
                  <a:rPr lang="es-ES" dirty="0"/>
                  <a:t>En un modelo de regresión línea es el cuadrado del coeficiente de correlación</a:t>
                </a:r>
              </a:p>
              <a:p>
                <a:r>
                  <a:rPr lang="es-ES" dirty="0"/>
                  <a:t>Posibles predicciones</a:t>
                </a:r>
              </a:p>
              <a:p>
                <a:pPr lvl="1"/>
                <a:r>
                  <a:rPr lang="es-ES" dirty="0"/>
                  <a:t>El modelo de regresión obtiene el valor de un estimador de la variable respuesta para un valor de la variable predictora, calculando la esperanza de la variable respuesta para ese valor de la variable predictora.  </a:t>
                </a:r>
              </a:p>
              <a:p>
                <a:pPr lvl="1"/>
                <a:r>
                  <a:rPr lang="es-ES" dirty="0"/>
                  <a:t>Se </a:t>
                </a:r>
                <a:r>
                  <a:rPr lang="es-ES" dirty="0" err="1"/>
                  <a:t>pueden</a:t>
                </a:r>
                <a:r>
                  <a:rPr lang="es-ES" dirty="0"/>
                  <a:t> calcular </a:t>
                </a:r>
                <a:r>
                  <a:rPr lang="es-ES" dirty="0" err="1"/>
                  <a:t>intervalos</a:t>
                </a:r>
                <a:r>
                  <a:rPr lang="es-ES" dirty="0"/>
                  <a:t> de </a:t>
                </a:r>
                <a:r>
                  <a:rPr lang="es-ES" dirty="0" err="1"/>
                  <a:t>confianza</a:t>
                </a:r>
                <a:r>
                  <a:rPr lang="es-ES" dirty="0"/>
                  <a:t> para el valor de la variable respuesta para un valor de la variable predictora</a:t>
                </a:r>
              </a:p>
            </p:txBody>
          </p:sp>
        </mc:Choice>
        <mc:Fallback xmlns="">
          <p:sp>
            <p:nvSpPr>
              <p:cNvPr id="3" name="Marcador de contenido 2">
                <a:extLst>
                  <a:ext uri="{FF2B5EF4-FFF2-40B4-BE49-F238E27FC236}">
                    <a16:creationId xmlns:a16="http://schemas.microsoft.com/office/drawing/2014/main" id="{C7C24067-56F0-60D2-7DCF-60718F0077D8}"/>
                  </a:ext>
                </a:extLst>
              </p:cNvPr>
              <p:cNvSpPr>
                <a:spLocks noGrp="1" noRot="1" noChangeAspect="1" noMove="1" noResize="1" noEditPoints="1" noAdjustHandles="1" noChangeArrowheads="1" noChangeShapeType="1" noTextEdit="1"/>
              </p:cNvSpPr>
              <p:nvPr>
                <p:ph idx="1"/>
              </p:nvPr>
            </p:nvSpPr>
            <p:spPr>
              <a:xfrm>
                <a:off x="838200" y="1825624"/>
                <a:ext cx="10515600" cy="4530725"/>
              </a:xfrm>
              <a:blipFill>
                <a:blip r:embed="rId4"/>
                <a:stretch>
                  <a:fillRect l="-812" t="-3091" r="-1043"/>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F88EA456-A29C-8A97-B441-9F7D407B7C25}"/>
              </a:ext>
            </a:extLst>
          </p:cNvPr>
          <p:cNvSpPr>
            <a:spLocks noGrp="1"/>
          </p:cNvSpPr>
          <p:nvPr>
            <p:ph type="sldNum" sz="quarter" idx="12"/>
          </p:nvPr>
        </p:nvSpPr>
        <p:spPr/>
        <p:txBody>
          <a:bodyPr/>
          <a:lstStyle/>
          <a:p>
            <a:fld id="{336CAFD0-1F6E-4E11-9822-836563A02839}" type="slidenum">
              <a:rPr lang="es-ES" smtClean="0"/>
              <a:t>10</a:t>
            </a:fld>
            <a:endParaRPr lang="es-ES"/>
          </a:p>
        </p:txBody>
      </p:sp>
    </p:spTree>
    <p:extLst>
      <p:ext uri="{BB962C8B-B14F-4D97-AF65-F5344CB8AC3E}">
        <p14:creationId xmlns:p14="http://schemas.microsoft.com/office/powerpoint/2010/main" val="740572736"/>
      </p:ext>
    </p:extLst>
  </p:cSld>
  <p:clrMapOvr>
    <a:masterClrMapping/>
  </p:clrMapOvr>
  <mc:AlternateContent xmlns:mc="http://schemas.openxmlformats.org/markup-compatibility/2006" xmlns:p14="http://schemas.microsoft.com/office/powerpoint/2010/main">
    <mc:Choice Requires="p14">
      <p:transition spd="slow" p14:dur="2000" advTm="159743"/>
    </mc:Choice>
    <mc:Fallback xmlns="">
      <p:transition spd="slow" advTm="159743"/>
    </mc:Fallback>
  </mc:AlternateContent>
</p:sld>
</file>

<file path=ppt/theme/theme1.xml><?xml version="1.0" encoding="utf-8"?>
<a:theme xmlns:a="http://schemas.openxmlformats.org/drawingml/2006/main" name="Tema de Office">
  <a:themeElements>
    <a:clrScheme name="Personalizado 3">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00000"/>
      </a:hlink>
      <a:folHlink>
        <a:srgbClr val="000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4332</TotalTime>
  <Words>913</Words>
  <Application>Microsoft Office PowerPoint</Application>
  <PresentationFormat>Panorámica</PresentationFormat>
  <Paragraphs>203</Paragraphs>
  <Slides>10</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10</vt:i4>
      </vt:variant>
    </vt:vector>
  </HeadingPairs>
  <TitlesOfParts>
    <vt:vector size="15" baseType="lpstr">
      <vt:lpstr>Arial</vt:lpstr>
      <vt:lpstr>Calibri</vt:lpstr>
      <vt:lpstr>Calibri Light</vt:lpstr>
      <vt:lpstr>Cambria Math</vt:lpstr>
      <vt:lpstr>Tema de Office</vt:lpstr>
      <vt:lpstr>Pueba Chi cuadrado  de independencia  de variables estadísticas</vt:lpstr>
      <vt:lpstr>Contenido</vt:lpstr>
      <vt:lpstr>1. Objetivos</vt:lpstr>
      <vt:lpstr>2. Introducción Estadística descriptiva bidimensional</vt:lpstr>
      <vt:lpstr>2. Introducción Relación entre dos variables estadísticas</vt:lpstr>
      <vt:lpstr>3. Prueba Chi cuadrado Pasos</vt:lpstr>
      <vt:lpstr>3. Prueba Chi cuadrado Paso 1: Tabla de contingencia de frec. observadas</vt:lpstr>
      <vt:lpstr>3. Prueba Chi cuadrado Paso 2: Tabla de frecuencias esperadas</vt:lpstr>
      <vt:lpstr>5. Regresión lineal simple Ejercicios propuestos</vt:lpstr>
      <vt:lpstr>7. Resumen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Correlación y regresión</dc:title>
  <dc:creator/>
  <cp:lastModifiedBy>jose hilera</cp:lastModifiedBy>
  <cp:revision>120</cp:revision>
  <dcterms:created xsi:type="dcterms:W3CDTF">2022-12-26T19:51:11Z</dcterms:created>
  <dcterms:modified xsi:type="dcterms:W3CDTF">2025-09-13T23:29:02Z</dcterms:modified>
</cp:coreProperties>
</file>