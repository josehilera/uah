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2"/>
  </p:notesMasterIdLst>
  <p:sldIdLst>
    <p:sldId id="256" r:id="rId2"/>
    <p:sldId id="258" r:id="rId3"/>
    <p:sldId id="564" r:id="rId4"/>
    <p:sldId id="565" r:id="rId5"/>
    <p:sldId id="566" r:id="rId6"/>
    <p:sldId id="567" r:id="rId7"/>
    <p:sldId id="568" r:id="rId8"/>
    <p:sldId id="570" r:id="rId9"/>
    <p:sldId id="571" r:id="rId10"/>
    <p:sldId id="572" r:id="rId11"/>
    <p:sldId id="573" r:id="rId12"/>
    <p:sldId id="574" r:id="rId13"/>
    <p:sldId id="575" r:id="rId14"/>
    <p:sldId id="576" r:id="rId15"/>
    <p:sldId id="578" r:id="rId16"/>
    <p:sldId id="577" r:id="rId17"/>
    <p:sldId id="585" r:id="rId18"/>
    <p:sldId id="586" r:id="rId19"/>
    <p:sldId id="589" r:id="rId20"/>
    <p:sldId id="590" r:id="rId21"/>
    <p:sldId id="587" r:id="rId22"/>
    <p:sldId id="588" r:id="rId23"/>
    <p:sldId id="580" r:id="rId24"/>
    <p:sldId id="581" r:id="rId25"/>
    <p:sldId id="583" r:id="rId26"/>
    <p:sldId id="582" r:id="rId27"/>
    <p:sldId id="591" r:id="rId28"/>
    <p:sldId id="579" r:id="rId29"/>
    <p:sldId id="597" r:id="rId30"/>
    <p:sldId id="584" r:id="rId31"/>
    <p:sldId id="592" r:id="rId32"/>
    <p:sldId id="593" r:id="rId33"/>
    <p:sldId id="594" r:id="rId34"/>
    <p:sldId id="596" r:id="rId35"/>
    <p:sldId id="621" r:id="rId36"/>
    <p:sldId id="622" r:id="rId37"/>
    <p:sldId id="595" r:id="rId38"/>
    <p:sldId id="599" r:id="rId39"/>
    <p:sldId id="598" r:id="rId40"/>
    <p:sldId id="615" r:id="rId41"/>
    <p:sldId id="428" r:id="rId42"/>
    <p:sldId id="429" r:id="rId43"/>
    <p:sldId id="623" r:id="rId44"/>
    <p:sldId id="624" r:id="rId45"/>
    <p:sldId id="600" r:id="rId46"/>
    <p:sldId id="601" r:id="rId47"/>
    <p:sldId id="602" r:id="rId48"/>
    <p:sldId id="603" r:id="rId49"/>
    <p:sldId id="605" r:id="rId50"/>
    <p:sldId id="608" r:id="rId51"/>
    <p:sldId id="606" r:id="rId52"/>
    <p:sldId id="609" r:id="rId53"/>
    <p:sldId id="610" r:id="rId54"/>
    <p:sldId id="611" r:id="rId55"/>
    <p:sldId id="612" r:id="rId56"/>
    <p:sldId id="613" r:id="rId57"/>
    <p:sldId id="420" r:id="rId58"/>
    <p:sldId id="620" r:id="rId59"/>
    <p:sldId id="618" r:id="rId60"/>
    <p:sldId id="513" r:id="rId6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0" autoAdjust="0"/>
    <p:restoredTop sz="94809" autoAdjust="0"/>
  </p:normalViewPr>
  <p:slideViewPr>
    <p:cSldViewPr snapToGrid="0">
      <p:cViewPr varScale="1">
        <p:scale>
          <a:sx n="69" d="100"/>
          <a:sy n="69" d="100"/>
        </p:scale>
        <p:origin x="1243" y="58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993FA-F4EB-4F5C-AC0E-D19D76C7FE18}" type="datetimeFigureOut">
              <a:rPr lang="es-ES" smtClean="0"/>
              <a:t>24/07/2024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7C101-15E4-4D70-A114-C89E83A70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435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7C101-15E4-4D70-A114-C89E83A709C8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2012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7C101-15E4-4D70-A114-C89E83A709C8}" type="slidenum">
              <a:rPr lang="es-ES" smtClean="0"/>
              <a:t>33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1253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70737A-30E0-41A2-B461-25A548C91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BE166C-5633-4873-B852-3A4F5546F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39014F-1DFE-4927-921F-4E53CB687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85FDD-93E9-4DED-94FB-E13CBFB13D77}" type="datetime1">
              <a:rPr lang="es-ES" smtClean="0"/>
              <a:t>24/07/2024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3D05DA-9B6F-44F8-A333-ABA84FFE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41CCAC-F1C7-439D-A1C6-148B192BE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829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E16EB7-D1A7-4CEF-B7B0-D69F5E52A25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2099EC-4D79-4FBE-A0F3-85058A8B9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9089A4-937F-4BD1-809E-44AE307B1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566B-D29A-48B5-AE66-02FE67909A5D}" type="datetime1">
              <a:rPr lang="es-ES" smtClean="0"/>
              <a:t>24/07/2024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626FFB-669E-4FEF-AAF4-FCBE8D204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3302B3-AB25-45B7-A138-5DD3F6FD0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336CAFD0-1F6E-4E11-9822-836563A0283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32818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BB67B-96F2-4E3B-AD4B-986D490B9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A24320-D7DC-4240-B4DF-339532FE9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2E11C2-AD04-4ED6-82A4-3FD71B6FB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50F2-204D-422E-A62C-8A2A95FE0EA0}" type="datetime1">
              <a:rPr lang="es-ES" smtClean="0"/>
              <a:t>24/07/2024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0448CB-E41F-4F50-8E08-202E8756D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4FAE15-CF45-4AED-8356-CE6C9EE83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093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246AD-7BE6-483F-96A3-541DAD4B8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3C3E4F-C907-4C22-B083-DDF5EDF27F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5065CB-41D1-4202-A34D-7BB99EB78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AE56AF-AE89-4D7B-A003-4931E6EA8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0192F-D937-48F6-B938-D4FF2285D339}" type="datetime1">
              <a:rPr lang="es-ES" smtClean="0"/>
              <a:t>24/07/2024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F7D8F9-491C-4103-A8F2-5F9F0FA5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04D832-55CC-4538-B057-CA9881D9A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3882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EF558-0175-4BD0-979F-D483F1A0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74E40B-3DF7-44C5-860B-A36DE85FE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06F954-C6D4-4723-8E03-55A1E79F0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C871A73-8828-4197-ADC1-0C21128F6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33081A4-0280-4B19-9B06-BA7D80769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9340A08-2899-40F7-B8EE-A496CBD88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58F57-2DA1-4DBA-AA33-8D93DD9494F9}" type="datetime1">
              <a:rPr lang="es-ES" smtClean="0"/>
              <a:t>24/07/2024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75E94AC-0958-41A7-A416-28A3791B2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7A743E3-167E-4DC6-AF9F-963C2A2C8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1594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0C0657-7B1A-442F-A5A8-F68C547D6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20B9629-5B37-4C68-BCAF-4F204AD59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AA46-ADD9-4633-900E-54294B546C39}" type="datetime1">
              <a:rPr lang="es-ES" smtClean="0"/>
              <a:t>24/07/2024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F496A21-694B-4235-9BDF-7FA776CD6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C769F2-5C78-4519-AE94-E67F0F38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5255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3476251-88E2-4CBD-95F9-95E8112B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AD164-930E-44E1-8AD6-DA81FFB2E87B}" type="datetime1">
              <a:rPr lang="es-ES" smtClean="0"/>
              <a:t>24/07/2024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49AE1B3-12A0-41E5-8708-38E7CDE67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8E5739-F16D-4ED7-934D-15DD6F3FD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149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05BC6A-6581-45ED-97B2-665F6CC3E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6E2A75-C11D-4D21-973A-6BD6B12AB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C2970D4-7A79-4101-849B-C528055754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24EC5D-1BA5-4E28-9CF2-850714ED1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9943-A7E6-4D67-A3E5-3CC6ADA523F1}" type="datetime1">
              <a:rPr lang="es-ES" smtClean="0"/>
              <a:t>24/07/2024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84FBFE-5582-479B-A6E8-8BD08A0B9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81D782-F740-4365-8C21-A299A8B5F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506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35E2E-4483-4902-9BE4-8F6FA962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E9D67D1-94DE-4CC9-85D5-7FFF88118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44DCF8-D22F-4389-B4E4-967056334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62798B-5681-4C69-BB09-2388DA3C2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12756-8293-4ED7-8C53-E15A36E0B819}" type="datetime1">
              <a:rPr lang="es-ES" smtClean="0"/>
              <a:t>24/07/2024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B9532C-97BB-441B-B506-C25F8CF28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D157D7-9A5A-414D-A0CA-96FAE873A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893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7A50E-F7F5-4C4D-8B77-79BAEF2E5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AFBB6D-17BE-4C49-BCCF-B5C5CFE9F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9176D5-891E-44BA-B401-E3A04EAFA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88EC-7283-4406-9DFD-E99FA692D75C}" type="datetime1">
              <a:rPr lang="es-ES" smtClean="0"/>
              <a:t>24/07/2024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934A99-FA15-4D15-97E2-3E17E0383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A8D24B-343C-4B37-A9F6-33CE51FE3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1468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F92B8F-BB2D-45E5-A81C-009359D306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9973B1-2492-45DB-BA9B-BD3B59B4B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7A9D75-FCEC-47C9-AA6E-4D2F6CFF6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9286-D927-4095-B743-3451D71D767F}" type="datetime1">
              <a:rPr lang="es-ES" smtClean="0"/>
              <a:t>24/07/2024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20CC3E-8F0C-4A5B-B192-6F292AE4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C7BE2D-24E9-4481-AEB9-697A2447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3171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23CBADE-FD33-4AF1-9F6F-A44E4356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74D713-AFC9-4141-B355-05ABF7893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666BF8-72F7-4108-81B8-D74BF52FE0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AEDC6-F719-4D5C-BB7F-D599F6A812F4}" type="datetime1">
              <a:rPr lang="es-ES" smtClean="0"/>
              <a:t>24/07/2024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F725B7-4457-4323-8704-24025C493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1E65A2-2681-4AF8-8875-39AE9558A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6707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reilly.com/library-access/?next=/library/view/Probability-and-statistics/9781439875919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ologos.com/calculadora-de-la-regla-de-sturges" TargetMode="External"/><Relationship Id="rId2" Type="http://schemas.openxmlformats.org/officeDocument/2006/relationships/hyperlink" Target="https://www.stat.rice.edu/~scottdw/stat550/DEMOS/09-14-hist/Sturges1926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r-charts.com/es/distribucion/histograma-clases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proyectodescartes.org/iCartesiLibri/materiales_didacticos/IntroduccionEstadisticaProbabilidad/4ESO/Estadistica/8ProblemasResueltos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58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0.png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1.png"/><Relationship Id="rId7" Type="http://schemas.openxmlformats.org/officeDocument/2006/relationships/image" Target="../media/image40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52.png"/><Relationship Id="rId5" Type="http://schemas.openxmlformats.org/officeDocument/2006/relationships/image" Target="../media/image33.png"/><Relationship Id="rId10" Type="http://schemas.openxmlformats.org/officeDocument/2006/relationships/image" Target="../media/image50.png"/><Relationship Id="rId4" Type="http://schemas.openxmlformats.org/officeDocument/2006/relationships/image" Target="../media/image32.png"/><Relationship Id="rId9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space.co/textbooks/syllabuses/Syllabus-1160/topics/Topic-21956/subtopics/Subtopic-280098" TargetMode="Externa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proyectodescartes.org/iCartesiLibri/materiales_didacticos/IntroduccionEstadisticaProbabilidad/4ESO/Estadistica/8ProblemasResueltos.html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1.png"/><Relationship Id="rId3" Type="http://schemas.openxmlformats.org/officeDocument/2006/relationships/hyperlink" Target="https://es.wikipedia.org/wiki/Coeficiente_de_correlaci%C3%B3n_de_Spearman" TargetMode="External"/><Relationship Id="rId7" Type="http://schemas.openxmlformats.org/officeDocument/2006/relationships/image" Target="../media/image610.png"/><Relationship Id="rId2" Type="http://schemas.openxmlformats.org/officeDocument/2006/relationships/hyperlink" Target="https://es.wikipedia.org/wiki/Coeficiente_de_correlaci%C3%B3n_de_rango_de_Kendall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rpubs.com/camilamila/correlaciones" TargetMode="External"/><Relationship Id="rId5" Type="http://schemas.openxmlformats.org/officeDocument/2006/relationships/image" Target="../media/image65.png"/><Relationship Id="rId10" Type="http://schemas.openxmlformats.org/officeDocument/2006/relationships/image" Target="../media/image910.png"/><Relationship Id="rId4" Type="http://schemas.openxmlformats.org/officeDocument/2006/relationships/image" Target="../media/image64.png"/><Relationship Id="rId9" Type="http://schemas.openxmlformats.org/officeDocument/2006/relationships/image" Target="../media/image8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0.png"/><Relationship Id="rId2" Type="http://schemas.openxmlformats.org/officeDocument/2006/relationships/image" Target="../media/image8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65.png"/><Relationship Id="rId7" Type="http://schemas.openxmlformats.org/officeDocument/2006/relationships/image" Target="../media/image77.png"/><Relationship Id="rId2" Type="http://schemas.openxmlformats.org/officeDocument/2006/relationships/image" Target="../media/image7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hyperlink" Target="https://rpubs.com/camilamila/correlaciones" TargetMode="Externa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5024B-BC8C-4A3E-B772-46F3159760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Estadística descriptiva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6AD6E3-038F-4B94-A53F-314F158509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Contenidos adaptados del libro “</a:t>
            </a:r>
            <a:r>
              <a:rPr lang="en-US" dirty="0">
                <a:hlinkClick r:id="rId2"/>
              </a:rPr>
              <a:t>Probability and statistics for computer scientists, Second edition, M. Baron</a:t>
            </a:r>
            <a:r>
              <a:rPr lang="en-US" dirty="0"/>
              <a:t>” (</a:t>
            </a:r>
            <a:r>
              <a:rPr lang="en-US" dirty="0" err="1"/>
              <a:t>Capítulo</a:t>
            </a:r>
            <a:r>
              <a:rPr lang="en-US" dirty="0"/>
              <a:t> 8)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37515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4652C-29A9-89EF-39F2-1A8D69D4B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Contenidos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76B585-B497-85A0-6FF6-C94DD5F1F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dirty="0"/>
              <a:t>Objetivos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Introducción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Cálculo de medidas estadísticas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Tabla de frecuencias (no está en el libro)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Gráficos estadísticos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Estadística </a:t>
            </a:r>
            <a:r>
              <a:rPr lang="es-ES"/>
              <a:t>descriptiva bidimensional</a:t>
            </a:r>
            <a:endParaRPr lang="es-ES" dirty="0"/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Resumen</a:t>
            </a:r>
          </a:p>
          <a:p>
            <a:pPr marL="514350" indent="-514350">
              <a:buFont typeface="+mj-lt"/>
              <a:buAutoNum type="arabicPeriod"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1137E5-86B4-304F-08CB-613284F83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67162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D0A649-B111-513A-5E74-99E84A7F3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Tabla de frecuencias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72589B-D2D7-A56E-BB85-379BEB114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Una </a:t>
            </a:r>
            <a:r>
              <a:rPr lang="es-ES" b="1" dirty="0"/>
              <a:t>tabla de frecuencias </a:t>
            </a:r>
            <a:r>
              <a:rPr lang="es-ES" dirty="0"/>
              <a:t>para una variable estadística cuantitativa o cualitativa representa:</a:t>
            </a:r>
          </a:p>
          <a:p>
            <a:pPr lvl="1"/>
            <a:r>
              <a:rPr lang="es-ES" dirty="0"/>
              <a:t>el número de veces que se repite cada valor de la variable en una población o en una muestra (frecuencias absolutas),</a:t>
            </a:r>
          </a:p>
          <a:p>
            <a:pPr lvl="1"/>
            <a:r>
              <a:rPr lang="es-ES" dirty="0"/>
              <a:t>el número de veces que se repite cada valor de la variable en una población o en una muestra dividido por el total de elementos de la población o muestra (frecuencias relativas).</a:t>
            </a:r>
          </a:p>
          <a:p>
            <a:r>
              <a:rPr lang="es-ES" dirty="0"/>
              <a:t>Una </a:t>
            </a:r>
            <a:r>
              <a:rPr lang="es-ES" b="1" dirty="0"/>
              <a:t>tabla de frecuencias para datos agrupados</a:t>
            </a:r>
            <a:r>
              <a:rPr lang="es-ES" dirty="0"/>
              <a:t> en intervalos para una variable estadística cuantitativa continua o discreta representa:</a:t>
            </a:r>
          </a:p>
          <a:p>
            <a:pPr lvl="1"/>
            <a:r>
              <a:rPr lang="es-ES" dirty="0"/>
              <a:t>el número de valores que pertenecen a cada uno de los intervalos iguales en los que se haya divido el rango de la población o muestra </a:t>
            </a:r>
          </a:p>
          <a:p>
            <a:r>
              <a:rPr lang="es-ES" dirty="0"/>
              <a:t>Los intervalos se suelen denominar </a:t>
            </a:r>
            <a:r>
              <a:rPr lang="es-ES" i="1" dirty="0" err="1"/>
              <a:t>bins</a:t>
            </a:r>
            <a:r>
              <a:rPr lang="es-ES" dirty="0"/>
              <a:t> o “intervalos de clase”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0F88D0-DFF7-B20F-7D6D-DEBE64FE9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90870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3370A-2469-980D-D723-4A1E5CEF7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Tabla de frecuencias</a:t>
            </a:r>
            <a:br>
              <a:rPr lang="es-ES" dirty="0"/>
            </a:br>
            <a:r>
              <a:rPr lang="es-ES" dirty="0"/>
              <a:t>Columnas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79D29730-F0F8-E8E3-D1E4-E4D6C2D32D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77152"/>
                <a:ext cx="5618356" cy="4379198"/>
              </a:xfrm>
            </p:spPr>
            <p:txBody>
              <a:bodyPr>
                <a:normAutofit fontScale="6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s-ES" sz="2800" b="1" i="1" dirty="0" smtClean="0">
                        <a:latin typeface="Cambria Math" panose="02040503050406030204" pitchFamily="18" charset="0"/>
                      </a:rPr>
                      <m:t>𝑭𝒊𝒍𝒂</m:t>
                    </m:r>
                  </m:oMath>
                </a14:m>
                <a:r>
                  <a:rPr lang="es-ES" b="1" i="1" dirty="0">
                    <a:latin typeface="Cambria Math" panose="02040503050406030204" pitchFamily="18" charset="0"/>
                  </a:rPr>
                  <a:t>:  </a:t>
                </a:r>
                <a:r>
                  <a:rPr lang="es-ES" dirty="0"/>
                  <a:t>Número de fila de la tabla, desde la fila 1 hasta la fila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s-ES" b="1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s-ES" b="1" dirty="0"/>
                  <a:t> ó </a:t>
                </a:r>
                <a14:m>
                  <m:oMath xmlns:m="http://schemas.openxmlformats.org/officeDocument/2006/math">
                    <m:r>
                      <a:rPr lang="es-E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s-ES" dirty="0"/>
                  <a:t>: Valores diferentes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ES" dirty="0"/>
                  <a:t>) que tiene la variable estadística en la población (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ES" dirty="0"/>
                  <a:t>) o muestra (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" dirty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s-ES" dirty="0"/>
                  <a:t>: Frecuencia absoluta: número de veces que aparece cada valor en la población o muestra</a:t>
                </a:r>
              </a:p>
              <a:p>
                <a14:m>
                  <m:oMath xmlns:m="http://schemas.openxmlformats.org/officeDocument/2006/math"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es-ES" dirty="0"/>
                  <a:t>: Frecuencia relativa</a:t>
                </a:r>
              </a:p>
              <a:p>
                <a14:m>
                  <m:oMath xmlns:m="http://schemas.openxmlformats.org/officeDocument/2006/math"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s-ES" dirty="0"/>
                  <a:t>: Frecuencia absoluta acumulada</a:t>
                </a:r>
              </a:p>
              <a:p>
                <a14:m>
                  <m:oMath xmlns:m="http://schemas.openxmlformats.org/officeDocument/2006/math"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s-ES" dirty="0"/>
                  <a:t>: Frecuencia relativa acumulada</a:t>
                </a:r>
              </a:p>
              <a:p>
                <a:r>
                  <a:rPr lang="es-ES" dirty="0"/>
                  <a:t>NOTAS:</a:t>
                </a:r>
              </a:p>
              <a:p>
                <a:pPr lvl="1"/>
                <a:r>
                  <a:rPr lang="es-ES" dirty="0"/>
                  <a:t>El número de filas no es el tamaño de la población (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ES" dirty="0"/>
                  <a:t>) o de la muestra (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" dirty="0"/>
                  <a:t>), sino el número de valores diferentes de la variable en la población o muestra (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ES" dirty="0"/>
                  <a:t>). </a:t>
                </a:r>
              </a:p>
              <a:p>
                <a:pPr lvl="1"/>
                <a:r>
                  <a:rPr lang="es-ES" dirty="0"/>
                  <a:t>La suma de todas las filas de la columna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s-ES" dirty="0"/>
                  <a:t> es el tamaño de la población (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ES" dirty="0"/>
                  <a:t>) o muestra (</a:t>
                </a:r>
                <a14:m>
                  <m:oMath xmlns:m="http://schemas.openxmlformats.org/officeDocument/2006/math">
                    <m:r>
                      <a:rPr lang="es-ES" b="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" dirty="0"/>
                  <a:t>)</a:t>
                </a:r>
              </a:p>
              <a:p>
                <a:pPr lvl="1"/>
                <a:r>
                  <a:rPr lang="es-ES" dirty="0"/>
                  <a:t>La suma de todas las filas de la columna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s-ES" dirty="0"/>
                  <a:t> es 1 </a:t>
                </a:r>
              </a:p>
              <a:p>
                <a:pPr lvl="1"/>
                <a:endParaRPr lang="es-ES" dirty="0"/>
              </a:p>
              <a:p>
                <a:pPr lvl="1"/>
                <a:endParaRPr lang="es-ES" dirty="0"/>
              </a:p>
              <a:p>
                <a:pPr lvl="1"/>
                <a:endParaRPr lang="es-ES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79D29730-F0F8-E8E3-D1E4-E4D6C2D32D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77152"/>
                <a:ext cx="5618356" cy="4379198"/>
              </a:xfrm>
              <a:blipFill>
                <a:blip r:embed="rId2"/>
                <a:stretch>
                  <a:fillRect l="-760" t="-2503" r="-130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a 5">
                <a:extLst>
                  <a:ext uri="{FF2B5EF4-FFF2-40B4-BE49-F238E27FC236}">
                    <a16:creationId xmlns:a16="http://schemas.microsoft.com/office/drawing/2014/main" id="{44E59ED7-D354-4EE3-8D1B-5F90C4DE27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4983848"/>
                  </p:ext>
                </p:extLst>
              </p:nvPr>
            </p:nvGraphicFramePr>
            <p:xfrm>
              <a:off x="6456556" y="2077511"/>
              <a:ext cx="5419491" cy="36581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90014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664963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1126067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1024467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  <a:gridCol w="1058333">
                      <a:extLst>
                        <a:ext uri="{9D8B030D-6E8A-4147-A177-3AD203B41FA5}">
                          <a16:colId xmlns:a16="http://schemas.microsoft.com/office/drawing/2014/main" val="2359465122"/>
                        </a:ext>
                      </a:extLst>
                    </a:gridCol>
                    <a:gridCol w="1055647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𝑭𝒊𝒍𝒂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s-ES" sz="14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s-ES" sz="1400" b="1" dirty="0"/>
                            <a:t> ó </a:t>
                          </a:r>
                          <a14:m>
                            <m:oMath xmlns:m="http://schemas.openxmlformats.org/officeDocument/2006/math">
                              <m:r>
                                <a:rPr lang="es-ES" sz="1400" b="1" i="1" dirty="0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r>
                            <a:rPr lang="es-ES" sz="1400" b="1" dirty="0"/>
                            <a:t> 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4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ES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s-ES" sz="1400" b="0" i="0" smtClean="0">
                                        <a:latin typeface="Cambria Math" panose="02040503050406030204" pitchFamily="18" charset="0"/>
                                      </a:rPr>
                                      <m:t>ó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ES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ES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s-ES" sz="1400" b="0" i="0" smtClean="0">
                                        <a:latin typeface="Cambria Math" panose="02040503050406030204" pitchFamily="18" charset="0"/>
                                      </a:rPr>
                                      <m:t>ó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50367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02693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s-ES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ES" sz="1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s-ES" sz="1400" b="0" i="1" smtClean="0">
                                    <a:latin typeface="Cambria Math" panose="02040503050406030204" pitchFamily="18" charset="0"/>
                                  </a:rPr>
                                  <m:t> ó </m:t>
                                </m:r>
                                <m:r>
                                  <a:rPr lang="es-ES" sz="1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s-ES" sz="14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68268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=</m:t>
                                    </m:r>
                                    <m: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𝑁</m:t>
                                    </m:r>
                                    <m: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ó </m:t>
                                    </m:r>
                                    <m: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s-E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=1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s-E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a 5">
                <a:extLst>
                  <a:ext uri="{FF2B5EF4-FFF2-40B4-BE49-F238E27FC236}">
                    <a16:creationId xmlns:a16="http://schemas.microsoft.com/office/drawing/2014/main" id="{44E59ED7-D354-4EE3-8D1B-5F90C4DE27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4983848"/>
                  </p:ext>
                </p:extLst>
              </p:nvPr>
            </p:nvGraphicFramePr>
            <p:xfrm>
              <a:off x="6456556" y="2077511"/>
              <a:ext cx="5419491" cy="36581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90014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664963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1126067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1024467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  <a:gridCol w="1058333">
                      <a:extLst>
                        <a:ext uri="{9D8B030D-6E8A-4147-A177-3AD203B41FA5}">
                          <a16:colId xmlns:a16="http://schemas.microsoft.com/office/drawing/2014/main" val="2359465122"/>
                        </a:ext>
                      </a:extLst>
                    </a:gridCol>
                    <a:gridCol w="1055647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50" t="-1639" r="-1015000" b="-8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3636" t="-1639" r="-638182" b="-8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3243" t="-1639" r="-279459" b="-8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3810" t="-1639" r="-207738" b="-8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2644" t="-1639" r="-100575" b="-8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15029" t="-1639" r="-1156" b="-8885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50" t="-101639" r="-1015000" b="-7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3636" t="-101639" r="-638182" b="-7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3243" t="-101639" r="-279459" b="-7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3810" t="-101639" r="-207738" b="-7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12644" t="-101639" r="-100575" b="-7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15029" t="-101639" r="-1156" b="-7885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4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3636" t="-201639" r="-638182" b="-6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3243" t="-201639" r="-279459" b="-6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3810" t="-201639" r="-207738" b="-6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12644" t="-201639" r="-100575" b="-6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15029" t="-201639" r="-1156" b="-6885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50" t="-301639" r="-1015000" b="-5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3636" t="-301639" r="-638182" b="-5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3243" t="-301639" r="-279459" b="-5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23810" t="-301639" r="-207738" b="-5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12644" t="-301639" r="-100575" b="-5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15029" t="-301639" r="-1156" b="-5885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777304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50" t="-192913" r="-1015000" b="-182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3636" t="-192913" r="-638182" b="-182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3243" t="-192913" r="-279459" b="-182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23810" t="-192913" r="-207738" b="-182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12644" t="-192913" r="-100575" b="-182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15029" t="-192913" r="-1156" b="-182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367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50" t="-609836" r="-1015000" b="-280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3636" t="-609836" r="-638182" b="-280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3243" t="-609836" r="-279459" b="-280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23810" t="-609836" r="-207738" b="-280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12644" t="-609836" r="-100575" b="-280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15029" t="-609836" r="-1156" b="-2803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2693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50" t="-709836" r="-1015000" b="-180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3636" t="-709836" r="-638182" b="-180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3243" t="-709836" r="-279459" b="-180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3810" t="-709836" r="-207738" b="-180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12644" t="-709836" r="-100575" b="-180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15029" t="-709836" r="-1156" b="-1803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8268460"/>
                      </a:ext>
                    </a:extLst>
                  </a:tr>
                  <a:tr h="655828">
                    <a:tc>
                      <a:txBody>
                        <a:bodyPr/>
                        <a:lstStyle/>
                        <a:p>
                          <a:pPr algn="ctr"/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3243" t="-457407" r="-279459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23810" t="-457407" r="-207738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E5A048-D593-7D79-AB6C-5B4B1A9B4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57001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C0584-AE2A-84C2-170F-F5C4539D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Tabla de frecuencias</a:t>
            </a:r>
            <a:br>
              <a:rPr lang="es-ES" dirty="0"/>
            </a:br>
            <a:r>
              <a:rPr lang="es-ES" dirty="0"/>
              <a:t>Ejemplo 8.12 (tiempo de CPU)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Para evaluar la efectividad de un procesador para un determinado tipo de tareas, registramos el tiempo de CPU para una muestra de 30 trabajos elegidos aleatoriamente (en segundos)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9, 15, 19, 22, 24, 25, 30, 34, 35, 35, 36, 36, 37, 38, 42, 43, 46, 48</m:t>
                        </m:r>
                        <m:r>
                          <a:rPr lang="es-ES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   54, 55, 56, 56, 59, 62, 69, 70, 82, 82, 89, 139</m:t>
                        </m:r>
                      </m:e>
                    </m:d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endParaRPr lang="es-ES" dirty="0"/>
              </a:p>
              <a:p>
                <a:r>
                  <a:rPr lang="es-ES" dirty="0"/>
                  <a:t>Calcular la tabla de frecuencias (no está en el libro)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40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2A9467-4261-594A-06F9-9BD2AD805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2023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C0584-AE2A-84C2-170F-F5C4539D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Tabla de frecuencias</a:t>
            </a:r>
            <a:br>
              <a:rPr lang="es-ES" dirty="0"/>
            </a:br>
            <a:r>
              <a:rPr lang="es-ES" dirty="0"/>
              <a:t>Ejemplo 8.12 (solución)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249723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s-ES" sz="180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sz="18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9, 15, 19, 22, 24, 25, 30, 34, 35, 35, 36, 36, 37, 38, 42, 43, 46, 48,</m:t>
                        </m:r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54, 55, 56, 56, 59, 62, 69, 70, 82, 82, 89, 139</m:t>
                        </m:r>
                      </m:e>
                    </m:d>
                  </m:oMath>
                </a14:m>
                <a:endParaRPr lang="es-ES" sz="1800" dirty="0"/>
              </a:p>
              <a:p>
                <a14:m>
                  <m:oMath xmlns:m="http://schemas.openxmlformats.org/officeDocument/2006/math"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es-ES" sz="1800" dirty="0"/>
                  <a:t> (No es el número de filas </a:t>
                </a:r>
                <a:r>
                  <a:rPr lang="es-ES" sz="1800" dirty="0">
                    <a:sym typeface="Wingdings" panose="05000000000000000000" pitchFamily="2" charset="2"/>
                  </a:rPr>
                  <a:t></a:t>
                </a:r>
                <a:r>
                  <a:rPr lang="es-ES" sz="1800" dirty="0"/>
                  <a:t> tiene 26 filas porque hay 26 valores diferentes en la muestra)</a:t>
                </a:r>
              </a:p>
              <a:p>
                <a14:m>
                  <m:oMath xmlns:m="http://schemas.openxmlformats.org/officeDocument/2006/math">
                    <m:r>
                      <a:rPr lang="es-ES" sz="1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" sz="1800" dirty="0"/>
                  <a:t> = Variable estadística “tiempo de CPU en segundos consumido por un trabajo de la muestra”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249723" cy="4351338"/>
              </a:xfrm>
              <a:blipFill>
                <a:blip r:embed="rId3"/>
                <a:stretch>
                  <a:fillRect l="-325" t="-84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2A9467-4261-594A-06F9-9BD2AD805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6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46276962-B1BD-4F81-12D6-8B233C27F4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0115387"/>
                  </p:ext>
                </p:extLst>
              </p:nvPr>
            </p:nvGraphicFramePr>
            <p:xfrm>
              <a:off x="1392044" y="2968714"/>
              <a:ext cx="9047355" cy="373659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19726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1519726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1411064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1411064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  <a:gridCol w="1411064">
                      <a:extLst>
                        <a:ext uri="{9D8B030D-6E8A-4147-A177-3AD203B41FA5}">
                          <a16:colId xmlns:a16="http://schemas.microsoft.com/office/drawing/2014/main" val="2359465122"/>
                        </a:ext>
                      </a:extLst>
                    </a:gridCol>
                    <a:gridCol w="1774711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b="1" i="1" smtClean="0">
                                    <a:latin typeface="Cambria Math" panose="02040503050406030204" pitchFamily="18" charset="0"/>
                                  </a:rPr>
                                  <m:t>𝑭𝒊𝒍𝒂</m:t>
                                </m:r>
                              </m:oMath>
                            </m:oMathPara>
                          </a14:m>
                          <a:endParaRPr lang="es-ES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s-ES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b="1" i="1" dirty="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oMath>
                            </m:oMathPara>
                          </a14:m>
                          <a:endParaRPr lang="es-ES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b="1" i="1" dirty="0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oMath>
                            </m:oMathPara>
                          </a14:m>
                          <a:endParaRPr lang="es-ES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b="1" i="1" dirty="0" smtClean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es-ES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b="1" i="1" smtClean="0"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</m:oMath>
                            </m:oMathPara>
                          </a14:m>
                          <a:endParaRPr lang="es-ES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9s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8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1/30=0.03</m:t>
                                </m:r>
                              </m:oMath>
                            </m:oMathPara>
                          </a14:m>
                          <a:endParaRPr lang="es-ES" sz="18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1/30=0.03</m:t>
                                </m:r>
                              </m:oMath>
                            </m:oMathPara>
                          </a14:m>
                          <a:endParaRPr lang="es-ES" sz="18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noProof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8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8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8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8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8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35s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2/30=0.07</m:t>
                                </m:r>
                              </m:oMath>
                            </m:oMathPara>
                          </a14:m>
                          <a:endParaRPr lang="es-ES" sz="18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10/30=0.33</m:t>
                                </m:r>
                              </m:oMath>
                            </m:oMathPara>
                          </a14:m>
                          <a:endParaRPr lang="es-ES" sz="18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3351110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36s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2/30=0.07</m:t>
                                </m:r>
                              </m:oMath>
                            </m:oMathPara>
                          </a14:m>
                          <a:endParaRPr lang="es-ES" sz="18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12/30=0.4</m:t>
                                </m:r>
                              </m:oMath>
                            </m:oMathPara>
                          </a14:m>
                          <a:endParaRPr lang="es-ES" sz="18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505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noProof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8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8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8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8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8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580361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82s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2/30=0.07</m:t>
                                </m:r>
                              </m:oMath>
                            </m:oMathPara>
                          </a14:m>
                          <a:endParaRPr lang="es-ES" sz="18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28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28/30=0.93</m:t>
                                </m:r>
                              </m:oMath>
                            </m:oMathPara>
                          </a14:m>
                          <a:endParaRPr lang="es-ES" sz="18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113768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89s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1/30=0.03</m:t>
                                </m:r>
                              </m:oMath>
                            </m:oMathPara>
                          </a14:m>
                          <a:endParaRPr lang="es-ES" sz="18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29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29/30=0.97</m:t>
                                </m:r>
                              </m:oMath>
                            </m:oMathPara>
                          </a14:m>
                          <a:endParaRPr lang="es-ES" sz="18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620406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139s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1/30=0.03</m:t>
                                </m:r>
                              </m:oMath>
                            </m:oMathPara>
                          </a14:m>
                          <a:endParaRPr lang="es-ES" sz="18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30/30=1</m:t>
                                </m:r>
                              </m:oMath>
                            </m:oMathPara>
                          </a14:m>
                          <a:endParaRPr lang="es-ES" sz="18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8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8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𝑇𝑜𝑡𝑎𝑙</m:t>
                                </m:r>
                                <m:r>
                                  <a:rPr lang="es-E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=30</m:t>
                                </m:r>
                              </m:oMath>
                            </m:oMathPara>
                          </a14:m>
                          <a:endParaRPr lang="es-ES" sz="18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𝑇𝑜𝑡𝑎𝑙</m:t>
                                </m:r>
                                <m:r>
                                  <a:rPr lang="es-E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s-ES" sz="18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8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8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498490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46276962-B1BD-4F81-12D6-8B233C27F4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0115387"/>
                  </p:ext>
                </p:extLst>
              </p:nvPr>
            </p:nvGraphicFramePr>
            <p:xfrm>
              <a:off x="1392044" y="2968714"/>
              <a:ext cx="9047355" cy="373659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19726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1519726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1411064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1411064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  <a:gridCol w="1411064">
                      <a:extLst>
                        <a:ext uri="{9D8B030D-6E8A-4147-A177-3AD203B41FA5}">
                          <a16:colId xmlns:a16="http://schemas.microsoft.com/office/drawing/2014/main" val="2359465122"/>
                        </a:ext>
                      </a:extLst>
                    </a:gridCol>
                    <a:gridCol w="1774711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02" t="-1639" r="-497189" b="-9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000" t="-1639" r="-395200" b="-9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6450" t="-1639" r="-327706" b="-9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15086" t="-1639" r="-226293" b="-9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15086" t="-1639" r="-126293" b="-9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10653" t="-1639" r="-687" b="-9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9s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16450" t="-101639" r="-327706" b="-8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15086" t="-101639" r="-226293" b="-8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10653" t="-101639" r="-687" b="-8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8493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noProof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000" t="-195238" r="-395200" b="-68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16450" t="-195238" r="-327706" b="-68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15086" t="-195238" r="-226293" b="-68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15086" t="-195238" r="-126293" b="-68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10653" t="-195238" r="-687" b="-68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35s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15086" t="-304918" r="-226293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10653" t="-304918" r="-687" b="-6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351110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36s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15086" t="-404918" r="-226293" b="-5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10653" t="-404918" r="-687" b="-5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5150"/>
                      </a:ext>
                    </a:extLst>
                  </a:tr>
                  <a:tr h="38493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noProof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000" t="-488889" r="-395200" b="-392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16450" t="-488889" r="-327706" b="-392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15086" t="-488889" r="-226293" b="-392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15086" t="-488889" r="-126293" b="-392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10653" t="-488889" r="-687" b="-3920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80361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82s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15086" t="-608197" r="-226293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28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10653" t="-608197" r="-687" b="-3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13768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89s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15086" t="-708197" r="-226293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29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10653" t="-708197" r="-687" b="-2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20406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139s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15086" t="-808197" r="-226293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10653" t="-808197" r="-687" b="-1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8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8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16450" t="-908197" r="-327706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15086" t="-908197" r="-226293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8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8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4984904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63696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C0584-AE2A-84C2-170F-F5C4539D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4. Tabla de frecuencias</a:t>
            </a:r>
            <a:br>
              <a:rPr lang="es-ES" dirty="0"/>
            </a:br>
            <a:r>
              <a:rPr lang="es-ES" dirty="0"/>
              <a:t>Ejemplo con una variable cualitativa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F62EB1-0859-80BD-1F70-7C8597355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89536"/>
          </a:xfrm>
        </p:spPr>
        <p:txBody>
          <a:bodyPr>
            <a:normAutofit lnSpcReduction="10000"/>
          </a:bodyPr>
          <a:lstStyle/>
          <a:p>
            <a:r>
              <a:rPr lang="es-ES" dirty="0"/>
              <a:t>Variable cualitativa: </a:t>
            </a:r>
          </a:p>
          <a:p>
            <a:pPr lvl="1"/>
            <a:r>
              <a:rPr lang="es-ES" dirty="0"/>
              <a:t>X = Tipo de sistema operativo del ordenador de una persona en una muestra de 10 personas: Windows, Mac o Linux</a:t>
            </a:r>
          </a:p>
          <a:p>
            <a:pPr lvl="1"/>
            <a:r>
              <a:rPr lang="es-ES" dirty="0"/>
              <a:t>S = (Windows, Windows, Mac, Linux, Windows, Mac, Mac, Windows, Linux, Windows)</a:t>
            </a:r>
          </a:p>
          <a:p>
            <a:r>
              <a:rPr lang="es-ES" dirty="0"/>
              <a:t>Tabla de frecuencias</a:t>
            </a:r>
          </a:p>
          <a:p>
            <a:pPr marL="0" indent="0">
              <a:buNone/>
            </a:pP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B51429DA-9948-D1A0-2F97-15F51BF710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4117651"/>
                  </p:ext>
                </p:extLst>
              </p:nvPr>
            </p:nvGraphicFramePr>
            <p:xfrm>
              <a:off x="1336289" y="4215161"/>
              <a:ext cx="9047355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19726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1519726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1411064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1411064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  <a:gridCol w="1411064">
                      <a:extLst>
                        <a:ext uri="{9D8B030D-6E8A-4147-A177-3AD203B41FA5}">
                          <a16:colId xmlns:a16="http://schemas.microsoft.com/office/drawing/2014/main" val="2359465122"/>
                        </a:ext>
                      </a:extLst>
                    </a:gridCol>
                    <a:gridCol w="1774711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b="1" i="1" smtClean="0">
                                    <a:latin typeface="Cambria Math" panose="02040503050406030204" pitchFamily="18" charset="0"/>
                                  </a:rPr>
                                  <m:t>𝑭𝒊𝒍𝒂</m:t>
                                </m:r>
                              </m:oMath>
                            </m:oMathPara>
                          </a14:m>
                          <a:endParaRPr lang="es-ES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s-ES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b="1" i="1" dirty="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oMath>
                            </m:oMathPara>
                          </a14:m>
                          <a:endParaRPr lang="es-ES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b="1" i="1" dirty="0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oMath>
                            </m:oMathPara>
                          </a14:m>
                          <a:endParaRPr lang="es-ES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b="1" i="1" dirty="0" smtClean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es-ES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b="1" i="1" smtClean="0"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</m:oMath>
                            </m:oMathPara>
                          </a14:m>
                          <a:endParaRPr lang="es-ES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Linux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ES" sz="18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2/10=0.2</m:t>
                                </m:r>
                              </m:oMath>
                            </m:oMathPara>
                          </a14:m>
                          <a:endParaRPr lang="es-ES" sz="18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2/10=0.2</m:t>
                                </m:r>
                              </m:oMath>
                            </m:oMathPara>
                          </a14:m>
                          <a:endParaRPr lang="es-ES" sz="18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Mac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3/10=0.3</m:t>
                                </m:r>
                              </m:oMath>
                            </m:oMathPara>
                          </a14:m>
                          <a:endParaRPr lang="es-ES" sz="18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5/10=0.5</m:t>
                                </m:r>
                              </m:oMath>
                            </m:oMathPara>
                          </a14:m>
                          <a:endParaRPr lang="es-ES" sz="18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Windows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5/10=0.5</m:t>
                                </m:r>
                              </m:oMath>
                            </m:oMathPara>
                          </a14:m>
                          <a:endParaRPr lang="es-ES" sz="18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10/10=1</m:t>
                                </m:r>
                              </m:oMath>
                            </m:oMathPara>
                          </a14:m>
                          <a:endParaRPr lang="es-ES" sz="18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663657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8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8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𝑇𝑜𝑡𝑎𝑙</m:t>
                                </m:r>
                                <m:r>
                                  <a:rPr lang="es-E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=10</m:t>
                                </m:r>
                              </m:oMath>
                            </m:oMathPara>
                          </a14:m>
                          <a:endParaRPr lang="es-ES" sz="18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𝑇𝑜𝑡𝑎𝑙</m:t>
                                </m:r>
                                <m:r>
                                  <a:rPr lang="es-ES" sz="1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s-ES" sz="18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8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8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498490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B51429DA-9948-D1A0-2F97-15F51BF710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4117651"/>
                  </p:ext>
                </p:extLst>
              </p:nvPr>
            </p:nvGraphicFramePr>
            <p:xfrm>
              <a:off x="1336289" y="4215161"/>
              <a:ext cx="9047355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19726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1519726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1411064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1411064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  <a:gridCol w="1411064">
                      <a:extLst>
                        <a:ext uri="{9D8B030D-6E8A-4147-A177-3AD203B41FA5}">
                          <a16:colId xmlns:a16="http://schemas.microsoft.com/office/drawing/2014/main" val="2359465122"/>
                        </a:ext>
                      </a:extLst>
                    </a:gridCol>
                    <a:gridCol w="1774711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2" t="-1639" r="-497189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1639" r="-395200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6450" t="-1639" r="-32770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5086" t="-1639" r="-226293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15086" t="-1639" r="-126293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10653" t="-1639" r="-687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Linux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16450" t="-101639" r="-32770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15086" t="-101639" r="-226293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10653" t="-101639" r="-687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Mac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15086" t="-201639" r="-226293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10653" t="-201639" r="-687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Windows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15086" t="-301639" r="-226293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10653" t="-301639" r="-687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63657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8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8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16450" t="-401639" r="-327706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15086" t="-401639" r="-226293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8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8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498490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2A9467-4261-594A-06F9-9BD2AD805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28229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3370A-2469-980D-D723-4A1E5CEF7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Tabla de frecuencias</a:t>
            </a:r>
            <a:br>
              <a:rPr lang="es-ES" dirty="0"/>
            </a:br>
            <a:r>
              <a:rPr lang="es-ES" dirty="0"/>
              <a:t>Tabla de frecuencias para datos agrupados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79D29730-F0F8-E8E3-D1E4-E4D6C2D32D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77151"/>
                <a:ext cx="5173133" cy="4744323"/>
              </a:xfrm>
            </p:spPr>
            <p:txBody>
              <a:bodyPr>
                <a:normAutofit fontScale="55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s-ES" sz="2800" b="1" i="1" dirty="0" smtClean="0">
                        <a:latin typeface="Cambria Math" panose="02040503050406030204" pitchFamily="18" charset="0"/>
                      </a:rPr>
                      <m:t>𝑭𝒊𝒍𝒂</m:t>
                    </m:r>
                  </m:oMath>
                </a14:m>
                <a:r>
                  <a:rPr lang="es-ES" b="1" i="1" dirty="0">
                    <a:latin typeface="Cambria Math" panose="02040503050406030204" pitchFamily="18" charset="0"/>
                  </a:rPr>
                  <a:t>:  </a:t>
                </a:r>
                <a:r>
                  <a:rPr lang="es-ES" dirty="0"/>
                  <a:t>Número de fila de la tabla, desde la fila 1 hasta la fila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s-ES" b="1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s-ES" b="1" dirty="0"/>
                  <a:t> ó </a:t>
                </a:r>
                <a14:m>
                  <m:oMath xmlns:m="http://schemas.openxmlformats.org/officeDocument/2006/math">
                    <m:r>
                      <a:rPr lang="es-E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s-ES" dirty="0"/>
                  <a:t>: Intervalos iguales (clases) en los que se ha decidido dividir el rango de valores que tiene la variable estadística en la población (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ES" dirty="0"/>
                  <a:t>) o muestra (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" dirty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𝑴𝒂𝒓𝒄𝒂</m:t>
                    </m:r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𝒅𝒆</m:t>
                    </m:r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𝒄𝒍𝒂𝒔𝒆</m:t>
                    </m:r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dirty="0"/>
                  <a:t>: Representante del intervalo (punto medio)</a:t>
                </a:r>
              </a:p>
              <a:p>
                <a14:m>
                  <m:oMath xmlns:m="http://schemas.openxmlformats.org/officeDocument/2006/math"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s-ES" dirty="0"/>
                  <a:t>: Frecuencia absoluta: número de valores de la población o muestra que pertenecen a cada intervalo</a:t>
                </a:r>
              </a:p>
              <a:p>
                <a14:m>
                  <m:oMath xmlns:m="http://schemas.openxmlformats.org/officeDocument/2006/math"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es-ES" dirty="0"/>
                  <a:t>: Frecuencia relativa</a:t>
                </a:r>
              </a:p>
              <a:p>
                <a14:m>
                  <m:oMath xmlns:m="http://schemas.openxmlformats.org/officeDocument/2006/math"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s-ES" dirty="0"/>
                  <a:t>: Frecuencia absoluta acumulada</a:t>
                </a:r>
              </a:p>
              <a:p>
                <a14:m>
                  <m:oMath xmlns:m="http://schemas.openxmlformats.org/officeDocument/2006/math"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s-ES" dirty="0"/>
                  <a:t>: Frecuencia relativa acumulada</a:t>
                </a:r>
              </a:p>
              <a:p>
                <a:r>
                  <a:rPr lang="es-ES" dirty="0"/>
                  <a:t>NOTAS:</a:t>
                </a:r>
              </a:p>
              <a:p>
                <a:pPr lvl="1"/>
                <a:r>
                  <a:rPr lang="es-ES" dirty="0"/>
                  <a:t>El número de filas no es el tamaño de la población (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ES" dirty="0"/>
                  <a:t>) o de la muestra (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" dirty="0"/>
                  <a:t>), sino el número de intervalos o clases (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ES" dirty="0"/>
                  <a:t>) en los que se ha decidido dividir el rango de la población o muestra</a:t>
                </a:r>
              </a:p>
              <a:p>
                <a:pPr lvl="1"/>
                <a:r>
                  <a:rPr lang="es-ES" dirty="0"/>
                  <a:t>La suma de todas las filas de la columna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s-ES" dirty="0"/>
                  <a:t> es el tamaño de la población (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ES" dirty="0"/>
                  <a:t>) o muestra (</a:t>
                </a:r>
                <a14:m>
                  <m:oMath xmlns:m="http://schemas.openxmlformats.org/officeDocument/2006/math">
                    <m:r>
                      <a:rPr lang="es-ES" b="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" dirty="0"/>
                  <a:t>)</a:t>
                </a:r>
              </a:p>
              <a:p>
                <a:pPr lvl="1"/>
                <a:r>
                  <a:rPr lang="es-ES" dirty="0"/>
                  <a:t>La suma de todas las filas de la columna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s-ES" dirty="0"/>
                  <a:t> es 1 </a:t>
                </a:r>
              </a:p>
              <a:p>
                <a:pPr lvl="1"/>
                <a:r>
                  <a:rPr lang="es-ES" dirty="0"/>
                  <a:t>Cada intervalo está abierto a la derecha excepto el último, para contener el valor más extremo de la población o muestra</a:t>
                </a:r>
              </a:p>
              <a:p>
                <a:pPr lvl="1"/>
                <a:r>
                  <a:rPr lang="es-ES" dirty="0"/>
                  <a:t>Los intervalos suelen denominarse clases o contenedores (</a:t>
                </a:r>
                <a:r>
                  <a:rPr lang="es-ES" i="1" dirty="0" err="1"/>
                  <a:t>bins</a:t>
                </a:r>
                <a:r>
                  <a:rPr lang="es-ES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s-ES" dirty="0"/>
              </a:p>
              <a:p>
                <a:pPr lvl="1"/>
                <a:endParaRPr lang="es-ES" dirty="0"/>
              </a:p>
              <a:p>
                <a:pPr lvl="1"/>
                <a:endParaRPr lang="es-ES" dirty="0"/>
              </a:p>
              <a:p>
                <a:pPr lvl="1"/>
                <a:endParaRPr lang="es-ES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79D29730-F0F8-E8E3-D1E4-E4D6C2D32D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77151"/>
                <a:ext cx="5173133" cy="4744323"/>
              </a:xfrm>
              <a:blipFill>
                <a:blip r:embed="rId2"/>
                <a:stretch>
                  <a:fillRect l="-354" t="-154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a 5">
                <a:extLst>
                  <a:ext uri="{FF2B5EF4-FFF2-40B4-BE49-F238E27FC236}">
                    <a16:creationId xmlns:a16="http://schemas.microsoft.com/office/drawing/2014/main" id="{44E59ED7-D354-4EE3-8D1B-5F90C4DE27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3553980"/>
                  </p:ext>
                </p:extLst>
              </p:nvPr>
            </p:nvGraphicFramePr>
            <p:xfrm>
              <a:off x="6096000" y="2077511"/>
              <a:ext cx="5926667" cy="36581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4067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889000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1159933">
                      <a:extLst>
                        <a:ext uri="{9D8B030D-6E8A-4147-A177-3AD203B41FA5}">
                          <a16:colId xmlns:a16="http://schemas.microsoft.com/office/drawing/2014/main" val="164574996"/>
                        </a:ext>
                      </a:extLst>
                    </a:gridCol>
                    <a:gridCol w="443191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1015728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  <a:gridCol w="1015728">
                      <a:extLst>
                        <a:ext uri="{9D8B030D-6E8A-4147-A177-3AD203B41FA5}">
                          <a16:colId xmlns:a16="http://schemas.microsoft.com/office/drawing/2014/main" val="2359465122"/>
                        </a:ext>
                      </a:extLst>
                    </a:gridCol>
                    <a:gridCol w="1039020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𝑭𝒊𝒍𝒂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s-ES" sz="14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s-ES" sz="1400" b="1" dirty="0"/>
                            <a:t> ó </a:t>
                          </a:r>
                          <a14:m>
                            <m:oMath xmlns:m="http://schemas.openxmlformats.org/officeDocument/2006/math">
                              <m:r>
                                <a:rPr lang="es-ES" sz="1400" b="1" i="1" dirty="0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r>
                            <a:rPr lang="es-ES" sz="1400" b="1" dirty="0"/>
                            <a:t> 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𝑴𝒂𝒓𝒄𝒂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s-E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4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s-E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s-E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br>
                            <a:rPr lang="es-ES" sz="1400" dirty="0"/>
                          </a:br>
                          <a:endParaRPr lang="es-ES" sz="1400" dirty="0"/>
                        </a:p>
                        <a:p>
                          <a:pPr algn="ctr"/>
                          <a:endParaRPr lang="es-ES" sz="80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ES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ES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ES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s-ES" sz="1400" b="0" i="0" smtClean="0">
                                        <a:latin typeface="Cambria Math" panose="02040503050406030204" pitchFamily="18" charset="0"/>
                                      </a:rPr>
                                      <m:t>ó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ES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ES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s-ES" sz="1400" b="0" i="0" smtClean="0">
                                        <a:latin typeface="Cambria Math" panose="02040503050406030204" pitchFamily="18" charset="0"/>
                                      </a:rPr>
                                      <m:t>ó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50367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02693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endChr m:val="]"/>
                                        <m:ctrlP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s-E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68268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s-E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es-ES" sz="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ES" sz="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s-ES" sz="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p>
                                  <m:e>
                                    <m:eqArr>
                                      <m:eqArrPr>
                                        <m:ctrlPr>
                                          <a:rPr lang="es-ES" sz="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eqArrPr>
                                      <m:e>
                                        <m:sSub>
                                          <m:sSubPr>
                                            <m:ctrlPr>
                                              <a:rPr lang="es-ES" sz="8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8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s-ES" sz="8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s-ES" sz="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s-ES" sz="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e>
                                      <m:e>
                                        <m:r>
                                          <a:rPr lang="es-ES" sz="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ó </m:t>
                                        </m:r>
                                        <m:r>
                                          <a:rPr lang="es-ES" sz="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e>
                                    </m:eqArr>
                                  </m:e>
                                </m:nary>
                              </m:oMath>
                            </m:oMathPara>
                          </a14:m>
                          <a:endParaRPr lang="es-ES" sz="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=1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s-E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a 5">
                <a:extLst>
                  <a:ext uri="{FF2B5EF4-FFF2-40B4-BE49-F238E27FC236}">
                    <a16:creationId xmlns:a16="http://schemas.microsoft.com/office/drawing/2014/main" id="{44E59ED7-D354-4EE3-8D1B-5F90C4DE27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3553980"/>
                  </p:ext>
                </p:extLst>
              </p:nvPr>
            </p:nvGraphicFramePr>
            <p:xfrm>
              <a:off x="6096000" y="2077511"/>
              <a:ext cx="5926667" cy="36581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4067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889000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1159933">
                      <a:extLst>
                        <a:ext uri="{9D8B030D-6E8A-4147-A177-3AD203B41FA5}">
                          <a16:colId xmlns:a16="http://schemas.microsoft.com/office/drawing/2014/main" val="164574996"/>
                        </a:ext>
                      </a:extLst>
                    </a:gridCol>
                    <a:gridCol w="443191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1015728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  <a:gridCol w="1015728">
                      <a:extLst>
                        <a:ext uri="{9D8B030D-6E8A-4147-A177-3AD203B41FA5}">
                          <a16:colId xmlns:a16="http://schemas.microsoft.com/office/drawing/2014/main" val="2359465122"/>
                        </a:ext>
                      </a:extLst>
                    </a:gridCol>
                    <a:gridCol w="1039020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3" t="-1639" r="-1525000" b="-8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2466" t="-1639" r="-526712" b="-8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9474" t="-1639" r="-304737" b="-8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45205" t="-1639" r="-693151" b="-8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2036" t="-1639" r="-202994" b="-8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84337" t="-1639" r="-104217" b="-8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70175" t="-1639" r="-1170" b="-8885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3" t="-101639" r="-1525000" b="-7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2466" t="-101639" r="-526712" b="-7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9474" t="-101639" r="-304737" b="-7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45205" t="-101639" r="-693151" b="-7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2036" t="-101639" r="-202994" b="-7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84337" t="-101639" r="-104217" b="-7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70175" t="-101639" r="-1170" b="-7885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4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2466" t="-201639" r="-526712" b="-6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9474" t="-201639" r="-304737" b="-6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45205" t="-201639" r="-693151" b="-6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2036" t="-201639" r="-202994" b="-6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84337" t="-201639" r="-104217" b="-6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70175" t="-201639" r="-1170" b="-6885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3" t="-301639" r="-1525000" b="-5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2466" t="-301639" r="-526712" b="-5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45205" t="-301639" r="-693151" b="-5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82036" t="-301639" r="-202994" b="-5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84337" t="-301639" r="-104217" b="-5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70175" t="-301639" r="-1170" b="-5885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777304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3" t="-192913" r="-1525000" b="-182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2466" t="-192913" r="-526712" b="-182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9474" t="-192913" r="-304737" b="-182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45205" t="-192913" r="-693151" b="-182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82036" t="-192913" r="-202994" b="-182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84337" t="-192913" r="-104217" b="-182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70175" t="-192913" r="-1170" b="-182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367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3" t="-609836" r="-1525000" b="-280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2466" t="-609836" r="-526712" b="-280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45205" t="-609836" r="-693151" b="-280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82036" t="-609836" r="-202994" b="-280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84337" t="-609836" r="-104217" b="-280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70175" t="-609836" r="-1170" b="-2803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2693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3" t="-709836" r="-1525000" b="-180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2466" t="-709836" r="-526712" b="-180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9474" t="-709836" r="-304737" b="-180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45205" t="-709836" r="-693151" b="-180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2036" t="-709836" r="-202994" b="-180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84337" t="-709836" r="-104217" b="-180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70175" t="-709836" r="-1170" b="-1803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8268460"/>
                      </a:ext>
                    </a:extLst>
                  </a:tr>
                  <a:tr h="655828">
                    <a:tc>
                      <a:txBody>
                        <a:bodyPr/>
                        <a:lstStyle/>
                        <a:p>
                          <a:pPr algn="ctr"/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s-E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45205" t="-457407" r="-693151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82036" t="-457407" r="-202994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E5A048-D593-7D79-AB6C-5B4B1A9B4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32193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C0584-AE2A-84C2-170F-F5C4539D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4. Tabla de frecuencias</a:t>
            </a:r>
            <a:br>
              <a:rPr lang="es-ES" dirty="0"/>
            </a:br>
            <a:r>
              <a:rPr lang="es-ES" dirty="0"/>
              <a:t>Datos agrupados. Ejemplo 8.12 (tiempo de CPU)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Para evaluar la efectividad de un procesador para un determinado tipo de tareas, registramos el tiempo de CPU para una muestra de 30 trabajos elegidos aleatoriamente (en segundos)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9, 15, 19, 22, 24, 25, 30, 34, 35, 35, 36, 36, 37, 38, 42, 43, 46, 48,   54, 55, 56, 56, 59, 62, 69, 70, 82, 82, 89, 139</m:t>
                        </m:r>
                      </m:e>
                    </m:d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endParaRPr lang="es-ES" dirty="0"/>
              </a:p>
              <a:p>
                <a:r>
                  <a:rPr lang="es-ES" dirty="0"/>
                  <a:t>Calcular la tabla de frecuencias con datos agrupados en 14 intervalos de 10 segundos (no está en el libro)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40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2A9467-4261-594A-06F9-9BD2AD805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56425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C0584-AE2A-84C2-170F-F5C4539D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Tabla de frecuencias</a:t>
            </a:r>
            <a:br>
              <a:rPr lang="es-ES" dirty="0"/>
            </a:br>
            <a:r>
              <a:rPr lang="es-ES" dirty="0"/>
              <a:t>Datos agrupados. Ejemplo 8.12 (solución)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249723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s-ES" sz="180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sz="18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9, 15, 19, 22, 24, 25, 30, 34, 35, 35, 36, 36, 37, 38, 42, 43, 46, 48,</m:t>
                        </m:r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54, 55, 56, 56, 59, 62, 69, 70, 82, 82, 89, 139</m:t>
                        </m:r>
                      </m:e>
                    </m:d>
                  </m:oMath>
                </a14:m>
                <a:endParaRPr lang="es-ES" sz="1800" dirty="0"/>
              </a:p>
              <a:p>
                <a14:m>
                  <m:oMath xmlns:m="http://schemas.openxmlformats.org/officeDocument/2006/math"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es-ES" sz="1800" dirty="0"/>
                  <a:t> (No es el número de filas </a:t>
                </a:r>
                <a:r>
                  <a:rPr lang="es-ES" sz="1800" dirty="0">
                    <a:sym typeface="Wingdings" panose="05000000000000000000" pitchFamily="2" charset="2"/>
                  </a:rPr>
                  <a:t></a:t>
                </a:r>
                <a:r>
                  <a:rPr lang="es-ES" sz="1800" dirty="0"/>
                  <a:t> tiene 14 filas porque se ha dividido en 14 intervalos de 10s cada uno</a:t>
                </a:r>
              </a:p>
              <a:p>
                <a14:m>
                  <m:oMath xmlns:m="http://schemas.openxmlformats.org/officeDocument/2006/math">
                    <m:r>
                      <a:rPr lang="es-ES" sz="1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" sz="1800" dirty="0"/>
                  <a:t> = Variable estadística “tiempo de CPU en segundos consumido por un trabajo de la muestra”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2F62EB1-0859-80BD-1F70-7C85973551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249723" cy="4351338"/>
              </a:xfrm>
              <a:blipFill>
                <a:blip r:embed="rId2"/>
                <a:stretch>
                  <a:fillRect l="-325" t="-84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46276962-B1BD-4F81-12D6-8B233C27F4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0908624"/>
                  </p:ext>
                </p:extLst>
              </p:nvPr>
            </p:nvGraphicFramePr>
            <p:xfrm>
              <a:off x="2167472" y="3155315"/>
              <a:ext cx="7120467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97484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973411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835448">
                      <a:extLst>
                        <a:ext uri="{9D8B030D-6E8A-4147-A177-3AD203B41FA5}">
                          <a16:colId xmlns:a16="http://schemas.microsoft.com/office/drawing/2014/main" val="481473112"/>
                        </a:ext>
                      </a:extLst>
                    </a:gridCol>
                    <a:gridCol w="1027064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1309526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  <a:gridCol w="778934">
                      <a:extLst>
                        <a:ext uri="{9D8B030D-6E8A-4147-A177-3AD203B41FA5}">
                          <a16:colId xmlns:a16="http://schemas.microsoft.com/office/drawing/2014/main" val="2359465122"/>
                        </a:ext>
                      </a:extLst>
                    </a:gridCol>
                    <a:gridCol w="1498600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𝑭𝒊𝒍𝒂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𝑴𝒂𝒓𝒄𝒂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1/30=0.03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1/30=0.03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10,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20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2/30=0.07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3/30=0.1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3351110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20,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30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3/30=0.1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6/30=0.2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505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30,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40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35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8/30=0.27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14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14/30=0.47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9003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noProof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noProof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580361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  <m: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130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125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0/30=0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29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29/30=0.97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620406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130,</m:t>
                                    </m:r>
                                    <m:d>
                                      <m:dPr>
                                        <m:begChr m:val=""/>
                                        <m:endChr m:val="]"/>
                                        <m:ctrlP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140</m:t>
                                        </m:r>
                                      </m:e>
                                    </m:d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1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135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1/30=0.03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30/30=1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𝑇𝑜𝑡𝑎𝑙</m:t>
                                </m:r>
                                <m:r>
                                  <a:rPr lang="es-ES" sz="14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=30</m:t>
                                </m:r>
                              </m:oMath>
                            </m:oMathPara>
                          </a14:m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𝑇𝑜𝑡𝑎𝑙</m:t>
                                </m:r>
                                <m:r>
                                  <a:rPr lang="es-ES" sz="14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498490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46276962-B1BD-4F81-12D6-8B233C27F4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0908624"/>
                  </p:ext>
                </p:extLst>
              </p:nvPr>
            </p:nvGraphicFramePr>
            <p:xfrm>
              <a:off x="2167472" y="3155315"/>
              <a:ext cx="7120467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97484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973411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835448">
                      <a:extLst>
                        <a:ext uri="{9D8B030D-6E8A-4147-A177-3AD203B41FA5}">
                          <a16:colId xmlns:a16="http://schemas.microsoft.com/office/drawing/2014/main" val="481473112"/>
                        </a:ext>
                      </a:extLst>
                    </a:gridCol>
                    <a:gridCol w="1027064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1309526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  <a:gridCol w="778934">
                      <a:extLst>
                        <a:ext uri="{9D8B030D-6E8A-4147-A177-3AD203B41FA5}">
                          <a16:colId xmlns:a16="http://schemas.microsoft.com/office/drawing/2014/main" val="2359465122"/>
                        </a:ext>
                      </a:extLst>
                    </a:gridCol>
                    <a:gridCol w="1498600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70" t="-1639" r="-918261" b="-8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2956" t="-1639" r="-564151" b="-8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730" t="-1639" r="-554745" b="-8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43787" t="-1639" r="-349704" b="-8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70233" t="-1639" r="-174884" b="-8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21875" t="-1639" r="-193750" b="-8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75610" t="-1639" r="-813" b="-8311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2956" t="-101639" r="-564151" b="-7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730" t="-101639" r="-554745" b="-7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43787" t="-101639" r="-349704" b="-7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70233" t="-101639" r="-174884" b="-7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75610" t="-101639" r="-813" b="-7311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2956" t="-201639" r="-564151" b="-6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730" t="-201639" r="-554745" b="-6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70233" t="-201639" r="-174884" b="-6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75610" t="-201639" r="-813" b="-6311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351110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2956" t="-301639" r="-564151" b="-5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730" t="-301639" r="-554745" b="-5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70233" t="-301639" r="-174884" b="-5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75610" t="-301639" r="-813" b="-5311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5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2956" t="-401639" r="-564151" b="-4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730" t="-401639" r="-554745" b="-4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70233" t="-401639" r="-174884" b="-4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14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75610" t="-401639" r="-813" b="-4311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003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noProof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2956" t="-501639" r="-564151" b="-3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noProof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43787" t="-501639" r="-349704" b="-3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70233" t="-501639" r="-174884" b="-3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21875" t="-501639" r="-193750" b="-3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75610" t="-501639" r="-813" b="-3311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80361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2956" t="-601639" r="-564151" b="-2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730" t="-601639" r="-554745" b="-2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70233" t="-601639" r="-174884" b="-2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29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75610" t="-601639" r="-813" b="-2311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20406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2956" t="-701639" r="-564151" b="-1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730" t="-701639" r="-554745" b="-1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70233" t="-701639" r="-174884" b="-1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75610" t="-701639" r="-813" b="-1311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43787" t="-801639" r="-349704" b="-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70233" t="-801639" r="-174884" b="-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498490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2A9467-4261-594A-06F9-9BD2AD805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0117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D6D071-9527-1A01-F839-AFC664921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Tabla de frecuencias</a:t>
            </a:r>
            <a:br>
              <a:rPr lang="es-ES" dirty="0"/>
            </a:br>
            <a:r>
              <a:rPr lang="es-ES" dirty="0"/>
              <a:t>Datos agrupados: Tamaño del intervalo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3DB5F70-EC46-71EF-472B-F0A4B55CA0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s-ES" dirty="0"/>
                  <a:t>Existen diferentes recomendaciones de expertos para decidir el tamaño óptimo de los intervalos</a:t>
                </a:r>
              </a:p>
              <a:p>
                <a:r>
                  <a:rPr lang="es-ES" dirty="0">
                    <a:hlinkClick r:id="rId2"/>
                  </a:rPr>
                  <a:t>Regla de Sturges</a:t>
                </a:r>
                <a:r>
                  <a:rPr lang="es-ES" dirty="0"/>
                  <a:t> (la más usada): Número de intervalos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ES" dirty="0"/>
                  <a:t> para una muestra de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" dirty="0"/>
                  <a:t> datos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1+</m:t>
                        </m:r>
                        <m:func>
                          <m:func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E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1+3,322</m:t>
                        </m:r>
                        <m:func>
                          <m:func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E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b>
                            </m:sSub>
                          </m:fName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s-ES" dirty="0"/>
                  <a:t>     </a:t>
                </a:r>
                <a:r>
                  <a:rPr lang="es-ES" sz="2200" i="1" dirty="0"/>
                  <a:t>(Redondear por exceso)</a:t>
                </a:r>
              </a:p>
              <a:p>
                <a:pPr lvl="1"/>
                <a:r>
                  <a:rPr lang="es-ES" dirty="0">
                    <a:hlinkClick r:id="rId3"/>
                  </a:rPr>
                  <a:t>Ejemplos</a:t>
                </a:r>
                <a:r>
                  <a:rPr lang="es-ES" dirty="0"/>
                  <a:t>:</a:t>
                </a:r>
              </a:p>
              <a:p>
                <a:pPr lvl="2"/>
                <a:r>
                  <a:rPr lang="es-ES" dirty="0"/>
                  <a:t>Para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=10 </m:t>
                    </m:r>
                  </m:oMath>
                </a14:m>
                <a:r>
                  <a:rPr lang="es-E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s-ES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𝑘</m:t>
                    </m:r>
                    <m:r>
                      <a:rPr lang="es-ES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=5</m:t>
                    </m:r>
                  </m:oMath>
                </a14:m>
                <a:endParaRPr lang="es-ES" dirty="0">
                  <a:sym typeface="Wingdings" panose="05000000000000000000" pitchFamily="2" charset="2"/>
                </a:endParaRPr>
              </a:p>
              <a:p>
                <a:pPr lvl="2"/>
                <a:r>
                  <a:rPr lang="es-ES" dirty="0">
                    <a:sym typeface="Wingdings" panose="05000000000000000000" pitchFamily="2" charset="2"/>
                  </a:rPr>
                  <a:t>Para </a:t>
                </a:r>
                <a14:m>
                  <m:oMath xmlns:m="http://schemas.openxmlformats.org/officeDocument/2006/math">
                    <m:r>
                      <a:rPr lang="es-E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es-E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=30 </m:t>
                    </m:r>
                  </m:oMath>
                </a14:m>
                <a:r>
                  <a:rPr lang="es-E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s-ES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𝑘</m:t>
                    </m:r>
                    <m:r>
                      <a:rPr lang="es-E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=6</m:t>
                    </m:r>
                  </m:oMath>
                </a14:m>
                <a:endParaRPr lang="es-ES" dirty="0">
                  <a:sym typeface="Wingdings" panose="05000000000000000000" pitchFamily="2" charset="2"/>
                </a:endParaRPr>
              </a:p>
              <a:p>
                <a:pPr lvl="2"/>
                <a:r>
                  <a:rPr lang="es-ES" dirty="0">
                    <a:sym typeface="Wingdings" panose="05000000000000000000" pitchFamily="2" charset="2"/>
                  </a:rPr>
                  <a:t>Para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es-E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=50 </m:t>
                    </m:r>
                  </m:oMath>
                </a14:m>
                <a:r>
                  <a:rPr lang="es-E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s-ES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𝑘</m:t>
                    </m:r>
                    <m:r>
                      <a:rPr lang="es-E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=7</m:t>
                    </m:r>
                  </m:oMath>
                </a14:m>
                <a:endParaRPr lang="es-ES" dirty="0">
                  <a:sym typeface="Wingdings" panose="05000000000000000000" pitchFamily="2" charset="2"/>
                </a:endParaRPr>
              </a:p>
              <a:p>
                <a:pPr lvl="2"/>
                <a:r>
                  <a:rPr lang="es-ES" dirty="0">
                    <a:sym typeface="Wingdings" panose="05000000000000000000" pitchFamily="2" charset="2"/>
                  </a:rPr>
                  <a:t>Para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es-E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=100 </m:t>
                    </m:r>
                  </m:oMath>
                </a14:m>
                <a:r>
                  <a:rPr lang="es-E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s-ES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𝑘</m:t>
                    </m:r>
                    <m:r>
                      <a:rPr lang="es-E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=8</m:t>
                    </m:r>
                  </m:oMath>
                </a14:m>
                <a:endParaRPr lang="es-ES" dirty="0">
                  <a:sym typeface="Wingdings" panose="05000000000000000000" pitchFamily="2" charset="2"/>
                </a:endParaRPr>
              </a:p>
              <a:p>
                <a:r>
                  <a:rPr lang="es-ES" dirty="0">
                    <a:sym typeface="Wingdings" panose="05000000000000000000" pitchFamily="2" charset="2"/>
                  </a:rPr>
                  <a:t>Existen </a:t>
                </a:r>
                <a:r>
                  <a:rPr lang="es-ES" dirty="0">
                    <a:sym typeface="Wingdings" panose="05000000000000000000" pitchFamily="2" charset="2"/>
                    <a:hlinkClick r:id="rId4"/>
                  </a:rPr>
                  <a:t>otras reglas</a:t>
                </a:r>
                <a:r>
                  <a:rPr lang="es-ES" dirty="0">
                    <a:sym typeface="Wingdings" panose="05000000000000000000" pitchFamily="2" charset="2"/>
                  </a:rPr>
                  <a:t>, como las propuestas por Scott o Freedman-</a:t>
                </a:r>
                <a:r>
                  <a:rPr lang="es-ES" dirty="0" err="1">
                    <a:sym typeface="Wingdings" panose="05000000000000000000" pitchFamily="2" charset="2"/>
                  </a:rPr>
                  <a:t>Diaconis</a:t>
                </a:r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3DB5F70-EC46-71EF-472B-F0A4B55CA0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043" t="-3081" b="-378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6F709CC-BBED-0677-051F-D761EB52A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89523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29377-1779-A04E-F06A-05B973E11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Tabla de frecuencias</a:t>
            </a:r>
            <a:br>
              <a:rPr lang="es-ES" dirty="0"/>
            </a:br>
            <a:r>
              <a:rPr lang="es-ES" dirty="0"/>
              <a:t>Cálculo de medidas estadísticas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59F3E2-11EC-3C22-A587-241499CB7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Las medidas estadísticas pueden calcularse a partir de una tabla de frecuencias </a:t>
            </a:r>
          </a:p>
          <a:p>
            <a:endParaRPr lang="es-ES" dirty="0"/>
          </a:p>
          <a:p>
            <a:pPr lvl="1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6F8E4CBF-0A66-9708-53CE-2021AE790F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0163600"/>
                  </p:ext>
                </p:extLst>
              </p:nvPr>
            </p:nvGraphicFramePr>
            <p:xfrm>
              <a:off x="1760160" y="3083655"/>
              <a:ext cx="5411107" cy="160547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94707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2142066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2074334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Medida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Poblacional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Muestral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sz="1600" dirty="0"/>
                            <a:t>Media (aritmética)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6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𝜇</m:t>
                                </m:r>
                                <m:r>
                                  <a:rPr lang="es-ES_tradnl" sz="16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𝑘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s-ES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es-ES_tradnl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ES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_tradnl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s-ES_tradnl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𝑘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ES_tradnl" sz="160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s-ES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es-ES_tradnl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68006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sz="1600" dirty="0"/>
                            <a:t>Varianza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" sz="16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_tradnl" sz="16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s-ES_tradnl" sz="16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ES_tradnl" sz="16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6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6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ES_tradnl" sz="160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b="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p>
                                          <m:sSupPr>
                                            <m:ctrlPr>
                                              <a:rPr lang="es-ES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s-ES" sz="16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s-ES" sz="16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s-ES" sz="1600" b="0" i="1" kern="10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𝑣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s-ES_tradnl" sz="16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s-ES_tradnl" sz="16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ES_tradnl" sz="16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𝜇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s-ES_tradnl" sz="1600" i="1" ker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6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6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" sz="16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_tradnl" sz="16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s-ES_tradnl" sz="16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ES_tradnl" sz="16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6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6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ES_tradnl" sz="160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b="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p>
                                          <m:sSupPr>
                                            <m:ctrlPr>
                                              <a:rPr lang="es-ES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s-ES" sz="16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s-ES" sz="16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s-ES" sz="1600" b="0" i="1" kern="10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𝑣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s-ES_tradnl" sz="16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s-ES_tradnl" sz="16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−</m:t>
                                                </m:r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s-ES" sz="16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s-ES_tradnl" sz="16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𝑋</m:t>
                                                    </m:r>
                                                  </m:e>
                                                </m:acc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s-ES_tradnl" sz="1600" i="1" ker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6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  <m:r>
                                      <a:rPr lang="es-ES_tradnl" sz="16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6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744006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6F8E4CBF-0A66-9708-53CE-2021AE790F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0163600"/>
                  </p:ext>
                </p:extLst>
              </p:nvPr>
            </p:nvGraphicFramePr>
            <p:xfrm>
              <a:off x="1760160" y="3083655"/>
              <a:ext cx="5411107" cy="160547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94707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2142066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2074334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Medida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Poblacional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Muestral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594614">
                    <a:tc>
                      <a:txBody>
                        <a:bodyPr/>
                        <a:lstStyle/>
                        <a:p>
                          <a:r>
                            <a:rPr lang="es-ES" sz="1600" dirty="0"/>
                            <a:t>Media (aritmética)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966" t="-64286" r="-97443" b="-1102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0997" t="-64286" r="-587" b="-1102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8006004"/>
                      </a:ext>
                    </a:extLst>
                  </a:tr>
                  <a:tr h="640017">
                    <a:tc>
                      <a:txBody>
                        <a:bodyPr/>
                        <a:lstStyle/>
                        <a:p>
                          <a:r>
                            <a:rPr lang="es-ES" sz="1600" dirty="0"/>
                            <a:t>Varianza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5966" t="-151887" r="-97443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60997" t="-151887" r="-587" b="-18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44006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a 5">
                <a:extLst>
                  <a:ext uri="{FF2B5EF4-FFF2-40B4-BE49-F238E27FC236}">
                    <a16:creationId xmlns:a16="http://schemas.microsoft.com/office/drawing/2014/main" id="{D84963FC-D9B6-9FF2-13B2-0D18204239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0544574"/>
                  </p:ext>
                </p:extLst>
              </p:nvPr>
            </p:nvGraphicFramePr>
            <p:xfrm>
              <a:off x="8426230" y="2517934"/>
              <a:ext cx="1817649" cy="25958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75899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672677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669073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𝑭𝒊𝒍𝒂</m:t>
                                </m:r>
                              </m:oMath>
                            </m:oMathPara>
                          </a14:m>
                          <a:endParaRPr lang="es-ES" sz="16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s-ES" sz="16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s-ES" sz="1600" b="1" dirty="0"/>
                            <a:t> o </a:t>
                          </a:r>
                          <a14:m>
                            <m:oMath xmlns:m="http://schemas.openxmlformats.org/officeDocument/2006/math">
                              <m:r>
                                <a:rPr lang="es-ES" sz="1600" b="1" i="1" dirty="0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r>
                            <a:rPr lang="es-ES" sz="1600" b="1" dirty="0"/>
                            <a:t> 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oMath>
                            </m:oMathPara>
                          </a14:m>
                          <a:endParaRPr lang="es-ES" sz="16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50367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02693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682684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a 5">
                <a:extLst>
                  <a:ext uri="{FF2B5EF4-FFF2-40B4-BE49-F238E27FC236}">
                    <a16:creationId xmlns:a16="http://schemas.microsoft.com/office/drawing/2014/main" id="{D84963FC-D9B6-9FF2-13B2-0D18204239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0544574"/>
                  </p:ext>
                </p:extLst>
              </p:nvPr>
            </p:nvGraphicFramePr>
            <p:xfrm>
              <a:off x="8426230" y="2517934"/>
              <a:ext cx="1817649" cy="25958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75899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672677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669073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82" t="-1639" r="-285897" b="-6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1171" t="-1639" r="-100901" b="-6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2727" t="-1639" r="-1818" b="-6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82" t="-101639" r="-285897" b="-5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1171" t="-101639" r="-100901" b="-5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72727" t="-101639" r="-1818" b="-5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1171" t="-201639" r="-100901" b="-4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72727" t="-201639" r="-1818" b="-4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82" t="-306667" r="-285897" b="-3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1171" t="-306667" r="-100901" b="-3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72727" t="-306667" r="-1818" b="-30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82" t="-400000" r="-285897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1171" t="-400000" r="-100901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72727" t="-400000" r="-1818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367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82" t="-500000" r="-285897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1171" t="-500000" r="-100901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72727" t="-500000" r="-1818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2693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82" t="-600000" r="-285897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1171" t="-600000" r="-10090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72727" t="-600000" r="-1818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82684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66F2BE-BCA2-DD7C-3419-942540D86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9140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29377-1779-A04E-F06A-05B973E11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4. Tabla de frecuencias</a:t>
            </a:r>
            <a:br>
              <a:rPr lang="es-ES" dirty="0"/>
            </a:br>
            <a:r>
              <a:rPr lang="es-ES" dirty="0"/>
              <a:t>Cálculo de medidas estadísticas. Datos agrupados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E59F3E2-11EC-3C22-A587-241499CB7C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" dirty="0"/>
                  <a:t>En el caso de tablas de frecuencias con datos agrupados hay que elegir un valor que represente a cada intervalo, llamado “marca de clase”</a:t>
                </a:r>
              </a:p>
              <a:p>
                <a:pPr lvl="1"/>
                <a:r>
                  <a:rPr lang="es-ES" dirty="0"/>
                  <a:t>Suele ser el punto medio del intervalo: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s-ES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E59F3E2-11EC-3C22-A587-241499CB7C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6F8E4CBF-0A66-9708-53CE-2021AE790F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7826356"/>
                  </p:ext>
                </p:extLst>
              </p:nvPr>
            </p:nvGraphicFramePr>
            <p:xfrm>
              <a:off x="1635156" y="4282503"/>
              <a:ext cx="5508026" cy="160547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35898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2108611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2063517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Medida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Poblacional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Muestral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sz="1600" dirty="0"/>
                            <a:t>Media (aritmética)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6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𝜇</m:t>
                                </m:r>
                                <m:r>
                                  <a:rPr lang="es-ES_tradnl" sz="16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𝑘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s-ES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es-ES_tradnl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ES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_tradnl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s-ES_tradnl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𝑘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ES_tradnl" sz="160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s-ES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es-ES_tradnl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68006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sz="1600" dirty="0"/>
                            <a:t>Varianza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" sz="16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_tradnl" sz="16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s-ES_tradnl" sz="16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ES_tradnl" sz="16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6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6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ES_tradnl" sz="160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b="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p>
                                          <m:sSupPr>
                                            <m:ctrlPr>
                                              <a:rPr lang="es-ES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s-ES" sz="16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s-ES" sz="16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s-ES" sz="1600" b="0" i="1" kern="10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s-ES_tradnl" sz="16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s-ES_tradnl" sz="16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ES_tradnl" sz="16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𝜇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s-ES_tradnl" sz="1600" i="1" ker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6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6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" sz="16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_tradnl" sz="16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s-ES_tradnl" sz="16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ES_tradnl" sz="16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6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6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ES_tradnl" sz="160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b="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p>
                                          <m:sSupPr>
                                            <m:ctrlPr>
                                              <a:rPr lang="es-ES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s-ES" sz="16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s-ES" sz="16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s-ES" sz="1600" b="0" i="1" kern="10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s-ES_tradnl" sz="16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s-ES_tradnl" sz="16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−</m:t>
                                                </m:r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s-ES" sz="16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s-ES_tradnl" sz="16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𝑋</m:t>
                                                    </m:r>
                                                  </m:e>
                                                </m:acc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s-ES_tradnl" sz="1600" i="1" ker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6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  <m:r>
                                      <a:rPr lang="es-ES_tradnl" sz="16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6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744006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6F8E4CBF-0A66-9708-53CE-2021AE790F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7826356"/>
                  </p:ext>
                </p:extLst>
              </p:nvPr>
            </p:nvGraphicFramePr>
            <p:xfrm>
              <a:off x="1635156" y="4282503"/>
              <a:ext cx="5508026" cy="160547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35898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2108611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2063517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Medida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Poblacional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Muestral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594614">
                    <a:tc>
                      <a:txBody>
                        <a:bodyPr/>
                        <a:lstStyle/>
                        <a:p>
                          <a:r>
                            <a:rPr lang="es-ES" sz="1600" dirty="0"/>
                            <a:t>Media (aritmética)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584" t="-64286" r="-98555" b="-1091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6962" t="-64286" r="-590" b="-1091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8006004"/>
                      </a:ext>
                    </a:extLst>
                  </a:tr>
                  <a:tr h="640017">
                    <a:tc>
                      <a:txBody>
                        <a:bodyPr/>
                        <a:lstStyle/>
                        <a:p>
                          <a:r>
                            <a:rPr lang="es-ES" sz="1600" dirty="0"/>
                            <a:t>Varianza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3584" t="-153333" r="-98555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66962" t="-153333" r="-590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44006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a 5">
                <a:extLst>
                  <a:ext uri="{FF2B5EF4-FFF2-40B4-BE49-F238E27FC236}">
                    <a16:creationId xmlns:a16="http://schemas.microsoft.com/office/drawing/2014/main" id="{892FCEC7-0530-B65F-7407-608B55C626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864466"/>
                  </p:ext>
                </p:extLst>
              </p:nvPr>
            </p:nvGraphicFramePr>
            <p:xfrm>
              <a:off x="8284005" y="3292094"/>
              <a:ext cx="3069795" cy="25958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8794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869095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825953">
                      <a:extLst>
                        <a:ext uri="{9D8B030D-6E8A-4147-A177-3AD203B41FA5}">
                          <a16:colId xmlns:a16="http://schemas.microsoft.com/office/drawing/2014/main" val="344118232"/>
                        </a:ext>
                      </a:extLst>
                    </a:gridCol>
                    <a:gridCol w="825953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𝑭𝒊𝒍𝒂</m:t>
                                </m:r>
                              </m:oMath>
                            </m:oMathPara>
                          </a14:m>
                          <a:endParaRPr lang="es-ES" sz="16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s-ES" sz="16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s-ES" sz="1600" b="1" dirty="0"/>
                            <a:t> ó </a:t>
                          </a:r>
                          <a14:m>
                            <m:oMath xmlns:m="http://schemas.openxmlformats.org/officeDocument/2006/math">
                              <m:r>
                                <a:rPr lang="es-ES" sz="1600" b="1" i="1" dirty="0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r>
                            <a:rPr lang="es-ES" sz="1600" b="1" dirty="0"/>
                            <a:t> 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𝑴𝒂𝒓𝒄𝒂</m:t>
                                </m:r>
                              </m:oMath>
                            </m:oMathPara>
                          </a14:m>
                          <a:endParaRPr lang="es-ES" sz="16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oMath>
                            </m:oMathPara>
                          </a14:m>
                          <a:endParaRPr lang="es-ES" sz="16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50367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02693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endChr m:val="]"/>
                                        <m:ctrlP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682684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a 5">
                <a:extLst>
                  <a:ext uri="{FF2B5EF4-FFF2-40B4-BE49-F238E27FC236}">
                    <a16:creationId xmlns:a16="http://schemas.microsoft.com/office/drawing/2014/main" id="{892FCEC7-0530-B65F-7407-608B55C626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864466"/>
                  </p:ext>
                </p:extLst>
              </p:nvPr>
            </p:nvGraphicFramePr>
            <p:xfrm>
              <a:off x="8284005" y="3292094"/>
              <a:ext cx="3069795" cy="25958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8794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869095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825953">
                      <a:extLst>
                        <a:ext uri="{9D8B030D-6E8A-4147-A177-3AD203B41FA5}">
                          <a16:colId xmlns:a16="http://schemas.microsoft.com/office/drawing/2014/main" val="344118232"/>
                        </a:ext>
                      </a:extLst>
                    </a:gridCol>
                    <a:gridCol w="825953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11" t="-1639" r="-463333" b="-7491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63636" t="-1639" r="-191608" b="-7491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72059" t="-1639" r="-101471" b="-7491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72059" t="-1639" r="-1471" b="-7491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11" t="-101639" r="-463333" b="-6491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63636" t="-101639" r="-191608" b="-6491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72059" t="-101639" r="-101471" b="-6491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72059" t="-101639" r="-1471" b="-6491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63636" t="-201639" r="-191608" b="-5491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72059" t="-201639" r="-101471" b="-5491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72059" t="-201639" r="-1471" b="-5491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11" t="-306667" r="-463333" b="-45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63636" t="-306667" r="-191608" b="-45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72059" t="-306667" r="-1471" b="-45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11" t="-400000" r="-463333" b="-3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63636" t="-400000" r="-191608" b="-3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72059" t="-400000" r="-101471" b="-3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72059" t="-400000" r="-1471" b="-3508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367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11" t="-500000" r="-463333" b="-2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63636" t="-500000" r="-191608" b="-2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72059" t="-500000" r="-1471" b="-2508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2693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11" t="-600000" r="-463333" b="-1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63636" t="-600000" r="-191608" b="-1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72059" t="-600000" r="-101471" b="-1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72059" t="-600000" r="-1471" b="-1508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82684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66F2BE-BCA2-DD7C-3419-942540D86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56864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53925-42D6-5657-CC31-FD5BD3A71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4. Tabla de frecuencias</a:t>
            </a:r>
            <a:br>
              <a:rPr lang="es-ES" dirty="0"/>
            </a:br>
            <a:r>
              <a:rPr lang="es-ES" dirty="0"/>
              <a:t>Cálculo de medidas estadísticas. Ejemplo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1095E89-9211-3A88-C365-D8C80C8B28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350727" cy="43513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s-ES" dirty="0"/>
                  <a:t>Ejemplo 8.12</a:t>
                </a:r>
              </a:p>
              <a:p>
                <a:r>
                  <a:rPr lang="es-ES" sz="2600" dirty="0"/>
                  <a:t>Media con datos sin agrupar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sz="200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sz="20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s-ES_tradnl" sz="20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20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es-ES" sz="20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s-ES_tradnl" sz="20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_tradnl" sz="20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ES" sz="2000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26</m:t>
                            </m:r>
                          </m:sup>
                          <m:e>
                            <m:sSub>
                              <m:sSubPr>
                                <m:ctrlPr>
                                  <a:rPr lang="es-ES" sz="20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s-ES_tradnl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ES" sz="2000" b="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s-ES_tradnl" sz="20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s-ES" sz="2000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a:rPr lang="es-E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E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∙9+…+1∙139</m:t>
                        </m:r>
                      </m:num>
                      <m:den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48.23 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𝑠𝑒𝑔</m:t>
                    </m:r>
                  </m:oMath>
                </a14:m>
                <a:endParaRPr lang="es-ES" sz="2000" dirty="0"/>
              </a:p>
              <a:p>
                <a:r>
                  <a:rPr lang="es-ES" sz="2600" dirty="0"/>
                  <a:t>Varianza y </a:t>
                </a:r>
                <a:r>
                  <a:rPr lang="es-ES" sz="2600" dirty="0" err="1"/>
                  <a:t>desv</a:t>
                </a:r>
                <a:r>
                  <a:rPr lang="es-ES" sz="2600" dirty="0"/>
                  <a:t>. estándar sin agrupar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s-ES" sz="20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_tradnl" sz="2000" i="1" ker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s-ES_tradnl" sz="2000" i="1" ker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s-ES_tradnl" sz="2000" i="1" ker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sz="20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es-ES" sz="20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s-ES_tradnl" sz="2000" i="1" ker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s-ES_tradnl" sz="2000" i="1" ker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ES" sz="2000" b="0" i="1" kern="0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26</m:t>
                            </m:r>
                          </m:sup>
                          <m:e>
                            <m:sSub>
                              <m:sSubPr>
                                <m:ctrlPr>
                                  <a:rPr lang="es-ES_tradnl" sz="2000" i="1" ker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2000" i="1" ker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s-ES" sz="2000" i="1" ker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s-ES" sz="20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ES" sz="20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20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20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_tradnl" sz="2000" i="1" kern="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ES_tradnl" sz="2000" i="1" kern="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s-ES" sz="2000" b="0" i="1" kern="0" smtClean="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48.23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ES_tradnl" sz="2000" i="1" kern="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ES" sz="2000" b="0" i="1" kern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30</m:t>
                        </m:r>
                        <m:r>
                          <a:rPr lang="es-ES_tradnl" sz="2000" i="1" ker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den>
                    </m:f>
                    <m:r>
                      <a:rPr lang="es-ES" sz="2000" b="0" i="1" kern="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ES" sz="2000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703.15 </m:t>
                    </m:r>
                    <m:sSup>
                      <m:sSupPr>
                        <m:ctrlPr>
                          <a:rPr lang="es-ES" sz="20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0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𝑠𝑒𝑔</m:t>
                        </m:r>
                      </m:e>
                      <m:sup>
                        <m:r>
                          <a:rPr lang="es-ES" sz="20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703.15</m:t>
                        </m:r>
                      </m:e>
                    </m:rad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=26.52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𝑠𝑒𝑔</m:t>
                    </m:r>
                  </m:oMath>
                </a14:m>
                <a:endParaRPr lang="es-ES" sz="2000" dirty="0"/>
              </a:p>
              <a:p>
                <a:r>
                  <a:rPr lang="es-ES" sz="2600" dirty="0"/>
                  <a:t>Media con datos agrupados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sz="200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sz="20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s-ES_tradnl" sz="20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20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es-ES" sz="20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s-ES_tradnl" sz="20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_tradnl" sz="20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ES" sz="2000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  <m:e>
                            <m:sSub>
                              <m:sSubPr>
                                <m:ctrlPr>
                                  <a:rPr lang="es-ES_tradnl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s-E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s-ES" sz="20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2000" b="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s-ES_tradnl" sz="20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s-ES" sz="2000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a:rPr lang="es-ES" sz="2000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E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s-E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  <m:r>
                          <a:rPr lang="es-E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+…+1∙1</m:t>
                        </m:r>
                        <m:r>
                          <a:rPr lang="es-E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=48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𝑠𝑒𝑔</m:t>
                    </m:r>
                  </m:oMath>
                </a14:m>
                <a:endParaRPr lang="es-ES" sz="2000" dirty="0"/>
              </a:p>
              <a:p>
                <a:r>
                  <a:rPr lang="es-ES" sz="2600" dirty="0"/>
                  <a:t>Varianza y </a:t>
                </a:r>
                <a:r>
                  <a:rPr lang="es-ES" sz="2600" dirty="0" err="1"/>
                  <a:t>desv</a:t>
                </a:r>
                <a:r>
                  <a:rPr lang="es-ES" sz="2600" dirty="0"/>
                  <a:t>. con datos agrupados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s-ES" sz="20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_tradnl" sz="2000" i="1" ker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s-ES_tradnl" sz="2000" i="1" ker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s-ES_tradnl" sz="2000" i="1" ker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sz="20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es-ES" sz="20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s-ES_tradnl" sz="2000" i="1" ker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s-ES_tradnl" sz="2000" i="1" ker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ES" sz="2000" b="0" i="1" kern="0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14</m:t>
                            </m:r>
                          </m:sup>
                          <m:e>
                            <m:sSub>
                              <m:sSubPr>
                                <m:ctrlPr>
                                  <a:rPr lang="es-ES_tradnl" sz="2000" i="1" ker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2000" i="1" ker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s-ES" sz="2000" i="1" ker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s-ES" sz="20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ES" sz="20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20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20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s-ES_tradnl" sz="2000" i="1" kern="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ES_tradnl" sz="2000" i="1" kern="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s-ES" sz="2000" b="0" i="1" kern="0" smtClean="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48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ES_tradnl" sz="2000" i="1" kern="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ES" sz="2000" b="0" i="1" kern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30</m:t>
                        </m:r>
                        <m:r>
                          <a:rPr lang="es-ES_tradnl" sz="2000" i="1" ker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den>
                    </m:f>
                    <m:r>
                      <a:rPr lang="es-ES" sz="2000" b="0" i="1" kern="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=697.59 </m:t>
                    </m:r>
                    <m:sSup>
                      <m:sSupPr>
                        <m:ctrlPr>
                          <a:rPr lang="es-ES" sz="20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0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𝑠𝑒𝑔</m:t>
                        </m:r>
                      </m:e>
                      <m:sup>
                        <m:r>
                          <a:rPr lang="es-ES" sz="2000" b="0" i="1" kern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697.59</m:t>
                        </m:r>
                      </m:e>
                    </m:rad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=26.41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𝑠𝑒𝑔</m:t>
                    </m:r>
                  </m:oMath>
                </a14:m>
                <a:endParaRPr lang="es-ES" sz="2000" dirty="0"/>
              </a:p>
              <a:p>
                <a:pPr marL="0" indent="0">
                  <a:buNone/>
                </a:pPr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1095E89-9211-3A88-C365-D8C80C8B28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350727" cy="4351338"/>
              </a:xfrm>
              <a:blipFill>
                <a:blip r:embed="rId2"/>
                <a:stretch>
                  <a:fillRect l="-1596" t="-322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a 5">
                <a:extLst>
                  <a:ext uri="{FF2B5EF4-FFF2-40B4-BE49-F238E27FC236}">
                    <a16:creationId xmlns:a16="http://schemas.microsoft.com/office/drawing/2014/main" id="{8BF487A9-3730-DCB8-51A6-E9B1D7D928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7704517"/>
                  </p:ext>
                </p:extLst>
              </p:nvPr>
            </p:nvGraphicFramePr>
            <p:xfrm>
              <a:off x="6398012" y="2468563"/>
              <a:ext cx="2128396" cy="3708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71223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677343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979830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𝑭𝒊𝒍𝒂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noProof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3351110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505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noProof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580361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82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113768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89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620406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139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2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𝑇𝑜𝑡𝑎𝑙</m:t>
                                </m:r>
                                <m:r>
                                  <a:rPr lang="es-ES" sz="12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=30</m:t>
                                </m:r>
                              </m:oMath>
                            </m:oMathPara>
                          </a14:m>
                          <a:endParaRPr lang="es-ES" sz="12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498490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a 5">
                <a:extLst>
                  <a:ext uri="{FF2B5EF4-FFF2-40B4-BE49-F238E27FC236}">
                    <a16:creationId xmlns:a16="http://schemas.microsoft.com/office/drawing/2014/main" id="{8BF487A9-3730-DCB8-51A6-E9B1D7D928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7704517"/>
                  </p:ext>
                </p:extLst>
              </p:nvPr>
            </p:nvGraphicFramePr>
            <p:xfrm>
              <a:off x="6398012" y="2468563"/>
              <a:ext cx="2128396" cy="3708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71223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677343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979830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99" t="-1639" r="-357143" b="-9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9643" t="-1639" r="-145536" b="-9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8012" t="-1639" r="-1242" b="-9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18012" t="-101639" r="-1242" b="-8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noProof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9643" t="-201639" r="-145536" b="-7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18012" t="-201639" r="-1242" b="-7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3351110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505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noProof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9643" t="-501639" r="-14553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18012" t="-501639" r="-1242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80361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82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113768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89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620406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139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18012" t="-901639" r="-1242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984904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2FF101CC-5EB2-17C8-A36A-8A0315D393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1457835"/>
                  </p:ext>
                </p:extLst>
              </p:nvPr>
            </p:nvGraphicFramePr>
            <p:xfrm>
              <a:off x="8940800" y="2692083"/>
              <a:ext cx="3093225" cy="34848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1218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955595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641387">
                      <a:extLst>
                        <a:ext uri="{9D8B030D-6E8A-4147-A177-3AD203B41FA5}">
                          <a16:colId xmlns:a16="http://schemas.microsoft.com/office/drawing/2014/main" val="2857753371"/>
                        </a:ext>
                      </a:extLst>
                    </a:gridCol>
                    <a:gridCol w="985025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𝒇𝒊𝒍𝒂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𝑴𝒂𝒓𝒄𝒂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10,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20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3351110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20,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30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505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30,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40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9003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noProof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580361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  <m: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130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620406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130,</m:t>
                                    </m:r>
                                    <m:d>
                                      <m:dPr>
                                        <m:begChr m:val=""/>
                                        <m:endChr m:val="]"/>
                                        <m:ctrlP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b="0" i="1" smtClean="0">
                                            <a:latin typeface="Cambria Math" panose="02040503050406030204" pitchFamily="18" charset="0"/>
                                          </a:rPr>
                                          <m:t>140</m:t>
                                        </m:r>
                                      </m:e>
                                    </m:d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135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2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𝑇𝑜𝑡𝑎𝑙</m:t>
                                </m:r>
                                <m:r>
                                  <a:rPr lang="es-ES" sz="12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=30</m:t>
                                </m:r>
                              </m:oMath>
                            </m:oMathPara>
                          </a14:m>
                          <a:endParaRPr lang="es-ES" sz="12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498490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2FF101CC-5EB2-17C8-A36A-8A0315D393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1457835"/>
                  </p:ext>
                </p:extLst>
              </p:nvPr>
            </p:nvGraphicFramePr>
            <p:xfrm>
              <a:off x="8940800" y="2692083"/>
              <a:ext cx="3093225" cy="34848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1218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955595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641387">
                      <a:extLst>
                        <a:ext uri="{9D8B030D-6E8A-4147-A177-3AD203B41FA5}">
                          <a16:colId xmlns:a16="http://schemas.microsoft.com/office/drawing/2014/main" val="2857753371"/>
                        </a:ext>
                      </a:extLst>
                    </a:gridCol>
                    <a:gridCol w="985025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90" t="-1176" r="-508333" b="-59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4140" t="-1176" r="-171975" b="-59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28302" t="-1176" r="-154717" b="-59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4815" t="-1176" r="-1235" b="-59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4140" t="-140984" r="-171975" b="-7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14815" t="-140984" r="-1235" b="-7311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4140" t="-240984" r="-171975" b="-6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3351110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4140" t="-340984" r="-171975" b="-5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505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4140" t="-440984" r="-171975" b="-4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9003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noProof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4140" t="-540984" r="-171975" b="-3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14815" t="-540984" r="-1235" b="-3311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80361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4140" t="-640984" r="-171975" b="-2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620406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4140" t="-740984" r="-171975" b="-1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135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14815" t="-840984" r="-1235" b="-311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98490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6901BE5-4A62-C2BD-E22A-2FB7D8DDE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5145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61FE9-C3AE-6FC7-C4A9-C1FF0B2C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4. Tabla de frecuencias</a:t>
            </a:r>
            <a:br>
              <a:rPr lang="es-ES" dirty="0"/>
            </a:br>
            <a:r>
              <a:rPr lang="es-ES" dirty="0"/>
              <a:t>Ejercicios propuestos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8D761F8-90FE-5A56-8924-772DAE4E6C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ea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altLang="es-ES" sz="2800" dirty="0" err="1"/>
                  <a:t>Ejercicios</a:t>
                </a:r>
                <a:r>
                  <a:rPr lang="en-US" altLang="es-ES" sz="2800" dirty="0"/>
                  <a:t> 8.1, 8.2, 8.8, 8.9 del </a:t>
                </a:r>
                <a:r>
                  <a:rPr lang="en-US" altLang="es-ES" sz="2800" dirty="0" err="1"/>
                  <a:t>libro</a:t>
                </a:r>
                <a:endParaRPr lang="en-US" altLang="es-ES" sz="2800" dirty="0"/>
              </a:p>
              <a:p>
                <a:pPr lvl="1">
                  <a:spcBef>
                    <a:spcPts val="1000"/>
                  </a:spcBef>
                </a:pPr>
                <a:r>
                  <a:rPr lang="en-US" altLang="es-ES" dirty="0" err="1"/>
                  <a:t>Calcular</a:t>
                </a:r>
                <a:r>
                  <a:rPr lang="en-US" altLang="es-ES" dirty="0"/>
                  <a:t> las </a:t>
                </a:r>
                <a:r>
                  <a:rPr lang="en-US" altLang="es-ES" dirty="0" err="1"/>
                  <a:t>tablas</a:t>
                </a:r>
                <a:r>
                  <a:rPr lang="en-US" altLang="es-ES" dirty="0"/>
                  <a:t> de </a:t>
                </a:r>
                <a:r>
                  <a:rPr lang="en-US" altLang="es-ES" dirty="0" err="1"/>
                  <a:t>frecuencias</a:t>
                </a:r>
                <a:r>
                  <a:rPr lang="en-US" altLang="es-ES" dirty="0"/>
                  <a:t> y la media y </a:t>
                </a:r>
                <a:r>
                  <a:rPr lang="en-US" altLang="es-ES" dirty="0" err="1"/>
                  <a:t>desviación</a:t>
                </a:r>
                <a:r>
                  <a:rPr lang="en-US" altLang="es-ES" dirty="0"/>
                  <a:t> </a:t>
                </a:r>
                <a:r>
                  <a:rPr lang="en-US" altLang="es-ES" dirty="0" err="1"/>
                  <a:t>estándar</a:t>
                </a:r>
                <a:r>
                  <a:rPr lang="en-US" altLang="es-ES" dirty="0"/>
                  <a:t> con </a:t>
                </a:r>
                <a:r>
                  <a:rPr lang="en-US" altLang="es-ES" dirty="0" err="1"/>
                  <a:t>datos</a:t>
                </a:r>
                <a:r>
                  <a:rPr lang="en-US" altLang="es-ES" dirty="0"/>
                  <a:t> </a:t>
                </a:r>
                <a:r>
                  <a:rPr lang="en-US" altLang="es-ES" dirty="0" err="1"/>
                  <a:t>agrupados</a:t>
                </a:r>
                <a:r>
                  <a:rPr lang="en-US" altLang="es-ES" dirty="0"/>
                  <a:t> </a:t>
                </a:r>
                <a:r>
                  <a:rPr lang="en-US" altLang="es-ES" dirty="0" err="1"/>
                  <a:t>aplicando</a:t>
                </a:r>
                <a:r>
                  <a:rPr lang="en-US" altLang="es-ES" dirty="0"/>
                  <a:t> la </a:t>
                </a:r>
                <a:r>
                  <a:rPr lang="en-US" altLang="es-ES" dirty="0" err="1"/>
                  <a:t>regla</a:t>
                </a:r>
                <a:r>
                  <a:rPr lang="en-US" altLang="es-ES" dirty="0"/>
                  <a:t> de Sturges en </a:t>
                </a:r>
                <a:r>
                  <a:rPr lang="en-US" altLang="es-ES" dirty="0" err="1"/>
                  <a:t>cada</a:t>
                </a:r>
                <a:r>
                  <a:rPr lang="en-US" altLang="es-ES" dirty="0"/>
                  <a:t> </a:t>
                </a:r>
                <a:r>
                  <a:rPr lang="en-US" altLang="es-ES" dirty="0" err="1"/>
                  <a:t>ejercicio</a:t>
                </a:r>
                <a:r>
                  <a:rPr lang="en-US" altLang="es-ES" dirty="0"/>
                  <a:t> y </a:t>
                </a:r>
                <a:r>
                  <a:rPr lang="en-US" altLang="es-ES" dirty="0" err="1"/>
                  <a:t>comparar</a:t>
                </a:r>
                <a:r>
                  <a:rPr lang="en-US" altLang="es-ES" dirty="0"/>
                  <a:t> los </a:t>
                </a:r>
                <a:r>
                  <a:rPr lang="en-US" altLang="es-ES" dirty="0" err="1"/>
                  <a:t>resultado</a:t>
                </a:r>
                <a:r>
                  <a:rPr lang="en-US" altLang="es-ES" dirty="0"/>
                  <a:t> con los </a:t>
                </a:r>
                <a:r>
                  <a:rPr lang="en-US" altLang="es-ES" dirty="0" err="1"/>
                  <a:t>datos</a:t>
                </a:r>
                <a:r>
                  <a:rPr lang="en-US" altLang="es-ES" dirty="0"/>
                  <a:t> sin </a:t>
                </a:r>
                <a:r>
                  <a:rPr lang="en-US" altLang="es-ES" dirty="0" err="1"/>
                  <a:t>agrupar</a:t>
                </a:r>
                <a:endParaRPr lang="en-US" altLang="es-ES" dirty="0"/>
              </a:p>
              <a:p>
                <a:pPr lvl="1">
                  <a:spcBef>
                    <a:spcPts val="1000"/>
                  </a:spcBef>
                </a:pPr>
                <a:r>
                  <a:rPr lang="en-US" altLang="es-ES" sz="2400" dirty="0"/>
                  <a:t>La </a:t>
                </a:r>
                <a:r>
                  <a:rPr lang="en-US" altLang="es-ES" sz="2400" dirty="0" err="1"/>
                  <a:t>respuesta</a:t>
                </a:r>
                <a:r>
                  <a:rPr lang="en-US" altLang="es-ES" sz="2400" dirty="0"/>
                  <a:t> de 8.2 es:</a:t>
                </a:r>
              </a:p>
              <a:p>
                <a:pPr lvl="2">
                  <a:spcBef>
                    <a:spcPts val="1000"/>
                  </a:spcBef>
                </a:pPr>
                <a:r>
                  <a:rPr lang="en-US" altLang="es-ES" dirty="0"/>
                  <a:t>Datos sin </a:t>
                </a:r>
                <a:r>
                  <a:rPr lang="en-US" altLang="es-ES" dirty="0" err="1"/>
                  <a:t>agrupar</a:t>
                </a:r>
                <a:r>
                  <a:rPr lang="en-US" altLang="es-ES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s-E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altLang="es-E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s-ES" alt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altLang="es-ES" b="0" i="1" smtClean="0">
                        <a:latin typeface="Cambria Math" panose="02040503050406030204" pitchFamily="18" charset="0"/>
                      </a:rPr>
                      <m:t>17.95 </m:t>
                    </m:r>
                    <m:r>
                      <a:rPr lang="es-ES" altLang="es-ES" b="0" i="1" smtClean="0">
                        <a:latin typeface="Cambria Math" panose="02040503050406030204" pitchFamily="18" charset="0"/>
                      </a:rPr>
                      <m:t>𝑚𝑖𝑙𝑒𝑠</m:t>
                    </m:r>
                    <m:r>
                      <a:rPr lang="es-ES" alt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altLang="es-ES" b="0" i="1" smtClean="0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s-ES" alt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altLang="es-ES" b="0" i="1" smtClean="0">
                        <a:latin typeface="Cambria Math" panose="02040503050406030204" pitchFamily="18" charset="0"/>
                      </a:rPr>
                      <m:t>𝑢𝑠𝑢𝑎𝑟𝑖𝑜𝑠</m:t>
                    </m:r>
                  </m:oMath>
                </a14:m>
                <a:r>
                  <a:rPr lang="en-US" altLang="es-ES" dirty="0"/>
                  <a:t>, </a:t>
                </a:r>
                <a14:m>
                  <m:oMath xmlns:m="http://schemas.openxmlformats.org/officeDocument/2006/math">
                    <m:r>
                      <a:rPr lang="es-ES" altLang="es-E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s-ES" altLang="es-ES" i="1">
                        <a:latin typeface="Cambria Math" panose="02040503050406030204" pitchFamily="18" charset="0"/>
                      </a:rPr>
                      <m:t>=3.16 </m:t>
                    </m:r>
                    <m:r>
                      <a:rPr lang="es-ES" altLang="es-ES" b="0" i="1" smtClean="0">
                        <a:latin typeface="Cambria Math" panose="02040503050406030204" pitchFamily="18" charset="0"/>
                      </a:rPr>
                      <m:t>𝑚𝑖𝑙𝑒𝑠</m:t>
                    </m:r>
                    <m:r>
                      <a:rPr lang="es-ES" alt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altLang="es-ES" b="0" i="1" smtClean="0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s-ES" alt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altLang="es-ES" b="0" i="1" smtClean="0">
                        <a:latin typeface="Cambria Math" panose="02040503050406030204" pitchFamily="18" charset="0"/>
                      </a:rPr>
                      <m:t>𝑢𝑠𝑢𝑎𝑟𝑖𝑜𝑠</m:t>
                    </m:r>
                    <m:r>
                      <a:rPr lang="es-ES" altLang="es-E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es-ES" dirty="0"/>
              </a:p>
              <a:p>
                <a:pPr lvl="2">
                  <a:spcBef>
                    <a:spcPts val="1000"/>
                  </a:spcBef>
                </a:pPr>
                <a:r>
                  <a:rPr lang="en-US" altLang="es-ES" dirty="0"/>
                  <a:t>Datos </a:t>
                </a:r>
                <a:r>
                  <a:rPr lang="en-US" altLang="es-ES" dirty="0" err="1"/>
                  <a:t>agrupados</a:t>
                </a:r>
                <a:r>
                  <a:rPr lang="en-US" altLang="es-ES" dirty="0"/>
                  <a:t>: </a:t>
                </a:r>
                <a14:m>
                  <m:oMath xmlns:m="http://schemas.openxmlformats.org/officeDocument/2006/math">
                    <m:r>
                      <a:rPr lang="es-ES" altLang="es-E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ES" altLang="es-ES" i="1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altLang="es-E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s-E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altLang="es-E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s-ES" alt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altLang="es-ES" b="0" i="1" smtClean="0">
                        <a:latin typeface="Cambria Math" panose="02040503050406030204" pitchFamily="18" charset="0"/>
                      </a:rPr>
                      <m:t>17.86 </m:t>
                    </m:r>
                    <m:r>
                      <a:rPr lang="es-ES" altLang="es-ES" b="0" i="1" smtClean="0">
                        <a:latin typeface="Cambria Math" panose="02040503050406030204" pitchFamily="18" charset="0"/>
                      </a:rPr>
                      <m:t>𝑚𝑖𝑙𝑒𝑠</m:t>
                    </m:r>
                    <m:r>
                      <a:rPr lang="es-ES" alt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altLang="es-ES" b="0" i="1" smtClean="0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s-ES" alt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altLang="es-ES" b="0" i="1" smtClean="0">
                        <a:latin typeface="Cambria Math" panose="02040503050406030204" pitchFamily="18" charset="0"/>
                      </a:rPr>
                      <m:t>𝑢𝑠𝑢𝑎𝑟𝑖𝑜𝑠</m:t>
                    </m:r>
                  </m:oMath>
                </a14:m>
                <a:r>
                  <a:rPr lang="en-US" altLang="es-ES" dirty="0"/>
                  <a:t>, </a:t>
                </a:r>
                <a14:m>
                  <m:oMath xmlns:m="http://schemas.openxmlformats.org/officeDocument/2006/math">
                    <m:r>
                      <a:rPr lang="es-ES" altLang="es-E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s-ES" altLang="es-ES" i="1">
                        <a:latin typeface="Cambria Math" panose="02040503050406030204" pitchFamily="18" charset="0"/>
                      </a:rPr>
                      <m:t>=3.09 </m:t>
                    </m:r>
                    <m:r>
                      <a:rPr lang="es-ES" altLang="es-ES" b="0" i="1" smtClean="0">
                        <a:latin typeface="Cambria Math" panose="02040503050406030204" pitchFamily="18" charset="0"/>
                      </a:rPr>
                      <m:t>𝑚𝑖𝑙𝑒𝑠</m:t>
                    </m:r>
                    <m:r>
                      <a:rPr lang="es-ES" alt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altLang="es-ES" b="0" i="1" smtClean="0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s-ES" alt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altLang="es-ES" b="0" i="1" smtClean="0">
                        <a:latin typeface="Cambria Math" panose="02040503050406030204" pitchFamily="18" charset="0"/>
                      </a:rPr>
                      <m:t>𝑢𝑠𝑢𝑎𝑟𝑖𝑜𝑠</m:t>
                    </m:r>
                  </m:oMath>
                </a14:m>
                <a:endParaRPr lang="en-US" altLang="es-ES" dirty="0"/>
              </a:p>
              <a:p>
                <a:pPr>
                  <a:tabLst>
                    <a:tab pos="2243138" algn="l"/>
                  </a:tabLst>
                </a:pPr>
                <a:r>
                  <a:rPr lang="es-ES" dirty="0"/>
                  <a:t>Otros ejercicios (resueltos): </a:t>
                </a:r>
                <a:r>
                  <a:rPr lang="es-ES" dirty="0">
                    <a:hlinkClick r:id="rId2"/>
                  </a:rPr>
                  <a:t>proyectodescartes.org</a:t>
                </a:r>
                <a:endParaRPr lang="en-US" altLang="es-ES" dirty="0"/>
              </a:p>
              <a:p>
                <a:pPr lvl="2">
                  <a:spcBef>
                    <a:spcPts val="1000"/>
                  </a:spcBef>
                </a:pPr>
                <a:endParaRPr lang="en-US" alt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8D761F8-90FE-5A56-8924-772DAE4E6C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A86158-512B-60EF-6886-59F4BFB0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7343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E19769-2EDB-BAA0-E0E7-ED1C19E56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Gráficos estadísticos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EF090F-53C2-B175-5CB0-6FC81893D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Diagrama de barras (no está en el libro)</a:t>
            </a:r>
          </a:p>
          <a:p>
            <a:r>
              <a:rPr lang="es-ES" dirty="0"/>
              <a:t>Diagrama de tarta (no está en el libro)</a:t>
            </a:r>
          </a:p>
          <a:p>
            <a:r>
              <a:rPr lang="es-ES" dirty="0"/>
              <a:t>Diagrama de Pareto (no está en el libro)</a:t>
            </a:r>
          </a:p>
          <a:p>
            <a:r>
              <a:rPr lang="es-ES" dirty="0"/>
              <a:t>Histograma</a:t>
            </a:r>
          </a:p>
          <a:p>
            <a:r>
              <a:rPr lang="es-ES" dirty="0"/>
              <a:t>Polígono de frecuencias (no está en el libro)</a:t>
            </a:r>
          </a:p>
          <a:p>
            <a:r>
              <a:rPr lang="es-ES" dirty="0"/>
              <a:t>Diagrama de tallo y hojas (</a:t>
            </a:r>
            <a:r>
              <a:rPr lang="es-ES" i="1" dirty="0" err="1"/>
              <a:t>Stem</a:t>
            </a:r>
            <a:r>
              <a:rPr lang="es-ES" i="1" dirty="0"/>
              <a:t>-and-</a:t>
            </a:r>
            <a:r>
              <a:rPr lang="es-ES" i="1" dirty="0" err="1"/>
              <a:t>leaf</a:t>
            </a:r>
            <a:r>
              <a:rPr lang="es-ES" i="1" dirty="0"/>
              <a:t> </a:t>
            </a:r>
            <a:r>
              <a:rPr lang="es-ES" i="1" dirty="0" err="1"/>
              <a:t>plot</a:t>
            </a:r>
            <a:r>
              <a:rPr lang="es-ES" dirty="0"/>
              <a:t>)</a:t>
            </a:r>
          </a:p>
          <a:p>
            <a:r>
              <a:rPr lang="es-ES" dirty="0"/>
              <a:t>Diagrama de caja (</a:t>
            </a:r>
            <a:r>
              <a:rPr lang="es-ES" i="1" dirty="0" err="1"/>
              <a:t>Boxplot</a:t>
            </a:r>
            <a:r>
              <a:rPr lang="es-ES" dirty="0"/>
              <a:t>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7271E9-BA1D-5F55-6AA8-08E9ECC4D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59712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FB9E85-F18E-17F8-02FB-FC1E5F863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Gráficos estadísticos</a:t>
            </a:r>
            <a:br>
              <a:rPr lang="es-ES" dirty="0"/>
            </a:br>
            <a:r>
              <a:rPr lang="es-ES" dirty="0"/>
              <a:t>Diagrama de barras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CF67BC-2E5C-9C98-217E-C31A6EE6F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78083" cy="4351338"/>
          </a:xfrm>
        </p:spPr>
        <p:txBody>
          <a:bodyPr/>
          <a:lstStyle/>
          <a:p>
            <a:r>
              <a:rPr lang="es-ES" dirty="0"/>
              <a:t>Se utiliza para:</a:t>
            </a:r>
          </a:p>
          <a:p>
            <a:pPr lvl="1"/>
            <a:r>
              <a:rPr lang="es-ES" dirty="0"/>
              <a:t>variables cualitativas</a:t>
            </a:r>
          </a:p>
          <a:p>
            <a:pPr lvl="1"/>
            <a:r>
              <a:rPr lang="es-ES" dirty="0"/>
              <a:t>variables cuantitativas que tienen pocos valores diferentes</a:t>
            </a:r>
          </a:p>
          <a:p>
            <a:r>
              <a:rPr lang="es-ES" dirty="0"/>
              <a:t>Es la representación gráfica de una tabla de frecuencias</a:t>
            </a:r>
          </a:p>
          <a:p>
            <a:r>
              <a:rPr lang="es-ES" dirty="0"/>
              <a:t>Se dibuja una barra vertical por cada posible valor de la variable</a:t>
            </a:r>
          </a:p>
          <a:p>
            <a:pPr lvl="1"/>
            <a:r>
              <a:rPr lang="es-ES" dirty="0"/>
              <a:t>La altura de la barra representa la frecuencia del valor 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053CC6-0F35-2642-2C87-12F193797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17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7A60FE43-2FEC-C6AE-A094-5F4AB7FB5F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8109763"/>
                  </p:ext>
                </p:extLst>
              </p:nvPr>
            </p:nvGraphicFramePr>
            <p:xfrm>
              <a:off x="8428465" y="1988944"/>
              <a:ext cx="2823117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04273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913428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306042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1199374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𝑭𝒊𝒍𝒂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Linux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2/10=0.2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Mac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3/10=0.3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Windows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5/10=0.5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663657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498490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7A60FE43-2FEC-C6AE-A094-5F4AB7FB5F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8109763"/>
                  </p:ext>
                </p:extLst>
              </p:nvPr>
            </p:nvGraphicFramePr>
            <p:xfrm>
              <a:off x="8428465" y="1988944"/>
              <a:ext cx="2823117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04273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913428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306042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1199374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15" t="-1639" r="-606061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4371" t="-1639" r="-164901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36000" t="-1639" r="-398000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6041" t="-1639" r="-1015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Linux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36000" t="-101639" r="-398000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36041" t="-101639" r="-1015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Mac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36041" t="-201639" r="-1015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Windows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36041" t="-301639" r="-1015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63657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36000" t="-401639" r="-398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36041" t="-401639" r="-1015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984904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Imagen 6">
            <a:extLst>
              <a:ext uri="{FF2B5EF4-FFF2-40B4-BE49-F238E27FC236}">
                <a16:creationId xmlns:a16="http://schemas.microsoft.com/office/drawing/2014/main" id="{C526287D-5B83-9999-F726-4949F62D7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101" y="4203894"/>
            <a:ext cx="4095844" cy="18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412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0C4FE7-33D1-E46F-2256-E53538104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Gráficos estadísticos</a:t>
            </a:r>
            <a:br>
              <a:rPr lang="es-ES" dirty="0"/>
            </a:br>
            <a:r>
              <a:rPr lang="es-ES" dirty="0"/>
              <a:t>Diagrama de barras. Ejemplo 8.12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C2B26E-2A70-02B0-FD32-2799B75C2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 fontScale="70000" lnSpcReduction="20000"/>
          </a:bodyPr>
          <a:lstStyle/>
          <a:p>
            <a:r>
              <a:rPr lang="es-ES" dirty="0"/>
              <a:t>Para evaluar la efectividad de un procesador para un determinado tipo de tareas, registramos el tiempo de CPU para una muestra de 30 trabajos elegidos aleatoriamente (en segundos)</a:t>
            </a:r>
          </a:p>
          <a:p>
            <a:r>
              <a:rPr lang="es-ES" dirty="0"/>
              <a:t>𝑆=(9, 15, 19, 22, 24, 25, 30, 34, 35, 35, 36, 36, 37, 38, 42, 43, 46, 48, 54, 55, 56, 56, 59,  62, 69, 70, 82, 82, 89, 139)</a:t>
            </a:r>
          </a:p>
          <a:p>
            <a:r>
              <a:rPr lang="es-ES" dirty="0"/>
              <a:t>Dibujar el diagrama de barras de frecuencias absolutas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659FFAB1-A163-9732-2B05-F3E9AB7A9D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0595516"/>
                  </p:ext>
                </p:extLst>
              </p:nvPr>
            </p:nvGraphicFramePr>
            <p:xfrm>
              <a:off x="1945889" y="3572192"/>
              <a:ext cx="1507271" cy="2966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07379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542692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457200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𝑭𝒊𝒍𝒂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noProof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noProof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580361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82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113768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89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620406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139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498490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659FFAB1-A163-9732-2B05-F3E9AB7A9D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0595516"/>
                  </p:ext>
                </p:extLst>
              </p:nvPr>
            </p:nvGraphicFramePr>
            <p:xfrm>
              <a:off x="1945889" y="3572192"/>
              <a:ext cx="1507271" cy="2966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07379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542692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457200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05" t="-1639" r="-201205" b="-7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3333" t="-1639" r="-85556" b="-7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32000" t="-1639" r="-2667" b="-7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32000" t="-101639" r="-2667" b="-6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noProof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3333" t="-201639" r="-85556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32000" t="-201639" r="-2667" b="-5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noProof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3333" t="-301639" r="-8555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32000" t="-301639" r="-2667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80361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82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113768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89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620406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139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32000" t="-701639" r="-2667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98490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321444-1601-F751-024C-F78CAD374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18</a:t>
            </a:fld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C470015-9FA7-25E3-0F4E-DAA88C3DB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2964" y="3563937"/>
            <a:ext cx="6217435" cy="292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237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FB9E85-F18E-17F8-02FB-FC1E5F863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Gráficos estadísticos</a:t>
            </a:r>
            <a:br>
              <a:rPr lang="es-ES" dirty="0"/>
            </a:br>
            <a:r>
              <a:rPr lang="es-ES" dirty="0"/>
              <a:t>Diagrama de Pareto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CF67BC-2E5C-9C98-217E-C31A6EE6F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54200"/>
          </a:xfrm>
        </p:spPr>
        <p:txBody>
          <a:bodyPr>
            <a:normAutofit fontScale="85000" lnSpcReduction="10000"/>
          </a:bodyPr>
          <a:lstStyle/>
          <a:p>
            <a:r>
              <a:rPr lang="es-ES" dirty="0"/>
              <a:t>Es un diagrama de barras en orden descendente según frecuencias absolutas, en el que se superpone una línea con las frecuencias acumuladas</a:t>
            </a:r>
          </a:p>
          <a:p>
            <a:r>
              <a:rPr lang="es-ES" dirty="0"/>
              <a:t>Se suele utilizar en la gestión empresarial para clasificar gráficamente la información de mayor a menor relevancia, con el objetivo de reconocer los problemas más importantes</a:t>
            </a:r>
          </a:p>
          <a:p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7A60FE43-2FEC-C6AE-A094-5F4AB7FB5F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5356458"/>
                  </p:ext>
                </p:extLst>
              </p:nvPr>
            </p:nvGraphicFramePr>
            <p:xfrm>
              <a:off x="7335646" y="4853527"/>
              <a:ext cx="2823117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04273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913428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735979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769437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𝑭𝒊𝒍𝒂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Linux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Mac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Windows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663657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7A60FE43-2FEC-C6AE-A094-5F4AB7FB5F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5356458"/>
                  </p:ext>
                </p:extLst>
              </p:nvPr>
            </p:nvGraphicFramePr>
            <p:xfrm>
              <a:off x="7335646" y="4853527"/>
              <a:ext cx="2823117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04273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913428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735979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769437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15" t="-1639" r="-606061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4371" t="-1639" r="-164901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0165" t="-1639" r="-105785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9048" t="-1639" r="-1587" b="-3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Linux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80165" t="-101639" r="-105785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69048" t="-101639" r="-1587" b="-2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Mac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69048" t="-201639" r="-1587" b="-1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Windows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69048" t="-301639" r="-1587" b="-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636575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Imagen 7">
            <a:extLst>
              <a:ext uri="{FF2B5EF4-FFF2-40B4-BE49-F238E27FC236}">
                <a16:creationId xmlns:a16="http://schemas.microsoft.com/office/drawing/2014/main" id="{5B81CD4F-59F6-93F0-4DC1-A5B9B2A36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71564"/>
            <a:ext cx="5610915" cy="2346143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053CC6-0F35-2642-2C87-12F193797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21194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0C4FE7-33D1-E46F-2256-E53538104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Gráficos estadísticos</a:t>
            </a:r>
            <a:br>
              <a:rPr lang="es-ES" dirty="0"/>
            </a:br>
            <a:r>
              <a:rPr lang="es-ES" dirty="0"/>
              <a:t>Diagrama de Pareto. Ejemplo 8.12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C2B26E-2A70-02B0-FD32-2799B75C2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 fontScale="70000" lnSpcReduction="20000"/>
          </a:bodyPr>
          <a:lstStyle/>
          <a:p>
            <a:r>
              <a:rPr lang="es-ES" dirty="0"/>
              <a:t>Para evaluar la efectividad de un procesador para un determinado tipo de tareas, registramos el tiempo de CPU para una muestra de 30 trabajos elegidos aleatoriamente (en segundos)</a:t>
            </a:r>
          </a:p>
          <a:p>
            <a:r>
              <a:rPr lang="es-ES" dirty="0"/>
              <a:t>𝑆=(9, 15, 19, 22, 24, 25, 30, 34, 35, 35, 36, 36, 37, 38, 42, 43, 46, 48, 54, 55, 56, 56, 59,  62, 69, 70, 82, 82, 89, 139)</a:t>
            </a:r>
          </a:p>
          <a:p>
            <a:r>
              <a:rPr lang="es-ES" dirty="0"/>
              <a:t>Dibujar el diagrama de Pareto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659FFAB1-A163-9732-2B05-F3E9AB7A9D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5072520"/>
                  </p:ext>
                </p:extLst>
              </p:nvPr>
            </p:nvGraphicFramePr>
            <p:xfrm>
              <a:off x="1750741" y="3572192"/>
              <a:ext cx="1906858" cy="264758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92498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555717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412595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446048">
                      <a:extLst>
                        <a:ext uri="{9D8B030D-6E8A-4147-A177-3AD203B41FA5}">
                          <a16:colId xmlns:a16="http://schemas.microsoft.com/office/drawing/2014/main" val="349325907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𝑭𝒊𝒍𝒂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noProof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4225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noProof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580361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82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28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113768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89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29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620406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139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659FFAB1-A163-9732-2B05-F3E9AB7A9D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5072520"/>
                  </p:ext>
                </p:extLst>
              </p:nvPr>
            </p:nvGraphicFramePr>
            <p:xfrm>
              <a:off x="1750741" y="3572192"/>
              <a:ext cx="1906858" cy="264758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92498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555717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412595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446048">
                      <a:extLst>
                        <a:ext uri="{9D8B030D-6E8A-4147-A177-3AD203B41FA5}">
                          <a16:colId xmlns:a16="http://schemas.microsoft.com/office/drawing/2014/main" val="349325907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35" t="-1639" r="-290123" b="-6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110" t="-1639" r="-158242" b="-6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4412" t="-1639" r="-111765" b="-6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0137" t="-1639" r="-4110" b="-6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54412" t="-101639" r="-111765" b="-5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30137" t="-101639" r="-4110" b="-5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noProof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110" t="-201639" r="-158242" b="-4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54412" t="-201639" r="-111765" b="-4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30137" t="-201639" r="-4110" b="-4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4225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noProof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110" t="-262857" r="-158242" b="-26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54412" t="-262857" r="-111765" b="-26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30137" t="-262857" r="-4110" b="-26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80361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82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28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113768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89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29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620406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139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Imagen 9">
            <a:extLst>
              <a:ext uri="{FF2B5EF4-FFF2-40B4-BE49-F238E27FC236}">
                <a16:creationId xmlns:a16="http://schemas.microsoft.com/office/drawing/2014/main" id="{C90E226A-977F-B145-C181-9C54C843D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706" y="3311912"/>
            <a:ext cx="7039324" cy="2907867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321444-1601-F751-024C-F78CAD374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9875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FB9E85-F18E-17F8-02FB-FC1E5F863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Gráficos estadísticos</a:t>
            </a:r>
            <a:br>
              <a:rPr lang="es-ES" dirty="0"/>
            </a:br>
            <a:r>
              <a:rPr lang="es-ES" dirty="0"/>
              <a:t>Diagrama de tarta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CF67BC-2E5C-9C98-217E-C31A6EE6F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78083" cy="4351338"/>
          </a:xfrm>
        </p:spPr>
        <p:txBody>
          <a:bodyPr/>
          <a:lstStyle/>
          <a:p>
            <a:r>
              <a:rPr lang="es-ES" dirty="0"/>
              <a:t>Se utiliza para:</a:t>
            </a:r>
          </a:p>
          <a:p>
            <a:pPr lvl="1"/>
            <a:r>
              <a:rPr lang="es-ES" dirty="0"/>
              <a:t>variables cualitativas</a:t>
            </a:r>
          </a:p>
          <a:p>
            <a:pPr lvl="1"/>
            <a:r>
              <a:rPr lang="es-ES" dirty="0"/>
              <a:t>variables cuantitativas que tienen pocos valores diferentes</a:t>
            </a:r>
          </a:p>
          <a:p>
            <a:r>
              <a:rPr lang="es-ES" dirty="0"/>
              <a:t>Es la representación gráfica de una tabla de frecuencias</a:t>
            </a:r>
          </a:p>
          <a:p>
            <a:r>
              <a:rPr lang="es-ES" dirty="0"/>
              <a:t>Se dibuja una porción (sector) de un círculo por cada posible valor de la variable</a:t>
            </a:r>
          </a:p>
          <a:p>
            <a:pPr lvl="1"/>
            <a:r>
              <a:rPr lang="es-ES" dirty="0"/>
              <a:t>El área de la porción es proporcional a representa la frecuencia del valor 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053CC6-0F35-2642-2C87-12F193797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21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7A60FE43-2FEC-C6AE-A094-5F4AB7FB5F2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428465" y="1988944"/>
              <a:ext cx="2823117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04273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913428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306042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1199374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𝑭𝒊𝒍𝒂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Linux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2/10=0.2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Mac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3/10=0.3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Windows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5/10=0.5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663657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498490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7A60FE43-2FEC-C6AE-A094-5F4AB7FB5F2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428465" y="1988944"/>
              <a:ext cx="2823117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04273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913428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306042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1199374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15" t="-1639" r="-606061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4371" t="-1639" r="-164901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36000" t="-1639" r="-398000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6041" t="-1639" r="-1015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Linux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36000" t="-101639" r="-398000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36041" t="-101639" r="-1015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Mac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36041" t="-201639" r="-1015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Windows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36041" t="-301639" r="-1015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63657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36000" t="-401639" r="-398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36041" t="-401639" r="-1015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984904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Imagen 9">
            <a:extLst>
              <a:ext uri="{FF2B5EF4-FFF2-40B4-BE49-F238E27FC236}">
                <a16:creationId xmlns:a16="http://schemas.microsoft.com/office/drawing/2014/main" id="{3FC7F0B7-12DD-9C40-9FCA-4C51C62C56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3682" y="4278745"/>
            <a:ext cx="2247900" cy="207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1148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0C4FE7-33D1-E46F-2256-E53538104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Gráficos estadísticos</a:t>
            </a:r>
            <a:br>
              <a:rPr lang="es-ES" dirty="0"/>
            </a:br>
            <a:r>
              <a:rPr lang="es-ES" dirty="0"/>
              <a:t>Diagrama de tarta. Ejemplo 8.12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C2B26E-2A70-02B0-FD32-2799B75C2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 fontScale="70000" lnSpcReduction="20000"/>
          </a:bodyPr>
          <a:lstStyle/>
          <a:p>
            <a:r>
              <a:rPr lang="es-ES" dirty="0"/>
              <a:t>Para evaluar la efectividad de un procesador para un determinado tipo de tareas, registramos el tiempo de CPU para una muestra de 30 trabajos elegidos aleatoriamente (en segundos)</a:t>
            </a:r>
          </a:p>
          <a:p>
            <a:r>
              <a:rPr lang="es-ES" dirty="0"/>
              <a:t>𝑆=(9, 15, 19, 22, 24, 25, 30, 34, 35, 35, 36, 36, 37, 38, 42, 43, 46, 48, 54, 55, 56, 56, 59,  62, 69, 70, 82, 82, 89, 139)</a:t>
            </a:r>
          </a:p>
          <a:p>
            <a:r>
              <a:rPr lang="es-ES" dirty="0"/>
              <a:t>Dibujar un diagrama de tarta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659FFAB1-A163-9732-2B05-F3E9AB7A9D3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45889" y="3572192"/>
              <a:ext cx="1507271" cy="2966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07379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542692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457200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𝑭𝒊𝒍𝒂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noProof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noProof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noProof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0" i="0" kern="100" noProof="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580361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82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113768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89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620406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139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498490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659FFAB1-A163-9732-2B05-F3E9AB7A9D3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45889" y="3572192"/>
              <a:ext cx="1507271" cy="2966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07379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542692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457200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05" t="-1639" r="-201205" b="-7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3333" t="-1639" r="-85556" b="-7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32000" t="-1639" r="-2667" b="-7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32000" t="-101639" r="-2667" b="-6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noProof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3333" t="-201639" r="-85556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32000" t="-201639" r="-2667" b="-5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noProof="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3333" t="-301639" r="-8555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32000" t="-301639" r="-2667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80361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82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113768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89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620406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139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1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32000" t="-701639" r="-2667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984904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Imagen 7">
            <a:extLst>
              <a:ext uri="{FF2B5EF4-FFF2-40B4-BE49-F238E27FC236}">
                <a16:creationId xmlns:a16="http://schemas.microsoft.com/office/drawing/2014/main" id="{06DF5D20-C7D0-0EDF-0D05-4C8D77525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55795"/>
            <a:ext cx="3686351" cy="3383118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321444-1601-F751-024C-F78CAD374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19194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55224-D2CB-1A49-058F-533C99B2A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Gráficos estadísticos</a:t>
            </a:r>
            <a:br>
              <a:rPr lang="es-ES" dirty="0"/>
            </a:br>
            <a:r>
              <a:rPr lang="es-ES" dirty="0"/>
              <a:t>Histograma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67E543-D660-FD45-93EA-04BDF8771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29146" cy="4667251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Se utiliza para variables cuantitativas</a:t>
            </a:r>
          </a:p>
          <a:p>
            <a:r>
              <a:rPr lang="es-ES" dirty="0"/>
              <a:t>Es la representación gráfica de una tabla de frecuencias para datos agrupados</a:t>
            </a:r>
          </a:p>
          <a:p>
            <a:r>
              <a:rPr lang="es-ES" dirty="0"/>
              <a:t>Las frecuencias se representan como barras verticales unidas</a:t>
            </a:r>
          </a:p>
          <a:p>
            <a:r>
              <a:rPr lang="es-ES" dirty="0"/>
              <a:t>En el eje horizontal se representan los intervalos como base de cada barra</a:t>
            </a:r>
          </a:p>
          <a:p>
            <a:r>
              <a:rPr lang="es-ES" dirty="0"/>
              <a:t>En el eje vertical se representan las frecuencias, como altura de cada barra</a:t>
            </a:r>
          </a:p>
          <a:p>
            <a:r>
              <a:rPr lang="es-ES" dirty="0"/>
              <a:t>Tipos</a:t>
            </a:r>
          </a:p>
          <a:p>
            <a:pPr lvl="1"/>
            <a:r>
              <a:rPr lang="es-ES" dirty="0"/>
              <a:t>Histograma de frecuencias (absolutas)</a:t>
            </a:r>
          </a:p>
          <a:p>
            <a:pPr lvl="1"/>
            <a:r>
              <a:rPr lang="es-ES" dirty="0"/>
              <a:t>Histograma de frecuencias relativas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E909FD-7119-F6E5-A093-99DE9D825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23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021EA207-A93C-7542-BFD8-62C7FCB690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1028062"/>
                  </p:ext>
                </p:extLst>
              </p:nvPr>
            </p:nvGraphicFramePr>
            <p:xfrm>
              <a:off x="7938415" y="1912186"/>
              <a:ext cx="3311912" cy="25572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84195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991360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460275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1276082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</a:tblGrid>
                  <a:tr h="23388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200" b="1" i="1" smtClean="0">
                                    <a:latin typeface="Cambria Math" panose="02040503050406030204" pitchFamily="18" charset="0"/>
                                  </a:rPr>
                                  <m:t>𝑭𝒊𝒍𝒂</m:t>
                                </m:r>
                              </m:oMath>
                            </m:oMathPara>
                          </a14:m>
                          <a:endParaRPr lang="es-ES" sz="12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200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s-ES" sz="12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200" b="1" i="1" dirty="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oMath>
                            </m:oMathPara>
                          </a14:m>
                          <a:endParaRPr lang="es-ES" sz="12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200" b="1" i="1" dirty="0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oMath>
                            </m:oMathPara>
                          </a14:m>
                          <a:endParaRPr lang="es-ES" sz="12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24481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s-ES" sz="1200" b="0" i="1" kern="1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2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2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3/30=0.10</m:t>
                                </m:r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24481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20</m:t>
                                    </m:r>
                                  </m:e>
                                </m:d>
                                <m:r>
                                  <a:rPr lang="es-ES" sz="1200" b="0" i="1" kern="1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40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2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11/30=0.37</m:t>
                                </m:r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  <a:tr h="24481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40</m:t>
                                    </m:r>
                                  </m:e>
                                </m:d>
                                <m:r>
                                  <a:rPr lang="es-ES" sz="1200" b="0" i="1" kern="1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60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2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9/30=0.30</m:t>
                                </m:r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564914440"/>
                      </a:ext>
                    </a:extLst>
                  </a:tr>
                  <a:tr h="24481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60</m:t>
                                    </m:r>
                                  </m:e>
                                </m:d>
                                <m:r>
                                  <a:rPr lang="es-ES" sz="1200" b="0" i="1" kern="1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80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2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3/30=0.10</m:t>
                                </m:r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962231568"/>
                      </a:ext>
                    </a:extLst>
                  </a:tr>
                  <a:tr h="23557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80</m:t>
                                    </m:r>
                                  </m:e>
                                </m:d>
                                <m:r>
                                  <a:rPr lang="es-ES" sz="1200" b="0" i="1" kern="1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100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2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3/30=0.10</m:t>
                                </m:r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27219869"/>
                      </a:ext>
                    </a:extLst>
                  </a:tr>
                  <a:tr h="24481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100</m:t>
                                    </m:r>
                                  </m:e>
                                </m:d>
                                <m:r>
                                  <a:rPr lang="es-ES" sz="1200" b="0" i="1" kern="1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120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2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0/30=0</m:t>
                                </m:r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70158587"/>
                      </a:ext>
                    </a:extLst>
                  </a:tr>
                  <a:tr h="24481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120,140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2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1/30=0.03</m:t>
                                </m:r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382437931"/>
                      </a:ext>
                    </a:extLst>
                  </a:tr>
                  <a:tr h="2326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442813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021EA207-A93C-7542-BFD8-62C7FCB690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1028062"/>
                  </p:ext>
                </p:extLst>
              </p:nvPr>
            </p:nvGraphicFramePr>
            <p:xfrm>
              <a:off x="7938415" y="1912186"/>
              <a:ext cx="3311912" cy="25572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84195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991360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460275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1276082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42" t="-4444" r="-468750" b="-85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509" t="-4444" r="-176074" b="-85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6667" t="-4444" r="-282667" b="-85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524" t="-4444" r="-952" b="-85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2871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509" t="-100000" r="-176074" b="-7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46667" t="-100000" r="-282667" b="-7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59524" t="-100000" r="-952" b="-7148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2871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509" t="-195833" r="-176074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59524" t="-195833" r="-952" b="-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  <a:tr h="2871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509" t="-302128" r="-176074" b="-5127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59524" t="-302128" r="-952" b="-5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4914440"/>
                      </a:ext>
                    </a:extLst>
                  </a:tr>
                  <a:tr h="2871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509" t="-402128" r="-176074" b="-4127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59524" t="-402128" r="-952" b="-4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2231568"/>
                      </a:ext>
                    </a:extLst>
                  </a:tr>
                  <a:tr h="2871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509" t="-491667" r="-176074" b="-30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59524" t="-491667" r="-952" b="-30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7219869"/>
                      </a:ext>
                    </a:extLst>
                  </a:tr>
                  <a:tr h="2871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509" t="-604255" r="-176074" b="-2106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59524" t="-604255" r="-952" b="-2106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0158587"/>
                      </a:ext>
                    </a:extLst>
                  </a:tr>
                  <a:tr h="2871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509" t="-704255" r="-176074" b="-1106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59524" t="-704255" r="-952" b="-1106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2437931"/>
                      </a:ext>
                    </a:extLst>
                  </a:tr>
                  <a:tr h="27292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4428138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Imagen 9">
            <a:extLst>
              <a:ext uri="{FF2B5EF4-FFF2-40B4-BE49-F238E27FC236}">
                <a16:creationId xmlns:a16="http://schemas.microsoft.com/office/drawing/2014/main" id="{8FF0B464-105A-FCB0-0E70-FCC83CFE0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5395" y="4690956"/>
            <a:ext cx="4037952" cy="172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846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0C4FE7-33D1-E46F-2256-E53538104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Gráficos estadísticos</a:t>
            </a:r>
            <a:br>
              <a:rPr lang="es-ES" dirty="0"/>
            </a:br>
            <a:r>
              <a:rPr lang="es-ES" dirty="0"/>
              <a:t>Histograma. Ejemplo 8.12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CC2B26E-2A70-02B0-FD32-2799B75C28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Para evaluar la efectividad de un procesador para un determinado tipo de tareas, registramos el tiempo de CPU para una muestra de 30 trabajos elegidos aleatoriamente (en segundos)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9, 15, 19, 22, 24, 25, 30, 34, 35, 35, 36, 36, 37, 38, 42, 43, 46, 48,   54, 55, 56, 56, 59, 62, 69, 70, 82, 82, 89, 139</m:t>
                        </m:r>
                      </m:e>
                    </m:d>
                  </m:oMath>
                </a14:m>
                <a:endParaRPr lang="es-ES" dirty="0"/>
              </a:p>
              <a:p>
                <a:r>
                  <a:rPr lang="es-ES" dirty="0"/>
                  <a:t>a) Dibujar los histogramas de frecuencias absolutas y relativas con 7 intervalos (no está en el libro)</a:t>
                </a:r>
              </a:p>
              <a:p>
                <a:r>
                  <a:rPr lang="es-ES" dirty="0"/>
                  <a:t>b) Dibujar los histogramas de frecuencias absolutas y relativas con 14 intervalos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CC2B26E-2A70-02B0-FD32-2799B75C28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40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321444-1601-F751-024C-F78CAD374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283398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1BC26CB5-834B-79FA-73A5-34012018E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015" y="4843024"/>
            <a:ext cx="4706546" cy="222662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0CC670A-43EC-02BA-5364-13A8BAFA3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Gráficos estadísticos</a:t>
            </a:r>
            <a:br>
              <a:rPr lang="es-ES" dirty="0"/>
            </a:br>
            <a:r>
              <a:rPr lang="es-ES" dirty="0"/>
              <a:t>Histograma. Ejemplo 8.12 (solución)(a)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D5F978A-6FCC-2B98-56AB-353693297B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9599340" cy="98562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lphaLcParenR"/>
                </a:pPr>
                <a:r>
                  <a:rPr lang="es-ES" sz="2400" dirty="0"/>
                  <a:t>Con 7 intervalos (</a:t>
                </a:r>
                <a14:m>
                  <m:oMath xmlns:m="http://schemas.openxmlformats.org/officeDocument/2006/math">
                    <m:r>
                      <a:rPr lang="es-ES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ES" sz="2400" i="1" dirty="0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s-ES" sz="2400" dirty="0"/>
                  <a:t>)</a:t>
                </a:r>
              </a:p>
              <a:p>
                <a:pPr lvl="1"/>
                <a:r>
                  <a:rPr lang="es-ES" sz="1400" dirty="0"/>
                  <a:t>𝑆=(9, 15, 19, 22, 24, 25, 30, 34, 35, 35, 36, 36, 37, 38, 42, 43,  46, 48  54, 55, 56, 56, 59, 62, 69, 70, 82, 82, 89, 139)</a:t>
                </a:r>
              </a:p>
              <a:p>
                <a:pPr lvl="1"/>
                <a:endParaRPr lang="es-ES" sz="25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D5F978A-6FCC-2B98-56AB-353693297B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9599340" cy="985628"/>
              </a:xfrm>
              <a:blipFill>
                <a:blip r:embed="rId3"/>
                <a:stretch>
                  <a:fillRect l="-1017" t="-925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570C61A4-CF43-B109-33A0-98F50C4034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9439911"/>
                  </p:ext>
                </p:extLst>
              </p:nvPr>
            </p:nvGraphicFramePr>
            <p:xfrm>
              <a:off x="7495477" y="3022396"/>
              <a:ext cx="3636552" cy="28460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41459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1088535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505392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1401166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</a:tblGrid>
                  <a:tr h="23138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𝑭𝒊𝒍𝒂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2427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s-ES" sz="1400" b="0" i="1" kern="1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"/>
                                    <m:ctrlPr>
                                      <a:rPr lang="es-ES" sz="14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3/30=0.10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2427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20</m:t>
                                    </m:r>
                                  </m:e>
                                </m:d>
                                <m:r>
                                  <a:rPr lang="es-ES" sz="1400" b="0" i="1" kern="1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"/>
                                    <m:ctrlPr>
                                      <a:rPr lang="es-ES" sz="14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40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11/30=0.37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  <a:tr h="2427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40</m:t>
                                    </m:r>
                                  </m:e>
                                </m:d>
                                <m:r>
                                  <a:rPr lang="es-ES" sz="1400" b="0" i="1" kern="1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"/>
                                    <m:ctrlPr>
                                      <a:rPr lang="es-ES" sz="14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60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9/30=0.30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564914440"/>
                      </a:ext>
                    </a:extLst>
                  </a:tr>
                  <a:tr h="2427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60</m:t>
                                    </m:r>
                                  </m:e>
                                </m:d>
                                <m:r>
                                  <a:rPr lang="es-ES" sz="1400" b="0" i="1" kern="1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"/>
                                    <m:ctrlPr>
                                      <a:rPr lang="es-ES" sz="14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80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3/30=0.10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962231568"/>
                      </a:ext>
                    </a:extLst>
                  </a:tr>
                  <a:tr h="2427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80</m:t>
                                    </m:r>
                                  </m:e>
                                </m:d>
                                <m:r>
                                  <a:rPr lang="es-ES" sz="1400" b="0" i="1" kern="1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"/>
                                    <m:ctrlPr>
                                      <a:rPr lang="es-ES" sz="14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100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3/30=0.10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27219869"/>
                      </a:ext>
                    </a:extLst>
                  </a:tr>
                  <a:tr h="2427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100</m:t>
                                    </m:r>
                                  </m:e>
                                </m:d>
                                <m:r>
                                  <a:rPr lang="es-ES" sz="1400" b="0" i="1" kern="1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"/>
                                    <m:ctrlPr>
                                      <a:rPr lang="es-ES" sz="14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120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0/30=0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70158587"/>
                      </a:ext>
                    </a:extLst>
                  </a:tr>
                  <a:tr h="2427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s-ES" sz="14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120,140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4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1/30=0.03</m:t>
                                </m:r>
                              </m:oMath>
                            </m:oMathPara>
                          </a14:m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382437931"/>
                      </a:ext>
                    </a:extLst>
                  </a:tr>
                  <a:tr h="2301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442813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570C61A4-CF43-B109-33A0-98F50C4034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9439911"/>
                  </p:ext>
                </p:extLst>
              </p:nvPr>
            </p:nvGraphicFramePr>
            <p:xfrm>
              <a:off x="7495477" y="3022396"/>
              <a:ext cx="3636552" cy="28460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41459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1088535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505392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1401166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952" t="-4000" r="-471429" b="-85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9218" t="-4000" r="-176536" b="-85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39286" t="-4000" r="-276190" b="-85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60435" t="-4000" r="-870" b="-85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1972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9218" t="-98113" r="-176536" b="-705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39286" t="-98113" r="-276190" b="-705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60435" t="-98113" r="-870" b="-7056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1972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9218" t="-201923" r="-176536" b="-61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60435" t="-201923" r="-870" b="-61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  <a:tr h="31972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9218" t="-296226" r="-176536" b="-5075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60435" t="-296226" r="-870" b="-5075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4914440"/>
                      </a:ext>
                    </a:extLst>
                  </a:tr>
                  <a:tr h="31972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9218" t="-403846" r="-176536" b="-417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60435" t="-403846" r="-870" b="-417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2231568"/>
                      </a:ext>
                    </a:extLst>
                  </a:tr>
                  <a:tr h="31972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9218" t="-494340" r="-176536" b="-3094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60435" t="-494340" r="-870" b="-3094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7219869"/>
                      </a:ext>
                    </a:extLst>
                  </a:tr>
                  <a:tr h="31972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9218" t="-594340" r="-176536" b="-2094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60435" t="-594340" r="-870" b="-2094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0158587"/>
                      </a:ext>
                    </a:extLst>
                  </a:tr>
                  <a:tr h="31972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9218" t="-707692" r="-176536" b="-113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60435" t="-707692" r="-870" b="-113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2437931"/>
                      </a:ext>
                    </a:extLst>
                  </a:tr>
                  <a:tr h="30314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4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442813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F712EB5E-EC98-8487-1A71-A8A879264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 rot="16200000">
            <a:off x="800039" y="5495567"/>
            <a:ext cx="1724399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900" dirty="0"/>
              <a:t>0   0.07   0.13    0.2    0.27    0.33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825DC0A4-78D7-75A0-DCBC-6CD5BB8D8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015" y="2702349"/>
            <a:ext cx="4566772" cy="214067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D70F15-A55D-8C61-272F-DC788FB0C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374835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E154B4AE-0A74-A5A1-C1FE-47D2959C1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759" y="2795782"/>
            <a:ext cx="4320000" cy="202567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BF999E62-F4CC-D326-B31A-0DA5CA6A4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759" y="4831657"/>
            <a:ext cx="4320000" cy="204433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0CC670A-43EC-02BA-5364-13A8BAFA3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Gráficos estadísticos</a:t>
            </a:r>
            <a:br>
              <a:rPr lang="es-ES" dirty="0"/>
            </a:br>
            <a:r>
              <a:rPr lang="es-ES" dirty="0"/>
              <a:t>Histograma. Ejemplo 8.12 (solución)(b)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D5F978A-6FCC-2B98-56AB-353693297B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5105400" cy="435133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lphaLcParenR" startAt="2"/>
                </a:pPr>
                <a:r>
                  <a:rPr lang="es-ES" sz="2400" dirty="0"/>
                  <a:t>Con 14 intervalos (</a:t>
                </a:r>
                <a14:m>
                  <m:oMath xmlns:m="http://schemas.openxmlformats.org/officeDocument/2006/math">
                    <m:r>
                      <a:rPr lang="es-ES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ES" sz="2400" i="1" dirty="0" smtClean="0">
                        <a:latin typeface="Cambria Math" panose="02040503050406030204" pitchFamily="18" charset="0"/>
                      </a:rPr>
                      <m:t>=14</m:t>
                    </m:r>
                  </m:oMath>
                </a14:m>
                <a:r>
                  <a:rPr lang="es-ES" sz="2400" dirty="0"/>
                  <a:t>)</a:t>
                </a:r>
              </a:p>
              <a:p>
                <a:pPr lvl="1"/>
                <a:r>
                  <a:rPr lang="es-ES" sz="1400" dirty="0"/>
                  <a:t>𝑆=(9, 15, 19, 22, 24, 25, 30, 34, 35, 35, 36, 36, 37, 38, 42, 43,  46, 48  54, 55, 56, 56, 59, 62, 69, 70, 82, 82, 89, 139)</a:t>
                </a:r>
              </a:p>
              <a:p>
                <a:pPr lvl="1"/>
                <a:endParaRPr lang="es-ES" sz="25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D5F978A-6FCC-2B98-56AB-353693297B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5105400" cy="4351338"/>
              </a:xfrm>
              <a:blipFill>
                <a:blip r:embed="rId4"/>
                <a:stretch>
                  <a:fillRect l="-1912" t="-210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570C61A4-CF43-B109-33A0-98F50C4034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9827348"/>
                  </p:ext>
                </p:extLst>
              </p:nvPr>
            </p:nvGraphicFramePr>
            <p:xfrm>
              <a:off x="7181688" y="1925574"/>
              <a:ext cx="3636552" cy="456730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41459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1088535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505392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1401166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</a:tblGrid>
                  <a:tr h="23138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200" b="1" i="1" smtClean="0">
                                    <a:latin typeface="Cambria Math" panose="02040503050406030204" pitchFamily="18" charset="0"/>
                                  </a:rPr>
                                  <m:t>𝑭𝒊𝒍𝒂</m:t>
                                </m:r>
                              </m:oMath>
                            </m:oMathPara>
                          </a14:m>
                          <a:endParaRPr lang="es-ES" sz="12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200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s-ES" sz="12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200" b="1" i="1" dirty="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oMath>
                            </m:oMathPara>
                          </a14:m>
                          <a:endParaRPr lang="es-ES" sz="12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200" b="1" i="1" dirty="0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oMath>
                            </m:oMathPara>
                          </a14:m>
                          <a:endParaRPr lang="es-ES" sz="12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2427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s-ES" sz="1200" b="0" i="1" kern="1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2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2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1/30=0.03</m:t>
                                </m:r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2427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10</m:t>
                                    </m:r>
                                  </m:e>
                                </m:d>
                                <m:r>
                                  <a:rPr lang="es-ES" sz="1200" b="0" i="1" kern="1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2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2/30=0.07</m:t>
                                </m:r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  <a:tr h="2427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20</m:t>
                                    </m:r>
                                  </m:e>
                                </m:d>
                                <m:r>
                                  <a:rPr lang="es-ES" sz="1200" b="0" i="1" kern="1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2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3/30=0.10</m:t>
                                </m:r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564914440"/>
                      </a:ext>
                    </a:extLst>
                  </a:tr>
                  <a:tr h="2427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30</m:t>
                                    </m:r>
                                  </m:e>
                                </m:d>
                                <m:r>
                                  <a:rPr lang="es-ES" sz="1200" b="0" i="1" kern="1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40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2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8/30=0.27</m:t>
                                </m:r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962231568"/>
                      </a:ext>
                    </a:extLst>
                  </a:tr>
                  <a:tr h="2427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40</m:t>
                                    </m:r>
                                  </m:e>
                                </m:d>
                                <m:r>
                                  <a:rPr lang="es-ES" sz="1200" b="0" i="1" kern="1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50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2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4/30=0.13</m:t>
                                </m:r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27219869"/>
                      </a:ext>
                    </a:extLst>
                  </a:tr>
                  <a:tr h="2427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50</m:t>
                                    </m:r>
                                  </m:e>
                                </m:d>
                                <m:r>
                                  <a:rPr lang="es-ES" sz="1200" b="0" i="1" kern="1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60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2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5/30=0.17</m:t>
                                </m:r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70158587"/>
                      </a:ext>
                    </a:extLst>
                  </a:tr>
                  <a:tr h="2427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60,70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2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2/30=0.07</m:t>
                                </m:r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382437931"/>
                      </a:ext>
                    </a:extLst>
                  </a:tr>
                  <a:tr h="2301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70</m:t>
                                    </m:r>
                                  </m:e>
                                </m:d>
                                <m:r>
                                  <a:rPr lang="es-ES" sz="1200" b="0" i="1" kern="1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80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2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2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3/30=0.03</m:t>
                                </m:r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44281383"/>
                      </a:ext>
                    </a:extLst>
                  </a:tr>
                  <a:tr h="2301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80</m:t>
                                    </m:r>
                                  </m:e>
                                </m:d>
                                <m:r>
                                  <a:rPr lang="es-ES" sz="1200" b="0" i="1" kern="1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90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200" b="0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3/30=0.10</m:t>
                                </m:r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892298110"/>
                      </a:ext>
                    </a:extLst>
                  </a:tr>
                  <a:tr h="2301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90</m:t>
                                    </m:r>
                                  </m:e>
                                </m:d>
                                <m:r>
                                  <a:rPr lang="es-ES" sz="1200" b="0" i="1" kern="1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100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2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0/30=0</m:t>
                                </m:r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90371004"/>
                      </a:ext>
                    </a:extLst>
                  </a:tr>
                  <a:tr h="2301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100</m:t>
                                    </m:r>
                                  </m:e>
                                </m:d>
                                <m:r>
                                  <a:rPr lang="es-ES" sz="1200" b="0" i="1" kern="1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110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2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0/30=0</m:t>
                                </m:r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60507529"/>
                      </a:ext>
                    </a:extLst>
                  </a:tr>
                  <a:tr h="2301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110</m:t>
                                    </m:r>
                                  </m:e>
                                </m:d>
                                <m:r>
                                  <a:rPr lang="es-ES" sz="1200" b="0" i="1" kern="1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120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2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0/30=0</m:t>
                                </m:r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9999415"/>
                      </a:ext>
                    </a:extLst>
                  </a:tr>
                  <a:tr h="2301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120</m:t>
                                    </m:r>
                                  </m:e>
                                </m:d>
                                <m:r>
                                  <a:rPr lang="es-ES" sz="1200" b="0" i="1" kern="1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130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2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0/30=0</m:t>
                                </m:r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47063365"/>
                      </a:ext>
                    </a:extLst>
                  </a:tr>
                  <a:tr h="2301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200" b="0" i="1" kern="1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130,140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2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1/30=0.03</m:t>
                                </m:r>
                              </m:oMath>
                            </m:oMathPara>
                          </a14:m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553878785"/>
                      </a:ext>
                    </a:extLst>
                  </a:tr>
                  <a:tr h="2301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0771472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570C61A4-CF43-B109-33A0-98F50C4034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9827348"/>
                  </p:ext>
                </p:extLst>
              </p:nvPr>
            </p:nvGraphicFramePr>
            <p:xfrm>
              <a:off x="7181688" y="1925574"/>
              <a:ext cx="3636552" cy="456730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41459">
                      <a:extLst>
                        <a:ext uri="{9D8B030D-6E8A-4147-A177-3AD203B41FA5}">
                          <a16:colId xmlns:a16="http://schemas.microsoft.com/office/drawing/2014/main" val="1627838218"/>
                        </a:ext>
                      </a:extLst>
                    </a:gridCol>
                    <a:gridCol w="1088535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505392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1401166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952" t="-4444" r="-470476" b="-158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9218" t="-4444" r="-175978" b="-158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43373" t="-4444" r="-279518" b="-158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60000" t="-4444" r="-870" b="-158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2871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9218" t="-100000" r="-175978" b="-14170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343373" t="-100000" r="-279518" b="-14170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160000" t="-100000" r="-870" b="-14170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2871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9218" t="-195833" r="-175978" b="-128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160000" t="-195833" r="-870" b="-128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6318791"/>
                      </a:ext>
                    </a:extLst>
                  </a:tr>
                  <a:tr h="2871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9218" t="-302128" r="-175978" b="-12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160000" t="-302128" r="-870" b="-12148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4914440"/>
                      </a:ext>
                    </a:extLst>
                  </a:tr>
                  <a:tr h="2871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9218" t="-402128" r="-175978" b="-11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160000" t="-402128" r="-870" b="-11148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2231568"/>
                      </a:ext>
                    </a:extLst>
                  </a:tr>
                  <a:tr h="2871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9218" t="-502128" r="-175978" b="-10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160000" t="-502128" r="-870" b="-10148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7219869"/>
                      </a:ext>
                    </a:extLst>
                  </a:tr>
                  <a:tr h="2871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9218" t="-602128" r="-175978" b="-9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160000" t="-602128" r="-870" b="-9148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0158587"/>
                      </a:ext>
                    </a:extLst>
                  </a:tr>
                  <a:tr h="2871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9218" t="-687500" r="-175978" b="-79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160000" t="-687500" r="-870" b="-795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2437931"/>
                      </a:ext>
                    </a:extLst>
                  </a:tr>
                  <a:tr h="2871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9218" t="-804255" r="-175978" b="-7127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343373" t="-804255" r="-279518" b="-7127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160000" t="-804255" r="-870" b="-7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4281383"/>
                      </a:ext>
                    </a:extLst>
                  </a:tr>
                  <a:tr h="2871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9218" t="-904255" r="-175978" b="-6127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160000" t="-904255" r="-870" b="-6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2298110"/>
                      </a:ext>
                    </a:extLst>
                  </a:tr>
                  <a:tr h="2871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9218" t="-1004255" r="-175978" b="-5127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160000" t="-1004255" r="-870" b="-5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0371004"/>
                      </a:ext>
                    </a:extLst>
                  </a:tr>
                  <a:tr h="2871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9218" t="-1104255" r="-175978" b="-4127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160000" t="-1104255" r="-870" b="-4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0507529"/>
                      </a:ext>
                    </a:extLst>
                  </a:tr>
                  <a:tr h="2871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9218" t="-1179167" r="-175978" b="-30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160000" t="-1179167" r="-870" b="-30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9999415"/>
                      </a:ext>
                    </a:extLst>
                  </a:tr>
                  <a:tr h="2871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9218" t="-1306383" r="-175978" b="-2106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160000" t="-1306383" r="-870" b="-2106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7063365"/>
                      </a:ext>
                    </a:extLst>
                  </a:tr>
                  <a:tr h="2871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14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9218" t="-1406383" r="-175978" b="-1106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160000" t="-1406383" r="-870" b="-1106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3878785"/>
                      </a:ext>
                    </a:extLst>
                  </a:tr>
                  <a:tr h="27292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1200" b="0" i="0" kern="1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200" b="0" i="0" kern="1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0771472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D70F15-A55D-8C61-272F-DC788FB0C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26</a:t>
            </a:fld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DDCE525-E00A-4EEF-A1AD-21734DB0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 rot="16200000">
            <a:off x="718408" y="5250728"/>
            <a:ext cx="1969288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900" dirty="0"/>
              <a:t>0  0.03 0.07 0.1 0.13 0.17 0.2 0.23</a:t>
            </a:r>
          </a:p>
        </p:txBody>
      </p:sp>
    </p:spTree>
    <p:extLst>
      <p:ext uri="{BB962C8B-B14F-4D97-AF65-F5344CB8AC3E}">
        <p14:creationId xmlns:p14="http://schemas.microsoft.com/office/powerpoint/2010/main" val="32031187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2CD2B7-4E34-EC61-D23A-EBEEC3234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Gráficos estadísticos</a:t>
            </a:r>
            <a:br>
              <a:rPr lang="es-ES" dirty="0"/>
            </a:br>
            <a:r>
              <a:rPr lang="es-ES" dirty="0"/>
              <a:t>Polígono de frecuencias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E439DA-366D-A816-C945-571E53581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Un polígono de frecuencias se dibuja con líneas que unen los puntos medios de la parte superior de las barras de un histograma</a:t>
            </a:r>
          </a:p>
          <a:p>
            <a:r>
              <a:rPr lang="es-ES" dirty="0"/>
              <a:t>Ejemplo 8.12</a:t>
            </a:r>
          </a:p>
          <a:p>
            <a:pPr lvl="1"/>
            <a:r>
              <a:rPr lang="es-ES" sz="2400" dirty="0"/>
              <a:t>𝑆=(9, 15, 19, 22, 24, 25, 30, 34, 35, 35, 36, 36, 37, 38, 42, 43,  46, 48  54, 55, 56, 56, 59, 62, 69, 70, 82, 82, 89, 139)</a:t>
            </a:r>
          </a:p>
          <a:p>
            <a:pPr lvl="1"/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B2FFCF-76E4-C4EF-11D9-EE97B49CC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27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055D620-F44B-14B5-3E81-6F10C1C27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269" y="4113723"/>
            <a:ext cx="4259763" cy="206324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E9A506A-0950-D9F4-951B-2614E5BEF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2704" y="4100799"/>
            <a:ext cx="4997083" cy="23607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8FEFF3B-502C-D43A-698C-BAB55E7953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4449337" y="4538546"/>
                <a:ext cx="80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8FEFF3B-502C-D43A-698C-BAB55E7953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337" y="4538546"/>
                <a:ext cx="80054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925493F-2EA9-15D7-C1D8-0CF0AEB161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9733841" y="4538546"/>
                <a:ext cx="9287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=14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925493F-2EA9-15D7-C1D8-0CF0AEB161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3841" y="4538546"/>
                <a:ext cx="92878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17324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CD75C3-746D-876B-2BBB-B440FFF28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Gráficos estadísticos</a:t>
            </a:r>
            <a:br>
              <a:rPr lang="es-ES" dirty="0"/>
            </a:br>
            <a:r>
              <a:rPr lang="es-ES" dirty="0"/>
              <a:t>Diagrama de tallo y hojas (</a:t>
            </a:r>
            <a:r>
              <a:rPr lang="es-ES" i="1" dirty="0" err="1"/>
              <a:t>Stem</a:t>
            </a:r>
            <a:r>
              <a:rPr lang="es-ES" i="1" dirty="0"/>
              <a:t>-and-</a:t>
            </a:r>
            <a:r>
              <a:rPr lang="es-ES" i="1" dirty="0" err="1"/>
              <a:t>leaf</a:t>
            </a:r>
            <a:r>
              <a:rPr lang="es-ES" i="1" dirty="0"/>
              <a:t> </a:t>
            </a:r>
            <a:r>
              <a:rPr lang="es-ES" i="1" dirty="0" err="1"/>
              <a:t>plot</a:t>
            </a:r>
            <a:r>
              <a:rPr lang="es-E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F0686F-51D4-AFF3-306C-EC7B5B1569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8829908" cy="489585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s-ES" dirty="0"/>
                  <a:t>Se utiliza para variables estadísticas cuantitativas</a:t>
                </a:r>
              </a:p>
              <a:p>
                <a:r>
                  <a:rPr lang="es-ES" dirty="0"/>
                  <a:t>Se agrupan los valores por intervalos en filas </a:t>
                </a:r>
              </a:p>
              <a:p>
                <a:pPr lvl="1"/>
                <a:r>
                  <a:rPr lang="es-ES" dirty="0"/>
                  <a:t>Ejemplo: primera fila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0,9</m:t>
                        </m:r>
                      </m:e>
                    </m:d>
                  </m:oMath>
                </a14:m>
                <a:r>
                  <a:rPr lang="es-ES" dirty="0"/>
                  <a:t>, segunda fila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10,19</m:t>
                        </m:r>
                      </m:e>
                    </m:d>
                  </m:oMath>
                </a14:m>
                <a:r>
                  <a:rPr lang="es-ES" dirty="0"/>
                  <a:t>, tercera fila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r>
                  <a:rPr lang="es-ES" dirty="0"/>
                  <a:t>, …</a:t>
                </a:r>
              </a:p>
              <a:p>
                <a:r>
                  <a:rPr lang="es-ES" dirty="0"/>
                  <a:t>Se dibuja una barra vertical</a:t>
                </a:r>
              </a:p>
              <a:p>
                <a:pPr lvl="1"/>
                <a:r>
                  <a:rPr lang="es-ES" dirty="0"/>
                  <a:t>La parte izquierda es el “tallo”</a:t>
                </a:r>
              </a:p>
              <a:p>
                <a:pPr lvl="1"/>
                <a:r>
                  <a:rPr lang="es-ES" dirty="0"/>
                  <a:t>La parte derecha son las “hojas”</a:t>
                </a:r>
              </a:p>
              <a:p>
                <a:r>
                  <a:rPr lang="es-ES" dirty="0"/>
                  <a:t>En cada línea horizontal (fila) se escribe:</a:t>
                </a:r>
              </a:p>
              <a:p>
                <a:pPr lvl="1"/>
                <a:r>
                  <a:rPr lang="es-ES" dirty="0"/>
                  <a:t>a la derecha de la barra el primer dígito de cada uno de los valores que pertenece al intervalo</a:t>
                </a:r>
              </a:p>
              <a:p>
                <a:pPr lvl="1"/>
                <a:r>
                  <a:rPr lang="es-ES" dirty="0"/>
                  <a:t>a la izquierda, el resto de los dígitos de cada valor</a:t>
                </a:r>
              </a:p>
              <a:p>
                <a:r>
                  <a:rPr lang="es-ES" dirty="0"/>
                  <a:t>Ejemplo 8.12</a:t>
                </a:r>
              </a:p>
              <a:p>
                <a:pPr lvl="1"/>
                <a:r>
                  <a:rPr lang="es-ES" dirty="0"/>
                  <a:t>𝑆=(9, 15, 19, 22, 24, 25, 30, 34, 35, 35, 36, 36, 37, 38, 42, 43, 46, 48, 54, 55, 56, 56, 59,  62, 69, 70, 82, 82, 89, 139)</a:t>
                </a:r>
              </a:p>
              <a:p>
                <a:pPr lvl="1"/>
                <a:r>
                  <a:rPr lang="es-ES" dirty="0"/>
                  <a:t>Se podría dibujar un diagrama con 14 intervalos (filas), del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0,9</m:t>
                        </m:r>
                      </m:e>
                    </m:d>
                  </m:oMath>
                </a14:m>
                <a:r>
                  <a:rPr lang="es-ES" dirty="0"/>
                  <a:t> 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En la tercera fila se escribirían los valores 22, 24 y 25, que pertenecen al intervalo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20,29</m:t>
                        </m:r>
                      </m:e>
                    </m:d>
                  </m:oMath>
                </a14:m>
                <a:r>
                  <a:rPr lang="es-ES" dirty="0"/>
                  <a:t>. A la derecha de la barra vertical el primer dígito de cada uno esos valores de menor a mayor: 2, 4 y 5, y a la izquierda el dígito restante: 2. </a:t>
                </a:r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F0686F-51D4-AFF3-306C-EC7B5B1569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8829908" cy="4895850"/>
              </a:xfrm>
              <a:blipFill>
                <a:blip r:embed="rId2"/>
                <a:stretch>
                  <a:fillRect l="-759" t="-248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8A6506-01BF-D134-06DA-DF0DACCD8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28</a:t>
            </a:fld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2943C66-F05D-42DE-425E-8161F3151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6438" y="2523331"/>
            <a:ext cx="154305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6201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632AD1-4CA4-C5C3-84C0-B014B7992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Gráficos estadísticos</a:t>
            </a:r>
            <a:br>
              <a:rPr lang="es-ES" dirty="0"/>
            </a:br>
            <a:r>
              <a:rPr lang="es-ES" dirty="0"/>
              <a:t>Diagrama de tallo y hojas. Escala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69792A8-E060-913A-8700-59097D8072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510454" cy="4351338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s-ES" dirty="0"/>
                  <a:t>Se pueden representar números con decimales multiplicando los dígitos por una escala</a:t>
                </a:r>
              </a:p>
              <a:p>
                <a:r>
                  <a:rPr lang="es-ES" dirty="0"/>
                  <a:t>Por defecto la escala es 1, para números enteros</a:t>
                </a:r>
              </a:p>
              <a:p>
                <a:r>
                  <a:rPr lang="es-ES" dirty="0"/>
                  <a:t>Para número con decimales se puede usar 0.1, 0.01, 0.001, etc.</a:t>
                </a:r>
              </a:p>
              <a:p>
                <a:r>
                  <a:rPr lang="es-ES" dirty="0"/>
                  <a:t>Cada número es: </a:t>
                </a:r>
                <a14:m>
                  <m:oMath xmlns:m="http://schemas.openxmlformats.org/officeDocument/2006/math">
                    <m:r>
                      <a:rPr lang="es-ES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s-E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𝑡𝑎𝑙𝑙𝑜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h𝑜𝑗𝑎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s-E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𝑒𝑠𝑐𝑎𝑙𝑎</m:t>
                    </m:r>
                  </m:oMath>
                </a14:m>
                <a:endParaRPr lang="es-ES" dirty="0"/>
              </a:p>
              <a:p>
                <a:r>
                  <a:rPr lang="es-ES" dirty="0"/>
                  <a:t>Ejemplo 8.19:</a:t>
                </a:r>
              </a:p>
              <a:p>
                <a:pPr lvl="1"/>
                <a:r>
                  <a:rPr lang="es-ES" i="1" dirty="0"/>
                  <a:t>S=(0.003, 0.004, 0.010, 0.016, 0.019, 0.029, 0.038, 0.046, 0.066, 0.067, 0.071, 0.078)</a:t>
                </a:r>
              </a:p>
              <a:p>
                <a:pPr lvl="1"/>
                <a:r>
                  <a:rPr lang="es-ES" dirty="0"/>
                  <a:t>El primero sería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∙0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+3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∙0.001=0.003</m:t>
                    </m:r>
                  </m:oMath>
                </a14:m>
                <a:endParaRPr lang="es-ES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s-ES" dirty="0"/>
                  <a:t>El último sería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7+8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∙0.001=0.078</m:t>
                    </m:r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69792A8-E060-913A-8700-59097D8072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510454" cy="4351338"/>
              </a:xfrm>
              <a:blipFill>
                <a:blip r:embed="rId2"/>
                <a:stretch>
                  <a:fillRect l="-1312" t="-266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1EB165-F496-D1D4-445F-9C3F40DF8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29</a:t>
            </a:fld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7CA748A-F167-CED0-FC26-93DD82225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391" y="3243688"/>
            <a:ext cx="1326414" cy="262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0353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28196F-2526-C4F3-5052-DFF2E5692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Gráficos estadísticos</a:t>
            </a:r>
            <a:br>
              <a:rPr lang="es-ES" dirty="0"/>
            </a:br>
            <a:r>
              <a:rPr lang="es-ES" dirty="0"/>
              <a:t>Diagrama de tallo y hojas vs Histograma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8F116F-AA91-5CC9-ADA0-D5429E4E6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Si se gira un diagrama de tallo y hojas, se asemeja a un histograma</a:t>
            </a:r>
          </a:p>
          <a:p>
            <a:r>
              <a:rPr lang="es-ES" dirty="0"/>
              <a:t>Pero el diagrama de tallo y hojas tiene más información </a:t>
            </a:r>
            <a:r>
              <a:rPr lang="es-ES" dirty="0">
                <a:sym typeface="Wingdings" panose="05000000000000000000" pitchFamily="2" charset="2"/>
              </a:rPr>
              <a:t></a:t>
            </a:r>
            <a:r>
              <a:rPr lang="es-ES" dirty="0"/>
              <a:t> se pueden ver todos los valores, no sólo las frecuencias absolutas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B6A1DB-941D-F5B6-E441-51237C69C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30</a:t>
            </a:fld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E0D4438-A0A6-EF3B-B16B-540A06E0D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30" y="3721333"/>
            <a:ext cx="5236939" cy="245563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72A6AA7-28D0-2739-2B7E-9873707E4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788449" y="3169619"/>
            <a:ext cx="1943296" cy="377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6813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0BB684-B385-BA44-2B5C-A4CEF83FC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Gráficos estadísticos</a:t>
            </a:r>
            <a:br>
              <a:rPr lang="es-ES" dirty="0"/>
            </a:br>
            <a:r>
              <a:rPr lang="es-ES" dirty="0"/>
              <a:t>Diagrama de caja (</a:t>
            </a:r>
            <a:r>
              <a:rPr lang="es-ES" i="1" dirty="0" err="1"/>
              <a:t>Boxplot</a:t>
            </a:r>
            <a:r>
              <a:rPr lang="es-E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0F87382-9C03-383C-F9E4-0C85FD1E91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s-ES" dirty="0"/>
                  <a:t>Es un diagrama para las siguientes medidas de una variable estadística cuantitativa:</a:t>
                </a:r>
              </a:p>
              <a:p>
                <a:pPr lvl="1"/>
                <a:r>
                  <a:rPr lang="es-ES" dirty="0"/>
                  <a:t>Mínimo, máximo, primer cuartil, tercer cuartil, mediana, rango intercuartílico</a:t>
                </a:r>
              </a:p>
              <a:p>
                <a:pPr lvl="1"/>
                <a:r>
                  <a:rPr lang="es-ES" dirty="0"/>
                  <a:t>También se representan los valores atípicos</a:t>
                </a:r>
              </a:p>
              <a:p>
                <a:pPr lvl="1"/>
                <a:r>
                  <a:rPr lang="es-ES" dirty="0"/>
                  <a:t>En algunos casos, también se representa la media</a:t>
                </a:r>
              </a:p>
              <a:p>
                <a:r>
                  <a:rPr lang="es-ES" dirty="0"/>
                  <a:t>Se dibuja:</a:t>
                </a:r>
              </a:p>
              <a:p>
                <a:pPr lvl="1"/>
                <a:r>
                  <a:rPr lang="es-ES" dirty="0"/>
                  <a:t>una caja entre el primer y tercer cuartil</a:t>
                </a:r>
              </a:p>
              <a:p>
                <a:pPr lvl="1"/>
                <a:r>
                  <a:rPr lang="es-ES" dirty="0"/>
                  <a:t>una línea continua dentro de la caja que representa la mediana</a:t>
                </a:r>
              </a:p>
              <a:p>
                <a:pPr lvl="1"/>
                <a:r>
                  <a:rPr lang="es-ES" dirty="0"/>
                  <a:t>unos “bigotes” (</a:t>
                </a:r>
                <a:r>
                  <a:rPr lang="es-ES" i="1" dirty="0" err="1"/>
                  <a:t>whiskers</a:t>
                </a:r>
                <a:r>
                  <a:rPr lang="es-ES" dirty="0"/>
                  <a:t>) que llegan hasta el primer valor y último valor (derecha) que no son datos atípicos, aplicando la regla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1.5(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𝐼𝑄𝑅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unos puntos que representan los valores atípicos</a:t>
                </a:r>
              </a:p>
              <a:p>
                <a:pPr lvl="1"/>
                <a:r>
                  <a:rPr lang="es-ES" dirty="0"/>
                  <a:t>En algunos casos, una línea discontinua o un punto (o cruz) dentro de la caja que representa la media</a:t>
                </a:r>
              </a:p>
              <a:p>
                <a:r>
                  <a:rPr lang="es-ES" dirty="0"/>
                  <a:t>Se puede representar en vertical u horizontal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0F87382-9C03-383C-F9E4-0C85FD1E91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 b="-322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961E41E-1B38-68FA-6F09-489565035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31</a:t>
            </a:fld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57B0321-CA91-421F-7CA5-D92F8ACED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509" y="2923825"/>
            <a:ext cx="3539351" cy="7802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995810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0C4FE7-33D1-E46F-2256-E53538104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Gráficos estadísticos</a:t>
            </a:r>
            <a:br>
              <a:rPr lang="es-ES" dirty="0"/>
            </a:br>
            <a:r>
              <a:rPr lang="es-ES" dirty="0"/>
              <a:t>Diagrama de caja. Ejemplo 8.12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CC2B26E-2A70-02B0-FD32-2799B75C28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Para evaluar la efectividad de un procesador para un determinado tipo de tareas, registramos el tiempo de CPU para una muestra de 30 trabajos elegidos aleatoriamente (en segundos)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9, 15, 19, 22, 24, 25, 30, 34, 35, 35, 36, 36, 37, 38, 42, 43, 46, 48,   54, 55, 56, 56, 59, 62, 69, 70, 82, 82, 89, 139</m:t>
                        </m:r>
                      </m:e>
                    </m:d>
                  </m:oMath>
                </a14:m>
                <a:endParaRPr lang="es-ES" dirty="0"/>
              </a:p>
              <a:p>
                <a:r>
                  <a:rPr lang="es-ES" dirty="0"/>
                  <a:t>a) Dibujar el diagrama de caja en horizontal (incluyendo la media)</a:t>
                </a:r>
              </a:p>
              <a:p>
                <a:r>
                  <a:rPr lang="es-ES" dirty="0"/>
                  <a:t>b) Dibujar el diagrama de caja en vertical (incluyendo la media)</a:t>
                </a:r>
              </a:p>
              <a:p>
                <a:endParaRPr lang="es-ES" dirty="0"/>
              </a:p>
              <a:p>
                <a:endParaRPr lang="es-E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CC2B26E-2A70-02B0-FD32-2799B75C28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40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321444-1601-F751-024C-F78CAD374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105498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CDB1A-28E2-0E01-146D-2CE7F389A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Gráficos estadísticos</a:t>
            </a:r>
            <a:br>
              <a:rPr lang="es-ES" dirty="0"/>
            </a:br>
            <a:r>
              <a:rPr lang="es-ES" dirty="0"/>
              <a:t>Diagrama de caja. Ejemplo 8.12 (solución)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6BBC04A-AB00-8A2D-99D8-8A79BE3D9D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53527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s-ES" i="1" dirty="0"/>
                  <a:t>S=(9, 15, 19, 22, 24, 25, 30, 34, 35, 35, 36, 36, 37, 38, 42, 43, 46, 48, 54, 55, 56, 56, 59, 62, 69, 70, 82, 82, 89, 139)</a:t>
                </a:r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𝑚𝑎𝑥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=139</m:t>
                    </m:r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s-ES" b="0" i="1" smtClean="0">
                        <a:latin typeface="Cambria Math" panose="02040503050406030204" pitchFamily="18" charset="0"/>
                      </a:rPr>
                      <m:t>=48.23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i="1" ker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</m:acc>
                    <m:r>
                      <a:rPr lang="en-US" i="1" ker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E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42.5</m:t>
                    </m:r>
                    <m:r>
                      <a:rPr lang="es-ES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s-ES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ES_tradnl" i="1" ker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E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34</m:t>
                    </m:r>
                    <m:r>
                      <a:rPr lang="es-ES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s-ES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s-E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=59</m:t>
                    </m:r>
                    <m:r>
                      <a:rPr lang="es-E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ES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𝐼𝑄𝑅</m:t>
                        </m:r>
                      </m:e>
                    </m:acc>
                    <m:r>
                      <a:rPr lang="es-E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=25</m:t>
                    </m:r>
                    <m:r>
                      <a:rPr lang="es-E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s-ES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ES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−1.5</m:t>
                    </m:r>
                    <m:r>
                      <a:rPr lang="es-ES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acc>
                      <m:accPr>
                        <m:chr m:val="̂"/>
                        <m:ctrlPr>
                          <a:rPr lang="es-ES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ES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𝐼𝑄𝑅</m:t>
                        </m:r>
                      </m:e>
                    </m:acc>
                    <m:r>
                      <a:rPr lang="es-ES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=−3.5</m:t>
                    </m:r>
                    <m:r>
                      <a:rPr lang="es-ES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ES" i="1" ker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s-ES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s-E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+1.5</m:t>
                    </m:r>
                    <m:r>
                      <a:rPr lang="es-ES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acc>
                      <m:accPr>
                        <m:chr m:val="̂"/>
                        <m:ctrlPr>
                          <a:rPr lang="es-ES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ES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𝐼𝑄𝑅</m:t>
                        </m:r>
                      </m:e>
                    </m:acc>
                    <m:r>
                      <a:rPr lang="es-E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=96.5</m:t>
                    </m:r>
                    <m:r>
                      <a:rPr lang="es-E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6BBC04A-AB00-8A2D-99D8-8A79BE3D9D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535277"/>
              </a:xfrm>
              <a:blipFill>
                <a:blip r:embed="rId3"/>
                <a:stretch>
                  <a:fillRect l="-928" t="-7937" r="-580" b="-912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947DFA-E4DF-07C1-9544-6FD6A4B26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33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8E123A0-151E-6257-DCA5-2FBB94AFB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72" y="3932542"/>
            <a:ext cx="5078719" cy="238621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6C532BD-5E25-B48E-221B-E9242B740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932542"/>
            <a:ext cx="6069632" cy="23862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41905373-6100-3304-30F4-6F9EE70927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2255520" y="5526276"/>
                <a:ext cx="856837" cy="3150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1400" i="1" kern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sz="1400" i="1" ker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1400" i="1" ker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s-ES" sz="1400" i="1" ker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S" sz="1400" i="1" ker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=59</m:t>
                      </m:r>
                    </m:oMath>
                  </m:oMathPara>
                </a14:m>
                <a:endParaRPr lang="es-ES" sz="140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41905373-6100-3304-30F4-6F9EE70927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520" y="5526276"/>
                <a:ext cx="856837" cy="315023"/>
              </a:xfrm>
              <a:prstGeom prst="rect">
                <a:avLst/>
              </a:prstGeom>
              <a:blipFill>
                <a:blip r:embed="rId6"/>
                <a:stretch>
                  <a:fillRect t="-1961" b="-784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9B43891D-D7D3-FE95-8DEE-286F133BF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2683938" y="5364105"/>
            <a:ext cx="0" cy="228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742BFD3F-5131-E5D7-8356-DABCBDB01B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1347040" y="5526276"/>
                <a:ext cx="852669" cy="3150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1400" i="1" kern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sz="1400" i="1" ker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1400" i="1" ker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s-ES" sz="1400" b="0" i="1" kern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sz="1400" i="1" ker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ES" sz="1400" b="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34</m:t>
                      </m:r>
                    </m:oMath>
                  </m:oMathPara>
                </a14:m>
                <a:endParaRPr lang="es-ES" sz="1400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742BFD3F-5131-E5D7-8356-DABCBDB01B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040" y="5526276"/>
                <a:ext cx="852669" cy="315023"/>
              </a:xfrm>
              <a:prstGeom prst="rect">
                <a:avLst/>
              </a:prstGeom>
              <a:blipFill>
                <a:blip r:embed="rId7"/>
                <a:stretch>
                  <a:fillRect t="-1961" b="-784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30AED075-2322-A768-7926-9ACE1CBF0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777158" y="5364105"/>
            <a:ext cx="0" cy="228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7D0B2AC2-86B4-2534-1D5F-823C4A481E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2155689" y="4025114"/>
                <a:ext cx="101335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ES_tradnl" sz="1400" i="1" kern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ES" sz="1400" b="0" i="1" kern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acc>
                      <m:r>
                        <a:rPr lang="es-ES" sz="1400" i="1" ker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ES" sz="1400" b="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48.23</m:t>
                      </m:r>
                    </m:oMath>
                  </m:oMathPara>
                </a14:m>
                <a:endParaRPr lang="es-ES" sz="1400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7D0B2AC2-86B4-2534-1D5F-823C4A481E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689" y="4025114"/>
                <a:ext cx="1013354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A7612AA3-6DEA-0323-60D9-91891C23BD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1304718" y="4010862"/>
                <a:ext cx="950837" cy="3136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sz="1400" i="1" kern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ES" sz="1400" b="0" i="1" kern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</m:acc>
                      <m:r>
                        <a:rPr lang="es-ES" sz="1400" i="1" ker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ES" sz="1400" b="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42.5</m:t>
                      </m:r>
                    </m:oMath>
                  </m:oMathPara>
                </a14:m>
                <a:endParaRPr lang="es-ES" sz="1400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A7612AA3-6DEA-0323-60D9-91891C23BD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718" y="4010862"/>
                <a:ext cx="950837" cy="313612"/>
              </a:xfrm>
              <a:prstGeom prst="rect">
                <a:avLst/>
              </a:prstGeom>
              <a:blipFill>
                <a:blip r:embed="rId9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C6E47300-A884-6C07-D36D-FF8E592C8B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077606" y="4277766"/>
            <a:ext cx="0" cy="2405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FAEFA73A-8D39-2D39-A591-09A9AC1BB9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3567209" y="5382307"/>
                <a:ext cx="127301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110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8</m:t>
                      </m:r>
                      <m:r>
                        <a:rPr lang="es-ES" sz="1100" b="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9 (</m:t>
                      </m:r>
                      <m:r>
                        <a:rPr lang="es-ES" sz="1100" b="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s-ES" sz="1100" b="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á</m:t>
                      </m:r>
                      <m:r>
                        <a:rPr lang="es-ES" sz="1100" b="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𝑥𝑖𝑚𝑜</m:t>
                      </m:r>
                      <m:r>
                        <a:rPr lang="es-ES" sz="1100" b="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ES" sz="1100" b="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𝑣𝑎𝑙𝑜𝑟</m:t>
                      </m:r>
                    </m:oMath>
                  </m:oMathPara>
                </a14:m>
                <a:br>
                  <a:rPr lang="es-ES" sz="1100" b="0" i="1" kern="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</a:br>
                <a:r>
                  <a:rPr lang="es-ES" sz="1100" b="0" i="1" kern="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que es  </a:t>
                </a:r>
                <a14:m>
                  <m:oMath xmlns:m="http://schemas.openxmlformats.org/officeDocument/2006/math">
                    <m:r>
                      <a:rPr lang="es-ES" sz="11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≤96.5)</m:t>
                    </m:r>
                  </m:oMath>
                </a14:m>
                <a:endParaRPr lang="es-ES" sz="1100" dirty="0"/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FAEFA73A-8D39-2D39-A591-09A9AC1BB9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7209" y="5382307"/>
                <a:ext cx="1273016" cy="430887"/>
              </a:xfrm>
              <a:prstGeom prst="rect">
                <a:avLst/>
              </a:prstGeom>
              <a:blipFill>
                <a:blip r:embed="rId10"/>
                <a:stretch>
                  <a:fillRect b="-704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4184E75A-4186-F995-DE63-B7347E8F5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762474" y="5182218"/>
            <a:ext cx="0" cy="2580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EF76922A-AC85-579C-6A9A-0DA33042B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298586" y="4285386"/>
            <a:ext cx="0" cy="2405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BEE60953-9607-A275-7A8C-3C228993D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3746" y="4541145"/>
            <a:ext cx="0" cy="2405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DDB61837-174D-D9FB-0803-81940FDB84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3825049" y="4285386"/>
                <a:ext cx="195854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s-ES" sz="1200" b="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39 (</m:t>
                      </m:r>
                      <m:r>
                        <a:rPr lang="es-ES" sz="1200" b="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𝑑𝑎𝑡𝑜</m:t>
                      </m:r>
                      <m:r>
                        <a:rPr lang="es-ES" sz="1200" b="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ES" sz="1200" b="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𝑎𝑡</m:t>
                      </m:r>
                      <m:r>
                        <a:rPr lang="es-ES" sz="1200" b="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í</m:t>
                      </m:r>
                      <m:r>
                        <a:rPr lang="es-ES" sz="1200" b="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𝑝𝑖𝑐𝑜</m:t>
                      </m:r>
                      <m:r>
                        <a:rPr lang="es-ES" sz="1200" b="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&gt;96.5)</m:t>
                      </m:r>
                    </m:oMath>
                  </m:oMathPara>
                </a14:m>
                <a:endParaRPr lang="es-ES" sz="1200" dirty="0"/>
              </a:p>
            </p:txBody>
          </p:sp>
        </mc:Choice>
        <mc:Fallback xmlns="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DDB61837-174D-D9FB-0803-81940FDB84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049" y="4285386"/>
                <a:ext cx="1958549" cy="276999"/>
              </a:xfrm>
              <a:prstGeom prst="rect">
                <a:avLst/>
              </a:prstGeom>
              <a:blipFill>
                <a:blip r:embed="rId11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A347A810-2ACE-0D7E-2D9F-33A2C9C407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318126" y="5289268"/>
                <a:ext cx="11431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100" b="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9 (</m:t>
                      </m:r>
                      <m:r>
                        <a:rPr lang="es-ES" sz="1100" b="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s-ES" sz="1100" b="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í</m:t>
                      </m:r>
                      <m:r>
                        <a:rPr lang="es-ES" sz="1100" b="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𝑛𝑖𝑚𝑜</m:t>
                      </m:r>
                      <m:r>
                        <a:rPr lang="es-ES" sz="1100" b="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ES" sz="1100" b="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𝑣𝑎𝑙𝑜𝑟</m:t>
                      </m:r>
                    </m:oMath>
                  </m:oMathPara>
                </a14:m>
                <a:br>
                  <a:rPr lang="es-ES" sz="1100" b="0" i="1" kern="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</a:br>
                <a:r>
                  <a:rPr lang="es-ES" sz="1100" b="0" i="1" kern="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qu</a:t>
                </a:r>
                <a:r>
                  <a:rPr lang="es-ES" sz="1100" i="1" kern="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e </a:t>
                </a:r>
                <a:r>
                  <a:rPr lang="es-ES" sz="1100" b="0" i="1" kern="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es </a:t>
                </a:r>
                <a14:m>
                  <m:oMath xmlns:m="http://schemas.openxmlformats.org/officeDocument/2006/math">
                    <m:r>
                      <a:rPr lang="es-ES" sz="11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≥−3.5)</m:t>
                    </m:r>
                  </m:oMath>
                </a14:m>
                <a:endParaRPr lang="es-ES" sz="1100" dirty="0"/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A347A810-2ACE-0D7E-2D9F-33A2C9C407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26" y="5289268"/>
                <a:ext cx="1143114" cy="430887"/>
              </a:xfrm>
              <a:prstGeom prst="rect">
                <a:avLst/>
              </a:prstGeom>
              <a:blipFill>
                <a:blip r:embed="rId12"/>
                <a:stretch>
                  <a:fillRect r="-1064" b="-857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6AD4AFC8-52DC-300F-A391-32352965C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902631" y="5206602"/>
            <a:ext cx="0" cy="1285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8E433B9-33A3-EED6-7A8D-632BD400D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41722" y="3609496"/>
            <a:ext cx="1383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a) Horizontal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461B1EC-5391-AA95-3071-3B8906446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366951" y="3655782"/>
            <a:ext cx="1134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b) Vertical</a:t>
            </a:r>
          </a:p>
        </p:txBody>
      </p:sp>
    </p:spTree>
    <p:extLst>
      <p:ext uri="{BB962C8B-B14F-4D97-AF65-F5344CB8AC3E}">
        <p14:creationId xmlns:p14="http://schemas.microsoft.com/office/powerpoint/2010/main" val="9910137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5A6D00-1C43-6AEE-87B9-C2133AFF1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5. Gráficos estadísticos</a:t>
            </a:r>
            <a:br>
              <a:rPr lang="es-ES" dirty="0"/>
            </a:br>
            <a:r>
              <a:rPr lang="es-ES" dirty="0"/>
              <a:t>Diagrama de caja vs Histograma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062B96-ACC5-D177-9588-A7298237B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79488" cy="4351338"/>
          </a:xfrm>
        </p:spPr>
        <p:txBody>
          <a:bodyPr>
            <a:normAutofit fontScale="77500" lnSpcReduction="20000"/>
          </a:bodyPr>
          <a:lstStyle/>
          <a:p>
            <a:r>
              <a:rPr lang="es-ES" dirty="0"/>
              <a:t>El diagrama de caja y el histograma son complementarios</a:t>
            </a:r>
          </a:p>
          <a:p>
            <a:r>
              <a:rPr lang="es-ES" dirty="0"/>
              <a:t>Si la mediana está a la izquierda de la media (es menor) en el diagrama de caja, se confirma que hay una asimetría a la derecha en el histograma</a:t>
            </a:r>
          </a:p>
          <a:p>
            <a:r>
              <a:rPr lang="es-ES" dirty="0"/>
              <a:t>Las columnas del histograma se concentran sobre todo en la parte que abarcan los bigotes en el diagrama de caja</a:t>
            </a:r>
          </a:p>
          <a:p>
            <a:r>
              <a:rPr lang="es-ES" dirty="0"/>
              <a:t>Si hay columnas alejadas en el histograma, se confirma que hay valores atípicos en el diagrama de caja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B222D4-CF32-33FD-9C17-AC10816C6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34</a:t>
            </a:fld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4F4BD51-0E4C-FED9-5EE7-80D0D318E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814" y="2233285"/>
            <a:ext cx="7228015" cy="326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4863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2767B9-EE46-E59F-35EE-5990440E3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Gráficos estadísticos</a:t>
            </a:r>
            <a:br>
              <a:rPr lang="es-ES" dirty="0"/>
            </a:br>
            <a:r>
              <a:rPr lang="es-ES" dirty="0"/>
              <a:t>Diagrama de caja vs Histograma. Ejemplo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BD9995-BD12-047B-DA08-E62392734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¿Qué diagrama de caja corresponde a cada histograma?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A00BEA-3FC2-5093-26A4-17EC40966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35</a:t>
            </a:fld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D1AFF85-0C33-7B86-624F-A66C2725B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808" y="2587083"/>
            <a:ext cx="6733724" cy="358988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BA76952-CCEB-00B5-E3FC-86A775530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701561" y="4438185"/>
            <a:ext cx="1827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Imagen: </a:t>
            </a:r>
            <a:r>
              <a:rPr lang="es-ES" sz="1400" dirty="0">
                <a:hlinkClick r:id="rId3"/>
              </a:rPr>
              <a:t>mathspace.co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42768478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2767B9-EE46-E59F-35EE-5990440E3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5. Gráficos estadísticos</a:t>
            </a:r>
            <a:br>
              <a:rPr lang="es-ES" dirty="0"/>
            </a:br>
            <a:r>
              <a:rPr lang="es-ES" dirty="0"/>
              <a:t>Diagrama de caja vs Histograma. Ejemplo (sol.)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BD9995-BD12-047B-DA08-E62392734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99515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El </a:t>
            </a:r>
            <a:r>
              <a:rPr lang="en-US" dirty="0" err="1"/>
              <a:t>histograma</a:t>
            </a:r>
            <a:r>
              <a:rPr lang="en-US" dirty="0"/>
              <a:t> 1 y </a:t>
            </a:r>
            <a:r>
              <a:rPr lang="en-US" dirty="0" err="1"/>
              <a:t>el</a:t>
            </a:r>
            <a:r>
              <a:rPr lang="en-US" dirty="0"/>
              <a:t> boxplot B son </a:t>
            </a:r>
            <a:r>
              <a:rPr lang="en-US" dirty="0" err="1"/>
              <a:t>casi</a:t>
            </a:r>
            <a:r>
              <a:rPr lang="en-US" dirty="0"/>
              <a:t> </a:t>
            </a:r>
            <a:r>
              <a:rPr lang="en-US" dirty="0" err="1"/>
              <a:t>simétricos</a:t>
            </a:r>
            <a:endParaRPr lang="en-US" dirty="0"/>
          </a:p>
          <a:p>
            <a:r>
              <a:rPr lang="en-US" dirty="0"/>
              <a:t>El </a:t>
            </a:r>
            <a:r>
              <a:rPr lang="en-US" dirty="0" err="1"/>
              <a:t>histograma</a:t>
            </a:r>
            <a:r>
              <a:rPr lang="en-US" dirty="0"/>
              <a:t> 2 es </a:t>
            </a:r>
            <a:r>
              <a:rPr lang="en-US" dirty="0" err="1"/>
              <a:t>asimétrico</a:t>
            </a:r>
            <a:r>
              <a:rPr lang="en-US" dirty="0"/>
              <a:t> a la </a:t>
            </a:r>
            <a:r>
              <a:rPr lang="en-US" dirty="0" err="1"/>
              <a:t>izquierda</a:t>
            </a:r>
            <a:r>
              <a:rPr lang="en-US" dirty="0"/>
              <a:t> y </a:t>
            </a:r>
            <a:r>
              <a:rPr lang="en-US" dirty="0" err="1"/>
              <a:t>el</a:t>
            </a:r>
            <a:r>
              <a:rPr lang="en-US" dirty="0"/>
              <a:t> boxplot C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largo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lado</a:t>
            </a:r>
            <a:r>
              <a:rPr lang="en-US" dirty="0"/>
              <a:t> Izquierdo de la </a:t>
            </a:r>
            <a:r>
              <a:rPr lang="en-US" dirty="0" err="1"/>
              <a:t>caja</a:t>
            </a:r>
            <a:endParaRPr lang="en-US" dirty="0"/>
          </a:p>
          <a:p>
            <a:r>
              <a:rPr lang="en-US" dirty="0"/>
              <a:t>El </a:t>
            </a:r>
            <a:r>
              <a:rPr lang="en-US" dirty="0" err="1"/>
              <a:t>histograma</a:t>
            </a:r>
            <a:r>
              <a:rPr lang="en-US" dirty="0"/>
              <a:t> 3 es </a:t>
            </a:r>
            <a:r>
              <a:rPr lang="en-US" dirty="0" err="1"/>
              <a:t>asimétrico</a:t>
            </a:r>
            <a:r>
              <a:rPr lang="en-US" dirty="0"/>
              <a:t> a la </a:t>
            </a:r>
            <a:r>
              <a:rPr lang="en-US" dirty="0" err="1"/>
              <a:t>derecha</a:t>
            </a:r>
            <a:r>
              <a:rPr lang="en-US" dirty="0"/>
              <a:t> y </a:t>
            </a:r>
            <a:r>
              <a:rPr lang="en-US" dirty="0" err="1"/>
              <a:t>el</a:t>
            </a:r>
            <a:r>
              <a:rPr lang="en-US" dirty="0"/>
              <a:t> boxplot A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largo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lado</a:t>
            </a:r>
            <a:r>
              <a:rPr lang="en-US" dirty="0"/>
              <a:t> derecho de la </a:t>
            </a:r>
            <a:r>
              <a:rPr lang="en-US" dirty="0" err="1"/>
              <a:t>caja</a:t>
            </a: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A00BEA-3FC2-5093-26A4-17EC40966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36</a:t>
            </a:fld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D1AFF85-0C33-7B86-624F-A66C2725B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31953" b="31953"/>
          <a:stretch/>
        </p:blipFill>
        <p:spPr>
          <a:xfrm>
            <a:off x="2501808" y="2110560"/>
            <a:ext cx="6733724" cy="358988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94CACDA-F34A-0C38-983C-DE864D457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756" y="5567476"/>
            <a:ext cx="2049129" cy="104216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CD9D957-536A-2B85-0D7E-88C655C9E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7039" y="5636557"/>
            <a:ext cx="2048400" cy="93740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40DA9F2-53F0-F876-2307-257EB8F0A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6762" y="5600846"/>
            <a:ext cx="2048400" cy="9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354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4EABE4-CD2A-7066-319F-AF0630BBB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5. Gráficos estadísticos</a:t>
            </a:r>
            <a:br>
              <a:rPr lang="es-ES" dirty="0"/>
            </a:br>
            <a:r>
              <a:rPr lang="es-ES" dirty="0"/>
              <a:t>Diagrama de caja. Varias cajas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FA0FED-894D-E0D6-6761-FB1EE089D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22263" cy="4351338"/>
          </a:xfrm>
        </p:spPr>
        <p:txBody>
          <a:bodyPr>
            <a:normAutofit fontScale="85000" lnSpcReduction="10000"/>
          </a:bodyPr>
          <a:lstStyle/>
          <a:p>
            <a:r>
              <a:rPr lang="es-ES" dirty="0"/>
              <a:t>Los diagramas de caja se pueden utilizar para comparar diferentes poblaciones o muestras</a:t>
            </a:r>
          </a:p>
          <a:p>
            <a:r>
              <a:rPr lang="es-ES" dirty="0"/>
              <a:t>Para ello se dibujan juntos sus diagramas de caja</a:t>
            </a:r>
          </a:p>
          <a:p>
            <a:r>
              <a:rPr lang="es-ES" dirty="0"/>
              <a:t>Ejemplo: Tráfico diario de Internet de un servidor durante las 52 semanas de un año</a:t>
            </a:r>
          </a:p>
          <a:p>
            <a:pPr lvl="1"/>
            <a:r>
              <a:rPr lang="es-ES" dirty="0"/>
              <a:t>Siete muestras (días) de 52 valores (semanas)</a:t>
            </a:r>
          </a:p>
          <a:p>
            <a:pPr lvl="1"/>
            <a:r>
              <a:rPr lang="es-ES" dirty="0"/>
              <a:t>El mayor volumen de tráfico se tiene los viernes</a:t>
            </a:r>
          </a:p>
          <a:p>
            <a:pPr lvl="1"/>
            <a:r>
              <a:rPr lang="es-ES" dirty="0"/>
              <a:t>Los viernes también tiene la mayor variabilidad</a:t>
            </a:r>
          </a:p>
          <a:p>
            <a:pPr lvl="1"/>
            <a:r>
              <a:rPr lang="es-ES" dirty="0"/>
              <a:t>El menor volumen de ocurre los fines de semana</a:t>
            </a:r>
          </a:p>
          <a:p>
            <a:pPr lvl="1"/>
            <a:r>
              <a:rPr lang="es-ES" dirty="0"/>
              <a:t>Cada día hay algunos valores atípicos, excepto los sábados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B42DCDA-4C4E-80BD-0A86-7BE2AE67E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37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19C2ACA-B258-40F6-CF8B-0B595D5AB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463" y="2706292"/>
            <a:ext cx="5202555" cy="315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6748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61FE9-C3AE-6FC7-C4A9-C1FF0B2C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5. Gráficos estadísticos</a:t>
            </a:r>
            <a:br>
              <a:rPr lang="es-ES" dirty="0"/>
            </a:br>
            <a:r>
              <a:rPr lang="es-ES" dirty="0"/>
              <a:t>Ejercicios propuestos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D761F8-90FE-5A56-8924-772DAE4E6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 err="1"/>
              <a:t>Ejercicios</a:t>
            </a:r>
            <a:r>
              <a:rPr lang="en-US" altLang="es-ES" sz="2800" dirty="0"/>
              <a:t> 8.1, 8.2, 8.8, 8.9 del </a:t>
            </a:r>
            <a:r>
              <a:rPr lang="en-US" altLang="es-ES" sz="2800" dirty="0" err="1"/>
              <a:t>libro</a:t>
            </a:r>
            <a:endParaRPr lang="en-US" altLang="es-ES" sz="2800" dirty="0"/>
          </a:p>
          <a:p>
            <a:pPr lvl="1">
              <a:spcBef>
                <a:spcPts val="1000"/>
              </a:spcBef>
            </a:pPr>
            <a:r>
              <a:rPr lang="en-US" altLang="es-ES" dirty="0" err="1"/>
              <a:t>Dibujar</a:t>
            </a:r>
            <a:r>
              <a:rPr lang="en-US" altLang="es-ES" dirty="0"/>
              <a:t> </a:t>
            </a:r>
            <a:r>
              <a:rPr lang="en-US" altLang="es-ES" dirty="0" err="1"/>
              <a:t>todos</a:t>
            </a:r>
            <a:r>
              <a:rPr lang="en-US" altLang="es-ES" dirty="0"/>
              <a:t> los </a:t>
            </a:r>
            <a:r>
              <a:rPr lang="en-US" altLang="es-ES" dirty="0" err="1"/>
              <a:t>diagramas</a:t>
            </a:r>
            <a:r>
              <a:rPr lang="en-US" altLang="es-ES" dirty="0"/>
              <a:t> </a:t>
            </a:r>
            <a:r>
              <a:rPr lang="en-US" altLang="es-ES" dirty="0" err="1"/>
              <a:t>posibles</a:t>
            </a:r>
            <a:r>
              <a:rPr lang="en-US" altLang="es-ES" dirty="0"/>
              <a:t> con los </a:t>
            </a:r>
            <a:r>
              <a:rPr lang="en-US" altLang="es-ES" dirty="0" err="1"/>
              <a:t>datos</a:t>
            </a:r>
            <a:r>
              <a:rPr lang="en-US" altLang="es-ES" dirty="0"/>
              <a:t> de </a:t>
            </a:r>
            <a:r>
              <a:rPr lang="en-US" altLang="es-ES" dirty="0" err="1"/>
              <a:t>cada</a:t>
            </a:r>
            <a:r>
              <a:rPr lang="en-US" altLang="es-ES" dirty="0"/>
              <a:t> </a:t>
            </a:r>
            <a:r>
              <a:rPr lang="en-US" altLang="es-ES" dirty="0" err="1"/>
              <a:t>ejercicio</a:t>
            </a:r>
            <a:endParaRPr lang="en-US" altLang="es-ES" dirty="0"/>
          </a:p>
          <a:p>
            <a:r>
              <a:rPr lang="es-ES" dirty="0"/>
              <a:t>Otros ejercicios (resueltos): </a:t>
            </a:r>
            <a:r>
              <a:rPr lang="es-ES" dirty="0">
                <a:hlinkClick r:id="rId2"/>
              </a:rPr>
              <a:t>proyectodescartes.org</a:t>
            </a:r>
            <a:endParaRPr lang="en-US" altLang="es-ES" dirty="0"/>
          </a:p>
          <a:p>
            <a:pPr lvl="2">
              <a:spcBef>
                <a:spcPts val="1000"/>
              </a:spcBef>
            </a:pPr>
            <a:endParaRPr lang="en-US" alt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A86158-512B-60EF-6886-59F4BFB0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73849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CEFE08-AC53-C6D0-5B5E-C57B2658A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6. Estadística descriptiva bidimensional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43C7A18-C1E5-0B14-D566-ABFA47451D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s-ES" dirty="0"/>
                  <a:t>La estadística descriptiva bidimensional describe simultáneamente dos variables estadísticas que representan dos propiedades diferentes de cada individuo de una población o muestra</a:t>
                </a:r>
              </a:p>
              <a:p>
                <a:pPr lvl="1"/>
                <a:r>
                  <a:rPr lang="es-ES" dirty="0"/>
                  <a:t>Las dos variables pueden ser cuantitativas y/o cualitativas</a:t>
                </a:r>
              </a:p>
              <a:p>
                <a:r>
                  <a:rPr lang="es-ES" dirty="0"/>
                  <a:t>El conjunto de los dos valores de las variables para un individuo se denomina variable estadística bidimensional</a:t>
                </a:r>
              </a:p>
              <a:p>
                <a:r>
                  <a:rPr lang="es-ES" dirty="0"/>
                  <a:t>Caso de una población: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,..,</m:t>
                        </m:r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ES" dirty="0"/>
                  <a:t> es el valor de la variable bidimensional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s-ES" dirty="0"/>
                  <a:t> para el individuo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" dirty="0"/>
                  <a:t> de la población</a:t>
                </a:r>
              </a:p>
              <a:p>
                <a:pPr lvl="1"/>
                <a:r>
                  <a:rPr lang="es-ES" dirty="0"/>
                  <a:t>Ejemplo: si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ES" dirty="0"/>
                  <a:t> representa el peso e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" dirty="0"/>
                  <a:t> representa la altura de una persona de una población, entonces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ES" dirty="0"/>
                  <a:t> es el peso y altura de la persona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" dirty="0"/>
                  <a:t> del total de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ES" dirty="0"/>
                  <a:t> personas de la población</a:t>
                </a:r>
              </a:p>
              <a:p>
                <a:r>
                  <a:rPr lang="es-ES" dirty="0"/>
                  <a:t>Caso de una muestra: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,..,</m:t>
                        </m:r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ES" dirty="0"/>
                  <a:t> es el valor de la variable bidimensional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s-ES" dirty="0"/>
                  <a:t> para el individuo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" dirty="0"/>
                  <a:t> de la muestra</a:t>
                </a:r>
              </a:p>
              <a:p>
                <a:pPr lvl="1"/>
                <a:r>
                  <a:rPr lang="es-ES" dirty="0"/>
                  <a:t>Ejemplo: si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" dirty="0"/>
                  <a:t> representa el peso e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" dirty="0"/>
                  <a:t> representa la altura de una persona de una muestra, entonces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ES" dirty="0"/>
                  <a:t> es el peso y altura de la persona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" dirty="0"/>
                  <a:t> del total de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" dirty="0"/>
                  <a:t> personas de la muestra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43C7A18-C1E5-0B14-D566-ABFA47451D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22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EC5377-A471-B102-277C-10A86D5AE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03149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89F7C2-B4A6-17A8-CCF8-37E74C9C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6. Estadística descriptiva bidimensional</a:t>
            </a:r>
            <a:br>
              <a:rPr lang="es-ES" dirty="0"/>
            </a:br>
            <a:r>
              <a:rPr lang="es-ES" dirty="0"/>
              <a:t>Medidas estadísticas. Cálculo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46D41870-D61C-A6EA-BEF8-4E2300EC76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2617871"/>
                  </p:ext>
                </p:extLst>
              </p:nvPr>
            </p:nvGraphicFramePr>
            <p:xfrm>
              <a:off x="838200" y="1840102"/>
              <a:ext cx="10515600" cy="456374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27663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4215161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4272776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Medida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Poblacional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Muestral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Media (aritmética) marginal de </a:t>
                          </a:r>
                          <a14:m>
                            <m:oMath xmlns:m="http://schemas.openxmlformats.org/officeDocument/2006/math">
                              <m:r>
                                <a:rPr lang="es-ES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ES" dirty="0"/>
                            <a:t> o </a:t>
                          </a:r>
                          <a14:m>
                            <m:oMath xmlns:m="http://schemas.openxmlformats.org/officeDocument/2006/math">
                              <m:r>
                                <a:rPr lang="es-ES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s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s-ES_tradnl" sz="16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𝑁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s-ES_tradnl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ES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_tradnl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s-ES_tradnl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s-ES_tradnl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739897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Media (aritmética) marginal de </a:t>
                          </a:r>
                          <a14:m>
                            <m:oMath xmlns:m="http://schemas.openxmlformats.org/officeDocument/2006/math">
                              <m:r>
                                <a:rPr lang="es-ES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s-ES" dirty="0"/>
                            <a:t> o </a:t>
                          </a:r>
                          <a14:m>
                            <m:oMath xmlns:m="http://schemas.openxmlformats.org/officeDocument/2006/math">
                              <m:r>
                                <a:rPr lang="es-ES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endParaRPr lang="es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s-ES_tradnl" sz="16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𝑁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s-ES_tradnl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ES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" sz="16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𝑌</m:t>
                                    </m:r>
                                  </m:e>
                                </m:acc>
                                <m:r>
                                  <a:rPr lang="es-ES_tradnl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s-ES_tradnl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766642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Varianza marginal de </a:t>
                          </a:r>
                          <a14:m>
                            <m:oMath xmlns:m="http://schemas.openxmlformats.org/officeDocument/2006/math">
                              <m:r>
                                <a:rPr lang="es-ES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ES" dirty="0"/>
                            <a:t> o </a:t>
                          </a:r>
                          <a14:m>
                            <m:oMath xmlns:m="http://schemas.openxmlformats.org/officeDocument/2006/math">
                              <m:r>
                                <a:rPr lang="es-ES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s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s-ES_tradnl" sz="160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_tradnl" sz="160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s-ES" sz="16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ES_tradnl" sz="16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𝑁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es-ES" sz="160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s-ES" sz="16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s-ES" sz="16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s-ES_tradnl" sz="16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s-ES_tradnl" sz="16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s-ES_tradnl" sz="16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s-ES_tradnl" sz="1600" i="1" kern="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s-ES_tradnl" sz="1600" i="1" kern="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𝜇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s-ES" sz="1600" b="0" i="1" kern="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s-ES_tradnl" sz="1600" i="1" ker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s-ES_tradnl" sz="160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𝑋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s-ES" sz="16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ES_tradnl" sz="16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es-ES" sz="160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s-ES" sz="16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s-ES" sz="16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s-ES" sz="1600" b="0" i="1" kern="10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𝑋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s-ES_tradnl" sz="16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s-ES_tradnl" sz="16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−</m:t>
                                                </m:r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s-ES_tradnl" sz="1600" i="1" kern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s-ES" sz="1600" b="0" i="1" kern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Times New Roman" panose="02020603050405020304" pitchFamily="18" charset="0"/>
                                                      </a:rPr>
                                                      <m:t>𝑋</m:t>
                                                    </m:r>
                                                  </m:e>
                                                </m:acc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s-ES_tradnl" sz="1600" i="1" ker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num>
                                  <m:den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9038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Varianza</a:t>
                          </a:r>
                          <a:r>
                            <a:rPr lang="es-ES" baseline="0" dirty="0"/>
                            <a:t> </a:t>
                          </a:r>
                          <a:r>
                            <a:rPr lang="es-ES" dirty="0"/>
                            <a:t>marginal de </a:t>
                          </a:r>
                          <a14:m>
                            <m:oMath xmlns:m="http://schemas.openxmlformats.org/officeDocument/2006/math">
                              <m:r>
                                <a:rPr lang="es-ES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s-ES" dirty="0"/>
                            <a:t> o </a:t>
                          </a:r>
                          <a14:m>
                            <m:oMath xmlns:m="http://schemas.openxmlformats.org/officeDocument/2006/math">
                              <m:r>
                                <a:rPr lang="es-ES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endParaRPr lang="es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s-ES_tradnl" sz="160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_tradnl" sz="160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s-ES" sz="16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ES_tradnl" sz="16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𝑁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es-ES" sz="160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s-ES" sz="16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s-ES" sz="16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s-ES" sz="1600" b="0" i="1" kern="10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s-ES_tradnl" sz="16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s-ES_tradnl" sz="16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s-ES_tradnl" sz="1600" i="1" kern="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s-ES_tradnl" sz="1600" i="1" kern="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𝜇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s-ES" sz="1600" b="0" i="1" kern="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s-ES_tradnl" sz="1600" i="1" ker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s-ES_tradnl" sz="160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𝑌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s-ES" sz="16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ES_tradnl" sz="16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es-ES" sz="160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s-ES" sz="16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s-ES" sz="16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s-ES" sz="1600" b="0" i="1" kern="10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𝑌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s-ES_tradnl" sz="16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s-ES_tradnl" sz="16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−</m:t>
                                                </m:r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s-ES_tradnl" sz="1600" i="1" kern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s-ES" sz="1600" b="0" i="1" kern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Times New Roman" panose="02020603050405020304" pitchFamily="18" charset="0"/>
                                                      </a:rPr>
                                                      <m:t>𝑌</m:t>
                                                    </m:r>
                                                  </m:e>
                                                </m:acc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s-ES_tradnl" sz="1600" i="1" ker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num>
                                  <m:den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608636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Covarianza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8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𝑥𝑦</m:t>
                                    </m:r>
                                  </m:sub>
                                </m:sSub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ctrlPr>
                                              <a:rPr lang="es-ES_tradnl" sz="180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s-ES_tradnl" sz="1800" i="1" kern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ES" sz="1800" b="0" i="1" kern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800" b="0" i="1" kern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s-ES" sz="1800" b="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s-ES" sz="1800" b="0" i="1" kern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ES" sz="1800" b="0" i="1" kern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𝜇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800" b="0" i="1" kern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𝑥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d>
                                          <m:dPr>
                                            <m:ctrlPr>
                                              <a:rPr lang="es-ES_tradnl" sz="180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s-ES_tradnl" sz="1800" i="1" kern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ES" sz="1800" b="0" i="1" kern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800" b="0" i="1" kern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s-ES" sz="1800" b="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s-ES" sz="1800" b="0" i="1" kern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ES" sz="1800" b="0" i="1" kern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𝜇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800" b="0" i="1" kern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𝑦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8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s-E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𝑥𝑦</m:t>
                                    </m:r>
                                  </m:sub>
                                </m:sSub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ctrlPr>
                                              <a:rPr lang="es-ES_tradnl" sz="180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s-ES_tradnl" sz="1800" i="1" kern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ES" sz="1800" b="0" i="1" kern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800" b="0" i="1" kern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s-ES" sz="1800" b="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s-ES" sz="1800" b="0" i="1" kern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s-ES" sz="1800" b="0" i="1" kern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  <m:d>
                                          <m:dPr>
                                            <m:ctrlPr>
                                              <a:rPr lang="es-ES_tradnl" sz="180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s-ES_tradnl" sz="1800" i="1" kern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ES" sz="1800" b="0" i="1" kern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𝑌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800" b="0" i="1" kern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s-ES" sz="1800" b="0" i="1" kern="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s-ES" sz="1800" b="0" i="1" kern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s-ES" sz="1800" b="0" i="1" kern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𝑌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</m:nary>
                                  </m:num>
                                  <m:den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  <m: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326477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Coeficiente de correlación (de Pearson)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i="1" spc="-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  <m:r>
                                  <a:rPr lang="es-ES" sz="1800" b="0" i="1" kern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𝑥𝑦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b="0" i="1" kern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  <m:r>
                                  <a:rPr lang="es-ES_tradnl" sz="1800" i="1" ker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8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𝑥𝑦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s-ES" sz="18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s-ES" sz="18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744006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46D41870-D61C-A6EA-BEF8-4E2300EC76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2617871"/>
                  </p:ext>
                </p:extLst>
              </p:nvPr>
            </p:nvGraphicFramePr>
            <p:xfrm>
              <a:off x="838200" y="1840102"/>
              <a:ext cx="10515600" cy="456374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27663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4215161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4272776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Medida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Poblacional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Muestral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" t="-62857" r="-418919" b="-57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8266" t="-62857" r="-101590" b="-57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6362" t="-62857" r="-285" b="-5704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39897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" t="-162857" r="-418919" b="-47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8266" t="-162857" r="-101590" b="-47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6362" t="-162857" r="-285" b="-4704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666421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" t="-260377" r="-418919" b="-36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8266" t="-260377" r="-101590" b="-36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6362" t="-260377" r="-285" b="-3660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903866"/>
                      </a:ext>
                    </a:extLst>
                  </a:tr>
                  <a:tr h="646494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" t="-360377" r="-418919" b="-26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8266" t="-360377" r="-101590" b="-26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6362" t="-360377" r="-285" b="-2660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60863641"/>
                      </a:ext>
                    </a:extLst>
                  </a:tr>
                  <a:tr h="711772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Covarianza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8266" t="-417094" r="-101590" b="-14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46362" t="-417094" r="-285" b="-1410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2647725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Coeficiente de correlación (de Pearson)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8266" t="-403333" r="-101590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46362" t="-403333" r="-285" b="-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44006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D54F14-FA46-ADE6-808E-18301991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55418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 idx="4294967295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txBody>
          <a:bodyPr anchor="ctr">
            <a:normAutofit fontScale="91000"/>
          </a:bodyPr>
          <a:lstStyle/>
          <a:p>
            <a:r>
              <a:rPr lang="es-ES" dirty="0"/>
              <a:t>6. Estadística descriptiva bidimensional</a:t>
            </a:r>
            <a:br>
              <a:rPr lang="es-ES" sz="4400" b="0" strike="noStrike" spc="-1" dirty="0">
                <a:solidFill>
                  <a:srgbClr val="000000"/>
                </a:solidFill>
                <a:latin typeface="Calibri Light"/>
              </a:rPr>
            </a:br>
            <a:r>
              <a:rPr lang="es-ES" dirty="0"/>
              <a:t>Medidas estadísticas. C</a:t>
            </a:r>
            <a:r>
              <a:rPr lang="es-ES" sz="4400" b="0" strike="noStrike" spc="-1" dirty="0">
                <a:solidFill>
                  <a:srgbClr val="000000"/>
                </a:solidFill>
                <a:latin typeface="Calibri Light"/>
              </a:rPr>
              <a:t>oeficiente de correlación (I)</a:t>
            </a:r>
            <a:endParaRPr lang="es-E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838080" y="1825560"/>
                <a:ext cx="10886040" cy="50324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t">
                <a:normAutofit fontScale="95500"/>
              </a:bodyPr>
              <a:lstStyle/>
              <a:p>
                <a:pPr marL="228600" indent="-228600">
                  <a:lnSpc>
                    <a:spcPct val="90000"/>
                  </a:lnSpc>
                  <a:spcBef>
                    <a:spcPts val="1001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es-ES" sz="2800" b="0" strike="noStrike" spc="-1" dirty="0">
                    <a:solidFill>
                      <a:srgbClr val="000000"/>
                    </a:solidFill>
                    <a:latin typeface="Calibri"/>
                  </a:rPr>
                  <a:t>El coeficiente de correlación (de Pearson) es una medida de dependencia lineal entre dos variables cuantitativas que representan dos propiedades de los elementos o individuos de una población (peso, altura, edad, etc.)</a:t>
                </a:r>
              </a:p>
              <a:p>
                <a:pPr marL="228600" indent="-228600">
                  <a:lnSpc>
                    <a:spcPct val="90000"/>
                  </a:lnSpc>
                  <a:spcBef>
                    <a:spcPts val="1001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es-ES" spc="-1" dirty="0">
                    <a:solidFill>
                      <a:srgbClr val="000000"/>
                    </a:solidFill>
                    <a:latin typeface="Calibri"/>
                  </a:rPr>
                  <a:t>Cuando se aplica a toda la población, se denomina coeficiente de correlación poblacional (</a:t>
                </a:r>
                <a14:m>
                  <m:oMath xmlns:m="http://schemas.openxmlformats.org/officeDocument/2006/math">
                    <m:r>
                      <a:rPr lang="es-ES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s-ES" spc="-1" dirty="0">
                    <a:solidFill>
                      <a:srgbClr val="000000"/>
                    </a:solidFill>
                    <a:latin typeface="Calibri"/>
                  </a:rPr>
                  <a:t>).</a:t>
                </a:r>
              </a:p>
              <a:p>
                <a:pPr>
                  <a:spcBef>
                    <a:spcPts val="1001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es-ES" spc="-1" dirty="0">
                    <a:solidFill>
                      <a:srgbClr val="000000"/>
                    </a:solidFill>
                    <a:latin typeface="Calibri"/>
                  </a:rPr>
                  <a:t>Cuando se aplica a una muestra de la población, se denomina coeficiente de correlación muestral (</a:t>
                </a:r>
                <a14:m>
                  <m:oMath xmlns:m="http://schemas.openxmlformats.org/officeDocument/2006/math">
                    <m:r>
                      <a:rPr lang="es-ES" i="1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s-ES" spc="-1" dirty="0">
                    <a:solidFill>
                      <a:srgbClr val="000000"/>
                    </a:solidFill>
                    <a:latin typeface="Calibri"/>
                  </a:rPr>
                  <a:t>).</a:t>
                </a:r>
              </a:p>
              <a:p>
                <a:pPr>
                  <a:lnSpc>
                    <a:spcPct val="90000"/>
                  </a:lnSpc>
                  <a:spcBef>
                    <a:spcPts val="1001"/>
                  </a:spcBef>
                  <a:buNone/>
                </a:pPr>
                <a:endParaRPr lang="es-ES" sz="2800" b="0" strike="noStrike" spc="-1" dirty="0">
                  <a:solidFill>
                    <a:srgbClr val="000000"/>
                  </a:solidFill>
                  <a:latin typeface="Calibri"/>
                </a:endParaRPr>
              </a:p>
              <a:p>
                <a:pPr>
                  <a:lnSpc>
                    <a:spcPct val="90000"/>
                  </a:lnSpc>
                  <a:spcBef>
                    <a:spcPts val="1001"/>
                  </a:spcBef>
                  <a:buNone/>
                </a:pPr>
                <a:endParaRPr lang="es-ES" sz="2800" b="0" strike="noStrike" spc="-1" dirty="0">
                  <a:solidFill>
                    <a:srgbClr val="000000"/>
                  </a:solidFill>
                  <a:latin typeface="Calibri"/>
                </a:endParaRPr>
              </a:p>
              <a:p>
                <a:pPr>
                  <a:lnSpc>
                    <a:spcPct val="90000"/>
                  </a:lnSpc>
                  <a:spcBef>
                    <a:spcPts val="1417"/>
                  </a:spcBef>
                  <a:buNone/>
                </a:pPr>
                <a:endParaRPr lang="es-ES" sz="2400" b="0" strike="noStrike" spc="-1" dirty="0">
                  <a:solidFill>
                    <a:srgbClr val="000000"/>
                  </a:solidFill>
                  <a:latin typeface="Calibri"/>
                </a:endParaRPr>
              </a:p>
              <a:p>
                <a:pPr>
                  <a:lnSpc>
                    <a:spcPct val="90000"/>
                  </a:lnSpc>
                  <a:spcBef>
                    <a:spcPts val="1417"/>
                  </a:spcBef>
                  <a:buNone/>
                </a:pPr>
                <a:endParaRPr lang="es-ES" sz="2400" b="0" strike="noStrike" spc="-1" dirty="0">
                  <a:solidFill>
                    <a:srgbClr val="000000"/>
                  </a:solidFill>
                  <a:latin typeface="Calibri"/>
                </a:endParaRPr>
              </a:p>
              <a:p>
                <a:pPr>
                  <a:lnSpc>
                    <a:spcPct val="90000"/>
                  </a:lnSpc>
                  <a:spcBef>
                    <a:spcPts val="1001"/>
                  </a:spcBef>
                  <a:buNone/>
                  <a:tabLst>
                    <a:tab pos="0" algn="l"/>
                  </a:tabLst>
                </a:pPr>
                <a:endParaRPr lang="es-ES" sz="2800" b="0" strike="noStrike" spc="-1" dirty="0">
                  <a:solidFill>
                    <a:srgbClr val="000000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52" name="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838080" y="1825560"/>
                <a:ext cx="10886040" cy="5032440"/>
              </a:xfrm>
              <a:prstGeom prst="rect">
                <a:avLst/>
              </a:prstGeom>
              <a:blipFill>
                <a:blip r:embed="rId2"/>
                <a:stretch>
                  <a:fillRect l="-952" t="-1816" r="-173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/>
          <p:cNvSpPr>
            <a:spLocks noGrp="1"/>
          </p:cNvSpPr>
          <p:nvPr>
            <p:ph type="sldNum" idx="429496729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lang="es-ES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es-ES" sz="1600" b="0" strike="noStrike" kern="1200" spc="-1">
                <a:solidFill>
                  <a:srgbClr val="8B8B8B"/>
                </a:solidFill>
                <a:latin typeface="Calibri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5E37DA7-36E1-4515-B339-87188BC9F86E}" type="slidenum">
              <a:rPr lang="es-ES" smtClean="0"/>
              <a:pPr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41953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 idx="4294967295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txBody>
          <a:bodyPr anchor="ctr">
            <a:normAutofit fontScale="90000"/>
          </a:bodyPr>
          <a:lstStyle/>
          <a:p>
            <a:r>
              <a:rPr lang="es-ES" dirty="0"/>
              <a:t>6. Estadística descriptiva bidimensional</a:t>
            </a:r>
            <a:br>
              <a:rPr lang="es-ES" sz="4400" b="0" strike="noStrike" spc="-1" dirty="0">
                <a:solidFill>
                  <a:srgbClr val="000000"/>
                </a:solidFill>
                <a:latin typeface="Calibri Light"/>
              </a:rPr>
            </a:br>
            <a:r>
              <a:rPr lang="es-ES" dirty="0"/>
              <a:t>Medidas estadísticas. C</a:t>
            </a:r>
            <a:r>
              <a:rPr lang="es-ES" sz="4400" b="0" strike="noStrike" spc="-1" dirty="0">
                <a:solidFill>
                  <a:srgbClr val="000000"/>
                </a:solidFill>
                <a:latin typeface="Calibri Light"/>
              </a:rPr>
              <a:t>oeficiente de correlación</a:t>
            </a:r>
            <a:endParaRPr lang="es-E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838080" y="1825560"/>
                <a:ext cx="6280252" cy="50324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t">
                <a:normAutofit fontScale="80500" lnSpcReduction="10000"/>
              </a:bodyPr>
              <a:lstStyle/>
              <a:p>
                <a:pPr>
                  <a:spcBef>
                    <a:spcPts val="1001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es-ES" spc="-1" dirty="0">
                    <a:solidFill>
                      <a:srgbClr val="000000"/>
                    </a:solidFill>
                    <a:latin typeface="Calibri"/>
                  </a:rPr>
                  <a:t>Dada u</a:t>
                </a:r>
                <a:r>
                  <a:rPr lang="es-ES" sz="2800" b="0" strike="noStrike" spc="-1" dirty="0">
                    <a:solidFill>
                      <a:srgbClr val="000000"/>
                    </a:solidFill>
                    <a:latin typeface="Calibri"/>
                  </a:rPr>
                  <a:t>na muestra de pares de valores:</a:t>
                </a:r>
              </a:p>
              <a:p>
                <a:pPr lvl="1">
                  <a:spcBef>
                    <a:spcPts val="1001"/>
                  </a:spcBef>
                  <a:buClr>
                    <a:srgbClr val="000000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ES" b="0" i="1" strike="noStrike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trike="noStrike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trike="noStrike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b="0" i="1" strike="noStrike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b="0" i="1" strike="noStrike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" b="0" i="1" strike="noStrike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trike="noStrike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s-ES" b="0" i="1" strike="noStrike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ES" b="0" i="1" strike="noStrike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s-ES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s-ES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s-ES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</m:t>
                    </m:r>
                    <m:d>
                      <m:dPr>
                        <m:ctrlPr>
                          <a:rPr lang="es-ES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s-ES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s-ES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s-ES" b="0" strike="noStrike" spc="-1" dirty="0">
                    <a:solidFill>
                      <a:srgbClr val="000000"/>
                    </a:solidFill>
                    <a:latin typeface="Calibri"/>
                  </a:rPr>
                  <a:t> de dos variables </a:t>
                </a:r>
                <a14:m>
                  <m:oMath xmlns:m="http://schemas.openxmlformats.org/officeDocument/2006/math">
                    <m:r>
                      <a:rPr lang="es-ES" b="0" i="1" strike="noStrike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" b="0" strike="noStrike" spc="-1" dirty="0">
                    <a:solidFill>
                      <a:srgbClr val="000000"/>
                    </a:solidFill>
                    <a:latin typeface="Calibri"/>
                  </a:rPr>
                  <a:t> e </a:t>
                </a:r>
                <a14:m>
                  <m:oMath xmlns:m="http://schemas.openxmlformats.org/officeDocument/2006/math">
                    <m:r>
                      <a:rPr lang="es-ES" b="0" i="1" strike="noStrike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" b="0" strike="noStrike" spc="-1" dirty="0">
                  <a:solidFill>
                    <a:srgbClr val="000000"/>
                  </a:solidFill>
                  <a:latin typeface="Calibri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coeficiente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de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correlaci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ó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muestral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𝑋𝑌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</m:den>
                    </m:f>
                  </m:oMath>
                </a14:m>
                <a:endParaRPr lang="es-ES" dirty="0"/>
              </a:p>
              <a:p>
                <a:pPr>
                  <a:spcBef>
                    <a:spcPts val="1001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es-ES" spc="-1" dirty="0">
                    <a:solidFill>
                      <a:srgbClr val="000000"/>
                    </a:solidFill>
                    <a:latin typeface="Calibri"/>
                  </a:rPr>
                  <a:t>Valores posibles </a:t>
                </a:r>
              </a:p>
              <a:p>
                <a:pPr lvl="1">
                  <a:spcBef>
                    <a:spcPts val="1001"/>
                  </a:spcBef>
                  <a:buClr>
                    <a:srgbClr val="000000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≤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marL="228600" indent="-228600">
                  <a:lnSpc>
                    <a:spcPct val="90000"/>
                  </a:lnSpc>
                  <a:spcBef>
                    <a:spcPts val="1001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es-ES" sz="2800" b="0" strike="noStrike" spc="-1" dirty="0">
                    <a:solidFill>
                      <a:srgbClr val="000000"/>
                    </a:solidFill>
                    <a:latin typeface="Calibri"/>
                  </a:rPr>
                  <a:t>Valores de </a:t>
                </a:r>
                <a14:m>
                  <m:oMath xmlns:m="http://schemas.openxmlformats.org/officeDocument/2006/math">
                    <m:r>
                      <a:rPr lang="es-ES" sz="2800" b="0" i="1" strike="noStrike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s-ES" sz="2800" b="0" strike="noStrike" spc="-1" dirty="0">
                    <a:solidFill>
                      <a:srgbClr val="000000"/>
                    </a:solidFill>
                    <a:latin typeface="Calibri"/>
                  </a:rPr>
                  <a:t> cercanos a:</a:t>
                </a:r>
              </a:p>
              <a:p>
                <a:pPr marL="685800" lvl="1" indent="-228600">
                  <a:lnSpc>
                    <a:spcPct val="90000"/>
                  </a:lnSpc>
                  <a:spcBef>
                    <a:spcPts val="499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es-ES" sz="2400" b="0" strike="noStrike" spc="-1" dirty="0">
                    <a:solidFill>
                      <a:srgbClr val="000000"/>
                    </a:solidFill>
                    <a:latin typeface="Calibri"/>
                  </a:rPr>
                  <a:t>1 indican una fuerte correlación lineal positiva</a:t>
                </a:r>
              </a:p>
              <a:p>
                <a:pPr marL="685800" lvl="1" indent="-228600">
                  <a:lnSpc>
                    <a:spcPct val="90000"/>
                  </a:lnSpc>
                  <a:spcBef>
                    <a:spcPts val="499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es-ES" sz="2400" b="0" strike="noStrike" spc="-1" dirty="0">
                    <a:solidFill>
                      <a:srgbClr val="000000"/>
                    </a:solidFill>
                    <a:latin typeface="Calibri"/>
                  </a:rPr>
                  <a:t>− 1 muestran una fuerte correlación lineal negativa</a:t>
                </a:r>
              </a:p>
              <a:p>
                <a:pPr marL="685800" lvl="1" indent="-228600">
                  <a:lnSpc>
                    <a:spcPct val="90000"/>
                  </a:lnSpc>
                  <a:spcBef>
                    <a:spcPts val="499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es-ES" sz="2400" b="0" strike="noStrike" spc="-1" dirty="0">
                    <a:solidFill>
                      <a:srgbClr val="000000"/>
                    </a:solidFill>
                    <a:latin typeface="Calibri"/>
                  </a:rPr>
                  <a:t>0 muestran una correlación débil o ninguna correlación</a:t>
                </a:r>
              </a:p>
              <a:p>
                <a:pPr>
                  <a:spcBef>
                    <a:spcPts val="1001"/>
                  </a:spcBef>
                  <a:buClr>
                    <a:srgbClr val="000000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s-ES" sz="2800" b="0" i="1" strike="noStrike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800" b="0" i="1" strike="noStrike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s-ES" sz="2800" b="0" i="1" strike="noStrike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800" b="0" i="1" strike="noStrike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s-ES" sz="2800" b="0" strike="noStrike" spc="-1" dirty="0">
                    <a:solidFill>
                      <a:srgbClr val="000000"/>
                    </a:solidFill>
                    <a:latin typeface="Calibri"/>
                  </a:rPr>
                  <a:t> es posible sólo cuando todos los valores de X e Y se encuentran en una línea recta</a:t>
                </a:r>
              </a:p>
              <a:p>
                <a:pPr>
                  <a:spcBef>
                    <a:spcPts val="1001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es-ES" spc="-1" dirty="0">
                    <a:solidFill>
                      <a:srgbClr val="000000"/>
                    </a:solidFill>
                    <a:latin typeface="Calibri"/>
                  </a:rPr>
                  <a:t>NOTA: Es el coeficiente de correlación de Pearson, existen otros coeficientes de correlación, como el de </a:t>
                </a:r>
                <a:r>
                  <a:rPr lang="es-ES" spc="-1" dirty="0">
                    <a:solidFill>
                      <a:srgbClr val="000000"/>
                    </a:solidFill>
                    <a:latin typeface="Calibri"/>
                    <a:hlinkClick r:id="rId2"/>
                  </a:rPr>
                  <a:t>Kendall</a:t>
                </a:r>
                <a:r>
                  <a:rPr lang="es-ES" spc="-1" dirty="0">
                    <a:solidFill>
                      <a:srgbClr val="000000"/>
                    </a:solidFill>
                    <a:latin typeface="Calibri"/>
                  </a:rPr>
                  <a:t> o el de </a:t>
                </a:r>
                <a:r>
                  <a:rPr lang="es-ES" spc="-1" dirty="0">
                    <a:solidFill>
                      <a:srgbClr val="000000"/>
                    </a:solidFill>
                    <a:latin typeface="Calibri"/>
                    <a:hlinkClick r:id="rId3"/>
                  </a:rPr>
                  <a:t>Spearman</a:t>
                </a:r>
                <a:endParaRPr lang="es-ES" sz="2800" b="0" strike="noStrike" spc="-1" dirty="0">
                  <a:solidFill>
                    <a:srgbClr val="000000"/>
                  </a:solidFill>
                  <a:latin typeface="Calibri"/>
                </a:endParaRPr>
              </a:p>
              <a:p>
                <a:pPr>
                  <a:lnSpc>
                    <a:spcPct val="90000"/>
                  </a:lnSpc>
                  <a:spcBef>
                    <a:spcPts val="1001"/>
                  </a:spcBef>
                  <a:buNone/>
                </a:pPr>
                <a:endParaRPr lang="es-ES" sz="2800" b="0" strike="noStrike" spc="-1" dirty="0">
                  <a:solidFill>
                    <a:srgbClr val="000000"/>
                  </a:solidFill>
                  <a:latin typeface="Calibri"/>
                </a:endParaRPr>
              </a:p>
              <a:p>
                <a:pPr>
                  <a:lnSpc>
                    <a:spcPct val="90000"/>
                  </a:lnSpc>
                  <a:spcBef>
                    <a:spcPts val="1417"/>
                  </a:spcBef>
                  <a:buNone/>
                </a:pPr>
                <a:endParaRPr lang="es-ES" sz="2400" b="0" strike="noStrike" spc="-1" dirty="0">
                  <a:solidFill>
                    <a:srgbClr val="000000"/>
                  </a:solidFill>
                  <a:latin typeface="Calibri"/>
                </a:endParaRPr>
              </a:p>
              <a:p>
                <a:pPr>
                  <a:lnSpc>
                    <a:spcPct val="90000"/>
                  </a:lnSpc>
                  <a:spcBef>
                    <a:spcPts val="1417"/>
                  </a:spcBef>
                  <a:buNone/>
                </a:pPr>
                <a:endParaRPr lang="es-ES" sz="2400" b="0" strike="noStrike" spc="-1" dirty="0">
                  <a:solidFill>
                    <a:srgbClr val="000000"/>
                  </a:solidFill>
                  <a:latin typeface="Calibri"/>
                </a:endParaRPr>
              </a:p>
              <a:p>
                <a:pPr>
                  <a:lnSpc>
                    <a:spcPct val="90000"/>
                  </a:lnSpc>
                  <a:spcBef>
                    <a:spcPts val="1001"/>
                  </a:spcBef>
                  <a:buNone/>
                  <a:tabLst>
                    <a:tab pos="0" algn="l"/>
                  </a:tabLst>
                </a:pPr>
                <a:endParaRPr lang="es-ES" sz="2800" b="0" strike="noStrike" spc="-1" dirty="0">
                  <a:solidFill>
                    <a:srgbClr val="000000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52" name="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838080" y="1825560"/>
                <a:ext cx="6280252" cy="5032440"/>
              </a:xfrm>
              <a:prstGeom prst="rect">
                <a:avLst/>
              </a:prstGeom>
              <a:blipFill>
                <a:blip r:embed="rId4"/>
                <a:stretch>
                  <a:fillRect l="-1164" t="-2058" r="-106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/>
          <p:cNvSpPr>
            <a:spLocks noGrp="1"/>
          </p:cNvSpPr>
          <p:nvPr>
            <p:ph type="sldNum" idx="429496729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lang="es-ES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es-ES" sz="1600" b="0" strike="noStrike" kern="1200" spc="-1">
                <a:solidFill>
                  <a:srgbClr val="8B8B8B"/>
                </a:solidFill>
                <a:latin typeface="Calibri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5E37DA7-36E1-4515-B339-87188BC9F86E}" type="slidenum">
              <a:rPr lang="es-ES" smtClean="0"/>
              <a:pPr/>
              <a:t>42</a:t>
            </a:fld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2C6DBB3-AB45-385F-1CF9-343F1BB79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3023" y="2613840"/>
            <a:ext cx="456917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5CAD73C-4149-CB27-E017-CC246E673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052535" y="5451760"/>
            <a:ext cx="12643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Imagen: </a:t>
            </a:r>
            <a:r>
              <a:rPr lang="es-ES" sz="1400" dirty="0">
                <a:hlinkClick r:id="rId6"/>
              </a:rPr>
              <a:t>RPubs</a:t>
            </a:r>
            <a:endParaRPr lang="es-E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E7090D5-3F1D-C6BD-40C3-E1BA099BE3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7589288" y="3690159"/>
                <a:ext cx="21151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s-ES" sz="14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E7090D5-3F1D-C6BD-40C3-E1BA099BE3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9288" y="3690159"/>
                <a:ext cx="211513" cy="307777"/>
              </a:xfrm>
              <a:prstGeom prst="rect">
                <a:avLst/>
              </a:prstGeom>
              <a:blipFill>
                <a:blip r:embed="rId7"/>
                <a:stretch>
                  <a:fillRect r="-285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FD175CCF-0E9D-EDA2-69D5-7AA5B6457C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7509623" y="5148116"/>
                <a:ext cx="23368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s-ES" sz="14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FD175CCF-0E9D-EDA2-69D5-7AA5B6457C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9623" y="5148116"/>
                <a:ext cx="233680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86DC99D0-E736-98A9-ED3A-7842AF85D1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8728828" y="3696854"/>
                <a:ext cx="21151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s-ES" sz="140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86DC99D0-E736-98A9-ED3A-7842AF85D1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828" y="3696854"/>
                <a:ext cx="211513" cy="307777"/>
              </a:xfrm>
              <a:prstGeom prst="rect">
                <a:avLst/>
              </a:prstGeom>
              <a:blipFill>
                <a:blip r:embed="rId7"/>
                <a:stretch>
                  <a:fillRect r="-285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D5DC2D4-ED6B-EA7A-F326-CB06680142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9882216" y="3696854"/>
                <a:ext cx="21151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s-ES" sz="14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D5DC2D4-ED6B-EA7A-F326-CB06680142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2216" y="3696854"/>
                <a:ext cx="211513" cy="307777"/>
              </a:xfrm>
              <a:prstGeom prst="rect">
                <a:avLst/>
              </a:prstGeom>
              <a:blipFill>
                <a:blip r:embed="rId9"/>
                <a:stretch>
                  <a:fillRect r="-571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A9AAA7E-B619-7A9D-ECA5-D5107B13AF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11056389" y="3696854"/>
                <a:ext cx="21151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s-ES" sz="14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A9AAA7E-B619-7A9D-ECA5-D5107B13AF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6389" y="3696854"/>
                <a:ext cx="211513" cy="307777"/>
              </a:xfrm>
              <a:prstGeom prst="rect">
                <a:avLst/>
              </a:prstGeom>
              <a:blipFill>
                <a:blip r:embed="rId10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72D24157-CCB8-5A2F-DD97-01C2A0FFC6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8697653" y="5141425"/>
                <a:ext cx="21151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s-ES" sz="1400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72D24157-CCB8-5A2F-DD97-01C2A0FFC6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7653" y="5141425"/>
                <a:ext cx="211513" cy="307777"/>
              </a:xfrm>
              <a:prstGeom prst="rect">
                <a:avLst/>
              </a:prstGeom>
              <a:blipFill>
                <a:blip r:embed="rId10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7F15049D-2E58-81D5-9BC9-E250345EAE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9840651" y="5141194"/>
                <a:ext cx="21151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s-ES" sz="1400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7F15049D-2E58-81D5-9BC9-E250345EAE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0651" y="5141194"/>
                <a:ext cx="211513" cy="307777"/>
              </a:xfrm>
              <a:prstGeom prst="rect">
                <a:avLst/>
              </a:prstGeom>
              <a:blipFill>
                <a:blip r:embed="rId9"/>
                <a:stretch>
                  <a:fillRect r="-571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4823A231-4E09-311E-6583-F595B8048D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11025214" y="5141431"/>
                <a:ext cx="21151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s-ES" sz="1400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4823A231-4E09-311E-6583-F595B8048D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5214" y="5141431"/>
                <a:ext cx="211513" cy="307777"/>
              </a:xfrm>
              <a:prstGeom prst="rect">
                <a:avLst/>
              </a:prstGeom>
              <a:blipFill>
                <a:blip r:embed="rId10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47046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61FE9-C3AE-6FC7-C4A9-C1FF0B2C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6. Estadística descriptiva bidimensional</a:t>
            </a:r>
            <a:br>
              <a:rPr lang="es-ES" sz="4400" b="0" strike="noStrike" spc="-1" dirty="0">
                <a:solidFill>
                  <a:srgbClr val="000000"/>
                </a:solidFill>
                <a:latin typeface="Calibri Light"/>
              </a:rPr>
            </a:br>
            <a:r>
              <a:rPr lang="es-ES" sz="4000" dirty="0"/>
              <a:t>Medidas estadísticas. </a:t>
            </a:r>
            <a:r>
              <a:rPr lang="es-ES" sz="4000" dirty="0" err="1"/>
              <a:t>C</a:t>
            </a:r>
            <a:r>
              <a:rPr lang="es-ES" sz="4000" b="0" strike="noStrike" spc="-1" dirty="0" err="1">
                <a:solidFill>
                  <a:srgbClr val="000000"/>
                </a:solidFill>
                <a:latin typeface="Calibri Light"/>
              </a:rPr>
              <a:t>oef</a:t>
            </a:r>
            <a:r>
              <a:rPr lang="es-ES" sz="4000" b="0" strike="noStrike" spc="-1" dirty="0">
                <a:solidFill>
                  <a:srgbClr val="000000"/>
                </a:solidFill>
                <a:latin typeface="Calibri Light"/>
              </a:rPr>
              <a:t>. de correlación. Ejemplo 8.22</a:t>
            </a:r>
            <a:endParaRPr lang="es-E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8D761F8-90FE-5A56-8924-772DAE4E6C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Según la Base Internacional de Datos de la Oficina del Censo de los </a:t>
                </a:r>
                <a:r>
                  <a:rPr lang="es-ES" dirty="0" err="1"/>
                  <a:t>Estados</a:t>
                </a:r>
                <a:r>
                  <a:rPr lang="es-ES" dirty="0"/>
                  <a:t> Unidos, la población </a:t>
                </a:r>
                <a:r>
                  <a:rPr lang="es-ES" dirty="0" err="1"/>
                  <a:t>mundial</a:t>
                </a:r>
                <a:r>
                  <a:rPr lang="es-ES" dirty="0"/>
                  <a:t> entre 1950 y 2010 creció </a:t>
                </a:r>
                <a:r>
                  <a:rPr lang="es-ES" dirty="0" err="1"/>
                  <a:t>según</a:t>
                </a:r>
                <a:r>
                  <a:rPr lang="es-ES" dirty="0"/>
                  <a:t> </a:t>
                </a:r>
                <a:r>
                  <a:rPr lang="es-ES" dirty="0" err="1"/>
                  <a:t>esta</a:t>
                </a:r>
                <a:r>
                  <a:rPr lang="es-ES" dirty="0"/>
                  <a:t> </a:t>
                </a:r>
                <a:r>
                  <a:rPr lang="es-ES" dirty="0" err="1"/>
                  <a:t>tabla</a:t>
                </a:r>
                <a:r>
                  <a:rPr lang="es-ES" dirty="0"/>
                  <a:t>, en la que: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" dirty="0"/>
                  <a:t> representa un año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" dirty="0"/>
                  <a:t> representa la población mundial en ese año (millones de personas)</a:t>
                </a:r>
              </a:p>
              <a:p>
                <a:endParaRPr lang="es-ES" dirty="0"/>
              </a:p>
              <a:p>
                <a:endParaRPr lang="es-ES" dirty="0"/>
              </a:p>
              <a:p>
                <a:r>
                  <a:rPr lang="es-ES" dirty="0"/>
                  <a:t>Calcular el coeficiente de correlación (de Pearson)</a:t>
                </a:r>
              </a:p>
              <a:p>
                <a:pPr lvl="2">
                  <a:spcBef>
                    <a:spcPts val="1000"/>
                  </a:spcBef>
                </a:pPr>
                <a:endParaRPr lang="en-US" alt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8D761F8-90FE-5A56-8924-772DAE4E6C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2EB3EA83-F413-CEF3-CB63-6308681A08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1715144"/>
                  </p:ext>
                </p:extLst>
              </p:nvPr>
            </p:nvGraphicFramePr>
            <p:xfrm>
              <a:off x="1509236" y="3942687"/>
              <a:ext cx="8327998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94857">
                      <a:extLst>
                        <a:ext uri="{9D8B030D-6E8A-4147-A177-3AD203B41FA5}">
                          <a16:colId xmlns:a16="http://schemas.microsoft.com/office/drawing/2014/main" val="1556474000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3592083387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37151046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672761519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409202858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109034726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6140398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62718483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88390593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225608960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23961250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201067295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43758056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1770334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1955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1965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1970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1975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1985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1995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2005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2010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308578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2558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2782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3043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3350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3712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4089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4451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4855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5287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5700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6090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6474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6864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01970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2EB3EA83-F413-CEF3-CB63-6308681A08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1715144"/>
                  </p:ext>
                </p:extLst>
              </p:nvPr>
            </p:nvGraphicFramePr>
            <p:xfrm>
              <a:off x="1509236" y="3942687"/>
              <a:ext cx="8327998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94857">
                      <a:extLst>
                        <a:ext uri="{9D8B030D-6E8A-4147-A177-3AD203B41FA5}">
                          <a16:colId xmlns:a16="http://schemas.microsoft.com/office/drawing/2014/main" val="1556474000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3592083387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37151046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672761519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409202858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109034726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6140398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62718483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88390593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225608960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23961250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201067295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43758056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1770334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3"/>
                          <a:stretch>
                            <a:fillRect l="-1020" t="-1613" r="-1296939" b="-1064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1955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1965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1970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1975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1985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1995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2005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2010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308578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3"/>
                          <a:stretch>
                            <a:fillRect l="-1020" t="-103279" r="-1296939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2558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2782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3043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3350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3712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4089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4451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4855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5287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5700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6090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6474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6864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019705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A86158-512B-60EF-6886-59F4BFB0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43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3710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61FE9-C3AE-6FC7-C4A9-C1FF0B2C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6. Estadística descriptiva bidimensional</a:t>
            </a:r>
            <a:br>
              <a:rPr lang="es-ES" sz="4400" b="0" strike="noStrike" spc="-1" dirty="0">
                <a:solidFill>
                  <a:srgbClr val="000000"/>
                </a:solidFill>
                <a:latin typeface="Calibri Light"/>
              </a:rPr>
            </a:br>
            <a:r>
              <a:rPr lang="es-ES" sz="3600" dirty="0"/>
              <a:t>Medidas estadísticas. </a:t>
            </a:r>
            <a:r>
              <a:rPr lang="es-ES" sz="3600" dirty="0" err="1"/>
              <a:t>C</a:t>
            </a:r>
            <a:r>
              <a:rPr lang="es-ES" sz="3600" b="0" strike="noStrike" spc="-1" dirty="0" err="1">
                <a:solidFill>
                  <a:srgbClr val="000000"/>
                </a:solidFill>
                <a:latin typeface="Calibri Light"/>
              </a:rPr>
              <a:t>oef</a:t>
            </a:r>
            <a:r>
              <a:rPr lang="es-ES" sz="3600" b="0" strike="noStrike" spc="-1" dirty="0">
                <a:solidFill>
                  <a:srgbClr val="000000"/>
                </a:solidFill>
                <a:latin typeface="Calibri Light"/>
              </a:rPr>
              <a:t>. de correlación. Ejemplo 8.22 (sol.)</a:t>
            </a:r>
            <a:endParaRPr lang="es-E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8D761F8-90FE-5A56-8924-772DAE4E6C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910468"/>
                <a:ext cx="10515600" cy="3811007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  <m:e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1950+…+2010</m:t>
                        </m:r>
                      </m:num>
                      <m:den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=1980</m:t>
                    </m:r>
                  </m:oMath>
                </a14:m>
                <a:endParaRPr lang="en-US" sz="1800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  <m:e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2558+…+6864</m:t>
                        </m:r>
                      </m:num>
                      <m:den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=4558.1</m:t>
                    </m:r>
                  </m:oMath>
                </a14:m>
                <a:endParaRPr lang="en-US" sz="180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s-ES" sz="1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E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E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sz="18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E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s-ES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ES" sz="1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sz="1800" i="1">
                                    <a:latin typeface="Cambria Math" panose="02040503050406030204" pitchFamily="18" charset="0"/>
                                  </a:rPr>
                                  <m:t>1980</m:t>
                                </m:r>
                                <m:r>
                                  <a:rPr lang="es-ES" sz="18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ES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1950</m:t>
                                </m:r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1980</m:t>
                                </m:r>
                              </m:e>
                            </m:d>
                          </m:e>
                          <m:sup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+…+</m:t>
                        </m:r>
                        <m:sSup>
                          <m:sSupPr>
                            <m:ctrlPr>
                              <a:rPr lang="es-E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E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2010</m:t>
                                </m:r>
                                <m:r>
                                  <a:rPr lang="es-ES" sz="1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sz="1800" i="1">
                                    <a:latin typeface="Cambria Math" panose="02040503050406030204" pitchFamily="18" charset="0"/>
                                  </a:rPr>
                                  <m:t>1980</m:t>
                                </m:r>
                              </m:e>
                            </m:d>
                          </m:e>
                          <m:sup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379</m:t>
                    </m:r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lang="en-US" sz="1800" dirty="0"/>
                  <a:t> </a:t>
                </a:r>
                <a:r>
                  <a:rPr lang="en-US" sz="18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𝑠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𝑋</m:t>
                        </m:r>
                      </m:sub>
                    </m:sSub>
                    <m:r>
                      <a:rPr lang="es-ES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radPr>
                      <m:deg/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379</m:t>
                        </m:r>
                        <m:r>
                          <a:rPr lang="es-ES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.</m:t>
                        </m:r>
                        <m:r>
                          <a:rPr lang="es-ES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17</m:t>
                        </m:r>
                      </m:e>
                    </m:rad>
                    <m:r>
                      <a:rPr lang="es-ES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s-ES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19</m:t>
                    </m:r>
                    <m:r>
                      <a:rPr lang="es-ES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.</m:t>
                    </m:r>
                    <m:r>
                      <a:rPr lang="es-ES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47</m:t>
                    </m:r>
                  </m:oMath>
                </a14:m>
                <a:endParaRPr lang="en-US" sz="180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ar-AE" sz="1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  <m:sup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s-ES" sz="1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E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E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sz="18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E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s-ES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ES" sz="1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4558</m:t>
                                </m:r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ES" sz="18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ES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2558</m:t>
                                </m:r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4558</m:t>
                                </m:r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+…+</m:t>
                        </m:r>
                        <m:sSup>
                          <m:sSupPr>
                            <m:ctrlPr>
                              <a:rPr lang="es-E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E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6864</m:t>
                                </m:r>
                                <m:r>
                                  <a:rPr lang="es-ES" sz="1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4558</m:t>
                                </m:r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2092943</m:t>
                    </m:r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lang="en-US" sz="18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𝑠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𝑌</m:t>
                        </m:r>
                      </m:sub>
                    </m:sSub>
                    <m:r>
                      <a:rPr lang="es-ES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radPr>
                      <m:deg/>
                      <m:e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2092943</m:t>
                        </m:r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41</m:t>
                        </m:r>
                      </m:e>
                    </m:rad>
                    <m:r>
                      <a:rPr lang="es-ES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s-ES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1446</m:t>
                    </m:r>
                    <m:r>
                      <a:rPr lang="es-ES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.</m:t>
                    </m:r>
                    <m:r>
                      <a:rPr lang="es-ES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7</m:t>
                    </m:r>
                  </m:oMath>
                </a14:m>
                <a:endParaRPr lang="en-US" sz="1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  <m:e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1980</m:t>
                            </m:r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)(</m:t>
                            </m:r>
                            <m:sSub>
                              <m:sSubPr>
                                <m:ctrlPr>
                                  <a:rPr lang="es-ES" sz="1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4558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1950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1980</m:t>
                            </m:r>
                          </m:e>
                        </m:d>
                        <m:d>
                          <m:dPr>
                            <m:ctrlP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2558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4558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+…+</m:t>
                        </m:r>
                        <m:d>
                          <m:dPr>
                            <m:ctrlPr>
                              <a:rPr lang="es-E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2010</m:t>
                            </m:r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1980</m:t>
                            </m:r>
                          </m:e>
                        </m:d>
                        <m:d>
                          <m:dPr>
                            <m:ctrlPr>
                              <a:rPr lang="es-E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6864</m:t>
                            </m:r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4558</m:t>
                            </m:r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28104</m:t>
                    </m:r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lang="en-US" sz="1800" dirty="0">
                  <a:highlight>
                    <a:srgbClr val="FFFF00"/>
                  </a:highlight>
                </a:endParaRPr>
              </a:p>
              <a:p>
                <a14:m>
                  <m:oMath xmlns:m="http://schemas.openxmlformats.org/officeDocument/2006/math"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𝑋𝑌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E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sSub>
                          <m:sSubPr>
                            <m:ctrlPr>
                              <a:rPr lang="es-E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</m:den>
                    </m:f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28104</m:t>
                        </m:r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s-ES" sz="18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47</m:t>
                        </m:r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)(</m:t>
                        </m:r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1446</m:t>
                        </m:r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8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s-ES" sz="1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sz="1800" b="1" i="1" smtClean="0">
                        <a:latin typeface="Cambria Math" panose="02040503050406030204" pitchFamily="18" charset="0"/>
                      </a:rPr>
                      <m:t>𝟗𝟗𝟖</m:t>
                    </m:r>
                  </m:oMath>
                </a14:m>
                <a:r>
                  <a:rPr lang="en-US" sz="1800" dirty="0"/>
                  <a:t>   (Valor </a:t>
                </a:r>
                <a:r>
                  <a:rPr lang="en-US" sz="1800" dirty="0" err="1"/>
                  <a:t>muy</a:t>
                </a:r>
                <a:r>
                  <a:rPr lang="en-US" sz="1800" dirty="0"/>
                  <a:t> </a:t>
                </a:r>
                <a:r>
                  <a:rPr lang="en-US" sz="1800" dirty="0" err="1"/>
                  <a:t>próximo</a:t>
                </a:r>
                <a:r>
                  <a:rPr lang="en-US" sz="1800" dirty="0"/>
                  <a:t> a 1, hay </a:t>
                </a:r>
                <a:r>
                  <a:rPr lang="en-US" sz="1800" dirty="0" err="1"/>
                  <a:t>una</a:t>
                </a:r>
                <a:r>
                  <a:rPr lang="en-US" sz="1800" dirty="0"/>
                  <a:t> gran </a:t>
                </a:r>
                <a:r>
                  <a:rPr lang="en-US" sz="1800" dirty="0" err="1"/>
                  <a:t>correlación</a:t>
                </a:r>
                <a:r>
                  <a:rPr lang="en-US" sz="1800" dirty="0"/>
                  <a:t> entre las variables)</a:t>
                </a:r>
              </a:p>
              <a:p>
                <a:endParaRPr lang="en-US" sz="1800" dirty="0">
                  <a:highlight>
                    <a:srgbClr val="FFFF00"/>
                  </a:highlight>
                </a:endParaRPr>
              </a:p>
              <a:p>
                <a:pPr marL="0" indent="0">
                  <a:buNone/>
                  <a:tabLst>
                    <a:tab pos="1616075" algn="l"/>
                  </a:tabLst>
                </a:pPr>
                <a:endParaRPr lang="en-US" altLang="es-ES" sz="26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8D761F8-90FE-5A56-8924-772DAE4E6C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910468"/>
                <a:ext cx="10515600" cy="3811007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A86158-512B-60EF-6886-59F4BFB0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44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2EB3EA83-F413-CEF3-CB63-6308681A08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8135939"/>
                  </p:ext>
                </p:extLst>
              </p:nvPr>
            </p:nvGraphicFramePr>
            <p:xfrm>
              <a:off x="1654202" y="1993426"/>
              <a:ext cx="8327998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94857">
                      <a:extLst>
                        <a:ext uri="{9D8B030D-6E8A-4147-A177-3AD203B41FA5}">
                          <a16:colId xmlns:a16="http://schemas.microsoft.com/office/drawing/2014/main" val="1556474000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3592083387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37151046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672761519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409202858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109034726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6140398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62718483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88390593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225608960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23961250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201067295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43758056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1770334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1955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1965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1970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1975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1985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1995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2005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2010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308578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2558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2782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3043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3350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3712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4089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4451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4855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5287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5700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6090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6474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6864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01970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2EB3EA83-F413-CEF3-CB63-6308681A08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8135939"/>
                  </p:ext>
                </p:extLst>
              </p:nvPr>
            </p:nvGraphicFramePr>
            <p:xfrm>
              <a:off x="1654202" y="1993426"/>
              <a:ext cx="8327998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94857">
                      <a:extLst>
                        <a:ext uri="{9D8B030D-6E8A-4147-A177-3AD203B41FA5}">
                          <a16:colId xmlns:a16="http://schemas.microsoft.com/office/drawing/2014/main" val="1556474000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3592083387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37151046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672761519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409202858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109034726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6140398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62718483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88390593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225608960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23961250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201067295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43758056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1770334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3"/>
                          <a:stretch>
                            <a:fillRect l="-1020" t="-3279" r="-1296939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1955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1965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1970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1975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1985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1995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2005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2010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308578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3"/>
                          <a:stretch>
                            <a:fillRect l="-1020" t="-103279" r="-1296939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2558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2782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3043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3350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3712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4089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4451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4855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5287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5700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6090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6474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6864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019705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529511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474FA5-5389-9719-6C67-1578DFBD2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6. Estadística descriptiva bidimensional</a:t>
            </a:r>
            <a:br>
              <a:rPr lang="es-ES" dirty="0"/>
            </a:br>
            <a:r>
              <a:rPr lang="es-ES" dirty="0"/>
              <a:t>Tabla de contingencia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19E1EF6-E59F-6876-79A4-CAEC174E64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747795" cy="4895850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s-ES" dirty="0"/>
                  <a:t>Es la tabla de frecuencias para una variable estadística bidimensional</a:t>
                </a:r>
              </a:p>
              <a:p>
                <a:r>
                  <a:rPr lang="es-ES" dirty="0"/>
                  <a:t>También se denomina tabla de frecuencias de doble entrada</a:t>
                </a:r>
              </a:p>
              <a:p>
                <a:r>
                  <a:rPr lang="es-ES" dirty="0"/>
                  <a:t>Frecuencia absoluta </a:t>
                </a:r>
                <a:r>
                  <a:rPr lang="es-ES" b="1" dirty="0"/>
                  <a:t>marginal</a:t>
                </a:r>
                <a:r>
                  <a:rPr lang="es-ES" dirty="0"/>
                  <a:t> del valor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dirty="0"/>
                  <a:t> de la variable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s-ES" dirty="0"/>
                  <a:t> </a:t>
                </a:r>
              </a:p>
              <a:p>
                <a:pPr lvl="1"/>
                <a:r>
                  <a:rPr lang="es-ES" dirty="0"/>
                  <a:t>Siendo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s-ES" dirty="0"/>
                  <a:t> el número de valores diferentes de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" dirty="0"/>
              </a:p>
              <a:p>
                <a:r>
                  <a:rPr lang="es-ES" dirty="0"/>
                  <a:t>Frecuencia absoluta </a:t>
                </a:r>
                <a:r>
                  <a:rPr lang="es-ES" b="1" dirty="0"/>
                  <a:t>marginal</a:t>
                </a:r>
                <a:r>
                  <a:rPr lang="es-ES" dirty="0"/>
                  <a:t> del valor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" dirty="0"/>
                  <a:t> de la variable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Siendo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ES" dirty="0"/>
                  <a:t> el número de valores diferentes de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" dirty="0"/>
              </a:p>
              <a:p>
                <a:r>
                  <a:rPr lang="es-ES" dirty="0"/>
                  <a:t>Frecuencias relativas </a:t>
                </a:r>
                <a:r>
                  <a:rPr lang="es-ES" b="1" dirty="0"/>
                  <a:t>marginales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ó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b>
                        </m:sSub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ó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s-ES" dirty="0"/>
              </a:p>
              <a:p>
                <a:pPr lvl="1"/>
                <a:endParaRPr lang="es-E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19E1EF6-E59F-6876-79A4-CAEC174E64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747795" cy="4895850"/>
              </a:xfrm>
              <a:blipFill>
                <a:blip r:embed="rId2"/>
                <a:stretch>
                  <a:fillRect l="-955" t="-223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DF9210-6429-E834-7DF3-0B581FE1C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45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1571EAC2-8CED-9816-1B00-A6898D3DD6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5328665"/>
                  </p:ext>
                </p:extLst>
              </p:nvPr>
            </p:nvGraphicFramePr>
            <p:xfrm>
              <a:off x="7018406" y="2268285"/>
              <a:ext cx="4686298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05211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568269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556260">
                      <a:extLst>
                        <a:ext uri="{9D8B030D-6E8A-4147-A177-3AD203B41FA5}">
                          <a16:colId xmlns:a16="http://schemas.microsoft.com/office/drawing/2014/main" val="2705658812"/>
                        </a:ext>
                      </a:extLst>
                    </a:gridCol>
                    <a:gridCol w="365760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571500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  <a:gridCol w="411480">
                      <a:extLst>
                        <a:ext uri="{9D8B030D-6E8A-4147-A177-3AD203B41FA5}">
                          <a16:colId xmlns:a16="http://schemas.microsoft.com/office/drawing/2014/main" val="2359465122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  <a:gridCol w="546738">
                      <a:extLst>
                        <a:ext uri="{9D8B030D-6E8A-4147-A177-3AD203B41FA5}">
                          <a16:colId xmlns:a16="http://schemas.microsoft.com/office/drawing/2014/main" val="2537795203"/>
                        </a:ext>
                      </a:extLst>
                    </a:gridCol>
                    <a:gridCol w="527680">
                      <a:extLst>
                        <a:ext uri="{9D8B030D-6E8A-4147-A177-3AD203B41FA5}">
                          <a16:colId xmlns:a16="http://schemas.microsoft.com/office/drawing/2014/main" val="830762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50367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02693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68268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2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2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2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4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  <m:r>
                                  <a:rPr lang="es-ES" sz="1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ó </m:t>
                                </m:r>
                                <m:r>
                                  <a:rPr lang="es-ES" sz="1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2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2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2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4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955148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1571EAC2-8CED-9816-1B00-A6898D3DD6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5328665"/>
                  </p:ext>
                </p:extLst>
              </p:nvPr>
            </p:nvGraphicFramePr>
            <p:xfrm>
              <a:off x="7018406" y="2268285"/>
              <a:ext cx="4686298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05211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568269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556260">
                      <a:extLst>
                        <a:ext uri="{9D8B030D-6E8A-4147-A177-3AD203B41FA5}">
                          <a16:colId xmlns:a16="http://schemas.microsoft.com/office/drawing/2014/main" val="2705658812"/>
                        </a:ext>
                      </a:extLst>
                    </a:gridCol>
                    <a:gridCol w="365760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571500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  <a:gridCol w="411480">
                      <a:extLst>
                        <a:ext uri="{9D8B030D-6E8A-4147-A177-3AD203B41FA5}">
                          <a16:colId xmlns:a16="http://schemas.microsoft.com/office/drawing/2014/main" val="2359465122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  <a:gridCol w="546738">
                      <a:extLst>
                        <a:ext uri="{9D8B030D-6E8A-4147-A177-3AD203B41FA5}">
                          <a16:colId xmlns:a16="http://schemas.microsoft.com/office/drawing/2014/main" val="2537795203"/>
                        </a:ext>
                      </a:extLst>
                    </a:gridCol>
                    <a:gridCol w="527680">
                      <a:extLst>
                        <a:ext uri="{9D8B030D-6E8A-4147-A177-3AD203B41FA5}">
                          <a16:colId xmlns:a16="http://schemas.microsoft.com/office/drawing/2014/main" val="830762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6383" t="-1639" r="-615957" b="-8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1639" r="-536264" b="-8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75000" t="-1639" r="-713333" b="-8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7021" t="-1639" r="-355319" b="-8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45588" t="-1639" r="-391176" b="-8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82759" t="-1639" r="-205747" b="-8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60000" t="-1639" r="-98889" b="-8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86207" t="-1639" r="-2299" b="-8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" t="-101639" r="-679798" b="-7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6383" t="-101639" r="-615957" b="-7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101639" r="-536264" b="-7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7021" t="-101639" r="-355319" b="-7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45588" t="-101639" r="-391176" b="-7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82759" t="-101639" r="-205747" b="-7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60000" t="-101639" r="-98889" b="-7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86207" t="-101639" r="-2299" b="-7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" t="-201639" r="-679798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6383" t="-201639" r="-615957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201639" r="-536264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7021" t="-201639" r="-355319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45588" t="-201639" r="-391176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82759" t="-201639" r="-205747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60000" t="-201639" r="-98889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86207" t="-201639" r="-2299" b="-6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" t="-408333" r="-679798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6383" t="-408333" r="-615957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408333" r="-536264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7021" t="-408333" r="-355319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45588" t="-408333" r="-391176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82759" t="-408333" r="-205747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60000" t="-408333" r="-98889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86207" t="-408333" r="-2299" b="-41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367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02693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" t="-600000" r="-679798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6383" t="-600000" r="-615957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600000" r="-536264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7021" t="-600000" r="-355319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45588" t="-600000" r="-391176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82759" t="-600000" r="-205747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60000" t="-600000" r="-98889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86207" t="-600000" r="-2299" b="-2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8268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" t="-700000" r="-679798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6383" t="-700000" r="-615957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700000" r="-536264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2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67021" t="-700000" r="-355319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4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82759" t="-700000" r="-205747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60000" t="-700000" r="-98889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" t="-800000" r="-679798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6383" t="-800000" r="-615957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800000" r="-536264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2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67021" t="-800000" r="-355319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4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82759" t="-800000" r="-205747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86207" t="-800000" r="-2299" b="-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551483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862058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283AB5-900B-CE2C-8B37-DC44389AB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6. Estadística descriptiva bidimensional</a:t>
            </a:r>
            <a:br>
              <a:rPr lang="es-ES" dirty="0"/>
            </a:br>
            <a:r>
              <a:rPr lang="es-ES" dirty="0"/>
              <a:t>Tabla de contingencia. Ejemplo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98068C-7C62-4968-B915-132E5178B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00687"/>
          </a:xfrm>
        </p:spPr>
        <p:txBody>
          <a:bodyPr>
            <a:normAutofit fontScale="92500"/>
          </a:bodyPr>
          <a:lstStyle/>
          <a:p>
            <a:r>
              <a:rPr lang="es-ES" dirty="0"/>
              <a:t>X= Tipo de sistema operativo del móvil de una persona: Android o iPhone</a:t>
            </a:r>
          </a:p>
          <a:p>
            <a:r>
              <a:rPr lang="es-ES" dirty="0"/>
              <a:t>Y = Tipo de sistema operativo del ordenador de una persona: Windows, Mac o Linux</a:t>
            </a:r>
          </a:p>
          <a:p>
            <a:r>
              <a:rPr lang="es-ES" dirty="0"/>
              <a:t>Muestra de 10 personas</a:t>
            </a:r>
          </a:p>
          <a:p>
            <a:pPr lvl="1"/>
            <a:r>
              <a:rPr lang="es-ES" sz="1900" i="1" dirty="0"/>
              <a:t>S = ((Android, Windows), (Android, Windows), (iPhone, Mac), (Android, Linux), (iPhone, Windows), (iPhone, Mac), (iPhone, Mac), (Android, Windows), (Android, Linux), (Android, Windows))</a:t>
            </a:r>
          </a:p>
          <a:p>
            <a:endParaRPr lang="es-ES" dirty="0"/>
          </a:p>
          <a:p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CEE213A9-7115-757B-308F-26D408EB7C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9641938"/>
                  </p:ext>
                </p:extLst>
              </p:nvPr>
            </p:nvGraphicFramePr>
            <p:xfrm>
              <a:off x="3581401" y="4502150"/>
              <a:ext cx="5283821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6716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1025912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947854">
                      <a:extLst>
                        <a:ext uri="{9D8B030D-6E8A-4147-A177-3AD203B41FA5}">
                          <a16:colId xmlns:a16="http://schemas.microsoft.com/office/drawing/2014/main" val="1703630540"/>
                        </a:ext>
                      </a:extLst>
                    </a:gridCol>
                    <a:gridCol w="1003610">
                      <a:extLst>
                        <a:ext uri="{9D8B030D-6E8A-4147-A177-3AD203B41FA5}">
                          <a16:colId xmlns:a16="http://schemas.microsoft.com/office/drawing/2014/main" val="410110075"/>
                        </a:ext>
                      </a:extLst>
                    </a:gridCol>
                    <a:gridCol w="602166">
                      <a:extLst>
                        <a:ext uri="{9D8B030D-6E8A-4147-A177-3AD203B41FA5}">
                          <a16:colId xmlns:a16="http://schemas.microsoft.com/office/drawing/2014/main" val="1831651342"/>
                        </a:ext>
                      </a:extLst>
                    </a:gridCol>
                    <a:gridCol w="557563">
                      <a:extLst>
                        <a:ext uri="{9D8B030D-6E8A-4147-A177-3AD203B41FA5}">
                          <a16:colId xmlns:a16="http://schemas.microsoft.com/office/drawing/2014/main" val="298596885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𝑾𝒊𝒏𝒅𝒐𝒘𝒔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𝑴𝒂𝒄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𝑳𝒊𝒏𝒖𝒙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𝑨𝒏𝒅𝒓𝒐𝒊𝒅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𝒊𝑷𝒉𝒐𝒏𝒆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0.5</m:t>
                                </m:r>
                              </m:oMath>
                            </m:oMathPara>
                          </a14:m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955148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CEE213A9-7115-757B-308F-26D408EB7C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9641938"/>
                  </p:ext>
                </p:extLst>
              </p:nvPr>
            </p:nvGraphicFramePr>
            <p:xfrm>
              <a:off x="3581401" y="4502150"/>
              <a:ext cx="5283821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6716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1025912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947854">
                      <a:extLst>
                        <a:ext uri="{9D8B030D-6E8A-4147-A177-3AD203B41FA5}">
                          <a16:colId xmlns:a16="http://schemas.microsoft.com/office/drawing/2014/main" val="1703630540"/>
                        </a:ext>
                      </a:extLst>
                    </a:gridCol>
                    <a:gridCol w="1003610">
                      <a:extLst>
                        <a:ext uri="{9D8B030D-6E8A-4147-A177-3AD203B41FA5}">
                          <a16:colId xmlns:a16="http://schemas.microsoft.com/office/drawing/2014/main" val="410110075"/>
                        </a:ext>
                      </a:extLst>
                    </a:gridCol>
                    <a:gridCol w="602166">
                      <a:extLst>
                        <a:ext uri="{9D8B030D-6E8A-4147-A177-3AD203B41FA5}">
                          <a16:colId xmlns:a16="http://schemas.microsoft.com/office/drawing/2014/main" val="1831651342"/>
                        </a:ext>
                      </a:extLst>
                    </a:gridCol>
                    <a:gridCol w="557563">
                      <a:extLst>
                        <a:ext uri="{9D8B030D-6E8A-4147-A177-3AD203B41FA5}">
                          <a16:colId xmlns:a16="http://schemas.microsoft.com/office/drawing/2014/main" val="298596885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2" t="-1639" r="-362766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834" t="-1639" r="-30355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9487" t="-1639" r="-228846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3415" t="-1639" r="-117683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84848" t="-1639" r="-94949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44565" t="-1639" r="-2174" b="-4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2" t="-101639" r="-362766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834" t="-101639" r="-30355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2" t="-201639" r="-362766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834" t="-201639" r="-30355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2" t="-301639" r="-362766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834" t="-301639" r="-30355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2" t="-401639" r="-362766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834" t="-401639" r="-30355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9551483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2685F3-261B-E28B-4288-F0C9B04EE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08510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89EF8E-69B8-6706-4385-D70871975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6. Estadística descriptiva bidimensional</a:t>
            </a:r>
            <a:br>
              <a:rPr lang="es-ES" dirty="0"/>
            </a:br>
            <a:r>
              <a:rPr lang="es-ES" dirty="0"/>
              <a:t>Tabla de contingencia. Datos agrupados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A4FFC4-668C-0E30-2FFD-410F135F8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49283" cy="4351338"/>
          </a:xfrm>
        </p:spPr>
        <p:txBody>
          <a:bodyPr/>
          <a:lstStyle/>
          <a:p>
            <a:r>
              <a:rPr lang="es-ES" dirty="0"/>
              <a:t>Cuando una de las variables es cuantitativa continua o discreta con muchos valores diferentes, se suele agrupar en intervalos (clases)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723E18-873A-4DE0-AB1A-60A9EEE54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47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BE7B2C9E-CF19-EFA0-510C-9CB82B6636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7555527"/>
                  </p:ext>
                </p:extLst>
              </p:nvPr>
            </p:nvGraphicFramePr>
            <p:xfrm>
              <a:off x="6096000" y="2332514"/>
              <a:ext cx="5517263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9200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568960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457200">
                      <a:extLst>
                        <a:ext uri="{9D8B030D-6E8A-4147-A177-3AD203B41FA5}">
                          <a16:colId xmlns:a16="http://schemas.microsoft.com/office/drawing/2014/main" val="2705658812"/>
                        </a:ext>
                      </a:extLst>
                    </a:gridCol>
                    <a:gridCol w="335911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558637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  <a:gridCol w="385612">
                      <a:extLst>
                        <a:ext uri="{9D8B030D-6E8A-4147-A177-3AD203B41FA5}">
                          <a16:colId xmlns:a16="http://schemas.microsoft.com/office/drawing/2014/main" val="2359465122"/>
                        </a:ext>
                      </a:extLst>
                    </a:gridCol>
                    <a:gridCol w="579120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  <a:gridCol w="701040">
                      <a:extLst>
                        <a:ext uri="{9D8B030D-6E8A-4147-A177-3AD203B41FA5}">
                          <a16:colId xmlns:a16="http://schemas.microsoft.com/office/drawing/2014/main" val="2537795203"/>
                        </a:ext>
                      </a:extLst>
                    </a:gridCol>
                    <a:gridCol w="711583">
                      <a:extLst>
                        <a:ext uri="{9D8B030D-6E8A-4147-A177-3AD203B41FA5}">
                          <a16:colId xmlns:a16="http://schemas.microsoft.com/office/drawing/2014/main" val="830762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𝒃</m:t>
                                            </m:r>
                                          </m:e>
                                          <m:sub>
                                            <m:r>
                                              <a:rPr lang="es-E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𝒃</m:t>
                                            </m:r>
                                          </m:e>
                                          <m:sub>
                                            <m:r>
                                              <a:rPr lang="es-E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𝒃</m:t>
                                            </m:r>
                                          </m:e>
                                          <m:sub>
                                            <m:r>
                                              <a:rPr lang="es-E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50367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02693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sub>
                                    </m:s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endChr m:val="]"/>
                                        <m:ctrlP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𝒃</m:t>
                                            </m:r>
                                          </m:e>
                                          <m:sub>
                                            <m:r>
                                              <a:rPr lang="es-E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𝒌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68268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2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2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2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4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  <m:r>
                                  <a:rPr lang="es-ES" sz="1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ó </m:t>
                                </m:r>
                                <m:r>
                                  <a:rPr lang="es-ES" sz="1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2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2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2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4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955148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BE7B2C9E-CF19-EFA0-510C-9CB82B6636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7555527"/>
                  </p:ext>
                </p:extLst>
              </p:nvPr>
            </p:nvGraphicFramePr>
            <p:xfrm>
              <a:off x="6096000" y="2332514"/>
              <a:ext cx="5517263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9200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568960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457200">
                      <a:extLst>
                        <a:ext uri="{9D8B030D-6E8A-4147-A177-3AD203B41FA5}">
                          <a16:colId xmlns:a16="http://schemas.microsoft.com/office/drawing/2014/main" val="2705658812"/>
                        </a:ext>
                      </a:extLst>
                    </a:gridCol>
                    <a:gridCol w="335911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558637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  <a:gridCol w="385612">
                      <a:extLst>
                        <a:ext uri="{9D8B030D-6E8A-4147-A177-3AD203B41FA5}">
                          <a16:colId xmlns:a16="http://schemas.microsoft.com/office/drawing/2014/main" val="2359465122"/>
                        </a:ext>
                      </a:extLst>
                    </a:gridCol>
                    <a:gridCol w="579120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  <a:gridCol w="701040">
                      <a:extLst>
                        <a:ext uri="{9D8B030D-6E8A-4147-A177-3AD203B41FA5}">
                          <a16:colId xmlns:a16="http://schemas.microsoft.com/office/drawing/2014/main" val="2537795203"/>
                        </a:ext>
                      </a:extLst>
                    </a:gridCol>
                    <a:gridCol w="711583">
                      <a:extLst>
                        <a:ext uri="{9D8B030D-6E8A-4147-A177-3AD203B41FA5}">
                          <a16:colId xmlns:a16="http://schemas.microsoft.com/office/drawing/2014/main" val="830762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894" t="-1639" r="-653191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4667" t="-1639" r="-718667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74545" t="-1639" r="-880000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63043" t="-1639" r="-426087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22222" t="-1639" r="-522222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11579" t="-1639" r="-246316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87826" t="-1639" r="-103478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76068" t="-1639" r="-1709" b="-8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" t="-101639" r="-354000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894" t="-101639" r="-653191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4667" t="-101639" r="-718667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63043" t="-101639" r="-426087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822222" t="-101639" r="-522222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11579" t="-101639" r="-246316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87826" t="-101639" r="-103478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76068" t="-101639" r="-1709" b="-7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" t="-201639" r="-354000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894" t="-201639" r="-653191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4667" t="-201639" r="-718667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63043" t="-201639" r="-426087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822222" t="-201639" r="-522222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11579" t="-201639" r="-246316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87826" t="-201639" r="-103478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76068" t="-201639" r="-1709" b="-6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" t="-401639" r="-354000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894" t="-401639" r="-653191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4667" t="-401639" r="-718667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63043" t="-401639" r="-426087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822222" t="-401639" r="-522222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11579" t="-401639" r="-246316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87826" t="-401639" r="-103478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76068" t="-401639" r="-1709" b="-4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367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02693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" t="-601639" r="-354000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894" t="-601639" r="-653191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4667" t="-601639" r="-718667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63043" t="-601639" r="-426087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822222" t="-601639" r="-522222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11579" t="-601639" r="-246316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87826" t="-601639" r="-103478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76068" t="-601639" r="-1709" b="-2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8268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" t="-701639" r="-354000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894" t="-701639" r="-653191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4667" t="-701639" r="-718667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2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63043" t="-701639" r="-426087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4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11579" t="-701639" r="-246316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87826" t="-701639" r="-103478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" t="-801639" r="-354000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4894" t="-801639" r="-653191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4667" t="-801639" r="-718667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2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63043" t="-801639" r="-426087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4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11579" t="-801639" r="-246316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76068" t="-801639" r="-1709" b="-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551483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011611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283AB5-900B-CE2C-8B37-DC44389AB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6. Estadística descriptiva bidimensional</a:t>
            </a:r>
            <a:br>
              <a:rPr lang="es-ES" dirty="0"/>
            </a:br>
            <a:r>
              <a:rPr lang="es-ES" dirty="0"/>
              <a:t>Tabla de contingencia. Ejemplo datos agrupados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98068C-7C62-4968-B915-132E5178B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00687"/>
          </a:xfrm>
        </p:spPr>
        <p:txBody>
          <a:bodyPr>
            <a:normAutofit lnSpcReduction="10000"/>
          </a:bodyPr>
          <a:lstStyle/>
          <a:p>
            <a:r>
              <a:rPr lang="es-ES" dirty="0"/>
              <a:t>X= Edad de una persona, entre 18 y 32 años</a:t>
            </a:r>
          </a:p>
          <a:p>
            <a:r>
              <a:rPr lang="es-ES" dirty="0"/>
              <a:t>Y = Tipo de sistema operativo del ordenador de una persona: Windows, Mac o Linux</a:t>
            </a:r>
          </a:p>
          <a:p>
            <a:r>
              <a:rPr lang="es-ES" dirty="0"/>
              <a:t>Muestra de 10 personas</a:t>
            </a:r>
          </a:p>
          <a:p>
            <a:pPr lvl="1"/>
            <a:r>
              <a:rPr lang="es-ES" sz="1900" i="1" dirty="0"/>
              <a:t>S = ((32, Windows), (20, Windows), (24, Mac), (28, Linux), (23, Windows), (20, Mac), (30, Mac), </a:t>
            </a:r>
            <a:br>
              <a:rPr lang="es-ES" sz="1900" i="1" dirty="0"/>
            </a:br>
            <a:r>
              <a:rPr lang="es-ES" sz="1900" i="1" dirty="0"/>
              <a:t>(18, Windows), (25, Linux), (29, Windows))</a:t>
            </a:r>
          </a:p>
          <a:p>
            <a:endParaRPr lang="es-ES" dirty="0"/>
          </a:p>
          <a:p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CEE213A9-7115-757B-308F-26D408EB7C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2097997"/>
                  </p:ext>
                </p:extLst>
              </p:nvPr>
            </p:nvGraphicFramePr>
            <p:xfrm>
              <a:off x="3581401" y="4281170"/>
              <a:ext cx="5283821" cy="2225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6716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1025912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947854">
                      <a:extLst>
                        <a:ext uri="{9D8B030D-6E8A-4147-A177-3AD203B41FA5}">
                          <a16:colId xmlns:a16="http://schemas.microsoft.com/office/drawing/2014/main" val="1703630540"/>
                        </a:ext>
                      </a:extLst>
                    </a:gridCol>
                    <a:gridCol w="1003610">
                      <a:extLst>
                        <a:ext uri="{9D8B030D-6E8A-4147-A177-3AD203B41FA5}">
                          <a16:colId xmlns:a16="http://schemas.microsoft.com/office/drawing/2014/main" val="410110075"/>
                        </a:ext>
                      </a:extLst>
                    </a:gridCol>
                    <a:gridCol w="602166">
                      <a:extLst>
                        <a:ext uri="{9D8B030D-6E8A-4147-A177-3AD203B41FA5}">
                          <a16:colId xmlns:a16="http://schemas.microsoft.com/office/drawing/2014/main" val="1831651342"/>
                        </a:ext>
                      </a:extLst>
                    </a:gridCol>
                    <a:gridCol w="557563">
                      <a:extLst>
                        <a:ext uri="{9D8B030D-6E8A-4147-A177-3AD203B41FA5}">
                          <a16:colId xmlns:a16="http://schemas.microsoft.com/office/drawing/2014/main" val="298596885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𝑾𝒊𝒏𝒅𝒐𝒘𝒔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𝑴𝒂𝒄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𝑳𝒊𝒏𝒖𝒙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𝟏𝟖</m:t>
                                    </m:r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  <m:t>𝟐𝟑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  <m:t>𝟐𝟖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238569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𝟐𝟖</m:t>
                                    </m:r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d>
                                      <m:dPr>
                                        <m:begChr m:val=""/>
                                        <m:endChr m:val="]"/>
                                        <m:ctrlP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  <m:t>𝟑𝟐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0.5</m:t>
                                </m:r>
                              </m:oMath>
                            </m:oMathPara>
                          </a14:m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955148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CEE213A9-7115-757B-308F-26D408EB7C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2097997"/>
                  </p:ext>
                </p:extLst>
              </p:nvPr>
            </p:nvGraphicFramePr>
            <p:xfrm>
              <a:off x="3581401" y="4281170"/>
              <a:ext cx="5283821" cy="2225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6716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1025912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947854">
                      <a:extLst>
                        <a:ext uri="{9D8B030D-6E8A-4147-A177-3AD203B41FA5}">
                          <a16:colId xmlns:a16="http://schemas.microsoft.com/office/drawing/2014/main" val="1703630540"/>
                        </a:ext>
                      </a:extLst>
                    </a:gridCol>
                    <a:gridCol w="1003610">
                      <a:extLst>
                        <a:ext uri="{9D8B030D-6E8A-4147-A177-3AD203B41FA5}">
                          <a16:colId xmlns:a16="http://schemas.microsoft.com/office/drawing/2014/main" val="410110075"/>
                        </a:ext>
                      </a:extLst>
                    </a:gridCol>
                    <a:gridCol w="602166">
                      <a:extLst>
                        <a:ext uri="{9D8B030D-6E8A-4147-A177-3AD203B41FA5}">
                          <a16:colId xmlns:a16="http://schemas.microsoft.com/office/drawing/2014/main" val="1831651342"/>
                        </a:ext>
                      </a:extLst>
                    </a:gridCol>
                    <a:gridCol w="557563">
                      <a:extLst>
                        <a:ext uri="{9D8B030D-6E8A-4147-A177-3AD203B41FA5}">
                          <a16:colId xmlns:a16="http://schemas.microsoft.com/office/drawing/2014/main" val="298596885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2" t="-1639" r="-362766" b="-5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834" t="-1639" r="-303550" b="-5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9487" t="-1639" r="-228846" b="-5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3415" t="-1639" r="-117683" b="-5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84848" t="-1639" r="-94949" b="-5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44565" t="-1639" r="-2174" b="-5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2" t="-101639" r="-362766" b="-4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834" t="-101639" r="-303550" b="-4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2" t="-201639" r="-362766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834" t="-201639" r="-303550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238569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2" t="-301639" r="-362766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834" t="-301639" r="-303550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2" t="-401639" r="-362766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834" t="-401639" r="-303550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2" t="-501639" r="-362766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834" t="-501639" r="-303550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9551483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2685F3-261B-E28B-4288-F0C9B04EE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7192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29377-1779-A04E-F06A-05B973E11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6. Estadística descriptiva bidimensional</a:t>
            </a:r>
            <a:br>
              <a:rPr lang="es-ES" dirty="0"/>
            </a:br>
            <a:r>
              <a:rPr lang="es-ES" dirty="0"/>
              <a:t>Tabla de contingencia. Medidas marginales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59F3E2-11EC-3C22-A587-241499CB7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Las medidas estadísticas marginales de las dos variables (si son cuantitativas) pueden calcularse a partir de una tabla de frecuencias </a:t>
            </a:r>
          </a:p>
          <a:p>
            <a:endParaRPr lang="es-ES" dirty="0"/>
          </a:p>
          <a:p>
            <a:pPr lvl="1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6F8E4CBF-0A66-9708-53CE-2021AE790F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8569990"/>
                  </p:ext>
                </p:extLst>
              </p:nvPr>
            </p:nvGraphicFramePr>
            <p:xfrm>
              <a:off x="838200" y="2955290"/>
              <a:ext cx="6005406" cy="293503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25921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2377328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2302157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Medida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Poblacional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Muestral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r>
                            <a:rPr lang="es-ES" sz="1600" dirty="0"/>
                            <a:t>Medias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s-ES_tradnl" sz="16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𝑘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s-ES" sz="1600" i="1" kern="10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ES" sz="1600" b="0" i="1" kern="10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𝑣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600" b="0" i="1" kern="10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s-ES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es-ES_tradnl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ES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_tradnl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s-ES_tradnl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𝑘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s-ES" sz="1600" i="1" kern="10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ES" sz="1600" b="0" i="1" kern="10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𝑣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600" b="0" i="1" kern="10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s-ES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es-ES_tradnl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68006004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s-ES_tradnl" sz="16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𝑙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s-ES" sz="1600" i="1" kern="10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ES" sz="1600" b="0" i="1" kern="10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𝑤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600" b="0" i="1" kern="10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s-ES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s-ES_tradnl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ES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" sz="16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𝑌</m:t>
                                    </m:r>
                                  </m:e>
                                </m:acc>
                                <m:r>
                                  <a:rPr lang="es-ES_tradnl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𝑙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s-ES" sz="1600" i="1" kern="10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ES" sz="1600" b="0" i="1" kern="10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𝑤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600" b="0" i="1" kern="10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s-ES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s-ES_tradnl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3710715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r>
                            <a:rPr lang="es-ES" sz="1600" dirty="0"/>
                            <a:t>Varianzas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" sz="16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s-ES" sz="16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s-ES" sz="16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s-ES_tradnl" sz="16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ES_tradnl" sz="16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6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6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s-ES" sz="1600" i="1" kern="10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ES" sz="1600" b="0" i="1" kern="10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𝑣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600" b="0" i="1" kern="10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  <m:sSup>
                                          <m:sSupPr>
                                            <m:ctrlPr>
                                              <a:rPr lang="es-ES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s-ES" sz="16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s-ES" sz="16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s-ES" sz="1600" b="0" i="1" kern="10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𝑣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s-ES_tradnl" sz="16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s-ES_tradnl" sz="16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s-ES_tradnl" sz="1600" i="1" kern="120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s-ES_tradnl" sz="1600" i="1" kern="120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  <m:t>𝜇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s-ES" sz="1600" b="0" i="1" kern="120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  <m:t>𝑥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s-ES_tradnl" sz="1600" i="1" ker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6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6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60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s-ES_tradnl" sz="16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s-ES" sz="16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ES_tradnl" sz="16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6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6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s-ES" sz="1600" i="1" kern="10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ES" sz="1600" b="0" i="1" kern="10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𝑣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600" b="0" i="1" kern="10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  <m:sSup>
                                          <m:sSupPr>
                                            <m:ctrlPr>
                                              <a:rPr lang="es-ES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s-ES" sz="16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s-ES" sz="16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s-ES" sz="1600" b="0" i="1" kern="10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𝑣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s-ES_tradnl" sz="16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s-ES_tradnl" sz="16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−</m:t>
                                                </m:r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s-ES" sz="16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s-ES_tradnl" sz="16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𝑋</m:t>
                                                    </m:r>
                                                  </m:e>
                                                </m:acc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s-ES_tradnl" sz="1600" i="1" ker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6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  <m:r>
                                      <a:rPr lang="es-ES_tradnl" sz="16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6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74400688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" sz="16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s-ES" sz="16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s-ES" sz="16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s-ES_tradnl" sz="16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ES_tradnl" sz="16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6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6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s-ES" sz="1600" i="1" kern="10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ES" sz="1600" b="0" i="1" kern="10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𝑤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600" b="0" i="1" kern="10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  <m:sSup>
                                          <m:sSupPr>
                                            <m:ctrlPr>
                                              <a:rPr lang="es-ES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s-ES" sz="16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s-ES" sz="16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s-ES" sz="1600" b="0" i="1" kern="10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𝑤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s-ES_tradnl" sz="16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s-ES_tradnl" sz="16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s-ES_tradnl" sz="1600" i="1" kern="120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s-ES_tradnl" sz="1600" i="1" kern="120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  <m:t>𝜇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s-ES" sz="1600" b="0" i="1" kern="120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  <m:t>𝑦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s-ES_tradnl" sz="1600" i="1" ker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6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6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60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s-ES_tradnl" sz="160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s-ES" sz="16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𝑌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s-ES" sz="1600" b="0" i="1" kern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ES_tradnl" sz="16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6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6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s-ES" sz="1600" i="1" kern="10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ES" sz="1600" b="0" i="1" kern="10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𝑤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600" b="0" i="1" kern="10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  <m:sSup>
                                          <m:sSupPr>
                                            <m:ctrlPr>
                                              <a:rPr lang="es-ES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s-ES" sz="16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s-ES" sz="16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s-ES" sz="1600" b="0" i="1" kern="10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𝑤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s-ES_tradnl" sz="16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s-ES_tradnl" sz="16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−</m:t>
                                                </m:r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s-ES" sz="16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s-ES" sz="1600" b="0" i="1" kern="10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𝑌</m:t>
                                                    </m:r>
                                                  </m:e>
                                                </m:acc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s-ES_tradnl" sz="1600" i="1" ker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num>
                                  <m:den>
                                    <m:r>
                                      <a:rPr lang="es-ES_tradnl" sz="16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  <m:r>
                                      <a:rPr lang="es-ES_tradnl" sz="16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6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37462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6F8E4CBF-0A66-9708-53CE-2021AE790F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8569990"/>
                  </p:ext>
                </p:extLst>
              </p:nvPr>
            </p:nvGraphicFramePr>
            <p:xfrm>
              <a:off x="838200" y="2955290"/>
              <a:ext cx="6005406" cy="293503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25921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2377328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2302157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Medida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Poblacional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Muestral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605854">
                    <a:tc rowSpan="2">
                      <a:txBody>
                        <a:bodyPr/>
                        <a:lstStyle/>
                        <a:p>
                          <a:r>
                            <a:rPr lang="es-ES" sz="1600" dirty="0"/>
                            <a:t>Medias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6154" t="-63000" r="-97436" b="-3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1111" t="-63000" r="-529" b="-3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8006004"/>
                      </a:ext>
                    </a:extLst>
                  </a:tr>
                  <a:tr h="605854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6154" t="-164646" r="-97436" b="-2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1111" t="-164646" r="-529" b="-22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3710715"/>
                      </a:ext>
                    </a:extLst>
                  </a:tr>
                  <a:tr h="652018">
                    <a:tc rowSpan="2">
                      <a:txBody>
                        <a:bodyPr/>
                        <a:lstStyle/>
                        <a:p>
                          <a:r>
                            <a:rPr lang="es-ES" sz="1600" dirty="0"/>
                            <a:t>Varianzas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6154" t="-242593" r="-97436" b="-1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61111" t="-242593" r="-529" b="-10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4400688"/>
                      </a:ext>
                    </a:extLst>
                  </a:tr>
                  <a:tr h="700469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6154" t="-321739" r="-97436" b="-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61111" t="-321739" r="-529" b="-17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7462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a 5">
                <a:extLst>
                  <a:ext uri="{FF2B5EF4-FFF2-40B4-BE49-F238E27FC236}">
                    <a16:creationId xmlns:a16="http://schemas.microsoft.com/office/drawing/2014/main" id="{BEAD047B-9388-F894-D932-1153B39575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7901095"/>
                  </p:ext>
                </p:extLst>
              </p:nvPr>
            </p:nvGraphicFramePr>
            <p:xfrm>
              <a:off x="7303771" y="2674685"/>
              <a:ext cx="4686298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05211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568269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556260">
                      <a:extLst>
                        <a:ext uri="{9D8B030D-6E8A-4147-A177-3AD203B41FA5}">
                          <a16:colId xmlns:a16="http://schemas.microsoft.com/office/drawing/2014/main" val="2705658812"/>
                        </a:ext>
                      </a:extLst>
                    </a:gridCol>
                    <a:gridCol w="365760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571500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  <a:gridCol w="411480">
                      <a:extLst>
                        <a:ext uri="{9D8B030D-6E8A-4147-A177-3AD203B41FA5}">
                          <a16:colId xmlns:a16="http://schemas.microsoft.com/office/drawing/2014/main" val="2359465122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  <a:gridCol w="546738">
                      <a:extLst>
                        <a:ext uri="{9D8B030D-6E8A-4147-A177-3AD203B41FA5}">
                          <a16:colId xmlns:a16="http://schemas.microsoft.com/office/drawing/2014/main" val="2537795203"/>
                        </a:ext>
                      </a:extLst>
                    </a:gridCol>
                    <a:gridCol w="527680">
                      <a:extLst>
                        <a:ext uri="{9D8B030D-6E8A-4147-A177-3AD203B41FA5}">
                          <a16:colId xmlns:a16="http://schemas.microsoft.com/office/drawing/2014/main" val="830762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50367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02693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68268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2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2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2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4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  <m:r>
                                  <a:rPr lang="es-ES" sz="1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ó </m:t>
                                </m:r>
                                <m:r>
                                  <a:rPr lang="es-ES" sz="1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2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2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2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4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955148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a 5">
                <a:extLst>
                  <a:ext uri="{FF2B5EF4-FFF2-40B4-BE49-F238E27FC236}">
                    <a16:creationId xmlns:a16="http://schemas.microsoft.com/office/drawing/2014/main" id="{BEAD047B-9388-F894-D932-1153B39575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7901095"/>
                  </p:ext>
                </p:extLst>
              </p:nvPr>
            </p:nvGraphicFramePr>
            <p:xfrm>
              <a:off x="7303771" y="2674685"/>
              <a:ext cx="4686298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05211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568269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556260">
                      <a:extLst>
                        <a:ext uri="{9D8B030D-6E8A-4147-A177-3AD203B41FA5}">
                          <a16:colId xmlns:a16="http://schemas.microsoft.com/office/drawing/2014/main" val="2705658812"/>
                        </a:ext>
                      </a:extLst>
                    </a:gridCol>
                    <a:gridCol w="365760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571500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  <a:gridCol w="411480">
                      <a:extLst>
                        <a:ext uri="{9D8B030D-6E8A-4147-A177-3AD203B41FA5}">
                          <a16:colId xmlns:a16="http://schemas.microsoft.com/office/drawing/2014/main" val="2359465122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  <a:gridCol w="546738">
                      <a:extLst>
                        <a:ext uri="{9D8B030D-6E8A-4147-A177-3AD203B41FA5}">
                          <a16:colId xmlns:a16="http://schemas.microsoft.com/office/drawing/2014/main" val="2537795203"/>
                        </a:ext>
                      </a:extLst>
                    </a:gridCol>
                    <a:gridCol w="527680">
                      <a:extLst>
                        <a:ext uri="{9D8B030D-6E8A-4147-A177-3AD203B41FA5}">
                          <a16:colId xmlns:a16="http://schemas.microsoft.com/office/drawing/2014/main" val="830762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6383" t="-1639" r="-614894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1639" r="-535165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75000" t="-1639" r="-711667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7021" t="-1639" r="-354255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55224" t="-1639" r="-397015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75000" t="-1639" r="-202273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67416" t="-1639" r="-100000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85057" t="-1639" r="-2299" b="-8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" t="-101639" r="-678788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6383" t="-101639" r="-614894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101639" r="-535165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7021" t="-101639" r="-354255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55224" t="-101639" r="-397015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75000" t="-101639" r="-202273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67416" t="-101639" r="-100000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85057" t="-101639" r="-2299" b="-7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" t="-201639" r="-678788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6383" t="-201639" r="-614894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201639" r="-535165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7021" t="-201639" r="-354255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55224" t="-201639" r="-397015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75000" t="-201639" r="-202273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67416" t="-201639" r="-100000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85057" t="-201639" r="-2299" b="-6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" t="-401639" r="-678788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6383" t="-401639" r="-614894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401639" r="-535165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7021" t="-401639" r="-354255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55224" t="-401639" r="-397015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75000" t="-401639" r="-202273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67416" t="-401639" r="-100000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85057" t="-401639" r="-2299" b="-4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367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02693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" t="-601639" r="-678788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6383" t="-601639" r="-614894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601639" r="-535165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7021" t="-601639" r="-354255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55224" t="-601639" r="-397015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75000" t="-601639" r="-202273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67416" t="-601639" r="-100000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85057" t="-601639" r="-2299" b="-2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8268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" t="-701639" r="-678788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6383" t="-701639" r="-614894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701639" r="-535165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2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67021" t="-701639" r="-354255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4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75000" t="-701639" r="-202273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67416" t="-701639" r="-100000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" t="-801639" r="-678788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6383" t="-801639" r="-614894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801639" r="-535165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2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67021" t="-801639" r="-354255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4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75000" t="-801639" r="-202273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85057" t="-801639" r="-2299" b="-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551483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66F2BE-BCA2-DD7C-3419-942540D86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634513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283AB5-900B-CE2C-8B37-DC44389AB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6. Estadística descriptiva bidimensional</a:t>
            </a:r>
            <a:br>
              <a:rPr lang="es-ES" dirty="0"/>
            </a:br>
            <a:r>
              <a:rPr lang="es-ES" sz="4000" dirty="0"/>
              <a:t>Tabla de contingencia. Medidas marginales. Ejemplo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98068C-7C62-4968-B915-132E5178B0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101080" cy="4382135"/>
              </a:xfrm>
            </p:spPr>
            <p:txBody>
              <a:bodyPr>
                <a:normAutofit/>
              </a:bodyPr>
              <a:lstStyle/>
              <a:p>
                <a:r>
                  <a:rPr lang="es-ES" dirty="0"/>
                  <a:t>X= Edad de una persona</a:t>
                </a:r>
              </a:p>
              <a:p>
                <a:r>
                  <a:rPr lang="es-ES" dirty="0"/>
                  <a:t>Y = Sistema operativo del ordenador de la persona</a:t>
                </a:r>
              </a:p>
              <a:p>
                <a:r>
                  <a:rPr lang="es-ES" dirty="0"/>
                  <a:t>n=10</a:t>
                </a:r>
              </a:p>
              <a:p>
                <a:r>
                  <a:rPr lang="es-ES" dirty="0"/>
                  <a:t>Como valores de X se utilizan las marcas de cada clase: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20.5,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25.5,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lang="es-ES" dirty="0"/>
              </a:p>
              <a:p>
                <a:r>
                  <a:rPr lang="es-ES" dirty="0"/>
                  <a:t>Edad media de las personas de la muestra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lang="es-ES_tradnl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</m:acc>
                    <m:r>
                      <a:rPr lang="es-ES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es-ES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e>
                        </m:d>
                        <m:d>
                          <m:dPr>
                            <m:ctrlP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20.5</m:t>
                            </m:r>
                          </m:e>
                        </m:d>
                        <m:r>
                          <a:rPr lang="es-ES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d>
                          <m:dPr>
                            <m:ctrlP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e>
                        </m:d>
                        <m:d>
                          <m:dPr>
                            <m:ctrlP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25.5</m:t>
                            </m:r>
                          </m:e>
                        </m:d>
                        <m:r>
                          <a:rPr lang="es-ES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+(4)(30)</m:t>
                        </m:r>
                      </m:num>
                      <m:den>
                        <m:r>
                          <a:rPr lang="es-ES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</m:t>
                        </m:r>
                      </m:den>
                    </m:f>
                    <m:r>
                      <a:rPr lang="es-ES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=25.8 </m:t>
                    </m:r>
                    <m:r>
                      <a:rPr lang="es-ES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lang="es-ES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ñ</m:t>
                    </m:r>
                    <m:r>
                      <a:rPr lang="es-ES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𝑜𝑠</m:t>
                    </m:r>
                  </m:oMath>
                </a14:m>
                <a:endParaRPr lang="es-ES" dirty="0"/>
              </a:p>
              <a:p>
                <a:endParaRPr lang="es-E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98068C-7C62-4968-B915-132E5178B0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101080" cy="4382135"/>
              </a:xfrm>
              <a:blipFill>
                <a:blip r:embed="rId2"/>
                <a:stretch>
                  <a:fillRect l="-1800" t="-2225" r="-32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2685F3-261B-E28B-4288-F0C9B04EE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50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CEE213A9-7115-757B-308F-26D408EB7C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7521912"/>
                  </p:ext>
                </p:extLst>
              </p:nvPr>
            </p:nvGraphicFramePr>
            <p:xfrm>
              <a:off x="7434582" y="2475230"/>
              <a:ext cx="4424715" cy="2667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60269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921870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730978">
                      <a:extLst>
                        <a:ext uri="{9D8B030D-6E8A-4147-A177-3AD203B41FA5}">
                          <a16:colId xmlns:a16="http://schemas.microsoft.com/office/drawing/2014/main" val="1703630540"/>
                        </a:ext>
                      </a:extLst>
                    </a:gridCol>
                    <a:gridCol w="840431">
                      <a:extLst>
                        <a:ext uri="{9D8B030D-6E8A-4147-A177-3AD203B41FA5}">
                          <a16:colId xmlns:a16="http://schemas.microsoft.com/office/drawing/2014/main" val="410110075"/>
                        </a:ext>
                      </a:extLst>
                    </a:gridCol>
                    <a:gridCol w="504259">
                      <a:extLst>
                        <a:ext uri="{9D8B030D-6E8A-4147-A177-3AD203B41FA5}">
                          <a16:colId xmlns:a16="http://schemas.microsoft.com/office/drawing/2014/main" val="1831651342"/>
                        </a:ext>
                      </a:extLst>
                    </a:gridCol>
                    <a:gridCol w="466908">
                      <a:extLst>
                        <a:ext uri="{9D8B030D-6E8A-4147-A177-3AD203B41FA5}">
                          <a16:colId xmlns:a16="http://schemas.microsoft.com/office/drawing/2014/main" val="298596885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𝑾𝒊𝒏𝒅𝒐𝒘𝒔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𝑴𝒂𝒄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𝑳𝒊𝒏𝒖𝒙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𝟏𝟖</m:t>
                                    </m:r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  <m:t>𝟐𝟑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1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1" dirty="0"/>
                            <a:t>20.5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  <m:t>𝟐𝟖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1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1" dirty="0"/>
                            <a:t>25.5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238569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𝟐𝟖</m:t>
                                    </m:r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d>
                                      <m:dPr>
                                        <m:begChr m:val=""/>
                                        <m:endChr m:val="]"/>
                                        <m:ctrlP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  <m:t>𝟑𝟐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1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1" dirty="0"/>
                            <a:t>30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0.5</m:t>
                                </m:r>
                              </m:oMath>
                            </m:oMathPara>
                          </a14:m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955148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CEE213A9-7115-757B-308F-26D408EB7C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7521912"/>
                  </p:ext>
                </p:extLst>
              </p:nvPr>
            </p:nvGraphicFramePr>
            <p:xfrm>
              <a:off x="7434582" y="2475230"/>
              <a:ext cx="4424715" cy="2667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60269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921870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730978">
                      <a:extLst>
                        <a:ext uri="{9D8B030D-6E8A-4147-A177-3AD203B41FA5}">
                          <a16:colId xmlns:a16="http://schemas.microsoft.com/office/drawing/2014/main" val="1703630540"/>
                        </a:ext>
                      </a:extLst>
                    </a:gridCol>
                    <a:gridCol w="840431">
                      <a:extLst>
                        <a:ext uri="{9D8B030D-6E8A-4147-A177-3AD203B41FA5}">
                          <a16:colId xmlns:a16="http://schemas.microsoft.com/office/drawing/2014/main" val="410110075"/>
                        </a:ext>
                      </a:extLst>
                    </a:gridCol>
                    <a:gridCol w="504259">
                      <a:extLst>
                        <a:ext uri="{9D8B030D-6E8A-4147-A177-3AD203B41FA5}">
                          <a16:colId xmlns:a16="http://schemas.microsoft.com/office/drawing/2014/main" val="1831651342"/>
                        </a:ext>
                      </a:extLst>
                    </a:gridCol>
                    <a:gridCol w="466908">
                      <a:extLst>
                        <a:ext uri="{9D8B030D-6E8A-4147-A177-3AD203B41FA5}">
                          <a16:colId xmlns:a16="http://schemas.microsoft.com/office/drawing/2014/main" val="298596885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3" t="-1639" r="-361392" b="-6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298" t="-1639" r="-278146" b="-6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8333" t="-1639" r="-250000" b="-6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1594" t="-1639" r="-117391" b="-6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84337" t="-1639" r="-95181" b="-6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45455" t="-1639" r="-2597" b="-6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3" t="-72941" r="-361392" b="-34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298" t="-72941" r="-278146" b="-34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3" t="-172941" r="-361392" b="-24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298" t="-172941" r="-278146" b="-24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2385694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3" t="-272941" r="-361392" b="-14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298" t="-272941" r="-278146" b="-14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3" t="-519672" r="-361392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298" t="-519672" r="-278146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3" t="-619672" r="-361392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298" t="-619672" r="-278146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9551483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527270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29377-1779-A04E-F06A-05B973E11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6. Estadística descriptiva bidimensional</a:t>
            </a:r>
            <a:br>
              <a:rPr lang="es-ES" dirty="0"/>
            </a:br>
            <a:r>
              <a:rPr lang="es-ES" dirty="0"/>
              <a:t>Tabla de contingencia. Medidas condicionadas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59F3E2-11EC-3C22-A587-241499CB7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12840" cy="4351338"/>
          </a:xfrm>
        </p:spPr>
        <p:txBody>
          <a:bodyPr/>
          <a:lstStyle/>
          <a:p>
            <a:r>
              <a:rPr lang="es-ES" dirty="0"/>
              <a:t>Se pueden calcular medidas estadísticas de una variable (si es cuantitativa) cuando la otra tiene un determinado valor </a:t>
            </a:r>
          </a:p>
          <a:p>
            <a:pPr lvl="1"/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6F8E4CBF-0A66-9708-53CE-2021AE790F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2744597"/>
                  </p:ext>
                </p:extLst>
              </p:nvPr>
            </p:nvGraphicFramePr>
            <p:xfrm>
              <a:off x="838200" y="3625850"/>
              <a:ext cx="6005406" cy="175342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05000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2072640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2027766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Medida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Poblacional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Muestral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sz="1600" dirty="0"/>
                            <a:t>Media de </a:t>
                          </a:r>
                          <a14:m>
                            <m:oMath xmlns:m="http://schemas.openxmlformats.org/officeDocument/2006/math">
                              <m:r>
                                <a:rPr lang="es-ES" sz="16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ES" sz="1600" dirty="0"/>
                            <a:t> (ó </a:t>
                          </a:r>
                          <a14:m>
                            <m:oMath xmlns:m="http://schemas.openxmlformats.org/officeDocument/2006/math">
                              <m:r>
                                <a:rPr lang="es-ES" sz="16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s-ES" sz="1600" dirty="0"/>
                            <a:t>) cuando </a:t>
                          </a:r>
                          <a14:m>
                            <m:oMath xmlns:m="http://schemas.openxmlformats.org/officeDocument/2006/math">
                              <m:r>
                                <a:rPr lang="es-ES" sz="160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s-ES" sz="1600" dirty="0"/>
                            <a:t> (ó </a:t>
                          </a:r>
                          <a14:m>
                            <m:oMath xmlns:m="http://schemas.openxmlformats.org/officeDocument/2006/math">
                              <m:r>
                                <a:rPr lang="es-ES" sz="160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s-ES" sz="1600" dirty="0"/>
                            <a:t>) =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_tradnl" sz="160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s-ES" sz="16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r>
                            <a:rPr lang="es-ES" sz="16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sub>
                                </m:sSub>
                                <m:d>
                                  <m:dPr>
                                    <m:begChr m:val="|"/>
                                    <m:endChr m:val=""/>
                                    <m:ctrlPr>
                                      <a:rPr lang="es-ES_tradnl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_tradnl" sz="160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s-ES_tradnl" sz="16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𝑘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s-ES" sz="16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s-ES" sz="16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s-ES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es-ES_tradnl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s-ES_tradnl" sz="160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s-ES_tradnl" sz="160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ES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_tradnl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𝑋</m:t>
                                    </m:r>
                                  </m:e>
                                </m:acc>
                                <m:d>
                                  <m:dPr>
                                    <m:begChr m:val="|"/>
                                    <m:endChr m:val=""/>
                                    <m:ctrlPr>
                                      <a:rPr lang="es-ES_tradnl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_tradnl" sz="160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s-ES_tradnl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𝑘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s-ES" sz="16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s-ES" sz="16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s-ES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es-ES_tradnl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s-ES_tradnl" sz="160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s-ES_tradnl" sz="160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68006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sz="1600" dirty="0"/>
                            <a:t>Media de </a:t>
                          </a:r>
                          <a14:m>
                            <m:oMath xmlns:m="http://schemas.openxmlformats.org/officeDocument/2006/math">
                              <m:r>
                                <a:rPr lang="es-ES" sz="16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s-ES" sz="1600" dirty="0"/>
                            <a:t> (ó </a:t>
                          </a:r>
                          <a14:m>
                            <m:oMath xmlns:m="http://schemas.openxmlformats.org/officeDocument/2006/math"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s-ES" sz="1600" dirty="0"/>
                            <a:t>) cuando </a:t>
                          </a:r>
                          <a14:m>
                            <m:oMath xmlns:m="http://schemas.openxmlformats.org/officeDocument/2006/math">
                              <m:r>
                                <a:rPr lang="es-ES" sz="16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ES" sz="1600" dirty="0"/>
                            <a:t> (ó </a:t>
                          </a:r>
                          <a14:m>
                            <m:oMath xmlns:m="http://schemas.openxmlformats.org/officeDocument/2006/math"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s-ES" sz="1600" dirty="0"/>
                            <a:t>) =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_tradnl" sz="160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s-ES" sz="16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s-ES" sz="16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sub>
                                </m:sSub>
                                <m:d>
                                  <m:dPr>
                                    <m:begChr m:val="|"/>
                                    <m:endChr m:val=""/>
                                    <m:ctrlPr>
                                      <a:rPr lang="es-ES_tradnl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_tradnl" sz="160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s-ES_tradnl" sz="16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/>
                                          </m:rP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𝑗</m:t>
                                        </m:r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𝑙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s-ES" sz="16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s-ES" sz="16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s-ES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s-ES_tradnl" sz="160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s-ES_tradnl" sz="160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ES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" sz="16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𝑌</m:t>
                                    </m:r>
                                  </m:e>
                                </m:acc>
                                <m:d>
                                  <m:dPr>
                                    <m:begChr m:val="|"/>
                                    <m:endChr m:val=""/>
                                    <m:ctrlPr>
                                      <a:rPr lang="es-ES_tradnl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_tradnl" sz="160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s-ES_tradnl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/>
                                          </m:rP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𝑗</m:t>
                                        </m:r>
                                        <m:r>
                                          <a:rPr lang="es-ES_tradnl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𝑙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s-ES" sz="16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s-ES" sz="16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s-ES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s-ES_tradnl" sz="160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s-ES_tradnl" sz="160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b="0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17285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6F8E4CBF-0A66-9708-53CE-2021AE790F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2744597"/>
                  </p:ext>
                </p:extLst>
              </p:nvPr>
            </p:nvGraphicFramePr>
            <p:xfrm>
              <a:off x="838200" y="3625850"/>
              <a:ext cx="6005406" cy="175342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05000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2072640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2027766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Medida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Poblacional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/>
                            <a:t>Muestral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699135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9" t="-54783" r="-215655" b="-10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353" t="-54783" r="-98529" b="-10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6396" t="-54783" r="-601" b="-1017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8006004"/>
                      </a:ext>
                    </a:extLst>
                  </a:tr>
                  <a:tr h="683451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9" t="-157522" r="-215655" b="-35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353" t="-157522" r="-98529" b="-35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6396" t="-157522" r="-601" b="-35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1728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a 5">
                <a:extLst>
                  <a:ext uri="{FF2B5EF4-FFF2-40B4-BE49-F238E27FC236}">
                    <a16:creationId xmlns:a16="http://schemas.microsoft.com/office/drawing/2014/main" id="{BEAD047B-9388-F894-D932-1153B395750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03771" y="2674685"/>
              <a:ext cx="4686298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05211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568269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556260">
                      <a:extLst>
                        <a:ext uri="{9D8B030D-6E8A-4147-A177-3AD203B41FA5}">
                          <a16:colId xmlns:a16="http://schemas.microsoft.com/office/drawing/2014/main" val="2705658812"/>
                        </a:ext>
                      </a:extLst>
                    </a:gridCol>
                    <a:gridCol w="365760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571500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  <a:gridCol w="411480">
                      <a:extLst>
                        <a:ext uri="{9D8B030D-6E8A-4147-A177-3AD203B41FA5}">
                          <a16:colId xmlns:a16="http://schemas.microsoft.com/office/drawing/2014/main" val="2359465122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  <a:gridCol w="546738">
                      <a:extLst>
                        <a:ext uri="{9D8B030D-6E8A-4147-A177-3AD203B41FA5}">
                          <a16:colId xmlns:a16="http://schemas.microsoft.com/office/drawing/2014/main" val="2537795203"/>
                        </a:ext>
                      </a:extLst>
                    </a:gridCol>
                    <a:gridCol w="527680">
                      <a:extLst>
                        <a:ext uri="{9D8B030D-6E8A-4147-A177-3AD203B41FA5}">
                          <a16:colId xmlns:a16="http://schemas.microsoft.com/office/drawing/2014/main" val="830762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50367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02693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68268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2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2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2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4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  <m:r>
                                  <a:rPr lang="es-ES" sz="1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ó </m:t>
                                </m:r>
                                <m:r>
                                  <a:rPr lang="es-ES" sz="1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2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2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2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4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955148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a 5">
                <a:extLst>
                  <a:ext uri="{FF2B5EF4-FFF2-40B4-BE49-F238E27FC236}">
                    <a16:creationId xmlns:a16="http://schemas.microsoft.com/office/drawing/2014/main" id="{BEAD047B-9388-F894-D932-1153B395750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03771" y="2674685"/>
              <a:ext cx="4686298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05211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568269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556260">
                      <a:extLst>
                        <a:ext uri="{9D8B030D-6E8A-4147-A177-3AD203B41FA5}">
                          <a16:colId xmlns:a16="http://schemas.microsoft.com/office/drawing/2014/main" val="2705658812"/>
                        </a:ext>
                      </a:extLst>
                    </a:gridCol>
                    <a:gridCol w="365760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571500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  <a:gridCol w="411480">
                      <a:extLst>
                        <a:ext uri="{9D8B030D-6E8A-4147-A177-3AD203B41FA5}">
                          <a16:colId xmlns:a16="http://schemas.microsoft.com/office/drawing/2014/main" val="2359465122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  <a:gridCol w="546738">
                      <a:extLst>
                        <a:ext uri="{9D8B030D-6E8A-4147-A177-3AD203B41FA5}">
                          <a16:colId xmlns:a16="http://schemas.microsoft.com/office/drawing/2014/main" val="2537795203"/>
                        </a:ext>
                      </a:extLst>
                    </a:gridCol>
                    <a:gridCol w="527680">
                      <a:extLst>
                        <a:ext uri="{9D8B030D-6E8A-4147-A177-3AD203B41FA5}">
                          <a16:colId xmlns:a16="http://schemas.microsoft.com/office/drawing/2014/main" val="830762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6383" t="-1639" r="-614894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1639" r="-535165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75000" t="-1639" r="-711667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7021" t="-1639" r="-354255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55224" t="-1639" r="-397015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75000" t="-1639" r="-202273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67416" t="-1639" r="-100000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85057" t="-1639" r="-2299" b="-8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" t="-101639" r="-678788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6383" t="-101639" r="-614894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101639" r="-535165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7021" t="-101639" r="-354255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55224" t="-101639" r="-397015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75000" t="-101639" r="-202273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67416" t="-101639" r="-100000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85057" t="-101639" r="-2299" b="-7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" t="-201639" r="-678788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6383" t="-201639" r="-614894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201639" r="-535165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7021" t="-201639" r="-354255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55224" t="-201639" r="-397015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75000" t="-201639" r="-202273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67416" t="-201639" r="-100000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85057" t="-201639" r="-2299" b="-6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" t="-401639" r="-678788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6383" t="-401639" r="-614894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401639" r="-535165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7021" t="-401639" r="-354255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55224" t="-401639" r="-397015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75000" t="-401639" r="-202273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67416" t="-401639" r="-100000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85057" t="-401639" r="-2299" b="-4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367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02693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" t="-601639" r="-678788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6383" t="-601639" r="-614894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601639" r="-535165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7021" t="-601639" r="-354255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55224" t="-601639" r="-397015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75000" t="-601639" r="-202273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67416" t="-601639" r="-100000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85057" t="-601639" r="-2299" b="-2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8268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" t="-701639" r="-678788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6383" t="-701639" r="-614894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701639" r="-535165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2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67021" t="-701639" r="-354255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4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75000" t="-701639" r="-202273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67416" t="-701639" r="-100000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" t="-801639" r="-678788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6383" t="-801639" r="-614894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801639" r="-535165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2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67021" t="-801639" r="-354255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4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75000" t="-801639" r="-202273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85057" t="-801639" r="-2299" b="-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551483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66F2BE-BCA2-DD7C-3419-942540D86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51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234481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283AB5-900B-CE2C-8B37-DC44389AB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6. Estadística descriptiva bidimensional</a:t>
            </a:r>
            <a:br>
              <a:rPr lang="es-ES" dirty="0"/>
            </a:br>
            <a:r>
              <a:rPr lang="es-ES" sz="4000" dirty="0"/>
              <a:t>Tabla de contingencia. Medidas condicionadas. Ejemplo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98068C-7C62-4968-B915-132E5178B0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596382" cy="4382135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s-ES" dirty="0"/>
                  <a:t>X= Edad de una persona</a:t>
                </a:r>
              </a:p>
              <a:p>
                <a:r>
                  <a:rPr lang="es-ES" dirty="0"/>
                  <a:t>Y = Sistema operativo del ordenador de la persona</a:t>
                </a:r>
              </a:p>
              <a:p>
                <a:r>
                  <a:rPr lang="es-ES" dirty="0"/>
                  <a:t>n=10</a:t>
                </a:r>
              </a:p>
              <a:p>
                <a:r>
                  <a:rPr lang="es-ES" dirty="0"/>
                  <a:t>Como valores de X se utilizan las marcas de cada clase: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20.5,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25.5,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lang="es-ES" dirty="0"/>
              </a:p>
              <a:p>
                <a:r>
                  <a:rPr lang="es-ES" dirty="0"/>
                  <a:t>Media de la edad de las personas según el sistema operativo del ordenador que usan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lang="es-ES_tradnl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</m:acc>
                    <m:d>
                      <m:dPr>
                        <m:begChr m:val="|"/>
                        <m:endChr m:val=""/>
                        <m:ctrlPr>
                          <a:rPr lang="es-ES_tradnl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s-ES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𝑊𝑖𝑛𝑑𝑜𝑤𝑠</m:t>
                        </m:r>
                      </m:e>
                    </m:d>
                    <m:r>
                      <a:rPr lang="es-ES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es-ES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</m:d>
                        <m:d>
                          <m:dPr>
                            <m:ctrlP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20.5</m:t>
                            </m:r>
                          </m:e>
                        </m:d>
                        <m:r>
                          <a:rPr lang="es-ES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d>
                          <m:dPr>
                            <m:ctrlP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e>
                        </m:d>
                        <m:d>
                          <m:dPr>
                            <m:ctrlP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25.5</m:t>
                            </m:r>
                          </m:e>
                        </m:d>
                        <m:r>
                          <a:rPr lang="es-ES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+(2)(30)</m:t>
                        </m:r>
                      </m:num>
                      <m:den>
                        <m:r>
                          <a:rPr lang="es-ES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</m:t>
                        </m:r>
                      </m:den>
                    </m:f>
                    <m:r>
                      <a:rPr lang="es-ES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=25.3 </m:t>
                    </m:r>
                    <m:r>
                      <a:rPr lang="es-ES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lang="es-ES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ñ</m:t>
                    </m:r>
                    <m:r>
                      <a:rPr lang="es-ES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𝑜𝑠</m:t>
                    </m:r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lang="es-ES_tradnl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</m:acc>
                    <m:d>
                      <m:dPr>
                        <m:begChr m:val="|"/>
                        <m:endChr m:val=""/>
                        <m:ctrlPr>
                          <a:rPr lang="es-ES_tradnl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s-ES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𝑀𝑎𝑐</m:t>
                        </m:r>
                      </m:e>
                    </m:d>
                    <m:r>
                      <a:rPr lang="es-ES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es-ES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e>
                        </m:d>
                        <m:d>
                          <m:dPr>
                            <m:ctrlP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20.5</m:t>
                            </m:r>
                          </m:e>
                        </m:d>
                        <m:r>
                          <a:rPr lang="es-ES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d>
                          <m:dPr>
                            <m:ctrlP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e>
                        </m:d>
                        <m:d>
                          <m:dPr>
                            <m:ctrlP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25.5</m:t>
                            </m:r>
                          </m:e>
                        </m:d>
                        <m:r>
                          <a:rPr lang="es-ES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+(1)(30)</m:t>
                        </m:r>
                      </m:num>
                      <m:den>
                        <m:r>
                          <a:rPr lang="es-ES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den>
                    </m:f>
                    <m:r>
                      <a:rPr lang="es-ES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=25.33 </m:t>
                    </m:r>
                    <m:r>
                      <a:rPr lang="es-ES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lang="es-ES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ñ</m:t>
                    </m:r>
                    <m:r>
                      <a:rPr lang="es-ES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𝑜𝑠</m:t>
                    </m:r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lang="es-ES_tradnl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</m:acc>
                    <m:d>
                      <m:dPr>
                        <m:begChr m:val="|"/>
                        <m:endChr m:val=""/>
                        <m:ctrlPr>
                          <a:rPr lang="es-ES_tradnl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s-ES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𝐿𝑖𝑛𝑢𝑥</m:t>
                        </m:r>
                      </m:e>
                    </m:d>
                    <m:r>
                      <a:rPr lang="es-ES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es-ES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</m:t>
                            </m:r>
                          </m:e>
                        </m:d>
                        <m:d>
                          <m:dPr>
                            <m:ctrlP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20.5</m:t>
                            </m:r>
                          </m:e>
                        </m:d>
                        <m:r>
                          <a:rPr lang="es-ES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d>
                          <m:dPr>
                            <m:ctrlP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e>
                        </m:d>
                        <m:d>
                          <m:dPr>
                            <m:ctrlP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es-ES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25.5</m:t>
                            </m:r>
                          </m:e>
                        </m:d>
                        <m:r>
                          <a:rPr lang="es-ES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+(1)(30)</m:t>
                        </m:r>
                      </m:num>
                      <m:den>
                        <m:r>
                          <a:rPr lang="es-ES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  <m:r>
                      <a:rPr lang="es-ES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=27.75 </m:t>
                    </m:r>
                    <m:r>
                      <a:rPr lang="es-ES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lang="es-ES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ñ</m:t>
                    </m:r>
                    <m:r>
                      <a:rPr lang="es-ES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𝑜𝑠</m:t>
                    </m:r>
                  </m:oMath>
                </a14:m>
                <a:endParaRPr lang="es-ES" dirty="0"/>
              </a:p>
              <a:p>
                <a:pPr lvl="1"/>
                <a:endParaRPr lang="es-E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98068C-7C62-4968-B915-132E5178B0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596382" cy="4382135"/>
              </a:xfrm>
              <a:blipFill>
                <a:blip r:embed="rId2"/>
                <a:stretch>
                  <a:fillRect l="-1294" t="-264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2685F3-261B-E28B-4288-F0C9B04EE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52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CEE213A9-7115-757B-308F-26D408EB7C2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434582" y="2475230"/>
              <a:ext cx="4424715" cy="2667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60269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921870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730978">
                      <a:extLst>
                        <a:ext uri="{9D8B030D-6E8A-4147-A177-3AD203B41FA5}">
                          <a16:colId xmlns:a16="http://schemas.microsoft.com/office/drawing/2014/main" val="1703630540"/>
                        </a:ext>
                      </a:extLst>
                    </a:gridCol>
                    <a:gridCol w="840431">
                      <a:extLst>
                        <a:ext uri="{9D8B030D-6E8A-4147-A177-3AD203B41FA5}">
                          <a16:colId xmlns:a16="http://schemas.microsoft.com/office/drawing/2014/main" val="410110075"/>
                        </a:ext>
                      </a:extLst>
                    </a:gridCol>
                    <a:gridCol w="504259">
                      <a:extLst>
                        <a:ext uri="{9D8B030D-6E8A-4147-A177-3AD203B41FA5}">
                          <a16:colId xmlns:a16="http://schemas.microsoft.com/office/drawing/2014/main" val="1831651342"/>
                        </a:ext>
                      </a:extLst>
                    </a:gridCol>
                    <a:gridCol w="466908">
                      <a:extLst>
                        <a:ext uri="{9D8B030D-6E8A-4147-A177-3AD203B41FA5}">
                          <a16:colId xmlns:a16="http://schemas.microsoft.com/office/drawing/2014/main" val="298596885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𝑾𝒊𝒏𝒅𝒐𝒘𝒔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𝑴𝒂𝒄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𝑳𝒊𝒏𝒖𝒙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𝟏𝟖</m:t>
                                    </m:r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  <m:t>𝟐𝟑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1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1" dirty="0"/>
                            <a:t>20.5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  <m:t>𝟐𝟖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1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1" dirty="0"/>
                            <a:t>25.5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238569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𝟐𝟖</m:t>
                                    </m:r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d>
                                      <m:dPr>
                                        <m:begChr m:val=""/>
                                        <m:endChr m:val="]"/>
                                        <m:ctrlP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  <m:t>𝟑𝟐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1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b="1" dirty="0"/>
                            <a:t>30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0.5</m:t>
                                </m:r>
                              </m:oMath>
                            </m:oMathPara>
                          </a14:m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955148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CEE213A9-7115-757B-308F-26D408EB7C2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434582" y="2475230"/>
              <a:ext cx="4424715" cy="2667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60269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921870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730978">
                      <a:extLst>
                        <a:ext uri="{9D8B030D-6E8A-4147-A177-3AD203B41FA5}">
                          <a16:colId xmlns:a16="http://schemas.microsoft.com/office/drawing/2014/main" val="1703630540"/>
                        </a:ext>
                      </a:extLst>
                    </a:gridCol>
                    <a:gridCol w="840431">
                      <a:extLst>
                        <a:ext uri="{9D8B030D-6E8A-4147-A177-3AD203B41FA5}">
                          <a16:colId xmlns:a16="http://schemas.microsoft.com/office/drawing/2014/main" val="410110075"/>
                        </a:ext>
                      </a:extLst>
                    </a:gridCol>
                    <a:gridCol w="504259">
                      <a:extLst>
                        <a:ext uri="{9D8B030D-6E8A-4147-A177-3AD203B41FA5}">
                          <a16:colId xmlns:a16="http://schemas.microsoft.com/office/drawing/2014/main" val="1831651342"/>
                        </a:ext>
                      </a:extLst>
                    </a:gridCol>
                    <a:gridCol w="466908">
                      <a:extLst>
                        <a:ext uri="{9D8B030D-6E8A-4147-A177-3AD203B41FA5}">
                          <a16:colId xmlns:a16="http://schemas.microsoft.com/office/drawing/2014/main" val="298596885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3" t="-1639" r="-361392" b="-6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298" t="-1639" r="-278146" b="-6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8333" t="-1639" r="-250000" b="-6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1594" t="-1639" r="-117391" b="-6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84337" t="-1639" r="-95181" b="-6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45455" t="-1639" r="-2597" b="-6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3" t="-72941" r="-361392" b="-34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298" t="-72941" r="-278146" b="-34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3" t="-172941" r="-361392" b="-24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298" t="-172941" r="-278146" b="-24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2385694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3" t="-272941" r="-361392" b="-14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298" t="-272941" r="-278146" b="-14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3" t="-519672" r="-361392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298" t="-519672" r="-278146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3" t="-619672" r="-361392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298" t="-619672" r="-278146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lang="es-ES" sz="14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s-ES" sz="1400" b="0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9551483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883115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9178C7-518C-79A7-9AC4-F04356EE6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6. Estadística descriptiva bidimensional</a:t>
            </a:r>
            <a:br>
              <a:rPr lang="es-ES" dirty="0"/>
            </a:br>
            <a:r>
              <a:rPr lang="es-ES" dirty="0"/>
              <a:t>Gráficos. Diagrama de barras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678C3B-C211-C05A-8ABD-9AF00192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37895"/>
          </a:xfrm>
        </p:spPr>
        <p:txBody>
          <a:bodyPr>
            <a:normAutofit fontScale="70000" lnSpcReduction="20000"/>
          </a:bodyPr>
          <a:lstStyle/>
          <a:p>
            <a:r>
              <a:rPr lang="es-ES" dirty="0"/>
              <a:t>En el eje vertical se representan las frecuencias de una variable</a:t>
            </a:r>
          </a:p>
          <a:p>
            <a:r>
              <a:rPr lang="es-ES" dirty="0"/>
              <a:t>En el eje horizontal, se representan los valores de la otra variable</a:t>
            </a:r>
          </a:p>
          <a:p>
            <a:pPr lvl="1"/>
            <a:r>
              <a:rPr lang="es-ES" dirty="0"/>
              <a:t>Se pueden agrupar las barras para un valor en vertical o en horizontal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1A52FD-1034-0B84-15BE-F239EE73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53</a:t>
            </a:fld>
            <a:endParaRPr lang="es-ES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F62043B-A5A1-BEF2-4830-EB4F8F896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898" y="2822241"/>
            <a:ext cx="3960000" cy="18378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277D715-9E57-20A7-E457-67279CACE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898" y="4779318"/>
            <a:ext cx="3960000" cy="188296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C84665B-1BCE-9669-5D51-ABFA44378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684" y="2898457"/>
            <a:ext cx="3960000" cy="181632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3D3801F-4204-3B2A-CD8B-8390C9B5D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684" y="4812860"/>
            <a:ext cx="3960000" cy="181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2025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E2462C-35B1-6ABC-290D-25D4219DD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6. Estadística descriptiva bidimensional</a:t>
            </a:r>
            <a:br>
              <a:rPr lang="es-ES" dirty="0"/>
            </a:br>
            <a:r>
              <a:rPr lang="es-ES" dirty="0"/>
              <a:t>Gráficos. Diagrama de dispersión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1E747C-8AC4-B5F3-18C0-1364C11CDB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5955957" cy="43513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s-ES" dirty="0"/>
                  <a:t>En inglés </a:t>
                </a:r>
                <a:r>
                  <a:rPr lang="es-ES" i="1" dirty="0" err="1"/>
                  <a:t>Scatter</a:t>
                </a:r>
                <a:r>
                  <a:rPr lang="es-ES" i="1" dirty="0"/>
                  <a:t> </a:t>
                </a:r>
                <a:r>
                  <a:rPr lang="es-ES" i="1" dirty="0" err="1"/>
                  <a:t>plot</a:t>
                </a:r>
                <a:endParaRPr lang="es-ES" dirty="0"/>
              </a:p>
              <a:p>
                <a:r>
                  <a:rPr lang="es-ES" dirty="0"/>
                  <a:t>Se representan los puntos correspondientes a las parejas de valores de la variable bidimensional</a:t>
                </a:r>
              </a:p>
              <a:p>
                <a:r>
                  <a:rPr lang="es-ES" dirty="0"/>
                  <a:t>El eje horizontal representa los valores de la variable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ES" dirty="0"/>
                  <a:t> (si es una población) o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" dirty="0"/>
                  <a:t> (si es una muestra)</a:t>
                </a:r>
              </a:p>
              <a:p>
                <a:r>
                  <a:rPr lang="es-ES" dirty="0"/>
                  <a:t>El eje vertical representa los valores de la variable </a:t>
                </a:r>
                <a14:m>
                  <m:oMath xmlns:m="http://schemas.openxmlformats.org/officeDocument/2006/math"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" dirty="0"/>
                  <a:t> (si es una población) o </a:t>
                </a:r>
                <a14:m>
                  <m:oMath xmlns:m="http://schemas.openxmlformats.org/officeDocument/2006/math"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" dirty="0"/>
                  <a:t> (si es una muestra)</a:t>
                </a:r>
              </a:p>
              <a:p>
                <a:r>
                  <a:rPr lang="es-ES" dirty="0"/>
                  <a:t>La forma del diagrama depende del valor del coeficiente de correlación </a:t>
                </a:r>
                <a14:m>
                  <m:oMath xmlns:m="http://schemas.openxmlformats.org/officeDocument/2006/math">
                    <m:r>
                      <a:rPr lang="es-ES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s-ES" dirty="0"/>
                  <a:t> (si es una población) o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s-ES" dirty="0"/>
                  <a:t> (si es una muestra)</a:t>
                </a:r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1E747C-8AC4-B5F3-18C0-1364C11CDB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5955957" cy="4351338"/>
              </a:xfrm>
              <a:blipFill>
                <a:blip r:embed="rId2"/>
                <a:stretch>
                  <a:fillRect l="-1329" t="-3221" r="-265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3CCA24-9F82-9838-8496-038A691D0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54</a:t>
            </a:fld>
            <a:endParaRPr lang="es-E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C885C8D-E2B6-B0EF-14E6-382A4DD80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3023" y="2613840"/>
            <a:ext cx="456917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40F0FB9-B317-2A4A-02C2-42D5BC6FC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052535" y="5451760"/>
            <a:ext cx="12643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Imagen: </a:t>
            </a:r>
            <a:r>
              <a:rPr lang="es-ES" sz="1400" dirty="0">
                <a:hlinkClick r:id="rId4"/>
              </a:rPr>
              <a:t>RPubs</a:t>
            </a:r>
            <a:endParaRPr lang="es-E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97747FDA-25E4-2670-910A-ECF1A5831F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7589288" y="3690159"/>
                <a:ext cx="21151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s-ES" sz="14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97747FDA-25E4-2670-910A-ECF1A5831F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9288" y="3690159"/>
                <a:ext cx="211513" cy="307777"/>
              </a:xfrm>
              <a:prstGeom prst="rect">
                <a:avLst/>
              </a:prstGeom>
              <a:blipFill>
                <a:blip r:embed="rId5"/>
                <a:stretch>
                  <a:fillRect r="-285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9EF2F2B4-2C26-8A9E-CBE2-F7C0F12DFC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7509623" y="5148116"/>
                <a:ext cx="23368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s-ES" sz="1400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9EF2F2B4-2C26-8A9E-CBE2-F7C0F12DFC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9623" y="5148116"/>
                <a:ext cx="233680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0DE4BBBF-9EF4-A27D-3CB8-396FA5469B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8728828" y="3696854"/>
                <a:ext cx="21151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s-ES" sz="140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0DE4BBBF-9EF4-A27D-3CB8-396FA5469B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828" y="3696854"/>
                <a:ext cx="211513" cy="307777"/>
              </a:xfrm>
              <a:prstGeom prst="rect">
                <a:avLst/>
              </a:prstGeom>
              <a:blipFill>
                <a:blip r:embed="rId5"/>
                <a:stretch>
                  <a:fillRect r="-285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EBCF02E-8A18-8FDE-57FA-FA133D3C5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9882216" y="3696854"/>
                <a:ext cx="21151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s-ES" sz="14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EBCF02E-8A18-8FDE-57FA-FA133D3C5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2216" y="3696854"/>
                <a:ext cx="211513" cy="307777"/>
              </a:xfrm>
              <a:prstGeom prst="rect">
                <a:avLst/>
              </a:prstGeom>
              <a:blipFill>
                <a:blip r:embed="rId7"/>
                <a:stretch>
                  <a:fillRect r="-571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F19A0C3-53A2-E5C7-94E6-84B30F4749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11056389" y="3696854"/>
                <a:ext cx="21151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s-ES" sz="14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F19A0C3-53A2-E5C7-94E6-84B30F4749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6389" y="3696854"/>
                <a:ext cx="211513" cy="307777"/>
              </a:xfrm>
              <a:prstGeom prst="rect">
                <a:avLst/>
              </a:prstGeom>
              <a:blipFill>
                <a:blip r:embed="rId8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CCA9024D-584B-EE4E-8FAF-5B8EF804A0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8697653" y="5141425"/>
                <a:ext cx="21151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s-ES" sz="1400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CCA9024D-584B-EE4E-8FAF-5B8EF804A0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7653" y="5141425"/>
                <a:ext cx="211513" cy="307777"/>
              </a:xfrm>
              <a:prstGeom prst="rect">
                <a:avLst/>
              </a:prstGeom>
              <a:blipFill>
                <a:blip r:embed="rId8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AE44E76-8C67-D45B-B7B4-4006F55AA9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9840651" y="5141194"/>
                <a:ext cx="21151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s-ES" sz="1400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AE44E76-8C67-D45B-B7B4-4006F55AA9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0651" y="5141194"/>
                <a:ext cx="211513" cy="307777"/>
              </a:xfrm>
              <a:prstGeom prst="rect">
                <a:avLst/>
              </a:prstGeom>
              <a:blipFill>
                <a:blip r:embed="rId7"/>
                <a:stretch>
                  <a:fillRect r="-571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AC8A162-9D8C-9977-9900-52D51CBD08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11025214" y="5141431"/>
                <a:ext cx="21151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s-ES" sz="1400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AC8A162-9D8C-9977-9900-52D51CBD08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5214" y="5141431"/>
                <a:ext cx="211513" cy="307777"/>
              </a:xfrm>
              <a:prstGeom prst="rect">
                <a:avLst/>
              </a:prstGeom>
              <a:blipFill>
                <a:blip r:embed="rId8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57982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0510DC-794F-6DEC-974F-103C1D9C8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6. Estadística descriptiva bidimensional</a:t>
            </a:r>
            <a:br>
              <a:rPr lang="es-ES" dirty="0"/>
            </a:br>
            <a:r>
              <a:rPr lang="es-ES" dirty="0"/>
              <a:t>Gráficos. Diagrama de dispersión (Ejemplo 8.20)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852A8C-E677-8372-22DF-F85E5BC80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Un administrador informático registra el número de veces que un software antivirus se ejecuta en cada ordenador de una empresa durante un mes (variable X) y el número de virus detectados (variable Y). </a:t>
            </a:r>
          </a:p>
          <a:p>
            <a:r>
              <a:rPr lang="es-ES" dirty="0"/>
              <a:t>Los datos de una muestra 30 ordenadores están en la siguiente tabla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¿Existe una relación entre la frecuencia de ejecución del software antivirus y el número de virus en los ordenadores de la empresa? </a:t>
            </a:r>
          </a:p>
          <a:p>
            <a:r>
              <a:rPr lang="es-ES" dirty="0"/>
              <a:t>Calcular el coeficiente de correlación</a:t>
            </a:r>
          </a:p>
          <a:p>
            <a:endParaRPr lang="es-ES" dirty="0"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27F8D07C-0E4C-BAE9-691F-D5DB01BAC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946769"/>
              </p:ext>
            </p:extLst>
          </p:nvPr>
        </p:nvGraphicFramePr>
        <p:xfrm>
          <a:off x="994624" y="3630454"/>
          <a:ext cx="10202751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9121">
                  <a:extLst>
                    <a:ext uri="{9D8B030D-6E8A-4147-A177-3AD203B41FA5}">
                      <a16:colId xmlns:a16="http://schemas.microsoft.com/office/drawing/2014/main" val="1556474000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3592083387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2371510461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1672761519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2409202858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1109034726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26140398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1627184831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883905931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1225608960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1239612501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2201067295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1437580561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1177033443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3266497319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3667779666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3692871868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2587036878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2375779901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3156655419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1663244919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3522116233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891789525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2736575641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4139436640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2986575690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547421308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3881204141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2432575239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233847570"/>
                    </a:ext>
                  </a:extLst>
                </a:gridCol>
                <a:gridCol w="329121">
                  <a:extLst>
                    <a:ext uri="{9D8B030D-6E8A-4147-A177-3AD203B41FA5}">
                      <a16:colId xmlns:a16="http://schemas.microsoft.com/office/drawing/2014/main" val="34442597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0857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Y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0197057"/>
                  </a:ext>
                </a:extLst>
              </a:tr>
            </a:tbl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70D559-1574-DA6F-1072-5A3614829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55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230590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0510DC-794F-6DEC-974F-103C1D9C8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6. Estadística descriptiva bidimensional</a:t>
            </a:r>
            <a:br>
              <a:rPr lang="es-ES" dirty="0"/>
            </a:br>
            <a:r>
              <a:rPr lang="es-ES" dirty="0"/>
              <a:t>Gráficos. Diag. dispersión (Ejemplo 8.20) (solución)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5852A8C-E677-8372-22DF-F85E5BC801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57800" cy="489585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s-ES" dirty="0"/>
                  <a:t>Diagrama de dispersión</a:t>
                </a:r>
              </a:p>
              <a:p>
                <a:pPr lvl="1"/>
                <a:r>
                  <a:rPr lang="es-ES" dirty="0"/>
                  <a:t>X: Número de veces que se ejecuta el antivirus en cada ordenador en un mes</a:t>
                </a:r>
              </a:p>
              <a:p>
                <a:pPr lvl="1"/>
                <a:r>
                  <a:rPr lang="es-ES" dirty="0"/>
                  <a:t>Y: Número de virus detectados en un mes</a:t>
                </a:r>
              </a:p>
              <a:p>
                <a:r>
                  <a:rPr lang="es-ES" dirty="0"/>
                  <a:t>Respuesta: </a:t>
                </a:r>
              </a:p>
              <a:p>
                <a:pPr lvl="1"/>
                <a:r>
                  <a:rPr lang="es-ES" dirty="0"/>
                  <a:t>El diagrama muestra claramente que el número de virus se reduce, en general, cuando el software antivirus se emplea con más frecuencia</a:t>
                </a:r>
              </a:p>
              <a:p>
                <a:pPr lvl="1"/>
                <a:r>
                  <a:rPr lang="es-ES" dirty="0"/>
                  <a:t>Esta relación, sin embargo, no es segura, porque no se detectó virus en algunos ordenadores “afortunados”, aunque el software antivirus se ejecutó solo una vez a la semana en ellos</a:t>
                </a:r>
              </a:p>
              <a:p>
                <a:pPr lvl="1"/>
                <a:r>
                  <a:rPr lang="es-ES" dirty="0"/>
                  <a:t>Coeficiente de correlación: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=−0.4533</m:t>
                    </m:r>
                  </m:oMath>
                </a14:m>
                <a:endParaRPr lang="es-ES" dirty="0"/>
              </a:p>
              <a:p>
                <a:pPr lvl="2"/>
                <a:r>
                  <a:rPr lang="es-ES" dirty="0"/>
                  <a:t>Demuestra que, en general, si aumenta X disminuye Y, pero no hay una clara correlación entre las variables, al no ser un valor elevado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5852A8C-E677-8372-22DF-F85E5BC801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57800" cy="4895850"/>
              </a:xfrm>
              <a:blipFill>
                <a:blip r:embed="rId2"/>
                <a:stretch>
                  <a:fillRect l="-1624" t="-2861" r="-58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70D559-1574-DA6F-1072-5A3614829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56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DC636C6-4771-1D11-524E-4DC5F0A54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955073"/>
            <a:ext cx="5561891" cy="267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0240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3EC06C-E745-42B2-32F1-54BB84DA1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6. Estadística descriptiva bidimensional</a:t>
            </a:r>
            <a:br>
              <a:rPr lang="es-ES" dirty="0"/>
            </a:br>
            <a:r>
              <a:rPr lang="es-ES" dirty="0"/>
              <a:t>Gráficos. Diagrama de dispersión (Ejemplo 8.22)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7DFB296-932E-404E-2143-1A02EE478C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dirty="0" err="1"/>
                  <a:t>Según</a:t>
                </a:r>
                <a:r>
                  <a:rPr dirty="0"/>
                  <a:t> la Base Internacional de Datos de la Oficina del Censo de los </a:t>
                </a:r>
                <a:r>
                  <a:rPr dirty="0" err="1"/>
                  <a:t>Estados</a:t>
                </a:r>
                <a:r>
                  <a:rPr dirty="0"/>
                  <a:t> Unidos, la población </a:t>
                </a:r>
                <a:r>
                  <a:rPr dirty="0" err="1"/>
                  <a:t>mundial</a:t>
                </a:r>
                <a:r>
                  <a:rPr dirty="0"/>
                  <a:t> </a:t>
                </a:r>
                <a:r>
                  <a:rPr lang="es-ES" dirty="0"/>
                  <a:t>entre 1950 y 2010 creció </a:t>
                </a:r>
                <a:r>
                  <a:rPr dirty="0" err="1"/>
                  <a:t>según</a:t>
                </a:r>
                <a:r>
                  <a:rPr dirty="0"/>
                  <a:t> </a:t>
                </a:r>
                <a:r>
                  <a:rPr dirty="0" err="1"/>
                  <a:t>esta</a:t>
                </a:r>
                <a:r>
                  <a:rPr dirty="0"/>
                  <a:t> </a:t>
                </a:r>
                <a:r>
                  <a:rPr dirty="0" err="1"/>
                  <a:t>tabla</a:t>
                </a:r>
                <a:r>
                  <a:rPr lang="es-ES" dirty="0"/>
                  <a:t>, en la que: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" dirty="0"/>
                  <a:t> representa un año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" dirty="0"/>
                  <a:t> representa la población mundial en ese año (millones de personas)</a:t>
                </a:r>
              </a:p>
              <a:p>
                <a:endParaRPr lang="es-ES" dirty="0"/>
              </a:p>
              <a:p>
                <a:endParaRPr lang="es-ES" dirty="0"/>
              </a:p>
              <a:p>
                <a:endParaRPr lang="es-ES" dirty="0"/>
              </a:p>
              <a:p>
                <a:r>
                  <a:rPr lang="es-ES" dirty="0"/>
                  <a:t>Representar el diagrama de dispersión y calcular el coeficiente de correlación</a:t>
                </a:r>
              </a:p>
              <a:p>
                <a:r>
                  <a:rPr lang="es-ES" dirty="0"/>
                  <a:t>NOTA: Cuando la variable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" dirty="0"/>
                  <a:t> representa tiempo, se trata de un </a:t>
                </a:r>
                <a:r>
                  <a:rPr lang="es-ES" i="1" dirty="0"/>
                  <a:t>time </a:t>
                </a:r>
                <a:r>
                  <a:rPr lang="es-ES" i="1" dirty="0" err="1"/>
                  <a:t>plot</a:t>
                </a:r>
                <a:r>
                  <a:rPr lang="es-ES" dirty="0"/>
                  <a:t> que muestra la evolución de la variable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" dirty="0"/>
                  <a:t> a lo largo del tiempo</a:t>
                </a:r>
                <a:endParaRPr i="1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7DFB296-932E-404E-2143-1A02EE478C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 r="-81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A9391C08-8215-9FCD-11EB-9506EE2B8F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7512251"/>
                  </p:ext>
                </p:extLst>
              </p:nvPr>
            </p:nvGraphicFramePr>
            <p:xfrm>
              <a:off x="1654202" y="3630454"/>
              <a:ext cx="8327998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94857">
                      <a:extLst>
                        <a:ext uri="{9D8B030D-6E8A-4147-A177-3AD203B41FA5}">
                          <a16:colId xmlns:a16="http://schemas.microsoft.com/office/drawing/2014/main" val="1556474000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3592083387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37151046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672761519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409202858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109034726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6140398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62718483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88390593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225608960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23961250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201067295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43758056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1770334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1955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1965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1970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1975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1985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1995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2005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2010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308578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2558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2782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3043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3350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3712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4089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4451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4855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5287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5700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6090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6474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6864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01970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A9391C08-8215-9FCD-11EB-9506EE2B8F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7512251"/>
                  </p:ext>
                </p:extLst>
              </p:nvPr>
            </p:nvGraphicFramePr>
            <p:xfrm>
              <a:off x="1654202" y="3630454"/>
              <a:ext cx="8327998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94857">
                      <a:extLst>
                        <a:ext uri="{9D8B030D-6E8A-4147-A177-3AD203B41FA5}">
                          <a16:colId xmlns:a16="http://schemas.microsoft.com/office/drawing/2014/main" val="1556474000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3592083387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37151046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672761519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409202858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109034726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6140398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62718483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88390593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225608960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23961250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201067295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43758056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1770334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3"/>
                          <a:stretch>
                            <a:fillRect l="-1020" t="-1613" r="-1296939" b="-1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1955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1965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1970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1975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1985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1995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2005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2010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308578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3"/>
                          <a:stretch>
                            <a:fillRect l="-1020" t="-103279" r="-1296939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2558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2782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3043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3350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3712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4089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4451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4855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5287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5700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6090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6474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6864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019705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32011D8-EF88-7A5D-AC3E-F7BA0D2F6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57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81564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3EC06C-E745-42B2-32F1-54BB84DA1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6. Estadística descriptiva bidimensional</a:t>
            </a:r>
            <a:br>
              <a:rPr lang="es-ES" dirty="0"/>
            </a:br>
            <a:r>
              <a:rPr lang="es-ES" dirty="0"/>
              <a:t>Gráficos. Diag. dispersión (Ejemplo 8.22)(solución)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DFB296-932E-404E-2143-1A02EE478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ES" dirty="0"/>
          </a:p>
          <a:p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A9391C08-8215-9FCD-11EB-9506EE2B8F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7271487"/>
                  </p:ext>
                </p:extLst>
              </p:nvPr>
            </p:nvGraphicFramePr>
            <p:xfrm>
              <a:off x="1743412" y="1971773"/>
              <a:ext cx="8327998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94857">
                      <a:extLst>
                        <a:ext uri="{9D8B030D-6E8A-4147-A177-3AD203B41FA5}">
                          <a16:colId xmlns:a16="http://schemas.microsoft.com/office/drawing/2014/main" val="1556474000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3592083387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37151046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672761519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409202858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109034726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6140398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62718483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88390593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225608960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23961250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201067295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43758056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1770334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1955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1965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1970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1975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1985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1995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2005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2010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308578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2558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2782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3043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3350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3712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4089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4451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4855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5287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5700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6090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6474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6864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01970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A9391C08-8215-9FCD-11EB-9506EE2B8F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7271487"/>
                  </p:ext>
                </p:extLst>
              </p:nvPr>
            </p:nvGraphicFramePr>
            <p:xfrm>
              <a:off x="1743412" y="1971773"/>
              <a:ext cx="8327998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94857">
                      <a:extLst>
                        <a:ext uri="{9D8B030D-6E8A-4147-A177-3AD203B41FA5}">
                          <a16:colId xmlns:a16="http://schemas.microsoft.com/office/drawing/2014/main" val="1556474000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3592083387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37151046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672761519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409202858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109034726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6140398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62718483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88390593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225608960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23961250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2201067295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437580561"/>
                        </a:ext>
                      </a:extLst>
                    </a:gridCol>
                    <a:gridCol w="594857">
                      <a:extLst>
                        <a:ext uri="{9D8B030D-6E8A-4147-A177-3AD203B41FA5}">
                          <a16:colId xmlns:a16="http://schemas.microsoft.com/office/drawing/2014/main" val="11770334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2"/>
                          <a:stretch>
                            <a:fillRect l="-1020" t="-1613" r="-1297959" b="-1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1955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1965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1970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1975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1985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1995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2005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2010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308578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2"/>
                          <a:stretch>
                            <a:fillRect l="-1020" t="-103279" r="-1297959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2558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2782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3043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3350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3712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4089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4451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4855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5287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5700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6090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6474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/>
                            <a:t>6864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019705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32011D8-EF88-7A5D-AC3E-F7BA0D2F6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58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29309E7-27F4-F83F-9C43-ADA8C9C65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42131"/>
            <a:ext cx="6820312" cy="35967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5869D61-8B2E-81F2-FF14-A5D1707D93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8408020" y="3668751"/>
                <a:ext cx="3245004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/>
                  <a:t>Coeficiente de correlación:</a:t>
                </a:r>
              </a:p>
              <a:p>
                <a:r>
                  <a:rPr lang="es-ES" b="0" dirty="0"/>
                  <a:t>              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=0.9976</m:t>
                    </m:r>
                  </m:oMath>
                </a14:m>
                <a:endParaRPr lang="es-ES" dirty="0"/>
              </a:p>
              <a:p>
                <a:endParaRPr lang="es-ES" dirty="0"/>
              </a:p>
              <a:p>
                <a:r>
                  <a:rPr lang="es-ES" dirty="0"/>
                  <a:t>Es muy próximo a 1, los puntos</a:t>
                </a:r>
                <a:br>
                  <a:rPr lang="es-ES" dirty="0"/>
                </a:br>
                <a:r>
                  <a:rPr lang="es-ES" dirty="0"/>
                  <a:t>están prácticamente alineados, existe una fuerte correlación lineal entre las dos variables</a:t>
                </a: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5869D61-8B2E-81F2-FF14-A5D1707D93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8020" y="3668751"/>
                <a:ext cx="3245004" cy="2031325"/>
              </a:xfrm>
              <a:prstGeom prst="rect">
                <a:avLst/>
              </a:prstGeom>
              <a:blipFill>
                <a:blip r:embed="rId4"/>
                <a:stretch>
                  <a:fillRect l="-1501" t="-1802" b="-390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15712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61FE9-C3AE-6FC7-C4A9-C1FF0B2C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6. Estadística descriptiva bidimensional</a:t>
            </a:r>
            <a:br>
              <a:rPr lang="es-ES" dirty="0"/>
            </a:br>
            <a:r>
              <a:rPr lang="es-ES" dirty="0"/>
              <a:t>Ejercicios propuestos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D761F8-90FE-5A56-8924-772DAE4E6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 err="1"/>
              <a:t>Ejercicios</a:t>
            </a:r>
            <a:r>
              <a:rPr lang="en-US" altLang="es-ES" sz="2800" dirty="0"/>
              <a:t> 8.5, 8.6, 8.7 del </a:t>
            </a:r>
            <a:r>
              <a:rPr lang="en-US" altLang="es-ES" sz="2800" dirty="0" err="1"/>
              <a:t>libro</a:t>
            </a:r>
            <a:endParaRPr lang="en-US" altLang="es-ES" sz="2800" dirty="0"/>
          </a:p>
          <a:p>
            <a:pPr lvl="1">
              <a:spcBef>
                <a:spcPts val="1000"/>
              </a:spcBef>
            </a:pPr>
            <a:r>
              <a:rPr lang="en-US" altLang="es-ES" dirty="0" err="1"/>
              <a:t>Además</a:t>
            </a:r>
            <a:r>
              <a:rPr lang="en-US" altLang="es-ES" dirty="0"/>
              <a:t> de lo que se </a:t>
            </a:r>
            <a:r>
              <a:rPr lang="en-US" altLang="es-ES" dirty="0" err="1"/>
              <a:t>pide</a:t>
            </a:r>
            <a:r>
              <a:rPr lang="en-US" altLang="es-ES" dirty="0"/>
              <a:t>, </a:t>
            </a:r>
            <a:r>
              <a:rPr lang="en-US" altLang="es-ES" dirty="0" err="1"/>
              <a:t>calcular</a:t>
            </a:r>
            <a:r>
              <a:rPr lang="en-US" altLang="es-ES" dirty="0"/>
              <a:t> </a:t>
            </a:r>
            <a:r>
              <a:rPr lang="en-US" altLang="es-ES" dirty="0" err="1"/>
              <a:t>el</a:t>
            </a:r>
            <a:r>
              <a:rPr lang="en-US" altLang="es-ES" dirty="0"/>
              <a:t> </a:t>
            </a:r>
            <a:r>
              <a:rPr lang="en-US" altLang="es-ES" dirty="0" err="1"/>
              <a:t>coeficiente</a:t>
            </a:r>
            <a:r>
              <a:rPr lang="en-US" altLang="es-ES" dirty="0"/>
              <a:t> de </a:t>
            </a:r>
            <a:r>
              <a:rPr lang="en-US" altLang="es-ES" dirty="0" err="1"/>
              <a:t>correlación</a:t>
            </a:r>
            <a:r>
              <a:rPr lang="en-US" altLang="es-ES"/>
              <a:t> y una</a:t>
            </a:r>
            <a:r>
              <a:rPr lang="en-US" altLang="es-ES" dirty="0"/>
              <a:t> </a:t>
            </a:r>
            <a:r>
              <a:rPr lang="en-US" altLang="es-ES" dirty="0" err="1"/>
              <a:t>tabla</a:t>
            </a:r>
            <a:r>
              <a:rPr lang="en-US" altLang="es-ES" dirty="0"/>
              <a:t> de </a:t>
            </a:r>
            <a:r>
              <a:rPr lang="en-US" altLang="es-ES" dirty="0" err="1"/>
              <a:t>contingencia</a:t>
            </a:r>
            <a:endParaRPr lang="en-US" alt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A86158-512B-60EF-6886-59F4BFB0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59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8691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09EF2-6D6E-4895-E083-AD0184687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7. Resumen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A4C847-03F8-7FB1-38E5-73AA97574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 fontScale="70000" lnSpcReduction="20000"/>
          </a:bodyPr>
          <a:lstStyle/>
          <a:p>
            <a:r>
              <a:rPr lang="es-ES" dirty="0"/>
              <a:t>La </a:t>
            </a:r>
            <a:r>
              <a:rPr lang="es-ES" b="1" dirty="0"/>
              <a:t>Estadística descriptiva </a:t>
            </a:r>
            <a:r>
              <a:rPr lang="es-ES" dirty="0"/>
              <a:t>es la rama de la Estadística que describe un conjunto de datos numéricamente (con medidas estadísticas) y gráficamente (con gráficos estadísticos)</a:t>
            </a:r>
          </a:p>
          <a:p>
            <a:r>
              <a:rPr lang="es-ES" dirty="0"/>
              <a:t>Una </a:t>
            </a:r>
            <a:r>
              <a:rPr lang="es-ES" b="1" dirty="0"/>
              <a:t>variable estadística </a:t>
            </a:r>
            <a:r>
              <a:rPr lang="es-ES" dirty="0"/>
              <a:t>es una propiedad de un elemento (individuo) de una población o muestra, y puede ser cualitativa o cuantitativa</a:t>
            </a:r>
          </a:p>
          <a:p>
            <a:r>
              <a:rPr lang="es-ES" dirty="0"/>
              <a:t>Una </a:t>
            </a:r>
            <a:r>
              <a:rPr lang="es-ES" b="1" dirty="0"/>
              <a:t>medida estadística </a:t>
            </a:r>
            <a:r>
              <a:rPr lang="es-ES" dirty="0"/>
              <a:t>es una característica numérica sobre una  variable estadística de una población (parámetro) o de una muestra (estadístico) </a:t>
            </a:r>
          </a:p>
          <a:p>
            <a:pPr lvl="1"/>
            <a:r>
              <a:rPr lang="es-ES" dirty="0"/>
              <a:t>Las medidas estadísticas pueden ser de tamaño, centralización, localización o posición, dispersión o variabilidad, forma, o proporción </a:t>
            </a:r>
          </a:p>
          <a:p>
            <a:r>
              <a:rPr lang="es-ES" dirty="0"/>
              <a:t>Una </a:t>
            </a:r>
            <a:r>
              <a:rPr lang="es-ES" b="1" dirty="0"/>
              <a:t>tabla de frecuencias </a:t>
            </a:r>
            <a:r>
              <a:rPr lang="es-ES" dirty="0"/>
              <a:t>para una variable estadística cuantitativa o cualitativa representa el número de veces que se repite cada valor de la variable en una población o en una muestra</a:t>
            </a:r>
          </a:p>
          <a:p>
            <a:r>
              <a:rPr lang="es-ES" dirty="0"/>
              <a:t>Los principales </a:t>
            </a:r>
            <a:r>
              <a:rPr lang="es-ES" b="1" dirty="0"/>
              <a:t>gráficos estadísticos </a:t>
            </a:r>
            <a:r>
              <a:rPr lang="es-ES" dirty="0"/>
              <a:t>son el diagrama de barras, diagrama de tarta, diagrama de Pareto, histograma, polígono de frecuencias, diagrama de tallo y hojas (</a:t>
            </a:r>
            <a:r>
              <a:rPr lang="es-ES" i="1" dirty="0" err="1"/>
              <a:t>stem</a:t>
            </a:r>
            <a:r>
              <a:rPr lang="es-ES" i="1" dirty="0"/>
              <a:t>-and-</a:t>
            </a:r>
            <a:r>
              <a:rPr lang="es-ES" i="1" dirty="0" err="1"/>
              <a:t>leaf</a:t>
            </a:r>
            <a:r>
              <a:rPr lang="es-ES" i="1" dirty="0"/>
              <a:t> </a:t>
            </a:r>
            <a:r>
              <a:rPr lang="es-ES" i="1" dirty="0" err="1"/>
              <a:t>plot</a:t>
            </a:r>
            <a:r>
              <a:rPr lang="es-ES" dirty="0"/>
              <a:t>), y diagrama de caja (</a:t>
            </a:r>
            <a:r>
              <a:rPr lang="es-ES" i="1" dirty="0" err="1"/>
              <a:t>Boxplot</a:t>
            </a:r>
            <a:r>
              <a:rPr lang="es-ES" dirty="0"/>
              <a:t>)</a:t>
            </a:r>
          </a:p>
          <a:p>
            <a:r>
              <a:rPr lang="es-ES" dirty="0"/>
              <a:t>La </a:t>
            </a:r>
            <a:r>
              <a:rPr lang="es-ES" b="1" dirty="0"/>
              <a:t>estadística descriptiva bidimensional </a:t>
            </a:r>
            <a:r>
              <a:rPr lang="es-ES" dirty="0"/>
              <a:t>describe simultáneamente dos variables estadísticas que representan dos propiedades diferentes de cada individuo de una población o muestra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98B7433-2CB8-D9F1-C703-714A75C87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60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609485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7965</TotalTime>
  <Words>6807</Words>
  <Application>Microsoft Office PowerPoint</Application>
  <PresentationFormat>Panorámica</PresentationFormat>
  <Paragraphs>1761</Paragraphs>
  <Slides>60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60</vt:i4>
      </vt:variant>
    </vt:vector>
  </HeadingPairs>
  <TitlesOfParts>
    <vt:vector size="66" baseType="lpstr">
      <vt:lpstr>Arial</vt:lpstr>
      <vt:lpstr>Calibri</vt:lpstr>
      <vt:lpstr>Calibri Light</vt:lpstr>
      <vt:lpstr>Cambria Math</vt:lpstr>
      <vt:lpstr>Wingdings</vt:lpstr>
      <vt:lpstr>Tema de Office</vt:lpstr>
      <vt:lpstr>Estadística descriptiva</vt:lpstr>
      <vt:lpstr>Contenidos</vt:lpstr>
      <vt:lpstr>4. Tabla de frecuencias</vt:lpstr>
      <vt:lpstr>4. Tabla de frecuencias Columnas</vt:lpstr>
      <vt:lpstr>4. Tabla de frecuencias Ejemplo 8.12 (tiempo de CPU)</vt:lpstr>
      <vt:lpstr>4. Tabla de frecuencias Ejemplo 8.12 (solución)</vt:lpstr>
      <vt:lpstr>4. Tabla de frecuencias Ejemplo con una variable cualitativa</vt:lpstr>
      <vt:lpstr>4. Tabla de frecuencias Tabla de frecuencias para datos agrupados</vt:lpstr>
      <vt:lpstr>4. Tabla de frecuencias Datos agrupados. Ejemplo 8.12 (tiempo de CPU)</vt:lpstr>
      <vt:lpstr>4. Tabla de frecuencias Datos agrupados. Ejemplo 8.12 (solución)</vt:lpstr>
      <vt:lpstr>4. Tabla de frecuencias Datos agrupados: Tamaño del intervalo</vt:lpstr>
      <vt:lpstr>4. Tabla de frecuencias Cálculo de medidas estadísticas</vt:lpstr>
      <vt:lpstr>4. Tabla de frecuencias Cálculo de medidas estadísticas. Datos agrupados</vt:lpstr>
      <vt:lpstr>4. Tabla de frecuencias Cálculo de medidas estadísticas. Ejemplo</vt:lpstr>
      <vt:lpstr>4. Tabla de frecuencias Ejercicios propuestos</vt:lpstr>
      <vt:lpstr>5. Gráficos estadísticos</vt:lpstr>
      <vt:lpstr>5. Gráficos estadísticos Diagrama de barras</vt:lpstr>
      <vt:lpstr>5. Gráficos estadísticos Diagrama de barras. Ejemplo 8.12</vt:lpstr>
      <vt:lpstr>5. Gráficos estadísticos Diagrama de Pareto</vt:lpstr>
      <vt:lpstr>5. Gráficos estadísticos Diagrama de Pareto. Ejemplo 8.12</vt:lpstr>
      <vt:lpstr>5. Gráficos estadísticos Diagrama de tarta</vt:lpstr>
      <vt:lpstr>5. Gráficos estadísticos Diagrama de tarta. Ejemplo 8.12</vt:lpstr>
      <vt:lpstr>5. Gráficos estadísticos Histograma</vt:lpstr>
      <vt:lpstr>5. Gráficos estadísticos Histograma. Ejemplo 8.12</vt:lpstr>
      <vt:lpstr>5. Gráficos estadísticos Histograma. Ejemplo 8.12 (solución)(a)</vt:lpstr>
      <vt:lpstr>5. Gráficos estadísticos Histograma. Ejemplo 8.12 (solución)(b)</vt:lpstr>
      <vt:lpstr>5. Gráficos estadísticos Polígono de frecuencias</vt:lpstr>
      <vt:lpstr>5. Gráficos estadísticos Diagrama de tallo y hojas (Stem-and-leaf plot)</vt:lpstr>
      <vt:lpstr>5. Gráficos estadísticos Diagrama de tallo y hojas. Escala</vt:lpstr>
      <vt:lpstr>5. Gráficos estadísticos Diagrama de tallo y hojas vs Histograma</vt:lpstr>
      <vt:lpstr>5. Gráficos estadísticos Diagrama de caja (Boxplot)</vt:lpstr>
      <vt:lpstr>5. Gráficos estadísticos Diagrama de caja. Ejemplo 8.12</vt:lpstr>
      <vt:lpstr>5. Gráficos estadísticos Diagrama de caja. Ejemplo 8.12 (solución)</vt:lpstr>
      <vt:lpstr>5. Gráficos estadísticos Diagrama de caja vs Histograma</vt:lpstr>
      <vt:lpstr>5. Gráficos estadísticos Diagrama de caja vs Histograma. Ejemplo</vt:lpstr>
      <vt:lpstr>5. Gráficos estadísticos Diagrama de caja vs Histograma. Ejemplo (sol.)</vt:lpstr>
      <vt:lpstr>5. Gráficos estadísticos Diagrama de caja. Varias cajas</vt:lpstr>
      <vt:lpstr>5. Gráficos estadísticos Ejercicios propuestos</vt:lpstr>
      <vt:lpstr>6. Estadística descriptiva bidimensional</vt:lpstr>
      <vt:lpstr>6. Estadística descriptiva bidimensional Medidas estadísticas. Cálculo</vt:lpstr>
      <vt:lpstr>6. Estadística descriptiva bidimensional Medidas estadísticas. Coeficiente de correlación (I)</vt:lpstr>
      <vt:lpstr>6. Estadística descriptiva bidimensional Medidas estadísticas. Coeficiente de correlación</vt:lpstr>
      <vt:lpstr>6. Estadística descriptiva bidimensional Medidas estadísticas. Coef. de correlación. Ejemplo 8.22</vt:lpstr>
      <vt:lpstr>6. Estadística descriptiva bidimensional Medidas estadísticas. Coef. de correlación. Ejemplo 8.22 (sol.)</vt:lpstr>
      <vt:lpstr>6. Estadística descriptiva bidimensional Tabla de contingencia</vt:lpstr>
      <vt:lpstr>6. Estadística descriptiva bidimensional Tabla de contingencia. Ejemplo</vt:lpstr>
      <vt:lpstr>6. Estadística descriptiva bidimensional Tabla de contingencia. Datos agrupados</vt:lpstr>
      <vt:lpstr>6. Estadística descriptiva bidimensional Tabla de contingencia. Ejemplo datos agrupados</vt:lpstr>
      <vt:lpstr>6. Estadística descriptiva bidimensional Tabla de contingencia. Medidas marginales</vt:lpstr>
      <vt:lpstr>6. Estadística descriptiva bidimensional Tabla de contingencia. Medidas marginales. Ejemplo</vt:lpstr>
      <vt:lpstr>6. Estadística descriptiva bidimensional Tabla de contingencia. Medidas condicionadas</vt:lpstr>
      <vt:lpstr>6. Estadística descriptiva bidimensional Tabla de contingencia. Medidas condicionadas. Ejemplo</vt:lpstr>
      <vt:lpstr>6. Estadística descriptiva bidimensional Gráficos. Diagrama de barras</vt:lpstr>
      <vt:lpstr>6. Estadística descriptiva bidimensional Gráficos. Diagrama de dispersión</vt:lpstr>
      <vt:lpstr>6. Estadística descriptiva bidimensional Gráficos. Diagrama de dispersión (Ejemplo 8.20)</vt:lpstr>
      <vt:lpstr>6. Estadística descriptiva bidimensional Gráficos. Diag. dispersión (Ejemplo 8.20) (solución)</vt:lpstr>
      <vt:lpstr>6. Estadística descriptiva bidimensional Gráficos. Diagrama de dispersión (Ejemplo 8.22)</vt:lpstr>
      <vt:lpstr>6. Estadística descriptiva bidimensional Gráficos. Diag. dispersión (Ejemplo 8.22)(solución)</vt:lpstr>
      <vt:lpstr>6. Estadística descriptiva bidimensional Ejercicios propuestos</vt:lpstr>
      <vt:lpstr>7. Resumen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Estadistica descriptiva (2)</dc:title>
  <dc:creator/>
  <cp:lastModifiedBy>jose hilera</cp:lastModifiedBy>
  <cp:revision>185</cp:revision>
  <dcterms:created xsi:type="dcterms:W3CDTF">2022-12-26T19:51:11Z</dcterms:created>
  <dcterms:modified xsi:type="dcterms:W3CDTF">2024-07-24T06:42:52Z</dcterms:modified>
</cp:coreProperties>
</file>