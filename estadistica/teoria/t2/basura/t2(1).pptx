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56" r:id="rId2"/>
    <p:sldId id="258" r:id="rId3"/>
    <p:sldId id="515" r:id="rId4"/>
    <p:sldId id="516" r:id="rId5"/>
    <p:sldId id="260" r:id="rId6"/>
    <p:sldId id="525" r:id="rId7"/>
    <p:sldId id="527" r:id="rId8"/>
    <p:sldId id="528" r:id="rId9"/>
    <p:sldId id="529" r:id="rId10"/>
    <p:sldId id="526" r:id="rId11"/>
    <p:sldId id="267" r:id="rId12"/>
    <p:sldId id="530" r:id="rId13"/>
    <p:sldId id="531" r:id="rId14"/>
    <p:sldId id="540" r:id="rId15"/>
    <p:sldId id="533" r:id="rId16"/>
    <p:sldId id="534" r:id="rId17"/>
    <p:sldId id="541" r:id="rId18"/>
    <p:sldId id="564" r:id="rId19"/>
    <p:sldId id="542" r:id="rId20"/>
    <p:sldId id="546" r:id="rId21"/>
    <p:sldId id="547" r:id="rId22"/>
    <p:sldId id="543" r:id="rId23"/>
    <p:sldId id="544" r:id="rId24"/>
    <p:sldId id="545" r:id="rId25"/>
    <p:sldId id="548" r:id="rId26"/>
    <p:sldId id="535" r:id="rId27"/>
    <p:sldId id="536" r:id="rId28"/>
    <p:sldId id="539" r:id="rId29"/>
    <p:sldId id="554" r:id="rId30"/>
    <p:sldId id="537" r:id="rId31"/>
    <p:sldId id="538" r:id="rId32"/>
    <p:sldId id="549" r:id="rId33"/>
    <p:sldId id="550" r:id="rId34"/>
    <p:sldId id="551" r:id="rId35"/>
    <p:sldId id="552" r:id="rId36"/>
    <p:sldId id="555" r:id="rId37"/>
    <p:sldId id="556" r:id="rId38"/>
    <p:sldId id="557" r:id="rId39"/>
    <p:sldId id="558" r:id="rId40"/>
    <p:sldId id="559" r:id="rId41"/>
    <p:sldId id="560" r:id="rId42"/>
    <p:sldId id="561" r:id="rId43"/>
    <p:sldId id="562" r:id="rId44"/>
    <p:sldId id="563" r:id="rId45"/>
    <p:sldId id="475" r:id="rId4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4809" autoAdjust="0"/>
  </p:normalViewPr>
  <p:slideViewPr>
    <p:cSldViewPr snapToGrid="0">
      <p:cViewPr varScale="1">
        <p:scale>
          <a:sx n="69" d="100"/>
          <a:sy n="69" d="100"/>
        </p:scale>
        <p:origin x="12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993FA-F4EB-4F5C-AC0E-D19D76C7FE18}" type="datetimeFigureOut">
              <a:rPr lang="es-ES" smtClean="0"/>
              <a:t>28/08/2024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7C101-15E4-4D70-A114-C89E83A70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43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C101-15E4-4D70-A114-C89E83A709C8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7339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C101-15E4-4D70-A114-C89E83A709C8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3697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C101-15E4-4D70-A114-C89E83A709C8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7228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C101-15E4-4D70-A114-C89E83A709C8}" type="slidenum">
              <a:rPr lang="es-ES" smtClean="0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7083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0737A-30E0-41A2-B461-25A548C91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BE166C-5633-4873-B852-3A4F5546F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9014F-1DFE-4927-921F-4E53CB68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5FDD-93E9-4DED-94FB-E13CBFB13D77}" type="datetime1">
              <a:rPr lang="es-ES" smtClean="0"/>
              <a:t>28/08/2024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D05DA-9B6F-44F8-A333-ABA84FFE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41CCAC-F1C7-439D-A1C6-148B192B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29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16EB7-D1A7-4CEF-B7B0-D69F5E52A25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099EC-4D79-4FBE-A0F3-85058A8B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9089A4-937F-4BD1-809E-44AE307B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566B-D29A-48B5-AE66-02FE67909A5D}" type="datetime1">
              <a:rPr lang="es-ES" smtClean="0"/>
              <a:t>28/08/2024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26FFB-669E-4FEF-AAF4-FCBE8D20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302B3-AB25-45B7-A138-5DD3F6FD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336CAFD0-1F6E-4E11-9822-836563A0283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281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BB67B-96F2-4E3B-AD4B-986D490B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A24320-D7DC-4240-B4DF-339532FE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2E11C2-AD04-4ED6-82A4-3FD71B6F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50F2-204D-422E-A62C-8A2A95FE0EA0}" type="datetime1">
              <a:rPr lang="es-ES" smtClean="0"/>
              <a:t>28/08/2024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448CB-E41F-4F50-8E08-202E8756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FAE15-CF45-4AED-8356-CE6C9EE8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93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246AD-7BE6-483F-96A3-541DAD4B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C3E4F-C907-4C22-B083-DDF5EDF27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5065CB-41D1-4202-A34D-7BB99EB7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AE56AF-AE89-4D7B-A003-4931E6EA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192F-D937-48F6-B938-D4FF2285D339}" type="datetime1">
              <a:rPr lang="es-ES" smtClean="0"/>
              <a:t>28/08/2024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7D8F9-491C-4103-A8F2-5F9F0FA5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04D832-55CC-4538-B057-CA9881D9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388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EF558-0175-4BD0-979F-D483F1A0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74E40B-3DF7-44C5-860B-A36DE85FE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06F954-C6D4-4723-8E03-55A1E79F0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871A73-8828-4197-ADC1-0C21128F6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3081A4-0280-4B19-9B06-BA7D80769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340A08-2899-40F7-B8EE-A496CBD8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8F57-2DA1-4DBA-AA33-8D93DD9494F9}" type="datetime1">
              <a:rPr lang="es-ES" smtClean="0"/>
              <a:t>28/08/2024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5E94AC-0958-41A7-A416-28A3791B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A743E3-167E-4DC6-AF9F-963C2A2C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59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C0657-7B1A-442F-A5A8-F68C547D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0B9629-5B37-4C68-BCAF-4F204AD5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AA46-ADD9-4633-900E-54294B546C39}" type="datetime1">
              <a:rPr lang="es-ES" smtClean="0"/>
              <a:t>28/08/2024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496A21-694B-4235-9BDF-7FA776CD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C769F2-5C78-4519-AE94-E67F0F38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25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476251-88E2-4CBD-95F9-95E8112B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AD164-930E-44E1-8AD6-DA81FFB2E87B}" type="datetime1">
              <a:rPr lang="es-ES" smtClean="0"/>
              <a:t>28/08/2024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9AE1B3-12A0-41E5-8708-38E7CDE6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8E5739-F16D-4ED7-934D-15DD6F3F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49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5BC6A-6581-45ED-97B2-665F6CC3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E2A75-C11D-4D21-973A-6BD6B12AB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2970D4-7A79-4101-849B-C52805575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24EC5D-1BA5-4E28-9CF2-850714ED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9943-A7E6-4D67-A3E5-3CC6ADA523F1}" type="datetime1">
              <a:rPr lang="es-ES" smtClean="0"/>
              <a:t>28/08/2024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84FBFE-5582-479B-A6E8-8BD08A0B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81D782-F740-4365-8C21-A299A8B5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0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35E2E-4483-4902-9BE4-8F6FA962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9D67D1-94DE-4CC9-85D5-7FFF8811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44DCF8-D22F-4389-B4E4-967056334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62798B-5681-4C69-BB09-2388DA3C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2756-8293-4ED7-8C53-E15A36E0B819}" type="datetime1">
              <a:rPr lang="es-ES" smtClean="0"/>
              <a:t>28/08/2024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B9532C-97BB-441B-B506-C25F8CF2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D157D7-9A5A-414D-A0CA-96FAE873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9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7A50E-F7F5-4C4D-8B77-79BAEF2E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AFBB6D-17BE-4C49-BCCF-B5C5CFE9F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176D5-891E-44BA-B401-E3A04EAF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88EC-7283-4406-9DFD-E99FA692D75C}" type="datetime1">
              <a:rPr lang="es-ES" smtClean="0"/>
              <a:t>28/08/2024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34A99-FA15-4D15-97E2-3E17E0383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8D24B-343C-4B37-A9F6-33CE51FE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46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F92B8F-BB2D-45E5-A81C-009359D30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9973B1-2492-45DB-BA9B-BD3B59B4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7A9D75-FCEC-47C9-AA6E-4D2F6CFF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9286-D927-4095-B743-3451D71D767F}" type="datetime1">
              <a:rPr lang="es-ES" smtClean="0"/>
              <a:t>28/08/2024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0CC3E-8F0C-4A5B-B192-6F292AE4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C7BE2D-24E9-4481-AEB9-697A2447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17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3CBADE-FD33-4AF1-9F6F-A44E4356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4D713-AFC9-4141-B355-05ABF7893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666BF8-72F7-4108-81B8-D74BF52FE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EDC6-F719-4D5C-BB7F-D599F6A812F4}" type="datetime1">
              <a:rPr lang="es-ES" smtClean="0"/>
              <a:t>28/08/2024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F725B7-4457-4323-8704-24025C493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1E65A2-2681-4AF8-8875-39AE9558A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670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eilly.com/library-access/?next=/library/view/Probability-and-statistics/9781439875919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oyectodescartes.org/iCartesiLibri/materiales_didacticos/IntroduccionEstadisticaProbabilidad/4ESO/Estadistica/1Introduccion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yectodescartes.org/iCartesiLibri/materiales_didacticos/IntroduccionEstadisticaProbabilidad/4ESO/Estadistica/2_2CaracterTipos.html" TargetMode="External"/><Relationship Id="rId2" Type="http://schemas.openxmlformats.org/officeDocument/2006/relationships/hyperlink" Target="http://descargas.pntic.mec.es/cedec/mat3_2/contenidos/M3_U10/tipos_de_datos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oyectodescartes.org/iCartesiLibri/materiales_didacticos/IntroduccionEstadisticaProbabilidad/4ESO/Estadistica/2_2CaracterTipos.html" TargetMode="External"/><Relationship Id="rId2" Type="http://schemas.openxmlformats.org/officeDocument/2006/relationships/hyperlink" Target="http://descargas.pntic.mec.es/cedec/mat3_2/contenidos/M3_U10/tipos_de_datos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hyperlink" Target="https://blogs.sas.com/content/iml/2017/05/24/definitions-sample-quantiles.html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aepap.org/sites/default/files/curvas_oms.pdf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ost/What_are_the_acceptable_values_for_the_percentage_deviation_DEV_and_the_coefficient_of_variance_CV" TargetMode="External"/><Relationship Id="rId2" Type="http://schemas.openxmlformats.org/officeDocument/2006/relationships/hyperlink" Target="https://es.wikipedia.org/wiki/Coeficiente_de_variaci%C3%B3n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victoryepes.blogs.upv.es/2022/02/21/que-hacemos-con-los-valores-atipicos-outlier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panol.libretexts.org/Estadisticas/Estadistica_Aplicada/Bioestadistica_-_Libro_de_texto_de_aprendizaje_abierto/Unit_1%3A_An%C3%A1lisis_Exploratorio_de_Datos/Una_Variable_Cuantitativa%3A_Introducci%C3%B3n" TargetMode="External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sas.com/content/iml/2017/05/24/definitions-sample-quantiles.html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stor.org/stable/pdf/2988433.pdf?refreqid=excelsior%3A05db5124871b449f7968c3e1ed528a91&amp;ab_segments=&amp;origin=&amp;acceptTC=1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5024B-BC8C-4A3E-B772-46F315976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Estadística descriptiva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6AD6E3-038F-4B94-A53F-314F158509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Contenidos adaptados del libro “</a:t>
            </a:r>
            <a:r>
              <a:rPr lang="en-US" dirty="0">
                <a:hlinkClick r:id="rId2"/>
              </a:rPr>
              <a:t>Probability and statistics for computer scientists, Second edition, M. Baron</a:t>
            </a:r>
            <a:r>
              <a:rPr lang="en-US" dirty="0"/>
              <a:t>” (</a:t>
            </a:r>
            <a:r>
              <a:rPr lang="en-US" dirty="0" err="1"/>
              <a:t>Capítulo</a:t>
            </a:r>
            <a:r>
              <a:rPr lang="en-US" dirty="0"/>
              <a:t> 8)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751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4652C-29A9-89EF-39F2-1A8D69D4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76B585-B497-85A0-6FF6-C94DD5F1F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Objetivos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Introducción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Cálculo de medidas estadísticas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Tabla de frecuencias (no está en el libro)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Gráficos estadísticos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Estadística descriptiva bidimensional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Resumen</a:t>
            </a:r>
          </a:p>
          <a:p>
            <a:pPr marL="514350" indent="-51435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1137E5-86B4-304F-08CB-613284F8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716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8D74D-BDDF-1C25-911B-86A5190A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2C495E-D52C-8834-4B07-A00D5887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Recordar conceptos de </a:t>
            </a:r>
            <a:r>
              <a:rPr lang="es-ES">
                <a:hlinkClick r:id="rId2"/>
              </a:rPr>
              <a:t>Estadística descriptiva</a:t>
            </a:r>
            <a:r>
              <a:rPr lang="es-ES"/>
              <a:t> </a:t>
            </a:r>
            <a:endParaRPr lang="es-ES" dirty="0"/>
          </a:p>
          <a:p>
            <a:r>
              <a:rPr lang="es-ES" dirty="0"/>
              <a:t>Diferenciar entre parámetro de una población y estadístico de una muestra</a:t>
            </a:r>
          </a:p>
          <a:p>
            <a:r>
              <a:rPr lang="es-ES" dirty="0"/>
              <a:t>Calcular medidas estadísticas de una población y de una muestra</a:t>
            </a:r>
          </a:p>
          <a:p>
            <a:r>
              <a:rPr lang="es-ES" dirty="0"/>
              <a:t>Elaborar tablas de frecuencias</a:t>
            </a:r>
          </a:p>
          <a:p>
            <a:r>
              <a:rPr lang="es-ES" dirty="0"/>
              <a:t>Dibujar e interpretar gráficos estadísticos 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451FA0-398C-1AA8-C03C-622472FA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594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80CEB-5CDA-51E5-519F-81316B43E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1AAADC-6D5A-3B33-A02F-A8CECC3D7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 Estadística descriptiva es la rama de la Estadística que describe un conjunto de datos numéricamente y gráficamente</a:t>
            </a:r>
          </a:p>
          <a:p>
            <a:pPr lvl="1"/>
            <a:r>
              <a:rPr lang="es-ES" dirty="0"/>
              <a:t>Para ello, se utilizan medidas estadísticas (media, mediana, moda, varianza, desviación estándar, rango, etc.),  </a:t>
            </a:r>
          </a:p>
          <a:p>
            <a:pPr lvl="1"/>
            <a:r>
              <a:rPr lang="es-ES" dirty="0"/>
              <a:t>y gráficos estadísticos (diagrama de barras, histograma, diagrama de sectores, diagrama de dispersión, diagrama de caja o </a:t>
            </a:r>
            <a:r>
              <a:rPr lang="es-ES" dirty="0" err="1"/>
              <a:t>boxplot</a:t>
            </a:r>
            <a:r>
              <a:rPr lang="es-ES" dirty="0"/>
              <a:t>, etc.)</a:t>
            </a:r>
          </a:p>
          <a:p>
            <a:r>
              <a:rPr lang="es-ES" dirty="0"/>
              <a:t>Las medidas estadísticas pueden referirse a:</a:t>
            </a:r>
          </a:p>
          <a:p>
            <a:pPr lvl="1"/>
            <a:r>
              <a:rPr lang="es-ES" dirty="0"/>
              <a:t>Una población: se denominan “parámetros” de la población (media poblacional, varianza poblacional, ...)</a:t>
            </a:r>
          </a:p>
          <a:p>
            <a:pPr lvl="1"/>
            <a:r>
              <a:rPr lang="es-ES" dirty="0"/>
              <a:t>Una muestra de una población: se denominan estadísticos de la muestra (media muestral, varianza muestral, …)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6D72D4-D241-BE9E-70E6-03E92F6C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065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41297-1AEF-F386-69A2-F48BF9DA6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Introducción</a:t>
            </a:r>
            <a:br>
              <a:rPr lang="es-ES" dirty="0"/>
            </a:br>
            <a:r>
              <a:rPr lang="es-ES" dirty="0"/>
              <a:t>Definiciones (población, muestra, muestreo)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CBE9C6-65FE-ADCC-D84A-CDA17E951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20883" cy="4667250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Población (</a:t>
            </a:r>
            <a:r>
              <a:rPr lang="es-ES" i="1" dirty="0" err="1"/>
              <a:t>Population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Todas las unidades, individuos o elementos de interés sobre cuyas propiedades (peso, tamaño, etc.) se quiere realizar un estudio estadístico (descriptivo o inferencial). </a:t>
            </a:r>
          </a:p>
          <a:p>
            <a:pPr lvl="1"/>
            <a:r>
              <a:rPr lang="es-ES" dirty="0"/>
              <a:t>Pueden ser personas, animales, planetas, cosas, ..</a:t>
            </a:r>
          </a:p>
          <a:p>
            <a:r>
              <a:rPr lang="es-ES" dirty="0"/>
              <a:t>Muestra (</a:t>
            </a:r>
            <a:r>
              <a:rPr lang="es-ES" i="1" dirty="0" err="1"/>
              <a:t>Sample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Subconjunto de una población compuesto por una parte de los elementos de la población (denominadas observaciones). </a:t>
            </a:r>
          </a:p>
          <a:p>
            <a:r>
              <a:rPr lang="es-ES" dirty="0"/>
              <a:t>Muestreo (</a:t>
            </a:r>
            <a:r>
              <a:rPr lang="es-ES" i="1" dirty="0" err="1"/>
              <a:t>Sampling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Acción de creación de una muestra y recolección de los valores de las propiedades de los elementos incluidos en la muestra.    </a:t>
            </a:r>
          </a:p>
          <a:p>
            <a:pPr lvl="1"/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1194E6-CC18-5F91-7917-DFF01E08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</a:t>
            </a:fld>
            <a:endParaRPr lang="es-ES" dirty="0"/>
          </a:p>
        </p:txBody>
      </p:sp>
      <p:pic>
        <p:nvPicPr>
          <p:cNvPr id="5" name="Marcador de contenido 5">
            <a:extLst>
              <a:ext uri="{FF2B5EF4-FFF2-40B4-BE49-F238E27FC236}">
                <a16:creationId xmlns:a16="http://schemas.microsoft.com/office/drawing/2014/main" id="{AA81F644-79C6-B418-5200-206A1EE3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314" y="2342360"/>
            <a:ext cx="4679912" cy="276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4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41297-1AEF-F386-69A2-F48BF9DA6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Introducción</a:t>
            </a:r>
            <a:br>
              <a:rPr lang="es-ES" dirty="0"/>
            </a:br>
            <a:r>
              <a:rPr lang="es-ES" dirty="0"/>
              <a:t>Definiciones (variable estadística)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CBE9C6-65FE-ADCC-D84A-CDA17E951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s-ES" dirty="0"/>
              <a:t>Una variable estadística es una propiedad de un individuo de una población o muestra</a:t>
            </a:r>
          </a:p>
          <a:p>
            <a:pPr lvl="1"/>
            <a:r>
              <a:rPr lang="es-ES" dirty="0"/>
              <a:t>Por ejemplo, la edad de cada persona en una población o muestra de personas es una variable estadística</a:t>
            </a:r>
          </a:p>
          <a:p>
            <a:pPr lvl="1"/>
            <a:r>
              <a:rPr lang="es-ES" dirty="0"/>
              <a:t>Se suele utilizar también el término “elemento” para referirse a “individuo”</a:t>
            </a:r>
          </a:p>
          <a:p>
            <a:pPr lvl="1"/>
            <a:r>
              <a:rPr lang="es-ES" dirty="0"/>
              <a:t>Se suele utilizar también el término “carácter” para referirse a “propiedad” </a:t>
            </a:r>
          </a:p>
          <a:p>
            <a:pPr lvl="1"/>
            <a:r>
              <a:rPr lang="es-ES" dirty="0"/>
              <a:t>El valor de la variable para un individuo concreto se denomina </a:t>
            </a:r>
            <a:r>
              <a:rPr lang="es-ES" b="1" dirty="0"/>
              <a:t>observación</a:t>
            </a:r>
            <a:endParaRPr lang="es-ES" dirty="0"/>
          </a:p>
          <a:p>
            <a:pPr lvl="2"/>
            <a:r>
              <a:rPr lang="es-ES" dirty="0"/>
              <a:t>Por ejemplo, en una muestra de 3 personas, se podrían tener como observaciones de la variable EDAD: 34, 18 y 45 años, como la edad de cada una de las tres personas</a:t>
            </a:r>
          </a:p>
          <a:p>
            <a:r>
              <a:rPr lang="es-ES" dirty="0"/>
              <a:t>Tipos de variables estadísticas</a:t>
            </a:r>
          </a:p>
          <a:p>
            <a:pPr lvl="1"/>
            <a:r>
              <a:rPr lang="es-ES" dirty="0"/>
              <a:t>Cualitativas</a:t>
            </a:r>
          </a:p>
          <a:p>
            <a:pPr lvl="1"/>
            <a:r>
              <a:rPr lang="es-ES" dirty="0"/>
              <a:t>Cuantitativas</a:t>
            </a:r>
          </a:p>
          <a:p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1194E6-CC18-5F91-7917-DFF01E08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89260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10CE6-8D7B-C8D7-B148-A345BD1C8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Introducción</a:t>
            </a:r>
            <a:br>
              <a:rPr lang="es-ES" dirty="0"/>
            </a:br>
            <a:r>
              <a:rPr lang="es-ES" dirty="0"/>
              <a:t>Definiciones (variable estadística cualitativa)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71D693-E4C2-87E7-B37A-D83C7F061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También llamada variable categórica</a:t>
            </a:r>
          </a:p>
          <a:p>
            <a:r>
              <a:rPr lang="es-ES" dirty="0"/>
              <a:t>Es aquella en la que los valores posibles no son valores numéricos. </a:t>
            </a:r>
          </a:p>
          <a:p>
            <a:r>
              <a:rPr lang="es-ES" dirty="0"/>
              <a:t>Por ejemplo: estado de salud de una persona, eficiencia energética de un televisor, color de un coche, …</a:t>
            </a:r>
          </a:p>
          <a:p>
            <a:r>
              <a:rPr lang="es-ES" dirty="0"/>
              <a:t>Puede ser</a:t>
            </a:r>
          </a:p>
          <a:p>
            <a:pPr lvl="1"/>
            <a:r>
              <a:rPr lang="es-ES" dirty="0"/>
              <a:t>Dicotómica: Cuando puede tener sólo dos valores. Ejemplo: estado de salud de una persona: (sana, enferma).</a:t>
            </a:r>
          </a:p>
          <a:p>
            <a:pPr lvl="1"/>
            <a:r>
              <a:rPr lang="es-ES" dirty="0"/>
              <a:t>Ordinal: Cuando tiene sentido establecer un orden secuencial o jerarquía. Ejemplo: eficiencia energética de un televisor (A, B, C, D, E, F, G)</a:t>
            </a:r>
          </a:p>
          <a:p>
            <a:pPr lvl="1"/>
            <a:r>
              <a:rPr lang="es-ES" dirty="0"/>
              <a:t>Nominal: Aquellas que no sugieren ningún orden o jerarquía. Ejemplo: color de un coche (blanco, rojo, azul, …) </a:t>
            </a:r>
          </a:p>
          <a:p>
            <a:r>
              <a:rPr lang="es-ES" dirty="0"/>
              <a:t>Otros ejemplos: </a:t>
            </a:r>
            <a:r>
              <a:rPr lang="es-ES" dirty="0">
                <a:hlinkClick r:id="rId2"/>
              </a:rPr>
              <a:t>mec.es</a:t>
            </a:r>
            <a:r>
              <a:rPr lang="es-ES" dirty="0"/>
              <a:t>, </a:t>
            </a:r>
            <a:r>
              <a:rPr lang="es-ES" dirty="0">
                <a:hlinkClick r:id="rId3"/>
              </a:rPr>
              <a:t>proyectodescartes.org</a:t>
            </a:r>
            <a:r>
              <a:rPr lang="es-ES" dirty="0"/>
              <a:t>	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B4018B-F762-F257-6217-42F64C7B0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6387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10CE6-8D7B-C8D7-B148-A345BD1C8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Introducción</a:t>
            </a:r>
            <a:br>
              <a:rPr lang="es-ES" dirty="0"/>
            </a:br>
            <a:r>
              <a:rPr lang="es-ES" dirty="0"/>
              <a:t>Definiciones (variable estadística cuantitativa)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71D693-E4C2-87E7-B37A-D83C7F061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También llamada variable numérica</a:t>
            </a:r>
          </a:p>
          <a:p>
            <a:r>
              <a:rPr lang="es-ES" dirty="0"/>
              <a:t>Es aquella en la que los valores posibles son </a:t>
            </a:r>
            <a:r>
              <a:rPr lang="es-ES" dirty="0" err="1"/>
              <a:t>numéros</a:t>
            </a:r>
            <a:endParaRPr lang="es-ES" dirty="0"/>
          </a:p>
          <a:p>
            <a:r>
              <a:rPr lang="es-ES" dirty="0"/>
              <a:t>Por ejemplo: altura de una persona, número de puertas de un coche</a:t>
            </a:r>
          </a:p>
          <a:p>
            <a:r>
              <a:rPr lang="es-ES" dirty="0"/>
              <a:t>Puede ser</a:t>
            </a:r>
          </a:p>
          <a:p>
            <a:pPr lvl="1"/>
            <a:r>
              <a:rPr lang="es-ES" dirty="0"/>
              <a:t>Continua: Cuando se mide dentro de un rango continuo infinito de valores numéricos y se registra con números reales. Por ejemplo: altura de una persona ( 1,643m, 1,8m, 0,99m, …)</a:t>
            </a:r>
          </a:p>
          <a:p>
            <a:pPr lvl="1"/>
            <a:r>
              <a:rPr lang="es-ES" dirty="0"/>
              <a:t>Discreta o discontinua: Cuando sólo pueden tomar un número limitado de valores y se registra con números enteros. Ejemplo: número de puertas de un coche (2, 3, 4, 5, …)</a:t>
            </a:r>
          </a:p>
          <a:p>
            <a:r>
              <a:rPr lang="es-ES" dirty="0"/>
              <a:t>Otros ejemplos: </a:t>
            </a:r>
            <a:r>
              <a:rPr lang="es-ES" dirty="0">
                <a:hlinkClick r:id="rId2"/>
              </a:rPr>
              <a:t>mec.es</a:t>
            </a:r>
            <a:r>
              <a:rPr lang="es-ES" dirty="0"/>
              <a:t>, </a:t>
            </a:r>
            <a:r>
              <a:rPr lang="es-ES" dirty="0">
                <a:hlinkClick r:id="rId3"/>
              </a:rPr>
              <a:t>proyectodescartes.org</a:t>
            </a:r>
            <a:r>
              <a:rPr lang="es-ES" dirty="0"/>
              <a:t>	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B4018B-F762-F257-6217-42F64C7B0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0321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41297-1AEF-F386-69A2-F48BF9DA6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Introducción</a:t>
            </a:r>
            <a:br>
              <a:rPr lang="es-ES" dirty="0"/>
            </a:br>
            <a:r>
              <a:rPr lang="es-ES" dirty="0"/>
              <a:t>Definiciones (parámetro, estadístico)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7CBE9C6-65FE-ADCC-D84A-CDA17E9517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320883" cy="503237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Parámetro (de una población) (</a:t>
                </a:r>
                <a:r>
                  <a:rPr lang="es-ES" i="1" dirty="0" err="1"/>
                  <a:t>Parameter</a:t>
                </a:r>
                <a:r>
                  <a:rPr lang="es-ES" dirty="0"/>
                  <a:t>)</a:t>
                </a:r>
              </a:p>
              <a:p>
                <a:pPr lvl="1"/>
                <a:r>
                  <a:rPr lang="es-ES" dirty="0"/>
                  <a:t>Una característica numérica sobre una variable estadística (propiedad de los individuos) de una población</a:t>
                </a:r>
              </a:p>
              <a:p>
                <a:pPr lvl="1"/>
                <a:r>
                  <a:rPr lang="es-ES" dirty="0"/>
                  <a:t>Se utiliza para hacer afirmaciones sobre una variable estadística de la población</a:t>
                </a:r>
              </a:p>
              <a:p>
                <a:pPr lvl="1"/>
                <a:r>
                  <a:rPr lang="es-ES" dirty="0"/>
                  <a:t>Por ejemplo, media poblacional (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" dirty="0"/>
                  <a:t>), mediana poblacional (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" dirty="0"/>
                  <a:t>), varianza poblacional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dirty="0"/>
                  <a:t>), …</a:t>
                </a:r>
              </a:p>
              <a:p>
                <a:r>
                  <a:rPr lang="es-ES" dirty="0"/>
                  <a:t>Estadístico (de una muestra) (</a:t>
                </a:r>
                <a:r>
                  <a:rPr lang="es-ES" i="1" dirty="0" err="1"/>
                  <a:t>Statistic</a:t>
                </a:r>
                <a:r>
                  <a:rPr lang="es-ES" dirty="0"/>
                  <a:t>)</a:t>
                </a:r>
              </a:p>
              <a:p>
                <a:pPr lvl="1"/>
                <a:r>
                  <a:rPr lang="es-ES" dirty="0"/>
                  <a:t>Una característica numérica sobre una variable estadística (propiedad de los individuos) de una muestra</a:t>
                </a:r>
              </a:p>
              <a:p>
                <a:pPr lvl="1"/>
                <a:r>
                  <a:rPr lang="es-ES" dirty="0"/>
                  <a:t>Se utiliza como estimador del posible valor de un parámetro. </a:t>
                </a:r>
              </a:p>
              <a:p>
                <a:pPr lvl="1"/>
                <a:r>
                  <a:rPr lang="es-ES" dirty="0"/>
                  <a:t>Por ejemplo, media muestral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ES" dirty="0"/>
                  <a:t>), mediana muestral (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" dirty="0"/>
                  <a:t>), varianza muestral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dirty="0"/>
                  <a:t>), …</a:t>
                </a:r>
              </a:p>
              <a:p>
                <a:r>
                  <a:rPr lang="es-ES" dirty="0"/>
                  <a:t>Los parámetros y estadísticos son </a:t>
                </a:r>
                <a:r>
                  <a:rPr lang="es-ES" b="1" dirty="0"/>
                  <a:t>medidas estadísticas</a:t>
                </a:r>
              </a:p>
              <a:p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7CBE9C6-65FE-ADCC-D84A-CDA17E9517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320883" cy="5032375"/>
              </a:xfrm>
              <a:blipFill>
                <a:blip r:embed="rId2"/>
                <a:stretch>
                  <a:fillRect l="-1351" t="-2785" r="-154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1194E6-CC18-5F91-7917-DFF01E08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9</a:t>
            </a:fld>
            <a:endParaRPr lang="es-ES" dirty="0"/>
          </a:p>
        </p:txBody>
      </p:sp>
      <p:pic>
        <p:nvPicPr>
          <p:cNvPr id="5" name="Marcador de contenido 5">
            <a:extLst>
              <a:ext uri="{FF2B5EF4-FFF2-40B4-BE49-F238E27FC236}">
                <a16:creationId xmlns:a16="http://schemas.microsoft.com/office/drawing/2014/main" id="{AA81F644-79C6-B418-5200-206A1EE3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314" y="2342360"/>
            <a:ext cx="4679912" cy="276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9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00F2F-092F-0A0D-0483-D1AC96EC7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1CE922-6003-0740-C9FD-770D35CFA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Hay notaciones y fórmulas diferentes para las medidas sobre</a:t>
            </a:r>
          </a:p>
          <a:p>
            <a:pPr lvl="1"/>
            <a:r>
              <a:rPr lang="es-ES" dirty="0"/>
              <a:t>una población (medidas poblacionales)</a:t>
            </a:r>
          </a:p>
          <a:p>
            <a:pPr lvl="1"/>
            <a:r>
              <a:rPr lang="es-ES" dirty="0"/>
              <a:t>una muestra (medidas muestrales)</a:t>
            </a:r>
          </a:p>
          <a:p>
            <a:r>
              <a:rPr lang="es-ES" dirty="0"/>
              <a:t>Las medidas se pueden clasificar en</a:t>
            </a:r>
          </a:p>
          <a:p>
            <a:pPr lvl="1"/>
            <a:r>
              <a:rPr lang="es-ES" dirty="0"/>
              <a:t>Tamaño</a:t>
            </a:r>
          </a:p>
          <a:p>
            <a:pPr lvl="1"/>
            <a:r>
              <a:rPr lang="es-ES" dirty="0"/>
              <a:t>Medidas de centralización</a:t>
            </a:r>
          </a:p>
          <a:p>
            <a:pPr lvl="1"/>
            <a:r>
              <a:rPr lang="es-ES" dirty="0"/>
              <a:t>Medidas de localización o posición</a:t>
            </a:r>
          </a:p>
          <a:p>
            <a:pPr lvl="1"/>
            <a:r>
              <a:rPr lang="es-ES" dirty="0"/>
              <a:t>Medidas de dispersión o variabilidad</a:t>
            </a:r>
          </a:p>
          <a:p>
            <a:pPr lvl="1"/>
            <a:r>
              <a:rPr lang="es-ES" dirty="0"/>
              <a:t>Medidas de forma (no está en el libro)</a:t>
            </a:r>
          </a:p>
          <a:p>
            <a:pPr lvl="1"/>
            <a:r>
              <a:rPr lang="es-ES" dirty="0"/>
              <a:t>Proporción (no está en el libro)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E1AD18-390B-9C58-7928-4C2071716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1622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Tamaño (de una población o de una muestra)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6E29653-BDC0-220A-A858-6207B896A4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ES" dirty="0"/>
                  <a:t>Tamaño de una población: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Población (</a:t>
                </a:r>
                <a:r>
                  <a:rPr lang="es-ES" i="1" dirty="0" err="1"/>
                  <a:t>Poblation</a:t>
                </a:r>
                <a:r>
                  <a:rPr lang="es-ES" dirty="0"/>
                  <a:t>):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,..,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dirty="0"/>
                  <a:t> es el valor de la propiedad (variable estadística)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dirty="0"/>
                  <a:t> para el elemento (individuo)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dirty="0"/>
                  <a:t> de la población</a:t>
                </a:r>
              </a:p>
              <a:p>
                <a:pPr lvl="2"/>
                <a:r>
                  <a:rPr lang="es-ES" dirty="0"/>
                  <a:t>Ejemplo: si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dirty="0"/>
                  <a:t> representa el peso de una persona de una población,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es el peso de la persona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dirty="0"/>
                  <a:t> del total de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dirty="0"/>
                  <a:t> personas de la población</a:t>
                </a:r>
              </a:p>
              <a:p>
                <a:r>
                  <a:rPr lang="es-ES" dirty="0"/>
                  <a:t>Tamaño de una muestra: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Muestra (</a:t>
                </a:r>
                <a:r>
                  <a:rPr lang="es-ES" i="1" dirty="0" err="1"/>
                  <a:t>Sample</a:t>
                </a:r>
                <a:r>
                  <a:rPr lang="es-ES" dirty="0"/>
                  <a:t>):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,..,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s-ES" dirty="0"/>
                  <a:t>  Siendo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dirty="0"/>
                  <a:t> es el valor de la propiedad (variable estadística)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dirty="0"/>
                  <a:t> para el elemento (individuo)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dirty="0"/>
                  <a:t> de la muestra</a:t>
                </a:r>
              </a:p>
              <a:p>
                <a:pPr lvl="2"/>
                <a:r>
                  <a:rPr lang="es-ES" dirty="0"/>
                  <a:t>Ejemplo: si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dirty="0"/>
                  <a:t> representa el peso de una persona de una muestra, entonces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es el peso de la persona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dirty="0"/>
                  <a:t> del total de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dirty="0"/>
                  <a:t> personas de la muestra</a:t>
                </a:r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6E29653-BDC0-220A-A858-6207B896A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52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4001206"/>
                  </p:ext>
                </p:extLst>
              </p:nvPr>
            </p:nvGraphicFramePr>
            <p:xfrm>
              <a:off x="1943411" y="5895817"/>
              <a:ext cx="8127999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Tamaño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04133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4001206"/>
                  </p:ext>
                </p:extLst>
              </p:nvPr>
            </p:nvGraphicFramePr>
            <p:xfrm>
              <a:off x="1943411" y="5895817"/>
              <a:ext cx="8127999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Tamaño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3"/>
                          <a:stretch>
                            <a:fillRect l="-100225" t="-108197" r="-10044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3"/>
                          <a:stretch>
                            <a:fillRect l="-200225" t="-108197" r="-449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04133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4858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centralización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E29653-BDC0-220A-A858-6207B896A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Las medidas de centralización o de posición de tendencia central indican un valor alrededor del cual se distribuyen las observaciones</a:t>
            </a:r>
          </a:p>
          <a:p>
            <a:pPr lvl="1"/>
            <a:r>
              <a:rPr lang="es-ES" dirty="0"/>
              <a:t>Media: Es el promedio de los valores de las observaciones</a:t>
            </a:r>
          </a:p>
          <a:p>
            <a:pPr lvl="2"/>
            <a:r>
              <a:rPr lang="es-ES" dirty="0"/>
              <a:t>Aritmética: cociente entre la suma de todos los valores y el número de valores </a:t>
            </a:r>
          </a:p>
          <a:p>
            <a:pPr lvl="2"/>
            <a:r>
              <a:rPr lang="es-ES" dirty="0"/>
              <a:t>Otras medias: cuadrática, geométrica, ponderada, … </a:t>
            </a:r>
          </a:p>
          <a:p>
            <a:pPr lvl="1"/>
            <a:r>
              <a:rPr lang="es-ES" dirty="0"/>
              <a:t>Mediana: Es un número que es superado por, como máximo, la mitad de las observaciones y es precedido por, como máximo, la mitad de las observaciones</a:t>
            </a:r>
          </a:p>
          <a:p>
            <a:pPr lvl="1"/>
            <a:r>
              <a:rPr lang="es-ES" dirty="0"/>
              <a:t>Moda (no está en el libro): Es el valor (o valores) que más se repite. Puede haber varias modas </a:t>
            </a:r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4920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centralización (cálculo)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4480876"/>
                  </p:ext>
                </p:extLst>
              </p:nvPr>
            </p:nvGraphicFramePr>
            <p:xfrm>
              <a:off x="838200" y="1825625"/>
              <a:ext cx="10515600" cy="39662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36288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594302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58501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Media (aritmética)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𝜇</m:t>
                                </m:r>
                                <m:r>
                                  <a:rPr lang="es-ES_tradnl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_tradnl" sz="1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8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_tradnl" sz="18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8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s-ES_tradnl" sz="1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_tradnl" sz="1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8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_tradnl" sz="18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8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Mediana</a:t>
                          </a:r>
                        </a:p>
                        <a:p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 ordenan los N elementos de menor a mayor: </a:t>
                          </a:r>
                          <a:b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𝑃𝑜𝑏𝑙𝑎𝑐𝑖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ó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𝑜𝑟𝑑𝑒𝑛𝑎𝑑𝑎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,..,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/2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no es un número entero: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kern="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e>
                                    </m:d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/2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es un número entero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:  </a:t>
                          </a: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kern="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/2+1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 ordenan los n elementos de menor a mayor:</a:t>
                          </a:r>
                          <a:b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𝑀𝑢𝑒𝑠𝑡𝑟𝑎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𝑜𝑟𝑑𝑒𝑛𝑎𝑑𝑎</m:t>
                                </m:r>
                                <m:r>
                                  <a:rPr lang="es-ES" sz="1800" b="0" i="0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,..,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Si n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/2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no es un número entero: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s-ES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𝑀</m:t>
                                    </m:r>
                                  </m:e>
                                </m:acc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e>
                                    </m:d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n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/2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es un número entero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:  </a:t>
                          </a: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𝑀</m:t>
                                    </m:r>
                                  </m:e>
                                </m:acc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/2+1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Moda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18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_tradnl" sz="18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que más se repite</a:t>
                          </a: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18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ES_tradnl" sz="18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que más se repite</a:t>
                          </a: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4480876"/>
                  </p:ext>
                </p:extLst>
              </p:nvPr>
            </p:nvGraphicFramePr>
            <p:xfrm>
              <a:off x="838200" y="1825625"/>
              <a:ext cx="10515600" cy="39662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36288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594302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58501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649351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Media (aritmética)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29178" t="-61682" r="-100133" b="-466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129349" t="-61682" r="-266" b="-4663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2575243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Mediana</a:t>
                          </a:r>
                        </a:p>
                        <a:p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9178" t="-40898" r="-100133" b="-179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9349" t="-40898" r="-266" b="-179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Moda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9178" t="-977049" r="-10013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29349" t="-977049" r="-266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AB94093-620F-2EB1-8071-AA7F05812692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/>
              <p:nvPr/>
            </p:nvSpPr>
            <p:spPr>
              <a:xfrm>
                <a:off x="737838" y="6015692"/>
                <a:ext cx="99188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 dirty="0"/>
                  <a:t>NOTA: El operador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ú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𝑚𝑒𝑟𝑜</m:t>
                        </m:r>
                      </m:e>
                    </m:d>
                  </m:oMath>
                </a14:m>
                <a:r>
                  <a:rPr lang="es-ES" sz="1600" dirty="0"/>
                  <a:t> representa la función suelo, es decir, la parte entera del número que hay en su interior.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AB94093-620F-2EB1-8071-AA7F05812692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38" y="6015692"/>
                <a:ext cx="9918806" cy="338554"/>
              </a:xfrm>
              <a:prstGeom prst="rect">
                <a:avLst/>
              </a:prstGeom>
              <a:blipFill>
                <a:blip r:embed="rId3"/>
                <a:stretch>
                  <a:fillRect l="-307" t="-5455" b="-236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7448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centralización (interpretación)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E29653-BDC0-220A-A858-6207B896A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18717" cy="4351338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Si la mediana es igual a la media la distribución de los valores es simétrica</a:t>
            </a:r>
          </a:p>
          <a:p>
            <a:pPr lvl="1"/>
            <a:r>
              <a:rPr lang="es-ES" dirty="0"/>
              <a:t>Hay un número similar de valores inferiores y superiores a la media</a:t>
            </a:r>
          </a:p>
          <a:p>
            <a:r>
              <a:rPr lang="es-ES" dirty="0"/>
              <a:t>Si la mediana es menor que la media, la distribución de los valores es </a:t>
            </a:r>
            <a:r>
              <a:rPr lang="es-ES" dirty="0" err="1"/>
              <a:t>right-skewed</a:t>
            </a:r>
            <a:endParaRPr lang="es-ES" dirty="0"/>
          </a:p>
          <a:p>
            <a:pPr lvl="1"/>
            <a:r>
              <a:rPr lang="es-ES" dirty="0"/>
              <a:t>Asimétrica (sesgada) hacia la derecha</a:t>
            </a:r>
          </a:p>
          <a:p>
            <a:pPr lvl="1"/>
            <a:r>
              <a:rPr lang="es-ES" dirty="0"/>
              <a:t>Hay más valores por debajo de la media</a:t>
            </a:r>
          </a:p>
          <a:p>
            <a:r>
              <a:rPr lang="es-ES" dirty="0"/>
              <a:t>Si la mediana es menor que la media, la distribución de los valores es </a:t>
            </a:r>
            <a:r>
              <a:rPr lang="es-ES" dirty="0" err="1"/>
              <a:t>left-skewed</a:t>
            </a:r>
            <a:endParaRPr lang="es-ES" dirty="0"/>
          </a:p>
          <a:p>
            <a:pPr lvl="1"/>
            <a:r>
              <a:rPr lang="es-ES" dirty="0"/>
              <a:t>Asimétrica (sesgada) hacia la izquierda</a:t>
            </a:r>
          </a:p>
          <a:p>
            <a:pPr lvl="1"/>
            <a:r>
              <a:rPr lang="es-ES" dirty="0"/>
              <a:t>Hay más valores por encima de la media</a:t>
            </a:r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14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33C915-C1C6-C422-97A9-D3EFF58D9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153" y="2573577"/>
            <a:ext cx="5140711" cy="229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019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centralización. Ejemplo 8.12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Para evaluar la efectividad de un procesador para un determinado tipo de tareas, registramos el tiempo de CPU para una muestra de 30 trabajos elegidos aleatoriamente (en segundos)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70,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36,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43,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69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82,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48,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34,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62,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35,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15,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59,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139,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46,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37,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42,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30,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55,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56,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36,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82,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38,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89,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54,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25,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35,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24,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22,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9,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56,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s-ES" dirty="0"/>
              </a:p>
              <a:p>
                <a:r>
                  <a:rPr lang="es-ES" dirty="0"/>
                  <a:t>Calcular las siguientes medidas de centralización para la muestra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Media (aritmética)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Mediana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Moda (no está en el libro)</a:t>
                </a:r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0505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centralización. Ejemplo 8.12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ES" dirty="0"/>
                  <a:t>Primero ordenamos los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=30 </m:t>
                    </m:r>
                  </m:oMath>
                </a14:m>
                <a:r>
                  <a:rPr lang="es-ES" dirty="0"/>
                  <a:t>valores de menor a mayor</a:t>
                </a:r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9, 15, 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 22, 24, 25, 30, 34, 35, 35, 36, 36, 37, 38, 42, 43, 46, 48,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a) Media (aritmética)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lang="es-ES_tradnl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acc>
                    <m:r>
                      <a:rPr lang="es-ES_tradnl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es-ES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s-ES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naryPr>
                          <m:sub>
                            <m:r>
                              <a:rPr lang="es-ES_tradnl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lang="es-ES_tradnl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=1</m:t>
                            </m:r>
                          </m:sub>
                          <m:sup>
                            <m:r>
                              <a:rPr lang="es-ES_tradnl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es-ES_tradnl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s-ES_tradnl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ES_tradnl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den>
                    </m:f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9+15+…+89+139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1447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=48.23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𝑠𝑒𝑔</m:t>
                    </m:r>
                  </m:oMath>
                </a14:m>
                <a:endParaRPr lang="es-ES" dirty="0"/>
              </a:p>
              <a:p>
                <a:r>
                  <a:rPr lang="es-ES" dirty="0"/>
                  <a:t>b) Mediana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</m:acc>
                    <m:r>
                      <a:rPr lang="en-US" i="1" ker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i="1" ker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/2</m:t>
                            </m:r>
                          </m:sub>
                        </m:s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i="1" ker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i="1" ker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+2)/2</m:t>
                            </m:r>
                          </m:sub>
                        </m:sSub>
                      </m:num>
                      <m:den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b="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15</m:t>
                            </m:r>
                          </m:sub>
                        </m:sSub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16</m:t>
                            </m:r>
                          </m:sub>
                        </m:sSub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b="0" i="1" kern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42+43</m:t>
                        </m:r>
                      </m:num>
                      <m:den>
                        <m: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=42.5 </m:t>
                    </m:r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𝑠𝑒𝑔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Como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̅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ES" dirty="0"/>
                  <a:t>, la distribución de valores es asimétrica hacia la derecha (</a:t>
                </a:r>
                <a:r>
                  <a:rPr lang="es-ES" dirty="0" err="1"/>
                  <a:t>right-skewed</a:t>
                </a:r>
                <a:r>
                  <a:rPr lang="es-ES" dirty="0"/>
                  <a:t>), es decir hay más valores por debajo de la media (18 de 30).</a:t>
                </a:r>
              </a:p>
              <a:p>
                <a:r>
                  <a:rPr lang="es-ES" dirty="0"/>
                  <a:t>c) Moda</a:t>
                </a:r>
              </a:p>
              <a:p>
                <a:pPr lvl="1"/>
                <a:r>
                  <a:rPr lang="es-ES" dirty="0"/>
                  <a:t>Hay cuatro modas: 35, 36, 56 y 82, porque estos valores se repiten  2 veces</a:t>
                </a:r>
              </a:p>
              <a:p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6723" b="-23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9696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localización (o posición)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6E29653-BDC0-220A-A858-6207B896A4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Las medidas de localización o de posición de tendencia no central, permiten conocer otros puntos característicos de la distribución de los datos que no son los valores centrales. </a:t>
                </a:r>
              </a:p>
              <a:p>
                <a:r>
                  <a:rPr lang="es-ES" dirty="0"/>
                  <a:t>Son valores de la distribución que la dividen en partes iguales, es decir en intervalos (cuantiles) que comprenden el mismo número de datos</a:t>
                </a:r>
              </a:p>
              <a:p>
                <a:pPr lvl="1"/>
                <a:r>
                  <a:rPr lang="es-ES" dirty="0"/>
                  <a:t>Cuantiles: genérico</a:t>
                </a:r>
              </a:p>
              <a:p>
                <a:pPr lvl="2"/>
                <a:r>
                  <a:rPr lang="en-US" dirty="0"/>
                  <a:t>Un </a:t>
                </a:r>
                <a:r>
                  <a:rPr lang="en-US" dirty="0" err="1"/>
                  <a:t>cuantil</a:t>
                </a:r>
                <a:r>
                  <a:rPr lang="en-US" dirty="0"/>
                  <a:t> p es </a:t>
                </a:r>
                <a:r>
                  <a:rPr lang="en-US" dirty="0" err="1"/>
                  <a:t>cualquier</a:t>
                </a:r>
                <a:r>
                  <a:rPr lang="en-US" dirty="0"/>
                  <a:t> </a:t>
                </a:r>
                <a:r>
                  <a:rPr lang="en-US" dirty="0" err="1"/>
                  <a:t>número</a:t>
                </a:r>
                <a:r>
                  <a:rPr lang="en-US" dirty="0"/>
                  <a:t> que </a:t>
                </a:r>
                <a:r>
                  <a:rPr lang="en-US" dirty="0" err="1"/>
                  <a:t>supera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maximo al 100*p% de los </a:t>
                </a:r>
                <a:r>
                  <a:rPr lang="en-US" dirty="0" err="1"/>
                  <a:t>datos</a:t>
                </a:r>
                <a:r>
                  <a:rPr lang="en-US" dirty="0"/>
                  <a:t> y es </a:t>
                </a:r>
                <a:r>
                  <a:rPr lang="en-US" dirty="0" err="1"/>
                  <a:t>superado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</a:t>
                </a:r>
                <a:r>
                  <a:rPr lang="en-US" dirty="0" err="1"/>
                  <a:t>máximo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100*(1-p)% de los </a:t>
                </a:r>
                <a:r>
                  <a:rPr lang="en-US" dirty="0" err="1"/>
                  <a:t>datos</a:t>
                </a:r>
                <a:endParaRPr lang="es-ES" dirty="0"/>
              </a:p>
              <a:p>
                <a:pPr lvl="1"/>
                <a:r>
                  <a:rPr lang="es-ES" dirty="0"/>
                  <a:t>Percentiles: cien intervalos</a:t>
                </a:r>
              </a:p>
              <a:p>
                <a:pPr lvl="2"/>
                <a:r>
                  <a:rPr lang="en-US" dirty="0"/>
                  <a:t>Un </a:t>
                </a:r>
                <a:r>
                  <a:rPr lang="en-US" dirty="0" err="1"/>
                  <a:t>percentil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es </a:t>
                </a:r>
                <a:r>
                  <a:rPr lang="en-US" dirty="0" err="1"/>
                  <a:t>cualquier</a:t>
                </a:r>
                <a:r>
                  <a:rPr lang="en-US" dirty="0"/>
                  <a:t> </a:t>
                </a:r>
                <a:r>
                  <a:rPr lang="en-US" dirty="0" err="1"/>
                  <a:t>número</a:t>
                </a:r>
                <a:r>
                  <a:rPr lang="en-US" dirty="0"/>
                  <a:t> que </a:t>
                </a:r>
                <a:r>
                  <a:rPr lang="en-US" dirty="0" err="1"/>
                  <a:t>supera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maximo 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 los </a:t>
                </a:r>
                <a:r>
                  <a:rPr lang="en-US" dirty="0" err="1"/>
                  <a:t>datos</a:t>
                </a:r>
                <a:r>
                  <a:rPr lang="en-US" dirty="0"/>
                  <a:t>, y es </a:t>
                </a:r>
                <a:r>
                  <a:rPr lang="en-US" dirty="0" err="1"/>
                  <a:t>superado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maximo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(100−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de los </a:t>
                </a:r>
                <a:r>
                  <a:rPr lang="en-US" dirty="0" err="1"/>
                  <a:t>datos</a:t>
                </a:r>
                <a:endParaRPr lang="es-ES" dirty="0"/>
              </a:p>
              <a:p>
                <a:pPr lvl="1"/>
                <a:r>
                  <a:rPr lang="es-ES" dirty="0"/>
                  <a:t>Cuartiles: cuatro intervalos</a:t>
                </a:r>
              </a:p>
              <a:p>
                <a:pPr lvl="2"/>
                <a:r>
                  <a:rPr lang="es-ES" dirty="0"/>
                  <a:t>Primer cuartil: Es cualquier número que supera como máximo a una cuarta parte (1/4 o 25%) de los datos, y es superado como máximo por tres cuartas partes (3/4 o 75%) de las observaciones.</a:t>
                </a:r>
              </a:p>
              <a:p>
                <a:pPr lvl="2"/>
                <a:r>
                  <a:rPr lang="es-ES" dirty="0"/>
                  <a:t>Segundo cuartil: Es igual a la mediana</a:t>
                </a:r>
              </a:p>
              <a:p>
                <a:pPr lvl="2"/>
                <a:r>
                  <a:rPr lang="es-ES" dirty="0"/>
                  <a:t>Tercer cuartil: Es cualquier número que supera como máximo a las tres cuartas partes (3/4 o 75%) de los datos, y es superado como máximo por una cuarta parte (1/4 o 25%) de los datos.</a:t>
                </a:r>
              </a:p>
              <a:p>
                <a:pPr lvl="1"/>
                <a:endParaRPr lang="es-ES" dirty="0"/>
              </a:p>
              <a:p>
                <a:pPr lvl="2"/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6E29653-BDC0-220A-A858-6207B896A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812" t="-3003" r="-115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0061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2562A-B344-16B0-B9E9-23C2E24AB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localización. Ejemplos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9C38882-267E-921C-3BE0-3AEC698CB9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s-ES" dirty="0"/>
                  <a:t>Ejemplo de cuantil 0.2: con </a:t>
                </a:r>
                <a14:m>
                  <m:oMath xmlns:m="http://schemas.openxmlformats.org/officeDocument/2006/math">
                    <m:r>
                      <a:rPr lang="es-E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s-ES" dirty="0"/>
                  <a:t> y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=(1, 2, </m:t>
                    </m:r>
                    <m:r>
                      <a:rPr lang="es-E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, 4, 5, 6, 7, 8, 9, 10, 11)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El 100*0.2% de 11 datos es 2.2</a:t>
                </a:r>
              </a:p>
              <a:p>
                <a:pPr lvl="1"/>
                <a:r>
                  <a:rPr lang="es-ES" dirty="0"/>
                  <a:t>El 100*(1-0.2)% de 11 datos es 8.8</a:t>
                </a:r>
              </a:p>
              <a:p>
                <a:pPr lvl="1"/>
                <a:r>
                  <a:rPr lang="es-ES" dirty="0"/>
                  <a:t>El cuantil 0.2 es “3” porque se cumple que </a:t>
                </a:r>
              </a:p>
              <a:p>
                <a:pPr lvl="2"/>
                <a:r>
                  <a:rPr lang="es-ES" dirty="0"/>
                  <a:t>supera como maximo a 2.2 datos, ya que sólo supera a los 2 que tiene a su izquierda</a:t>
                </a:r>
              </a:p>
              <a:p>
                <a:pPr lvl="2"/>
                <a:r>
                  <a:rPr lang="es-ES" dirty="0"/>
                  <a:t>y es superado como máximo por 8.8 datos, ya que sólo es superado por los 8 que tiene a su derecha</a:t>
                </a:r>
              </a:p>
              <a:p>
                <a:r>
                  <a:rPr lang="es-ES" dirty="0"/>
                  <a:t>Ejemplo de cuantil 0.2: con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s-ES" dirty="0"/>
                  <a:t> y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=(1, 2, 3, 4, 5, 6, 7, 8, 9, 10)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El 100*0.2% de 10 datos es 2</a:t>
                </a:r>
              </a:p>
              <a:p>
                <a:pPr lvl="1"/>
                <a:r>
                  <a:rPr lang="es-ES" dirty="0"/>
                  <a:t>El 100*(1-0.2)% de 10 datos es 8</a:t>
                </a:r>
              </a:p>
              <a:p>
                <a:pPr lvl="1"/>
                <a:r>
                  <a:rPr lang="es-ES" dirty="0"/>
                  <a:t>Un cuantil 0.2 podría ser “2.5” porque </a:t>
                </a:r>
              </a:p>
              <a:p>
                <a:pPr lvl="2"/>
                <a:r>
                  <a:rPr lang="es-ES" dirty="0"/>
                  <a:t>supera como maximo a 2 datos, ya que el valor 2.5 sólo supera al 1 y al 2 </a:t>
                </a:r>
              </a:p>
              <a:p>
                <a:pPr lvl="2"/>
                <a:r>
                  <a:rPr lang="es-ES" dirty="0"/>
                  <a:t>y es superado como máximo por 8 datos, ya que 2.5 es superado por 3, 4, 5, 6, 7, 8, 9 y 10</a:t>
                </a:r>
              </a:p>
              <a:p>
                <a:pPr lvl="1"/>
                <a:r>
                  <a:rPr lang="es-ES" dirty="0"/>
                  <a:t>NOTA: En este caso, podría ser también 2.1, 2.2, etc., pero se suele usar el valor medio de los dos valores a ambos lados del cuantil, en este ejemplo el valor medio de 2 y 3, que es 2.5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9C38882-267E-921C-3BE0-3AEC698CB9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 r="-174" b="-98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65B3AC-0122-C131-82CE-CA25481E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8173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localización (cuantiles y percentiles)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5563751"/>
                  </p:ext>
                </p:extLst>
              </p:nvPr>
            </p:nvGraphicFramePr>
            <p:xfrm>
              <a:off x="838200" y="1814477"/>
              <a:ext cx="10515600" cy="45026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276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159405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328532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Cuantil </a:t>
                          </a:r>
                          <a14:m>
                            <m:oMath xmlns:m="http://schemas.openxmlformats.org/officeDocument/2006/math"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𝑃𝑜𝑏𝑙𝑎𝑐𝑖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ó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𝑜𝑟𝑑𝑒𝑛𝑎𝑑𝑎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,..,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𝑝𝑁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no es un número entero: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𝑝𝑁</m:t>
                                        </m:r>
                                      </m:e>
                                    </m:d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𝑝𝑁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es un </a:t>
                          </a:r>
                          <a:r>
                            <a:rPr lang="en-US" sz="1800" kern="0" dirty="0" err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número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kern="0" dirty="0" err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entero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:  </a:t>
                          </a: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𝑝𝑁</m:t>
                                        </m:r>
                                      </m:sub>
                                    </m:s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𝑀𝑢𝑒𝑠𝑡𝑟𝑎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𝑜𝑟𝑑𝑒𝑛𝑎𝑑𝑎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,..,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𝑝𝑛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no es un número entero: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𝑝𝑛</m:t>
                                        </m:r>
                                      </m:e>
                                    </m:d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𝑝𝑛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es un </a:t>
                          </a:r>
                          <a:r>
                            <a:rPr lang="en-US" sz="1800" kern="0" dirty="0" err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número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kern="0" dirty="0" err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entero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:  </a:t>
                          </a: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Percentil </a:t>
                          </a:r>
                          <a14:m>
                            <m:oMath xmlns:m="http://schemas.openxmlformats.org/officeDocument/2006/math">
                              <m:r>
                                <a:rPr lang="es-E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oMath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/100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no es un número entero: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𝛾</m:t>
                                    </m:r>
                                  </m:sub>
                                </m:sSub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/100</m:t>
                                        </m:r>
                                      </m:e>
                                    </m:d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/100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es un </a:t>
                          </a:r>
                          <a:r>
                            <a:rPr lang="en-US" sz="1800" kern="0" dirty="0" err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número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kern="0" dirty="0" err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entero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:  </a:t>
                          </a: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𝛾</m:t>
                                    </m:r>
                                  </m:sub>
                                </m:s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/100</m:t>
                                        </m:r>
                                      </m:sub>
                                    </m:s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/100+1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/100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no es un número entero: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𝛾</m:t>
                                    </m:r>
                                  </m:sub>
                                </m:sSub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/100</m:t>
                                        </m:r>
                                      </m:e>
                                    </m:d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/100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es un </a:t>
                          </a:r>
                          <a:r>
                            <a:rPr lang="en-US" sz="1800" kern="0" dirty="0" err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número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kern="0" dirty="0" err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entero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:  </a:t>
                          </a: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𝛾</m:t>
                                    </m:r>
                                  </m:sub>
                                </m:s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/100</m:t>
                                        </m:r>
                                      </m:sub>
                                    </m:s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/100+1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777055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5563751"/>
                  </p:ext>
                </p:extLst>
              </p:nvPr>
            </p:nvGraphicFramePr>
            <p:xfrm>
              <a:off x="838200" y="1814477"/>
              <a:ext cx="10515600" cy="45026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276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159405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328532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2259775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" t="-17790" r="-418919" b="-83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8902" t="-17790" r="-104246" b="-83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43239" t="-17790" r="-282" b="-835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1872044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" t="-141883" r="-418919" b="-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8902" t="-141883" r="-104246" b="-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43239" t="-141883" r="-282" b="-6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77055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19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0D3EA1C-C0D1-DB10-A595-2A0D147CDE4E}"/>
                  </a:ext>
                </a:extLst>
              </p:cNvPr>
              <p:cNvSpPr txBox="1"/>
              <p:nvPr/>
            </p:nvSpPr>
            <p:spPr>
              <a:xfrm>
                <a:off x="782443" y="6380245"/>
                <a:ext cx="95554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 dirty="0"/>
                  <a:t>NOTA: Existen otras </a:t>
                </a:r>
                <a:r>
                  <a:rPr lang="es-ES" sz="1600" dirty="0">
                    <a:hlinkClick r:id="rId4"/>
                  </a:rPr>
                  <a:t>fórmulas alternativas</a:t>
                </a:r>
                <a:r>
                  <a:rPr lang="es-ES" sz="1600" dirty="0"/>
                  <a:t> para el cálculo de los cuantiles cuando </a:t>
                </a:r>
                <a14:m>
                  <m:oMath xmlns:m="http://schemas.openxmlformats.org/officeDocument/2006/math">
                    <m:r>
                      <a:rPr lang="es-ES" sz="1600" b="0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𝑝𝑁</m:t>
                    </m:r>
                  </m:oMath>
                </a14:m>
                <a:r>
                  <a:rPr lang="es-ES" sz="1600" dirty="0"/>
                  <a:t> o </a:t>
                </a:r>
                <a14:m>
                  <m:oMath xmlns:m="http://schemas.openxmlformats.org/officeDocument/2006/math">
                    <m:r>
                      <a:rPr lang="es-ES" sz="160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𝑝𝑛</m:t>
                    </m:r>
                  </m:oMath>
                </a14:m>
                <a:r>
                  <a:rPr lang="es-ES" sz="1600" dirty="0"/>
                  <a:t> es un número entero.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0D3EA1C-C0D1-DB10-A595-2A0D147CD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43" y="6380245"/>
                <a:ext cx="9555436" cy="338554"/>
              </a:xfrm>
              <a:prstGeom prst="rect">
                <a:avLst/>
              </a:prstGeom>
              <a:blipFill>
                <a:blip r:embed="rId5"/>
                <a:stretch>
                  <a:fillRect l="-319" t="-5455" b="-236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426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localización (cuartiles)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272672"/>
                  </p:ext>
                </p:extLst>
              </p:nvPr>
            </p:nvGraphicFramePr>
            <p:xfrm>
              <a:off x="838200" y="1847930"/>
              <a:ext cx="10515600" cy="49481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276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159405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328532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Primer cuartil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𝑃𝑜𝑏𝑙𝑎𝑐𝑖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ó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𝑜𝑟𝑑𝑒𝑛𝑎𝑑𝑎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,..,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/4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no es un número entero: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/4</m:t>
                                        </m:r>
                                      </m:e>
                                    </m:d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/4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es un número entero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:  </a:t>
                          </a: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/4</m:t>
                                        </m:r>
                                      </m:sub>
                                    </m:s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/4+1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𝑀𝑢𝑒𝑠𝑡𝑟𝑎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𝑜𝑟𝑑𝑒𝑛𝑎𝑑𝑎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,..,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/4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no es un número entero: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𝑄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/4</m:t>
                                        </m:r>
                                      </m:e>
                                    </m:d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/4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es un número entero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:  </a:t>
                          </a: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𝑄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/4</m:t>
                                        </m:r>
                                      </m:sub>
                                    </m:s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/4+1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Segundo cuartil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8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𝑄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Tercer cuartil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0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/4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no es un número entero: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/4</m:t>
                                        </m:r>
                                      </m:e>
                                    </m:d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0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/4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es un número entero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:  </a:t>
                          </a: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/4</m:t>
                                        </m:r>
                                      </m:sub>
                                    </m:s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/4+1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/4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no es un número entero: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𝑄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/4</m:t>
                                        </m:r>
                                      </m:e>
                                    </m:d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/4</m:t>
                              </m:r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es un número entero</a:t>
                          </a:r>
                          <a:r>
                            <a:rPr lang="en-US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:  </a:t>
                          </a:r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𝑄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/4</m:t>
                                        </m:r>
                                      </m:sub>
                                    </m:s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/4+1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777055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272672"/>
                  </p:ext>
                </p:extLst>
              </p:nvPr>
            </p:nvGraphicFramePr>
            <p:xfrm>
              <a:off x="838200" y="1847930"/>
              <a:ext cx="10515600" cy="49481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276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159405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328532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2283714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Primer cuartil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902" t="-17600" r="-104246" b="-100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3239" t="-17600" r="-282" b="-1008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405003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Segundo cuartil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902" t="-668182" r="-104246" b="-4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3239" t="-668182" r="-282" b="-47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  <a:tr h="1888617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Tercer cuartil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902" t="-163548" r="-104246" b="-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3239" t="-163548" r="-282" b="-6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77055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089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44DC5-FA70-1DFF-F1CF-DC198A487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localización (equivalencias)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DBCA41E-2E98-C529-29E1-ADA9792069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/>
                  <a:t>El cuantil p es igual al percentil p*100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_tradnl" sz="240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</m:sub>
                    </m:sSub>
                  </m:oMath>
                </a14:m>
                <a:endParaRPr lang="es-ES" dirty="0"/>
              </a:p>
              <a:p>
                <a:r>
                  <a:rPr lang="es-ES" dirty="0"/>
                  <a:t>El primer cuartil es igual al cuantil 0.25 y percentil 25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_tradnl" sz="240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s-ES_tradnl" sz="240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0.25</m:t>
                        </m:r>
                      </m:sub>
                    </m:sSub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25</m:t>
                        </m:r>
                      </m:sub>
                    </m:sSub>
                  </m:oMath>
                </a14:m>
                <a:endParaRPr lang="es-ES" dirty="0"/>
              </a:p>
              <a:p>
                <a:r>
                  <a:rPr lang="es-ES" dirty="0"/>
                  <a:t>El segundo cuartil es igual a la mediana y al cuantil 0.5 y percentil 50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_tradnl" sz="240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s-ES_tradnl" sz="240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0.5</m:t>
                        </m:r>
                      </m:sub>
                    </m:sSub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50</m:t>
                        </m:r>
                      </m:sub>
                    </m:sSub>
                  </m:oMath>
                </a14:m>
                <a:endParaRPr lang="es-ES" dirty="0"/>
              </a:p>
              <a:p>
                <a:r>
                  <a:rPr lang="es-ES" dirty="0"/>
                  <a:t>El tercer cuartil es igual al cuantil 0.75 y percentil 75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s-ES_tradnl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s-ES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ES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s-ES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0.75</m:t>
                        </m:r>
                      </m:sub>
                    </m:sSub>
                    <m:r>
                      <a:rPr lang="es-ES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b="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ES" b="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75</m:t>
                        </m:r>
                      </m:sub>
                    </m:sSub>
                  </m:oMath>
                </a14:m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DBCA41E-2E98-C529-29E1-ADA979206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4F114D-F835-63EE-25E3-C20E2917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14724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32384-64A8-62EF-7BAF-5E9DB7B5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localización (interpretación)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923DEB-A51B-03B5-1D6B-B5C50EFC5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395331" cy="5032375"/>
          </a:xfrm>
        </p:spPr>
        <p:txBody>
          <a:bodyPr>
            <a:normAutofit fontScale="62500" lnSpcReduction="20000"/>
          </a:bodyPr>
          <a:lstStyle/>
          <a:p>
            <a:r>
              <a:rPr lang="es-ES" dirty="0"/>
              <a:t>Las medidas de localización permiten comparar la evolución de un individuo dentro de una población o muestra</a:t>
            </a:r>
          </a:p>
          <a:p>
            <a:r>
              <a:rPr lang="es-ES" dirty="0"/>
              <a:t>Se usan percentiles para conocer cuál es el patrón normal (estándar) de crecimiento de los niños y niñas para detectar a tiempo la aparición de algún problema</a:t>
            </a:r>
          </a:p>
          <a:p>
            <a:r>
              <a:rPr lang="es-ES" dirty="0"/>
              <a:t>La Organización Mundial de la Salud (OMS) y otros organismos publican </a:t>
            </a:r>
            <a:r>
              <a:rPr lang="es-ES" dirty="0">
                <a:hlinkClick r:id="rId2"/>
              </a:rPr>
              <a:t>tablas de crecimiento</a:t>
            </a:r>
            <a:r>
              <a:rPr lang="es-ES" dirty="0"/>
              <a:t> para ir observando el percentil al que corresponde el niño o niña en cada momento, de un conjunto de cinco percentiles importantes según la OMS: 3, 15, 50, 85 y 97.</a:t>
            </a:r>
          </a:p>
          <a:p>
            <a:r>
              <a:rPr lang="es-ES" dirty="0"/>
              <a:t>Si el niño no se mantiene en un mismo percentil o cercano, habría que investigar qué puede ocurrir</a:t>
            </a:r>
          </a:p>
          <a:p>
            <a:r>
              <a:rPr lang="es-ES" dirty="0"/>
              <a:t>Por ejemplo, </a:t>
            </a:r>
          </a:p>
          <a:p>
            <a:pPr lvl="1"/>
            <a:r>
              <a:rPr lang="es-ES" dirty="0"/>
              <a:t>si una niña con 1 año pesa 10kg estaría en el percentil 85 (comparado con las de su edad, un 85% pesan menos que ella), </a:t>
            </a:r>
          </a:p>
          <a:p>
            <a:pPr lvl="1"/>
            <a:r>
              <a:rPr lang="es-ES" dirty="0"/>
              <a:t>y si con 2 años sigue pesando 10kg, estaría ahora en el percentil 15 (sólo un 15% de las niñas de su edad pesan menos que ella), y habría que analizar las causas.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859730-6296-D78D-B8EC-EEB630FF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22</a:t>
            </a:fld>
            <a:endParaRPr lang="es-ES" dirty="0"/>
          </a:p>
        </p:txBody>
      </p:sp>
      <p:pic>
        <p:nvPicPr>
          <p:cNvPr id="6" name="Imagen 5">
            <a:hlinkClick r:id="rId2"/>
            <a:extLst>
              <a:ext uri="{FF2B5EF4-FFF2-40B4-BE49-F238E27FC236}">
                <a16:creationId xmlns:a16="http://schemas.microsoft.com/office/drawing/2014/main" id="{CDD118BD-F7A6-61C5-5C00-115CEB141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446" y="1825625"/>
            <a:ext cx="5600800" cy="409993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DC63B84-19BF-09A5-4F9B-760BC8B03251}"/>
              </a:ext>
            </a:extLst>
          </p:cNvPr>
          <p:cNvSpPr txBox="1"/>
          <p:nvPr/>
        </p:nvSpPr>
        <p:spPr>
          <a:xfrm>
            <a:off x="8748657" y="5921994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Fuente: </a:t>
            </a:r>
            <a:r>
              <a:rPr lang="es-ES" sz="1200" dirty="0">
                <a:hlinkClick r:id="rId2"/>
              </a:rPr>
              <a:t>AEPAP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739841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localización. Ejemplo 8.14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ES" dirty="0"/>
                  <a:t>Para evaluar la efectividad de un procesador para un determinado tipo de tareas, registramos el tiempo de CPU para una muestra de n = 30 trabajos elegidos aleatoriamente (en segundos)</a:t>
                </a:r>
              </a:p>
              <a:p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Calcular las siguientes medidas de localización para la muestra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Primer cuartil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Segundo cuartil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Tercer cuartil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Cuantil 0.1 (no está en el libro)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Percentil 60 (no está en el libro)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217" b="-112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7453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localización. Ejemplo 8.14 (solución)(I)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s-ES" dirty="0"/>
                  <a:t>La muestra de 30 valores ya está ordenada de menor a mayor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La mediana se calculó en el ejemplo 8.12 </a:t>
                </a:r>
                <a:r>
                  <a:rPr lang="es-E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</m:acc>
                    <m:r>
                      <a:rPr lang="en-US" i="1" ker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42.5 </m:t>
                    </m:r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𝑠𝑒𝑔</m:t>
                    </m:r>
                  </m:oMath>
                </a14:m>
                <a:endParaRPr lang="es-ES" dirty="0"/>
              </a:p>
              <a:p>
                <a:r>
                  <a:rPr lang="es-ES" dirty="0"/>
                  <a:t>a) Primer cuartil (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/4=7.5</m:t>
                    </m:r>
                  </m:oMath>
                </a14:m>
                <a:r>
                  <a:rPr lang="es-ES" dirty="0"/>
                  <a:t>, no es un número entero)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d>
                          <m:dPr>
                            <m:begChr m:val="⌊"/>
                            <m:endChr m:val="⌋"/>
                            <m:ctrlPr>
                              <a:rPr lang="en-U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/4</m:t>
                            </m:r>
                          </m:e>
                        </m:d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d>
                          <m:dPr>
                            <m:begChr m:val="⌊"/>
                            <m:endChr m:val="⌋"/>
                            <m:ctrlPr>
                              <a:rPr lang="en-U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7.5</m:t>
                            </m:r>
                          </m:e>
                        </m:d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7+1</m:t>
                        </m:r>
                      </m:sub>
                    </m:sSub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=34 </m:t>
                    </m:r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𝑠𝑒𝑔</m:t>
                    </m:r>
                  </m:oMath>
                </a14:m>
                <a:endParaRPr lang="es-ES" dirty="0"/>
              </a:p>
              <a:p>
                <a:pPr lvl="1"/>
                <a:r>
                  <a:rPr lang="es-ES" i="1" dirty="0"/>
                  <a:t>La cuarta parte (25%) de los trabajos consumen un tiempo de CPU inferior a 34s</a:t>
                </a:r>
              </a:p>
              <a:p>
                <a:r>
                  <a:rPr lang="es-ES" dirty="0"/>
                  <a:t>b) Segundo cuartil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</m:acc>
                    <m:r>
                      <a:rPr lang="en-US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42.5 </m:t>
                    </m:r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𝑠𝑒𝑔</m:t>
                    </m:r>
                  </m:oMath>
                </a14:m>
                <a:endParaRPr lang="es-ES" dirty="0"/>
              </a:p>
              <a:p>
                <a:pPr lvl="1"/>
                <a:r>
                  <a:rPr lang="es-ES" i="1" dirty="0"/>
                  <a:t>La mitad de los trabajos consumen un tiempo de CPU inferior a 42.5s</a:t>
                </a:r>
                <a:endParaRPr lang="es-ES" dirty="0"/>
              </a:p>
              <a:p>
                <a:r>
                  <a:rPr lang="es-ES" dirty="0"/>
                  <a:t>c) Tercer cuartil (</a:t>
                </a:r>
                <a14:m>
                  <m:oMath xmlns:m="http://schemas.openxmlformats.org/officeDocument/2006/math">
                    <m:r>
                      <a:rPr lang="es-ES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/4=22.5</m:t>
                    </m:r>
                  </m:oMath>
                </a14:m>
                <a:r>
                  <a:rPr lang="es-ES" dirty="0"/>
                  <a:t>, no es un número entero)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s-ES_tradnl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d>
                          <m:dPr>
                            <m:begChr m:val="⌊"/>
                            <m:endChr m:val="⌋"/>
                            <m:ctrlPr>
                              <a:rPr lang="en-U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/4</m:t>
                            </m:r>
                          </m:e>
                        </m:d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d>
                          <m:dPr>
                            <m:begChr m:val="⌊"/>
                            <m:endChr m:val="⌋"/>
                            <m:ctrlPr>
                              <a:rPr lang="en-U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22</m:t>
                            </m:r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.5</m:t>
                            </m:r>
                          </m:e>
                        </m:d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22</m:t>
                        </m:r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23</m:t>
                        </m:r>
                      </m:sub>
                    </m:sSub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59</m:t>
                    </m:r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𝑠𝑒𝑔</m:t>
                    </m:r>
                  </m:oMath>
                </a14:m>
                <a:endParaRPr lang="es-ES" dirty="0"/>
              </a:p>
              <a:p>
                <a:pPr lvl="1"/>
                <a:r>
                  <a:rPr lang="es-ES" i="1" dirty="0"/>
                  <a:t>Las tres cuartas partes (75%) de los trabajos consumen un tiempo de CPU inferior a 59s</a:t>
                </a:r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696" t="-44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99711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25254" cy="1325563"/>
          </a:xfrm>
        </p:spPr>
        <p:txBody>
          <a:bodyPr>
            <a:normAutofit fontScale="90000"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localización. Ejemplo 8.14 (solución)(II)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ES" dirty="0"/>
                  <a:t>La muestra de 30 valores ya está ordenada de menor a mayor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d) Cuantil 0.1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p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=0.1∙30=3</m:t>
                    </m:r>
                  </m:oMath>
                </a14:m>
                <a:r>
                  <a:rPr lang="es-ES" dirty="0"/>
                  <a:t>, es un número entero)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s-ES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0.1</m:t>
                        </m:r>
                      </m:sub>
                    </m:sSub>
                    <m:r>
                      <a:rPr lang="en-US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𝑝𝑛</m:t>
                            </m:r>
                          </m:sub>
                        </m:sSub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𝑝𝑛</m:t>
                            </m:r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19+22</m:t>
                        </m:r>
                      </m:num>
                      <m:den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=20.5 </m:t>
                    </m:r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𝑠𝑒𝑔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Es igual que el percentil 10: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s-ES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0.1</m:t>
                        </m:r>
                      </m:sub>
                    </m:sSub>
                    <m:r>
                      <a:rPr lang="es-ES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_tradnl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s-ES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sub>
                    </m:sSub>
                    <m:r>
                      <a:rPr lang="es-ES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=20.5 </m:t>
                    </m:r>
                    <m:r>
                      <a:rPr lang="es-ES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𝑠𝑒𝑔</m:t>
                    </m:r>
                  </m:oMath>
                </a14:m>
                <a:endParaRPr lang="es-ES" dirty="0"/>
              </a:p>
              <a:p>
                <a:pPr lvl="1"/>
                <a:r>
                  <a:rPr lang="es-ES" i="1" dirty="0"/>
                  <a:t>El 10% de los trabajos consumen un tiempo de CPU inferior a 20.5s</a:t>
                </a:r>
                <a:endParaRPr lang="es-ES" dirty="0"/>
              </a:p>
              <a:p>
                <a:r>
                  <a:rPr lang="es-ES" dirty="0"/>
                  <a:t>e) Percentil 60 (</a:t>
                </a:r>
                <a14:m>
                  <m:oMath xmlns:m="http://schemas.openxmlformats.org/officeDocument/2006/math">
                    <m:r>
                      <a:rPr lang="es-ES" sz="2800" b="0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s-ES" sz="2800" b="0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ES" sz="2800" b="0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/100</m:t>
                    </m:r>
                  </m:oMath>
                </a14:m>
                <a:r>
                  <a:rPr lang="es-ES_tradnl" sz="2800" kern="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s-ES" sz="2800" b="0" i="1" kern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60</m:t>
                    </m:r>
                    <m:r>
                      <a:rPr lang="es-ES" sz="2800" b="0" i="1" kern="0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f>
                      <m:fPr>
                        <m:ctrlPr>
                          <a:rPr lang="es-ES" sz="2800" b="0" i="1" kern="0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800" b="0" i="1" kern="0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</m:t>
                        </m:r>
                      </m:num>
                      <m:den>
                        <m:r>
                          <a:rPr lang="es-ES" sz="2800" b="0" i="1" kern="0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</m:den>
                    </m:f>
                    <m:r>
                      <a:rPr lang="es-ES" sz="2800" b="0" i="1" kern="0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=18</m:t>
                    </m:r>
                  </m:oMath>
                </a14:m>
                <a:r>
                  <a:rPr lang="es-ES_tradnl" sz="2800" kern="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es un número entero)</a:t>
                </a:r>
                <a:endParaRPr lang="es-E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_tradnl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s-ES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60</m:t>
                        </m:r>
                      </m:sub>
                    </m:sSub>
                    <m:r>
                      <a:rPr lang="en-US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es-ES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s-ES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/100</m:t>
                            </m:r>
                          </m:sub>
                        </m:sSub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es-ES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s-ES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/100+1</m:t>
                            </m:r>
                          </m:sub>
                        </m:sSub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b="0" i="1" kern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kern="10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18</m:t>
                            </m:r>
                          </m:sub>
                        </m:sSub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kern="10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19</m:t>
                            </m:r>
                          </m:sub>
                        </m:sSub>
                      </m:num>
                      <m:den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b="0" i="1" kern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48+54</m:t>
                        </m:r>
                      </m:num>
                      <m:den>
                        <m: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=51 </m:t>
                    </m:r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𝑠𝑒𝑔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Es igual que el cuantil 0.6: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_tradnl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s-ES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60</m:t>
                        </m:r>
                      </m:sub>
                    </m:sSub>
                    <m:r>
                      <a:rPr lang="es-ES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s-ES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0.</m:t>
                        </m:r>
                        <m:r>
                          <a:rPr lang="es-ES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s-ES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51</m:t>
                    </m:r>
                    <m:r>
                      <a:rPr lang="es-ES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ES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𝑠𝑒𝑔</m:t>
                    </m:r>
                  </m:oMath>
                </a14:m>
                <a:endParaRPr lang="es-ES" dirty="0"/>
              </a:p>
              <a:p>
                <a:pPr lvl="1"/>
                <a:r>
                  <a:rPr lang="es-ES" i="1" dirty="0"/>
                  <a:t>El 60% de los trabajos consumen un tiempo de CPU inferior a 51s</a:t>
                </a:r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28" t="-417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4168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dispersión (o variabilidad)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E29653-BDC0-220A-A858-6207B896A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Las medidas de dispersión o variabilidad reflejan la heterogeneidad de las observaciones y dan una idea sobre la representatividad de las medidas de centralización, de tal forma que a mayor dispersión menor representatividad</a:t>
            </a:r>
          </a:p>
          <a:p>
            <a:r>
              <a:rPr lang="es-ES" dirty="0"/>
              <a:t>Rango: La diferencia entre el valor más grande y el más pequeño</a:t>
            </a:r>
          </a:p>
          <a:p>
            <a:pPr lvl="1"/>
            <a:r>
              <a:rPr lang="es-ES" dirty="0"/>
              <a:t>Tiene las mismas unidades que la variable estadística </a:t>
            </a:r>
          </a:p>
          <a:p>
            <a:r>
              <a:rPr lang="es-ES" dirty="0"/>
              <a:t>Varianza: Mide la variabilidad entre las observaciones</a:t>
            </a:r>
          </a:p>
          <a:p>
            <a:pPr lvl="1"/>
            <a:r>
              <a:rPr lang="es-ES" dirty="0"/>
              <a:t>Es un valor positivo con las unidades las de la variable estadística al cuadrado</a:t>
            </a:r>
          </a:p>
          <a:p>
            <a:r>
              <a:rPr lang="es-ES" dirty="0"/>
              <a:t>Desviación estándar (o típica): Raíz cuadrada de la varianza </a:t>
            </a:r>
          </a:p>
          <a:p>
            <a:pPr lvl="1"/>
            <a:r>
              <a:rPr lang="es-ES" dirty="0"/>
              <a:t>Tiene las mismas unidades que la variable estadística </a:t>
            </a:r>
          </a:p>
          <a:p>
            <a:r>
              <a:rPr lang="es-ES" dirty="0"/>
              <a:t>Coeficiente de variación: Cociente entre la desviación estándar y la media</a:t>
            </a:r>
          </a:p>
          <a:p>
            <a:pPr lvl="1"/>
            <a:r>
              <a:rPr lang="es-ES" dirty="0"/>
              <a:t>Es un valor sin unidades, por tanto, no depende de cambios de escala</a:t>
            </a:r>
          </a:p>
          <a:p>
            <a:r>
              <a:rPr lang="es-ES" dirty="0"/>
              <a:t>Rango intercuartílico (</a:t>
            </a:r>
            <a:r>
              <a:rPr lang="es-ES" i="1" dirty="0" err="1"/>
              <a:t>Interquartile</a:t>
            </a:r>
            <a:r>
              <a:rPr lang="es-ES" i="1" dirty="0"/>
              <a:t> </a:t>
            </a:r>
            <a:r>
              <a:rPr lang="es-ES" i="1" dirty="0" err="1"/>
              <a:t>range</a:t>
            </a:r>
            <a:r>
              <a:rPr lang="es-ES" dirty="0"/>
              <a:t>): diferencia entre el tercer cuartil y el primer cuartil</a:t>
            </a:r>
          </a:p>
          <a:p>
            <a:pPr lvl="1"/>
            <a:r>
              <a:rPr lang="es-ES" dirty="0"/>
              <a:t>Evita el efecto de posibles datos atípicos (</a:t>
            </a:r>
            <a:r>
              <a:rPr lang="es-ES" i="1" dirty="0" err="1"/>
              <a:t>outliers</a:t>
            </a:r>
            <a:r>
              <a:rPr lang="es-ES" dirty="0"/>
              <a:t>), que afectan a las otras medidas</a:t>
            </a:r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4792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dispersión (cálculo)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5742560"/>
                  </p:ext>
                </p:extLst>
              </p:nvPr>
            </p:nvGraphicFramePr>
            <p:xfrm>
              <a:off x="838200" y="1840102"/>
              <a:ext cx="10515600" cy="49598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276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215161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272776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Valor mínimo, valor máximo, rango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Si la población está ordenada de menor a mayor: 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sz="1800" b="0" i="0" kern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sz="1800" b="0" i="0" kern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oMath>
                          </a14:m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𝑟𝑎𝑛𝑔𝑜</m:t>
                                </m:r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Si la muestra está ordenada de menor a mayor: 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sz="1800" b="0" i="0" kern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</m:func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sz="1800" b="0" i="0" kern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</m:func>
                              <m:r>
                                <a:rPr lang="es-ES" sz="1800" b="0" i="1" kern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ES" sz="1800" b="0" i="1" kern="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𝑟𝑎𝑛𝑔𝑜</m:t>
                                </m:r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Varianza</a:t>
                          </a:r>
                        </a:p>
                        <a:p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ES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8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8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_tradnl" sz="18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8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8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ES_tradnl" sz="18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8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También llamada </a:t>
                          </a:r>
                          <a:r>
                            <a:rPr lang="es-ES_tradnl" sz="1800" kern="0" dirty="0" err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cuasivarianza</a:t>
                          </a:r>
                          <a:r>
                            <a:rPr lang="es-ES_tradnl" sz="1800" kern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muestral </a:t>
                          </a:r>
                          <a:endParaRPr lang="es-ES" sz="1800" i="1" kern="100" dirty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ES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8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8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8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8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8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s-ES" sz="18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_tradnl" sz="18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8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Desviación estándar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Coeficiente de variación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𝑐𝑣</m:t>
                                </m:r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num>
                                  <m:den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𝐶𝑉</m:t>
                                </m:r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1487491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Rango intercuartílico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𝐼𝑄𝑅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8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Los datos atípicos están fuera del intervalo:</a:t>
                          </a:r>
                          <a:br>
                            <a:rPr lang="es-ES" sz="18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−1.5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∙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𝐼𝑄𝑅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+1.5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∙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𝐼𝑄𝑅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𝐼𝑄𝑅</m:t>
                                        </m:r>
                                      </m:e>
                                    </m:acc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𝑄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𝑄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8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Los datos atípicos están fuera del intervalo:</a:t>
                          </a:r>
                          <a:br>
                            <a:rPr lang="es-ES" sz="18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s-ES_tradnl" sz="180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ES" sz="1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−1.5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∙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𝐼𝑄𝑅</m:t>
                                        </m:r>
                                      </m:e>
                                    </m:acc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s-ES_tradnl" sz="180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ES" sz="1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+1.5</m:t>
                                    </m:r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∙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𝐼𝑄𝑅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948559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5742560"/>
                  </p:ext>
                </p:extLst>
              </p:nvPr>
            </p:nvGraphicFramePr>
            <p:xfrm>
              <a:off x="838200" y="1840102"/>
              <a:ext cx="10515600" cy="49598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276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215161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272776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1083691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Valor mínimo, valor máximo, rango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48266" t="-37079" r="-101590" b="-3247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46362" t="-37079" r="-285" b="-3247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108566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Varianza</a:t>
                          </a:r>
                        </a:p>
                        <a:p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266" t="-137079" r="-101590" b="-2247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6362" t="-137079" r="-285" b="-2247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Desviación estándar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266" t="-398113" r="-101590" b="-277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6362" t="-398113" r="-285" b="-2773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  <a:tr h="648208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Coeficiente de variación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266" t="-498113" r="-101590" b="-177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6362" t="-498113" r="-285" b="-1773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8749170"/>
                      </a:ext>
                    </a:extLst>
                  </a:tr>
                  <a:tr h="113138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Rango intercuartílico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266" t="-340860" r="-101590" b="-1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6362" t="-340860" r="-285" b="-1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8559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65868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32384-64A8-62EF-7BAF-5E9DB7B5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dispersión (interpretación)(I)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923DEB-A51B-03B5-1D6B-B5C50EFC5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Si la varianza, desviación estándar y coeficiente de variación son  pequeños:</a:t>
            </a:r>
          </a:p>
          <a:p>
            <a:pPr lvl="1"/>
            <a:r>
              <a:rPr lang="es-ES" dirty="0"/>
              <a:t>Hay poca dispersión</a:t>
            </a:r>
          </a:p>
          <a:p>
            <a:pPr lvl="1"/>
            <a:r>
              <a:rPr lang="es-ES" dirty="0"/>
              <a:t>Es un conjunto de datos homogéneo</a:t>
            </a:r>
          </a:p>
          <a:p>
            <a:pPr lvl="1"/>
            <a:r>
              <a:rPr lang="es-ES" dirty="0"/>
              <a:t>La media es representativa del conjunto de datos </a:t>
            </a:r>
          </a:p>
          <a:p>
            <a:pPr lvl="1"/>
            <a:r>
              <a:rPr lang="es-ES" dirty="0"/>
              <a:t>Ejemplo: En la fabricación de productos, valores pequeños suponen mejor calidad del producto</a:t>
            </a:r>
          </a:p>
          <a:p>
            <a:r>
              <a:rPr lang="es-ES" dirty="0"/>
              <a:t>Si la varianza, desviación estándar y coeficiente de variación son grandes:</a:t>
            </a:r>
          </a:p>
          <a:p>
            <a:pPr lvl="1"/>
            <a:r>
              <a:rPr lang="es-ES" dirty="0"/>
              <a:t>Hay mucha dispersión</a:t>
            </a:r>
          </a:p>
          <a:p>
            <a:pPr lvl="1"/>
            <a:r>
              <a:rPr lang="es-ES" dirty="0"/>
              <a:t>Es un conjunto de datos heterogéneo</a:t>
            </a:r>
          </a:p>
          <a:p>
            <a:pPr lvl="1"/>
            <a:r>
              <a:rPr lang="es-ES" dirty="0"/>
              <a:t>La media no es representativa del conjunto de datos</a:t>
            </a:r>
          </a:p>
          <a:p>
            <a:pPr lvl="1"/>
            <a:r>
              <a:rPr lang="es-ES" dirty="0"/>
              <a:t>Ejemplo: En economía, valores grandes suponen un mayor riesgo al invertir el dinero</a:t>
            </a:r>
          </a:p>
          <a:p>
            <a:r>
              <a:rPr lang="es-ES" dirty="0"/>
              <a:t>¿Cuál es el límite entre valores pequeños y grandes?</a:t>
            </a:r>
          </a:p>
          <a:p>
            <a:pPr lvl="1"/>
            <a:r>
              <a:rPr lang="es-ES" dirty="0"/>
              <a:t>No hay consenso entre los expertos</a:t>
            </a:r>
          </a:p>
          <a:p>
            <a:pPr lvl="1"/>
            <a:r>
              <a:rPr lang="es-ES" dirty="0">
                <a:hlinkClick r:id="rId2"/>
              </a:rPr>
              <a:t>Algunos expertos</a:t>
            </a:r>
            <a:r>
              <a:rPr lang="es-ES" dirty="0"/>
              <a:t> afirman que en el caso del coeficiente de variación sería 0.3 (30%)</a:t>
            </a:r>
          </a:p>
          <a:p>
            <a:pPr lvl="1"/>
            <a:r>
              <a:rPr lang="es-ES" dirty="0"/>
              <a:t>Pero </a:t>
            </a:r>
            <a:r>
              <a:rPr lang="es-ES" dirty="0">
                <a:hlinkClick r:id="rId3"/>
              </a:rPr>
              <a:t>otros expertos</a:t>
            </a:r>
            <a:r>
              <a:rPr lang="es-ES" dirty="0"/>
              <a:t> proponen valores diferentes, dependiendo del ámbito de estudio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859730-6296-D78D-B8EC-EEB630FF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8288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32384-64A8-62EF-7BAF-5E9DB7B5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dispersión (interpretación)(II)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4923DEB-A51B-03B5-1D6B-B5C50EFC51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48639" cy="4351338"/>
              </a:xfrm>
            </p:spPr>
            <p:txBody>
              <a:bodyPr>
                <a:normAutofit/>
              </a:bodyPr>
              <a:lstStyle/>
              <a:p>
                <a:r>
                  <a:rPr lang="es-ES" dirty="0"/>
                  <a:t>El rango intercuartílico permite comprobar si existen datos atípicos (</a:t>
                </a:r>
                <a:r>
                  <a:rPr lang="es-ES" i="1" dirty="0" err="1"/>
                  <a:t>outliers</a:t>
                </a:r>
                <a:r>
                  <a:rPr lang="es-ES" dirty="0"/>
                  <a:t>).</a:t>
                </a:r>
              </a:p>
              <a:p>
                <a:r>
                  <a:rPr lang="es-ES" dirty="0"/>
                  <a:t>Regla </a:t>
                </a:r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s-E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𝑰𝑸𝑹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" dirty="0"/>
                  <a:t> Los datos fuera del siguiente intervalo son sospechosos de ser atípicos y habría que plantearse si </a:t>
                </a:r>
                <a:r>
                  <a:rPr lang="es-ES" dirty="0">
                    <a:hlinkClick r:id="rId2"/>
                  </a:rPr>
                  <a:t>conviene eliminarlos o no</a:t>
                </a:r>
                <a:r>
                  <a:rPr lang="es-E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−1.5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𝐼𝑄𝑅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+1.5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lang="es-ES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𝐼𝑄𝑅</m:t>
                        </m:r>
                      </m:e>
                    </m:d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4923DEB-A51B-03B5-1D6B-B5C50EFC51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48639" cy="4351338"/>
              </a:xfrm>
              <a:blipFill>
                <a:blip r:embed="rId3"/>
                <a:stretch>
                  <a:fillRect l="-946" t="-2241" r="-13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859730-6296-D78D-B8EC-EEB630FF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29</a:t>
            </a:fld>
            <a:endParaRPr lang="es-E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679EE2-3140-3262-4E16-564EDD0A7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181" y="4520416"/>
            <a:ext cx="414337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65A0143-CA1E-C939-078C-2A0605EA9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536" y="4001294"/>
            <a:ext cx="4733925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ACD7198-30CD-F234-6F48-CF1CB15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86001" y="6214374"/>
            <a:ext cx="2003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Imagen: </a:t>
            </a:r>
            <a:r>
              <a:rPr lang="es-ES" sz="1600" dirty="0">
                <a:hlinkClick r:id="rId6"/>
              </a:rPr>
              <a:t>libretexts.org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5479099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dispersión. Ejemplos 8.16 y 8.18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Para evaluar la efectividad de un procesador para un determinado tipo de tareas, registramos el tiempo de CPU para una muestra de n = 30 trabajos elegidos aleatoriamente (en segundos)</a:t>
                </a:r>
              </a:p>
              <a:p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Calcular las medidas de dispersión para la muestra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Rango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Varianza (</a:t>
                </a:r>
                <a:r>
                  <a:rPr lang="es-ES" dirty="0" err="1"/>
                  <a:t>cuasivarianza</a:t>
                </a:r>
                <a:r>
                  <a:rPr lang="es-ES" dirty="0"/>
                  <a:t> muestral)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Desviación estándar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Coeficiente de variación (no está en el libro)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Rango intercuartílico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Detectar si hay datos atípicos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Si hay algún dato atípico, comparar las medidas estadísticas si se eliminasen de la muestra los datos atípicos (no está en el libro)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 r="-63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0593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36405" cy="1325563"/>
          </a:xfrm>
        </p:spPr>
        <p:txBody>
          <a:bodyPr>
            <a:normAutofit fontScale="90000"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sz="4000" dirty="0"/>
              <a:t>Medidas de dispersión. Ejemplos 8.16 y 8.18 (solución)(I)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" dirty="0"/>
                  <a:t>La muestra ya está ordenada de menor a mayor</a:t>
                </a:r>
              </a:p>
              <a:p>
                <a:r>
                  <a:rPr lang="es-ES" dirty="0"/>
                  <a:t>La media muestral se calculó en el ejemplo 8.12 </a:t>
                </a:r>
                <a:r>
                  <a:rPr lang="es-E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lang="es-ES_tradnl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acc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=48.23 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𝑠𝑒𝑔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</m:oMath>
                </a14:m>
                <a:endParaRPr lang="es-ES" dirty="0"/>
              </a:p>
              <a:p>
                <a:r>
                  <a:rPr lang="es-ES" dirty="0"/>
                  <a:t>a) Rango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_tradnl" sz="240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𝑟𝑎𝑛𝑔𝑜</m:t>
                    </m:r>
                    <m:r>
                      <a:rPr lang="es-ES_tradnl" sz="240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_tradnl" sz="2400" i="1" ker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400" i="1" ker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s-ES_tradnl" sz="2400" i="1" ker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s-E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_tradnl" sz="2400" i="1" ker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400" i="1" ker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30</m:t>
                        </m:r>
                      </m:sub>
                    </m:sSub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=139−9=130 </m:t>
                    </m:r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𝑠𝑒𝑔</m:t>
                    </m:r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s-ES" dirty="0"/>
              </a:p>
              <a:p>
                <a:r>
                  <a:rPr lang="es-ES" dirty="0"/>
                  <a:t>b) Varianza (</a:t>
                </a:r>
                <a:r>
                  <a:rPr lang="es-ES" dirty="0" err="1"/>
                  <a:t>cuasivarianza</a:t>
                </a:r>
                <a:r>
                  <a:rPr lang="es-E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s-ES" sz="24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_tradnl" sz="2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s-ES_tradnl" sz="2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s-ES_tradnl" sz="2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s-ES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s-ES_tradnl" sz="24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s-ES_tradnl" sz="24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_tradnl" sz="24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ES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ES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sz="24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_tradnl" sz="24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E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_tradnl" sz="24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s-ES_tradnl" sz="24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ES_tradnl" sz="2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s-ES_tradnl" sz="2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s-ES_tradnl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s-ES_tradnl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30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ES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ES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i="1" kern="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_tradnl" i="1" kern="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ES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_tradnl" i="1" kern="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s-ES_tradnl" i="1" kern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ES" b="0" i="1" kern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30</m:t>
                        </m:r>
                        <m:r>
                          <a:rPr lang="es-ES_tradnl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r>
                      <a:rPr lang="es-ES" b="0" i="1" kern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b="0" i="1" kern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kern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9−48.23</m:t>
                                </m:r>
                              </m:e>
                            </m:d>
                          </m:e>
                          <m:sup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s-ES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b="0" i="1" kern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kern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139−48.23</m:t>
                                </m:r>
                              </m:e>
                            </m:d>
                          </m:e>
                          <m:sup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29</m:t>
                        </m:r>
                      </m:den>
                    </m:f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=703.15 </m:t>
                    </m:r>
                    <m:sSup>
                      <m:sSupPr>
                        <m:ctrlP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𝑠𝑒𝑔</m:t>
                        </m:r>
                      </m:e>
                      <m:sup>
                        <m: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" dirty="0"/>
              </a:p>
              <a:p>
                <a:r>
                  <a:rPr lang="es-ES" dirty="0"/>
                  <a:t>c) Desviación estándar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_tradnl" sz="240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s-ES_tradnl" sz="240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_tradnl" sz="2400" i="1" ker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s-ES_tradnl" sz="2400" i="1" ker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703.15</m:t>
                        </m:r>
                      </m:e>
                    </m:rad>
                    <m:r>
                      <a:rPr lang="es-ES" b="0" i="1" kern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=26.52 </m:t>
                    </m:r>
                    <m:r>
                      <a:rPr lang="es-ES" b="0" i="1" kern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𝑠𝑒𝑔</m:t>
                    </m:r>
                  </m:oMath>
                </a14:m>
                <a:endParaRPr lang="es-ES" dirty="0"/>
              </a:p>
              <a:p>
                <a:r>
                  <a:rPr lang="es-ES" dirty="0"/>
                  <a:t>d) Coeficiente de variación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_tradnl" sz="240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𝐶𝑉</m:t>
                    </m:r>
                    <m:r>
                      <a:rPr lang="es-ES_tradnl" sz="240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_tradnl" sz="2400" i="1" ker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num>
                      <m:den>
                        <m:acc>
                          <m:accPr>
                            <m:chr m:val="̅"/>
                            <m:ctrlPr>
                              <a:rPr lang="es-ES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_tradnl" sz="24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acc>
                      </m:den>
                    </m:f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26.52</m:t>
                        </m:r>
                      </m:num>
                      <m:den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48.23</m:t>
                        </m:r>
                      </m:den>
                    </m:f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=0.55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Como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𝐶𝑉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&gt;0.3</m:t>
                    </m:r>
                  </m:oMath>
                </a14:m>
                <a:r>
                  <a:rPr lang="es-ES" dirty="0"/>
                  <a:t> puede suponerse que hay una gran dispersión y, por tanto, la media no es representativa del conjunto de datos</a:t>
                </a:r>
              </a:p>
              <a:p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0983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5976" cy="1325563"/>
          </a:xfrm>
        </p:spPr>
        <p:txBody>
          <a:bodyPr>
            <a:normAutofit fontScale="90000"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sz="4000" dirty="0"/>
              <a:t>Medidas de dispersión. Ejemplos 8.16 y 8.18 (solución)(II)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127059" cy="4351338"/>
              </a:xfrm>
            </p:spPr>
            <p:txBody>
              <a:bodyPr>
                <a:normAutofit/>
              </a:bodyPr>
              <a:lstStyle/>
              <a:p>
                <a:r>
                  <a:rPr lang="es-ES" dirty="0"/>
                  <a:t>Los cuartiles se calcularon en el ejemplo 8.14 </a:t>
                </a:r>
                <a:r>
                  <a:rPr lang="es-E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b="0" i="0" kern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s-ES" b="0" i="0" kern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s-ES_tradnl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b="0" i="0" kern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59</m:t>
                    </m:r>
                    <m:r>
                      <m:rPr>
                        <m:sty m:val="p"/>
                      </m:rPr>
                      <a:rPr lang="es-ES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endParaRPr lang="es-ES" dirty="0"/>
              </a:p>
              <a:p>
                <a:r>
                  <a:rPr lang="es-ES" dirty="0"/>
                  <a:t>e) Rango intercuartílico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_tradnl" sz="240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sz="240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𝐼𝑄𝑅</m:t>
                            </m:r>
                          </m:e>
                        </m:acc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s-ES_tradnl" sz="240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s-ES_tradnl" sz="240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sz="240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=59−34=25 </m:t>
                    </m:r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𝑠𝑒𝑔</m:t>
                    </m:r>
                  </m:oMath>
                </a14:m>
                <a:endParaRPr lang="es-ES" dirty="0"/>
              </a:p>
              <a:p>
                <a:pPr lvl="1"/>
                <a:endParaRPr lang="es-ES" dirty="0"/>
              </a:p>
              <a:p>
                <a:r>
                  <a:rPr lang="es-ES" dirty="0"/>
                  <a:t>f) Detectar si hay datos atípicos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sz="240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sz="2400" i="1" kern="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sz="2400" b="0" i="1" kern="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e>
                            </m:acc>
                          </m:e>
                          <m:sub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−1.5</m:t>
                        </m:r>
                        <m:r>
                          <a:rPr lang="es-ES" sz="24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acc>
                          <m:accPr>
                            <m:chr m:val="̂"/>
                            <m:ctrlPr>
                              <a:rPr lang="es-ES_tradnl" sz="240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𝐼𝑄𝑅</m:t>
                            </m:r>
                          </m:e>
                        </m:acc>
                        <m:r>
                          <a:rPr lang="es-ES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s-ES_tradnl" sz="240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sz="2400" i="1" kern="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sz="2400" b="0" i="1" kern="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e>
                            </m:acc>
                          </m:e>
                          <m:sub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s-ES" sz="24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+1.5</m:t>
                        </m:r>
                        <m:r>
                          <a:rPr lang="es-ES" sz="24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acc>
                          <m:accPr>
                            <m:chr m:val="̂"/>
                            <m:ctrlPr>
                              <a:rPr lang="es-ES_tradnl" sz="240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𝐼𝑄𝑅</m:t>
                            </m:r>
                          </m:e>
                        </m:acc>
                      </m:e>
                    </m:d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34−1.5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∙25, 59+1.5∙25</m:t>
                        </m:r>
                      </m:e>
                    </m:d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−3.5, 96.5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El valor 139 </a:t>
                </a:r>
                <a:r>
                  <a:rPr lang="es-ES" dirty="0" err="1"/>
                  <a:t>seg</a:t>
                </a:r>
                <a:r>
                  <a:rPr lang="es-ES" dirty="0"/>
                  <a:t> es atípico porque está fuera del intervalo</a:t>
                </a:r>
              </a:p>
              <a:p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127059" cy="4351338"/>
              </a:xfrm>
              <a:blipFill>
                <a:blip r:embed="rId2"/>
                <a:stretch>
                  <a:fillRect l="-931" t="-23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73151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016B1-F95B-EB8F-6D8C-2BE82EFB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sz="3600" dirty="0"/>
              <a:t>Medidas de dispersión. Ejemplos 8.16 y 8.18 (solución)(III)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668F8B-098C-66CD-67AB-A07887F15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g) Comparar las medidas estadísticas si se eliminasen de la muestra los datos atípicos </a:t>
            </a:r>
          </a:p>
        </p:txBody>
      </p:sp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C5143E6B-343E-83B8-B29D-B9F91FAF4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315418"/>
              </p:ext>
            </p:extLst>
          </p:nvPr>
        </p:nvGraphicFramePr>
        <p:xfrm>
          <a:off x="1572322" y="2784475"/>
          <a:ext cx="9047356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2006">
                  <a:extLst>
                    <a:ext uri="{9D8B030D-6E8A-4147-A177-3AD203B41FA5}">
                      <a16:colId xmlns:a16="http://schemas.microsoft.com/office/drawing/2014/main" val="3441740441"/>
                    </a:ext>
                  </a:extLst>
                </a:gridCol>
                <a:gridCol w="2713079">
                  <a:extLst>
                    <a:ext uri="{9D8B030D-6E8A-4147-A177-3AD203B41FA5}">
                      <a16:colId xmlns:a16="http://schemas.microsoft.com/office/drawing/2014/main" val="3883677733"/>
                    </a:ext>
                  </a:extLst>
                </a:gridCol>
                <a:gridCol w="3412271">
                  <a:extLst>
                    <a:ext uri="{9D8B030D-6E8A-4147-A177-3AD203B41FA5}">
                      <a16:colId xmlns:a16="http://schemas.microsoft.com/office/drawing/2014/main" val="2261216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Medida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Muestra original (n=30)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Muestra sin el dato atípico (n=29)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346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48.23s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45.1s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821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Mediana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42.5s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42s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241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Primer cuartil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34s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34s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166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Tercer cuartil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59s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56s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7073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Rango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130s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8006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Varianza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703.15s</a:t>
                      </a:r>
                      <a:r>
                        <a:rPr lang="es-ES" sz="1800" kern="100" baseline="30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423.88s</a:t>
                      </a:r>
                      <a:r>
                        <a:rPr lang="es-ES" sz="1800" kern="100" baseline="30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2647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Desviación estándar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26.52s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20.59s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4400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Coeficiente de variación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8749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Rango intercuartílico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16087580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1720F-7C4E-B820-7B21-3DEB53C19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83640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forma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6E29653-BDC0-220A-A858-6207B896A4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/>
              </a:bodyPr>
              <a:lstStyle/>
              <a:p>
                <a:r>
                  <a:rPr lang="es-ES" dirty="0"/>
                  <a:t>Permiten conocer la forma que tiene la curva que representa la distribución de la frecuencia de los valores de las observaciones, normalmente un histograma. </a:t>
                </a:r>
              </a:p>
              <a:p>
                <a:r>
                  <a:rPr lang="es-ES" dirty="0"/>
                  <a:t>Se pueden utilizar para comparar con un posible conjunto de datos con la misma media y varianza, pero considerado como “normal”.</a:t>
                </a:r>
              </a:p>
              <a:p>
                <a:r>
                  <a:rPr lang="es-ES" dirty="0"/>
                  <a:t>Se considera “normal” un conjunto de datos cuyo histograma se ajusta aproximadamente a la curva conocida como campana de Gauss: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E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s-E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s-E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s-ES" sz="2000" dirty="0"/>
                  <a:t> </a:t>
                </a:r>
              </a:p>
              <a:p>
                <a:r>
                  <a:rPr lang="es-ES" dirty="0"/>
                  <a:t>Algunas medidas de forma son las siguientes</a:t>
                </a:r>
              </a:p>
              <a:p>
                <a:pPr lvl="1"/>
                <a:r>
                  <a:rPr lang="es-ES" dirty="0"/>
                  <a:t>Sesgo o coeficiente de asimetría</a:t>
                </a:r>
              </a:p>
              <a:p>
                <a:pPr lvl="1"/>
                <a:r>
                  <a:rPr lang="es-ES" dirty="0"/>
                  <a:t>Curtosis o coeficiente de apuntamiento</a:t>
                </a:r>
              </a:p>
              <a:p>
                <a:pPr lvl="1"/>
                <a:endParaRPr lang="es-ES" dirty="0"/>
              </a:p>
              <a:p>
                <a:pPr lvl="2"/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6E29653-BDC0-220A-A858-6207B896A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28" t="-1958" b="-130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34</a:t>
            </a:fld>
            <a:endParaRPr lang="es-E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123565-0455-D415-B4D1-571582CF6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159" y="4616602"/>
            <a:ext cx="1257997" cy="6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7778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forma (cálculo)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7976068"/>
                  </p:ext>
                </p:extLst>
              </p:nvPr>
            </p:nvGraphicFramePr>
            <p:xfrm>
              <a:off x="838200" y="2037498"/>
              <a:ext cx="10515600" cy="213029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276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159405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328532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Sesgo o coeficiente de asimetría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ES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8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8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_tradnl" sz="18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8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8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ES_tradnl" sz="18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" sz="1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ES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8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8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8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8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8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s-ES_tradnl" sz="1800" i="1" kern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" sz="1800" b="0" i="1" kern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" sz="1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Curtosis o coeficiente de apuntamiento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ES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8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8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_tradnl" sz="18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8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8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ES_tradnl" sz="18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" sz="1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</m:acc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_tradnl" sz="18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s-ES_tradnl" sz="18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ES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8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8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8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8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8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s-ES_tradnl" sz="1800" i="1" kern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" sz="1800" b="0" i="1" kern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" sz="1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ES" sz="18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777055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7976068"/>
                  </p:ext>
                </p:extLst>
              </p:nvPr>
            </p:nvGraphicFramePr>
            <p:xfrm>
              <a:off x="838200" y="2037498"/>
              <a:ext cx="10515600" cy="213029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276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159405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328532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845058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Sesgo o coeficiente de asimetría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902" t="-47482" r="-104246" b="-119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3239" t="-47482" r="-282" b="-1194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Curtosis o coeficiente de apuntamiento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902" t="-136667" r="-104246" b="-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3239" t="-136667" r="-282" b="-1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77055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03E4E777-6FC3-8C72-0889-5037FABA33A2}"/>
              </a:ext>
            </a:extLst>
          </p:cNvPr>
          <p:cNvSpPr txBox="1"/>
          <p:nvPr/>
        </p:nvSpPr>
        <p:spPr>
          <a:xfrm>
            <a:off x="838200" y="5923045"/>
            <a:ext cx="69839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NOTA: Existen otras </a:t>
            </a:r>
            <a:r>
              <a:rPr lang="es-ES" sz="1600" dirty="0">
                <a:hlinkClick r:id="rId3"/>
              </a:rPr>
              <a:t>fórmulas </a:t>
            </a:r>
            <a:r>
              <a:rPr lang="es-ES" sz="1600" dirty="0">
                <a:hlinkClick r:id="rId4"/>
              </a:rPr>
              <a:t>alternativas</a:t>
            </a:r>
            <a:r>
              <a:rPr lang="es-ES" sz="1600" dirty="0"/>
              <a:t> para el cálculo de las medidas de forma.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2955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n 28">
            <a:extLst>
              <a:ext uri="{FF2B5EF4-FFF2-40B4-BE49-F238E27FC236}">
                <a16:creationId xmlns:a16="http://schemas.microsoft.com/office/drawing/2014/main" id="{D630FED0-5044-14D2-0F62-69188802A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800" y="2112983"/>
            <a:ext cx="2880000" cy="136077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6982484-505A-8755-C635-7233636DD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262" y="3552306"/>
            <a:ext cx="2880000" cy="1442487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5B513A1-F80D-27AF-FE70-6D99AEAC3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3800" y="5303233"/>
            <a:ext cx="2880000" cy="1344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forma (interpretación)(I)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E29653-BDC0-220A-A858-6207B896A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8958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/>
              <a:t>Coeficiente de asimetría</a:t>
            </a:r>
          </a:p>
          <a:p>
            <a:r>
              <a:rPr lang="es-ES" dirty="0"/>
              <a:t>Si es = 0, la distribución de los datos es simétrica</a:t>
            </a:r>
          </a:p>
          <a:p>
            <a:pPr lvl="1"/>
            <a:r>
              <a:rPr lang="es-ES" dirty="0"/>
              <a:t>Hay un número similar de valores inferiores y superiores a la media</a:t>
            </a:r>
          </a:p>
          <a:p>
            <a:pPr lvl="1"/>
            <a:r>
              <a:rPr lang="es-ES" dirty="0"/>
              <a:t>La mediana es igual que la media</a:t>
            </a:r>
          </a:p>
          <a:p>
            <a:r>
              <a:rPr lang="es-ES" dirty="0"/>
              <a:t>Si &lt; 0, es asimétrica hacia la izquierda (</a:t>
            </a:r>
            <a:r>
              <a:rPr lang="es-ES" i="1" dirty="0" err="1"/>
              <a:t>left-skewed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Hay más valores por encima de la media</a:t>
            </a:r>
          </a:p>
          <a:p>
            <a:pPr lvl="1"/>
            <a:r>
              <a:rPr lang="es-ES" dirty="0"/>
              <a:t>La mediana es mayor que la media</a:t>
            </a:r>
          </a:p>
          <a:p>
            <a:r>
              <a:rPr lang="es-ES" dirty="0"/>
              <a:t>Si es &gt; 0,  la distribución de los valores es asimétrica hacia la derecha (</a:t>
            </a:r>
            <a:r>
              <a:rPr lang="es-ES" dirty="0" err="1"/>
              <a:t>r</a:t>
            </a:r>
            <a:r>
              <a:rPr lang="es-ES" i="1" dirty="0" err="1"/>
              <a:t>ight-skewed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Hay más valores por debajo de la media</a:t>
            </a:r>
          </a:p>
          <a:p>
            <a:pPr lvl="1"/>
            <a:r>
              <a:rPr lang="es-ES" dirty="0"/>
              <a:t>La mediana es menor que la media</a:t>
            </a:r>
          </a:p>
          <a:p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36</a:t>
            </a:fld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B80C853-3058-31E6-3100-7F0812714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27472" y="2029544"/>
            <a:ext cx="1972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Coef</a:t>
            </a:r>
            <a:r>
              <a:rPr lang="es-ES" dirty="0"/>
              <a:t>. asimetría ≈ 0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CB40E3F-2B51-B63A-B102-A259C9385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27472" y="3816628"/>
            <a:ext cx="1919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Coef</a:t>
            </a:r>
            <a:r>
              <a:rPr lang="es-ES" dirty="0"/>
              <a:t>. asimetría &lt; 0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C3EBDB4-A592-C54B-AC79-F9C925057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543017" y="5499511"/>
            <a:ext cx="1919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Coef</a:t>
            </a:r>
            <a:r>
              <a:rPr lang="es-ES" dirty="0"/>
              <a:t>. asimetría &gt; 0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FD6D7B1-46F5-1D4C-0D43-146242707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0337180" y="2200952"/>
            <a:ext cx="35684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6F1F563-F8A4-44D2-ABB7-0FA11C34F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55861" y="2048023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Mediana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ED27711-1B90-64F8-AA75-FA03650CE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0333466" y="2353352"/>
            <a:ext cx="356840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D2DCE28C-F7E1-5257-283D-3D36C590D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52147" y="2200423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Media</a:t>
            </a:r>
          </a:p>
        </p:txBody>
      </p:sp>
    </p:spTree>
    <p:extLst>
      <p:ext uri="{BB962C8B-B14F-4D97-AF65-F5344CB8AC3E}">
        <p14:creationId xmlns:p14="http://schemas.microsoft.com/office/powerpoint/2010/main" val="15768327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FB34D82C-C9CA-8BD0-686C-17C46457E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799" y="5148562"/>
            <a:ext cx="2880000" cy="12673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forma (interpretación)(II)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E29653-BDC0-220A-A858-6207B896A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897136" cy="47981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Curtosis (Coeficiente de apuntamiento)</a:t>
            </a:r>
          </a:p>
          <a:p>
            <a:r>
              <a:rPr lang="es-ES" dirty="0"/>
              <a:t>Si = 0, histograma con una pendiente similar a la distribución normal</a:t>
            </a:r>
          </a:p>
          <a:p>
            <a:pPr lvl="1"/>
            <a:r>
              <a:rPr lang="es-ES" dirty="0"/>
              <a:t>Se dice que es una distribución de datos mesocúrtica</a:t>
            </a:r>
          </a:p>
          <a:p>
            <a:r>
              <a:rPr lang="es-ES" dirty="0"/>
              <a:t>Si &lt;0, histograma con pendiente menos apuntada (más aplanada) que la normal</a:t>
            </a:r>
          </a:p>
          <a:p>
            <a:pPr lvl="1"/>
            <a:r>
              <a:rPr lang="es-ES" dirty="0"/>
              <a:t>Se dice que es </a:t>
            </a:r>
            <a:r>
              <a:rPr lang="es-ES" dirty="0" err="1"/>
              <a:t>platicúrtica</a:t>
            </a:r>
            <a:endParaRPr lang="es-ES" dirty="0"/>
          </a:p>
          <a:p>
            <a:r>
              <a:rPr lang="es-ES" dirty="0"/>
              <a:t>Si &gt; 0, histograma con pendiente más abrupta (apuntada) que la normal</a:t>
            </a:r>
          </a:p>
          <a:p>
            <a:pPr lvl="1"/>
            <a:r>
              <a:rPr lang="es-ES" dirty="0"/>
              <a:t>Se dice que es leptocúrtica</a:t>
            </a:r>
          </a:p>
          <a:p>
            <a:pPr lvl="1"/>
            <a:endParaRPr lang="es-ES" dirty="0"/>
          </a:p>
          <a:p>
            <a:endParaRPr lang="es-ES" dirty="0"/>
          </a:p>
          <a:p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37</a:t>
            </a:fld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785A54D-BAC5-7995-DAB8-21F8D9045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799" y="1965014"/>
            <a:ext cx="2880000" cy="125562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77F0B37-5F1D-1373-9238-A170B9BD4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685033" y="2078531"/>
            <a:ext cx="1277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Curtosis ≈ 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79015CF-8423-36FB-EAFD-14553F801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434967" y="3387564"/>
            <a:ext cx="1277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Curtosis &lt; 0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CEA69C7-A329-4D86-C969-96D9495D3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466578" y="5091675"/>
            <a:ext cx="1277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Curtosis &gt; 0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215E987D-3657-541A-0F3B-091165F20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799" y="3747023"/>
            <a:ext cx="2880000" cy="125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57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forma. Ejemplo 8.12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Para evaluar la efectividad de un procesador para un determinado tipo de tareas, registramos el tiempo de CPU para una muestra de 30 trabajos elegidos aleatoriamente (en segundos)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s-ES" dirty="0"/>
              </a:p>
              <a:p>
                <a:r>
                  <a:rPr lang="es-ES" dirty="0"/>
                  <a:t>Calcular las siguientes medidas de forma para la muestra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Sesgo o coeficiente de asimetría (no está en el libro)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Curtosis o coeficiente de apuntamiento (no está en el libro)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ES" dirty="0"/>
                  <a:t>Comparar si se eliminan los datos atípicos (no está en el libro)</a:t>
                </a:r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40738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forma. Ejemplo 8.12 (solución)(I)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ES" i="1">
                        <a:latin typeface="Cambria Math" panose="02040503050406030204" pitchFamily="18" charset="0"/>
                      </a:rPr>
                      <m:t>=48.23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r>
                      <a:rPr lang="es-ES_tradnl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s-ES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=26.52</m:t>
                    </m:r>
                    <m:r>
                      <a:rPr lang="es-ES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s-ES" dirty="0"/>
              </a:p>
              <a:p>
                <a:r>
                  <a:rPr lang="es-ES" dirty="0"/>
                  <a:t>a) Sesgo o coeficiente de asimetría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sz="240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  <m:r>
                      <a:rPr lang="es-ES_tradnl" sz="2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_tradnl" sz="240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ES_tradnl" sz="240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s-ES" sz="2400" i="1" kern="100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s-ES_tradnl" sz="24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s-ES_tradnl" sz="24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ES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ES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sz="24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_tradnl" sz="24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ES_tradnl" sz="24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24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s-ES" sz="2400" b="0" i="1" kern="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s-ES" sz="2400" i="1" kern="100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sz="2400" b="0" i="1" kern="100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s-ES" sz="2400" b="0" i="1" kern="0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30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s-ES_tradnl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s-ES_tradnl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30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ES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ES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i="1" kern="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_tradnl" i="1" kern="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s-ES" b="0" i="1" kern="0" smtClean="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48.23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ES" i="1" kern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kern="10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26.52</m:t>
                            </m:r>
                          </m:e>
                          <m:sup>
                            <m:r>
                              <a:rPr lang="es-ES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s-ES" b="0" i="1" kern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30</m:t>
                            </m:r>
                          </m:den>
                        </m:f>
                        <m:sSup>
                          <m:sSupPr>
                            <m:ctrlP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9−48.23</m:t>
                                </m:r>
                              </m:e>
                            </m:d>
                          </m:e>
                          <m:sup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139−48.23</m:t>
                                </m:r>
                              </m:e>
                            </m:d>
                          </m:e>
                          <m:sup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26.52</m:t>
                            </m:r>
                          </m:e>
                          <m:sup>
                            <m:r>
                              <a:rPr lang="es-ES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s-ES" b="0" i="1" kern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=1.31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Como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sz="240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s-ES" dirty="0"/>
                  <a:t>, es una distribución de datos asimétrica a la derecha (</a:t>
                </a:r>
                <a:r>
                  <a:rPr lang="es-ES" i="1" dirty="0" err="1"/>
                  <a:t>right-skewed</a:t>
                </a:r>
                <a:r>
                  <a:rPr lang="es-ES" dirty="0"/>
                  <a:t>) </a:t>
                </a:r>
              </a:p>
              <a:p>
                <a:r>
                  <a:rPr lang="es-ES" dirty="0"/>
                  <a:t>b) Curtosis o coeficiente de apuntamiento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</m:acc>
                    <m:r>
                      <a:rPr lang="es-ES_tradnl" i="1" ker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s-ES_tradnl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s-ES_tradnl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ES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ES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i="1" kern="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_tradnl" i="1" kern="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ES_tradnl" i="1" ker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i="1" ker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s-ES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s-ES" i="1" ker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−3=</m:t>
                    </m:r>
                    <m:f>
                      <m:f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30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s-ES_tradnl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s-ES_tradnl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30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ES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ES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i="1" kern="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_tradnl" i="1" kern="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s-ES" b="0" i="1" kern="0" smtClean="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48.23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ES" b="0" i="1" kern="0" smtClean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kern="10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26.52</m:t>
                            </m:r>
                          </m:e>
                          <m:sup>
                            <m:r>
                              <a:rPr lang="es-ES" b="0" i="1" kern="10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s-ES" b="0" i="1" kern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30</m:t>
                            </m:r>
                          </m:den>
                        </m:f>
                        <m:sSup>
                          <m:sSupPr>
                            <m:ctrlP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9−48.23</m:t>
                                </m:r>
                              </m:e>
                            </m:d>
                          </m:e>
                          <m:sup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139−48.23</m:t>
                                </m:r>
                              </m:e>
                            </m:d>
                          </m:e>
                          <m:sup>
                            <m:r>
                              <a:rPr lang="es-ES" b="0" i="1" kern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26.52</m:t>
                            </m:r>
                          </m:e>
                          <m:sup>
                            <m:r>
                              <a:rPr lang="es-ES" b="0" i="1" kern="10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s-ES" b="0" i="1" kern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=2.35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Como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sz="240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</m:acc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s-ES" dirty="0"/>
                  <a:t>, es una distribución de datos leptocúrtica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5966" b="-14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3593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016B1-F95B-EB8F-6D8C-2BE82EFB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Medidas de forma. Ejemplo 8.12 (solución)(II)</a:t>
            </a:r>
            <a:endParaRPr lang="es-ES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668F8B-098C-66CD-67AB-A07887F15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g) Comparar las medidas de forma si se eliminasen de la muestra los datos atípicos </a:t>
            </a:r>
          </a:p>
        </p:txBody>
      </p:sp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C5143E6B-343E-83B8-B29D-B9F91FAF4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372113"/>
              </p:ext>
            </p:extLst>
          </p:nvPr>
        </p:nvGraphicFramePr>
        <p:xfrm>
          <a:off x="1572322" y="2784475"/>
          <a:ext cx="9047356" cy="165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2006">
                  <a:extLst>
                    <a:ext uri="{9D8B030D-6E8A-4147-A177-3AD203B41FA5}">
                      <a16:colId xmlns:a16="http://schemas.microsoft.com/office/drawing/2014/main" val="3441740441"/>
                    </a:ext>
                  </a:extLst>
                </a:gridCol>
                <a:gridCol w="2713079">
                  <a:extLst>
                    <a:ext uri="{9D8B030D-6E8A-4147-A177-3AD203B41FA5}">
                      <a16:colId xmlns:a16="http://schemas.microsoft.com/office/drawing/2014/main" val="3883677733"/>
                    </a:ext>
                  </a:extLst>
                </a:gridCol>
                <a:gridCol w="3412271">
                  <a:extLst>
                    <a:ext uri="{9D8B030D-6E8A-4147-A177-3AD203B41FA5}">
                      <a16:colId xmlns:a16="http://schemas.microsoft.com/office/drawing/2014/main" val="2261216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Medida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Muestra original (n=30)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Muestra sin el dato atípico (n=29)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346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Sesgo o coeficiente de asimetría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1.31</a:t>
                      </a:r>
                      <a:b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Asimétrica a la derecha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0.37</a:t>
                      </a:r>
                      <a:b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Asimétrica a la derecha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821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Curtosis o coeficiente de apuntamiento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2.35</a:t>
                      </a:r>
                      <a:b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Leptocúrtica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-0.69</a:t>
                      </a:r>
                      <a:br>
                        <a:rPr lang="es-E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s-ES" sz="18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Platicúrtica</a:t>
                      </a:r>
                      <a:endParaRPr lang="es-E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2413427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1720F-7C4E-B820-7B21-3DEB53C19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40</a:t>
            </a:fld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371D581-5D49-3FBB-0A79-A51B3D7E6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714" y="4636821"/>
            <a:ext cx="3898978" cy="208465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D3E7806-C09B-6478-96AF-32F171445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116" y="4717620"/>
            <a:ext cx="3773757" cy="200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831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19D5C-94AE-80A0-3F2C-A962E101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Proporción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7FF666-751E-8DAE-8AE2-1CF64EA59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proporción representa la relación de elementos de una población o muestra que cumplen una determinada condición sobre el total de elementos de la población</a:t>
            </a:r>
          </a:p>
          <a:p>
            <a:r>
              <a:rPr lang="es-ES" dirty="0"/>
              <a:t>Se mide entre 0 y 1.</a:t>
            </a:r>
          </a:p>
          <a:p>
            <a:pPr lvl="1"/>
            <a:r>
              <a:rPr lang="es-ES" dirty="0"/>
              <a:t>Si se multiplica por 100 se convierte en porcentaje</a:t>
            </a:r>
          </a:p>
          <a:p>
            <a:r>
              <a:rPr lang="es-ES" dirty="0"/>
              <a:t>Ejemplo</a:t>
            </a:r>
          </a:p>
          <a:p>
            <a:pPr lvl="1"/>
            <a:r>
              <a:rPr lang="es-ES" dirty="0"/>
              <a:t>Proporción de personas que pesan más de 50 kilos</a:t>
            </a:r>
          </a:p>
          <a:p>
            <a:pPr lvl="1"/>
            <a:r>
              <a:rPr lang="es-ES" dirty="0"/>
              <a:t>Proporción de coches con 3 puertas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390707-A1F2-EE21-8A22-ACFC127C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02611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Proporción (cálculo)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9328714"/>
                  </p:ext>
                </p:extLst>
              </p:nvPr>
            </p:nvGraphicFramePr>
            <p:xfrm>
              <a:off x="838200" y="2115555"/>
              <a:ext cx="10515600" cy="16447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704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527396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417741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Proporción de elementos que cumplen una condición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𝑃𝑜𝑏𝑙𝑎𝑐𝑖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ó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,..,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kern="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s-ES" sz="1600" b="0" i="1" kern="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º 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𝑒𝑙𝑒𝑚𝑒𝑛𝑡𝑜𝑠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𝑞𝑢𝑒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𝑐𝑢𝑚𝑝𝑙𝑒𝑛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𝑙𝑎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𝑐𝑜𝑛𝑑𝑖𝑐𝑖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ó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_tradnl" sz="16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𝑀𝑢𝑒𝑠𝑡𝑟𝑎</m:t>
                                </m:r>
                                <m:r>
                                  <a:rPr lang="es-E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=</m:t>
                                </m:r>
                                <m:d>
                                  <m:d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,..,</m:t>
                                    </m:r>
                                    <m:sSub>
                                      <m:sSubPr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  <m:r>
                                  <a:rPr lang="es-ES" sz="1600" b="0" i="1" kern="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º 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𝑒𝑙𝑒𝑚𝑒𝑛𝑡𝑜𝑠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𝑞𝑢𝑒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𝑐𝑢𝑚𝑝𝑙𝑒𝑛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𝑙𝑎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𝑐𝑜𝑛𝑑𝑖𝑐𝑖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ó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_tradnl" sz="16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_tradnl" sz="1800" kern="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9328714"/>
                  </p:ext>
                </p:extLst>
              </p:nvPr>
            </p:nvGraphicFramePr>
            <p:xfrm>
              <a:off x="838200" y="2115555"/>
              <a:ext cx="10515600" cy="16447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704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527396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417741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1273874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Proporción de elementos que cumplen una condición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4859" t="-31579" r="-97847" b="-43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38207" t="-31579" r="-276" b="-43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182196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Proporción. Ejemplo 8.12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Para evaluar la efectividad de un procesador para un determinado tipo de tareas, registramos el tiempo de CPU para una muestra de 30 trabajos elegidos aleatoriamente (en segundos)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s-ES" dirty="0"/>
              </a:p>
              <a:p>
                <a:r>
                  <a:rPr lang="es-ES" dirty="0"/>
                  <a:t>Calcular la proporción de trabajos que se ejecutan en menos de un minuto (no está en el libro)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00863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 err="1"/>
              <a:t>Propoción</a:t>
            </a:r>
            <a:r>
              <a:rPr lang="es-ES" dirty="0"/>
              <a:t>. Ejemplo 8.12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ES" i="1">
                        <a:latin typeface="Cambria Math" panose="02040503050406030204" pitchFamily="18" charset="0"/>
                      </a:rPr>
                      <m:t>=48.23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r>
                      <a:rPr lang="es-ES_tradnl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s-ES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=26.52</m:t>
                    </m:r>
                    <m:r>
                      <a:rPr lang="es-ES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s-ES" dirty="0"/>
              </a:p>
              <a:p>
                <a:r>
                  <a:rPr lang="es-ES" dirty="0"/>
                  <a:t>Calcular la proporción de trabajos que se ejecutan en menos de un minuto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acc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º 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𝑡𝑟𝑎𝑏𝑎𝑗𝑜𝑠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𝑞𝑢𝑒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𝑠𝑒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𝑒𝑗𝑒𝑐𝑢𝑡𝑎𝑛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𝑒𝑛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𝑚𝑒𝑛𝑜𝑠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60 </m:t>
                        </m:r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𝑠𝑒𝑔𝑢𝑛𝑑𝑜𝑠</m:t>
                        </m:r>
                      </m:num>
                      <m:den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30</m:t>
                        </m:r>
                      </m:den>
                    </m:f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23</m:t>
                        </m:r>
                      </m:num>
                      <m:den>
                        <m:r>
                          <a:rPr lang="es-ES" sz="24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30</m:t>
                        </m:r>
                      </m:den>
                    </m:f>
                    <m:r>
                      <a:rPr lang="es-ES" sz="24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=0.77</m:t>
                    </m:r>
                  </m:oMath>
                </a14:m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384394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Cálculo de medidas estadísticas</a:t>
            </a:r>
            <a:br>
              <a:rPr lang="es-ES" dirty="0"/>
            </a:br>
            <a:r>
              <a:rPr lang="es-ES" dirty="0"/>
              <a:t>Ejercicios propuestos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Ejercicios</a:t>
            </a:r>
            <a:r>
              <a:rPr lang="en-US" altLang="es-ES" sz="2800" dirty="0"/>
              <a:t> 8.1, 8.2, 8.8, 8.9 del </a:t>
            </a:r>
            <a:r>
              <a:rPr lang="en-US" altLang="es-ES" sz="2800" dirty="0" err="1"/>
              <a:t>libro</a:t>
            </a:r>
            <a:endParaRPr lang="en-US" altLang="es-ES" sz="2800" dirty="0"/>
          </a:p>
          <a:p>
            <a:pPr lvl="1">
              <a:spcBef>
                <a:spcPts val="1000"/>
              </a:spcBef>
            </a:pPr>
            <a:r>
              <a:rPr lang="en-US" altLang="es-ES" dirty="0"/>
              <a:t>NOTA: </a:t>
            </a:r>
            <a:r>
              <a:rPr lang="en-US" altLang="es-ES" dirty="0" err="1"/>
              <a:t>Cuando</a:t>
            </a:r>
            <a:r>
              <a:rPr lang="en-US" altLang="es-ES" dirty="0"/>
              <a:t> </a:t>
            </a:r>
            <a:r>
              <a:rPr lang="en-US" altLang="es-ES" dirty="0" err="1"/>
              <a:t>el</a:t>
            </a:r>
            <a:r>
              <a:rPr lang="en-US" altLang="es-ES" dirty="0"/>
              <a:t> </a:t>
            </a:r>
            <a:r>
              <a:rPr lang="en-US" altLang="es-ES" dirty="0" err="1"/>
              <a:t>enunciado</a:t>
            </a:r>
            <a:r>
              <a:rPr lang="en-US" altLang="es-ES" dirty="0"/>
              <a:t> de un </a:t>
            </a:r>
            <a:r>
              <a:rPr lang="en-US" altLang="es-ES" dirty="0" err="1"/>
              <a:t>ejercicio</a:t>
            </a:r>
            <a:r>
              <a:rPr lang="en-US" altLang="es-ES" dirty="0"/>
              <a:t> </a:t>
            </a:r>
            <a:r>
              <a:rPr lang="en-US" altLang="es-ES" dirty="0" err="1"/>
              <a:t>pide</a:t>
            </a:r>
            <a:r>
              <a:rPr lang="en-US" altLang="es-ES" dirty="0"/>
              <a:t> “compute the five-point summary”, se </a:t>
            </a:r>
            <a:r>
              <a:rPr lang="en-US" altLang="es-ES" dirty="0" err="1"/>
              <a:t>refiere</a:t>
            </a:r>
            <a:r>
              <a:rPr lang="en-US" altLang="es-ES" dirty="0"/>
              <a:t> a </a:t>
            </a:r>
            <a:r>
              <a:rPr lang="en-US" altLang="es-ES" dirty="0" err="1"/>
              <a:t>calcular</a:t>
            </a:r>
            <a:r>
              <a:rPr lang="en-US" altLang="es-ES" dirty="0"/>
              <a:t> las </a:t>
            </a:r>
            <a:r>
              <a:rPr lang="en-US" altLang="es-ES" dirty="0" err="1"/>
              <a:t>cinco</a:t>
            </a:r>
            <a:r>
              <a:rPr lang="en-US" altLang="es-ES" dirty="0"/>
              <a:t> </a:t>
            </a:r>
            <a:r>
              <a:rPr lang="en-US" altLang="es-ES" dirty="0" err="1"/>
              <a:t>medidas</a:t>
            </a:r>
            <a:r>
              <a:rPr lang="en-US" altLang="es-ES" dirty="0"/>
              <a:t> </a:t>
            </a:r>
            <a:r>
              <a:rPr lang="en-US" altLang="es-ES" dirty="0" err="1"/>
              <a:t>siguientes</a:t>
            </a:r>
            <a:r>
              <a:rPr lang="en-US" altLang="es-ES" dirty="0"/>
              <a:t>: valor </a:t>
            </a:r>
            <a:r>
              <a:rPr lang="en-US" altLang="es-ES" dirty="0" err="1"/>
              <a:t>mínimo</a:t>
            </a:r>
            <a:r>
              <a:rPr lang="en-US" altLang="es-ES" dirty="0"/>
              <a:t>, primer </a:t>
            </a:r>
            <a:r>
              <a:rPr lang="en-US" altLang="es-ES" dirty="0" err="1"/>
              <a:t>cuartil</a:t>
            </a:r>
            <a:r>
              <a:rPr lang="en-US" altLang="es-ES" dirty="0"/>
              <a:t>, </a:t>
            </a:r>
            <a:r>
              <a:rPr lang="en-US" altLang="es-ES" dirty="0" err="1"/>
              <a:t>mediana</a:t>
            </a:r>
            <a:r>
              <a:rPr lang="en-US" altLang="es-ES" dirty="0"/>
              <a:t>, </a:t>
            </a:r>
            <a:r>
              <a:rPr lang="en-US" altLang="es-ES" dirty="0" err="1"/>
              <a:t>tercer</a:t>
            </a:r>
            <a:r>
              <a:rPr lang="en-US" altLang="es-ES" dirty="0"/>
              <a:t> </a:t>
            </a:r>
            <a:r>
              <a:rPr lang="en-US" altLang="es-ES" dirty="0" err="1"/>
              <a:t>cuartil</a:t>
            </a:r>
            <a:r>
              <a:rPr lang="en-US" altLang="es-ES" dirty="0"/>
              <a:t> y valor </a:t>
            </a:r>
            <a:r>
              <a:rPr lang="en-US" altLang="es-ES" dirty="0" err="1"/>
              <a:t>máximo</a:t>
            </a:r>
            <a:endParaRPr lang="en-US" altLang="es-ES" dirty="0"/>
          </a:p>
          <a:p>
            <a:pPr lvl="1">
              <a:spcBef>
                <a:spcPts val="1000"/>
              </a:spcBef>
            </a:pPr>
            <a:r>
              <a:rPr lang="en-US" altLang="es-ES" dirty="0" err="1"/>
              <a:t>Calcular</a:t>
            </a:r>
            <a:r>
              <a:rPr lang="en-US" altLang="es-ES" dirty="0"/>
              <a:t> </a:t>
            </a:r>
            <a:r>
              <a:rPr lang="en-US" altLang="es-ES" dirty="0" err="1"/>
              <a:t>todas</a:t>
            </a:r>
            <a:r>
              <a:rPr lang="en-US" altLang="es-ES" dirty="0"/>
              <a:t> las </a:t>
            </a:r>
            <a:r>
              <a:rPr lang="en-US" altLang="es-ES" dirty="0" err="1"/>
              <a:t>medidas</a:t>
            </a:r>
            <a:r>
              <a:rPr lang="en-US" altLang="es-ES" dirty="0"/>
              <a:t> </a:t>
            </a:r>
            <a:r>
              <a:rPr lang="en-US" altLang="es-ES" dirty="0" err="1"/>
              <a:t>posibles</a:t>
            </a:r>
            <a:r>
              <a:rPr lang="en-US" altLang="es-ES" dirty="0"/>
              <a:t> en </a:t>
            </a:r>
            <a:r>
              <a:rPr lang="en-US" altLang="es-ES" dirty="0" err="1"/>
              <a:t>cada</a:t>
            </a:r>
            <a:r>
              <a:rPr lang="en-US" altLang="es-ES" dirty="0"/>
              <a:t> </a:t>
            </a:r>
            <a:r>
              <a:rPr lang="en-US" altLang="es-ES" dirty="0" err="1"/>
              <a:t>ejercicio</a:t>
            </a:r>
            <a:r>
              <a:rPr lang="en-US" altLang="es-ES" dirty="0"/>
              <a:t>, </a:t>
            </a:r>
            <a:r>
              <a:rPr lang="en-US" altLang="es-ES" dirty="0" err="1"/>
              <a:t>aunque</a:t>
            </a:r>
            <a:r>
              <a:rPr lang="en-US" altLang="es-ES" dirty="0"/>
              <a:t> no se pidan en </a:t>
            </a:r>
            <a:r>
              <a:rPr lang="en-US" altLang="es-ES" dirty="0" err="1"/>
              <a:t>el</a:t>
            </a:r>
            <a:r>
              <a:rPr lang="en-US" altLang="es-ES" dirty="0"/>
              <a:t> </a:t>
            </a:r>
            <a:r>
              <a:rPr lang="en-US" altLang="es-ES" dirty="0" err="1"/>
              <a:t>libro</a:t>
            </a:r>
            <a:endParaRPr lang="en-US" altLang="es-ES" dirty="0"/>
          </a:p>
          <a:p>
            <a:pPr lvl="1">
              <a:spcBef>
                <a:spcPts val="1000"/>
              </a:spcBef>
            </a:pPr>
            <a:r>
              <a:rPr lang="en-US" altLang="es-ES" sz="2400" dirty="0"/>
              <a:t>Las </a:t>
            </a:r>
            <a:r>
              <a:rPr lang="en-US" altLang="es-ES" sz="2400" dirty="0" err="1"/>
              <a:t>respuestas</a:t>
            </a:r>
            <a:r>
              <a:rPr lang="en-US" altLang="es-ES" sz="2400" dirty="0"/>
              <a:t> de 8.1, 8.2, 8.6, 8.8 </a:t>
            </a:r>
            <a:r>
              <a:rPr lang="en-US" altLang="es-ES" sz="2400" dirty="0" err="1"/>
              <a:t>están</a:t>
            </a:r>
            <a:r>
              <a:rPr lang="en-US" altLang="es-ES" sz="2400" dirty="0"/>
              <a:t> </a:t>
            </a:r>
            <a:r>
              <a:rPr lang="en-US" altLang="es-ES" sz="2400" dirty="0" err="1"/>
              <a:t>disponibles</a:t>
            </a:r>
            <a:r>
              <a:rPr lang="en-US" altLang="es-ES" sz="2400" dirty="0"/>
              <a:t> en </a:t>
            </a:r>
            <a:r>
              <a:rPr lang="en-US" altLang="es-ES" sz="2400" dirty="0" err="1"/>
              <a:t>el</a:t>
            </a:r>
            <a:r>
              <a:rPr lang="en-US" altLang="es-ES" sz="2400" dirty="0"/>
              <a:t> </a:t>
            </a:r>
            <a:r>
              <a:rPr lang="en-US" altLang="es-ES" sz="2400" dirty="0" err="1"/>
              <a:t>libro</a:t>
            </a:r>
            <a:endParaRPr lang="en-US" altLang="es-ES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77244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8253</TotalTime>
  <Words>4981</Words>
  <Application>Microsoft Office PowerPoint</Application>
  <PresentationFormat>Panorámica</PresentationFormat>
  <Paragraphs>569</Paragraphs>
  <Slides>45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Wingdings</vt:lpstr>
      <vt:lpstr>Tema de Office</vt:lpstr>
      <vt:lpstr>Estadística descriptiva</vt:lpstr>
      <vt:lpstr>Contenidos</vt:lpstr>
      <vt:lpstr>1. Objetivos</vt:lpstr>
      <vt:lpstr>2. Introducción</vt:lpstr>
      <vt:lpstr>2. Introducción Definiciones (población, muestra, muestreo)</vt:lpstr>
      <vt:lpstr>2. Introducción Definiciones (variable estadística)</vt:lpstr>
      <vt:lpstr>2. Introducción Definiciones (variable estadística cualitativa)</vt:lpstr>
      <vt:lpstr>2. Introducción Definiciones (variable estadística cuantitativa)</vt:lpstr>
      <vt:lpstr>2. Introducción Definiciones (parámetro, estadístico)</vt:lpstr>
      <vt:lpstr>3. Cálculo de medidas estadísticas</vt:lpstr>
      <vt:lpstr>3. Cálculo de medidas estadísticas Tamaño (de una población o de una muestra)</vt:lpstr>
      <vt:lpstr>3. Cálculo de medidas estadísticas Medidas de centralización</vt:lpstr>
      <vt:lpstr>3. Cálculo de medidas estadísticas Medidas de centralización (cálculo)</vt:lpstr>
      <vt:lpstr>3. Cálculo de medidas estadísticas Medidas de centralización (interpretación)</vt:lpstr>
      <vt:lpstr>3. Cálculo de medidas estadísticas Medidas de centralización. Ejemplo 8.12</vt:lpstr>
      <vt:lpstr>3. Cálculo de medidas estadísticas Medidas de centralización. Ejemplo 8.12 (solución)</vt:lpstr>
      <vt:lpstr>3. Cálculo de medidas estadísticas Medidas de localización (o posición)</vt:lpstr>
      <vt:lpstr>3. Cálculo de medidas estadísticas Medidas de localización. Ejemplos</vt:lpstr>
      <vt:lpstr>3. Cálculo de medidas estadísticas Medidas de localización (cuantiles y percentiles)</vt:lpstr>
      <vt:lpstr>3. Cálculo de medidas estadísticas Medidas de localización (cuartiles)</vt:lpstr>
      <vt:lpstr>3. Cálculo de medidas estadísticas Medidas de localización (equivalencias)</vt:lpstr>
      <vt:lpstr>3. Cálculo de medidas estadísticas Medidas de localización (interpretación)</vt:lpstr>
      <vt:lpstr>3. Cálculo de medidas estadísticas Medidas de localización. Ejemplo 8.14</vt:lpstr>
      <vt:lpstr>3. Cálculo de medidas estadísticas Medidas de localización. Ejemplo 8.14 (solución)(I)</vt:lpstr>
      <vt:lpstr>3. Cálculo de medidas estadísticas Medidas de localización. Ejemplo 8.14 (solución)(II)</vt:lpstr>
      <vt:lpstr>3. Cálculo de medidas estadísticas Medidas de dispersión (o variabilidad)</vt:lpstr>
      <vt:lpstr>3. Cálculo de medidas estadísticas Medidas de dispersión (cálculo)</vt:lpstr>
      <vt:lpstr>3. Cálculo de medidas estadísticas Medidas de dispersión (interpretación)(I)</vt:lpstr>
      <vt:lpstr>3. Cálculo de medidas estadísticas Medidas de dispersión (interpretación)(II)</vt:lpstr>
      <vt:lpstr>3. Cálculo de medidas estadísticas Medidas de dispersión. Ejemplos 8.16 y 8.18</vt:lpstr>
      <vt:lpstr>3. Cálculo de medidas estadísticas Medidas de dispersión. Ejemplos 8.16 y 8.18 (solución)(I)</vt:lpstr>
      <vt:lpstr>3. Cálculo de medidas estadísticas Medidas de dispersión. Ejemplos 8.16 y 8.18 (solución)(II)</vt:lpstr>
      <vt:lpstr>3. Cálculo de medidas estadísticas Medidas de dispersión. Ejemplos 8.16 y 8.18 (solución)(III)</vt:lpstr>
      <vt:lpstr>3. Cálculo de medidas estadísticas Medidas de forma</vt:lpstr>
      <vt:lpstr>3. Cálculo de medidas estadísticas Medidas de forma (cálculo)</vt:lpstr>
      <vt:lpstr>3. Cálculo de medidas estadísticas Medidas de forma (interpretación)(I)</vt:lpstr>
      <vt:lpstr>3. Cálculo de medidas estadísticas Medidas de forma (interpretación)(II)</vt:lpstr>
      <vt:lpstr>3. Cálculo de medidas estadísticas Medidas de forma. Ejemplo 8.12</vt:lpstr>
      <vt:lpstr>3. Cálculo de medidas estadísticas Medidas de forma. Ejemplo 8.12 (solución)(I)</vt:lpstr>
      <vt:lpstr>3. Cálculo de medidas estadísticas Medidas de forma. Ejemplo 8.12 (solución)(II)</vt:lpstr>
      <vt:lpstr>3. Cálculo de medidas estadísticas Proporción</vt:lpstr>
      <vt:lpstr>3. Cálculo de medidas estadísticas Proporción (cálculo)</vt:lpstr>
      <vt:lpstr>3. Cálculo de medidas estadísticas Proporción. Ejemplo 8.12</vt:lpstr>
      <vt:lpstr>3. Cálculo de medidas estadísticas Propoción. Ejemplo 8.12 (solución)</vt:lpstr>
      <vt:lpstr>3. Cálculo de medidas estadísticas Ejercicios propuestos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Estadística desciptiva (1)</dc:title>
  <dc:creator/>
  <cp:lastModifiedBy>jose hilera</cp:lastModifiedBy>
  <cp:revision>186</cp:revision>
  <dcterms:created xsi:type="dcterms:W3CDTF">2022-12-26T19:51:11Z</dcterms:created>
  <dcterms:modified xsi:type="dcterms:W3CDTF">2024-08-28T11:02:41Z</dcterms:modified>
</cp:coreProperties>
</file>