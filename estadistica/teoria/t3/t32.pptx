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9"/>
  </p:notesMasterIdLst>
  <p:sldIdLst>
    <p:sldId id="256" r:id="rId2"/>
    <p:sldId id="257" r:id="rId3"/>
    <p:sldId id="445" r:id="rId4"/>
    <p:sldId id="454" r:id="rId5"/>
    <p:sldId id="259" r:id="rId6"/>
    <p:sldId id="260" r:id="rId7"/>
    <p:sldId id="294" r:id="rId8"/>
    <p:sldId id="261" r:id="rId9"/>
    <p:sldId id="262" r:id="rId10"/>
    <p:sldId id="264" r:id="rId11"/>
    <p:sldId id="263" r:id="rId12"/>
    <p:sldId id="456" r:id="rId13"/>
    <p:sldId id="457" r:id="rId14"/>
    <p:sldId id="265" r:id="rId15"/>
    <p:sldId id="266" r:id="rId16"/>
    <p:sldId id="267" r:id="rId17"/>
    <p:sldId id="458" r:id="rId18"/>
    <p:sldId id="275" r:id="rId19"/>
    <p:sldId id="276" r:id="rId20"/>
    <p:sldId id="277" r:id="rId21"/>
    <p:sldId id="278" r:id="rId22"/>
    <p:sldId id="280" r:id="rId23"/>
    <p:sldId id="281" r:id="rId24"/>
    <p:sldId id="282" r:id="rId25"/>
    <p:sldId id="283" r:id="rId26"/>
    <p:sldId id="284" r:id="rId27"/>
    <p:sldId id="290" r:id="rId28"/>
    <p:sldId id="291" r:id="rId29"/>
    <p:sldId id="292" r:id="rId30"/>
    <p:sldId id="268" r:id="rId31"/>
    <p:sldId id="269" r:id="rId32"/>
    <p:sldId id="270" r:id="rId33"/>
    <p:sldId id="271" r:id="rId34"/>
    <p:sldId id="272" r:id="rId35"/>
    <p:sldId id="273" r:id="rId36"/>
    <p:sldId id="274" r:id="rId37"/>
    <p:sldId id="446" r:id="rId38"/>
    <p:sldId id="279" r:id="rId39"/>
    <p:sldId id="448" r:id="rId40"/>
    <p:sldId id="449" r:id="rId41"/>
    <p:sldId id="447" r:id="rId42"/>
    <p:sldId id="408" r:id="rId43"/>
    <p:sldId id="409" r:id="rId44"/>
    <p:sldId id="410" r:id="rId45"/>
    <p:sldId id="411" r:id="rId46"/>
    <p:sldId id="412" r:id="rId47"/>
    <p:sldId id="438" r:id="rId48"/>
    <p:sldId id="413" r:id="rId49"/>
    <p:sldId id="414" r:id="rId50"/>
    <p:sldId id="415" r:id="rId51"/>
    <p:sldId id="416" r:id="rId52"/>
    <p:sldId id="419" r:id="rId53"/>
    <p:sldId id="417" r:id="rId54"/>
    <p:sldId id="418" r:id="rId55"/>
    <p:sldId id="420" r:id="rId56"/>
    <p:sldId id="387" r:id="rId57"/>
    <p:sldId id="421" r:id="rId58"/>
    <p:sldId id="422" r:id="rId59"/>
    <p:sldId id="423" r:id="rId60"/>
    <p:sldId id="432" r:id="rId61"/>
    <p:sldId id="424" r:id="rId62"/>
    <p:sldId id="425" r:id="rId63"/>
    <p:sldId id="426" r:id="rId64"/>
    <p:sldId id="427" r:id="rId65"/>
    <p:sldId id="428" r:id="rId66"/>
    <p:sldId id="429" r:id="rId67"/>
    <p:sldId id="433" r:id="rId68"/>
    <p:sldId id="460" r:id="rId69"/>
    <p:sldId id="461" r:id="rId70"/>
    <p:sldId id="465" r:id="rId71"/>
    <p:sldId id="462" r:id="rId72"/>
    <p:sldId id="463" r:id="rId73"/>
    <p:sldId id="466" r:id="rId74"/>
    <p:sldId id="430" r:id="rId75"/>
    <p:sldId id="431" r:id="rId76"/>
    <p:sldId id="435" r:id="rId77"/>
    <p:sldId id="436" r:id="rId78"/>
    <p:sldId id="459" r:id="rId79"/>
    <p:sldId id="437" r:id="rId80"/>
    <p:sldId id="439" r:id="rId81"/>
    <p:sldId id="442" r:id="rId82"/>
    <p:sldId id="440" r:id="rId83"/>
    <p:sldId id="441" r:id="rId84"/>
    <p:sldId id="443" r:id="rId85"/>
    <p:sldId id="444" r:id="rId86"/>
    <p:sldId id="434" r:id="rId87"/>
    <p:sldId id="327" r:id="rId88"/>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58" autoAdjust="0"/>
    <p:restoredTop sz="94809" autoAdjust="0"/>
  </p:normalViewPr>
  <p:slideViewPr>
    <p:cSldViewPr snapToGrid="0">
      <p:cViewPr varScale="1">
        <p:scale>
          <a:sx n="69" d="100"/>
          <a:sy n="69" d="100"/>
        </p:scale>
        <p:origin x="1502" y="38"/>
      </p:cViewPr>
      <p:guideLst/>
    </p:cSldViewPr>
  </p:slideViewPr>
  <p:notesTextViewPr>
    <p:cViewPr>
      <p:scale>
        <a:sx n="1" d="1"/>
        <a:sy n="1" d="1"/>
      </p:scale>
      <p:origin x="0" y="0"/>
    </p:cViewPr>
  </p:notesTextViewPr>
  <p:sorterViewPr>
    <p:cViewPr>
      <p:scale>
        <a:sx n="100" d="100"/>
        <a:sy n="100" d="100"/>
      </p:scale>
      <p:origin x="0" y="-1993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276993FA-F4EB-4F5C-AC0E-D19D76C7FE18}" type="datetimeFigureOut">
              <a:rPr lang="es-ES" smtClean="0"/>
              <a:t>29/07/2025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endParaRP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r>
              <a:t>Haga clic para modificar los estilos de texto del patrón</a:t>
            </a:r>
          </a:p>
          <a:p>
            <a:pPr lvl="1"/>
            <a:r>
              <a:t>Segundo nivel</a:t>
            </a:r>
          </a:p>
          <a:p>
            <a:pPr lvl="2"/>
            <a:r>
              <a:t>Tercer nivel</a:t>
            </a:r>
          </a:p>
          <a:p>
            <a:pPr lvl="3"/>
            <a:r>
              <a:t>Cuarto nivel</a:t>
            </a:r>
          </a:p>
          <a:p>
            <a:pPr lvl="4"/>
            <a:r>
              <a:t>Nivel de Quinto</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endParaRP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fld id="{93B7C101-15E4-4D70-A114-C89E83A709C8}" type="slidenum">
              <a:rPr lang="es-ES" smtClean="0"/>
              <a:t>‹Nº›</a:t>
            </a:fld>
            <a:endParaRPr lang="es-ES"/>
          </a:p>
        </p:txBody>
      </p:sp>
    </p:spTree>
    <p:extLst>
      <p:ext uri="{BB962C8B-B14F-4D97-AF65-F5344CB8AC3E}">
        <p14:creationId xmlns:p14="http://schemas.microsoft.com/office/powerpoint/2010/main" val="54143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3B7C101-15E4-4D70-A114-C89E83A709C8}" type="slidenum">
              <a:rPr lang="es-ES" smtClean="0"/>
              <a:t>59</a:t>
            </a:fld>
            <a:endParaRPr lang="es-ES"/>
          </a:p>
        </p:txBody>
      </p:sp>
    </p:spTree>
    <p:extLst>
      <p:ext uri="{BB962C8B-B14F-4D97-AF65-F5344CB8AC3E}">
        <p14:creationId xmlns:p14="http://schemas.microsoft.com/office/powerpoint/2010/main" val="2071041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70737A-30E0-41A2-B461-25A548C913B6}"/>
              </a:ext>
            </a:extLst>
          </p:cNvPr>
          <p:cNvSpPr>
            <a:spLocks noGrp="1"/>
          </p:cNvSpPr>
          <p:nvPr>
            <p:ph type="ctrTitle"/>
          </p:nvPr>
        </p:nvSpPr>
        <p:spPr>
          <a:xfrm>
            <a:off x="1524000" y="1122363"/>
            <a:ext cx="9144000" cy="2387600"/>
          </a:xfrm>
        </p:spPr>
        <p:txBody>
          <a:bodyPr anchor="b"/>
          <a:lstStyle>
            <a:lvl1pPr algn="ctr">
              <a:defRPr sz="6000"/>
            </a:lvl1pPr>
          </a:lstStyle>
          <a:p>
            <a:r>
              <a:t>Haga clic para modificar el estilo de título del patrón</a:t>
            </a:r>
          </a:p>
        </p:txBody>
      </p:sp>
      <p:sp>
        <p:nvSpPr>
          <p:cNvPr id="3" name="Subtítulo 2">
            <a:extLst>
              <a:ext uri="{FF2B5EF4-FFF2-40B4-BE49-F238E27FC236}">
                <a16:creationId xmlns:a16="http://schemas.microsoft.com/office/drawing/2014/main" id="{3EBE166C-5633-4873-B852-3A4F5546FE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Haga clic para modificar el estilo de Subtítulo del patrón</a:t>
            </a:r>
          </a:p>
        </p:txBody>
      </p:sp>
      <p:sp>
        <p:nvSpPr>
          <p:cNvPr id="4" name="Marcador de fecha 3">
            <a:extLst>
              <a:ext uri="{FF2B5EF4-FFF2-40B4-BE49-F238E27FC236}">
                <a16:creationId xmlns:a16="http://schemas.microsoft.com/office/drawing/2014/main" id="{9639014F-1DFE-4927-921F-4E53CB687F37}"/>
              </a:ext>
            </a:extLst>
          </p:cNvPr>
          <p:cNvSpPr>
            <a:spLocks noGrp="1"/>
          </p:cNvSpPr>
          <p:nvPr>
            <p:ph type="dt" sz="half" idx="10"/>
          </p:nvPr>
        </p:nvSpPr>
        <p:spPr/>
        <p:txBody>
          <a:bodyPr/>
          <a:lstStyle/>
          <a:p>
            <a:fld id="{CFE85FDD-93E9-4DED-94FB-E13CBFB13D77}" type="datetime1">
              <a:rPr lang="es-ES" smtClean="0"/>
              <a:t>29/07/2025</a:t>
            </a:fld>
            <a:endParaRPr lang="es-ES"/>
          </a:p>
        </p:txBody>
      </p:sp>
      <p:sp>
        <p:nvSpPr>
          <p:cNvPr id="5" name="Marcador de pie de página 4">
            <a:extLst>
              <a:ext uri="{FF2B5EF4-FFF2-40B4-BE49-F238E27FC236}">
                <a16:creationId xmlns:a16="http://schemas.microsoft.com/office/drawing/2014/main" id="{703D05DA-9B6F-44F8-A333-ABA84FFE4776}"/>
              </a:ext>
            </a:extLst>
          </p:cNvPr>
          <p:cNvSpPr>
            <a:spLocks noGrp="1"/>
          </p:cNvSpPr>
          <p:nvPr>
            <p:ph type="ftr" sz="quarter" idx="11"/>
          </p:nvPr>
        </p:nvSpPr>
        <p:spPr/>
        <p:txBody>
          <a:bodyPr/>
          <a:lstStyle/>
          <a:p>
            <a:endParaRPr/>
          </a:p>
        </p:txBody>
      </p:sp>
      <p:sp>
        <p:nvSpPr>
          <p:cNvPr id="6" name="Marcador de número de diapositiva 5">
            <a:extLst>
              <a:ext uri="{FF2B5EF4-FFF2-40B4-BE49-F238E27FC236}">
                <a16:creationId xmlns:a16="http://schemas.microsoft.com/office/drawing/2014/main" id="{4B41CCAC-F1C7-439D-A1C6-148B192BEE2C}"/>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8829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E16EB7-D1A7-4CEF-B7B0-D69F5E52A25D}"/>
              </a:ext>
            </a:extLst>
          </p:cNvPr>
          <p:cNvSpPr>
            <a:spLocks noGrp="1"/>
          </p:cNvSpPr>
          <p:nvPr>
            <p:ph type="title"/>
          </p:nvPr>
        </p:nvSpPr>
        <p:spPr>
          <a:ln>
            <a:solidFill>
              <a:schemeClr val="tx1"/>
            </a:solidFill>
          </a:ln>
        </p:spPr>
        <p:txBody>
          <a:bodyPr/>
          <a:lstStyle/>
          <a:p>
            <a:r>
              <a:t>Haga clic para modificar el estilo de título del patrón</a:t>
            </a:r>
          </a:p>
        </p:txBody>
      </p:sp>
      <p:sp>
        <p:nvSpPr>
          <p:cNvPr id="3" name="Marcador de contenido 2">
            <a:extLst>
              <a:ext uri="{FF2B5EF4-FFF2-40B4-BE49-F238E27FC236}">
                <a16:creationId xmlns:a16="http://schemas.microsoft.com/office/drawing/2014/main" id="{2B2099EC-4D79-4FBE-A0F3-85058A8B9915}"/>
              </a:ext>
            </a:extLst>
          </p:cNvPr>
          <p:cNvSpPr>
            <a:spLocks noGrp="1"/>
          </p:cNvSpPr>
          <p:nvPr>
            <p:ph idx="1"/>
          </p:nvPr>
        </p:nvSpPr>
        <p:spPr/>
        <p:txBody>
          <a:bodyPr/>
          <a:lstStyle/>
          <a:p>
            <a:pPr lvl="0"/>
            <a:r>
              <a:t>Haga clic para modificar los estilos de texto del patrón</a:t>
            </a:r>
          </a:p>
          <a:p>
            <a:pPr lvl="1"/>
            <a:r>
              <a:t>Segundo nivel</a:t>
            </a:r>
          </a:p>
          <a:p>
            <a:pPr lvl="2"/>
            <a:r>
              <a:t>Tercer nivel</a:t>
            </a:r>
          </a:p>
          <a:p>
            <a:pPr lvl="3"/>
            <a:r>
              <a:t>Cuarto nivel</a:t>
            </a:r>
          </a:p>
          <a:p>
            <a:pPr lvl="4"/>
            <a:r>
              <a:t>Nivel de Quinto</a:t>
            </a:r>
          </a:p>
        </p:txBody>
      </p:sp>
      <p:sp>
        <p:nvSpPr>
          <p:cNvPr id="4" name="Marcador de fecha 3">
            <a:extLst>
              <a:ext uri="{FF2B5EF4-FFF2-40B4-BE49-F238E27FC236}">
                <a16:creationId xmlns:a16="http://schemas.microsoft.com/office/drawing/2014/main" id="{519089A4-937F-4BD1-809E-44AE307B15D7}"/>
              </a:ext>
            </a:extLst>
          </p:cNvPr>
          <p:cNvSpPr>
            <a:spLocks noGrp="1"/>
          </p:cNvSpPr>
          <p:nvPr>
            <p:ph type="dt" sz="half" idx="10"/>
          </p:nvPr>
        </p:nvSpPr>
        <p:spPr/>
        <p:txBody>
          <a:bodyPr/>
          <a:lstStyle/>
          <a:p>
            <a:fld id="{3530566B-D29A-48B5-AE66-02FE67909A5D}" type="datetime1">
              <a:rPr lang="es-ES" smtClean="0"/>
              <a:t>29/07/2025</a:t>
            </a:fld>
            <a:endParaRPr lang="es-ES"/>
          </a:p>
        </p:txBody>
      </p:sp>
      <p:sp>
        <p:nvSpPr>
          <p:cNvPr id="5" name="Marcador de pie de página 4">
            <a:extLst>
              <a:ext uri="{FF2B5EF4-FFF2-40B4-BE49-F238E27FC236}">
                <a16:creationId xmlns:a16="http://schemas.microsoft.com/office/drawing/2014/main" id="{3A626FFB-669E-4FEF-AAF4-FCBE8D204984}"/>
              </a:ext>
            </a:extLst>
          </p:cNvPr>
          <p:cNvSpPr>
            <a:spLocks noGrp="1"/>
          </p:cNvSpPr>
          <p:nvPr>
            <p:ph type="ftr" sz="quarter" idx="11"/>
          </p:nvPr>
        </p:nvSpPr>
        <p:spPr/>
        <p:txBody>
          <a:bodyPr/>
          <a:lstStyle/>
          <a:p>
            <a:endParaRPr/>
          </a:p>
        </p:txBody>
      </p:sp>
      <p:sp>
        <p:nvSpPr>
          <p:cNvPr id="6" name="Marcador de número de diapositiva 5">
            <a:extLst>
              <a:ext uri="{FF2B5EF4-FFF2-40B4-BE49-F238E27FC236}">
                <a16:creationId xmlns:a16="http://schemas.microsoft.com/office/drawing/2014/main" id="{8B3302B3-AB25-45B7-A138-5DD3F6FD07BE}"/>
              </a:ext>
            </a:extLst>
          </p:cNvPr>
          <p:cNvSpPr>
            <a:spLocks noGrp="1"/>
          </p:cNvSpPr>
          <p:nvPr>
            <p:ph type="sldNum" sz="quarter" idx="12"/>
          </p:nvPr>
        </p:nvSpPr>
        <p:spPr/>
        <p:txBody>
          <a:bodyPr/>
          <a:lstStyle>
            <a:lvl1pPr>
              <a:defRPr sz="1600"/>
            </a:lvl1pPr>
          </a:lstStyle>
          <a:p>
            <a:fld id="{336CAFD0-1F6E-4E11-9822-836563A02839}" type="slidenum">
              <a:rPr lang="es-ES" smtClean="0"/>
              <a:t>‹Nº›</a:t>
            </a:fld>
            <a:endParaRPr lang="es-ES"/>
          </a:p>
        </p:txBody>
      </p:sp>
    </p:spTree>
    <p:extLst>
      <p:ext uri="{BB962C8B-B14F-4D97-AF65-F5344CB8AC3E}">
        <p14:creationId xmlns:p14="http://schemas.microsoft.com/office/powerpoint/2010/main" val="1232818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DBB67B-96F2-4E3B-AD4B-986D490B90D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CA24320-D7DC-4240-B4DF-339532FE9C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42E11C2-AD04-4ED6-82A4-3FD71B6FB041}"/>
              </a:ext>
            </a:extLst>
          </p:cNvPr>
          <p:cNvSpPr>
            <a:spLocks noGrp="1"/>
          </p:cNvSpPr>
          <p:nvPr>
            <p:ph type="dt" sz="half" idx="10"/>
          </p:nvPr>
        </p:nvSpPr>
        <p:spPr/>
        <p:txBody>
          <a:bodyPr/>
          <a:lstStyle/>
          <a:p>
            <a:fld id="{690E50F2-204D-422E-A62C-8A2A95FE0EA0}" type="datetime1">
              <a:rPr lang="es-ES" smtClean="0"/>
              <a:t>29/07/2025</a:t>
            </a:fld>
            <a:endParaRPr lang="es-ES"/>
          </a:p>
        </p:txBody>
      </p:sp>
      <p:sp>
        <p:nvSpPr>
          <p:cNvPr id="5" name="Marcador de pie de página 4">
            <a:extLst>
              <a:ext uri="{FF2B5EF4-FFF2-40B4-BE49-F238E27FC236}">
                <a16:creationId xmlns:a16="http://schemas.microsoft.com/office/drawing/2014/main" id="{0E0448CB-E41F-4F50-8E08-202E8756D23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04FAE15-CF45-4AED-8356-CE6C9EE83A17}"/>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80938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0246AD-7BE6-483F-96A3-541DAD4B8C9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A3C3E4F-C907-4C22-B083-DDF5EDF27FF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65065CB-41D1-4202-A34D-7BB99EB785E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6FAE56AF-AE89-4D7B-A003-4931E6EA89F0}"/>
              </a:ext>
            </a:extLst>
          </p:cNvPr>
          <p:cNvSpPr>
            <a:spLocks noGrp="1"/>
          </p:cNvSpPr>
          <p:nvPr>
            <p:ph type="dt" sz="half" idx="10"/>
          </p:nvPr>
        </p:nvSpPr>
        <p:spPr/>
        <p:txBody>
          <a:bodyPr/>
          <a:lstStyle/>
          <a:p>
            <a:fld id="{39F0192F-D937-48F6-B938-D4FF2285D339}" type="datetime1">
              <a:rPr lang="es-ES" smtClean="0"/>
              <a:t>29/07/2025</a:t>
            </a:fld>
            <a:endParaRPr lang="es-ES"/>
          </a:p>
        </p:txBody>
      </p:sp>
      <p:sp>
        <p:nvSpPr>
          <p:cNvPr id="6" name="Marcador de pie de página 5">
            <a:extLst>
              <a:ext uri="{FF2B5EF4-FFF2-40B4-BE49-F238E27FC236}">
                <a16:creationId xmlns:a16="http://schemas.microsoft.com/office/drawing/2014/main" id="{EAF7D8F9-491C-4103-A8F2-5F9F0FA5D70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F04D832-55CC-4538-B057-CA9881D9ABC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053882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EF558-0175-4BD0-979F-D483F1A0D868}"/>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974E40B-3DF7-44C5-860B-A36DE85FED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106F954-C6D4-4723-8E03-55A1E79F00B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0C871A73-8828-4197-ADC1-0C21128F61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33081A4-0280-4B19-9B06-BA7D8076931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9340A08-2899-40F7-B8EE-A496CBD88CC2}"/>
              </a:ext>
            </a:extLst>
          </p:cNvPr>
          <p:cNvSpPr>
            <a:spLocks noGrp="1"/>
          </p:cNvSpPr>
          <p:nvPr>
            <p:ph type="dt" sz="half" idx="10"/>
          </p:nvPr>
        </p:nvSpPr>
        <p:spPr/>
        <p:txBody>
          <a:bodyPr/>
          <a:lstStyle/>
          <a:p>
            <a:fld id="{C2B58F57-2DA1-4DBA-AA33-8D93DD9494F9}" type="datetime1">
              <a:rPr lang="es-ES" smtClean="0"/>
              <a:t>29/07/2025</a:t>
            </a:fld>
            <a:endParaRPr lang="es-ES"/>
          </a:p>
        </p:txBody>
      </p:sp>
      <p:sp>
        <p:nvSpPr>
          <p:cNvPr id="8" name="Marcador de pie de página 7">
            <a:extLst>
              <a:ext uri="{FF2B5EF4-FFF2-40B4-BE49-F238E27FC236}">
                <a16:creationId xmlns:a16="http://schemas.microsoft.com/office/drawing/2014/main" id="{275E94AC-0958-41A7-A416-28A3791B2DA4}"/>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7A743E3-167E-4DC6-AF9F-963C2A2C867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11594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C0657-7B1A-442F-A5A8-F68C547D6CC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20B9629-5B37-4C68-BCAF-4F204AD59B8A}"/>
              </a:ext>
            </a:extLst>
          </p:cNvPr>
          <p:cNvSpPr>
            <a:spLocks noGrp="1"/>
          </p:cNvSpPr>
          <p:nvPr>
            <p:ph type="dt" sz="half" idx="10"/>
          </p:nvPr>
        </p:nvSpPr>
        <p:spPr/>
        <p:txBody>
          <a:bodyPr/>
          <a:lstStyle/>
          <a:p>
            <a:fld id="{A88FAA46-ADD9-4633-900E-54294B546C39}" type="datetime1">
              <a:rPr lang="es-ES" smtClean="0"/>
              <a:t>29/07/2025</a:t>
            </a:fld>
            <a:endParaRPr lang="es-ES"/>
          </a:p>
        </p:txBody>
      </p:sp>
      <p:sp>
        <p:nvSpPr>
          <p:cNvPr id="4" name="Marcador de pie de página 3">
            <a:extLst>
              <a:ext uri="{FF2B5EF4-FFF2-40B4-BE49-F238E27FC236}">
                <a16:creationId xmlns:a16="http://schemas.microsoft.com/office/drawing/2014/main" id="{AF496A21-694B-4235-9BDF-7FA776CD648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FC769F2-5C78-4519-AE94-E67F0F38EE16}"/>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98525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3476251-88E2-4CBD-95F9-95E8112B58A1}"/>
              </a:ext>
            </a:extLst>
          </p:cNvPr>
          <p:cNvSpPr>
            <a:spLocks noGrp="1"/>
          </p:cNvSpPr>
          <p:nvPr>
            <p:ph type="dt" sz="half" idx="10"/>
          </p:nvPr>
        </p:nvSpPr>
        <p:spPr/>
        <p:txBody>
          <a:bodyPr/>
          <a:lstStyle/>
          <a:p>
            <a:fld id="{DCCAD164-930E-44E1-8AD6-DA81FFB2E87B}" type="datetime1">
              <a:rPr lang="es-ES" smtClean="0"/>
              <a:t>29/07/2025</a:t>
            </a:fld>
            <a:endParaRPr lang="es-ES"/>
          </a:p>
        </p:txBody>
      </p:sp>
      <p:sp>
        <p:nvSpPr>
          <p:cNvPr id="3" name="Marcador de pie de página 2">
            <a:extLst>
              <a:ext uri="{FF2B5EF4-FFF2-40B4-BE49-F238E27FC236}">
                <a16:creationId xmlns:a16="http://schemas.microsoft.com/office/drawing/2014/main" id="{A49AE1B3-12A0-41E5-8708-38E7CDE67E4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D8E5739-F16D-4ED7-934D-15DD6F3FD68A}"/>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04149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05BC6A-6581-45ED-97B2-665F6CC3E5F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F6E2A75-C11D-4D21-973A-6BD6B12AB5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C2970D4-7A79-4101-849B-C528055754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24EC5D-1BA5-4E28-9CF2-850714ED1F67}"/>
              </a:ext>
            </a:extLst>
          </p:cNvPr>
          <p:cNvSpPr>
            <a:spLocks noGrp="1"/>
          </p:cNvSpPr>
          <p:nvPr>
            <p:ph type="dt" sz="half" idx="10"/>
          </p:nvPr>
        </p:nvSpPr>
        <p:spPr/>
        <p:txBody>
          <a:bodyPr/>
          <a:lstStyle/>
          <a:p>
            <a:fld id="{E7A19943-A7E6-4D67-A3E5-3CC6ADA523F1}" type="datetime1">
              <a:rPr lang="es-ES" smtClean="0"/>
              <a:t>29/07/2025</a:t>
            </a:fld>
            <a:endParaRPr lang="es-ES"/>
          </a:p>
        </p:txBody>
      </p:sp>
      <p:sp>
        <p:nvSpPr>
          <p:cNvPr id="6" name="Marcador de pie de página 5">
            <a:extLst>
              <a:ext uri="{FF2B5EF4-FFF2-40B4-BE49-F238E27FC236}">
                <a16:creationId xmlns:a16="http://schemas.microsoft.com/office/drawing/2014/main" id="{9B84FBFE-5582-479B-A6E8-8BD08A0B9E3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F81D782-F740-4365-8C21-A299A8B5FFB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2050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935E2E-4483-4902-9BE4-8F6FA962B21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E9D67D1-94DE-4CC9-85D5-7FFF88118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544DCF8-D22F-4389-B4E4-967056334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762798B-5681-4C69-BB09-2388DA3C2064}"/>
              </a:ext>
            </a:extLst>
          </p:cNvPr>
          <p:cNvSpPr>
            <a:spLocks noGrp="1"/>
          </p:cNvSpPr>
          <p:nvPr>
            <p:ph type="dt" sz="half" idx="10"/>
          </p:nvPr>
        </p:nvSpPr>
        <p:spPr/>
        <p:txBody>
          <a:bodyPr/>
          <a:lstStyle/>
          <a:p>
            <a:fld id="{02312756-8293-4ED7-8C53-E15A36E0B819}" type="datetime1">
              <a:rPr lang="es-ES" smtClean="0"/>
              <a:t>29/07/2025</a:t>
            </a:fld>
            <a:endParaRPr lang="es-ES"/>
          </a:p>
        </p:txBody>
      </p:sp>
      <p:sp>
        <p:nvSpPr>
          <p:cNvPr id="6" name="Marcador de pie de página 5">
            <a:extLst>
              <a:ext uri="{FF2B5EF4-FFF2-40B4-BE49-F238E27FC236}">
                <a16:creationId xmlns:a16="http://schemas.microsoft.com/office/drawing/2014/main" id="{D4B9532C-97BB-441B-B506-C25F8CF2844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8D157D7-9A5A-414D-A0CA-96FAE873A543}"/>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3248935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7A50E-F7F5-4C4D-8B77-79BAEF2E5C0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5AFBB6D-17BE-4C49-BCCF-B5C5CFE9F99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09176D5-891E-44BA-B401-E3A04EAFABAC}"/>
              </a:ext>
            </a:extLst>
          </p:cNvPr>
          <p:cNvSpPr>
            <a:spLocks noGrp="1"/>
          </p:cNvSpPr>
          <p:nvPr>
            <p:ph type="dt" sz="half" idx="10"/>
          </p:nvPr>
        </p:nvSpPr>
        <p:spPr/>
        <p:txBody>
          <a:bodyPr/>
          <a:lstStyle/>
          <a:p>
            <a:fld id="{2D5988EC-7283-4406-9DFD-E99FA692D75C}" type="datetime1">
              <a:rPr lang="es-ES" smtClean="0"/>
              <a:t>29/07/2025</a:t>
            </a:fld>
            <a:endParaRPr lang="es-ES"/>
          </a:p>
        </p:txBody>
      </p:sp>
      <p:sp>
        <p:nvSpPr>
          <p:cNvPr id="5" name="Marcador de pie de página 4">
            <a:extLst>
              <a:ext uri="{FF2B5EF4-FFF2-40B4-BE49-F238E27FC236}">
                <a16:creationId xmlns:a16="http://schemas.microsoft.com/office/drawing/2014/main" id="{9F934A99-FA15-4D15-97E2-3E17E0383DF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6A8D24B-343C-4B37-A9F6-33CE51FE33A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391468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FF92B8F-BB2D-45E5-A81C-009359D306A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49973B1-2492-45DB-BA9B-BD3B59B4B8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07A9D75-FCEC-47C9-AA6E-4D2F6CFF65C0}"/>
              </a:ext>
            </a:extLst>
          </p:cNvPr>
          <p:cNvSpPr>
            <a:spLocks noGrp="1"/>
          </p:cNvSpPr>
          <p:nvPr>
            <p:ph type="dt" sz="half" idx="10"/>
          </p:nvPr>
        </p:nvSpPr>
        <p:spPr/>
        <p:txBody>
          <a:bodyPr/>
          <a:lstStyle/>
          <a:p>
            <a:fld id="{979A9286-D927-4095-B743-3451D71D767F}" type="datetime1">
              <a:rPr lang="es-ES" smtClean="0"/>
              <a:t>29/07/2025</a:t>
            </a:fld>
            <a:endParaRPr lang="es-ES"/>
          </a:p>
        </p:txBody>
      </p:sp>
      <p:sp>
        <p:nvSpPr>
          <p:cNvPr id="5" name="Marcador de pie de página 4">
            <a:extLst>
              <a:ext uri="{FF2B5EF4-FFF2-40B4-BE49-F238E27FC236}">
                <a16:creationId xmlns:a16="http://schemas.microsoft.com/office/drawing/2014/main" id="{8320CC3E-8F0C-4A5B-B192-6F292AE46A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5C7BE2D-24E9-4481-AEB9-697A2447AA61}"/>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213171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3CBADE-FD33-4AF1-9F6F-A44E4356A62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Haga clic para modificar el estilo de título del patrón</a:t>
            </a:r>
          </a:p>
        </p:txBody>
      </p:sp>
      <p:sp>
        <p:nvSpPr>
          <p:cNvPr id="3" name="Marcador de texto 2">
            <a:extLst>
              <a:ext uri="{FF2B5EF4-FFF2-40B4-BE49-F238E27FC236}">
                <a16:creationId xmlns:a16="http://schemas.microsoft.com/office/drawing/2014/main" id="{1674D713-AFC9-4141-B355-05ABF789356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t>Haga clic para modificar los estilos de texto del patrón</a:t>
            </a:r>
          </a:p>
          <a:p>
            <a:pPr lvl="1"/>
            <a:r>
              <a:t>Segundo nivel</a:t>
            </a:r>
          </a:p>
          <a:p>
            <a:pPr lvl="2"/>
            <a:r>
              <a:t>Tercer nivel</a:t>
            </a:r>
          </a:p>
          <a:p>
            <a:pPr lvl="3"/>
            <a:r>
              <a:t>Cuarto nivel</a:t>
            </a:r>
          </a:p>
          <a:p>
            <a:pPr lvl="4"/>
            <a:r>
              <a:t>Nivel de Quinto</a:t>
            </a:r>
          </a:p>
        </p:txBody>
      </p:sp>
      <p:sp>
        <p:nvSpPr>
          <p:cNvPr id="4" name="Marcador de fecha 3">
            <a:extLst>
              <a:ext uri="{FF2B5EF4-FFF2-40B4-BE49-F238E27FC236}">
                <a16:creationId xmlns:a16="http://schemas.microsoft.com/office/drawing/2014/main" id="{21666BF8-72F7-4108-81B8-D74BF52FE0D0}"/>
              </a:ext>
            </a:extLst>
          </p:cNvPr>
          <p:cNvSpPr>
            <a:spLocks noGrp="1"/>
          </p:cNvSpPr>
          <p:nvPr>
            <p:ph type="dt" sz="half" idx="2"/>
          </p:nvPr>
        </p:nvSpPr>
        <p:spPr>
          <a:xfrm>
            <a:off x="838200" y="6356350"/>
            <a:ext cx="2743200" cy="365125"/>
          </a:xfrm>
          <a:prstGeom prst="rect">
            <a:avLst/>
          </a:prstGeom>
        </p:spPr>
        <p:txBody>
          <a:bodyPr vert="horz" lIns="91440" tIns="45720" rIns="91440" bIns="45720" anchor="ctr"/>
          <a:lstStyle>
            <a:lvl1pPr algn="l">
              <a:defRPr sz="1200">
                <a:solidFill>
                  <a:schemeClr val="tx1">
                    <a:tint val="75000"/>
                  </a:schemeClr>
                </a:solidFill>
              </a:defRPr>
            </a:lvl1pPr>
          </a:lstStyle>
          <a:p>
            <a:fld id="{ED6AEDC6-F719-4D5C-BB7F-D599F6A812F4}" type="datetime1">
              <a:rPr lang="es-ES" smtClean="0"/>
              <a:t>29/07/2025</a:t>
            </a:fld>
            <a:endParaRPr lang="es-ES"/>
          </a:p>
        </p:txBody>
      </p:sp>
      <p:sp>
        <p:nvSpPr>
          <p:cNvPr id="5" name="Marcador de pie de página 4">
            <a:extLst>
              <a:ext uri="{FF2B5EF4-FFF2-40B4-BE49-F238E27FC236}">
                <a16:creationId xmlns:a16="http://schemas.microsoft.com/office/drawing/2014/main" id="{30F725B7-4457-4323-8704-24025C4934CB}"/>
              </a:ext>
            </a:extLst>
          </p:cNvPr>
          <p:cNvSpPr>
            <a:spLocks noGrp="1"/>
          </p:cNvSpPr>
          <p:nvPr>
            <p:ph type="ftr" sz="quarter" idx="3"/>
          </p:nvPr>
        </p:nvSpPr>
        <p:spPr>
          <a:xfrm>
            <a:off x="4038600" y="6356350"/>
            <a:ext cx="4114800" cy="365125"/>
          </a:xfrm>
          <a:prstGeom prst="rect">
            <a:avLst/>
          </a:prstGeom>
        </p:spPr>
        <p:txBody>
          <a:bodyPr vert="horz" lIns="91440" tIns="45720" rIns="91440" bIns="45720" anchor="ctr"/>
          <a:lstStyle>
            <a:lvl1pPr algn="ctr">
              <a:defRPr sz="1200">
                <a:solidFill>
                  <a:schemeClr val="tx1">
                    <a:tint val="75000"/>
                  </a:schemeClr>
                </a:solidFill>
              </a:defRPr>
            </a:lvl1pPr>
          </a:lstStyle>
          <a:p>
            <a:endParaRPr/>
          </a:p>
        </p:txBody>
      </p:sp>
      <p:sp>
        <p:nvSpPr>
          <p:cNvPr id="6" name="Marcador de número de diapositiva 5">
            <a:extLst>
              <a:ext uri="{FF2B5EF4-FFF2-40B4-BE49-F238E27FC236}">
                <a16:creationId xmlns:a16="http://schemas.microsoft.com/office/drawing/2014/main" id="{B81E65A2-2681-4AF8-8875-39AE9558A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anchor="ctr"/>
          <a:lstStyle>
            <a:lvl1pPr algn="r">
              <a:defRPr sz="1200">
                <a:solidFill>
                  <a:schemeClr val="tx1">
                    <a:tint val="75000"/>
                  </a:schemeClr>
                </a:solidFill>
              </a:defRPr>
            </a:lvl1pPr>
          </a:lstStyle>
          <a:p>
            <a:fld id="{336CAFD0-1F6E-4E11-9822-836563A02839}" type="slidenum">
              <a:rPr lang="es-ES" smtClean="0"/>
              <a:t>‹Nº›</a:t>
            </a:fld>
            <a:endParaRPr lang="es-ES"/>
          </a:p>
        </p:txBody>
      </p:sp>
    </p:spTree>
    <p:extLst>
      <p:ext uri="{BB962C8B-B14F-4D97-AF65-F5344CB8AC3E}">
        <p14:creationId xmlns:p14="http://schemas.microsoft.com/office/powerpoint/2010/main" val="2916707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oreilly.com/library-access/?next=/library/view/Probability-and-statistics/9781439875919/"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royectodescartes.org/iCartesiLibri/materiales_didacticos/EstadisticaProbabilidadInferencia/index.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proyectodescartes.org/iCartesiLibri/materiales_didacticos/IntroduccionEstadisticaProbabilidad/4ESO/Probabilidad/5_3ProbabilidadKolmogorov.html"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hyperlink" Target="https://es.wikipedia.org/wiki/Jakob_Bernoulli"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45.png"/><Relationship Id="rId7"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7.png"/><Relationship Id="rId10" Type="http://schemas.openxmlformats.org/officeDocument/2006/relationships/hyperlink" Target="https://openclipart.org/detail/26713/fwd__bubble_hand_drawn-by-rejon-177666" TargetMode="External"/><Relationship Id="rId9"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hyperlink" Target="https://es.wikipedia.org/wiki/Jakob_Bernoulli"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hyperlink" Target="https://openclipart.org/detail/26713/fwd__bubble_hand_drawn-by-rejon-177666"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00.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openclipart.org/detail/26713/fwd__bubble_hand_drawn-by-rejon-177666" TargetMode="External"/><Relationship Id="rId5" Type="http://schemas.openxmlformats.org/officeDocument/2006/relationships/image" Target="../media/image46.png"/><Relationship Id="rId4" Type="http://schemas.openxmlformats.org/officeDocument/2006/relationships/image" Target="../media/image62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hyperlink" Target="https://openclipart.org/detail/26713/fwd__bubble_hand_drawn-by-rejon-177666" TargetMode="External"/><Relationship Id="rId4" Type="http://schemas.openxmlformats.org/officeDocument/2006/relationships/image" Target="../media/image4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7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3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learning.oreilly.com/library/view/student-solutions-manual/9780470888445/Chapter03.html" TargetMode="External"/><Relationship Id="rId2" Type="http://schemas.openxmlformats.org/officeDocument/2006/relationships/hyperlink" Target="https://learning.oreilly.com/library/view/applied-statistics-and/9780470053041/Chapter03.html#ch003-sec008"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hyperlink" Target="https://es.wikipedia.org/wiki/Sim%C3%A9on_Denis_Poisson"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1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7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7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8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5024B-BC8C-4A3E-B772-46F3159760AA}"/>
              </a:ext>
            </a:extLst>
          </p:cNvPr>
          <p:cNvSpPr>
            <a:spLocks noGrp="1"/>
          </p:cNvSpPr>
          <p:nvPr>
            <p:ph type="ctrTitle"/>
          </p:nvPr>
        </p:nvSpPr>
        <p:spPr/>
        <p:txBody>
          <a:bodyPr>
            <a:normAutofit fontScale="90000"/>
          </a:bodyPr>
          <a:lstStyle/>
          <a:p>
            <a:r>
              <a:rPr lang="es-ES" dirty="0"/>
              <a:t>Variables aleatorias discretas y sus d</a:t>
            </a:r>
            <a:r>
              <a:rPr dirty="0" err="1"/>
              <a:t>istribuciones</a:t>
            </a:r>
            <a:r>
              <a:rPr dirty="0"/>
              <a:t> </a:t>
            </a:r>
            <a:r>
              <a:rPr lang="es-ES" dirty="0"/>
              <a:t>de probabilidad</a:t>
            </a:r>
            <a:endParaRPr dirty="0"/>
          </a:p>
        </p:txBody>
      </p:sp>
      <p:sp>
        <p:nvSpPr>
          <p:cNvPr id="3" name="Subtítulo 2">
            <a:extLst>
              <a:ext uri="{FF2B5EF4-FFF2-40B4-BE49-F238E27FC236}">
                <a16:creationId xmlns:a16="http://schemas.microsoft.com/office/drawing/2014/main" id="{C26AD6E3-038F-4B94-A53F-314F158509E6}"/>
              </a:ext>
            </a:extLst>
          </p:cNvPr>
          <p:cNvSpPr>
            <a:spLocks noGrp="1"/>
          </p:cNvSpPr>
          <p:nvPr>
            <p:ph type="subTitle" idx="1"/>
          </p:nvPr>
        </p:nvSpPr>
        <p:spPr>
          <a:xfrm>
            <a:off x="1524000" y="4010833"/>
            <a:ext cx="9144000" cy="1655762"/>
          </a:xfrm>
        </p:spPr>
        <p:txBody>
          <a:bodyPr/>
          <a:lstStyle/>
          <a:p>
            <a:r>
              <a:rPr dirty="0" err="1"/>
              <a:t>Contenidos</a:t>
            </a:r>
            <a:r>
              <a:rPr dirty="0"/>
              <a:t> </a:t>
            </a:r>
            <a:r>
              <a:rPr dirty="0" err="1"/>
              <a:t>adaptados</a:t>
            </a:r>
            <a:r>
              <a:rPr dirty="0"/>
              <a:t> del </a:t>
            </a:r>
            <a:r>
              <a:rPr dirty="0" err="1"/>
              <a:t>libro</a:t>
            </a:r>
            <a:r>
              <a:rPr dirty="0"/>
              <a:t> </a:t>
            </a:r>
            <a:r>
              <a:rPr lang="es-ES" dirty="0"/>
              <a:t>"</a:t>
            </a:r>
            <a:r>
              <a:rPr lang="en-US" dirty="0">
                <a:hlinkClick r:id="rId2"/>
              </a:rPr>
              <a:t>Probability and statistics for computer scientists, Second edition, M. Baron</a:t>
            </a:r>
            <a:r>
              <a:rPr lang="es-ES" dirty="0"/>
              <a:t>" </a:t>
            </a:r>
            <a:r>
              <a:rPr dirty="0"/>
              <a:t>(</a:t>
            </a:r>
            <a:r>
              <a:rPr dirty="0" err="1"/>
              <a:t>Capítulo</a:t>
            </a:r>
            <a:r>
              <a:rPr dirty="0"/>
              <a:t> 3)</a:t>
            </a:r>
          </a:p>
        </p:txBody>
      </p:sp>
    </p:spTree>
    <p:extLst>
      <p:ext uri="{BB962C8B-B14F-4D97-AF65-F5344CB8AC3E}">
        <p14:creationId xmlns:p14="http://schemas.microsoft.com/office/powerpoint/2010/main" val="2737515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20BF6A-4F76-40F2-AADF-4A9781E2BEC8}"/>
              </a:ext>
            </a:extLst>
          </p:cNvPr>
          <p:cNvSpPr>
            <a:spLocks noGrp="1"/>
          </p:cNvSpPr>
          <p:nvPr>
            <p:ph type="title"/>
          </p:nvPr>
        </p:nvSpPr>
        <p:spPr/>
        <p:txBody>
          <a:bodyPr/>
          <a:lstStyle/>
          <a:p>
            <a:r>
              <a:rPr dirty="0" err="1"/>
              <a:t>Contenido</a:t>
            </a:r>
            <a:r>
              <a:rPr lang="es-ES" dirty="0"/>
              <a:t>s</a:t>
            </a:r>
            <a:endParaRPr dirty="0"/>
          </a:p>
        </p:txBody>
      </p:sp>
      <p:sp>
        <p:nvSpPr>
          <p:cNvPr id="3" name="Marcador de contenido 2">
            <a:extLst>
              <a:ext uri="{FF2B5EF4-FFF2-40B4-BE49-F238E27FC236}">
                <a16:creationId xmlns:a16="http://schemas.microsoft.com/office/drawing/2014/main" id="{3DD641DE-CE43-4099-914E-C8A920DB30F6}"/>
              </a:ext>
            </a:extLst>
          </p:cNvPr>
          <p:cNvSpPr>
            <a:spLocks noGrp="1"/>
          </p:cNvSpPr>
          <p:nvPr>
            <p:ph idx="1"/>
          </p:nvPr>
        </p:nvSpPr>
        <p:spPr>
          <a:xfrm>
            <a:off x="838200" y="1825624"/>
            <a:ext cx="10515600" cy="4811843"/>
          </a:xfrm>
        </p:spPr>
        <p:txBody>
          <a:bodyPr>
            <a:normAutofit fontScale="70000" lnSpcReduction="20000"/>
          </a:bodyPr>
          <a:lstStyle/>
          <a:p>
            <a:pPr marL="514350" indent="-514350">
              <a:buFont typeface="+mj-lt"/>
              <a:buAutoNum type="arabicPeriod"/>
            </a:pPr>
            <a:r>
              <a:rPr lang="es-ES" dirty="0"/>
              <a:t>Objetivos</a:t>
            </a:r>
          </a:p>
          <a:p>
            <a:pPr marL="514350" indent="-514350">
              <a:buFont typeface="+mj-lt"/>
              <a:buAutoNum type="arabicPeriod"/>
            </a:pPr>
            <a:r>
              <a:rPr lang="es-ES" dirty="0"/>
              <a:t>Conceptos previos</a:t>
            </a:r>
          </a:p>
          <a:p>
            <a:pPr marL="514350" indent="-514350">
              <a:buFont typeface="+mj-lt"/>
              <a:buAutoNum type="arabicPeriod"/>
            </a:pPr>
            <a:r>
              <a:rPr lang="es-ES" dirty="0"/>
              <a:t>Definición de variable aleatoria</a:t>
            </a:r>
          </a:p>
          <a:p>
            <a:pPr marL="514350" indent="-514350">
              <a:buFont typeface="+mj-lt"/>
              <a:buAutoNum type="arabicPeriod"/>
            </a:pPr>
            <a:r>
              <a:rPr lang="es-ES" dirty="0"/>
              <a:t>Distribución de probabilidad de una variable aleatoria discreta</a:t>
            </a:r>
          </a:p>
          <a:p>
            <a:pPr marL="514350" indent="-514350">
              <a:buFont typeface="+mj-lt"/>
              <a:buAutoNum type="arabicPeriod"/>
            </a:pPr>
            <a:r>
              <a:rPr lang="es-ES" dirty="0"/>
              <a:t>Características de una variable aleatoria discreta (esperanza, varianza, desviación estándar)</a:t>
            </a:r>
          </a:p>
          <a:p>
            <a:pPr marL="514350" indent="-514350">
              <a:buFont typeface="+mj-lt"/>
              <a:buAutoNum type="arabicPeriod"/>
            </a:pPr>
            <a:r>
              <a:rPr lang="es-ES" dirty="0"/>
              <a:t>Distribución de probabilidad de un vector aleatorio discreto</a:t>
            </a:r>
          </a:p>
          <a:p>
            <a:pPr marL="514350" indent="-514350">
              <a:buFont typeface="+mj-lt"/>
              <a:buAutoNum type="arabicPeriod"/>
            </a:pPr>
            <a:r>
              <a:rPr lang="es-ES" dirty="0"/>
              <a:t>Esperanza de funciones de más de una variable</a:t>
            </a:r>
          </a:p>
          <a:p>
            <a:pPr marL="514350" indent="-514350">
              <a:buFont typeface="+mj-lt"/>
              <a:buAutoNum type="arabicPeriod"/>
            </a:pPr>
            <a:r>
              <a:rPr dirty="0" err="1"/>
              <a:t>Distribución</a:t>
            </a:r>
            <a:r>
              <a:rPr dirty="0"/>
              <a:t> de Bernoulli</a:t>
            </a:r>
          </a:p>
          <a:p>
            <a:pPr marL="514350" indent="-514350">
              <a:buFont typeface="+mj-lt"/>
              <a:buAutoNum type="arabicPeriod"/>
            </a:pPr>
            <a:r>
              <a:rPr dirty="0" err="1"/>
              <a:t>Distribución</a:t>
            </a:r>
            <a:r>
              <a:rPr dirty="0"/>
              <a:t> </a:t>
            </a:r>
            <a:r>
              <a:rPr lang="es-ES" dirty="0"/>
              <a:t>B</a:t>
            </a:r>
            <a:r>
              <a:rPr dirty="0" err="1"/>
              <a:t>inomial</a:t>
            </a:r>
            <a:endParaRPr lang="es-ES" dirty="0"/>
          </a:p>
          <a:p>
            <a:pPr marL="514350" indent="-514350">
              <a:buFont typeface="+mj-lt"/>
              <a:buAutoNum type="arabicPeriod"/>
            </a:pPr>
            <a:r>
              <a:rPr dirty="0" err="1"/>
              <a:t>Distribución</a:t>
            </a:r>
            <a:r>
              <a:rPr dirty="0"/>
              <a:t> </a:t>
            </a:r>
            <a:r>
              <a:rPr lang="es-ES" dirty="0"/>
              <a:t>G</a:t>
            </a:r>
            <a:r>
              <a:rPr dirty="0" err="1"/>
              <a:t>eométrica</a:t>
            </a:r>
            <a:endParaRPr dirty="0"/>
          </a:p>
          <a:p>
            <a:pPr marL="514350" indent="-514350">
              <a:buFont typeface="+mj-lt"/>
              <a:buAutoNum type="arabicPeriod"/>
            </a:pPr>
            <a:r>
              <a:rPr dirty="0" err="1"/>
              <a:t>Distribución</a:t>
            </a:r>
            <a:r>
              <a:rPr dirty="0"/>
              <a:t> </a:t>
            </a:r>
            <a:r>
              <a:rPr lang="es-ES" dirty="0"/>
              <a:t>B</a:t>
            </a:r>
            <a:r>
              <a:rPr dirty="0" err="1"/>
              <a:t>inomial</a:t>
            </a:r>
            <a:r>
              <a:rPr dirty="0"/>
              <a:t> </a:t>
            </a:r>
            <a:r>
              <a:rPr lang="es-ES" dirty="0"/>
              <a:t>N</a:t>
            </a:r>
            <a:r>
              <a:rPr dirty="0" err="1"/>
              <a:t>egativa</a:t>
            </a:r>
            <a:endParaRPr lang="es-ES" dirty="0"/>
          </a:p>
          <a:p>
            <a:pPr marL="514350" indent="-514350">
              <a:buFont typeface="+mj-lt"/>
              <a:buAutoNum type="arabicPeriod"/>
            </a:pPr>
            <a:r>
              <a:rPr lang="es-ES" dirty="0" err="1"/>
              <a:t>Distribucion</a:t>
            </a:r>
            <a:r>
              <a:rPr lang="es-ES" dirty="0"/>
              <a:t> Hipergeométrica (no está en el libro)</a:t>
            </a:r>
          </a:p>
          <a:p>
            <a:pPr marL="514350" indent="-514350">
              <a:buFont typeface="+mj-lt"/>
              <a:buAutoNum type="arabicPeriod"/>
            </a:pPr>
            <a:r>
              <a:rPr dirty="0" err="1"/>
              <a:t>Distribución</a:t>
            </a:r>
            <a:r>
              <a:rPr dirty="0"/>
              <a:t> de Poisson</a:t>
            </a:r>
          </a:p>
          <a:p>
            <a:pPr marL="514350" indent="-514350">
              <a:buFont typeface="+mj-lt"/>
              <a:buAutoNum type="arabicPeriod"/>
            </a:pPr>
            <a:r>
              <a:rPr dirty="0" err="1"/>
              <a:t>Resumen</a:t>
            </a:r>
            <a:endParaRPr dirty="0"/>
          </a:p>
        </p:txBody>
      </p:sp>
      <p:sp>
        <p:nvSpPr>
          <p:cNvPr id="4" name="Marcador de número de diapositiva 3">
            <a:extLst>
              <a:ext uri="{FF2B5EF4-FFF2-40B4-BE49-F238E27FC236}">
                <a16:creationId xmlns:a16="http://schemas.microsoft.com/office/drawing/2014/main" id="{35184F0A-2B41-D9D8-BF21-77971EAEBAF2}"/>
              </a:ext>
            </a:extLst>
          </p:cNvPr>
          <p:cNvSpPr>
            <a:spLocks noGrp="1"/>
          </p:cNvSpPr>
          <p:nvPr>
            <p:ph type="sldNum" sz="quarter" idx="12"/>
          </p:nvPr>
        </p:nvSpPr>
        <p:spPr/>
        <p:txBody>
          <a:bodyPr/>
          <a:lstStyle/>
          <a:p>
            <a:fld id="{336CAFD0-1F6E-4E11-9822-836563A02839}" type="slidenum">
              <a:rPr lang="es-ES" smtClean="0"/>
              <a:t>2</a:t>
            </a:fld>
            <a:endParaRPr lang="es-ES"/>
          </a:p>
        </p:txBody>
      </p:sp>
    </p:spTree>
    <p:extLst>
      <p:ext uri="{BB962C8B-B14F-4D97-AF65-F5344CB8AC3E}">
        <p14:creationId xmlns:p14="http://schemas.microsoft.com/office/powerpoint/2010/main" val="3517064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18D74D-BDDF-1C25-911B-86A5190A6892}"/>
              </a:ext>
            </a:extLst>
          </p:cNvPr>
          <p:cNvSpPr>
            <a:spLocks noGrp="1"/>
          </p:cNvSpPr>
          <p:nvPr>
            <p:ph type="title"/>
          </p:nvPr>
        </p:nvSpPr>
        <p:spPr/>
        <p:txBody>
          <a:bodyPr/>
          <a:lstStyle/>
          <a:p>
            <a:r>
              <a:rPr lang="es-ES" dirty="0"/>
              <a:t>1. Objetivos</a:t>
            </a:r>
          </a:p>
        </p:txBody>
      </p:sp>
      <p:sp>
        <p:nvSpPr>
          <p:cNvPr id="3" name="Marcador de contenido 2">
            <a:extLst>
              <a:ext uri="{FF2B5EF4-FFF2-40B4-BE49-F238E27FC236}">
                <a16:creationId xmlns:a16="http://schemas.microsoft.com/office/drawing/2014/main" id="{062C495E-D52C-8834-4B07-A00D5887FAB1}"/>
              </a:ext>
            </a:extLst>
          </p:cNvPr>
          <p:cNvSpPr>
            <a:spLocks noGrp="1"/>
          </p:cNvSpPr>
          <p:nvPr>
            <p:ph idx="1"/>
          </p:nvPr>
        </p:nvSpPr>
        <p:spPr/>
        <p:txBody>
          <a:bodyPr>
            <a:normAutofit fontScale="92500" lnSpcReduction="20000"/>
          </a:bodyPr>
          <a:lstStyle/>
          <a:p>
            <a:r>
              <a:rPr lang="es-ES" dirty="0"/>
              <a:t>Recordar el </a:t>
            </a:r>
            <a:r>
              <a:rPr lang="es-ES" dirty="0">
                <a:hlinkClick r:id="rId2"/>
              </a:rPr>
              <a:t>concepto de variable aleatoria</a:t>
            </a:r>
            <a:endParaRPr lang="es-ES" dirty="0"/>
          </a:p>
          <a:p>
            <a:r>
              <a:rPr lang="es-ES" dirty="0"/>
              <a:t>Diferenciar entre distribución de probabilidad discreta y continua</a:t>
            </a:r>
          </a:p>
          <a:p>
            <a:r>
              <a:rPr lang="es-ES" dirty="0"/>
              <a:t>Calcular probabilidades, esperanzas, varianzas y desviaciones estándar de variables aleatorias discretas con distribución de Bernoulli, Binomial, Geométrica, Binomial Negativa, Hipergeométrica y de Poisson</a:t>
            </a:r>
          </a:p>
          <a:p>
            <a:r>
              <a:rPr lang="es-ES" dirty="0"/>
              <a:t>Calcular el límite de probabilidad según la desigualdad de </a:t>
            </a:r>
            <a:r>
              <a:rPr lang="es-ES" dirty="0" err="1"/>
              <a:t>Chebyshev</a:t>
            </a:r>
            <a:endParaRPr lang="es-ES" dirty="0"/>
          </a:p>
          <a:p>
            <a:r>
              <a:rPr lang="es-ES" dirty="0"/>
              <a:t>Diferenciar entre variable aleatoria discreta y vector aleatorio discreto</a:t>
            </a:r>
          </a:p>
          <a:p>
            <a:r>
              <a:rPr lang="es-ES" dirty="0"/>
              <a:t>Obtener la distribución conjunta de un vector aleatorio discreto, y sus distribuciones marginales</a:t>
            </a:r>
          </a:p>
          <a:p>
            <a:r>
              <a:rPr lang="es-ES" dirty="0"/>
              <a:t>Determinar si dos variables son independientes</a:t>
            </a:r>
          </a:p>
          <a:p>
            <a:r>
              <a:rPr lang="es-ES" dirty="0"/>
              <a:t>Calcular la esperanza de funciones de más de una variable</a:t>
            </a:r>
          </a:p>
          <a:p>
            <a:pPr marL="457200" lvl="1" indent="0">
              <a:buNone/>
            </a:pPr>
            <a:endParaRPr lang="es-ES" dirty="0"/>
          </a:p>
          <a:p>
            <a:endParaRPr lang="es-ES" dirty="0"/>
          </a:p>
        </p:txBody>
      </p:sp>
      <p:sp>
        <p:nvSpPr>
          <p:cNvPr id="4" name="Marcador de número de diapositiva 3">
            <a:extLst>
              <a:ext uri="{FF2B5EF4-FFF2-40B4-BE49-F238E27FC236}">
                <a16:creationId xmlns:a16="http://schemas.microsoft.com/office/drawing/2014/main" id="{C3451FA0-398C-1AA8-C03C-622472FA61C2}"/>
              </a:ext>
            </a:extLst>
          </p:cNvPr>
          <p:cNvSpPr>
            <a:spLocks noGrp="1"/>
          </p:cNvSpPr>
          <p:nvPr>
            <p:ph type="sldNum" sz="quarter" idx="12"/>
          </p:nvPr>
        </p:nvSpPr>
        <p:spPr/>
        <p:txBody>
          <a:bodyPr/>
          <a:lstStyle/>
          <a:p>
            <a:fld id="{336CAFD0-1F6E-4E11-9822-836563A02839}" type="slidenum">
              <a:rPr lang="es-ES" smtClean="0"/>
              <a:t>3</a:t>
            </a:fld>
            <a:endParaRPr lang="es-ES"/>
          </a:p>
        </p:txBody>
      </p:sp>
    </p:spTree>
    <p:extLst>
      <p:ext uri="{BB962C8B-B14F-4D97-AF65-F5344CB8AC3E}">
        <p14:creationId xmlns:p14="http://schemas.microsoft.com/office/powerpoint/2010/main" val="4065945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2</a:t>
            </a:r>
            <a:r>
              <a:rPr lang="es-ES" sz="4400" b="0" strike="noStrike" spc="-1" dirty="0">
                <a:solidFill>
                  <a:srgbClr val="000000"/>
                </a:solidFill>
                <a:latin typeface="Calibri Light"/>
              </a:rPr>
              <a:t>. Conceptos previos</a:t>
            </a:r>
            <a:br>
              <a:rPr lang="es-ES" sz="4400" b="0" strike="noStrike" spc="-1" dirty="0">
                <a:solidFill>
                  <a:srgbClr val="000000"/>
                </a:solidFill>
                <a:latin typeface="Calibri Light"/>
              </a:rPr>
            </a:br>
            <a:r>
              <a:rPr lang="es-ES" sz="4400" b="0" strike="noStrike" spc="-1" dirty="0">
                <a:solidFill>
                  <a:srgbClr val="000000"/>
                </a:solidFill>
                <a:latin typeface="Calibri Light"/>
              </a:rPr>
              <a:t>Espacio muestral y suceso</a:t>
            </a:r>
            <a:endParaRPr lang="es-ES"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87" name="PlaceHolder 2"/>
              <p:cNvSpPr>
                <a:spLocks noGrp="1"/>
              </p:cNvSpPr>
              <p:nvPr>
                <p:ph/>
              </p:nvPr>
            </p:nvSpPr>
            <p:spPr>
              <a:xfrm>
                <a:off x="838080" y="1825560"/>
                <a:ext cx="10515240" cy="466740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pc="-1" dirty="0">
                    <a:solidFill>
                      <a:srgbClr val="000000"/>
                    </a:solidFill>
                    <a:latin typeface="Calibri"/>
                  </a:rPr>
                  <a:t>Espacio muestral: conjunto de </a:t>
                </a:r>
                <a:r>
                  <a:rPr lang="es-ES" b="0" strike="noStrike" spc="-1" dirty="0">
                    <a:solidFill>
                      <a:srgbClr val="000000"/>
                    </a:solidFill>
                    <a:latin typeface="Calibri"/>
                  </a:rPr>
                  <a:t>todos los </a:t>
                </a:r>
                <a:r>
                  <a:rPr lang="es-ES" strike="noStrike" spc="-1" dirty="0">
                    <a:solidFill>
                      <a:srgbClr val="000000"/>
                    </a:solidFill>
                    <a:latin typeface="Calibri"/>
                  </a:rPr>
                  <a:t>posibles resultados elementales (</a:t>
                </a:r>
                <a14:m>
                  <m:oMath xmlns:m="http://schemas.openxmlformats.org/officeDocument/2006/math">
                    <m:sSub>
                      <m:sSubPr>
                        <m:ctrlPr>
                          <a:rPr lang="es-ES" i="1" strike="noStrike" spc="-1" smtClean="0">
                            <a:solidFill>
                              <a:srgbClr val="000000"/>
                            </a:solidFill>
                            <a:latin typeface="Cambria Math" panose="02040503050406030204" pitchFamily="18" charset="0"/>
                          </a:rPr>
                        </m:ctrlPr>
                      </m:sSubPr>
                      <m:e>
                        <m:r>
                          <a:rPr lang="es-ES" b="0" i="1" strike="noStrike" spc="-1" smtClean="0">
                            <a:solidFill>
                              <a:srgbClr val="000000"/>
                            </a:solidFill>
                            <a:latin typeface="Cambria Math" panose="02040503050406030204" pitchFamily="18" charset="0"/>
                            <a:ea typeface="Cambria Math" panose="02040503050406030204" pitchFamily="18" charset="0"/>
                          </a:rPr>
                          <m:t>𝜔</m:t>
                        </m:r>
                      </m:e>
                      <m:sub>
                        <m:r>
                          <a:rPr lang="es-ES" b="0" i="1" strike="noStrike" spc="-1" smtClean="0">
                            <a:solidFill>
                              <a:srgbClr val="000000"/>
                            </a:solidFill>
                            <a:latin typeface="Cambria Math" panose="02040503050406030204" pitchFamily="18" charset="0"/>
                          </a:rPr>
                          <m:t>𝑖</m:t>
                        </m:r>
                      </m:sub>
                    </m:sSub>
                  </m:oMath>
                </a14:m>
                <a:r>
                  <a:rPr lang="es-ES" strike="noStrike" spc="-1" dirty="0">
                    <a:solidFill>
                      <a:srgbClr val="000000"/>
                    </a:solidFill>
                    <a:latin typeface="Calibri"/>
                  </a:rPr>
                  <a:t>) de un experimento aleatorio</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Ejemplo: Un experimento puede ser ”</a:t>
                </a:r>
                <a:r>
                  <a:rPr lang="es-ES" sz="2400" b="0" i="1" strike="noStrike" spc="-1" dirty="0">
                    <a:solidFill>
                      <a:srgbClr val="000000"/>
                    </a:solidFill>
                    <a:latin typeface="Calibri"/>
                  </a:rPr>
                  <a:t>lanzar tres monedas</a:t>
                </a:r>
                <a:r>
                  <a:rPr lang="es-ES" i="1" spc="-1" dirty="0">
                    <a:solidFill>
                      <a:srgbClr val="000000"/>
                    </a:solidFill>
                    <a:latin typeface="Calibri"/>
                  </a:rPr>
                  <a:t>”</a:t>
                </a:r>
                <a:r>
                  <a:rPr lang="es-ES" sz="2400" b="0" strike="noStrike" spc="-1" dirty="0">
                    <a:solidFill>
                      <a:srgbClr val="000000"/>
                    </a:solidFill>
                    <a:latin typeface="Calibri"/>
                  </a:rPr>
                  <a:t>, el espacio muestral incluye 8 posibles resultados</a:t>
                </a:r>
              </a:p>
              <a:p>
                <a:pPr lvl="2">
                  <a:spcBef>
                    <a:spcPts val="499"/>
                  </a:spcBef>
                  <a:buClr>
                    <a:srgbClr val="000000"/>
                  </a:buClr>
                  <a:buFont typeface="Arial"/>
                  <a:buChar char="•"/>
                </a:pPr>
                <a:r>
                  <a:rPr lang="es-ES" b="0" i="1" strike="noStrike" spc="-1" dirty="0">
                    <a:solidFill>
                      <a:srgbClr val="000000"/>
                    </a:solidFill>
                    <a:latin typeface="Calibri"/>
                  </a:rPr>
                  <a:t>Nota: Cara = C, Cruz = X</a:t>
                </a:r>
              </a:p>
              <a:p>
                <a:pPr lvl="2"/>
                <a:r>
                  <a:rPr lang="es-ES" b="0" dirty="0">
                    <a:ea typeface="Cambria Math" panose="02040503050406030204" pitchFamily="18" charset="0"/>
                  </a:rPr>
                  <a:t>Espacio muestral: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Ω</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𝐶𝐶𝐶</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𝐶𝐶𝑋</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𝐶𝑋𝐶</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𝐶𝑋𝑋</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𝑋𝐶𝐶</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𝑋𝐶𝑋</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𝑋𝑋𝐶</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𝑋𝑋𝑋</m:t>
                    </m:r>
                    <m:r>
                      <a:rPr lang="es-ES" i="1">
                        <a:latin typeface="Cambria Math" panose="02040503050406030204" pitchFamily="18" charset="0"/>
                        <a:ea typeface="Cambria Math" panose="02040503050406030204" pitchFamily="18" charset="0"/>
                      </a:rPr>
                      <m:t>}</m:t>
                    </m:r>
                  </m:oMath>
                </a14:m>
                <a:endParaRPr lang="en-US" dirty="0"/>
              </a:p>
              <a:p>
                <a:pPr lvl="2"/>
                <a:r>
                  <a:rPr lang="es-ES" dirty="0"/>
                  <a:t>Resultados: </a:t>
                </a: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𝜔</m:t>
                        </m:r>
                      </m:e>
                      <m:sub>
                        <m:r>
                          <a:rPr lang="es-ES" b="0" i="1" smtClean="0">
                            <a:latin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𝐶𝐶𝐶</m:t>
                    </m:r>
                    <m:r>
                      <a:rPr lang="es-ES" b="0" i="1" smtClean="0">
                        <a:latin typeface="Cambria Math" panose="02040503050406030204" pitchFamily="18" charset="0"/>
                        <a:ea typeface="Cambria Math" panose="02040503050406030204" pitchFamily="18" charset="0"/>
                      </a:rPr>
                      <m:t>, …, </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𝜔</m:t>
                        </m:r>
                      </m:e>
                      <m:sub>
                        <m:r>
                          <a:rPr lang="es-ES" b="0" i="1" smtClean="0">
                            <a:latin typeface="Cambria Math" panose="02040503050406030204" pitchFamily="18" charset="0"/>
                            <a:ea typeface="Cambria Math" panose="02040503050406030204" pitchFamily="18" charset="0"/>
                          </a:rPr>
                          <m:t>8</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𝑋𝑋𝑋</m:t>
                    </m:r>
                  </m:oMath>
                </a14:m>
                <a:endParaRPr lang="en-US"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Suceso (evento): un subconjunto del espacio muestral</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Ejemplos de sucesos:</a:t>
                </a:r>
              </a:p>
              <a:p>
                <a:pPr lvl="2"/>
                <a14:m>
                  <m:oMath xmlns:m="http://schemas.openxmlformats.org/officeDocument/2006/math">
                    <m:r>
                      <a:rPr lang="es-ES" b="0" i="1" smtClean="0">
                        <a:latin typeface="Cambria Math" panose="02040503050406030204" pitchFamily="18" charset="0"/>
                        <a:ea typeface="Cambria Math" panose="02040503050406030204" pitchFamily="18" charset="0"/>
                      </a:rPr>
                      <m:t>𝑂𝑏𝑡𝑒𝑛𝑒𝑟</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𝑡𝑟𝑒𝑠</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𝑐𝑎𝑟𝑎𝑠</m:t>
                    </m:r>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𝐶𝐶𝐶</m:t>
                    </m:r>
                    <m:r>
                      <a:rPr lang="es-ES" i="1" smtClean="0">
                        <a:latin typeface="Cambria Math" panose="02040503050406030204" pitchFamily="18" charset="0"/>
                        <a:ea typeface="Cambria Math" panose="02040503050406030204" pitchFamily="18" charset="0"/>
                      </a:rPr>
                      <m:t>}</m:t>
                    </m:r>
                  </m:oMath>
                </a14:m>
                <a:endParaRPr lang="en-US" dirty="0"/>
              </a:p>
              <a:p>
                <a:pPr lvl="2"/>
                <a14:m>
                  <m:oMath xmlns:m="http://schemas.openxmlformats.org/officeDocument/2006/math">
                    <m:r>
                      <a:rPr lang="es-ES" b="0" i="1" smtClean="0">
                        <a:latin typeface="Cambria Math" panose="02040503050406030204" pitchFamily="18" charset="0"/>
                        <a:ea typeface="Cambria Math" panose="02040503050406030204" pitchFamily="18" charset="0"/>
                      </a:rPr>
                      <m:t>𝑂𝑏𝑡𝑒𝑛𝑒𝑟</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𝑠</m:t>
                    </m:r>
                    <m:r>
                      <a:rPr lang="es-ES" b="0" i="1" smtClean="0">
                        <a:latin typeface="Cambria Math" panose="02040503050406030204" pitchFamily="18" charset="0"/>
                        <a:ea typeface="Cambria Math" panose="02040503050406030204" pitchFamily="18" charset="0"/>
                      </a:rPr>
                      <m:t>ó</m:t>
                    </m:r>
                    <m:r>
                      <a:rPr lang="es-ES" b="0" i="1" smtClean="0">
                        <a:latin typeface="Cambria Math" panose="02040503050406030204" pitchFamily="18" charset="0"/>
                        <a:ea typeface="Cambria Math" panose="02040503050406030204" pitchFamily="18" charset="0"/>
                      </a:rPr>
                      <m:t>𝑙𝑜</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𝑢𝑛𝑎</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𝑐𝑟𝑢𝑧</m:t>
                    </m:r>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𝐶𝐶𝑋</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𝐶𝑋𝐶</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𝑋𝐶𝐶</m:t>
                    </m:r>
                    <m:r>
                      <a:rPr lang="es-ES" i="1" smtClean="0">
                        <a:latin typeface="Cambria Math" panose="02040503050406030204" pitchFamily="18" charset="0"/>
                        <a:ea typeface="Cambria Math" panose="02040503050406030204" pitchFamily="18" charset="0"/>
                      </a:rPr>
                      <m:t>}</m:t>
                    </m:r>
                  </m:oMath>
                </a14:m>
                <a:endParaRPr lang="en-US" dirty="0"/>
              </a:p>
              <a:p>
                <a:pPr lvl="2"/>
                <a14:m>
                  <m:oMath xmlns:m="http://schemas.openxmlformats.org/officeDocument/2006/math">
                    <m:r>
                      <a:rPr lang="es-ES" b="0" i="1" smtClean="0">
                        <a:latin typeface="Cambria Math" panose="02040503050406030204" pitchFamily="18" charset="0"/>
                        <a:ea typeface="Cambria Math" panose="02040503050406030204" pitchFamily="18" charset="0"/>
                      </a:rPr>
                      <m:t>𝑂𝑏𝑡𝑒𝑛𝑒𝑟</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𝑚𝑖𝑠𝑚𝑜</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𝑙𝑎𝑑𝑜</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𝑒𝑛</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𝑡𝑜𝑑𝑎𝑠</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𝑙𝑎𝑠</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𝑚𝑜𝑛𝑒𝑑𝑎𝑠</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𝐶𝐶𝐶</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𝑋𝑋𝑋</m:t>
                    </m:r>
                    <m:r>
                      <a:rPr lang="es-ES" i="1">
                        <a:latin typeface="Cambria Math" panose="02040503050406030204" pitchFamily="18" charset="0"/>
                        <a:ea typeface="Cambria Math" panose="02040503050406030204" pitchFamily="18" charset="0"/>
                      </a:rPr>
                      <m:t>}</m:t>
                    </m:r>
                  </m:oMath>
                </a14:m>
                <a:endParaRPr lang="en-US" dirty="0"/>
              </a:p>
              <a:p>
                <a:pPr>
                  <a:lnSpc>
                    <a:spcPct val="90000"/>
                  </a:lnSpc>
                  <a:spcBef>
                    <a:spcPts val="1417"/>
                  </a:spcBef>
                  <a:buNone/>
                </a:pPr>
                <a:endParaRPr lang="es-ES" sz="2000" b="0" strike="noStrike" spc="-1" dirty="0">
                  <a:solidFill>
                    <a:srgbClr val="000000"/>
                  </a:solidFill>
                  <a:latin typeface="Calibri"/>
                </a:endParaRPr>
              </a:p>
              <a:p>
                <a:pPr>
                  <a:lnSpc>
                    <a:spcPct val="90000"/>
                  </a:lnSpc>
                  <a:spcBef>
                    <a:spcPts val="1417"/>
                  </a:spcBef>
                  <a:buNone/>
                </a:pPr>
                <a:endParaRPr lang="es-ES" sz="20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87" name="PlaceHolder 2"/>
              <p:cNvSpPr>
                <a:spLocks noGrp="1" noRot="1" noChangeAspect="1" noMove="1" noResize="1" noEditPoints="1" noAdjustHandles="1" noChangeArrowheads="1" noChangeShapeType="1" noTextEdit="1"/>
              </p:cNvSpPr>
              <p:nvPr>
                <p:ph/>
              </p:nvPr>
            </p:nvSpPr>
            <p:spPr>
              <a:xfrm>
                <a:off x="838080" y="1825560"/>
                <a:ext cx="10515240" cy="4667400"/>
              </a:xfrm>
              <a:prstGeom prst="rect">
                <a:avLst/>
              </a:prstGeom>
              <a:blipFill>
                <a:blip r:embed="rId2"/>
                <a:stretch>
                  <a:fillRect l="-1043" t="-2089"/>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3. D</a:t>
            </a:r>
            <a:r>
              <a:rPr lang="es-ES" sz="4400" b="0" strike="noStrike" spc="-1" dirty="0">
                <a:solidFill>
                  <a:srgbClr val="000000"/>
                </a:solidFill>
                <a:latin typeface="Calibri Light"/>
              </a:rPr>
              <a:t>efinición de variable aleatoria</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89" name="PlaceHolder 2"/>
              <p:cNvSpPr>
                <a:spLocks noGrp="1"/>
              </p:cNvSpPr>
              <p:nvPr>
                <p:ph/>
              </p:nvPr>
            </p:nvSpPr>
            <p:spPr>
              <a:xfrm>
                <a:off x="838080" y="1825560"/>
                <a:ext cx="10515240" cy="4350960"/>
              </a:xfrm>
              <a:prstGeom prst="rect">
                <a:avLst/>
              </a:prstGeom>
              <a:noFill/>
              <a:ln w="0">
                <a:noFill/>
              </a:ln>
            </p:spPr>
            <p:txBody>
              <a:bodyPr anchor="t">
                <a:normAutofit fontScale="82500" lnSpcReduction="1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Una variable aleatoria X es una función del resultado de un experimento aleatorio</a:t>
                </a:r>
              </a:p>
              <a:p>
                <a:pPr marL="685800" lvl="1" indent="-228600">
                  <a:lnSpc>
                    <a:spcPct val="90000"/>
                  </a:lnSpc>
                  <a:spcBef>
                    <a:spcPts val="499"/>
                  </a:spcBef>
                  <a:buClr>
                    <a:srgbClr val="000000"/>
                  </a:buClr>
                  <a:buFont typeface="Arial"/>
                  <a:buChar char="•"/>
                </a:pPr>
                <a14:m>
                  <m:oMath xmlns:m="http://schemas.openxmlformats.org/officeDocument/2006/math">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𝑓</m:t>
                    </m:r>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𝜔</m:t>
                    </m:r>
                    <m:r>
                      <a:rPr lang="es-ES" b="0" i="1" smtClean="0">
                        <a:latin typeface="Cambria Math" panose="02040503050406030204" pitchFamily="18" charset="0"/>
                        <a:ea typeface="Cambria Math" panose="02040503050406030204" pitchFamily="18" charset="0"/>
                      </a:rPr>
                      <m:t>) </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El dominio de una variable aleatoria es el espacio muestral</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El rango (conjunto de valores posibles) de una variable aleatoria puede ser el conjunto de todos los números reales, o solo números positivos, o todos los enteros, o un intervalo, etc., dependiendo de qué valores posibles pueda tomar la variable aleatoria</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Una vez que se completa un experimento, y se conoce el resultado </a:t>
                </a:r>
                <a14:m>
                  <m:oMath xmlns:m="http://schemas.openxmlformats.org/officeDocument/2006/math">
                    <m:r>
                      <a:rPr lang="en-US" i="1" dirty="0" smtClean="0">
                        <a:latin typeface="Cambria Math" panose="02040503050406030204" pitchFamily="18" charset="0"/>
                      </a:rPr>
                      <m:t>𝜔</m:t>
                    </m:r>
                  </m:oMath>
                </a14:m>
                <a:r>
                  <a:rPr lang="es-ES" sz="2800" b="0" strike="noStrike" spc="-1" dirty="0">
                    <a:solidFill>
                      <a:srgbClr val="000000"/>
                    </a:solidFill>
                    <a:latin typeface="Calibri"/>
                  </a:rPr>
                  <a:t>, se determina el valor de la variable aleatoria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r>
                      <a:rPr lang="es-ES" sz="2800" b="0" i="1" strike="noStrike" spc="-1" dirty="0" smtClean="0">
                        <a:solidFill>
                          <a:srgbClr val="000000"/>
                        </a:solidFill>
                        <a:latin typeface="Cambria Math" panose="02040503050406030204" pitchFamily="18" charset="0"/>
                      </a:rPr>
                      <m:t>(</m:t>
                    </m:r>
                    <m:r>
                      <a:rPr lang="en-US" i="1" dirty="0">
                        <a:latin typeface="Cambria Math" panose="02040503050406030204" pitchFamily="18" charset="0"/>
                      </a:rPr>
                      <m:t>𝜔</m:t>
                    </m:r>
                    <m:r>
                      <a:rPr lang="es-ES" sz="2800" b="0" i="1" strike="noStrike" spc="-1" dirty="0">
                        <a:solidFill>
                          <a:srgbClr val="000000"/>
                        </a:solidFill>
                        <a:latin typeface="Cambria Math" panose="02040503050406030204" pitchFamily="18" charset="0"/>
                      </a:rPr>
                      <m:t>)</m:t>
                    </m:r>
                  </m:oMath>
                </a14:m>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Ejemplo 3.1 (variable aleatoria discreta)</a:t>
                </a: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𝑋</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𝑁</m:t>
                    </m:r>
                    <m:r>
                      <a:rPr lang="es-ES" sz="2400" b="0" i="1" strike="noStrike" spc="-1" dirty="0" smtClean="0">
                        <a:solidFill>
                          <a:srgbClr val="000000"/>
                        </a:solidFill>
                        <a:latin typeface="Cambria Math" panose="02040503050406030204" pitchFamily="18" charset="0"/>
                      </a:rPr>
                      <m:t>ú</m:t>
                    </m:r>
                    <m:r>
                      <a:rPr lang="es-ES" sz="2400" b="0" i="1" strike="noStrike" spc="-1" dirty="0" smtClean="0">
                        <a:solidFill>
                          <a:srgbClr val="000000"/>
                        </a:solidFill>
                        <a:latin typeface="Cambria Math" panose="02040503050406030204" pitchFamily="18" charset="0"/>
                      </a:rPr>
                      <m:t>𝑚𝑒𝑟𝑜</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𝑑𝑒</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𝑐𝑎𝑟𝑎𝑠</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𝑎𝑙</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𝑙𝑎𝑛𝑧𝑎𝑟</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𝑡𝑟𝑒𝑠</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𝑚𝑜𝑛𝑒𝑑𝑎𝑠</m:t>
                    </m:r>
                    <m:r>
                      <a:rPr lang="es-ES" sz="2400" b="0" i="1" strike="noStrike" spc="-1" dirty="0" smtClean="0">
                        <a:solidFill>
                          <a:srgbClr val="000000"/>
                        </a:solidFill>
                        <a:latin typeface="Cambria Math" panose="02040503050406030204" pitchFamily="18" charset="0"/>
                      </a:rPr>
                      <m:t> </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pc="-1" dirty="0">
                    <a:solidFill>
                      <a:srgbClr val="000000"/>
                    </a:solidFill>
                    <a:latin typeface="Calibri"/>
                  </a:rPr>
                  <a:t>Si el resultado es </a:t>
                </a:r>
                <a14:m>
                  <m:oMath xmlns:m="http://schemas.openxmlformats.org/officeDocument/2006/math">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𝐶𝐶𝐶</m:t>
                    </m:r>
                    <m:r>
                      <a:rPr lang="es-ES" sz="2400" b="0" i="1" strike="noStrike" spc="-1" dirty="0" smtClean="0">
                        <a:solidFill>
                          <a:srgbClr val="000000"/>
                        </a:solidFill>
                        <a:latin typeface="Cambria Math" panose="02040503050406030204" pitchFamily="18" charset="0"/>
                      </a:rPr>
                      <m:t>"</m:t>
                    </m:r>
                  </m:oMath>
                </a14:m>
                <a:r>
                  <a:rPr lang="es-ES" sz="2400" b="0" strike="noStrike" spc="-1" dirty="0">
                    <a:solidFill>
                      <a:srgbClr val="000000"/>
                    </a:solidFill>
                    <a:latin typeface="Calibri"/>
                  </a:rPr>
                  <a:t>, el valor de </a:t>
                </a:r>
                <a14:m>
                  <m:oMath xmlns:m="http://schemas.openxmlformats.org/officeDocument/2006/math">
                    <m:r>
                      <a:rPr lang="es-ES" sz="2400" b="0" i="1" strike="noStrike" spc="-1" dirty="0" smtClean="0">
                        <a:solidFill>
                          <a:srgbClr val="000000"/>
                        </a:solidFill>
                        <a:latin typeface="Cambria Math" panose="02040503050406030204" pitchFamily="18" charset="0"/>
                      </a:rPr>
                      <m:t>𝑋</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𝑓</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r>
                      <a:rPr lang="es-ES" i="1" spc="-1" dirty="0" smtClean="0">
                        <a:solidFill>
                          <a:srgbClr val="000000"/>
                        </a:solidFill>
                        <a:latin typeface="Cambria Math" panose="02040503050406030204" pitchFamily="18" charset="0"/>
                      </a:rPr>
                      <m:t>𝐶𝐶</m:t>
                    </m:r>
                    <m:r>
                      <a:rPr lang="es-ES" i="1" spc="-1" dirty="0">
                        <a:solidFill>
                          <a:srgbClr val="000000"/>
                        </a:solidFill>
                        <a:latin typeface="Cambria Math" panose="02040503050406030204" pitchFamily="18" charset="0"/>
                      </a:rPr>
                      <m:t>𝐶</m:t>
                    </m:r>
                    <m:r>
                      <a:rPr lang="es-ES" sz="2400" b="0" i="1" strike="noStrike" spc="-1" dirty="0" smtClean="0">
                        <a:solidFill>
                          <a:srgbClr val="000000"/>
                        </a:solidFill>
                        <a:latin typeface="Cambria Math" panose="02040503050406030204" pitchFamily="18" charset="0"/>
                      </a:rPr>
                      <m:t>") </m:t>
                    </m:r>
                    <m:r>
                      <a:rPr lang="es-ES" sz="2400" b="0" i="1" strike="noStrike" spc="-1" dirty="0">
                        <a:solidFill>
                          <a:srgbClr val="000000"/>
                        </a:solidFill>
                        <a:latin typeface="Cambria Math" panose="02040503050406030204" pitchFamily="18" charset="0"/>
                      </a:rPr>
                      <m:t>= </m:t>
                    </m:r>
                    <m:r>
                      <a:rPr lang="es-ES" sz="2400" b="0" i="1" strike="noStrike" spc="-1" dirty="0">
                        <a:solidFill>
                          <a:srgbClr val="000000"/>
                        </a:solidFill>
                        <a:latin typeface="Cambria Math" panose="02040503050406030204" pitchFamily="18" charset="0"/>
                      </a:rPr>
                      <m:t>3</m:t>
                    </m:r>
                    <m:r>
                      <a:rPr lang="es-ES" sz="2400" b="0" i="1" strike="noStrike" spc="-1" dirty="0">
                        <a:solidFill>
                          <a:srgbClr val="000000"/>
                        </a:solidFill>
                        <a:latin typeface="Cambria Math" panose="02040503050406030204" pitchFamily="18" charset="0"/>
                      </a:rPr>
                      <m:t> </m:t>
                    </m:r>
                    <m:r>
                      <m:rPr>
                        <m:sty m:val="p"/>
                      </m:rPr>
                      <a:rPr lang="es-ES" sz="2400" b="0" i="1" strike="noStrike" spc="-1" dirty="0" smtClean="0">
                        <a:solidFill>
                          <a:srgbClr val="000000"/>
                        </a:solidFill>
                        <a:latin typeface="Cambria Math" panose="02040503050406030204" pitchFamily="18" charset="0"/>
                      </a:rPr>
                      <m:t>caras</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pc="-1" dirty="0">
                    <a:solidFill>
                      <a:srgbClr val="000000"/>
                    </a:solidFill>
                    <a:latin typeface="Calibri"/>
                  </a:rPr>
                  <a:t>El dominio de </a:t>
                </a:r>
                <a14:m>
                  <m:oMath xmlns:m="http://schemas.openxmlformats.org/officeDocument/2006/math">
                    <m:r>
                      <a:rPr lang="es-ES" i="1" spc="-1" dirty="0" smtClean="0">
                        <a:solidFill>
                          <a:srgbClr val="000000"/>
                        </a:solidFill>
                        <a:latin typeface="Cambria Math" panose="02040503050406030204" pitchFamily="18" charset="0"/>
                      </a:rPr>
                      <m:t>𝑋</m:t>
                    </m:r>
                  </m:oMath>
                </a14:m>
                <a:r>
                  <a:rPr lang="es-ES" spc="-1" dirty="0">
                    <a:solidFill>
                      <a:srgbClr val="000000"/>
                    </a:solidFill>
                    <a:latin typeface="Calibri"/>
                  </a:rPr>
                  <a:t> es</a:t>
                </a:r>
                <a14:m>
                  <m:oMath xmlns:m="http://schemas.openxmlformats.org/officeDocument/2006/math">
                    <m:r>
                      <a:rPr lang="es-ES" spc="-1">
                        <a:solidFill>
                          <a:srgbClr val="000000"/>
                        </a:solidFill>
                        <a:latin typeface="Cambria Math" panose="02040503050406030204" pitchFamily="18" charset="0"/>
                      </a:rPr>
                      <m:t> </m:t>
                    </m:r>
                    <m:r>
                      <m:rPr>
                        <m:sty m:val="p"/>
                      </m:rPr>
                      <a:rPr lang="el-GR" spc="-1">
                        <a:solidFill>
                          <a:srgbClr val="000000"/>
                        </a:solidFill>
                        <a:latin typeface="Cambria Math" panose="02040503050406030204" pitchFamily="18" charset="0"/>
                      </a:rPr>
                      <m:t>Ω</m:t>
                    </m:r>
                    <m:r>
                      <a:rPr lang="es-ES" spc="-1">
                        <a:solidFill>
                          <a:srgbClr val="000000"/>
                        </a:solidFill>
                        <a:latin typeface="Cambria Math" panose="02040503050406030204" pitchFamily="18" charset="0"/>
                      </a:rPr>
                      <m:t>={</m:t>
                    </m:r>
                    <m:r>
                      <a:rPr lang="es-ES" spc="-1">
                        <a:solidFill>
                          <a:srgbClr val="000000"/>
                        </a:solidFill>
                        <a:latin typeface="Cambria Math" panose="02040503050406030204" pitchFamily="18" charset="0"/>
                      </a:rPr>
                      <m:t>𝐶𝐶𝐶</m:t>
                    </m:r>
                    <m:r>
                      <a:rPr lang="es-ES" spc="-1">
                        <a:solidFill>
                          <a:srgbClr val="000000"/>
                        </a:solidFill>
                        <a:latin typeface="Cambria Math" panose="02040503050406030204" pitchFamily="18" charset="0"/>
                      </a:rPr>
                      <m:t>,</m:t>
                    </m:r>
                    <m:r>
                      <a:rPr lang="es-ES" spc="-1">
                        <a:solidFill>
                          <a:srgbClr val="000000"/>
                        </a:solidFill>
                        <a:latin typeface="Cambria Math" panose="02040503050406030204" pitchFamily="18" charset="0"/>
                      </a:rPr>
                      <m:t>𝐶𝐶𝑋</m:t>
                    </m:r>
                    <m:r>
                      <a:rPr lang="es-ES" spc="-1">
                        <a:solidFill>
                          <a:srgbClr val="000000"/>
                        </a:solidFill>
                        <a:latin typeface="Cambria Math" panose="02040503050406030204" pitchFamily="18" charset="0"/>
                      </a:rPr>
                      <m:t>,</m:t>
                    </m:r>
                    <m:r>
                      <a:rPr lang="es-ES" spc="-1">
                        <a:solidFill>
                          <a:srgbClr val="000000"/>
                        </a:solidFill>
                        <a:latin typeface="Cambria Math" panose="02040503050406030204" pitchFamily="18" charset="0"/>
                      </a:rPr>
                      <m:t>𝐶𝑋𝐶</m:t>
                    </m:r>
                    <m:r>
                      <a:rPr lang="es-ES" spc="-1">
                        <a:solidFill>
                          <a:srgbClr val="000000"/>
                        </a:solidFill>
                        <a:latin typeface="Cambria Math" panose="02040503050406030204" pitchFamily="18" charset="0"/>
                      </a:rPr>
                      <m:t>, </m:t>
                    </m:r>
                    <m:r>
                      <a:rPr lang="es-ES" spc="-1">
                        <a:solidFill>
                          <a:srgbClr val="000000"/>
                        </a:solidFill>
                        <a:latin typeface="Cambria Math" panose="02040503050406030204" pitchFamily="18" charset="0"/>
                      </a:rPr>
                      <m:t>𝐶𝑋𝑋</m:t>
                    </m:r>
                    <m:r>
                      <a:rPr lang="es-ES" spc="-1">
                        <a:solidFill>
                          <a:srgbClr val="000000"/>
                        </a:solidFill>
                        <a:latin typeface="Cambria Math" panose="02040503050406030204" pitchFamily="18" charset="0"/>
                      </a:rPr>
                      <m:t>, </m:t>
                    </m:r>
                    <m:r>
                      <a:rPr lang="es-ES" spc="-1">
                        <a:solidFill>
                          <a:srgbClr val="000000"/>
                        </a:solidFill>
                        <a:latin typeface="Cambria Math" panose="02040503050406030204" pitchFamily="18" charset="0"/>
                      </a:rPr>
                      <m:t>𝑋𝐶𝐶</m:t>
                    </m:r>
                    <m:r>
                      <a:rPr lang="es-ES" spc="-1">
                        <a:solidFill>
                          <a:srgbClr val="000000"/>
                        </a:solidFill>
                        <a:latin typeface="Cambria Math" panose="02040503050406030204" pitchFamily="18" charset="0"/>
                      </a:rPr>
                      <m:t>, </m:t>
                    </m:r>
                    <m:r>
                      <a:rPr lang="es-ES" spc="-1">
                        <a:solidFill>
                          <a:srgbClr val="000000"/>
                        </a:solidFill>
                        <a:latin typeface="Cambria Math" panose="02040503050406030204" pitchFamily="18" charset="0"/>
                      </a:rPr>
                      <m:t>𝑋𝐶𝑋</m:t>
                    </m:r>
                    <m:r>
                      <a:rPr lang="es-ES" spc="-1">
                        <a:solidFill>
                          <a:srgbClr val="000000"/>
                        </a:solidFill>
                        <a:latin typeface="Cambria Math" panose="02040503050406030204" pitchFamily="18" charset="0"/>
                      </a:rPr>
                      <m:t>, </m:t>
                    </m:r>
                    <m:r>
                      <a:rPr lang="es-ES" spc="-1">
                        <a:solidFill>
                          <a:srgbClr val="000000"/>
                        </a:solidFill>
                        <a:latin typeface="Cambria Math" panose="02040503050406030204" pitchFamily="18" charset="0"/>
                      </a:rPr>
                      <m:t>𝑋𝑋𝐶</m:t>
                    </m:r>
                    <m:r>
                      <a:rPr lang="es-ES" spc="-1">
                        <a:solidFill>
                          <a:srgbClr val="000000"/>
                        </a:solidFill>
                        <a:latin typeface="Cambria Math" panose="02040503050406030204" pitchFamily="18" charset="0"/>
                      </a:rPr>
                      <m:t>, </m:t>
                    </m:r>
                    <m:r>
                      <a:rPr lang="es-ES" spc="-1">
                        <a:solidFill>
                          <a:srgbClr val="000000"/>
                        </a:solidFill>
                        <a:latin typeface="Cambria Math" panose="02040503050406030204" pitchFamily="18" charset="0"/>
                      </a:rPr>
                      <m:t>𝑋𝑋𝑋</m:t>
                    </m:r>
                    <m:r>
                      <a:rPr lang="es-ES" spc="-1">
                        <a:solidFill>
                          <a:srgbClr val="000000"/>
                        </a:solidFill>
                        <a:latin typeface="Cambria Math" panose="02040503050406030204" pitchFamily="18" charset="0"/>
                      </a:rPr>
                      <m:t>}</m:t>
                    </m:r>
                  </m:oMath>
                </a14:m>
                <a:endParaRPr lang="en-US"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El rango de </a:t>
                </a:r>
                <a14:m>
                  <m:oMath xmlns:m="http://schemas.openxmlformats.org/officeDocument/2006/math">
                    <m:r>
                      <a:rPr lang="es-ES" sz="2400" b="0" i="1" strike="noStrike" spc="-1" dirty="0" smtClean="0">
                        <a:solidFill>
                          <a:srgbClr val="000000"/>
                        </a:solidFill>
                        <a:latin typeface="Cambria Math" panose="02040503050406030204" pitchFamily="18" charset="0"/>
                      </a:rPr>
                      <m:t>𝑋</m:t>
                    </m:r>
                  </m:oMath>
                </a14:m>
                <a:r>
                  <a:rPr lang="es-ES" sz="2400" b="0" strike="noStrike" spc="-1" dirty="0">
                    <a:solidFill>
                      <a:srgbClr val="000000"/>
                    </a:solidFill>
                    <a:latin typeface="Calibri"/>
                  </a:rPr>
                  <a:t> es </a:t>
                </a:r>
                <a14:m>
                  <m:oMath xmlns:m="http://schemas.openxmlformats.org/officeDocument/2006/math">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2</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m:t>
                    </m:r>
                  </m:oMath>
                </a14:m>
                <a:endParaRPr lang="es-ES" sz="2400" b="0" strike="noStrike" spc="-1" dirty="0">
                  <a:solidFill>
                    <a:srgbClr val="000000"/>
                  </a:solidFill>
                  <a:latin typeface="Calibri"/>
                </a:endParaRPr>
              </a:p>
            </p:txBody>
          </p:sp>
        </mc:Choice>
        <mc:Fallback xmlns="">
          <p:sp>
            <p:nvSpPr>
              <p:cNvPr id="89"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696" t="-238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3</a:t>
            </a:r>
            <a:r>
              <a:rPr lang="es-ES" sz="4400" b="0" strike="noStrike" spc="-1" dirty="0">
                <a:solidFill>
                  <a:srgbClr val="000000"/>
                </a:solidFill>
                <a:latin typeface="Calibri Light"/>
              </a:rPr>
              <a:t>. Definición de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Tipos de variables aleatorias (Discretas)</a:t>
            </a:r>
            <a:endParaRPr lang="es-ES" sz="4400" b="0" strike="noStrike" spc="-1" dirty="0">
              <a:solidFill>
                <a:srgbClr val="000000"/>
              </a:solidFill>
              <a:latin typeface="Calibri"/>
            </a:endParaRPr>
          </a:p>
        </p:txBody>
      </p:sp>
      <p:sp>
        <p:nvSpPr>
          <p:cNvPr id="91" name="PlaceHolder 2"/>
          <p:cNvSpPr>
            <a:spLocks noGrp="1"/>
          </p:cNvSpPr>
          <p:nvPr>
            <p:ph/>
          </p:nvPr>
        </p:nvSpPr>
        <p:spPr>
          <a:xfrm>
            <a:off x="838080" y="1825560"/>
            <a:ext cx="10515240" cy="4788000"/>
          </a:xfrm>
          <a:prstGeom prst="rect">
            <a:avLst/>
          </a:prstGeom>
          <a:noFill/>
          <a:ln w="0">
            <a:noFill/>
          </a:ln>
        </p:spPr>
        <p:txBody>
          <a:bodyPr anchor="t">
            <a:normAutofit fontScale="955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Variables aleatorias discretas</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Son variables cuyo rango es finito</a:t>
            </a:r>
          </a:p>
          <a:p>
            <a:pPr marL="685800" lvl="1" indent="-228600">
              <a:lnSpc>
                <a:spcPct val="90000"/>
              </a:lnSpc>
              <a:spcBef>
                <a:spcPts val="499"/>
              </a:spcBef>
              <a:buClr>
                <a:srgbClr val="000000"/>
              </a:buClr>
              <a:buFont typeface="Arial"/>
              <a:buChar char="•"/>
            </a:pPr>
            <a:r>
              <a:rPr lang="en-US" sz="2400" b="0" strike="noStrike" spc="-1" dirty="0">
                <a:solidFill>
                  <a:srgbClr val="000000"/>
                </a:solidFill>
                <a:latin typeface="Calibri"/>
              </a:rPr>
              <a:t>Sus </a:t>
            </a:r>
            <a:r>
              <a:rPr lang="en-US" sz="2400" b="0" strike="noStrike" spc="-1" dirty="0" err="1">
                <a:solidFill>
                  <a:srgbClr val="000000"/>
                </a:solidFill>
                <a:latin typeface="Calibri"/>
              </a:rPr>
              <a:t>valores</a:t>
            </a:r>
            <a:r>
              <a:rPr lang="en-US" sz="2400" b="0" strike="noStrike" spc="-1" dirty="0">
                <a:solidFill>
                  <a:srgbClr val="000000"/>
                </a:solidFill>
                <a:latin typeface="Calibri"/>
              </a:rPr>
              <a:t> se </a:t>
            </a:r>
            <a:r>
              <a:rPr lang="en-US" sz="2400" b="0" strike="noStrike" spc="-1" dirty="0" err="1">
                <a:solidFill>
                  <a:srgbClr val="000000"/>
                </a:solidFill>
                <a:latin typeface="Calibri"/>
              </a:rPr>
              <a:t>pueden</a:t>
            </a:r>
            <a:r>
              <a:rPr lang="en-US" sz="2400" b="0" strike="noStrike" spc="-1" dirty="0">
                <a:solidFill>
                  <a:srgbClr val="000000"/>
                </a:solidFill>
                <a:latin typeface="Calibri"/>
              </a:rPr>
              <a:t> </a:t>
            </a:r>
            <a:r>
              <a:rPr lang="en-US" sz="2400" b="0" strike="noStrike" spc="-1" dirty="0" err="1">
                <a:solidFill>
                  <a:srgbClr val="000000"/>
                </a:solidFill>
                <a:latin typeface="Calibri"/>
              </a:rPr>
              <a:t>enumerar</a:t>
            </a:r>
            <a:r>
              <a:rPr lang="en-US" sz="2400" b="0" strike="noStrike" spc="-1" dirty="0">
                <a:solidFill>
                  <a:srgbClr val="000000"/>
                </a:solidFill>
                <a:latin typeface="Calibri"/>
              </a:rPr>
              <a:t> o </a:t>
            </a:r>
            <a:r>
              <a:rPr lang="en-US" spc="-1" dirty="0">
                <a:solidFill>
                  <a:srgbClr val="000000"/>
                </a:solidFill>
                <a:latin typeface="Calibri"/>
              </a:rPr>
              <a:t>disponer en </a:t>
            </a:r>
            <a:r>
              <a:rPr lang="en-US" spc="-1" dirty="0" err="1">
                <a:solidFill>
                  <a:srgbClr val="000000"/>
                </a:solidFill>
                <a:latin typeface="Calibri"/>
              </a:rPr>
              <a:t>una</a:t>
            </a:r>
            <a:r>
              <a:rPr lang="en-US" spc="-1" dirty="0">
                <a:solidFill>
                  <a:srgbClr val="000000"/>
                </a:solidFill>
                <a:latin typeface="Calibri"/>
              </a:rPr>
              <a:t> </a:t>
            </a:r>
            <a:r>
              <a:rPr lang="en-US" spc="-1" dirty="0" err="1">
                <a:solidFill>
                  <a:srgbClr val="000000"/>
                </a:solidFill>
                <a:latin typeface="Calibri"/>
              </a:rPr>
              <a:t>secuencia</a:t>
            </a:r>
            <a:endParaRPr lang="en-U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Ejemplos de variables discretas: el número de trabajos enviados a una impresora, el número de errores de un programa, el número de componentes fallidos, etc.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Las variables discretas no tienen que ser números enteros </a:t>
            </a:r>
          </a:p>
          <a:p>
            <a:pPr lvl="2">
              <a:spcBef>
                <a:spcPts val="499"/>
              </a:spcBef>
              <a:buClr>
                <a:srgbClr val="000000"/>
              </a:buClr>
              <a:buFont typeface="Arial"/>
              <a:buChar char="•"/>
            </a:pPr>
            <a:r>
              <a:rPr lang="es-ES" b="0" strike="noStrike" spc="-1" dirty="0">
                <a:solidFill>
                  <a:srgbClr val="000000"/>
                </a:solidFill>
                <a:latin typeface="Calibri"/>
              </a:rPr>
              <a:t>Por ejemplo, la proporción de componentes defectuosos en un lote de 5 puede ser 0, 1/5=0.2, 2/5=0.4, 3/5=0.6, 4/5=0.5, o 1 </a:t>
            </a:r>
          </a:p>
          <a:p>
            <a:pPr lvl="2">
              <a:spcBef>
                <a:spcPts val="499"/>
              </a:spcBef>
              <a:buClr>
                <a:srgbClr val="000000"/>
              </a:buClr>
              <a:buFont typeface="Arial"/>
              <a:buChar char="•"/>
            </a:pPr>
            <a:r>
              <a:rPr lang="es-ES" b="0" strike="noStrike" spc="-1" dirty="0">
                <a:solidFill>
                  <a:srgbClr val="000000"/>
                </a:solidFill>
                <a:latin typeface="Calibri"/>
              </a:rPr>
              <a:t>Esta variable asume 6 valores diferentes, por lo que es discreta, aunque no tenga valores enteros</a:t>
            </a: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3</a:t>
            </a:r>
            <a:r>
              <a:rPr lang="es-ES" sz="4400" b="0" strike="noStrike" spc="-1" dirty="0">
                <a:solidFill>
                  <a:srgbClr val="000000"/>
                </a:solidFill>
                <a:latin typeface="Calibri Light"/>
              </a:rPr>
              <a:t>. Definición de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Tipos de variables aleatorias (Continuas)</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91" name="PlaceHolder 2"/>
              <p:cNvSpPr>
                <a:spLocks noGrp="1"/>
              </p:cNvSpPr>
              <p:nvPr>
                <p:ph/>
              </p:nvPr>
            </p:nvSpPr>
            <p:spPr>
              <a:xfrm>
                <a:off x="838080" y="1825560"/>
                <a:ext cx="10515240" cy="4788000"/>
              </a:xfrm>
              <a:prstGeom prst="rect">
                <a:avLst/>
              </a:prstGeom>
              <a:noFill/>
              <a:ln w="0">
                <a:noFill/>
              </a:ln>
            </p:spPr>
            <p:txBody>
              <a:bodyPr anchor="t">
                <a:normAutofit fontScale="955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Variables aleatorias continuas</a:t>
                </a:r>
              </a:p>
              <a:p>
                <a:pPr marL="685800" lvl="1" indent="-228600">
                  <a:lnSpc>
                    <a:spcPct val="90000"/>
                  </a:lnSpc>
                  <a:spcBef>
                    <a:spcPts val="499"/>
                  </a:spcBef>
                  <a:buClr>
                    <a:srgbClr val="000000"/>
                  </a:buClr>
                  <a:buFont typeface="Arial"/>
                  <a:buChar char="•"/>
                </a:pPr>
                <a:r>
                  <a:rPr lang="es-ES" spc="-1" dirty="0">
                    <a:solidFill>
                      <a:srgbClr val="000000"/>
                    </a:solidFill>
                    <a:latin typeface="Calibri"/>
                  </a:rPr>
                  <a:t>S</a:t>
                </a:r>
                <a:r>
                  <a:rPr lang="es-ES" sz="2400" b="0" strike="noStrike" spc="-1" dirty="0">
                    <a:solidFill>
                      <a:srgbClr val="000000"/>
                    </a:solidFill>
                    <a:latin typeface="Calibri"/>
                  </a:rPr>
                  <a:t>on variables cuyo rango es un intervalo completo de valores</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Esto podría ser un intervalo limitado </a:t>
                </a:r>
                <a14:m>
                  <m:oMath xmlns:m="http://schemas.openxmlformats.org/officeDocument/2006/math">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𝑎</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𝑏</m:t>
                    </m:r>
                    <m:r>
                      <a:rPr lang="es-ES" sz="2400" b="0" i="1" strike="noStrike" spc="-1" dirty="0" smtClean="0">
                        <a:solidFill>
                          <a:srgbClr val="000000"/>
                        </a:solidFill>
                        <a:latin typeface="Cambria Math" panose="02040503050406030204" pitchFamily="18" charset="0"/>
                      </a:rPr>
                      <m:t>)</m:t>
                    </m:r>
                  </m:oMath>
                </a14:m>
                <a:r>
                  <a:rPr lang="es-ES" sz="2400" b="0" strike="noStrike" spc="-1" dirty="0">
                    <a:solidFill>
                      <a:srgbClr val="000000"/>
                    </a:solidFill>
                    <a:latin typeface="Calibri"/>
                  </a:rPr>
                  <a:t>, o un intervalo sin límites como </a:t>
                </a:r>
                <a14:m>
                  <m:oMath xmlns:m="http://schemas.openxmlformats.org/officeDocument/2006/math">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𝑎</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oMath>
                </a14:m>
                <a:r>
                  <a:rPr lang="es-ES" sz="2400" b="0" strike="noStrike" spc="-1" dirty="0">
                    <a:solidFill>
                      <a:srgbClr val="000000"/>
                    </a:solidFill>
                    <a:latin typeface="Calibri"/>
                  </a:rPr>
                  <a:t>, </a:t>
                </a:r>
                <a14:m>
                  <m:oMath xmlns:m="http://schemas.openxmlformats.org/officeDocument/2006/math">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𝑏</m:t>
                    </m:r>
                    <m:r>
                      <a:rPr lang="es-ES" sz="2400" b="0" i="1" strike="noStrike" spc="-1" dirty="0" smtClean="0">
                        <a:solidFill>
                          <a:srgbClr val="000000"/>
                        </a:solidFill>
                        <a:latin typeface="Cambria Math" panose="02040503050406030204" pitchFamily="18" charset="0"/>
                      </a:rPr>
                      <m:t>)</m:t>
                    </m:r>
                  </m:oMath>
                </a14:m>
                <a:r>
                  <a:rPr lang="es-ES" sz="2400" b="0" strike="noStrike" spc="-1" dirty="0">
                    <a:solidFill>
                      <a:srgbClr val="000000"/>
                    </a:solidFill>
                    <a:latin typeface="Calibri"/>
                  </a:rPr>
                  <a:t>, o </a:t>
                </a:r>
                <a14:m>
                  <m:oMath xmlns:m="http://schemas.openxmlformats.org/officeDocument/2006/math">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oMath>
                </a14:m>
                <a:r>
                  <a:rPr lang="es-ES" sz="2400" b="0" strike="noStrike" spc="-1" dirty="0">
                    <a:solidFill>
                      <a:srgbClr val="000000"/>
                    </a:solidFill>
                    <a:latin typeface="Calibri"/>
                  </a:rPr>
                  <a:t>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A veces, puede ser una unión de varios de estos intervalos. Los intervalos son incontables, por lo tanto, todos los valores de una variable aleatoria no se pueden enumerar en este caso</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Ejemplos de variables continuas: tiempos (</a:t>
                </a:r>
                <a:r>
                  <a:rPr lang="es-ES" spc="-1" dirty="0">
                    <a:solidFill>
                      <a:srgbClr val="000000"/>
                    </a:solidFill>
                    <a:latin typeface="Calibri"/>
                  </a:rPr>
                  <a:t>el </a:t>
                </a:r>
                <a:r>
                  <a:rPr lang="es-ES" sz="2400" b="0" strike="noStrike" spc="-1" dirty="0">
                    <a:solidFill>
                      <a:srgbClr val="000000"/>
                    </a:solidFill>
                    <a:latin typeface="Calibri"/>
                  </a:rPr>
                  <a:t>tiempo de instalación de un programa, el tiempo de ejecución de u programa, el tiempo de conexión a Internet, el tiempo de espera, la vida útil), también variables físicas como peso, altura, voltaje, temperatura, distancia, etc.</a:t>
                </a:r>
              </a:p>
              <a:p>
                <a:pPr marL="685800" lvl="1" indent="-228600">
                  <a:lnSpc>
                    <a:spcPct val="90000"/>
                  </a:lnSpc>
                  <a:spcBef>
                    <a:spcPts val="499"/>
                  </a:spcBef>
                  <a:buClr>
                    <a:srgbClr val="000000"/>
                  </a:buClr>
                  <a:buFont typeface="Arial"/>
                  <a:buChar char="•"/>
                </a:pPr>
                <a:r>
                  <a:rPr lang="es-ES" sz="2400" b="1" strike="noStrike" spc="-1" dirty="0">
                    <a:solidFill>
                      <a:srgbClr val="000000"/>
                    </a:solidFill>
                    <a:latin typeface="Calibri"/>
                  </a:rPr>
                  <a:t>Nota: En una variable continua, entre dos valores cualesquiera siempre hay otro valor posible</a:t>
                </a:r>
                <a:endParaRPr lang="es-ES" sz="2400" b="0" strike="noStrike" spc="-1" dirty="0">
                  <a:solidFill>
                    <a:srgbClr val="000000"/>
                  </a:solidFill>
                  <a:latin typeface="Calibri"/>
                </a:endParaRPr>
              </a:p>
            </p:txBody>
          </p:sp>
        </mc:Choice>
        <mc:Fallback xmlns="">
          <p:sp>
            <p:nvSpPr>
              <p:cNvPr id="91" name="PlaceHolder 2"/>
              <p:cNvSpPr>
                <a:spLocks noGrp="1" noRot="1" noChangeAspect="1" noMove="1" noResize="1" noEditPoints="1" noAdjustHandles="1" noChangeArrowheads="1" noChangeShapeType="1" noTextEdit="1"/>
              </p:cNvSpPr>
              <p:nvPr>
                <p:ph/>
              </p:nvPr>
            </p:nvSpPr>
            <p:spPr>
              <a:xfrm>
                <a:off x="838080" y="1825560"/>
                <a:ext cx="10515240" cy="4788000"/>
              </a:xfrm>
              <a:prstGeom prst="rect">
                <a:avLst/>
              </a:prstGeom>
              <a:blipFill>
                <a:blip r:embed="rId2"/>
                <a:stretch>
                  <a:fillRect l="-986" t="-1908"/>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7</a:t>
            </a:fld>
            <a:endParaRPr/>
          </a:p>
        </p:txBody>
      </p:sp>
    </p:spTree>
    <p:extLst>
      <p:ext uri="{BB962C8B-B14F-4D97-AF65-F5344CB8AC3E}">
        <p14:creationId xmlns:p14="http://schemas.microsoft.com/office/powerpoint/2010/main" val="705906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4</a:t>
            </a:r>
            <a:r>
              <a:rPr lang="es-ES" sz="4400" b="0" strike="noStrike" spc="-1" dirty="0">
                <a:solidFill>
                  <a:srgbClr val="000000"/>
                </a:solidFill>
                <a:latin typeface="Calibri Light"/>
              </a:rPr>
              <a:t>. Distribución de probabilidad de una variable aleatoria discreta</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93" name="PlaceHolder 2"/>
              <p:cNvSpPr>
                <a:spLocks noGrp="1"/>
              </p:cNvSpPr>
              <p:nvPr>
                <p:ph/>
              </p:nvPr>
            </p:nvSpPr>
            <p:spPr>
              <a:xfrm>
                <a:off x="838079" y="1825560"/>
                <a:ext cx="10646349" cy="4350960"/>
              </a:xfrm>
              <a:prstGeom prst="rect">
                <a:avLst/>
              </a:prstGeom>
              <a:noFill/>
              <a:ln w="0">
                <a:noFill/>
              </a:ln>
            </p:spPr>
            <p:txBody>
              <a:bodyPr anchor="t">
                <a:normAutofit lnSpcReduction="10000"/>
              </a:bodyPr>
              <a:lstStyle/>
              <a:p>
                <a:pPr>
                  <a:spcBef>
                    <a:spcPts val="1001"/>
                  </a:spcBef>
                  <a:buClr>
                    <a:srgbClr val="000000"/>
                  </a:buClr>
                </a:pPr>
                <a:r>
                  <a:rPr lang="es-ES" spc="-1" dirty="0">
                    <a:solidFill>
                      <a:srgbClr val="000000"/>
                    </a:solidFill>
                    <a:latin typeface="Calibri"/>
                  </a:rPr>
                  <a:t>Antes</a:t>
                </a:r>
                <a:r>
                  <a:rPr lang="es-ES" sz="2800" b="0" strike="noStrike" spc="-1" dirty="0">
                    <a:solidFill>
                      <a:srgbClr val="000000"/>
                    </a:solidFill>
                    <a:latin typeface="Calibri"/>
                  </a:rPr>
                  <a:t> de que se complete un experimento, el resultado </a:t>
                </a:r>
                <a:r>
                  <a:rPr lang="en-US" dirty="0"/>
                  <a:t>ω </a:t>
                </a:r>
                <a:r>
                  <a:rPr lang="es-ES" sz="2800" b="0" strike="noStrike" spc="-1" dirty="0">
                    <a:solidFill>
                      <a:srgbClr val="000000"/>
                    </a:solidFill>
                    <a:latin typeface="Calibri"/>
                  </a:rPr>
                  <a:t>es </a:t>
                </a:r>
                <a:r>
                  <a:rPr lang="es-ES" spc="-1" dirty="0">
                    <a:solidFill>
                      <a:srgbClr val="000000"/>
                    </a:solidFill>
                    <a:latin typeface="Calibri"/>
                  </a:rPr>
                  <a:t>desconocido</a:t>
                </a:r>
                <a:r>
                  <a:rPr lang="es-ES" sz="2800" b="0" strike="noStrike" spc="-1" dirty="0">
                    <a:solidFill>
                      <a:srgbClr val="000000"/>
                    </a:solidFill>
                    <a:latin typeface="Calibri"/>
                  </a:rPr>
                  <a:t>, pero la probabilidad de cada resultado posible se puede calcular</a:t>
                </a:r>
                <a:r>
                  <a:rPr lang="es-ES" spc="-1" dirty="0">
                    <a:solidFill>
                      <a:srgbClr val="000000"/>
                    </a:solidFill>
                    <a:latin typeface="Calibri"/>
                  </a:rPr>
                  <a:t> y, por tanto, la </a:t>
                </a:r>
                <a:r>
                  <a:rPr lang="es-ES" sz="2800" b="1" strike="noStrike" spc="-1" dirty="0">
                    <a:solidFill>
                      <a:srgbClr val="000000"/>
                    </a:solidFill>
                    <a:latin typeface="Calibri"/>
                  </a:rPr>
                  <a:t>probabilidad de cada valor posible de la variable aleatoria</a:t>
                </a:r>
                <a:endParaRPr lang="es-ES" sz="2400" b="1"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Ejemplo 3.1</a:t>
                </a:r>
              </a:p>
              <a:p>
                <a:pPr marL="685800" lvl="1" indent="-228600">
                  <a:lnSpc>
                    <a:spcPct val="90000"/>
                  </a:lnSpc>
                  <a:spcBef>
                    <a:spcPts val="499"/>
                  </a:spcBef>
                  <a:buClr>
                    <a:srgbClr val="000000"/>
                  </a:buClr>
                  <a:buFont typeface="Arial"/>
                  <a:buChar char="•"/>
                </a:pPr>
                <a14:m>
                  <m:oMath xmlns:m="http://schemas.openxmlformats.org/officeDocument/2006/math">
                    <m:r>
                      <a:rPr lang="es-ES" sz="2200" b="0" i="1" strike="noStrike" spc="-1" dirty="0" smtClean="0">
                        <a:solidFill>
                          <a:srgbClr val="000000"/>
                        </a:solidFill>
                        <a:latin typeface="Cambria Math" panose="02040503050406030204" pitchFamily="18" charset="0"/>
                      </a:rPr>
                      <m:t>𝑋</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𝑁</m:t>
                    </m:r>
                    <m:r>
                      <a:rPr lang="es-ES" sz="2200" b="0" i="1" strike="noStrike" spc="-1" dirty="0" smtClean="0">
                        <a:solidFill>
                          <a:srgbClr val="000000"/>
                        </a:solidFill>
                        <a:latin typeface="Cambria Math" panose="02040503050406030204" pitchFamily="18" charset="0"/>
                      </a:rPr>
                      <m:t>ú</m:t>
                    </m:r>
                    <m:r>
                      <a:rPr lang="es-ES" sz="2200" b="0" i="1" strike="noStrike" spc="-1" dirty="0" smtClean="0">
                        <a:solidFill>
                          <a:srgbClr val="000000"/>
                        </a:solidFill>
                        <a:latin typeface="Cambria Math" panose="02040503050406030204" pitchFamily="18" charset="0"/>
                      </a:rPr>
                      <m:t>𝑚𝑒𝑟𝑜</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𝑑𝑒</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𝑐𝑎𝑟𝑎𝑠</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𝑎𝑙</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𝑙𝑎𝑛𝑧𝑎𝑟</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𝑡𝑟𝑒𝑠</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𝑚𝑜𝑛𝑒𝑑𝑎𝑠</m:t>
                    </m:r>
                  </m:oMath>
                </a14:m>
                <a:endParaRPr lang="es-ES" sz="2200" b="0" strike="noStrike" spc="-1" dirty="0">
                  <a:solidFill>
                    <a:srgbClr val="000000"/>
                  </a:solidFill>
                  <a:latin typeface="Calibri"/>
                </a:endParaRPr>
              </a:p>
              <a:p>
                <a:pPr lvl="1"/>
                <a14:m>
                  <m:oMath xmlns:m="http://schemas.openxmlformats.org/officeDocument/2006/math">
                    <m:r>
                      <a:rPr lang="en-US" sz="2200" i="1" smtClean="0">
                        <a:latin typeface="Cambria Math" panose="02040503050406030204" pitchFamily="18" charset="0"/>
                      </a:rPr>
                      <m:t>𝑃</m:t>
                    </m:r>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𝑋</m:t>
                        </m:r>
                        <m:r>
                          <a:rPr lang="en-US" sz="2200" i="1">
                            <a:latin typeface="Cambria Math" panose="02040503050406030204" pitchFamily="18" charset="0"/>
                          </a:rPr>
                          <m:t>=</m:t>
                        </m:r>
                        <m:r>
                          <a:rPr lang="en-US" sz="2200" i="1">
                            <a:latin typeface="Cambria Math" panose="02040503050406030204" pitchFamily="18" charset="0"/>
                          </a:rPr>
                          <m:t>0</m:t>
                        </m:r>
                      </m:e>
                    </m:d>
                    <m:r>
                      <a:rPr lang="en-US" sz="2200" i="1">
                        <a:latin typeface="Cambria Math" panose="02040503050406030204" pitchFamily="18" charset="0"/>
                      </a:rPr>
                      <m:t>=</m:t>
                    </m:r>
                    <m:r>
                      <a:rPr lang="en-US" sz="2200" i="1">
                        <a:latin typeface="Cambria Math" panose="02040503050406030204" pitchFamily="18" charset="0"/>
                      </a:rPr>
                      <m:t>𝑃</m:t>
                    </m:r>
                    <m:d>
                      <m:dPr>
                        <m:begChr m:val="{"/>
                        <m:endChr m:val="}"/>
                        <m:ctrlPr>
                          <a:rPr lang="en-US" sz="2200" i="1">
                            <a:latin typeface="Cambria Math" panose="02040503050406030204" pitchFamily="18" charset="0"/>
                          </a:rPr>
                        </m:ctrlPr>
                      </m:dPr>
                      <m:e>
                        <m:r>
                          <a:rPr lang="es-ES" sz="2200" b="0" i="1" smtClean="0">
                            <a:latin typeface="Cambria Math" panose="02040503050406030204" pitchFamily="18" charset="0"/>
                          </a:rPr>
                          <m:t>𝑋𝑋𝑋</m:t>
                        </m:r>
                      </m:e>
                    </m:d>
                    <m:r>
                      <a:rPr lang="en-US" sz="2200" i="1">
                        <a:latin typeface="Cambria Math" panose="02040503050406030204" pitchFamily="18" charset="0"/>
                      </a:rPr>
                      <m:t>=</m:t>
                    </m:r>
                    <m:f>
                      <m:fPr>
                        <m:ctrlPr>
                          <a:rPr lang="es-ES" sz="2200" b="0" i="1" smtClean="0">
                            <a:latin typeface="Cambria Math" panose="02040503050406030204" pitchFamily="18" charset="0"/>
                          </a:rPr>
                        </m:ctrlPr>
                      </m:fPr>
                      <m:num>
                        <m:r>
                          <a:rPr lang="es-ES" sz="2200" b="0" i="1" smtClean="0">
                            <a:latin typeface="Cambria Math" panose="02040503050406030204" pitchFamily="18" charset="0"/>
                          </a:rPr>
                          <m:t>1</m:t>
                        </m:r>
                      </m:num>
                      <m:den>
                        <m:r>
                          <a:rPr lang="es-ES" sz="2200" b="0" i="1" smtClean="0">
                            <a:latin typeface="Cambria Math" panose="02040503050406030204" pitchFamily="18" charset="0"/>
                          </a:rPr>
                          <m:t>8</m:t>
                        </m:r>
                      </m:den>
                    </m:f>
                  </m:oMath>
                </a14:m>
                <a:endParaRPr lang="en-US" sz="2200" dirty="0"/>
              </a:p>
              <a:p>
                <a:pPr lvl="1"/>
                <a14:m>
                  <m:oMath xmlns:m="http://schemas.openxmlformats.org/officeDocument/2006/math">
                    <m:r>
                      <a:rPr lang="es-ES" sz="2200" b="0" i="1" smtClean="0">
                        <a:latin typeface="Cambria Math" panose="02040503050406030204" pitchFamily="18" charset="0"/>
                      </a:rPr>
                      <m:t>𝑃</m:t>
                    </m:r>
                    <m:d>
                      <m:dPr>
                        <m:begChr m:val="{"/>
                        <m:endChr m:val="}"/>
                        <m:ctrlPr>
                          <a:rPr lang="es-ES" sz="2200" b="0" i="1" smtClean="0">
                            <a:latin typeface="Cambria Math" panose="02040503050406030204" pitchFamily="18" charset="0"/>
                          </a:rPr>
                        </m:ctrlPr>
                      </m:dPr>
                      <m:e>
                        <m:r>
                          <a:rPr lang="es-ES" sz="2200" b="0" i="1" smtClean="0">
                            <a:latin typeface="Cambria Math" panose="02040503050406030204" pitchFamily="18" charset="0"/>
                          </a:rPr>
                          <m:t>𝑋</m:t>
                        </m:r>
                        <m:r>
                          <a:rPr lang="es-ES" sz="2200" b="0" i="1" smtClean="0">
                            <a:latin typeface="Cambria Math" panose="02040503050406030204" pitchFamily="18" charset="0"/>
                          </a:rPr>
                          <m:t>=</m:t>
                        </m:r>
                        <m:r>
                          <a:rPr lang="es-ES" sz="2200" b="0" i="1" smtClean="0">
                            <a:latin typeface="Cambria Math" panose="02040503050406030204" pitchFamily="18" charset="0"/>
                          </a:rPr>
                          <m:t>1</m:t>
                        </m:r>
                      </m:e>
                    </m:d>
                    <m:r>
                      <a:rPr lang="es-ES" sz="2200" b="0" i="1" smtClean="0">
                        <a:latin typeface="Cambria Math" panose="02040503050406030204" pitchFamily="18" charset="0"/>
                      </a:rPr>
                      <m:t>=</m:t>
                    </m:r>
                    <m:r>
                      <a:rPr lang="es-ES" sz="2200" b="0" i="1" smtClean="0">
                        <a:latin typeface="Cambria Math" panose="02040503050406030204" pitchFamily="18" charset="0"/>
                      </a:rPr>
                      <m:t>𝑃</m:t>
                    </m:r>
                    <m:d>
                      <m:dPr>
                        <m:begChr m:val="{"/>
                        <m:endChr m:val="}"/>
                        <m:ctrlPr>
                          <a:rPr lang="es-ES" sz="2200" b="0" i="1" smtClean="0">
                            <a:latin typeface="Cambria Math" panose="02040503050406030204" pitchFamily="18" charset="0"/>
                          </a:rPr>
                        </m:ctrlPr>
                      </m:dPr>
                      <m:e>
                        <m:r>
                          <a:rPr lang="es-ES" sz="2200" b="0" i="1" smtClean="0">
                            <a:latin typeface="Cambria Math" panose="02040503050406030204" pitchFamily="18" charset="0"/>
                          </a:rPr>
                          <m:t>𝐶𝑋𝑋</m:t>
                        </m:r>
                      </m:e>
                    </m:d>
                    <m:r>
                      <a:rPr lang="es-ES" sz="2200" b="0" i="1" smtClean="0">
                        <a:latin typeface="Cambria Math" panose="02040503050406030204" pitchFamily="18" charset="0"/>
                      </a:rPr>
                      <m:t>+</m:t>
                    </m:r>
                    <m:r>
                      <a:rPr lang="es-ES" sz="2200" i="1">
                        <a:latin typeface="Cambria Math" panose="02040503050406030204" pitchFamily="18" charset="0"/>
                      </a:rPr>
                      <m:t>𝑃</m:t>
                    </m:r>
                    <m:d>
                      <m:dPr>
                        <m:begChr m:val="{"/>
                        <m:endChr m:val="}"/>
                        <m:ctrlPr>
                          <a:rPr lang="es-ES" sz="2200" i="1">
                            <a:latin typeface="Cambria Math" panose="02040503050406030204" pitchFamily="18" charset="0"/>
                          </a:rPr>
                        </m:ctrlPr>
                      </m:dPr>
                      <m:e>
                        <m:r>
                          <a:rPr lang="es-ES" sz="2200" i="1">
                            <a:latin typeface="Cambria Math" panose="02040503050406030204" pitchFamily="18" charset="0"/>
                          </a:rPr>
                          <m:t>𝑋𝐶𝑋</m:t>
                        </m:r>
                      </m:e>
                    </m:d>
                    <m:r>
                      <a:rPr lang="es-ES" sz="2200" b="0" i="1" smtClean="0">
                        <a:latin typeface="Cambria Math" panose="02040503050406030204" pitchFamily="18" charset="0"/>
                      </a:rPr>
                      <m:t>+</m:t>
                    </m:r>
                    <m:r>
                      <a:rPr lang="es-ES" sz="2200" b="0" i="1" smtClean="0">
                        <a:latin typeface="Cambria Math" panose="02040503050406030204" pitchFamily="18" charset="0"/>
                      </a:rPr>
                      <m:t>𝑃</m:t>
                    </m:r>
                    <m:d>
                      <m:dPr>
                        <m:begChr m:val="{"/>
                        <m:endChr m:val="}"/>
                        <m:ctrlPr>
                          <a:rPr lang="es-ES" sz="2200" i="1">
                            <a:latin typeface="Cambria Math" panose="02040503050406030204" pitchFamily="18" charset="0"/>
                          </a:rPr>
                        </m:ctrlPr>
                      </m:dPr>
                      <m:e>
                        <m:r>
                          <a:rPr lang="es-ES" sz="2200" b="0" i="1" smtClean="0">
                            <a:latin typeface="Cambria Math" panose="02040503050406030204" pitchFamily="18" charset="0"/>
                          </a:rPr>
                          <m:t>𝑋</m:t>
                        </m:r>
                        <m:r>
                          <a:rPr lang="es-ES" sz="2200" i="1">
                            <a:latin typeface="Cambria Math" panose="02040503050406030204" pitchFamily="18" charset="0"/>
                          </a:rPr>
                          <m:t>𝑋𝐶</m:t>
                        </m:r>
                      </m:e>
                    </m:d>
                    <m:r>
                      <a:rPr lang="es-ES" sz="2200" b="0" i="1" smtClean="0">
                        <a:latin typeface="Cambria Math" panose="02040503050406030204" pitchFamily="18" charset="0"/>
                      </a:rPr>
                      <m:t>=</m:t>
                    </m:r>
                    <m:f>
                      <m:fPr>
                        <m:ctrlPr>
                          <a:rPr lang="es-ES" sz="2200" i="1">
                            <a:latin typeface="Cambria Math" panose="02040503050406030204" pitchFamily="18" charset="0"/>
                          </a:rPr>
                        </m:ctrlPr>
                      </m:fPr>
                      <m:num>
                        <m:r>
                          <a:rPr lang="es-ES" sz="2200" i="1">
                            <a:latin typeface="Cambria Math" panose="02040503050406030204" pitchFamily="18" charset="0"/>
                          </a:rPr>
                          <m:t>1</m:t>
                        </m:r>
                      </m:num>
                      <m:den>
                        <m:r>
                          <a:rPr lang="es-ES" sz="2200" i="1">
                            <a:latin typeface="Cambria Math" panose="02040503050406030204" pitchFamily="18" charset="0"/>
                          </a:rPr>
                          <m:t>8</m:t>
                        </m:r>
                      </m:den>
                    </m:f>
                    <m:r>
                      <a:rPr lang="es-ES" sz="2200" b="0" i="1" smtClean="0">
                        <a:latin typeface="Cambria Math" panose="02040503050406030204" pitchFamily="18" charset="0"/>
                      </a:rPr>
                      <m:t>+</m:t>
                    </m:r>
                    <m:f>
                      <m:fPr>
                        <m:ctrlPr>
                          <a:rPr lang="es-ES" sz="2200" i="1">
                            <a:latin typeface="Cambria Math" panose="02040503050406030204" pitchFamily="18" charset="0"/>
                          </a:rPr>
                        </m:ctrlPr>
                      </m:fPr>
                      <m:num>
                        <m:r>
                          <a:rPr lang="es-ES" sz="2200" i="1">
                            <a:latin typeface="Cambria Math" panose="02040503050406030204" pitchFamily="18" charset="0"/>
                          </a:rPr>
                          <m:t>1</m:t>
                        </m:r>
                      </m:num>
                      <m:den>
                        <m:r>
                          <a:rPr lang="es-ES" sz="2200" i="1">
                            <a:latin typeface="Cambria Math" panose="02040503050406030204" pitchFamily="18" charset="0"/>
                          </a:rPr>
                          <m:t>8</m:t>
                        </m:r>
                      </m:den>
                    </m:f>
                    <m:r>
                      <a:rPr lang="es-ES" sz="2200" b="0" i="1" smtClean="0">
                        <a:latin typeface="Cambria Math" panose="02040503050406030204" pitchFamily="18" charset="0"/>
                      </a:rPr>
                      <m:t>+</m:t>
                    </m:r>
                    <m:f>
                      <m:fPr>
                        <m:ctrlPr>
                          <a:rPr lang="es-ES" sz="2200" i="1">
                            <a:latin typeface="Cambria Math" panose="02040503050406030204" pitchFamily="18" charset="0"/>
                          </a:rPr>
                        </m:ctrlPr>
                      </m:fPr>
                      <m:num>
                        <m:r>
                          <a:rPr lang="es-ES" sz="2200" i="1">
                            <a:latin typeface="Cambria Math" panose="02040503050406030204" pitchFamily="18" charset="0"/>
                          </a:rPr>
                          <m:t>1</m:t>
                        </m:r>
                      </m:num>
                      <m:den>
                        <m:r>
                          <a:rPr lang="es-ES" sz="2200" i="1">
                            <a:latin typeface="Cambria Math" panose="02040503050406030204" pitchFamily="18" charset="0"/>
                          </a:rPr>
                          <m:t>8</m:t>
                        </m:r>
                      </m:den>
                    </m:f>
                    <m:r>
                      <a:rPr lang="es-ES" sz="2200" b="0" i="1" smtClean="0">
                        <a:latin typeface="Cambria Math" panose="02040503050406030204" pitchFamily="18" charset="0"/>
                      </a:rPr>
                      <m:t>=</m:t>
                    </m:r>
                    <m:f>
                      <m:fPr>
                        <m:ctrlPr>
                          <a:rPr lang="es-ES" sz="2200" b="0" i="1" smtClean="0">
                            <a:latin typeface="Cambria Math" panose="02040503050406030204" pitchFamily="18" charset="0"/>
                          </a:rPr>
                        </m:ctrlPr>
                      </m:fPr>
                      <m:num>
                        <m:r>
                          <a:rPr lang="es-ES" sz="2200" b="0" i="1" smtClean="0">
                            <a:latin typeface="Cambria Math" panose="02040503050406030204" pitchFamily="18" charset="0"/>
                          </a:rPr>
                          <m:t>3</m:t>
                        </m:r>
                      </m:num>
                      <m:den>
                        <m:r>
                          <a:rPr lang="es-ES" sz="2200" b="0" i="1" smtClean="0">
                            <a:latin typeface="Cambria Math" panose="02040503050406030204" pitchFamily="18" charset="0"/>
                          </a:rPr>
                          <m:t>8</m:t>
                        </m:r>
                      </m:den>
                    </m:f>
                  </m:oMath>
                </a14:m>
                <a:endParaRPr lang="en-US" sz="2200" dirty="0"/>
              </a:p>
              <a:p>
                <a:pPr lvl="1"/>
                <a14:m>
                  <m:oMath xmlns:m="http://schemas.openxmlformats.org/officeDocument/2006/math">
                    <m:r>
                      <a:rPr lang="es-ES" sz="2200" b="0" i="1" smtClean="0">
                        <a:latin typeface="Cambria Math" panose="02040503050406030204" pitchFamily="18" charset="0"/>
                      </a:rPr>
                      <m:t>𝑃</m:t>
                    </m:r>
                    <m:d>
                      <m:dPr>
                        <m:begChr m:val="{"/>
                        <m:endChr m:val="}"/>
                        <m:ctrlPr>
                          <a:rPr lang="es-ES" sz="2200" b="0" i="1" smtClean="0">
                            <a:latin typeface="Cambria Math" panose="02040503050406030204" pitchFamily="18" charset="0"/>
                          </a:rPr>
                        </m:ctrlPr>
                      </m:dPr>
                      <m:e>
                        <m:r>
                          <a:rPr lang="es-ES" sz="2200" b="0" i="1" smtClean="0">
                            <a:latin typeface="Cambria Math" panose="02040503050406030204" pitchFamily="18" charset="0"/>
                          </a:rPr>
                          <m:t>𝑋</m:t>
                        </m:r>
                        <m:r>
                          <a:rPr lang="es-ES" sz="2200" b="0" i="1" smtClean="0">
                            <a:latin typeface="Cambria Math" panose="02040503050406030204" pitchFamily="18" charset="0"/>
                          </a:rPr>
                          <m:t>=</m:t>
                        </m:r>
                        <m:r>
                          <a:rPr lang="es-ES" sz="2200" b="0" i="1" smtClean="0">
                            <a:latin typeface="Cambria Math" panose="02040503050406030204" pitchFamily="18" charset="0"/>
                          </a:rPr>
                          <m:t>2</m:t>
                        </m:r>
                      </m:e>
                    </m:d>
                    <m:r>
                      <a:rPr lang="es-ES" sz="2200" b="0" i="1" smtClean="0">
                        <a:latin typeface="Cambria Math" panose="02040503050406030204" pitchFamily="18" charset="0"/>
                      </a:rPr>
                      <m:t>=</m:t>
                    </m:r>
                    <m:r>
                      <a:rPr lang="es-ES" sz="2200" b="0" i="1" smtClean="0">
                        <a:latin typeface="Cambria Math" panose="02040503050406030204" pitchFamily="18" charset="0"/>
                      </a:rPr>
                      <m:t>𝑃</m:t>
                    </m:r>
                    <m:d>
                      <m:dPr>
                        <m:begChr m:val="{"/>
                        <m:endChr m:val="}"/>
                        <m:ctrlPr>
                          <a:rPr lang="es-ES" sz="2200" b="0" i="1" smtClean="0">
                            <a:latin typeface="Cambria Math" panose="02040503050406030204" pitchFamily="18" charset="0"/>
                          </a:rPr>
                        </m:ctrlPr>
                      </m:dPr>
                      <m:e>
                        <m:r>
                          <a:rPr lang="es-ES" sz="2200" b="0" i="1" smtClean="0">
                            <a:latin typeface="Cambria Math" panose="02040503050406030204" pitchFamily="18" charset="0"/>
                          </a:rPr>
                          <m:t>𝐶𝐶𝑋</m:t>
                        </m:r>
                      </m:e>
                    </m:d>
                    <m:r>
                      <a:rPr lang="es-ES" sz="2200" i="1">
                        <a:latin typeface="Cambria Math" panose="02040503050406030204" pitchFamily="18" charset="0"/>
                      </a:rPr>
                      <m:t>+</m:t>
                    </m:r>
                    <m:r>
                      <a:rPr lang="es-ES" sz="2200" i="1">
                        <a:latin typeface="Cambria Math" panose="02040503050406030204" pitchFamily="18" charset="0"/>
                      </a:rPr>
                      <m:t>𝑃</m:t>
                    </m:r>
                    <m:d>
                      <m:dPr>
                        <m:begChr m:val="{"/>
                        <m:endChr m:val="}"/>
                        <m:ctrlPr>
                          <a:rPr lang="es-ES" sz="2200" i="1">
                            <a:latin typeface="Cambria Math" panose="02040503050406030204" pitchFamily="18" charset="0"/>
                          </a:rPr>
                        </m:ctrlPr>
                      </m:dPr>
                      <m:e>
                        <m:r>
                          <a:rPr lang="es-ES" sz="2200" i="1">
                            <a:latin typeface="Cambria Math" panose="02040503050406030204" pitchFamily="18" charset="0"/>
                          </a:rPr>
                          <m:t>𝐶𝑋𝐶</m:t>
                        </m:r>
                      </m:e>
                    </m:d>
                    <m:r>
                      <a:rPr lang="es-ES" sz="2200" b="0" i="1" smtClean="0">
                        <a:latin typeface="Cambria Math" panose="02040503050406030204" pitchFamily="18" charset="0"/>
                      </a:rPr>
                      <m:t>+</m:t>
                    </m:r>
                    <m:r>
                      <a:rPr lang="es-ES" sz="2200" i="1">
                        <a:latin typeface="Cambria Math" panose="02040503050406030204" pitchFamily="18" charset="0"/>
                      </a:rPr>
                      <m:t>𝑃</m:t>
                    </m:r>
                    <m:d>
                      <m:dPr>
                        <m:begChr m:val="{"/>
                        <m:endChr m:val="}"/>
                        <m:ctrlPr>
                          <a:rPr lang="es-ES" sz="2200" i="1">
                            <a:latin typeface="Cambria Math" panose="02040503050406030204" pitchFamily="18" charset="0"/>
                          </a:rPr>
                        </m:ctrlPr>
                      </m:dPr>
                      <m:e>
                        <m:r>
                          <a:rPr lang="es-ES" sz="2200" i="1">
                            <a:latin typeface="Cambria Math" panose="02040503050406030204" pitchFamily="18" charset="0"/>
                          </a:rPr>
                          <m:t>𝑋𝐶𝐶</m:t>
                        </m:r>
                      </m:e>
                    </m:d>
                    <m:r>
                      <a:rPr lang="es-ES" sz="2200" b="0" i="1" smtClean="0">
                        <a:latin typeface="Cambria Math" panose="02040503050406030204" pitchFamily="18" charset="0"/>
                      </a:rPr>
                      <m:t>=</m:t>
                    </m:r>
                    <m:f>
                      <m:fPr>
                        <m:ctrlPr>
                          <a:rPr lang="es-ES" sz="2200" i="1">
                            <a:latin typeface="Cambria Math" panose="02040503050406030204" pitchFamily="18" charset="0"/>
                          </a:rPr>
                        </m:ctrlPr>
                      </m:fPr>
                      <m:num>
                        <m:r>
                          <a:rPr lang="es-ES" sz="2200" i="1">
                            <a:latin typeface="Cambria Math" panose="02040503050406030204" pitchFamily="18" charset="0"/>
                          </a:rPr>
                          <m:t>1</m:t>
                        </m:r>
                      </m:num>
                      <m:den>
                        <m:r>
                          <a:rPr lang="es-ES" sz="2200" i="1">
                            <a:latin typeface="Cambria Math" panose="02040503050406030204" pitchFamily="18" charset="0"/>
                          </a:rPr>
                          <m:t>8</m:t>
                        </m:r>
                      </m:den>
                    </m:f>
                    <m:r>
                      <a:rPr lang="es-ES" sz="2200" b="0" i="1" smtClean="0">
                        <a:latin typeface="Cambria Math" panose="02040503050406030204" pitchFamily="18" charset="0"/>
                      </a:rPr>
                      <m:t>+</m:t>
                    </m:r>
                    <m:f>
                      <m:fPr>
                        <m:ctrlPr>
                          <a:rPr lang="es-ES" sz="2200" i="1">
                            <a:latin typeface="Cambria Math" panose="02040503050406030204" pitchFamily="18" charset="0"/>
                          </a:rPr>
                        </m:ctrlPr>
                      </m:fPr>
                      <m:num>
                        <m:r>
                          <a:rPr lang="es-ES" sz="2200" i="1">
                            <a:latin typeface="Cambria Math" panose="02040503050406030204" pitchFamily="18" charset="0"/>
                          </a:rPr>
                          <m:t>1</m:t>
                        </m:r>
                      </m:num>
                      <m:den>
                        <m:r>
                          <a:rPr lang="es-ES" sz="2200" i="1">
                            <a:latin typeface="Cambria Math" panose="02040503050406030204" pitchFamily="18" charset="0"/>
                          </a:rPr>
                          <m:t>8</m:t>
                        </m:r>
                      </m:den>
                    </m:f>
                    <m:r>
                      <a:rPr lang="es-ES" sz="2200" b="0" i="1" smtClean="0">
                        <a:latin typeface="Cambria Math" panose="02040503050406030204" pitchFamily="18" charset="0"/>
                      </a:rPr>
                      <m:t>+</m:t>
                    </m:r>
                    <m:f>
                      <m:fPr>
                        <m:ctrlPr>
                          <a:rPr lang="es-ES" sz="2200" i="1">
                            <a:latin typeface="Cambria Math" panose="02040503050406030204" pitchFamily="18" charset="0"/>
                          </a:rPr>
                        </m:ctrlPr>
                      </m:fPr>
                      <m:num>
                        <m:r>
                          <a:rPr lang="es-ES" sz="2200" i="1">
                            <a:latin typeface="Cambria Math" panose="02040503050406030204" pitchFamily="18" charset="0"/>
                          </a:rPr>
                          <m:t>1</m:t>
                        </m:r>
                      </m:num>
                      <m:den>
                        <m:r>
                          <a:rPr lang="es-ES" sz="2200" i="1">
                            <a:latin typeface="Cambria Math" panose="02040503050406030204" pitchFamily="18" charset="0"/>
                          </a:rPr>
                          <m:t>8</m:t>
                        </m:r>
                      </m:den>
                    </m:f>
                    <m:r>
                      <a:rPr lang="es-ES" sz="2200" b="0" i="1" smtClean="0">
                        <a:latin typeface="Cambria Math" panose="02040503050406030204" pitchFamily="18" charset="0"/>
                      </a:rPr>
                      <m:t>=</m:t>
                    </m:r>
                    <m:f>
                      <m:fPr>
                        <m:ctrlPr>
                          <a:rPr lang="es-ES" sz="2200" b="0" i="1" smtClean="0">
                            <a:latin typeface="Cambria Math" panose="02040503050406030204" pitchFamily="18" charset="0"/>
                          </a:rPr>
                        </m:ctrlPr>
                      </m:fPr>
                      <m:num>
                        <m:r>
                          <a:rPr lang="es-ES" sz="2200" b="0" i="1" smtClean="0">
                            <a:latin typeface="Cambria Math" panose="02040503050406030204" pitchFamily="18" charset="0"/>
                          </a:rPr>
                          <m:t>3</m:t>
                        </m:r>
                      </m:num>
                      <m:den>
                        <m:r>
                          <a:rPr lang="es-ES" sz="2200" b="0" i="1" smtClean="0">
                            <a:latin typeface="Cambria Math" panose="02040503050406030204" pitchFamily="18" charset="0"/>
                          </a:rPr>
                          <m:t>8</m:t>
                        </m:r>
                      </m:den>
                    </m:f>
                  </m:oMath>
                </a14:m>
                <a:endParaRPr lang="en-US" sz="2200" dirty="0"/>
              </a:p>
              <a:p>
                <a:pPr lvl="1"/>
                <a14:m>
                  <m:oMath xmlns:m="http://schemas.openxmlformats.org/officeDocument/2006/math">
                    <m:r>
                      <a:rPr lang="es-ES" sz="2200" b="0" i="1" smtClean="0">
                        <a:latin typeface="Cambria Math" panose="02040503050406030204" pitchFamily="18" charset="0"/>
                      </a:rPr>
                      <m:t>𝑃</m:t>
                    </m:r>
                    <m:d>
                      <m:dPr>
                        <m:begChr m:val="{"/>
                        <m:endChr m:val="}"/>
                        <m:ctrlPr>
                          <a:rPr lang="es-ES" sz="2200" b="0" i="1" smtClean="0">
                            <a:latin typeface="Cambria Math" panose="02040503050406030204" pitchFamily="18" charset="0"/>
                          </a:rPr>
                        </m:ctrlPr>
                      </m:dPr>
                      <m:e>
                        <m:r>
                          <a:rPr lang="es-ES" sz="2200" b="0" i="1" smtClean="0">
                            <a:latin typeface="Cambria Math" panose="02040503050406030204" pitchFamily="18" charset="0"/>
                          </a:rPr>
                          <m:t>𝑋</m:t>
                        </m:r>
                        <m:r>
                          <a:rPr lang="es-ES" sz="2200" b="0" i="1" smtClean="0">
                            <a:latin typeface="Cambria Math" panose="02040503050406030204" pitchFamily="18" charset="0"/>
                          </a:rPr>
                          <m:t>=</m:t>
                        </m:r>
                        <m:r>
                          <a:rPr lang="es-ES" sz="2200" b="0" i="1" smtClean="0">
                            <a:latin typeface="Cambria Math" panose="02040503050406030204" pitchFamily="18" charset="0"/>
                          </a:rPr>
                          <m:t>3</m:t>
                        </m:r>
                      </m:e>
                    </m:d>
                    <m:r>
                      <a:rPr lang="es-ES" sz="2200" b="0" i="1" smtClean="0">
                        <a:latin typeface="Cambria Math" panose="02040503050406030204" pitchFamily="18" charset="0"/>
                      </a:rPr>
                      <m:t>=</m:t>
                    </m:r>
                    <m:r>
                      <a:rPr lang="es-ES" sz="2200" b="0" i="1" smtClean="0">
                        <a:latin typeface="Cambria Math" panose="02040503050406030204" pitchFamily="18" charset="0"/>
                      </a:rPr>
                      <m:t>𝑃</m:t>
                    </m:r>
                    <m:d>
                      <m:dPr>
                        <m:begChr m:val="{"/>
                        <m:endChr m:val="}"/>
                        <m:ctrlPr>
                          <a:rPr lang="es-ES" sz="2200" b="0" i="1" smtClean="0">
                            <a:latin typeface="Cambria Math" panose="02040503050406030204" pitchFamily="18" charset="0"/>
                          </a:rPr>
                        </m:ctrlPr>
                      </m:dPr>
                      <m:e>
                        <m:r>
                          <a:rPr lang="es-ES" sz="2200" b="0" i="1" smtClean="0">
                            <a:latin typeface="Cambria Math" panose="02040503050406030204" pitchFamily="18" charset="0"/>
                          </a:rPr>
                          <m:t>𝐶𝐶𝐶</m:t>
                        </m:r>
                      </m:e>
                    </m:d>
                    <m:r>
                      <a:rPr lang="es-ES" sz="2200" b="0" i="1" smtClean="0">
                        <a:latin typeface="Cambria Math" panose="02040503050406030204" pitchFamily="18" charset="0"/>
                      </a:rPr>
                      <m:t>=</m:t>
                    </m:r>
                    <m:f>
                      <m:fPr>
                        <m:ctrlPr>
                          <a:rPr lang="es-ES" sz="2200" b="0" i="1" smtClean="0">
                            <a:latin typeface="Cambria Math" panose="02040503050406030204" pitchFamily="18" charset="0"/>
                          </a:rPr>
                        </m:ctrlPr>
                      </m:fPr>
                      <m:num>
                        <m:r>
                          <a:rPr lang="es-ES" sz="2200" b="0" i="1" smtClean="0">
                            <a:latin typeface="Cambria Math" panose="02040503050406030204" pitchFamily="18" charset="0"/>
                          </a:rPr>
                          <m:t>1</m:t>
                        </m:r>
                      </m:num>
                      <m:den>
                        <m:r>
                          <a:rPr lang="es-ES" sz="2200" b="0" i="1" smtClean="0">
                            <a:latin typeface="Cambria Math" panose="02040503050406030204" pitchFamily="18" charset="0"/>
                          </a:rPr>
                          <m:t>8</m:t>
                        </m:r>
                      </m:den>
                    </m:f>
                  </m:oMath>
                </a14:m>
                <a:endParaRPr lang="en-US" dirty="0"/>
              </a:p>
              <a:p>
                <a:pPr marL="457200" lvl="1" indent="0">
                  <a:lnSpc>
                    <a:spcPct val="90000"/>
                  </a:lnSpc>
                  <a:spcBef>
                    <a:spcPts val="499"/>
                  </a:spcBef>
                  <a:buClr>
                    <a:srgbClr val="000000"/>
                  </a:buClr>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93" name="PlaceHolder 2"/>
              <p:cNvSpPr>
                <a:spLocks noGrp="1" noRot="1" noChangeAspect="1" noMove="1" noResize="1" noEditPoints="1" noAdjustHandles="1" noChangeArrowheads="1" noChangeShapeType="1" noTextEdit="1"/>
              </p:cNvSpPr>
              <p:nvPr>
                <p:ph/>
              </p:nvPr>
            </p:nvSpPr>
            <p:spPr>
              <a:xfrm>
                <a:off x="838079" y="1825560"/>
                <a:ext cx="10646349" cy="4350960"/>
              </a:xfrm>
              <a:prstGeom prst="rect">
                <a:avLst/>
              </a:prstGeom>
              <a:blipFill>
                <a:blip r:embed="rId2"/>
                <a:stretch>
                  <a:fillRect l="-1030" t="-3081" r="-114"/>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probabilidad de una variable aleatoria discreta (</a:t>
            </a:r>
            <a:r>
              <a:rPr lang="es-ES" sz="4000" b="0" strike="noStrike" spc="-1" dirty="0" err="1">
                <a:solidFill>
                  <a:srgbClr val="000000"/>
                </a:solidFill>
                <a:latin typeface="Calibri Light"/>
              </a:rPr>
              <a:t>pmf</a:t>
            </a:r>
            <a:r>
              <a:rPr lang="es-ES" sz="4000" b="0" strike="noStrike" spc="-1" dirty="0">
                <a:solidFill>
                  <a:srgbClr val="000000"/>
                </a:solidFill>
                <a:latin typeface="Calibri Light"/>
              </a:rPr>
              <a:t> y </a:t>
            </a:r>
            <a:r>
              <a:rPr lang="es-ES" sz="4000" b="0" strike="noStrike" spc="-1" dirty="0" err="1">
                <a:solidFill>
                  <a:srgbClr val="000000"/>
                </a:solidFill>
                <a:latin typeface="Calibri Light"/>
              </a:rPr>
              <a:t>cdf</a:t>
            </a:r>
            <a:r>
              <a:rPr lang="es-ES" sz="4000" b="0" strike="noStrike" spc="-1" dirty="0">
                <a:solidFill>
                  <a:srgbClr val="000000"/>
                </a:solidFill>
                <a:latin typeface="Calibri Light"/>
              </a:rPr>
              <a:t>)</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95" name="PlaceHolder 2"/>
              <p:cNvSpPr>
                <a:spLocks noGrp="1"/>
              </p:cNvSpPr>
              <p:nvPr>
                <p:ph/>
              </p:nvPr>
            </p:nvSpPr>
            <p:spPr>
              <a:xfrm>
                <a:off x="838080" y="1825560"/>
                <a:ext cx="10515240" cy="466704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colección de todas las probabilidades relacionadas con una variable aleatoria discreta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es la distribución de probabilidad de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a:t>
                </a:r>
                <a:r>
                  <a:rPr lang="es-ES" sz="2800" b="1" strike="noStrike" spc="-1" dirty="0">
                    <a:solidFill>
                      <a:srgbClr val="000000"/>
                    </a:solidFill>
                    <a:latin typeface="Calibri"/>
                  </a:rPr>
                  <a:t>función de masa de probabilidad</a:t>
                </a:r>
                <a:r>
                  <a:rPr lang="es-ES" sz="2800" b="0" strike="noStrike" spc="-1" dirty="0">
                    <a:solidFill>
                      <a:srgbClr val="000000"/>
                    </a:solidFill>
                    <a:latin typeface="Calibri"/>
                  </a:rPr>
                  <a:t> de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o </a:t>
                </a:r>
                <a:r>
                  <a:rPr lang="es-ES" sz="2800" b="0" strike="noStrike" spc="-1" dirty="0" err="1">
                    <a:solidFill>
                      <a:srgbClr val="000000"/>
                    </a:solidFill>
                    <a:latin typeface="Calibri"/>
                  </a:rPr>
                  <a:t>pmf</a:t>
                </a:r>
                <a:r>
                  <a:rPr lang="es-ES" sz="2800" b="0" strike="noStrike" spc="-1" dirty="0">
                    <a:solidFill>
                      <a:srgbClr val="000000"/>
                    </a:solidFill>
                    <a:latin typeface="Calibri"/>
                  </a:rPr>
                  <a:t> </a:t>
                </a:r>
                <a:r>
                  <a:rPr lang="es-ES" spc="-1" dirty="0">
                    <a:solidFill>
                      <a:srgbClr val="000000"/>
                    </a:solidFill>
                    <a:latin typeface="Calibri"/>
                  </a:rPr>
                  <a:t>(</a:t>
                </a:r>
                <a:r>
                  <a:rPr lang="es-ES" i="1" spc="-1" dirty="0" err="1">
                    <a:solidFill>
                      <a:srgbClr val="000000"/>
                    </a:solidFill>
                    <a:latin typeface="Calibri"/>
                  </a:rPr>
                  <a:t>probability</a:t>
                </a:r>
                <a:r>
                  <a:rPr lang="es-ES" i="1" spc="-1" dirty="0">
                    <a:solidFill>
                      <a:srgbClr val="000000"/>
                    </a:solidFill>
                    <a:latin typeface="Calibri"/>
                  </a:rPr>
                  <a:t> </a:t>
                </a:r>
                <a:r>
                  <a:rPr lang="es-ES" i="1" spc="-1" dirty="0" err="1">
                    <a:solidFill>
                      <a:srgbClr val="000000"/>
                    </a:solidFill>
                    <a:latin typeface="Calibri"/>
                  </a:rPr>
                  <a:t>mass</a:t>
                </a:r>
                <a:r>
                  <a:rPr lang="es-ES" i="1" spc="-1" dirty="0">
                    <a:solidFill>
                      <a:srgbClr val="000000"/>
                    </a:solidFill>
                    <a:latin typeface="Calibri"/>
                  </a:rPr>
                  <a:t> </a:t>
                </a:r>
                <a:r>
                  <a:rPr lang="es-ES" i="1" spc="-1" dirty="0" err="1">
                    <a:solidFill>
                      <a:srgbClr val="000000"/>
                    </a:solidFill>
                    <a:latin typeface="Calibri"/>
                  </a:rPr>
                  <a:t>function</a:t>
                </a:r>
                <a:r>
                  <a:rPr lang="es-ES" spc="-1" dirty="0">
                    <a:solidFill>
                      <a:srgbClr val="000000"/>
                    </a:solidFill>
                    <a:latin typeface="Calibri"/>
                  </a:rPr>
                  <a:t>), </a:t>
                </a:r>
                <a:r>
                  <a:rPr lang="es-ES" sz="2800" b="0" strike="noStrike" spc="-1" dirty="0">
                    <a:solidFill>
                      <a:srgbClr val="000000"/>
                    </a:solidFill>
                    <a:latin typeface="Calibri"/>
                  </a:rPr>
                  <a:t>se define como</a:t>
                </a:r>
              </a:p>
              <a:p>
                <a:pPr lvl="1">
                  <a:spcBef>
                    <a:spcPts val="1001"/>
                  </a:spcBef>
                  <a:buClr>
                    <a:srgbClr val="000000"/>
                  </a:buClr>
                  <a:buFont typeface="Arial"/>
                  <a:buChar char="•"/>
                </a:pPr>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𝑃</m:t>
                    </m:r>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𝑥</m:t>
                    </m:r>
                    <m:r>
                      <a:rPr lang="es-ES" b="0" i="1" smtClean="0">
                        <a:latin typeface="Cambria Math" panose="02040503050406030204" pitchFamily="18" charset="0"/>
                      </a:rPr>
                      <m:t>}</m:t>
                    </m:r>
                  </m:oMath>
                </a14:m>
                <a:endParaRPr lang="en-US" dirty="0"/>
              </a:p>
              <a:p>
                <a:pPr>
                  <a:spcBef>
                    <a:spcPts val="1001"/>
                  </a:spcBef>
                  <a:buClr>
                    <a:srgbClr val="000000"/>
                  </a:buClr>
                  <a:buFont typeface="Arial"/>
                  <a:buChar char="•"/>
                </a:pPr>
                <a:r>
                  <a:rPr lang="es-ES" b="0" strike="noStrike" spc="-1" dirty="0">
                    <a:solidFill>
                      <a:srgbClr val="000000"/>
                    </a:solidFill>
                    <a:latin typeface="Calibri"/>
                  </a:rPr>
                  <a:t>La </a:t>
                </a:r>
                <a:r>
                  <a:rPr lang="es-ES" b="1" strike="noStrike" spc="-1" dirty="0">
                    <a:solidFill>
                      <a:srgbClr val="000000"/>
                    </a:solidFill>
                    <a:latin typeface="Calibri"/>
                  </a:rPr>
                  <a:t>función de distribución acumulada</a:t>
                </a:r>
                <a:r>
                  <a:rPr lang="es-ES" b="0" strike="noStrike" spc="-1" dirty="0">
                    <a:solidFill>
                      <a:srgbClr val="000000"/>
                    </a:solidFill>
                    <a:latin typeface="Calibri"/>
                  </a:rPr>
                  <a:t>, o </a:t>
                </a:r>
                <a:r>
                  <a:rPr lang="es-ES" b="0" strike="noStrike" spc="-1" dirty="0" err="1">
                    <a:solidFill>
                      <a:srgbClr val="000000"/>
                    </a:solidFill>
                    <a:latin typeface="Calibri"/>
                  </a:rPr>
                  <a:t>cdf</a:t>
                </a:r>
                <a:r>
                  <a:rPr lang="es-ES" b="0" strike="noStrike" spc="-1" dirty="0">
                    <a:solidFill>
                      <a:srgbClr val="000000"/>
                    </a:solidFill>
                    <a:latin typeface="Calibri"/>
                  </a:rPr>
                  <a:t> (</a:t>
                </a:r>
                <a:r>
                  <a:rPr lang="es-ES" b="0" i="1" strike="noStrike" spc="-1" dirty="0">
                    <a:solidFill>
                      <a:srgbClr val="000000"/>
                    </a:solidFill>
                    <a:latin typeface="Calibri"/>
                  </a:rPr>
                  <a:t>cumulative </a:t>
                </a:r>
                <a:r>
                  <a:rPr lang="es-ES" b="0" i="1" strike="noStrike" spc="-1" dirty="0" err="1">
                    <a:solidFill>
                      <a:srgbClr val="000000"/>
                    </a:solidFill>
                    <a:latin typeface="Calibri"/>
                  </a:rPr>
                  <a:t>distribution</a:t>
                </a:r>
                <a:r>
                  <a:rPr lang="es-ES" b="0" i="1" strike="noStrike" spc="-1" dirty="0">
                    <a:solidFill>
                      <a:srgbClr val="000000"/>
                    </a:solidFill>
                    <a:latin typeface="Calibri"/>
                  </a:rPr>
                  <a:t> </a:t>
                </a:r>
                <a:r>
                  <a:rPr lang="es-ES" b="0" i="1" strike="noStrike" spc="-1" dirty="0" err="1">
                    <a:solidFill>
                      <a:srgbClr val="000000"/>
                    </a:solidFill>
                    <a:latin typeface="Calibri"/>
                  </a:rPr>
                  <a:t>function</a:t>
                </a:r>
                <a:r>
                  <a:rPr lang="es-ES" b="0" strike="noStrike" spc="-1" dirty="0">
                    <a:solidFill>
                      <a:srgbClr val="000000"/>
                    </a:solidFill>
                    <a:latin typeface="Calibri"/>
                  </a:rPr>
                  <a:t>), se define como</a:t>
                </a:r>
              </a:p>
              <a:p>
                <a:pPr marL="685800" lvl="1" indent="-228600">
                  <a:lnSpc>
                    <a:spcPct val="90000"/>
                  </a:lnSpc>
                  <a:spcBef>
                    <a:spcPts val="499"/>
                  </a:spcBef>
                  <a:buClr>
                    <a:srgbClr val="000000"/>
                  </a:buClr>
                  <a:buFont typeface="Arial"/>
                  <a:buChar char="•"/>
                </a:pPr>
                <a:r>
                  <a:rPr lang="es-ES" sz="2400" b="0" i="1" strike="noStrike" spc="-1" dirty="0">
                    <a:solidFill>
                      <a:srgbClr val="000000"/>
                    </a:solidFill>
                    <a:latin typeface="Calibri"/>
                  </a:rPr>
                  <a:t>Nota: Recordar la </a:t>
                </a:r>
                <a:r>
                  <a:rPr lang="es-ES" sz="2400" b="0" i="1" u="sng" strike="noStrike" spc="-1" dirty="0">
                    <a:solidFill>
                      <a:srgbClr val="000000"/>
                    </a:solidFill>
                    <a:uFillTx/>
                    <a:latin typeface="Calibri"/>
                    <a:hlinkClick r:id="rId2"/>
                  </a:rPr>
                  <a:t>probabilidad de la unión de sucesos</a:t>
                </a:r>
                <a:r>
                  <a:rPr lang="es-ES" sz="2400" b="0" strike="noStrike" spc="-1" dirty="0">
                    <a:solidFill>
                      <a:srgbClr val="000000"/>
                    </a:solidFill>
                    <a:latin typeface="Calibri"/>
                  </a:rPr>
                  <a:t> </a:t>
                </a:r>
              </a:p>
              <a:p>
                <a:pPr marL="685800" lvl="1" indent="-228600">
                  <a:lnSpc>
                    <a:spcPct val="90000"/>
                  </a:lnSpc>
                  <a:spcBef>
                    <a:spcPts val="499"/>
                  </a:spcBef>
                  <a:buClr>
                    <a:srgbClr val="000000"/>
                  </a:buClr>
                  <a:buFont typeface="Arial"/>
                  <a:buChar char="•"/>
                </a:pPr>
                <a14:m>
                  <m:oMath xmlns:m="http://schemas.openxmlformats.org/officeDocument/2006/math">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e>
                    </m:d>
                    <m:r>
                      <a:rPr lang="es-ES" b="0" i="1" smtClean="0">
                        <a:latin typeface="Cambria Math" panose="02040503050406030204" pitchFamily="18" charset="0"/>
                        <a:ea typeface="Cambria Math" panose="02040503050406030204" pitchFamily="18" charset="0"/>
                      </a:rPr>
                      <m:t>=</m:t>
                    </m:r>
                    <m:nary>
                      <m:naryPr>
                        <m:chr m:val="∑"/>
                        <m:ctrlPr>
                          <a:rPr lang="es-ES" b="0" i="1" smtClean="0">
                            <a:latin typeface="Cambria Math" panose="02040503050406030204" pitchFamily="18" charset="0"/>
                            <a:ea typeface="Cambria Math" panose="02040503050406030204" pitchFamily="18" charset="0"/>
                          </a:rPr>
                        </m:ctrlPr>
                      </m:naryPr>
                      <m:sub>
                        <m:r>
                          <m:rPr>
                            <m:brk m:alnAt="23"/>
                          </m:rPr>
                          <a:rPr lang="es-ES" b="0" i="1" smtClean="0">
                            <a:latin typeface="Cambria Math" panose="02040503050406030204" pitchFamily="18" charset="0"/>
                            <a:ea typeface="Cambria Math" panose="02040503050406030204" pitchFamily="18" charset="0"/>
                          </a:rPr>
                          <m:t>𝑖</m:t>
                        </m:r>
                        <m:r>
                          <a:rPr lang="es-ES" b="0" i="1" smtClean="0">
                            <a:latin typeface="Cambria Math" panose="02040503050406030204" pitchFamily="18" charset="0"/>
                            <a:ea typeface="Cambria Math" panose="02040503050406030204" pitchFamily="18" charset="0"/>
                          </a:rPr>
                          <m:t>=</m:t>
                        </m:r>
                        <m:r>
                          <m:rPr>
                            <m:sty m:val="p"/>
                            <m:brk m:alnAt="23"/>
                          </m:rPr>
                          <a:rPr lang="es-ES" b="0" i="0" smtClean="0">
                            <a:latin typeface="Cambria Math" panose="02040503050406030204" pitchFamily="18" charset="0"/>
                            <a:ea typeface="Cambria Math" panose="02040503050406030204" pitchFamily="18" charset="0"/>
                          </a:rPr>
                          <m:t>m</m:t>
                        </m:r>
                        <m:r>
                          <m:rPr>
                            <m:sty m:val="p"/>
                          </m:rPr>
                          <a:rPr lang="es-ES" b="0" i="0" smtClean="0">
                            <a:latin typeface="Cambria Math" panose="02040503050406030204" pitchFamily="18" charset="0"/>
                            <a:ea typeface="Cambria Math" panose="02040503050406030204" pitchFamily="18" charset="0"/>
                          </a:rPr>
                          <m:t>in</m:t>
                        </m:r>
                        <m:r>
                          <m:rPr>
                            <m:brk m:alnAt="23"/>
                          </m:rP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sub>
                      <m:sup>
                        <m:r>
                          <a:rPr lang="es-ES" b="0" i="1" smtClean="0">
                            <a:latin typeface="Cambria Math" panose="02040503050406030204" pitchFamily="18" charset="0"/>
                            <a:ea typeface="Cambria Math" panose="02040503050406030204" pitchFamily="18" charset="0"/>
                          </a:rPr>
                          <m:t>𝑥</m:t>
                        </m:r>
                      </m:sup>
                      <m:e>
                        <m:r>
                          <a:rPr lang="es-ES" b="0" i="1" smtClean="0">
                            <a:latin typeface="Cambria Math" panose="02040503050406030204" pitchFamily="18" charset="0"/>
                            <a:ea typeface="Cambria Math" panose="02040503050406030204" pitchFamily="18" charset="0"/>
                          </a:rPr>
                          <m:t>𝑃</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𝑖</m:t>
                        </m:r>
                        <m:r>
                          <a:rPr lang="es-ES" b="0" i="1" smtClean="0">
                            <a:latin typeface="Cambria Math" panose="02040503050406030204" pitchFamily="18" charset="0"/>
                            <a:ea typeface="Cambria Math" panose="02040503050406030204" pitchFamily="18" charset="0"/>
                          </a:rPr>
                          <m:t>)</m:t>
                        </m:r>
                      </m:e>
                    </m:nary>
                  </m:oMath>
                </a14:m>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95" name="PlaceHolder 2"/>
              <p:cNvSpPr>
                <a:spLocks noGrp="1" noRot="1" noChangeAspect="1" noMove="1" noResize="1" noEditPoints="1" noAdjustHandles="1" noChangeArrowheads="1" noChangeShapeType="1" noTextEdit="1"/>
              </p:cNvSpPr>
              <p:nvPr>
                <p:ph/>
              </p:nvPr>
            </p:nvSpPr>
            <p:spPr>
              <a:xfrm>
                <a:off x="838080" y="1825560"/>
                <a:ext cx="10515240" cy="4667040"/>
              </a:xfrm>
              <a:prstGeom prst="rect">
                <a:avLst/>
              </a:prstGeom>
              <a:blipFill>
                <a:blip r:embed="rId3"/>
                <a:stretch>
                  <a:fillRect l="-1043" t="-2089" b="-3003"/>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 Ejemplo 3.1 (Tirar 3 monedas)</a:t>
            </a:r>
            <a:endParaRPr lang="es-ES" sz="4000" b="0" strike="noStrike" spc="-1" dirty="0">
              <a:solidFill>
                <a:srgbClr val="000000"/>
              </a:solidFill>
              <a:latin typeface="Calibri"/>
            </a:endParaRPr>
          </a:p>
        </p:txBody>
      </p:sp>
      <p:pic>
        <p:nvPicPr>
          <p:cNvPr id="99" name="Marcador de contenido 5">
            <a:extLst>
              <a:ext uri="{C183D7F6-B498-43B3-948B-1728B52AA6E4}">
                <adec:decorative xmlns:adec="http://schemas.microsoft.com/office/drawing/2017/decorative" val="1"/>
              </a:ext>
            </a:extLst>
          </p:cNvPr>
          <p:cNvPicPr/>
          <p:nvPr/>
        </p:nvPicPr>
        <p:blipFill>
          <a:blip r:embed="rId2"/>
          <a:stretch/>
        </p:blipFill>
        <p:spPr>
          <a:xfrm>
            <a:off x="1533600" y="1891440"/>
            <a:ext cx="9124560" cy="4219200"/>
          </a:xfrm>
          <a:prstGeom prst="rect">
            <a:avLst/>
          </a:prstGeom>
          <a:ln w="0">
            <a:noFill/>
          </a:ln>
        </p:spPr>
      </p:pic>
      <p:sp>
        <p:nvSpPr>
          <p:cNvPr id="3" name="PlaceHolder 2">
            <a:extLst>
              <a:ext uri="{C183D7F6-B498-43B3-948B-1728B52AA6E4}">
                <adec:decorative xmlns:adec="http://schemas.microsoft.com/office/drawing/2017/decorative" val="0"/>
              </a:ext>
            </a:extLst>
          </p:cNvPr>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10</a:t>
            </a:fld>
            <a:endParaRP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71BC2079-7FB1-20C6-8D46-C8CAC89C1A09}"/>
                  </a:ext>
                  <a:ext uri="{C183D7F6-B498-43B3-948B-1728B52AA6E4}">
                    <adec:decorative xmlns:adec="http://schemas.microsoft.com/office/drawing/2017/decorative" val="1"/>
                  </a:ext>
                </a:extLst>
              </p:cNvPr>
              <p:cNvSpPr txBox="1"/>
              <p:nvPr/>
            </p:nvSpPr>
            <p:spPr>
              <a:xfrm>
                <a:off x="323386" y="2440402"/>
                <a:ext cx="1619739" cy="12003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125</m:t>
                      </m:r>
                    </m:oMath>
                  </m:oMathPara>
                </a14:m>
                <a:endParaRPr lang="es-ES" dirty="0"/>
              </a:p>
              <a:p>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1</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375</m:t>
                      </m:r>
                    </m:oMath>
                  </m:oMathPara>
                </a14:m>
                <a:endParaRPr lang="es-ES" dirty="0"/>
              </a:p>
              <a:p>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2</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375</m:t>
                      </m:r>
                    </m:oMath>
                  </m:oMathPara>
                </a14:m>
                <a:endParaRPr lang="es-ES" dirty="0"/>
              </a:p>
              <a:p>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3</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125</m:t>
                      </m:r>
                    </m:oMath>
                  </m:oMathPara>
                </a14:m>
                <a:endParaRPr lang="es-ES" dirty="0"/>
              </a:p>
            </p:txBody>
          </p:sp>
        </mc:Choice>
        <mc:Fallback xmlns="">
          <p:sp>
            <p:nvSpPr>
              <p:cNvPr id="6" name="CuadroTexto 5">
                <a:extLst>
                  <a:ext uri="{FF2B5EF4-FFF2-40B4-BE49-F238E27FC236}">
                    <a16:creationId xmlns:a16="http://schemas.microsoft.com/office/drawing/2014/main" id="{71BC2079-7FB1-20C6-8D46-C8CAC89C1A09}"/>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23386" y="2440402"/>
                <a:ext cx="1619739" cy="1200329"/>
              </a:xfrm>
              <a:prstGeom prst="rect">
                <a:avLst/>
              </a:prstGeom>
              <a:blipFill>
                <a:blip r:embed="rId3"/>
                <a:stretch>
                  <a:fillRect b="-355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68F21BC5-9752-E965-1CC0-C9BF1B001A1F}"/>
                  </a:ext>
                  <a:ext uri="{C183D7F6-B498-43B3-948B-1728B52AA6E4}">
                    <adec:decorative xmlns:adec="http://schemas.microsoft.com/office/drawing/2017/decorative" val="1"/>
                  </a:ext>
                </a:extLst>
              </p:cNvPr>
              <p:cNvSpPr txBox="1"/>
              <p:nvPr/>
            </p:nvSpPr>
            <p:spPr>
              <a:xfrm>
                <a:off x="9733581" y="3040567"/>
                <a:ext cx="1621470" cy="1200329"/>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s-ES" b="0" i="1" dirty="0" smtClean="0">
                          <a:latin typeface="Cambria Math" panose="02040503050406030204" pitchFamily="18" charset="0"/>
                        </a:rPr>
                        <m:t>𝐹</m:t>
                      </m:r>
                      <m:d>
                        <m:dPr>
                          <m:ctrlPr>
                            <a:rPr lang="es-ES" b="0" i="1" dirty="0" smtClean="0">
                              <a:latin typeface="Cambria Math" panose="02040503050406030204" pitchFamily="18" charset="0"/>
                            </a:rPr>
                          </m:ctrlPr>
                        </m:dPr>
                        <m:e>
                          <m:r>
                            <a:rPr lang="es-ES" i="1" dirty="0" smtClean="0">
                              <a:latin typeface="Cambria Math" panose="02040503050406030204" pitchFamily="18" charset="0"/>
                            </a:rPr>
                            <m:t>0</m:t>
                          </m:r>
                        </m:e>
                      </m:d>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125</m:t>
                      </m:r>
                    </m:oMath>
                  </m:oMathPara>
                </a14:m>
                <a:endParaRPr lang="es-E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ES" b="0" i="1" dirty="0" smtClean="0">
                          <a:latin typeface="Cambria Math" panose="02040503050406030204" pitchFamily="18" charset="0"/>
                        </a:rPr>
                        <m:t>𝐹</m:t>
                      </m:r>
                      <m:r>
                        <a:rPr lang="es-ES" i="1" dirty="0" smtClean="0">
                          <a:latin typeface="Cambria Math" panose="02040503050406030204" pitchFamily="18" charset="0"/>
                        </a:rPr>
                        <m:t>(</m:t>
                      </m:r>
                      <m:r>
                        <a:rPr lang="es-ES" i="1" dirty="0" smtClean="0">
                          <a:latin typeface="Cambria Math" panose="02040503050406030204" pitchFamily="18" charset="0"/>
                        </a:rPr>
                        <m:t>1</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b="0" i="1" dirty="0" smtClean="0">
                          <a:latin typeface="Cambria Math" panose="02040503050406030204" pitchFamily="18" charset="0"/>
                        </a:rPr>
                        <m:t>5</m:t>
                      </m:r>
                    </m:oMath>
                  </m:oMathPara>
                </a14:m>
                <a:endParaRPr lang="es-ES" dirty="0"/>
              </a:p>
              <a:p>
                <a:pPr/>
                <a14:m>
                  <m:oMathPara xmlns:m="http://schemas.openxmlformats.org/officeDocument/2006/math">
                    <m:oMathParaPr>
                      <m:jc m:val="left"/>
                    </m:oMathParaPr>
                    <m:oMath xmlns:m="http://schemas.openxmlformats.org/officeDocument/2006/math">
                      <m:r>
                        <a:rPr lang="es-ES" b="0" i="1" dirty="0" smtClean="0">
                          <a:latin typeface="Cambria Math" panose="02040503050406030204" pitchFamily="18" charset="0"/>
                        </a:rPr>
                        <m:t>𝐹</m:t>
                      </m:r>
                      <m:r>
                        <a:rPr lang="es-ES" i="1" dirty="0" smtClean="0">
                          <a:latin typeface="Cambria Math" panose="02040503050406030204" pitchFamily="18" charset="0"/>
                        </a:rPr>
                        <m:t>(</m:t>
                      </m:r>
                      <m:r>
                        <a:rPr lang="es-ES" i="1" dirty="0" smtClean="0">
                          <a:latin typeface="Cambria Math" panose="02040503050406030204" pitchFamily="18" charset="0"/>
                        </a:rPr>
                        <m:t>2</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b="0" i="1" dirty="0" smtClean="0">
                          <a:latin typeface="Cambria Math" panose="02040503050406030204" pitchFamily="18" charset="0"/>
                        </a:rPr>
                        <m:t>8</m:t>
                      </m:r>
                      <m:r>
                        <a:rPr lang="es-ES" i="1" dirty="0" smtClean="0">
                          <a:latin typeface="Cambria Math" panose="02040503050406030204" pitchFamily="18" charset="0"/>
                        </a:rPr>
                        <m:t>75</m:t>
                      </m:r>
                    </m:oMath>
                  </m:oMathPara>
                </a14:m>
                <a:endParaRPr lang="es-ES" dirty="0"/>
              </a:p>
              <a:p>
                <a:pPr/>
                <a14:m>
                  <m:oMathPara xmlns:m="http://schemas.openxmlformats.org/officeDocument/2006/math">
                    <m:oMathParaPr>
                      <m:jc m:val="left"/>
                    </m:oMathParaPr>
                    <m:oMath xmlns:m="http://schemas.openxmlformats.org/officeDocument/2006/math">
                      <m:r>
                        <a:rPr lang="es-ES" b="0" i="1" dirty="0" smtClean="0">
                          <a:latin typeface="Cambria Math" panose="02040503050406030204" pitchFamily="18" charset="0"/>
                        </a:rPr>
                        <m:t>𝐹</m:t>
                      </m:r>
                      <m:r>
                        <a:rPr lang="es-ES" i="1" dirty="0" smtClean="0">
                          <a:latin typeface="Cambria Math" panose="02040503050406030204" pitchFamily="18" charset="0"/>
                        </a:rPr>
                        <m:t>(</m:t>
                      </m:r>
                      <m:r>
                        <a:rPr lang="es-ES" i="1" dirty="0" smtClean="0">
                          <a:latin typeface="Cambria Math" panose="02040503050406030204" pitchFamily="18" charset="0"/>
                        </a:rPr>
                        <m:t>3</m:t>
                      </m:r>
                      <m:r>
                        <a:rPr lang="es-ES" i="1" dirty="0" smtClean="0">
                          <a:latin typeface="Cambria Math" panose="02040503050406030204" pitchFamily="18" charset="0"/>
                        </a:rPr>
                        <m:t>)=</m:t>
                      </m:r>
                      <m:r>
                        <a:rPr lang="es-ES" b="0" i="1" dirty="0" smtClean="0">
                          <a:latin typeface="Cambria Math" panose="02040503050406030204" pitchFamily="18" charset="0"/>
                        </a:rPr>
                        <m:t>1</m:t>
                      </m:r>
                    </m:oMath>
                  </m:oMathPara>
                </a14:m>
                <a:endParaRPr lang="es-ES" dirty="0"/>
              </a:p>
            </p:txBody>
          </p:sp>
        </mc:Choice>
        <mc:Fallback xmlns="">
          <p:sp>
            <p:nvSpPr>
              <p:cNvPr id="7" name="CuadroTexto 6">
                <a:extLst>
                  <a:ext uri="{FF2B5EF4-FFF2-40B4-BE49-F238E27FC236}">
                    <a16:creationId xmlns:a16="http://schemas.microsoft.com/office/drawing/2014/main" id="{68F21BC5-9752-E965-1CC0-C9BF1B001A1F}"/>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733581" y="3040567"/>
                <a:ext cx="1621470" cy="1200329"/>
              </a:xfrm>
              <a:prstGeom prst="rect">
                <a:avLst/>
              </a:prstGeom>
              <a:blipFill>
                <a:blip r:embed="rId4"/>
                <a:stretch>
                  <a:fillRect b="-3046"/>
                </a:stretch>
              </a:blipFill>
            </p:spPr>
            <p:txBody>
              <a:bodyPr/>
              <a:lstStyle/>
              <a:p>
                <a:r>
                  <a:rPr lang="es-E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Propiedades</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97" name="PlaceHolder 2"/>
              <p:cNvSpPr>
                <a:spLocks noGrp="1"/>
              </p:cNvSpPr>
              <p:nvPr>
                <p:ph/>
              </p:nvPr>
            </p:nvSpPr>
            <p:spPr>
              <a:xfrm>
                <a:off x="838080" y="1825560"/>
                <a:ext cx="10515240" cy="466704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Para cada resultado </a:t>
                </a:r>
                <a14:m>
                  <m:oMath xmlns:m="http://schemas.openxmlformats.org/officeDocument/2006/math">
                    <m:r>
                      <a:rPr lang="en-US" i="1" dirty="0" smtClean="0">
                        <a:latin typeface="Cambria Math" panose="02040503050406030204" pitchFamily="18" charset="0"/>
                      </a:rPr>
                      <m:t>𝜔</m:t>
                    </m:r>
                  </m:oMath>
                </a14:m>
                <a:r>
                  <a:rPr lang="es-ES" sz="2800" b="0" strike="noStrike" spc="-1" dirty="0">
                    <a:solidFill>
                      <a:srgbClr val="000000"/>
                    </a:solidFill>
                    <a:latin typeface="Calibri"/>
                  </a:rPr>
                  <a:t>, la variable </a:t>
                </a:r>
                <a14:m>
                  <m:oMath xmlns:m="http://schemas.openxmlformats.org/officeDocument/2006/math">
                    <m:r>
                      <a:rPr lang="es-ES" i="1" dirty="0" smtClean="0">
                        <a:latin typeface="Cambria Math" panose="02040503050406030204" pitchFamily="18" charset="0"/>
                      </a:rPr>
                      <m:t>𝑋</m:t>
                    </m:r>
                  </m:oMath>
                </a14:m>
                <a:r>
                  <a:rPr lang="es-ES" sz="2800" b="0" strike="noStrike" spc="-1" dirty="0">
                    <a:solidFill>
                      <a:srgbClr val="000000"/>
                    </a:solidFill>
                    <a:latin typeface="Calibri"/>
                  </a:rPr>
                  <a:t> toma uno y solo un valor </a:t>
                </a:r>
                <a14:m>
                  <m:oMath xmlns:m="http://schemas.openxmlformats.org/officeDocument/2006/math">
                    <m:r>
                      <a:rPr lang="es-ES" sz="2800" b="0" i="1" strike="noStrike" spc="-1" dirty="0" smtClean="0">
                        <a:solidFill>
                          <a:srgbClr val="000000"/>
                        </a:solidFill>
                        <a:latin typeface="Cambria Math" panose="02040503050406030204" pitchFamily="18" charset="0"/>
                      </a:rPr>
                      <m:t>𝑥</m:t>
                    </m:r>
                  </m:oMath>
                </a14:m>
                <a:r>
                  <a:rPr lang="es-ES" sz="2800" b="0" strike="noStrike" spc="-1" dirty="0">
                    <a:solidFill>
                      <a:srgbClr val="000000"/>
                    </a:solidFill>
                    <a:latin typeface="Calibri"/>
                  </a:rPr>
                  <a:t>. Esto hace que los sucesos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𝑋</m:t>
                    </m:r>
                    <m:r>
                      <a:rPr lang="es-ES" sz="2800" b="0" i="1" strike="noStrike" spc="-1" dirty="0" smtClean="0">
                        <a:solidFill>
                          <a:srgbClr val="000000"/>
                        </a:solidFill>
                        <a:latin typeface="Cambria Math" panose="02040503050406030204" pitchFamily="18" charset="0"/>
                      </a:rPr>
                      <m:t> = </m:t>
                    </m:r>
                    <m:r>
                      <a:rPr lang="es-ES" sz="2800" b="0" i="1" strike="noStrike" spc="-1" dirty="0" smtClean="0">
                        <a:solidFill>
                          <a:srgbClr val="000000"/>
                        </a:solidFill>
                        <a:latin typeface="Cambria Math" panose="02040503050406030204" pitchFamily="18" charset="0"/>
                      </a:rPr>
                      <m:t>𝑥</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sean disjuntos y exhaustivos, y por lo tanto:</a:t>
                </a:r>
              </a:p>
              <a:p>
                <a:pPr lvl="1">
                  <a:spcBef>
                    <a:spcPts val="1001"/>
                  </a:spcBef>
                  <a:buClr>
                    <a:srgbClr val="000000"/>
                  </a:buClr>
                  <a:buFont typeface="Arial"/>
                  <a:buChar char="•"/>
                </a:pPr>
                <a14:m>
                  <m:oMath xmlns:m="http://schemas.openxmlformats.org/officeDocument/2006/math">
                    <m:nary>
                      <m:naryPr>
                        <m:chr m:val="∑"/>
                        <m:ctrlPr>
                          <a:rPr lang="en-US" i="1" smtClean="0">
                            <a:latin typeface="Cambria Math" panose="02040503050406030204" pitchFamily="18" charset="0"/>
                          </a:rPr>
                        </m:ctrlPr>
                      </m:naryPr>
                      <m:sub>
                        <m:r>
                          <m:rPr>
                            <m:brk m:alnAt="23"/>
                          </m:rPr>
                          <a:rPr lang="es-ES" b="0" i="1" smtClean="0">
                            <a:latin typeface="Cambria Math" panose="02040503050406030204" pitchFamily="18" charset="0"/>
                          </a:rPr>
                          <m:t>𝑥</m:t>
                        </m:r>
                        <m:r>
                          <a:rPr lang="es-ES" b="0" i="1" smtClean="0">
                            <a:latin typeface="Cambria Math" panose="02040503050406030204" pitchFamily="18" charset="0"/>
                          </a:rPr>
                          <m:t>=</m:t>
                        </m:r>
                        <m:r>
                          <m:rPr>
                            <m:sty m:val="p"/>
                            <m:brk m:alnAt="23"/>
                          </m:rPr>
                          <a:rPr lang="es-ES" b="0" i="0" smtClean="0">
                            <a:latin typeface="Cambria Math" panose="02040503050406030204" pitchFamily="18" charset="0"/>
                          </a:rPr>
                          <m:t>m</m:t>
                        </m:r>
                        <m:r>
                          <m:rPr>
                            <m:sty m:val="p"/>
                          </m:rPr>
                          <a:rPr lang="es-ES" b="0" i="0" smtClean="0">
                            <a:latin typeface="Cambria Math" panose="02040503050406030204" pitchFamily="18" charset="0"/>
                          </a:rPr>
                          <m:t>in</m:t>
                        </m:r>
                        <m:r>
                          <m:rPr>
                            <m:brk m:alnAt="23"/>
                          </m:rPr>
                          <a:rPr lang="es-ES" b="0" i="1" smtClean="0">
                            <a:latin typeface="Cambria Math" panose="02040503050406030204" pitchFamily="18" charset="0"/>
                          </a:rPr>
                          <m:t>⁡</m:t>
                        </m:r>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sub>
                      <m:sup>
                        <m:r>
                          <m:rPr>
                            <m:sty m:val="p"/>
                          </m:rPr>
                          <a:rPr lang="es-ES" b="0" i="0" smtClean="0">
                            <a:latin typeface="Cambria Math" panose="02040503050406030204" pitchFamily="18" charset="0"/>
                          </a:rPr>
                          <m:t>max</m:t>
                        </m:r>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sup>
                      <m:e>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𝑥</m:t>
                            </m:r>
                            <m:r>
                              <a:rPr lang="es-ES" b="0" i="1" smtClean="0">
                                <a:latin typeface="Cambria Math" panose="02040503050406030204" pitchFamily="18" charset="0"/>
                              </a:rPr>
                              <m:t>=</m:t>
                            </m:r>
                            <m:r>
                              <m:rPr>
                                <m:sty m:val="p"/>
                                <m:brk m:alnAt="23"/>
                              </m:rPr>
                              <a:rPr lang="es-ES" b="0" i="0" smtClean="0">
                                <a:latin typeface="Cambria Math" panose="02040503050406030204" pitchFamily="18" charset="0"/>
                              </a:rPr>
                              <m:t>m</m:t>
                            </m:r>
                            <m:r>
                              <m:rPr>
                                <m:sty m:val="p"/>
                              </m:rPr>
                              <a:rPr lang="es-ES" b="0" i="0" smtClean="0">
                                <a:latin typeface="Cambria Math" panose="02040503050406030204" pitchFamily="18" charset="0"/>
                              </a:rPr>
                              <m:t>in</m:t>
                            </m:r>
                            <m:r>
                              <m:rPr>
                                <m:brk m:alnAt="23"/>
                              </m:rPr>
                              <a:rPr lang="es-ES" b="0" i="1" smtClean="0">
                                <a:latin typeface="Cambria Math" panose="02040503050406030204" pitchFamily="18" charset="0"/>
                              </a:rPr>
                              <m:t>⁡</m:t>
                            </m:r>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sub>
                          <m:sup>
                            <m:r>
                              <m:rPr>
                                <m:sty m:val="p"/>
                              </m:rPr>
                              <a:rPr lang="es-ES" b="0" i="0" smtClean="0">
                                <a:latin typeface="Cambria Math" panose="02040503050406030204" pitchFamily="18" charset="0"/>
                              </a:rPr>
                              <m:t>max</m:t>
                            </m:r>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sup>
                          <m:e>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1</m:t>
                            </m:r>
                          </m:e>
                        </m:nary>
                      </m:e>
                    </m:nary>
                  </m:oMath>
                </a14:m>
                <a:endParaRPr lang="es-ES" b="0" strike="noStrike" spc="-1" dirty="0">
                  <a:solidFill>
                    <a:srgbClr val="000000"/>
                  </a:solidFill>
                  <a:latin typeface="Calibri"/>
                </a:endParaRPr>
              </a:p>
              <a:p>
                <a:pPr marL="228600" indent="-228600">
                  <a:lnSpc>
                    <a:spcPct val="90000"/>
                  </a:lnSpc>
                  <a:spcBef>
                    <a:spcPts val="1001"/>
                  </a:spcBef>
                  <a:buClr>
                    <a:srgbClr val="000000"/>
                  </a:buClr>
                  <a:buFont typeface="Arial"/>
                  <a:buChar char="•"/>
                </a:pPr>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Ejemplo monedas:</a:t>
                </a:r>
              </a:p>
              <a:p>
                <a:pPr lvl="1"/>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125</m:t>
                    </m:r>
                  </m:oMath>
                </a14:m>
                <a:endParaRPr lang="es-ES" dirty="0"/>
              </a:p>
              <a:p>
                <a:pPr lvl="1"/>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1</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375</m:t>
                    </m:r>
                  </m:oMath>
                </a14:m>
                <a:endParaRPr lang="es-ES" dirty="0"/>
              </a:p>
              <a:p>
                <a:pPr lvl="1"/>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2</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375</m:t>
                    </m:r>
                  </m:oMath>
                </a14:m>
                <a:endParaRPr lang="es-ES" dirty="0"/>
              </a:p>
              <a:p>
                <a:pPr lvl="1"/>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3</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125</m:t>
                    </m:r>
                  </m:oMath>
                </a14:m>
                <a:endParaRPr lang="es-ES" dirty="0"/>
              </a:p>
              <a:p>
                <a:pPr lvl="1">
                  <a:spcBef>
                    <a:spcPts val="1001"/>
                  </a:spcBef>
                  <a:buClr>
                    <a:srgbClr val="000000"/>
                  </a:buClr>
                  <a:buFont typeface="Arial"/>
                  <a:buChar char="•"/>
                </a:pPr>
                <a:endParaRPr lang="es-ES" b="0" strike="noStrike" spc="-1" dirty="0">
                  <a:solidFill>
                    <a:srgbClr val="000000"/>
                  </a:solidFill>
                  <a:latin typeface="Calibri"/>
                </a:endParaRPr>
              </a:p>
              <a:p>
                <a:pPr marL="228600" indent="-228600">
                  <a:lnSpc>
                    <a:spcPct val="90000"/>
                  </a:lnSpc>
                  <a:spcBef>
                    <a:spcPts val="1001"/>
                  </a:spcBef>
                  <a:buClr>
                    <a:srgbClr val="000000"/>
                  </a:buClr>
                  <a:buFont typeface="Arial"/>
                  <a:buChar char="•"/>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97" name="PlaceHolder 2"/>
              <p:cNvSpPr>
                <a:spLocks noGrp="1" noRot="1" noChangeAspect="1" noMove="1" noResize="1" noEditPoints="1" noAdjustHandles="1" noChangeArrowheads="1" noChangeShapeType="1" noTextEdit="1"/>
              </p:cNvSpPr>
              <p:nvPr>
                <p:ph/>
              </p:nvPr>
            </p:nvSpPr>
            <p:spPr>
              <a:xfrm>
                <a:off x="838080" y="1825560"/>
                <a:ext cx="10515240" cy="4667040"/>
              </a:xfrm>
              <a:prstGeom prst="rect">
                <a:avLst/>
              </a:prstGeom>
              <a:blipFill>
                <a:blip r:embed="rId2"/>
                <a:stretch>
                  <a:fillRect l="-1043" t="-2089"/>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11</a:t>
            </a:fld>
            <a:endParaRPr/>
          </a:p>
        </p:txBody>
      </p:sp>
      <p:pic>
        <p:nvPicPr>
          <p:cNvPr id="9" name="Imagen 8">
            <a:extLst>
              <a:ext uri="{FF2B5EF4-FFF2-40B4-BE49-F238E27FC236}">
                <a16:creationId xmlns:a16="http://schemas.microsoft.com/office/drawing/2014/main" id="{045D66E3-EF0D-45BB-1BFD-140A23DF747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300941" y="4011889"/>
            <a:ext cx="5437048" cy="2654835"/>
          </a:xfrm>
          <a:prstGeom prst="rect">
            <a:avLst/>
          </a:prstGeom>
        </p:spPr>
      </p:pic>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6158345-7397-B299-33F9-7C71F372C824}"/>
                  </a:ext>
                  <a:ext uri="{C183D7F6-B498-43B3-948B-1728B52AA6E4}">
                    <adec:decorative xmlns:adec="http://schemas.microsoft.com/office/drawing/2017/decorative" val="1"/>
                  </a:ext>
                </a:extLst>
              </p:cNvPr>
              <p:cNvSpPr txBox="1"/>
              <p:nvPr/>
            </p:nvSpPr>
            <p:spPr>
              <a:xfrm>
                <a:off x="7328209" y="4290868"/>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375</m:t>
                      </m:r>
                    </m:oMath>
                  </m:oMathPara>
                </a14:m>
                <a:endParaRPr lang="es-ES" sz="1400" dirty="0"/>
              </a:p>
            </p:txBody>
          </p:sp>
        </mc:Choice>
        <mc:Fallback xmlns="">
          <p:sp>
            <p:nvSpPr>
              <p:cNvPr id="10" name="CuadroTexto 9">
                <a:extLst>
                  <a:ext uri="{FF2B5EF4-FFF2-40B4-BE49-F238E27FC236}">
                    <a16:creationId xmlns:a16="http://schemas.microsoft.com/office/drawing/2014/main" id="{F6158345-7397-B299-33F9-7C71F372C824}"/>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328209" y="4290868"/>
                <a:ext cx="474489" cy="215444"/>
              </a:xfrm>
              <a:prstGeom prst="rect">
                <a:avLst/>
              </a:prstGeom>
              <a:blipFill>
                <a:blip r:embed="rId4"/>
                <a:stretch>
                  <a:fillRect l="-7692" r="-8974" b="-571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18665941-3666-6BC3-00E3-4633D9B0A507}"/>
                  </a:ext>
                  <a:ext uri="{C183D7F6-B498-43B3-948B-1728B52AA6E4}">
                    <adec:decorative xmlns:adec="http://schemas.microsoft.com/office/drawing/2017/decorative" val="1"/>
                  </a:ext>
                </a:extLst>
              </p:cNvPr>
              <p:cNvSpPr txBox="1"/>
              <p:nvPr/>
            </p:nvSpPr>
            <p:spPr>
              <a:xfrm>
                <a:off x="8770965" y="4290867"/>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375</m:t>
                      </m:r>
                    </m:oMath>
                  </m:oMathPara>
                </a14:m>
                <a:endParaRPr lang="es-ES" sz="1400" dirty="0"/>
              </a:p>
            </p:txBody>
          </p:sp>
        </mc:Choice>
        <mc:Fallback xmlns="">
          <p:sp>
            <p:nvSpPr>
              <p:cNvPr id="11" name="CuadroTexto 10">
                <a:extLst>
                  <a:ext uri="{FF2B5EF4-FFF2-40B4-BE49-F238E27FC236}">
                    <a16:creationId xmlns:a16="http://schemas.microsoft.com/office/drawing/2014/main" id="{18665941-3666-6BC3-00E3-4633D9B0A507}"/>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8770965" y="4290867"/>
                <a:ext cx="474489" cy="215444"/>
              </a:xfrm>
              <a:prstGeom prst="rect">
                <a:avLst/>
              </a:prstGeom>
              <a:blipFill>
                <a:blip r:embed="rId5"/>
                <a:stretch>
                  <a:fillRect l="-7692" r="-7692" b="-5714"/>
                </a:stretch>
              </a:blipFill>
            </p:spPr>
            <p:txBody>
              <a:bodyPr/>
              <a:lstStyle/>
              <a:p>
                <a:r>
                  <a:rPr lang="es-ES">
                    <a:noFill/>
                  </a:rPr>
                  <a:t> </a:t>
                </a:r>
              </a:p>
            </p:txBody>
          </p:sp>
        </mc:Fallback>
      </mc:AlternateContent>
      <p:sp>
        <p:nvSpPr>
          <p:cNvPr id="12" name="Rectángulo 11">
            <a:extLst>
              <a:ext uri="{FF2B5EF4-FFF2-40B4-BE49-F238E27FC236}">
                <a16:creationId xmlns:a16="http://schemas.microsoft.com/office/drawing/2014/main" id="{618E5A76-D1B5-5ABF-6F89-9149CFFE5413}"/>
              </a:ext>
              <a:ext uri="{C183D7F6-B498-43B3-948B-1728B52AA6E4}">
                <adec:decorative xmlns:adec="http://schemas.microsoft.com/office/drawing/2017/decorative" val="1"/>
              </a:ext>
            </a:extLst>
          </p:cNvPr>
          <p:cNvSpPr/>
          <p:nvPr/>
        </p:nvSpPr>
        <p:spPr>
          <a:xfrm>
            <a:off x="6006781" y="5911187"/>
            <a:ext cx="4731208" cy="364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4" name="CuadroTexto 13">
            <a:extLst>
              <a:ext uri="{FF2B5EF4-FFF2-40B4-BE49-F238E27FC236}">
                <a16:creationId xmlns:a16="http://schemas.microsoft.com/office/drawing/2014/main" id="{465D6BBD-8CD5-ED7E-FEC9-C797AA915CFE}"/>
              </a:ext>
              <a:ext uri="{C183D7F6-B498-43B3-948B-1728B52AA6E4}">
                <adec:decorative xmlns:adec="http://schemas.microsoft.com/office/drawing/2017/decorative" val="1"/>
              </a:ext>
            </a:extLst>
          </p:cNvPr>
          <p:cNvSpPr txBox="1"/>
          <p:nvPr/>
        </p:nvSpPr>
        <p:spPr>
          <a:xfrm>
            <a:off x="6006781" y="5962702"/>
            <a:ext cx="276038" cy="307777"/>
          </a:xfrm>
          <a:prstGeom prst="rect">
            <a:avLst/>
          </a:prstGeom>
          <a:noFill/>
        </p:spPr>
        <p:txBody>
          <a:bodyPr wrap="none" rtlCol="0">
            <a:spAutoFit/>
          </a:bodyPr>
          <a:lstStyle/>
          <a:p>
            <a:r>
              <a:rPr lang="es-ES" sz="1400" dirty="0"/>
              <a:t>0</a:t>
            </a:r>
          </a:p>
        </p:txBody>
      </p:sp>
      <p:sp>
        <p:nvSpPr>
          <p:cNvPr id="15" name="CuadroTexto 14">
            <a:extLst>
              <a:ext uri="{FF2B5EF4-FFF2-40B4-BE49-F238E27FC236}">
                <a16:creationId xmlns:a16="http://schemas.microsoft.com/office/drawing/2014/main" id="{1D68151D-6846-CACB-75C7-DD296A14096F}"/>
              </a:ext>
              <a:ext uri="{C183D7F6-B498-43B3-948B-1728B52AA6E4}">
                <adec:decorative xmlns:adec="http://schemas.microsoft.com/office/drawing/2017/decorative" val="1"/>
              </a:ext>
            </a:extLst>
          </p:cNvPr>
          <p:cNvSpPr txBox="1"/>
          <p:nvPr/>
        </p:nvSpPr>
        <p:spPr>
          <a:xfrm>
            <a:off x="7473627" y="5957066"/>
            <a:ext cx="276038" cy="307777"/>
          </a:xfrm>
          <a:prstGeom prst="rect">
            <a:avLst/>
          </a:prstGeom>
          <a:noFill/>
        </p:spPr>
        <p:txBody>
          <a:bodyPr wrap="none" rtlCol="0">
            <a:spAutoFit/>
          </a:bodyPr>
          <a:lstStyle/>
          <a:p>
            <a:r>
              <a:rPr lang="es-ES" sz="1400" dirty="0"/>
              <a:t>1</a:t>
            </a:r>
          </a:p>
        </p:txBody>
      </p:sp>
      <p:sp>
        <p:nvSpPr>
          <p:cNvPr id="16" name="CuadroTexto 15">
            <a:extLst>
              <a:ext uri="{FF2B5EF4-FFF2-40B4-BE49-F238E27FC236}">
                <a16:creationId xmlns:a16="http://schemas.microsoft.com/office/drawing/2014/main" id="{C8DBCAF1-E8C7-2FDB-028B-AA2BBDE2FC70}"/>
              </a:ext>
              <a:ext uri="{C183D7F6-B498-43B3-948B-1728B52AA6E4}">
                <adec:decorative xmlns:adec="http://schemas.microsoft.com/office/drawing/2017/decorative" val="1"/>
              </a:ext>
            </a:extLst>
          </p:cNvPr>
          <p:cNvSpPr txBox="1"/>
          <p:nvPr/>
        </p:nvSpPr>
        <p:spPr>
          <a:xfrm>
            <a:off x="8874827" y="5949584"/>
            <a:ext cx="276038" cy="307777"/>
          </a:xfrm>
          <a:prstGeom prst="rect">
            <a:avLst/>
          </a:prstGeom>
          <a:noFill/>
        </p:spPr>
        <p:txBody>
          <a:bodyPr wrap="none" rtlCol="0">
            <a:spAutoFit/>
          </a:bodyPr>
          <a:lstStyle/>
          <a:p>
            <a:r>
              <a:rPr lang="es-ES" sz="1400" dirty="0"/>
              <a:t>2</a:t>
            </a:r>
          </a:p>
        </p:txBody>
      </p:sp>
      <p:sp>
        <p:nvSpPr>
          <p:cNvPr id="17" name="CuadroTexto 16">
            <a:extLst>
              <a:ext uri="{FF2B5EF4-FFF2-40B4-BE49-F238E27FC236}">
                <a16:creationId xmlns:a16="http://schemas.microsoft.com/office/drawing/2014/main" id="{BD4918A0-9584-B96F-073C-F673FD1E4BBA}"/>
              </a:ext>
              <a:ext uri="{C183D7F6-B498-43B3-948B-1728B52AA6E4}">
                <adec:decorative xmlns:adec="http://schemas.microsoft.com/office/drawing/2017/decorative" val="1"/>
              </a:ext>
            </a:extLst>
          </p:cNvPr>
          <p:cNvSpPr txBox="1"/>
          <p:nvPr/>
        </p:nvSpPr>
        <p:spPr>
          <a:xfrm>
            <a:off x="10360406" y="5949584"/>
            <a:ext cx="276038" cy="307777"/>
          </a:xfrm>
          <a:prstGeom prst="rect">
            <a:avLst/>
          </a:prstGeom>
          <a:noFill/>
        </p:spPr>
        <p:txBody>
          <a:bodyPr wrap="none" rtlCol="0">
            <a:spAutoFit/>
          </a:bodyPr>
          <a:lstStyle/>
          <a:p>
            <a:r>
              <a:rPr lang="es-ES" sz="1400" dirty="0"/>
              <a:t>3</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DD67CF42-979F-8BBE-16F3-A1F177509A3B}"/>
                  </a:ext>
                  <a:ext uri="{C183D7F6-B498-43B3-948B-1728B52AA6E4}">
                    <adec:decorative xmlns:adec="http://schemas.microsoft.com/office/drawing/2017/decorative" val="1"/>
                  </a:ext>
                </a:extLst>
              </p:cNvPr>
              <p:cNvSpPr txBox="1"/>
              <p:nvPr/>
            </p:nvSpPr>
            <p:spPr>
              <a:xfrm>
                <a:off x="10161955" y="5123862"/>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125</m:t>
                      </m:r>
                    </m:oMath>
                  </m:oMathPara>
                </a14:m>
                <a:endParaRPr lang="es-ES" sz="1400" dirty="0"/>
              </a:p>
            </p:txBody>
          </p:sp>
        </mc:Choice>
        <mc:Fallback xmlns="">
          <p:sp>
            <p:nvSpPr>
              <p:cNvPr id="6" name="CuadroTexto 5">
                <a:extLst>
                  <a:ext uri="{FF2B5EF4-FFF2-40B4-BE49-F238E27FC236}">
                    <a16:creationId xmlns:a16="http://schemas.microsoft.com/office/drawing/2014/main" id="{DD67CF42-979F-8BBE-16F3-A1F177509A3B}"/>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0161955" y="5123862"/>
                <a:ext cx="474489" cy="215444"/>
              </a:xfrm>
              <a:prstGeom prst="rect">
                <a:avLst/>
              </a:prstGeom>
              <a:blipFill>
                <a:blip r:embed="rId6"/>
                <a:stretch>
                  <a:fillRect l="-7692" r="-7692" b="-571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5D0C28EC-BE08-B3B1-D745-7B5D65658231}"/>
                  </a:ext>
                  <a:ext uri="{C183D7F6-B498-43B3-948B-1728B52AA6E4}">
                    <adec:decorative xmlns:adec="http://schemas.microsoft.com/office/drawing/2017/decorative" val="1"/>
                  </a:ext>
                </a:extLst>
              </p:cNvPr>
              <p:cNvSpPr txBox="1"/>
              <p:nvPr/>
            </p:nvSpPr>
            <p:spPr>
              <a:xfrm>
                <a:off x="6006781" y="5123862"/>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125</m:t>
                      </m:r>
                    </m:oMath>
                  </m:oMathPara>
                </a14:m>
                <a:endParaRPr lang="es-ES" sz="1400" dirty="0"/>
              </a:p>
            </p:txBody>
          </p:sp>
        </mc:Choice>
        <mc:Fallback xmlns="">
          <p:sp>
            <p:nvSpPr>
              <p:cNvPr id="5" name="CuadroTexto 4">
                <a:extLst>
                  <a:ext uri="{FF2B5EF4-FFF2-40B4-BE49-F238E27FC236}">
                    <a16:creationId xmlns:a16="http://schemas.microsoft.com/office/drawing/2014/main" id="{5D0C28EC-BE08-B3B1-D745-7B5D6565823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006781" y="5123862"/>
                <a:ext cx="474489" cy="215444"/>
              </a:xfrm>
              <a:prstGeom prst="rect">
                <a:avLst/>
              </a:prstGeom>
              <a:blipFill>
                <a:blip r:embed="rId7"/>
                <a:stretch>
                  <a:fillRect l="-7692" r="-8974" b="-5714"/>
                </a:stretch>
              </a:blipFill>
            </p:spPr>
            <p:txBody>
              <a:bodyPr/>
              <a:lstStyle/>
              <a:p>
                <a:r>
                  <a:rPr lang="es-E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77F7A11-ED53-A248-2212-2C9B69ADCAD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91956" y="3973125"/>
            <a:ext cx="5437048" cy="2654835"/>
          </a:xfrm>
          <a:prstGeom prst="rect">
            <a:avLst/>
          </a:prstGeom>
        </p:spPr>
      </p:pic>
      <p:sp>
        <p:nvSpPr>
          <p:cNvPr id="9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Propiedades (intervalos) (I)</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97" name="PlaceHolder 2"/>
              <p:cNvSpPr>
                <a:spLocks noGrp="1"/>
              </p:cNvSpPr>
              <p:nvPr>
                <p:ph/>
              </p:nvPr>
            </p:nvSpPr>
            <p:spPr>
              <a:xfrm>
                <a:off x="838080" y="1825560"/>
                <a:ext cx="10515240" cy="466704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probabilidad de que el valor de una variable discreta esté en un intervalo como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𝑎</m:t>
                    </m:r>
                    <m:r>
                      <a:rPr lang="es-ES" sz="2800" b="0" i="1" strike="noStrike" spc="-1" dirty="0" err="1"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𝑎</m:t>
                    </m:r>
                    <m:r>
                      <a:rPr lang="es-ES" sz="2800" b="0" i="1" strike="noStrike" spc="-1" dirty="0" err="1"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𝑎</m:t>
                    </m:r>
                    <m:r>
                      <a:rPr lang="es-ES" sz="2800" b="0" i="1" strike="noStrike" spc="-1" dirty="0" smtClean="0">
                        <a:solidFill>
                          <a:srgbClr val="000000"/>
                        </a:solidFill>
                        <a:latin typeface="Cambria Math" panose="02040503050406030204" pitchFamily="18" charset="0"/>
                      </a:rPr>
                      <m:t>, </m:t>
                    </m:r>
                    <m:r>
                      <a:rPr lang="es-ES" sz="2800" b="0" i="1" strike="noStrike" spc="-1" dirty="0"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o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𝑎</m:t>
                    </m:r>
                    <m:r>
                      <a:rPr lang="es-ES" sz="2800" b="0" i="1" strike="noStrike" spc="-1" dirty="0" err="1"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se  puede calcular como la suma de las probabilidades de los valores que están en el intervalo</a:t>
                </a:r>
              </a:p>
              <a:p>
                <a:pPr lvl="1">
                  <a:spcBef>
                    <a:spcPts val="1001"/>
                  </a:spcBef>
                  <a:buClr>
                    <a:srgbClr val="000000"/>
                  </a:buClr>
                  <a:buFont typeface="Arial"/>
                  <a:buChar char="•"/>
                </a:pPr>
                <a:r>
                  <a:rPr lang="es-ES" dirty="0"/>
                  <a:t>Ejemplo: </a:t>
                </a:r>
                <a14:m>
                  <m:oMath xmlns:m="http://schemas.openxmlformats.org/officeDocument/2006/math">
                    <m:r>
                      <a:rPr lang="ar-AE" i="1" dirty="0">
                        <a:latin typeface="Cambria Math" panose="02040503050406030204" pitchFamily="18" charset="0"/>
                      </a:rPr>
                      <m:t>𝑃</m:t>
                    </m:r>
                    <m:d>
                      <m:dPr>
                        <m:begChr m:val="{"/>
                        <m:endChr m:val="}"/>
                        <m:ctrlPr>
                          <a:rPr lang="ar-AE" i="1" dirty="0">
                            <a:latin typeface="Cambria Math" panose="02040503050406030204" pitchFamily="18" charset="0"/>
                          </a:rPr>
                        </m:ctrlPr>
                      </m:dPr>
                      <m:e>
                        <m:r>
                          <a:rPr lang="ar-AE" i="1" dirty="0">
                            <a:latin typeface="Cambria Math" panose="02040503050406030204" pitchFamily="18" charset="0"/>
                          </a:rPr>
                          <m:t>𝑋</m:t>
                        </m:r>
                        <m:r>
                          <a:rPr lang="ar-AE" i="1" dirty="0">
                            <a:latin typeface="Cambria Math" panose="02040503050406030204" pitchFamily="18" charset="0"/>
                            <a:ea typeface="Cambria Math" panose="02040503050406030204" pitchFamily="18" charset="0"/>
                          </a:rPr>
                          <m:t>∈</m:t>
                        </m:r>
                        <m:d>
                          <m:dPr>
                            <m:begChr m:val="["/>
                            <m:endChr m:val="]"/>
                            <m:ctrlPr>
                              <a:rPr lang="ar-AE" i="1" dirty="0">
                                <a:latin typeface="Cambria Math" panose="02040503050406030204" pitchFamily="18" charset="0"/>
                                <a:ea typeface="Cambria Math" panose="02040503050406030204" pitchFamily="18" charset="0"/>
                              </a:rPr>
                            </m:ctrlPr>
                          </m:dPr>
                          <m:e>
                            <m:r>
                              <a:rPr lang="es-ES" b="0" i="1" dirty="0" smtClean="0">
                                <a:latin typeface="Cambria Math" panose="02040503050406030204" pitchFamily="18" charset="0"/>
                                <a:ea typeface="Cambria Math" panose="02040503050406030204" pitchFamily="18" charset="0"/>
                              </a:rPr>
                              <m:t>𝑎</m:t>
                            </m:r>
                            <m:r>
                              <a:rPr lang="es-ES" i="1" dirty="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𝑏</m:t>
                            </m:r>
                          </m:e>
                        </m:d>
                      </m:e>
                    </m:d>
                    <m:r>
                      <a:rPr lang="es-ES" i="1" dirty="0">
                        <a:latin typeface="Cambria Math" panose="02040503050406030204" pitchFamily="18" charset="0"/>
                      </a:rPr>
                      <m:t>=</m:t>
                    </m:r>
                    <m:r>
                      <a:rPr lang="es-ES" i="1" dirty="0">
                        <a:latin typeface="Cambria Math" panose="02040503050406030204" pitchFamily="18" charset="0"/>
                      </a:rPr>
                      <m:t>𝑃</m:t>
                    </m:r>
                    <m:d>
                      <m:dPr>
                        <m:begChr m:val="{"/>
                        <m:endChr m:val="}"/>
                        <m:ctrlPr>
                          <a:rPr lang="es-ES" i="1" dirty="0">
                            <a:latin typeface="Cambria Math" panose="02040503050406030204" pitchFamily="18" charset="0"/>
                          </a:rPr>
                        </m:ctrlPr>
                      </m:dPr>
                      <m:e>
                        <m:r>
                          <a:rPr lang="es-ES" b="0" i="1" dirty="0" smtClean="0">
                            <a:latin typeface="Cambria Math" panose="02040503050406030204" pitchFamily="18" charset="0"/>
                          </a:rPr>
                          <m:t>𝑎</m:t>
                        </m:r>
                        <m:r>
                          <a:rPr lang="es-ES" i="1" dirty="0">
                            <a:latin typeface="Cambria Math" panose="02040503050406030204" pitchFamily="18" charset="0"/>
                            <a:ea typeface="Cambria Math" panose="02040503050406030204" pitchFamily="18" charset="0"/>
                          </a:rPr>
                          <m:t>≤</m:t>
                        </m:r>
                        <m:r>
                          <a:rPr lang="es-ES" i="1" dirty="0">
                            <a:latin typeface="Cambria Math" panose="02040503050406030204" pitchFamily="18" charset="0"/>
                            <a:ea typeface="Cambria Math" panose="02040503050406030204" pitchFamily="18" charset="0"/>
                          </a:rPr>
                          <m:t>𝑋</m:t>
                        </m:r>
                        <m:r>
                          <a:rPr lang="es-ES" i="1" dirty="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𝑏</m:t>
                        </m:r>
                      </m:e>
                    </m:d>
                    <m:r>
                      <a:rPr lang="es-ES" i="1" dirty="0">
                        <a:latin typeface="Cambria Math" panose="02040503050406030204" pitchFamily="18" charset="0"/>
                      </a:rPr>
                      <m:t>=</m:t>
                    </m:r>
                    <m:r>
                      <a:rPr lang="es-ES" i="1" dirty="0">
                        <a:latin typeface="Cambria Math" panose="02040503050406030204" pitchFamily="18" charset="0"/>
                        <a:ea typeface="Cambria Math" panose="02040503050406030204" pitchFamily="18" charset="0"/>
                      </a:rPr>
                      <m:t>𝑃</m:t>
                    </m:r>
                    <m:d>
                      <m:dPr>
                        <m:begChr m:val="{"/>
                        <m:endChr m:val="}"/>
                        <m:ctrlPr>
                          <a:rPr lang="es-ES" i="1" dirty="0">
                            <a:latin typeface="Cambria Math" panose="02040503050406030204" pitchFamily="18" charset="0"/>
                            <a:ea typeface="Cambria Math" panose="02040503050406030204" pitchFamily="18" charset="0"/>
                          </a:rPr>
                        </m:ctrlPr>
                      </m:dPr>
                      <m:e>
                        <m:r>
                          <a:rPr lang="es-ES" i="1" dirty="0">
                            <a:latin typeface="Cambria Math" panose="02040503050406030204" pitchFamily="18" charset="0"/>
                            <a:ea typeface="Cambria Math" panose="02040503050406030204" pitchFamily="18" charset="0"/>
                          </a:rPr>
                          <m:t>𝑋</m:t>
                        </m:r>
                        <m:r>
                          <a:rPr lang="es-ES" i="1" dirty="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𝑎</m:t>
                        </m:r>
                      </m:e>
                    </m:d>
                    <m:r>
                      <a:rPr lang="es-ES" i="1" dirty="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m:t>
                    </m:r>
                    <m:r>
                      <a:rPr lang="es-ES" i="1" dirty="0">
                        <a:latin typeface="Cambria Math" panose="02040503050406030204" pitchFamily="18" charset="0"/>
                        <a:ea typeface="Cambria Math" panose="02040503050406030204" pitchFamily="18" charset="0"/>
                      </a:rPr>
                      <m:t>𝑃</m:t>
                    </m:r>
                    <m:r>
                      <a:rPr lang="es-ES" i="1" dirty="0">
                        <a:latin typeface="Cambria Math" panose="02040503050406030204" pitchFamily="18" charset="0"/>
                        <a:ea typeface="Cambria Math" panose="02040503050406030204" pitchFamily="18" charset="0"/>
                      </a:rPr>
                      <m:t>{</m:t>
                    </m:r>
                    <m:r>
                      <a:rPr lang="es-ES" i="1" dirty="0">
                        <a:latin typeface="Cambria Math" panose="02040503050406030204" pitchFamily="18" charset="0"/>
                        <a:ea typeface="Cambria Math" panose="02040503050406030204" pitchFamily="18" charset="0"/>
                      </a:rPr>
                      <m:t>𝑋</m:t>
                    </m:r>
                    <m:r>
                      <a:rPr lang="es-ES" i="1" dirty="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𝑏</m:t>
                    </m:r>
                    <m:r>
                      <a:rPr lang="es-ES" i="1" dirty="0">
                        <a:latin typeface="Cambria Math" panose="02040503050406030204" pitchFamily="18" charset="0"/>
                        <a:ea typeface="Cambria Math" panose="02040503050406030204" pitchFamily="18" charset="0"/>
                      </a:rPr>
                      <m:t>}</m:t>
                    </m:r>
                  </m:oMath>
                </a14:m>
                <a:endParaRPr lang="es-ES" dirty="0"/>
              </a:p>
              <a:p>
                <a:pPr>
                  <a:spcBef>
                    <a:spcPts val="1001"/>
                  </a:spcBef>
                  <a:buClr>
                    <a:srgbClr val="000000"/>
                  </a:buClr>
                  <a:buFont typeface="Arial"/>
                  <a:buChar char="•"/>
                </a:pPr>
                <a:endParaRPr lang="es-ES" dirty="0"/>
              </a:p>
              <a:p>
                <a:pPr>
                  <a:spcBef>
                    <a:spcPts val="1001"/>
                  </a:spcBef>
                  <a:buClr>
                    <a:srgbClr val="000000"/>
                  </a:buClr>
                  <a:buFont typeface="Arial"/>
                  <a:buChar char="•"/>
                </a:pPr>
                <a:r>
                  <a:rPr lang="es-ES" dirty="0"/>
                  <a:t>Ejemplo monedas:</a:t>
                </a:r>
              </a:p>
              <a:p>
                <a:pPr lvl="1">
                  <a:spcBef>
                    <a:spcPts val="1001"/>
                  </a:spcBef>
                  <a:buClr>
                    <a:srgbClr val="000000"/>
                  </a:buClr>
                  <a:buFont typeface="Arial"/>
                  <a:buChar char="•"/>
                </a:pPr>
                <a:endParaRPr lang="es-ES" dirty="0"/>
              </a:p>
              <a:p>
                <a:pPr marL="228600" indent="-228600">
                  <a:lnSpc>
                    <a:spcPct val="90000"/>
                  </a:lnSpc>
                  <a:spcBef>
                    <a:spcPts val="1001"/>
                  </a:spcBef>
                  <a:buClr>
                    <a:srgbClr val="000000"/>
                  </a:buClr>
                  <a:buFont typeface="Arial"/>
                  <a:buChar char="•"/>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97" name="PlaceHolder 2"/>
              <p:cNvSpPr>
                <a:spLocks noGrp="1" noRot="1" noChangeAspect="1" noMove="1" noResize="1" noEditPoints="1" noAdjustHandles="1" noChangeArrowheads="1" noChangeShapeType="1" noTextEdit="1"/>
              </p:cNvSpPr>
              <p:nvPr>
                <p:ph/>
              </p:nvPr>
            </p:nvSpPr>
            <p:spPr>
              <a:xfrm>
                <a:off x="838080" y="1825560"/>
                <a:ext cx="10515240" cy="4667040"/>
              </a:xfrm>
              <a:prstGeom prst="rect">
                <a:avLst/>
              </a:prstGeom>
              <a:blipFill>
                <a:blip r:embed="rId3"/>
                <a:stretch>
                  <a:fillRect l="-1043" t="-2089"/>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12</a:t>
            </a:fld>
            <a:endParaRPr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C2AED48A-0151-F709-BA26-59FCA0965FC5}"/>
                  </a:ext>
                  <a:ext uri="{C183D7F6-B498-43B3-948B-1728B52AA6E4}">
                    <adec:decorative xmlns:adec="http://schemas.microsoft.com/office/drawing/2017/decorative" val="1"/>
                  </a:ext>
                </a:extLst>
              </p:cNvPr>
              <p:cNvSpPr txBox="1"/>
              <p:nvPr/>
            </p:nvSpPr>
            <p:spPr>
              <a:xfrm>
                <a:off x="7919224" y="4252104"/>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375</m:t>
                      </m:r>
                    </m:oMath>
                  </m:oMathPara>
                </a14:m>
                <a:endParaRPr lang="es-ES" sz="1400" dirty="0"/>
              </a:p>
            </p:txBody>
          </p:sp>
        </mc:Choice>
        <mc:Fallback xmlns="">
          <p:sp>
            <p:nvSpPr>
              <p:cNvPr id="5" name="CuadroTexto 4">
                <a:extLst>
                  <a:ext uri="{FF2B5EF4-FFF2-40B4-BE49-F238E27FC236}">
                    <a16:creationId xmlns:a16="http://schemas.microsoft.com/office/drawing/2014/main" id="{C2AED48A-0151-F709-BA26-59FCA0965FC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919224" y="4252104"/>
                <a:ext cx="474489" cy="215444"/>
              </a:xfrm>
              <a:prstGeom prst="rect">
                <a:avLst/>
              </a:prstGeom>
              <a:blipFill>
                <a:blip r:embed="rId4"/>
                <a:stretch>
                  <a:fillRect l="-7692" r="-8974" b="-571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9493BEDD-5C56-C358-51DF-E1645A5C1AE3}"/>
                  </a:ext>
                  <a:ext uri="{C183D7F6-B498-43B3-948B-1728B52AA6E4}">
                    <adec:decorative xmlns:adec="http://schemas.microsoft.com/office/drawing/2017/decorative" val="1"/>
                  </a:ext>
                </a:extLst>
              </p:cNvPr>
              <p:cNvSpPr txBox="1"/>
              <p:nvPr/>
            </p:nvSpPr>
            <p:spPr>
              <a:xfrm>
                <a:off x="9361980" y="4252103"/>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375</m:t>
                      </m:r>
                    </m:oMath>
                  </m:oMathPara>
                </a14:m>
                <a:endParaRPr lang="es-ES" sz="1400" dirty="0"/>
              </a:p>
            </p:txBody>
          </p:sp>
        </mc:Choice>
        <mc:Fallback xmlns="">
          <p:sp>
            <p:nvSpPr>
              <p:cNvPr id="6" name="CuadroTexto 5">
                <a:extLst>
                  <a:ext uri="{FF2B5EF4-FFF2-40B4-BE49-F238E27FC236}">
                    <a16:creationId xmlns:a16="http://schemas.microsoft.com/office/drawing/2014/main" id="{9493BEDD-5C56-C358-51DF-E1645A5C1AE3}"/>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361980" y="4252103"/>
                <a:ext cx="474489" cy="215444"/>
              </a:xfrm>
              <a:prstGeom prst="rect">
                <a:avLst/>
              </a:prstGeom>
              <a:blipFill>
                <a:blip r:embed="rId5"/>
                <a:stretch>
                  <a:fillRect l="-7692" r="-7692" b="-5714"/>
                </a:stretch>
              </a:blipFill>
            </p:spPr>
            <p:txBody>
              <a:bodyPr/>
              <a:lstStyle/>
              <a:p>
                <a:r>
                  <a:rPr lang="es-ES">
                    <a:noFill/>
                  </a:rPr>
                  <a:t> </a:t>
                </a:r>
              </a:p>
            </p:txBody>
          </p:sp>
        </mc:Fallback>
      </mc:AlternateContent>
      <p:sp>
        <p:nvSpPr>
          <p:cNvPr id="7" name="Rectángulo 6">
            <a:extLst>
              <a:ext uri="{FF2B5EF4-FFF2-40B4-BE49-F238E27FC236}">
                <a16:creationId xmlns:a16="http://schemas.microsoft.com/office/drawing/2014/main" id="{CC26207F-2590-7E25-E5BB-9E1CEB46C999}"/>
              </a:ext>
              <a:ext uri="{C183D7F6-B498-43B3-948B-1728B52AA6E4}">
                <adec:decorative xmlns:adec="http://schemas.microsoft.com/office/drawing/2017/decorative" val="1"/>
              </a:ext>
            </a:extLst>
          </p:cNvPr>
          <p:cNvSpPr/>
          <p:nvPr/>
        </p:nvSpPr>
        <p:spPr>
          <a:xfrm>
            <a:off x="6597796" y="5872423"/>
            <a:ext cx="4731208" cy="364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Rectángulo 2">
            <a:extLst>
              <a:ext uri="{FF2B5EF4-FFF2-40B4-BE49-F238E27FC236}">
                <a16:creationId xmlns:a16="http://schemas.microsoft.com/office/drawing/2014/main" id="{F903635A-6416-AB0F-8FC7-B316CA126278}"/>
              </a:ext>
              <a:ext uri="{C183D7F6-B498-43B3-948B-1728B52AA6E4}">
                <adec:decorative xmlns:adec="http://schemas.microsoft.com/office/drawing/2017/decorative" val="1"/>
              </a:ext>
            </a:extLst>
          </p:cNvPr>
          <p:cNvSpPr/>
          <p:nvPr/>
        </p:nvSpPr>
        <p:spPr>
          <a:xfrm>
            <a:off x="7778124" y="4139646"/>
            <a:ext cx="2425718" cy="215362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 name="CuadroTexto 7">
            <a:extLst>
              <a:ext uri="{FF2B5EF4-FFF2-40B4-BE49-F238E27FC236}">
                <a16:creationId xmlns:a16="http://schemas.microsoft.com/office/drawing/2014/main" id="{82F61F16-86AF-C253-18CD-10F7F77CE9C7}"/>
              </a:ext>
              <a:ext uri="{C183D7F6-B498-43B3-948B-1728B52AA6E4}">
                <adec:decorative xmlns:adec="http://schemas.microsoft.com/office/drawing/2017/decorative" val="1"/>
              </a:ext>
            </a:extLst>
          </p:cNvPr>
          <p:cNvSpPr txBox="1"/>
          <p:nvPr/>
        </p:nvSpPr>
        <p:spPr>
          <a:xfrm>
            <a:off x="6597796" y="5923938"/>
            <a:ext cx="276038" cy="307777"/>
          </a:xfrm>
          <a:prstGeom prst="rect">
            <a:avLst/>
          </a:prstGeom>
          <a:noFill/>
        </p:spPr>
        <p:txBody>
          <a:bodyPr wrap="none" rtlCol="0">
            <a:spAutoFit/>
          </a:bodyPr>
          <a:lstStyle/>
          <a:p>
            <a:r>
              <a:rPr lang="es-ES" sz="1400" dirty="0"/>
              <a:t>0</a:t>
            </a:r>
          </a:p>
        </p:txBody>
      </p:sp>
      <p:sp>
        <p:nvSpPr>
          <p:cNvPr id="9" name="CuadroTexto 8">
            <a:extLst>
              <a:ext uri="{FF2B5EF4-FFF2-40B4-BE49-F238E27FC236}">
                <a16:creationId xmlns:a16="http://schemas.microsoft.com/office/drawing/2014/main" id="{F14BAF04-ED37-A694-138B-A8643887E2DE}"/>
              </a:ext>
              <a:ext uri="{C183D7F6-B498-43B3-948B-1728B52AA6E4}">
                <adec:decorative xmlns:adec="http://schemas.microsoft.com/office/drawing/2017/decorative" val="1"/>
              </a:ext>
            </a:extLst>
          </p:cNvPr>
          <p:cNvSpPr txBox="1"/>
          <p:nvPr/>
        </p:nvSpPr>
        <p:spPr>
          <a:xfrm>
            <a:off x="8064642" y="5918302"/>
            <a:ext cx="276038" cy="307777"/>
          </a:xfrm>
          <a:prstGeom prst="rect">
            <a:avLst/>
          </a:prstGeom>
          <a:noFill/>
        </p:spPr>
        <p:txBody>
          <a:bodyPr wrap="none" rtlCol="0">
            <a:spAutoFit/>
          </a:bodyPr>
          <a:lstStyle/>
          <a:p>
            <a:r>
              <a:rPr lang="es-ES" sz="1400" dirty="0"/>
              <a:t>1</a:t>
            </a:r>
          </a:p>
        </p:txBody>
      </p:sp>
      <p:sp>
        <p:nvSpPr>
          <p:cNvPr id="10" name="CuadroTexto 9">
            <a:extLst>
              <a:ext uri="{FF2B5EF4-FFF2-40B4-BE49-F238E27FC236}">
                <a16:creationId xmlns:a16="http://schemas.microsoft.com/office/drawing/2014/main" id="{442B14E2-09E2-894E-BD61-DAC49FB55FD9}"/>
              </a:ext>
              <a:ext uri="{C183D7F6-B498-43B3-948B-1728B52AA6E4}">
                <adec:decorative xmlns:adec="http://schemas.microsoft.com/office/drawing/2017/decorative" val="1"/>
              </a:ext>
            </a:extLst>
          </p:cNvPr>
          <p:cNvSpPr txBox="1"/>
          <p:nvPr/>
        </p:nvSpPr>
        <p:spPr>
          <a:xfrm>
            <a:off x="9465842" y="5910820"/>
            <a:ext cx="276038" cy="307777"/>
          </a:xfrm>
          <a:prstGeom prst="rect">
            <a:avLst/>
          </a:prstGeom>
          <a:noFill/>
        </p:spPr>
        <p:txBody>
          <a:bodyPr wrap="none" rtlCol="0">
            <a:spAutoFit/>
          </a:bodyPr>
          <a:lstStyle/>
          <a:p>
            <a:r>
              <a:rPr lang="es-ES" sz="1400" dirty="0"/>
              <a:t>2</a:t>
            </a:r>
          </a:p>
        </p:txBody>
      </p:sp>
      <p:sp>
        <p:nvSpPr>
          <p:cNvPr id="11" name="CuadroTexto 10">
            <a:extLst>
              <a:ext uri="{FF2B5EF4-FFF2-40B4-BE49-F238E27FC236}">
                <a16:creationId xmlns:a16="http://schemas.microsoft.com/office/drawing/2014/main" id="{3B9CA5AD-8F29-10D1-E636-373D119D6897}"/>
              </a:ext>
              <a:ext uri="{C183D7F6-B498-43B3-948B-1728B52AA6E4}">
                <adec:decorative xmlns:adec="http://schemas.microsoft.com/office/drawing/2017/decorative" val="1"/>
              </a:ext>
            </a:extLst>
          </p:cNvPr>
          <p:cNvSpPr txBox="1"/>
          <p:nvPr/>
        </p:nvSpPr>
        <p:spPr>
          <a:xfrm>
            <a:off x="10951421" y="5910820"/>
            <a:ext cx="276038" cy="307777"/>
          </a:xfrm>
          <a:prstGeom prst="rect">
            <a:avLst/>
          </a:prstGeom>
          <a:noFill/>
        </p:spPr>
        <p:txBody>
          <a:bodyPr wrap="none" rtlCol="0">
            <a:spAutoFit/>
          </a:bodyPr>
          <a:lstStyle/>
          <a:p>
            <a:r>
              <a:rPr lang="es-ES" sz="1400" dirty="0"/>
              <a:t>3</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8F34FDD-96A1-2173-A301-0FEBF1B84F01}"/>
                  </a:ext>
                  <a:ext uri="{C183D7F6-B498-43B3-948B-1728B52AA6E4}">
                    <adec:decorative xmlns:adec="http://schemas.microsoft.com/office/drawing/2017/decorative" val="1"/>
                  </a:ext>
                </a:extLst>
              </p:cNvPr>
              <p:cNvSpPr txBox="1"/>
              <p:nvPr/>
            </p:nvSpPr>
            <p:spPr>
              <a:xfrm>
                <a:off x="1240989" y="4587380"/>
                <a:ext cx="3493645" cy="18466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ar-AE" sz="2400" i="1" dirty="0" smtClean="0">
                          <a:latin typeface="Cambria Math" panose="02040503050406030204" pitchFamily="18" charset="0"/>
                        </a:rPr>
                        <m:t>𝑃</m:t>
                      </m:r>
                      <m:d>
                        <m:dPr>
                          <m:begChr m:val="{"/>
                          <m:endChr m:val="}"/>
                          <m:ctrlPr>
                            <a:rPr lang="ar-AE" sz="2400" i="1" dirty="0" smtClean="0">
                              <a:latin typeface="Cambria Math" panose="02040503050406030204" pitchFamily="18" charset="0"/>
                            </a:rPr>
                          </m:ctrlPr>
                        </m:dPr>
                        <m:e>
                          <m:r>
                            <a:rPr lang="ar-AE" sz="2400" i="1" dirty="0" smtClean="0">
                              <a:latin typeface="Cambria Math" panose="02040503050406030204" pitchFamily="18" charset="0"/>
                            </a:rPr>
                            <m:t>𝑋</m:t>
                          </m:r>
                          <m:r>
                            <a:rPr lang="ar-AE" sz="2400" i="1" dirty="0" smtClean="0">
                              <a:latin typeface="Cambria Math" panose="02040503050406030204" pitchFamily="18" charset="0"/>
                              <a:ea typeface="Cambria Math" panose="02040503050406030204" pitchFamily="18" charset="0"/>
                            </a:rPr>
                            <m:t>∈</m:t>
                          </m:r>
                          <m:d>
                            <m:dPr>
                              <m:begChr m:val="["/>
                              <m:endChr m:val="]"/>
                              <m:ctrlPr>
                                <a:rPr lang="ar-AE" sz="2400" i="1" dirty="0" smtClean="0">
                                  <a:latin typeface="Cambria Math" panose="02040503050406030204" pitchFamily="18" charset="0"/>
                                  <a:ea typeface="Cambria Math" panose="02040503050406030204" pitchFamily="18" charset="0"/>
                                </a:rPr>
                              </m:ctrlPr>
                            </m:dPr>
                            <m:e>
                              <m:r>
                                <a:rPr lang="ar-AE" sz="2400" b="0" i="1" dirty="0" smtClean="0">
                                  <a:latin typeface="Cambria Math" panose="02040503050406030204" pitchFamily="18" charset="0"/>
                                  <a:ea typeface="Cambria Math" panose="02040503050406030204" pitchFamily="18" charset="0"/>
                                </a:rPr>
                                <m:t>1</m:t>
                              </m:r>
                              <m:r>
                                <a:rPr lang="es-ES" sz="2400" b="0" i="1" dirty="0" smtClean="0">
                                  <a:latin typeface="Cambria Math" panose="02040503050406030204" pitchFamily="18" charset="0"/>
                                  <a:ea typeface="Cambria Math" panose="02040503050406030204" pitchFamily="18" charset="0"/>
                                </a:rPr>
                                <m:t>,</m:t>
                              </m:r>
                              <m:r>
                                <a:rPr lang="es-ES" sz="2400" b="0" i="1" dirty="0" smtClean="0">
                                  <a:latin typeface="Cambria Math" panose="02040503050406030204" pitchFamily="18" charset="0"/>
                                  <a:ea typeface="Cambria Math" panose="02040503050406030204" pitchFamily="18" charset="0"/>
                                </a:rPr>
                                <m:t>2</m:t>
                              </m:r>
                            </m:e>
                          </m:d>
                        </m:e>
                      </m:d>
                      <m:r>
                        <a:rPr lang="es-ES" sz="2400" b="0" i="1" dirty="0" smtClean="0">
                          <a:latin typeface="Cambria Math" panose="02040503050406030204" pitchFamily="18" charset="0"/>
                          <a:ea typeface="Cambria Math" panose="02040503050406030204" pitchFamily="18" charset="0"/>
                        </a:rPr>
                        <m:t>=</m:t>
                      </m:r>
                    </m:oMath>
                    <m:oMath xmlns:m="http://schemas.openxmlformats.org/officeDocument/2006/math">
                      <m:r>
                        <a:rPr lang="es-ES" sz="2400" b="0" i="1" dirty="0" smtClean="0">
                          <a:latin typeface="Cambria Math" panose="02040503050406030204" pitchFamily="18" charset="0"/>
                          <a:ea typeface="Cambria Math" panose="02040503050406030204" pitchFamily="18" charset="0"/>
                        </a:rPr>
                        <m:t>𝑃</m:t>
                      </m:r>
                      <m:d>
                        <m:dPr>
                          <m:begChr m:val="{"/>
                          <m:endChr m:val="}"/>
                          <m:ctrlPr>
                            <a:rPr lang="es-ES" sz="2400" b="0" i="1" dirty="0" smtClean="0">
                              <a:latin typeface="Cambria Math" panose="02040503050406030204" pitchFamily="18" charset="0"/>
                              <a:ea typeface="Cambria Math" panose="02040503050406030204" pitchFamily="18" charset="0"/>
                            </a:rPr>
                          </m:ctrlPr>
                        </m:dPr>
                        <m:e>
                          <m:r>
                            <a:rPr lang="es-ES" sz="2400" b="0" i="1" dirty="0" smtClean="0">
                              <a:latin typeface="Cambria Math" panose="02040503050406030204" pitchFamily="18" charset="0"/>
                              <a:ea typeface="Cambria Math" panose="02040503050406030204" pitchFamily="18" charset="0"/>
                            </a:rPr>
                            <m:t>𝑋</m:t>
                          </m:r>
                          <m:r>
                            <a:rPr lang="es-ES" sz="2400" b="0" i="1" dirty="0" smtClean="0">
                              <a:latin typeface="Cambria Math" panose="02040503050406030204" pitchFamily="18" charset="0"/>
                              <a:ea typeface="Cambria Math" panose="02040503050406030204" pitchFamily="18" charset="0"/>
                            </a:rPr>
                            <m:t>=</m:t>
                          </m:r>
                          <m:r>
                            <a:rPr lang="es-ES" sz="2400" b="0" i="1" dirty="0" smtClean="0">
                              <a:latin typeface="Cambria Math" panose="02040503050406030204" pitchFamily="18" charset="0"/>
                              <a:ea typeface="Cambria Math" panose="02040503050406030204" pitchFamily="18" charset="0"/>
                            </a:rPr>
                            <m:t>1</m:t>
                          </m:r>
                        </m:e>
                      </m:d>
                      <m:r>
                        <a:rPr lang="es-ES" sz="2400" b="0" i="1" dirty="0" smtClean="0">
                          <a:latin typeface="Cambria Math" panose="02040503050406030204" pitchFamily="18" charset="0"/>
                          <a:ea typeface="Cambria Math" panose="02040503050406030204" pitchFamily="18" charset="0"/>
                        </a:rPr>
                        <m:t>+</m:t>
                      </m:r>
                      <m:r>
                        <a:rPr lang="es-ES" sz="2400" b="0" i="1" dirty="0" smtClean="0">
                          <a:latin typeface="Cambria Math" panose="02040503050406030204" pitchFamily="18" charset="0"/>
                          <a:ea typeface="Cambria Math" panose="02040503050406030204" pitchFamily="18" charset="0"/>
                        </a:rPr>
                        <m:t>𝑃</m:t>
                      </m:r>
                      <m:d>
                        <m:dPr>
                          <m:begChr m:val="{"/>
                          <m:endChr m:val="}"/>
                          <m:ctrlPr>
                            <a:rPr lang="es-ES" sz="2400" b="0" i="1" dirty="0" smtClean="0">
                              <a:latin typeface="Cambria Math" panose="02040503050406030204" pitchFamily="18" charset="0"/>
                              <a:ea typeface="Cambria Math" panose="02040503050406030204" pitchFamily="18" charset="0"/>
                            </a:rPr>
                          </m:ctrlPr>
                        </m:dPr>
                        <m:e>
                          <m:r>
                            <a:rPr lang="es-ES" sz="2400" b="0" i="1" dirty="0" smtClean="0">
                              <a:latin typeface="Cambria Math" panose="02040503050406030204" pitchFamily="18" charset="0"/>
                              <a:ea typeface="Cambria Math" panose="02040503050406030204" pitchFamily="18" charset="0"/>
                            </a:rPr>
                            <m:t>𝑋</m:t>
                          </m:r>
                          <m:r>
                            <a:rPr lang="es-ES" sz="2400" b="0" i="1" dirty="0" smtClean="0">
                              <a:latin typeface="Cambria Math" panose="02040503050406030204" pitchFamily="18" charset="0"/>
                              <a:ea typeface="Cambria Math" panose="02040503050406030204" pitchFamily="18" charset="0"/>
                            </a:rPr>
                            <m:t>=</m:t>
                          </m:r>
                          <m:r>
                            <a:rPr lang="es-ES" sz="2400" b="0" i="1" dirty="0" smtClean="0">
                              <a:latin typeface="Cambria Math" panose="02040503050406030204" pitchFamily="18" charset="0"/>
                              <a:ea typeface="Cambria Math" panose="02040503050406030204" pitchFamily="18" charset="0"/>
                            </a:rPr>
                            <m:t>2</m:t>
                          </m:r>
                        </m:e>
                      </m:d>
                      <m:r>
                        <a:rPr lang="es-ES" sz="2400" b="0" i="1" smtClean="0">
                          <a:latin typeface="Cambria Math" panose="02040503050406030204" pitchFamily="18" charset="0"/>
                          <a:ea typeface="Cambria Math" panose="02040503050406030204" pitchFamily="18" charset="0"/>
                        </a:rPr>
                        <m:t>=</m:t>
                      </m:r>
                    </m:oMath>
                    <m:oMath xmlns:m="http://schemas.openxmlformats.org/officeDocument/2006/math">
                      <m:r>
                        <a:rPr lang="es-ES" sz="2400" b="0" i="1" smtClean="0">
                          <a:latin typeface="Cambria Math" panose="02040503050406030204" pitchFamily="18" charset="0"/>
                          <a:ea typeface="Cambria Math" panose="02040503050406030204" pitchFamily="18" charset="0"/>
                        </a:rPr>
                        <m:t>𝑃</m:t>
                      </m:r>
                      <m:d>
                        <m:dPr>
                          <m:ctrlPr>
                            <a:rPr lang="es-ES" sz="2400" b="0" i="1" smtClean="0">
                              <a:latin typeface="Cambria Math" panose="02040503050406030204" pitchFamily="18" charset="0"/>
                              <a:ea typeface="Cambria Math" panose="02040503050406030204" pitchFamily="18" charset="0"/>
                            </a:rPr>
                          </m:ctrlPr>
                        </m:dPr>
                        <m:e>
                          <m:r>
                            <a:rPr lang="es-ES" sz="2400" b="0" i="1" smtClean="0">
                              <a:latin typeface="Cambria Math" panose="02040503050406030204" pitchFamily="18" charset="0"/>
                              <a:ea typeface="Cambria Math" panose="02040503050406030204" pitchFamily="18" charset="0"/>
                            </a:rPr>
                            <m:t>1</m:t>
                          </m:r>
                        </m:e>
                      </m:d>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𝑃</m:t>
                      </m:r>
                      <m:d>
                        <m:dPr>
                          <m:ctrlPr>
                            <a:rPr lang="es-ES" sz="2400" b="0" i="1" smtClean="0">
                              <a:latin typeface="Cambria Math" panose="02040503050406030204" pitchFamily="18" charset="0"/>
                              <a:ea typeface="Cambria Math" panose="02040503050406030204" pitchFamily="18" charset="0"/>
                            </a:rPr>
                          </m:ctrlPr>
                        </m:dPr>
                        <m:e>
                          <m:r>
                            <a:rPr lang="es-ES" sz="2400" b="0" i="1" smtClean="0">
                              <a:latin typeface="Cambria Math" panose="02040503050406030204" pitchFamily="18" charset="0"/>
                              <a:ea typeface="Cambria Math" panose="02040503050406030204" pitchFamily="18" charset="0"/>
                            </a:rPr>
                            <m:t>2</m:t>
                          </m:r>
                        </m:e>
                      </m:d>
                      <m:r>
                        <a:rPr lang="es-ES" sz="2400" b="0" i="1" smtClean="0">
                          <a:latin typeface="Cambria Math" panose="02040503050406030204" pitchFamily="18" charset="0"/>
                          <a:ea typeface="Cambria Math" panose="02040503050406030204" pitchFamily="18" charset="0"/>
                        </a:rPr>
                        <m:t>=</m:t>
                      </m:r>
                    </m:oMath>
                    <m:oMath xmlns:m="http://schemas.openxmlformats.org/officeDocument/2006/math">
                      <m:r>
                        <a:rPr lang="es-ES" sz="2400" b="0" i="1" smtClean="0">
                          <a:latin typeface="Cambria Math" panose="02040503050406030204" pitchFamily="18" charset="0"/>
                          <a:ea typeface="Cambria Math" panose="02040503050406030204" pitchFamily="18" charset="0"/>
                        </a:rPr>
                        <m:t>0</m:t>
                      </m:r>
                      <m:r>
                        <a:rPr lang="es-ES" sz="2400" b="0" i="1" smtClean="0">
                          <a:latin typeface="Cambria Math" panose="02040503050406030204" pitchFamily="18" charset="0"/>
                          <a:ea typeface="Cambria Math" panose="02040503050406030204" pitchFamily="18" charset="0"/>
                        </a:rPr>
                        <m:t>.</m:t>
                      </m:r>
                      <m:r>
                        <a:rPr lang="es-ES" sz="2400" b="0" i="0" smtClean="0">
                          <a:latin typeface="Cambria Math" panose="02040503050406030204" pitchFamily="18" charset="0"/>
                          <a:ea typeface="Cambria Math" panose="02040503050406030204" pitchFamily="18" charset="0"/>
                        </a:rPr>
                        <m:t>375</m:t>
                      </m:r>
                      <m:r>
                        <a:rPr lang="es-ES" sz="2400" b="0" i="0" smtClean="0">
                          <a:latin typeface="Cambria Math" panose="02040503050406030204" pitchFamily="18" charset="0"/>
                          <a:ea typeface="Cambria Math" panose="02040503050406030204" pitchFamily="18" charset="0"/>
                        </a:rPr>
                        <m:t>+</m:t>
                      </m:r>
                      <m:r>
                        <a:rPr lang="es-ES" sz="2400" b="0" i="0" smtClean="0">
                          <a:latin typeface="Cambria Math" panose="02040503050406030204" pitchFamily="18" charset="0"/>
                          <a:ea typeface="Cambria Math" panose="02040503050406030204" pitchFamily="18" charset="0"/>
                        </a:rPr>
                        <m:t>0</m:t>
                      </m:r>
                      <m:r>
                        <a:rPr lang="es-ES" sz="2400" b="0" i="0" smtClean="0">
                          <a:latin typeface="Cambria Math" panose="02040503050406030204" pitchFamily="18" charset="0"/>
                          <a:ea typeface="Cambria Math" panose="02040503050406030204" pitchFamily="18" charset="0"/>
                        </a:rPr>
                        <m:t>.</m:t>
                      </m:r>
                      <m:r>
                        <a:rPr lang="es-ES" sz="2400" b="0" i="0" smtClean="0">
                          <a:latin typeface="Cambria Math" panose="02040503050406030204" pitchFamily="18" charset="0"/>
                          <a:ea typeface="Cambria Math" panose="02040503050406030204" pitchFamily="18" charset="0"/>
                        </a:rPr>
                        <m:t>375</m:t>
                      </m:r>
                      <m:r>
                        <a:rPr lang="es-ES" sz="2400" b="0" i="0" smtClean="0">
                          <a:latin typeface="Cambria Math" panose="02040503050406030204" pitchFamily="18" charset="0"/>
                          <a:ea typeface="Cambria Math" panose="02040503050406030204" pitchFamily="18" charset="0"/>
                        </a:rPr>
                        <m:t>=</m:t>
                      </m:r>
                      <m:r>
                        <a:rPr lang="es-ES" sz="2400" b="0" i="0" smtClean="0">
                          <a:latin typeface="Cambria Math" panose="02040503050406030204" pitchFamily="18" charset="0"/>
                          <a:ea typeface="Cambria Math" panose="02040503050406030204" pitchFamily="18" charset="0"/>
                        </a:rPr>
                        <m:t>0</m:t>
                      </m:r>
                      <m:r>
                        <a:rPr lang="es-ES" sz="2400" b="0" i="0" smtClean="0">
                          <a:latin typeface="Cambria Math" panose="02040503050406030204" pitchFamily="18" charset="0"/>
                          <a:ea typeface="Cambria Math" panose="02040503050406030204" pitchFamily="18" charset="0"/>
                        </a:rPr>
                        <m:t>.</m:t>
                      </m:r>
                      <m:r>
                        <a:rPr lang="es-ES" sz="2400" b="0" i="0" smtClean="0">
                          <a:latin typeface="Cambria Math" panose="02040503050406030204" pitchFamily="18" charset="0"/>
                          <a:ea typeface="Cambria Math" panose="02040503050406030204" pitchFamily="18" charset="0"/>
                        </a:rPr>
                        <m:t>75</m:t>
                      </m:r>
                    </m:oMath>
                  </m:oMathPara>
                </a14:m>
                <a:endParaRPr lang="es-ES" sz="2400" dirty="0"/>
              </a:p>
              <a:p>
                <a:endParaRPr lang="es-ES" dirty="0"/>
              </a:p>
            </p:txBody>
          </p:sp>
        </mc:Choice>
        <mc:Fallback xmlns="">
          <p:sp>
            <p:nvSpPr>
              <p:cNvPr id="13" name="CuadroTexto 12">
                <a:extLst>
                  <a:ext uri="{FF2B5EF4-FFF2-40B4-BE49-F238E27FC236}">
                    <a16:creationId xmlns:a16="http://schemas.microsoft.com/office/drawing/2014/main" id="{E8F34FDD-96A1-2173-A301-0FEBF1B84F0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240989" y="4587380"/>
                <a:ext cx="3493645" cy="1846659"/>
              </a:xfrm>
              <a:prstGeom prst="rect">
                <a:avLst/>
              </a:prstGeom>
              <a:blipFill>
                <a:blip r:embed="rId6"/>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696185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Propiedades (intervalos) (II)</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97" name="PlaceHolder 2"/>
              <p:cNvSpPr>
                <a:spLocks noGrp="1"/>
              </p:cNvSpPr>
              <p:nvPr>
                <p:ph/>
              </p:nvPr>
            </p:nvSpPr>
            <p:spPr>
              <a:xfrm>
                <a:off x="838080" y="1825560"/>
                <a:ext cx="10515240" cy="3593933"/>
              </a:xfrm>
              <a:prstGeom prst="rect">
                <a:avLst/>
              </a:prstGeom>
              <a:noFill/>
              <a:ln w="0">
                <a:noFill/>
              </a:ln>
            </p:spPr>
            <p:txBody>
              <a:bodyPr anchor="t">
                <a:normAutofit fontScale="85000" lnSpcReduction="20000"/>
              </a:bodyPr>
              <a:lstStyle/>
              <a:p>
                <a:pPr>
                  <a:spcBef>
                    <a:spcPts val="1001"/>
                  </a:spcBef>
                  <a:buClr>
                    <a:srgbClr val="000000"/>
                  </a:buClr>
                  <a:buFont typeface="Arial"/>
                  <a:buChar char="•"/>
                </a:pPr>
                <a:r>
                  <a:rPr lang="es-ES" sz="2800" b="0" strike="noStrike" spc="-1" dirty="0">
                    <a:solidFill>
                      <a:srgbClr val="000000"/>
                    </a:solidFill>
                    <a:latin typeface="Calibri"/>
                  </a:rPr>
                  <a:t>La probabilidad </a:t>
                </a:r>
                <a:r>
                  <a:rPr lang="es-ES" spc="-1" dirty="0">
                    <a:solidFill>
                      <a:srgbClr val="000000"/>
                    </a:solidFill>
                  </a:rPr>
                  <a:t>de que el valor de una variable aleatoria discreta esté </a:t>
                </a:r>
                <a:r>
                  <a:rPr lang="es-ES" sz="2800" b="0" strike="noStrike" spc="-1" dirty="0">
                    <a:solidFill>
                      <a:srgbClr val="000000"/>
                    </a:solidFill>
                    <a:latin typeface="Calibri"/>
                  </a:rPr>
                  <a:t>un intervalo como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𝑎</m:t>
                    </m:r>
                    <m:r>
                      <a:rPr lang="es-ES" sz="2800" b="0" i="1" strike="noStrike" spc="-1" dirty="0" err="1"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𝑎</m:t>
                    </m:r>
                    <m:r>
                      <a:rPr lang="es-ES" sz="2800" b="0" i="1" strike="noStrike" spc="-1" dirty="0" err="1"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𝑎</m:t>
                    </m:r>
                    <m:r>
                      <a:rPr lang="es-ES" sz="2800" b="0" i="1" strike="noStrike" spc="-1" dirty="0" smtClean="0">
                        <a:solidFill>
                          <a:srgbClr val="000000"/>
                        </a:solidFill>
                        <a:latin typeface="Cambria Math" panose="02040503050406030204" pitchFamily="18" charset="0"/>
                      </a:rPr>
                      <m:t>, </m:t>
                    </m:r>
                    <m:r>
                      <a:rPr lang="es-ES" sz="2800" b="0" i="1" strike="noStrike" spc="-1" dirty="0"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o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𝑎</m:t>
                    </m:r>
                    <m:r>
                      <a:rPr lang="es-ES" sz="2800" b="0" i="1" strike="noStrike" spc="-1" dirty="0" err="1"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también se puede calcular partir de la funci</a:t>
                </a:r>
                <a:r>
                  <a:rPr lang="es-ES" spc="-1" dirty="0">
                    <a:solidFill>
                      <a:srgbClr val="000000"/>
                    </a:solidFill>
                    <a:latin typeface="Calibri"/>
                  </a:rPr>
                  <a:t>ón de distribución acumulada</a:t>
                </a:r>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𝐹</m:t>
                    </m:r>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𝑥</m:t>
                    </m:r>
                    <m:r>
                      <a:rPr lang="es-ES" sz="2800" b="0" i="1" strike="noStrike" spc="-1" dirty="0" smtClean="0">
                        <a:solidFill>
                          <a:srgbClr val="000000"/>
                        </a:solidFill>
                        <a:latin typeface="Cambria Math" panose="02040503050406030204" pitchFamily="18" charset="0"/>
                      </a:rPr>
                      <m:t>)</m:t>
                    </m:r>
                  </m:oMath>
                </a14:m>
                <a:endParaRPr lang="es-ES" sz="2800" b="0" strike="noStrike" spc="-1" dirty="0">
                  <a:solidFill>
                    <a:srgbClr val="000000"/>
                  </a:solidFill>
                  <a:latin typeface="Calibri"/>
                </a:endParaRPr>
              </a:p>
              <a:p>
                <a:pPr lvl="1">
                  <a:spcBef>
                    <a:spcPts val="1001"/>
                  </a:spcBef>
                  <a:buClr>
                    <a:srgbClr val="000000"/>
                  </a:buClr>
                  <a:buFont typeface="Arial"/>
                  <a:buChar char="•"/>
                </a:pPr>
                <a:r>
                  <a:rPr lang="es-ES" b="0" dirty="0"/>
                  <a:t>Ejemplo:</a:t>
                </a:r>
              </a:p>
              <a:p>
                <a:pPr lvl="2">
                  <a:spcBef>
                    <a:spcPts val="1001"/>
                  </a:spcBef>
                  <a:buClr>
                    <a:srgbClr val="000000"/>
                  </a:buClr>
                  <a:buFont typeface="Arial"/>
                  <a:buChar char="•"/>
                </a:pPr>
                <a14:m>
                  <m:oMath xmlns:m="http://schemas.openxmlformats.org/officeDocument/2006/math">
                    <m:r>
                      <a:rPr lang="ar-AE" i="1" dirty="0">
                        <a:latin typeface="Cambria Math" panose="02040503050406030204" pitchFamily="18" charset="0"/>
                      </a:rPr>
                      <m:t>𝑃</m:t>
                    </m:r>
                    <m:d>
                      <m:dPr>
                        <m:begChr m:val="{"/>
                        <m:endChr m:val="}"/>
                        <m:ctrlPr>
                          <a:rPr lang="ar-AE" i="1" dirty="0">
                            <a:latin typeface="Cambria Math" panose="02040503050406030204" pitchFamily="18" charset="0"/>
                          </a:rPr>
                        </m:ctrlPr>
                      </m:dPr>
                      <m:e>
                        <m:r>
                          <a:rPr lang="ar-AE" i="1" dirty="0">
                            <a:latin typeface="Cambria Math" panose="02040503050406030204" pitchFamily="18" charset="0"/>
                          </a:rPr>
                          <m:t>𝑋</m:t>
                        </m:r>
                        <m:r>
                          <a:rPr lang="ar-AE" i="1" dirty="0">
                            <a:latin typeface="Cambria Math" panose="02040503050406030204" pitchFamily="18" charset="0"/>
                            <a:ea typeface="Cambria Math" panose="02040503050406030204" pitchFamily="18" charset="0"/>
                          </a:rPr>
                          <m:t>∈</m:t>
                        </m:r>
                        <m:d>
                          <m:dPr>
                            <m:begChr m:val="["/>
                            <m:endChr m:val="]"/>
                            <m:ctrlPr>
                              <a:rPr lang="ar-AE" i="1" dirty="0">
                                <a:latin typeface="Cambria Math" panose="02040503050406030204" pitchFamily="18" charset="0"/>
                                <a:ea typeface="Cambria Math" panose="02040503050406030204" pitchFamily="18" charset="0"/>
                              </a:rPr>
                            </m:ctrlPr>
                          </m:dPr>
                          <m:e>
                            <m:r>
                              <a:rPr lang="es-ES" i="1" dirty="0">
                                <a:latin typeface="Cambria Math" panose="02040503050406030204" pitchFamily="18" charset="0"/>
                                <a:ea typeface="Cambria Math" panose="02040503050406030204" pitchFamily="18" charset="0"/>
                              </a:rPr>
                              <m:t>𝑎</m:t>
                            </m:r>
                            <m:r>
                              <a:rPr lang="es-ES" i="1" dirty="0">
                                <a:latin typeface="Cambria Math" panose="02040503050406030204" pitchFamily="18" charset="0"/>
                                <a:ea typeface="Cambria Math" panose="02040503050406030204" pitchFamily="18" charset="0"/>
                              </a:rPr>
                              <m:t>,</m:t>
                            </m:r>
                            <m:r>
                              <a:rPr lang="es-ES" i="1" dirty="0">
                                <a:latin typeface="Cambria Math" panose="02040503050406030204" pitchFamily="18" charset="0"/>
                                <a:ea typeface="Cambria Math" panose="02040503050406030204" pitchFamily="18" charset="0"/>
                              </a:rPr>
                              <m:t>𝑏</m:t>
                            </m:r>
                          </m:e>
                        </m:d>
                      </m:e>
                    </m:d>
                    <m:r>
                      <a:rPr lang="es-ES" b="0" i="1" dirty="0"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𝑎</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𝑏</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𝑃</m:t>
                    </m:r>
                    <m:d>
                      <m:dPr>
                        <m:begChr m:val="{"/>
                        <m:endChr m:val="}"/>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𝑏</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𝑃</m:t>
                    </m:r>
                    <m:d>
                      <m:dPr>
                        <m:begChr m:val="{"/>
                        <m:endChr m:val="}"/>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&lt;</m:t>
                        </m:r>
                        <m:r>
                          <a:rPr lang="es-ES" b="0" i="1" smtClean="0">
                            <a:latin typeface="Cambria Math" panose="02040503050406030204" pitchFamily="18" charset="0"/>
                            <a:ea typeface="Cambria Math" panose="02040503050406030204" pitchFamily="18" charset="0"/>
                          </a:rPr>
                          <m:t>𝑎</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𝐹</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𝑏</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𝐹</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𝑎</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oMath>
                </a14:m>
                <a:endParaRPr lang="en-US" dirty="0"/>
              </a:p>
              <a:p>
                <a:pPr lvl="2">
                  <a:spcBef>
                    <a:spcPts val="1001"/>
                  </a:spcBef>
                  <a:buClr>
                    <a:srgbClr val="000000"/>
                  </a:buClr>
                  <a:buFont typeface="Arial"/>
                  <a:buChar char="•"/>
                </a:pPr>
                <a:r>
                  <a:rPr lang="en-US" dirty="0"/>
                  <a:t>Se ha </a:t>
                </a:r>
                <a:r>
                  <a:rPr lang="en-US" dirty="0" err="1"/>
                  <a:t>tenido</a:t>
                </a:r>
                <a:r>
                  <a:rPr lang="en-US" dirty="0"/>
                  <a:t> en </a:t>
                </a:r>
                <a:r>
                  <a:rPr lang="en-US" dirty="0" err="1"/>
                  <a:t>cuenta</a:t>
                </a:r>
                <a:r>
                  <a:rPr lang="en-US" dirty="0"/>
                  <a:t> que </a:t>
                </a:r>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&lt;</m:t>
                        </m:r>
                        <m:r>
                          <a:rPr lang="es-ES" b="0" i="1" smtClean="0">
                            <a:latin typeface="Cambria Math" panose="02040503050406030204" pitchFamily="18" charset="0"/>
                            <a:ea typeface="Cambria Math" panose="02040503050406030204" pitchFamily="18" charset="0"/>
                          </a:rPr>
                          <m:t>𝑥</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𝑃</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oMath>
                </a14:m>
                <a:r>
                  <a:rPr lang="en-US" dirty="0"/>
                  <a:t> </a:t>
                </a:r>
                <a:r>
                  <a:rPr lang="en-US" dirty="0" err="1"/>
                  <a:t>cuando</a:t>
                </a:r>
                <a:r>
                  <a:rPr lang="en-US" dirty="0"/>
                  <a:t> la </a:t>
                </a:r>
                <a:r>
                  <a:rPr lang="en-US" dirty="0" err="1"/>
                  <a:t>v.a.</a:t>
                </a:r>
                <a:r>
                  <a:rPr lang="en-US" dirty="0"/>
                  <a:t> </a:t>
                </a:r>
                <a14:m>
                  <m:oMath xmlns:m="http://schemas.openxmlformats.org/officeDocument/2006/math">
                    <m:r>
                      <a:rPr lang="en-US" i="1" dirty="0" smtClean="0">
                        <a:latin typeface="Cambria Math" panose="02040503050406030204" pitchFamily="18" charset="0"/>
                      </a:rPr>
                      <m:t>𝑋</m:t>
                    </m:r>
                  </m:oMath>
                </a14:m>
                <a:r>
                  <a:rPr lang="en-US" dirty="0"/>
                  <a:t> es </a:t>
                </a:r>
                <a:r>
                  <a:rPr lang="en-US" dirty="0" err="1"/>
                  <a:t>discreta</a:t>
                </a:r>
                <a:r>
                  <a:rPr lang="en-US" dirty="0"/>
                  <a:t> </a:t>
                </a:r>
              </a:p>
              <a:p>
                <a:pPr>
                  <a:spcBef>
                    <a:spcPts val="1001"/>
                  </a:spcBef>
                  <a:buClr>
                    <a:srgbClr val="000000"/>
                  </a:buClr>
                  <a:buFont typeface="Arial"/>
                  <a:buChar char="•"/>
                </a:pPr>
                <a:endParaRPr lang="es-ES" dirty="0"/>
              </a:p>
              <a:p>
                <a:pPr>
                  <a:spcBef>
                    <a:spcPts val="1001"/>
                  </a:spcBef>
                  <a:buClr>
                    <a:srgbClr val="000000"/>
                  </a:buClr>
                  <a:buFont typeface="Arial"/>
                  <a:buChar char="•"/>
                </a:pPr>
                <a:r>
                  <a:rPr lang="es-ES" dirty="0"/>
                  <a:t>Ejemplo monedas:</a:t>
                </a:r>
              </a:p>
              <a:p>
                <a:pPr>
                  <a:spcBef>
                    <a:spcPts val="1001"/>
                  </a:spcBef>
                  <a:buClr>
                    <a:srgbClr val="000000"/>
                  </a:buClr>
                  <a:buFont typeface="Arial"/>
                  <a:buChar char="•"/>
                </a:pPr>
                <a:endParaRPr lang="en-US" dirty="0"/>
              </a:p>
              <a:p>
                <a:pPr marL="457200" lvl="1" indent="0">
                  <a:spcBef>
                    <a:spcPts val="1001"/>
                  </a:spcBef>
                  <a:buClr>
                    <a:srgbClr val="000000"/>
                  </a:buClr>
                  <a:buNone/>
                </a:pPr>
                <a:r>
                  <a:rPr lang="en-US" dirty="0"/>
                  <a:t>	</a:t>
                </a:r>
              </a:p>
              <a:p>
                <a:pPr marL="457200" lvl="1" indent="0">
                  <a:spcBef>
                    <a:spcPts val="1001"/>
                  </a:spcBef>
                  <a:buClr>
                    <a:srgbClr val="000000"/>
                  </a:buClr>
                  <a:buNone/>
                </a:pPr>
                <a:endParaRPr lang="en-US" dirty="0"/>
              </a:p>
              <a:p>
                <a:pPr marL="228600" indent="-228600">
                  <a:lnSpc>
                    <a:spcPct val="90000"/>
                  </a:lnSpc>
                  <a:spcBef>
                    <a:spcPts val="1001"/>
                  </a:spcBef>
                  <a:buClr>
                    <a:srgbClr val="000000"/>
                  </a:buClr>
                  <a:buFont typeface="Arial"/>
                  <a:buChar char="•"/>
                </a:pPr>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endParaRPr lang="es-ES" spc="-1" dirty="0">
                  <a:solidFill>
                    <a:srgbClr val="000000"/>
                  </a:solidFill>
                  <a:latin typeface="Calibri"/>
                </a:endParaRPr>
              </a:p>
              <a:p>
                <a:pPr marL="228600" indent="-228600">
                  <a:lnSpc>
                    <a:spcPct val="90000"/>
                  </a:lnSpc>
                  <a:spcBef>
                    <a:spcPts val="1001"/>
                  </a:spcBef>
                  <a:buClr>
                    <a:srgbClr val="000000"/>
                  </a:buClr>
                  <a:buFont typeface="Arial"/>
                  <a:buChar char="•"/>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97" name="PlaceHolder 2"/>
              <p:cNvSpPr>
                <a:spLocks noGrp="1" noRot="1" noChangeAspect="1" noMove="1" noResize="1" noEditPoints="1" noAdjustHandles="1" noChangeArrowheads="1" noChangeShapeType="1" noTextEdit="1"/>
              </p:cNvSpPr>
              <p:nvPr>
                <p:ph/>
              </p:nvPr>
            </p:nvSpPr>
            <p:spPr>
              <a:xfrm>
                <a:off x="838080" y="1825560"/>
                <a:ext cx="10515240" cy="3593933"/>
              </a:xfrm>
              <a:prstGeom prst="rect">
                <a:avLst/>
              </a:prstGeom>
              <a:blipFill>
                <a:blip r:embed="rId2"/>
                <a:stretch>
                  <a:fillRect l="-754" t="-3898" r="-1507"/>
                </a:stretch>
              </a:blipFill>
              <a:ln w="0">
                <a:noFill/>
              </a:ln>
            </p:spPr>
            <p:txBody>
              <a:bodyPr/>
              <a:lstStyle/>
              <a:p>
                <a:r>
                  <a:rPr lang="es-ES">
                    <a:noFill/>
                  </a:rPr>
                  <a:t> </a:t>
                </a:r>
              </a:p>
            </p:txBody>
          </p:sp>
        </mc:Fallback>
      </mc:AlternateContent>
      <p:pic>
        <p:nvPicPr>
          <p:cNvPr id="12" name="Imagen 11">
            <a:extLst>
              <a:ext uri="{FF2B5EF4-FFF2-40B4-BE49-F238E27FC236}">
                <a16:creationId xmlns:a16="http://schemas.microsoft.com/office/drawing/2014/main" id="{2371F9BC-BCBB-2A88-E4F8-33E2F217F0D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1956" y="3973125"/>
            <a:ext cx="5437048" cy="2654835"/>
          </a:xfrm>
          <a:prstGeom prst="rect">
            <a:avLst/>
          </a:prstGeom>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BAF532B9-E06E-3480-3731-C36C1908DEDC}"/>
                  </a:ext>
                  <a:ext uri="{C183D7F6-B498-43B3-948B-1728B52AA6E4}">
                    <adec:decorative xmlns:adec="http://schemas.microsoft.com/office/drawing/2017/decorative" val="1"/>
                  </a:ext>
                </a:extLst>
              </p:cNvPr>
              <p:cNvSpPr txBox="1"/>
              <p:nvPr/>
            </p:nvSpPr>
            <p:spPr>
              <a:xfrm>
                <a:off x="7919224" y="4252104"/>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375</m:t>
                      </m:r>
                    </m:oMath>
                  </m:oMathPara>
                </a14:m>
                <a:endParaRPr lang="es-ES" sz="1400" dirty="0"/>
              </a:p>
            </p:txBody>
          </p:sp>
        </mc:Choice>
        <mc:Fallback xmlns="">
          <p:sp>
            <p:nvSpPr>
              <p:cNvPr id="13" name="CuadroTexto 12">
                <a:extLst>
                  <a:ext uri="{FF2B5EF4-FFF2-40B4-BE49-F238E27FC236}">
                    <a16:creationId xmlns:a16="http://schemas.microsoft.com/office/drawing/2014/main" id="{BAF532B9-E06E-3480-3731-C36C1908DED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919224" y="4252104"/>
                <a:ext cx="474489" cy="215444"/>
              </a:xfrm>
              <a:prstGeom prst="rect">
                <a:avLst/>
              </a:prstGeom>
              <a:blipFill>
                <a:blip r:embed="rId4"/>
                <a:stretch>
                  <a:fillRect l="-7692" r="-8974" b="-571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E4E71A83-B04B-7105-8907-8D5D099E3D03}"/>
                  </a:ext>
                  <a:ext uri="{C183D7F6-B498-43B3-948B-1728B52AA6E4}">
                    <adec:decorative xmlns:adec="http://schemas.microsoft.com/office/drawing/2017/decorative" val="1"/>
                  </a:ext>
                </a:extLst>
              </p:cNvPr>
              <p:cNvSpPr txBox="1"/>
              <p:nvPr/>
            </p:nvSpPr>
            <p:spPr>
              <a:xfrm>
                <a:off x="9361980" y="4252103"/>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375</m:t>
                      </m:r>
                    </m:oMath>
                  </m:oMathPara>
                </a14:m>
                <a:endParaRPr lang="es-ES" sz="1400" dirty="0"/>
              </a:p>
            </p:txBody>
          </p:sp>
        </mc:Choice>
        <mc:Fallback xmlns="">
          <p:sp>
            <p:nvSpPr>
              <p:cNvPr id="14" name="CuadroTexto 13">
                <a:extLst>
                  <a:ext uri="{FF2B5EF4-FFF2-40B4-BE49-F238E27FC236}">
                    <a16:creationId xmlns:a16="http://schemas.microsoft.com/office/drawing/2014/main" id="{E4E71A83-B04B-7105-8907-8D5D099E3D03}"/>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361980" y="4252103"/>
                <a:ext cx="474489" cy="215444"/>
              </a:xfrm>
              <a:prstGeom prst="rect">
                <a:avLst/>
              </a:prstGeom>
              <a:blipFill>
                <a:blip r:embed="rId5"/>
                <a:stretch>
                  <a:fillRect l="-7692" r="-7692" b="-5714"/>
                </a:stretch>
              </a:blipFill>
            </p:spPr>
            <p:txBody>
              <a:bodyPr/>
              <a:lstStyle/>
              <a:p>
                <a:r>
                  <a:rPr lang="es-ES">
                    <a:noFill/>
                  </a:rPr>
                  <a:t> </a:t>
                </a:r>
              </a:p>
            </p:txBody>
          </p:sp>
        </mc:Fallback>
      </mc:AlternateContent>
      <p:sp>
        <p:nvSpPr>
          <p:cNvPr id="15" name="Rectángulo 14">
            <a:extLst>
              <a:ext uri="{FF2B5EF4-FFF2-40B4-BE49-F238E27FC236}">
                <a16:creationId xmlns:a16="http://schemas.microsoft.com/office/drawing/2014/main" id="{9A4480FA-FD62-CC20-592A-D58241026716}"/>
              </a:ext>
              <a:ext uri="{C183D7F6-B498-43B3-948B-1728B52AA6E4}">
                <adec:decorative xmlns:adec="http://schemas.microsoft.com/office/drawing/2017/decorative" val="1"/>
              </a:ext>
            </a:extLst>
          </p:cNvPr>
          <p:cNvSpPr/>
          <p:nvPr/>
        </p:nvSpPr>
        <p:spPr>
          <a:xfrm>
            <a:off x="6597796" y="5872423"/>
            <a:ext cx="4731208" cy="364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6" name="Rectángulo 15">
            <a:extLst>
              <a:ext uri="{FF2B5EF4-FFF2-40B4-BE49-F238E27FC236}">
                <a16:creationId xmlns:a16="http://schemas.microsoft.com/office/drawing/2014/main" id="{BF7AB5A7-8FE9-557D-14B9-9202CE5A8798}"/>
              </a:ext>
              <a:ext uri="{C183D7F6-B498-43B3-948B-1728B52AA6E4}">
                <adec:decorative xmlns:adec="http://schemas.microsoft.com/office/drawing/2017/decorative" val="1"/>
              </a:ext>
            </a:extLst>
          </p:cNvPr>
          <p:cNvSpPr/>
          <p:nvPr/>
        </p:nvSpPr>
        <p:spPr>
          <a:xfrm>
            <a:off x="6456556" y="4139646"/>
            <a:ext cx="3747286" cy="215362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7" name="CuadroTexto 16">
            <a:extLst>
              <a:ext uri="{FF2B5EF4-FFF2-40B4-BE49-F238E27FC236}">
                <a16:creationId xmlns:a16="http://schemas.microsoft.com/office/drawing/2014/main" id="{D773BDE0-16E4-9161-3AC9-F5A28FAB1209}"/>
              </a:ext>
              <a:ext uri="{C183D7F6-B498-43B3-948B-1728B52AA6E4}">
                <adec:decorative xmlns:adec="http://schemas.microsoft.com/office/drawing/2017/decorative" val="1"/>
              </a:ext>
            </a:extLst>
          </p:cNvPr>
          <p:cNvSpPr txBox="1"/>
          <p:nvPr/>
        </p:nvSpPr>
        <p:spPr>
          <a:xfrm>
            <a:off x="6597796" y="5923938"/>
            <a:ext cx="276038" cy="307777"/>
          </a:xfrm>
          <a:prstGeom prst="rect">
            <a:avLst/>
          </a:prstGeom>
          <a:noFill/>
        </p:spPr>
        <p:txBody>
          <a:bodyPr wrap="none" rtlCol="0">
            <a:spAutoFit/>
          </a:bodyPr>
          <a:lstStyle/>
          <a:p>
            <a:r>
              <a:rPr lang="es-ES" sz="1400" dirty="0"/>
              <a:t>0</a:t>
            </a:r>
          </a:p>
        </p:txBody>
      </p:sp>
      <p:sp>
        <p:nvSpPr>
          <p:cNvPr id="18" name="CuadroTexto 17">
            <a:extLst>
              <a:ext uri="{FF2B5EF4-FFF2-40B4-BE49-F238E27FC236}">
                <a16:creationId xmlns:a16="http://schemas.microsoft.com/office/drawing/2014/main" id="{D153460E-1351-B019-B44D-1370EC103AB5}"/>
              </a:ext>
              <a:ext uri="{C183D7F6-B498-43B3-948B-1728B52AA6E4}">
                <adec:decorative xmlns:adec="http://schemas.microsoft.com/office/drawing/2017/decorative" val="1"/>
              </a:ext>
            </a:extLst>
          </p:cNvPr>
          <p:cNvSpPr txBox="1"/>
          <p:nvPr/>
        </p:nvSpPr>
        <p:spPr>
          <a:xfrm>
            <a:off x="8064642" y="5918302"/>
            <a:ext cx="276038" cy="307777"/>
          </a:xfrm>
          <a:prstGeom prst="rect">
            <a:avLst/>
          </a:prstGeom>
          <a:noFill/>
        </p:spPr>
        <p:txBody>
          <a:bodyPr wrap="none" rtlCol="0">
            <a:spAutoFit/>
          </a:bodyPr>
          <a:lstStyle/>
          <a:p>
            <a:r>
              <a:rPr lang="es-ES" sz="1400" dirty="0"/>
              <a:t>1</a:t>
            </a:r>
          </a:p>
        </p:txBody>
      </p:sp>
      <p:sp>
        <p:nvSpPr>
          <p:cNvPr id="19" name="CuadroTexto 18">
            <a:extLst>
              <a:ext uri="{FF2B5EF4-FFF2-40B4-BE49-F238E27FC236}">
                <a16:creationId xmlns:a16="http://schemas.microsoft.com/office/drawing/2014/main" id="{75A18C0B-9597-F58E-AA25-225E9CCAEF72}"/>
              </a:ext>
              <a:ext uri="{C183D7F6-B498-43B3-948B-1728B52AA6E4}">
                <adec:decorative xmlns:adec="http://schemas.microsoft.com/office/drawing/2017/decorative" val="1"/>
              </a:ext>
            </a:extLst>
          </p:cNvPr>
          <p:cNvSpPr txBox="1"/>
          <p:nvPr/>
        </p:nvSpPr>
        <p:spPr>
          <a:xfrm>
            <a:off x="9465842" y="5910820"/>
            <a:ext cx="276038" cy="307777"/>
          </a:xfrm>
          <a:prstGeom prst="rect">
            <a:avLst/>
          </a:prstGeom>
          <a:noFill/>
        </p:spPr>
        <p:txBody>
          <a:bodyPr wrap="none" rtlCol="0">
            <a:spAutoFit/>
          </a:bodyPr>
          <a:lstStyle/>
          <a:p>
            <a:r>
              <a:rPr lang="es-ES" sz="1400" dirty="0"/>
              <a:t>2</a:t>
            </a:r>
          </a:p>
        </p:txBody>
      </p:sp>
      <p:sp>
        <p:nvSpPr>
          <p:cNvPr id="20" name="CuadroTexto 19">
            <a:extLst>
              <a:ext uri="{FF2B5EF4-FFF2-40B4-BE49-F238E27FC236}">
                <a16:creationId xmlns:a16="http://schemas.microsoft.com/office/drawing/2014/main" id="{DACAAC9F-956C-E0AB-8E49-9E5C414498FA}"/>
              </a:ext>
              <a:ext uri="{C183D7F6-B498-43B3-948B-1728B52AA6E4}">
                <adec:decorative xmlns:adec="http://schemas.microsoft.com/office/drawing/2017/decorative" val="1"/>
              </a:ext>
            </a:extLst>
          </p:cNvPr>
          <p:cNvSpPr txBox="1"/>
          <p:nvPr/>
        </p:nvSpPr>
        <p:spPr>
          <a:xfrm>
            <a:off x="10951421" y="5910820"/>
            <a:ext cx="276038" cy="307777"/>
          </a:xfrm>
          <a:prstGeom prst="rect">
            <a:avLst/>
          </a:prstGeom>
          <a:noFill/>
        </p:spPr>
        <p:txBody>
          <a:bodyPr wrap="none" rtlCol="0">
            <a:spAutoFit/>
          </a:bodyPr>
          <a:lstStyle/>
          <a:p>
            <a:r>
              <a:rPr lang="es-ES" sz="1400" dirty="0"/>
              <a:t>3</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3B8188F6-B699-0FA1-526F-8FCECB2505B7}"/>
                  </a:ext>
                  <a:ext uri="{C183D7F6-B498-43B3-948B-1728B52AA6E4}">
                    <adec:decorative xmlns:adec="http://schemas.microsoft.com/office/drawing/2017/decorative" val="1"/>
                  </a:ext>
                </a:extLst>
              </p:cNvPr>
              <p:cNvSpPr txBox="1"/>
              <p:nvPr/>
            </p:nvSpPr>
            <p:spPr>
              <a:xfrm>
                <a:off x="6583489" y="5108736"/>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125</m:t>
                      </m:r>
                    </m:oMath>
                  </m:oMathPara>
                </a14:m>
                <a:endParaRPr lang="es-ES" sz="1400" dirty="0"/>
              </a:p>
            </p:txBody>
          </p:sp>
        </mc:Choice>
        <mc:Fallback xmlns="">
          <p:sp>
            <p:nvSpPr>
              <p:cNvPr id="21" name="CuadroTexto 20">
                <a:extLst>
                  <a:ext uri="{FF2B5EF4-FFF2-40B4-BE49-F238E27FC236}">
                    <a16:creationId xmlns:a16="http://schemas.microsoft.com/office/drawing/2014/main" id="{3B8188F6-B699-0FA1-526F-8FCECB2505B7}"/>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583489" y="5108736"/>
                <a:ext cx="474489" cy="215444"/>
              </a:xfrm>
              <a:prstGeom prst="rect">
                <a:avLst/>
              </a:prstGeom>
              <a:blipFill>
                <a:blip r:embed="rId6"/>
                <a:stretch>
                  <a:fillRect l="-7692" r="-7692" b="-8571"/>
                </a:stretch>
              </a:blipFill>
            </p:spPr>
            <p:txBody>
              <a:bodyPr/>
              <a:lstStyle/>
              <a:p>
                <a:r>
                  <a:rPr lang="es-ES">
                    <a:noFill/>
                  </a:rPr>
                  <a:t> </a:t>
                </a:r>
              </a:p>
            </p:txBody>
          </p:sp>
        </mc:Fallback>
      </mc:AlternateContent>
      <p:sp>
        <p:nvSpPr>
          <p:cNvPr id="22" name="Rectángulo 21">
            <a:extLst>
              <a:ext uri="{FF2B5EF4-FFF2-40B4-BE49-F238E27FC236}">
                <a16:creationId xmlns:a16="http://schemas.microsoft.com/office/drawing/2014/main" id="{CC9603CA-0B53-1257-A169-606A88C84474}"/>
              </a:ext>
              <a:ext uri="{C183D7F6-B498-43B3-948B-1728B52AA6E4}">
                <adec:decorative xmlns:adec="http://schemas.microsoft.com/office/drawing/2017/decorative" val="1"/>
              </a:ext>
            </a:extLst>
          </p:cNvPr>
          <p:cNvSpPr/>
          <p:nvPr/>
        </p:nvSpPr>
        <p:spPr>
          <a:xfrm>
            <a:off x="6551981" y="4200409"/>
            <a:ext cx="999870" cy="197812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13</a:t>
            </a:fld>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2261A07C-FB3A-0D02-B69C-AB634A86E37A}"/>
                  </a:ext>
                  <a:ext uri="{C183D7F6-B498-43B3-948B-1728B52AA6E4}">
                    <adec:decorative xmlns:adec="http://schemas.microsoft.com/office/drawing/2017/decorative" val="1"/>
                  </a:ext>
                </a:extLst>
              </p:cNvPr>
              <p:cNvSpPr txBox="1"/>
              <p:nvPr/>
            </p:nvSpPr>
            <p:spPr>
              <a:xfrm>
                <a:off x="1240989" y="4587380"/>
                <a:ext cx="3493645" cy="132343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ar-AE" sz="2000" i="1" dirty="0" smtClean="0">
                          <a:latin typeface="Cambria Math" panose="02040503050406030204" pitchFamily="18" charset="0"/>
                        </a:rPr>
                        <m:t>𝑃</m:t>
                      </m:r>
                      <m:d>
                        <m:dPr>
                          <m:begChr m:val="{"/>
                          <m:endChr m:val="}"/>
                          <m:ctrlPr>
                            <a:rPr lang="ar-AE" sz="2000" i="1" dirty="0" smtClean="0">
                              <a:latin typeface="Cambria Math" panose="02040503050406030204" pitchFamily="18" charset="0"/>
                            </a:rPr>
                          </m:ctrlPr>
                        </m:dPr>
                        <m:e>
                          <m:r>
                            <a:rPr lang="ar-AE" sz="2000" i="1" dirty="0" smtClean="0">
                              <a:latin typeface="Cambria Math" panose="02040503050406030204" pitchFamily="18" charset="0"/>
                            </a:rPr>
                            <m:t>𝑋</m:t>
                          </m:r>
                          <m:r>
                            <a:rPr lang="ar-AE" sz="2000" i="1" dirty="0" smtClean="0">
                              <a:latin typeface="Cambria Math" panose="02040503050406030204" pitchFamily="18" charset="0"/>
                              <a:ea typeface="Cambria Math" panose="02040503050406030204" pitchFamily="18" charset="0"/>
                            </a:rPr>
                            <m:t>∈</m:t>
                          </m:r>
                          <m:d>
                            <m:dPr>
                              <m:begChr m:val="["/>
                              <m:endChr m:val="]"/>
                              <m:ctrlPr>
                                <a:rPr lang="ar-AE" sz="2000" i="1" dirty="0" smtClean="0">
                                  <a:latin typeface="Cambria Math" panose="02040503050406030204" pitchFamily="18" charset="0"/>
                                  <a:ea typeface="Cambria Math" panose="02040503050406030204" pitchFamily="18" charset="0"/>
                                </a:rPr>
                              </m:ctrlPr>
                            </m:dPr>
                            <m:e>
                              <m:r>
                                <a:rPr lang="ar-AE" sz="2000" b="0" i="1" dirty="0" smtClean="0">
                                  <a:latin typeface="Cambria Math" panose="02040503050406030204" pitchFamily="18" charset="0"/>
                                  <a:ea typeface="Cambria Math" panose="02040503050406030204" pitchFamily="18" charset="0"/>
                                </a:rPr>
                                <m:t>1</m:t>
                              </m:r>
                              <m:r>
                                <a:rPr lang="es-ES" sz="2000" b="0" i="1" dirty="0" smtClean="0">
                                  <a:latin typeface="Cambria Math" panose="02040503050406030204" pitchFamily="18" charset="0"/>
                                  <a:ea typeface="Cambria Math" panose="02040503050406030204" pitchFamily="18" charset="0"/>
                                </a:rPr>
                                <m:t>,</m:t>
                              </m:r>
                              <m:r>
                                <a:rPr lang="es-ES" sz="2000" b="0" i="1" dirty="0" smtClean="0">
                                  <a:latin typeface="Cambria Math" panose="02040503050406030204" pitchFamily="18" charset="0"/>
                                  <a:ea typeface="Cambria Math" panose="02040503050406030204" pitchFamily="18" charset="0"/>
                                </a:rPr>
                                <m:t>2</m:t>
                              </m:r>
                            </m:e>
                          </m:d>
                        </m:e>
                      </m:d>
                      <m:r>
                        <a:rPr lang="es-ES" sz="2000" b="0" i="1" dirty="0" smtClean="0">
                          <a:latin typeface="Cambria Math" panose="02040503050406030204" pitchFamily="18" charset="0"/>
                          <a:ea typeface="Cambria Math" panose="02040503050406030204" pitchFamily="18" charset="0"/>
                        </a:rPr>
                        <m:t>=</m:t>
                      </m:r>
                    </m:oMath>
                    <m:oMath xmlns:m="http://schemas.openxmlformats.org/officeDocument/2006/math">
                      <m:r>
                        <a:rPr lang="es-ES" sz="2000" b="0" i="1" dirty="0" smtClean="0">
                          <a:latin typeface="Cambria Math" panose="02040503050406030204" pitchFamily="18" charset="0"/>
                          <a:ea typeface="Cambria Math" panose="02040503050406030204" pitchFamily="18" charset="0"/>
                        </a:rPr>
                        <m:t>𝑃</m:t>
                      </m:r>
                      <m:d>
                        <m:dPr>
                          <m:begChr m:val="{"/>
                          <m:endChr m:val="}"/>
                          <m:ctrlPr>
                            <a:rPr lang="es-ES" sz="2000" b="0" i="1" dirty="0" smtClean="0">
                              <a:latin typeface="Cambria Math" panose="02040503050406030204" pitchFamily="18" charset="0"/>
                              <a:ea typeface="Cambria Math" panose="02040503050406030204" pitchFamily="18" charset="0"/>
                            </a:rPr>
                          </m:ctrlPr>
                        </m:dPr>
                        <m:e>
                          <m:r>
                            <a:rPr lang="es-ES" sz="2000" b="0" i="1" dirty="0" smtClean="0">
                              <a:latin typeface="Cambria Math" panose="02040503050406030204" pitchFamily="18" charset="0"/>
                              <a:ea typeface="Cambria Math" panose="02040503050406030204" pitchFamily="18" charset="0"/>
                            </a:rPr>
                            <m:t>𝑋</m:t>
                          </m:r>
                          <m:r>
                            <a:rPr lang="es-ES" sz="2000" b="0" i="1" dirty="0" smtClean="0">
                              <a:latin typeface="Cambria Math" panose="02040503050406030204" pitchFamily="18" charset="0"/>
                              <a:ea typeface="Cambria Math" panose="02040503050406030204" pitchFamily="18" charset="0"/>
                            </a:rPr>
                            <m:t>=</m:t>
                          </m:r>
                          <m:r>
                            <a:rPr lang="es-ES" sz="2000" b="0" i="1" dirty="0" smtClean="0">
                              <a:latin typeface="Cambria Math" panose="02040503050406030204" pitchFamily="18" charset="0"/>
                              <a:ea typeface="Cambria Math" panose="02040503050406030204" pitchFamily="18" charset="0"/>
                            </a:rPr>
                            <m:t>1</m:t>
                          </m:r>
                        </m:e>
                      </m:d>
                      <m:r>
                        <a:rPr lang="es-ES" sz="2000" b="0" i="1" dirty="0" smtClean="0">
                          <a:latin typeface="Cambria Math" panose="02040503050406030204" pitchFamily="18" charset="0"/>
                          <a:ea typeface="Cambria Math" panose="02040503050406030204" pitchFamily="18" charset="0"/>
                        </a:rPr>
                        <m:t>+</m:t>
                      </m:r>
                      <m:r>
                        <a:rPr lang="es-ES" sz="2000" b="0" i="1" dirty="0" smtClean="0">
                          <a:latin typeface="Cambria Math" panose="02040503050406030204" pitchFamily="18" charset="0"/>
                          <a:ea typeface="Cambria Math" panose="02040503050406030204" pitchFamily="18" charset="0"/>
                        </a:rPr>
                        <m:t>𝑃</m:t>
                      </m:r>
                      <m:d>
                        <m:dPr>
                          <m:begChr m:val="{"/>
                          <m:endChr m:val="}"/>
                          <m:ctrlPr>
                            <a:rPr lang="es-ES" sz="2000" b="0" i="1" dirty="0" smtClean="0">
                              <a:latin typeface="Cambria Math" panose="02040503050406030204" pitchFamily="18" charset="0"/>
                              <a:ea typeface="Cambria Math" panose="02040503050406030204" pitchFamily="18" charset="0"/>
                            </a:rPr>
                          </m:ctrlPr>
                        </m:dPr>
                        <m:e>
                          <m:r>
                            <a:rPr lang="es-ES" sz="2000" b="0" i="1" dirty="0" smtClean="0">
                              <a:latin typeface="Cambria Math" panose="02040503050406030204" pitchFamily="18" charset="0"/>
                              <a:ea typeface="Cambria Math" panose="02040503050406030204" pitchFamily="18" charset="0"/>
                            </a:rPr>
                            <m:t>𝑋</m:t>
                          </m:r>
                          <m:r>
                            <a:rPr lang="es-ES" sz="2000" b="0" i="1" dirty="0" smtClean="0">
                              <a:latin typeface="Cambria Math" panose="02040503050406030204" pitchFamily="18" charset="0"/>
                              <a:ea typeface="Cambria Math" panose="02040503050406030204" pitchFamily="18" charset="0"/>
                            </a:rPr>
                            <m:t>=</m:t>
                          </m:r>
                          <m:r>
                            <a:rPr lang="es-ES" sz="2000" b="0" i="1" dirty="0" smtClean="0">
                              <a:latin typeface="Cambria Math" panose="02040503050406030204" pitchFamily="18" charset="0"/>
                              <a:ea typeface="Cambria Math" panose="02040503050406030204" pitchFamily="18" charset="0"/>
                            </a:rPr>
                            <m:t>2</m:t>
                          </m:r>
                        </m:e>
                      </m:d>
                      <m:r>
                        <a:rPr lang="es-ES" sz="2000" b="0" i="1" smtClean="0">
                          <a:latin typeface="Cambria Math" panose="02040503050406030204" pitchFamily="18" charset="0"/>
                          <a:ea typeface="Cambria Math" panose="02040503050406030204" pitchFamily="18" charset="0"/>
                        </a:rPr>
                        <m:t>=</m:t>
                      </m:r>
                    </m:oMath>
                    <m:oMath xmlns:m="http://schemas.openxmlformats.org/officeDocument/2006/math">
                      <m:r>
                        <a:rPr lang="es-ES" sz="2000" b="0" i="1" smtClean="0">
                          <a:latin typeface="Cambria Math" panose="02040503050406030204" pitchFamily="18" charset="0"/>
                          <a:ea typeface="Cambria Math" panose="02040503050406030204" pitchFamily="18" charset="0"/>
                        </a:rPr>
                        <m:t>𝑃</m:t>
                      </m:r>
                      <m:d>
                        <m:dPr>
                          <m:ctrlPr>
                            <a:rPr lang="es-ES" sz="2000" b="0" i="1" smtClean="0">
                              <a:latin typeface="Cambria Math" panose="02040503050406030204" pitchFamily="18" charset="0"/>
                              <a:ea typeface="Cambria Math" panose="02040503050406030204" pitchFamily="18" charset="0"/>
                            </a:rPr>
                          </m:ctrlPr>
                        </m:dPr>
                        <m:e>
                          <m:r>
                            <a:rPr lang="es-ES" sz="2000" b="0" i="1" smtClean="0">
                              <a:latin typeface="Cambria Math" panose="02040503050406030204" pitchFamily="18" charset="0"/>
                              <a:ea typeface="Cambria Math" panose="02040503050406030204" pitchFamily="18" charset="0"/>
                            </a:rPr>
                            <m:t>1</m:t>
                          </m:r>
                        </m:e>
                      </m:d>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𝑃</m:t>
                      </m:r>
                      <m:d>
                        <m:dPr>
                          <m:ctrlPr>
                            <a:rPr lang="es-ES" sz="2000" b="0" i="1" smtClean="0">
                              <a:latin typeface="Cambria Math" panose="02040503050406030204" pitchFamily="18" charset="0"/>
                              <a:ea typeface="Cambria Math" panose="02040503050406030204" pitchFamily="18" charset="0"/>
                            </a:rPr>
                          </m:ctrlPr>
                        </m:dPr>
                        <m:e>
                          <m:r>
                            <a:rPr lang="es-ES" sz="2000" b="0" i="1" smtClean="0">
                              <a:latin typeface="Cambria Math" panose="02040503050406030204" pitchFamily="18" charset="0"/>
                              <a:ea typeface="Cambria Math" panose="02040503050406030204" pitchFamily="18" charset="0"/>
                            </a:rPr>
                            <m:t>2</m:t>
                          </m:r>
                        </m:e>
                      </m:d>
                      <m:r>
                        <a:rPr lang="es-ES" sz="2000" b="0" i="1" smtClean="0">
                          <a:latin typeface="Cambria Math" panose="02040503050406030204" pitchFamily="18" charset="0"/>
                          <a:ea typeface="Cambria Math" panose="02040503050406030204" pitchFamily="18" charset="0"/>
                        </a:rPr>
                        <m:t>=</m:t>
                      </m:r>
                    </m:oMath>
                    <m:oMath xmlns:m="http://schemas.openxmlformats.org/officeDocument/2006/math">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0" smtClean="0">
                          <a:latin typeface="Cambria Math" panose="02040503050406030204" pitchFamily="18" charset="0"/>
                          <a:ea typeface="Cambria Math" panose="02040503050406030204" pitchFamily="18" charset="0"/>
                        </a:rPr>
                        <m:t>375</m:t>
                      </m:r>
                      <m:r>
                        <a:rPr lang="es-ES" sz="2000" b="0" i="0" smtClean="0">
                          <a:latin typeface="Cambria Math" panose="02040503050406030204" pitchFamily="18" charset="0"/>
                          <a:ea typeface="Cambria Math" panose="02040503050406030204" pitchFamily="18" charset="0"/>
                        </a:rPr>
                        <m:t>+</m:t>
                      </m:r>
                      <m:r>
                        <a:rPr lang="es-ES" sz="2000" b="0" i="0" smtClean="0">
                          <a:latin typeface="Cambria Math" panose="02040503050406030204" pitchFamily="18" charset="0"/>
                          <a:ea typeface="Cambria Math" panose="02040503050406030204" pitchFamily="18" charset="0"/>
                        </a:rPr>
                        <m:t>0</m:t>
                      </m:r>
                      <m:r>
                        <a:rPr lang="es-ES" sz="2000" b="0" i="0" smtClean="0">
                          <a:latin typeface="Cambria Math" panose="02040503050406030204" pitchFamily="18" charset="0"/>
                          <a:ea typeface="Cambria Math" panose="02040503050406030204" pitchFamily="18" charset="0"/>
                        </a:rPr>
                        <m:t>.</m:t>
                      </m:r>
                      <m:r>
                        <a:rPr lang="es-ES" sz="2000" b="0" i="0" smtClean="0">
                          <a:latin typeface="Cambria Math" panose="02040503050406030204" pitchFamily="18" charset="0"/>
                          <a:ea typeface="Cambria Math" panose="02040503050406030204" pitchFamily="18" charset="0"/>
                        </a:rPr>
                        <m:t>375</m:t>
                      </m:r>
                      <m:r>
                        <a:rPr lang="es-ES" sz="2000" b="0" i="0" smtClean="0">
                          <a:latin typeface="Cambria Math" panose="02040503050406030204" pitchFamily="18" charset="0"/>
                          <a:ea typeface="Cambria Math" panose="02040503050406030204" pitchFamily="18" charset="0"/>
                        </a:rPr>
                        <m:t>=</m:t>
                      </m:r>
                      <m:r>
                        <a:rPr lang="es-ES" sz="2000" b="0" i="0" smtClean="0">
                          <a:latin typeface="Cambria Math" panose="02040503050406030204" pitchFamily="18" charset="0"/>
                          <a:ea typeface="Cambria Math" panose="02040503050406030204" pitchFamily="18" charset="0"/>
                        </a:rPr>
                        <m:t>0</m:t>
                      </m:r>
                      <m:r>
                        <a:rPr lang="es-ES" sz="2000" b="0" i="0" smtClean="0">
                          <a:latin typeface="Cambria Math" panose="02040503050406030204" pitchFamily="18" charset="0"/>
                          <a:ea typeface="Cambria Math" panose="02040503050406030204" pitchFamily="18" charset="0"/>
                        </a:rPr>
                        <m:t>.</m:t>
                      </m:r>
                      <m:r>
                        <a:rPr lang="es-ES" sz="2000" b="0" i="0" smtClean="0">
                          <a:latin typeface="Cambria Math" panose="02040503050406030204" pitchFamily="18" charset="0"/>
                          <a:ea typeface="Cambria Math" panose="02040503050406030204" pitchFamily="18" charset="0"/>
                        </a:rPr>
                        <m:t>75</m:t>
                      </m:r>
                    </m:oMath>
                  </m:oMathPara>
                </a14:m>
                <a:endParaRPr lang="es-ES" sz="2000" dirty="0"/>
              </a:p>
            </p:txBody>
          </p:sp>
        </mc:Choice>
        <mc:Fallback xmlns="">
          <p:sp>
            <p:nvSpPr>
              <p:cNvPr id="2" name="CuadroTexto 1">
                <a:extLst>
                  <a:ext uri="{FF2B5EF4-FFF2-40B4-BE49-F238E27FC236}">
                    <a16:creationId xmlns:a16="http://schemas.microsoft.com/office/drawing/2014/main" id="{2261A07C-FB3A-0D02-B69C-AB634A86E37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240989" y="4587380"/>
                <a:ext cx="3493645" cy="1323439"/>
              </a:xfrm>
              <a:prstGeom prst="rect">
                <a:avLst/>
              </a:prstGeom>
              <a:blipFill>
                <a:blip r:embed="rId7"/>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802423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Ejemplo 3.3 (Errores </a:t>
            </a:r>
            <a:r>
              <a:rPr lang="es-ES" sz="4000" spc="-1" dirty="0">
                <a:solidFill>
                  <a:srgbClr val="000000"/>
                </a:solidFill>
                <a:latin typeface="Calibri Light"/>
              </a:rPr>
              <a:t>en un programa</a:t>
            </a:r>
            <a:r>
              <a:rPr lang="es-ES" sz="4000" b="0" strike="noStrike" spc="-1" dirty="0">
                <a:solidFill>
                  <a:srgbClr val="000000"/>
                </a:solidFill>
                <a:latin typeface="Calibri Light"/>
              </a:rPr>
              <a:t>)</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01" name="PlaceHolder 2"/>
              <p:cNvSpPr>
                <a:spLocks noGrp="1"/>
              </p:cNvSpPr>
              <p:nvPr>
                <p:ph/>
              </p:nvPr>
            </p:nvSpPr>
            <p:spPr>
              <a:xfrm>
                <a:off x="838080" y="1825560"/>
                <a:ext cx="10515240" cy="4667400"/>
              </a:xfrm>
              <a:prstGeom prst="rect">
                <a:avLst/>
              </a:prstGeom>
              <a:noFill/>
              <a:ln w="0">
                <a:noFill/>
              </a:ln>
            </p:spPr>
            <p:txBody>
              <a:bodyPr anchor="t">
                <a:normAutofit fontScale="74000" lnSpcReduction="2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Un programa consta de dos módulos.</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El número de errores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r>
                      <a:rPr lang="es-ES" sz="2800" b="0" i="1" strike="noStrike" spc="-1" baseline="-25000" dirty="0">
                        <a:solidFill>
                          <a:srgbClr val="000000"/>
                        </a:solidFill>
                        <a:latin typeface="Cambria Math" panose="02040503050406030204" pitchFamily="18" charset="0"/>
                      </a:rPr>
                      <m:t>1</m:t>
                    </m:r>
                  </m:oMath>
                </a14:m>
                <a:r>
                  <a:rPr lang="es-ES" sz="2800" b="0" strike="noStrike" spc="-1" dirty="0">
                    <a:solidFill>
                      <a:srgbClr val="000000"/>
                    </a:solidFill>
                    <a:latin typeface="Calibri"/>
                  </a:rPr>
                  <a:t> en el primer módulo tiene la </a:t>
                </a:r>
                <a:r>
                  <a:rPr lang="es-ES" sz="2800" b="0" strike="noStrike" spc="-1" dirty="0" err="1">
                    <a:solidFill>
                      <a:srgbClr val="000000"/>
                    </a:solidFill>
                    <a:latin typeface="Calibri"/>
                  </a:rPr>
                  <a:t>pmf</a:t>
                </a:r>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𝑃</m:t>
                    </m:r>
                    <m:r>
                      <a:rPr lang="es-ES" sz="2800" b="0" i="1" strike="noStrike" spc="-1" baseline="-25000" dirty="0">
                        <a:solidFill>
                          <a:srgbClr val="000000"/>
                        </a:solidFill>
                        <a:latin typeface="Cambria Math" panose="02040503050406030204" pitchFamily="18" charset="0"/>
                      </a:rPr>
                      <m:t>1</m:t>
                    </m:r>
                    <m:r>
                      <a:rPr lang="es-ES" sz="2800" b="0" i="1" strike="noStrike" spc="-1" dirty="0">
                        <a:solidFill>
                          <a:srgbClr val="000000"/>
                        </a:solidFill>
                        <a:latin typeface="Cambria Math" panose="02040503050406030204" pitchFamily="18" charset="0"/>
                      </a:rPr>
                      <m:t>(</m:t>
                    </m:r>
                    <m:r>
                      <a:rPr lang="es-ES" sz="2800" b="0" i="1" strike="noStrike" spc="-1" dirty="0">
                        <a:solidFill>
                          <a:srgbClr val="000000"/>
                        </a:solidFill>
                        <a:latin typeface="Cambria Math" panose="02040503050406030204" pitchFamily="18" charset="0"/>
                      </a:rPr>
                      <m:t>𝑥</m:t>
                    </m:r>
                    <m:r>
                      <a:rPr lang="es-ES" sz="2800" b="0" i="1" strike="noStrike" spc="-1" dirty="0">
                        <a:solidFill>
                          <a:srgbClr val="000000"/>
                        </a:solidFill>
                        <a:latin typeface="Cambria Math" panose="02040503050406030204" pitchFamily="18" charset="0"/>
                      </a:rPr>
                      <m:t>)</m:t>
                    </m:r>
                  </m:oMath>
                </a14:m>
                <a:r>
                  <a:rPr lang="es-ES" sz="2800" b="0" strike="noStrike" spc="-1" dirty="0">
                    <a:solidFill>
                      <a:srgbClr val="000000"/>
                    </a:solidFill>
                    <a:latin typeface="Calibri"/>
                  </a:rPr>
                  <a:t>, y el número de errores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r>
                      <a:rPr lang="es-ES" sz="2800" b="0" i="1" strike="noStrike" spc="-1" baseline="-25000" dirty="0">
                        <a:solidFill>
                          <a:srgbClr val="000000"/>
                        </a:solidFill>
                        <a:latin typeface="Cambria Math" panose="02040503050406030204" pitchFamily="18" charset="0"/>
                      </a:rPr>
                      <m:t>2</m:t>
                    </m:r>
                  </m:oMath>
                </a14:m>
                <a:r>
                  <a:rPr lang="es-ES" sz="2800" b="0" strike="noStrike" spc="-1" dirty="0">
                    <a:solidFill>
                      <a:srgbClr val="000000"/>
                    </a:solidFill>
                    <a:latin typeface="Calibri"/>
                  </a:rPr>
                  <a:t> en el segundo módulo tiene la </a:t>
                </a:r>
                <a:r>
                  <a:rPr lang="es-ES" sz="2800" b="0" strike="noStrike" spc="-1" dirty="0" err="1">
                    <a:solidFill>
                      <a:srgbClr val="000000"/>
                    </a:solidFill>
                    <a:latin typeface="Calibri"/>
                  </a:rPr>
                  <a:t>pmf</a:t>
                </a:r>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𝑃</m:t>
                    </m:r>
                    <m:r>
                      <a:rPr lang="es-ES" sz="2800" b="0" i="1" strike="noStrike" spc="-1" baseline="-25000" dirty="0">
                        <a:solidFill>
                          <a:srgbClr val="000000"/>
                        </a:solidFill>
                        <a:latin typeface="Cambria Math" panose="02040503050406030204" pitchFamily="18" charset="0"/>
                      </a:rPr>
                      <m:t>2</m:t>
                    </m:r>
                    <m:r>
                      <a:rPr lang="es-ES" sz="2800" b="0" i="1" strike="noStrike" spc="-1" dirty="0">
                        <a:solidFill>
                          <a:srgbClr val="000000"/>
                        </a:solidFill>
                        <a:latin typeface="Cambria Math" panose="02040503050406030204" pitchFamily="18" charset="0"/>
                      </a:rPr>
                      <m:t>(</m:t>
                    </m:r>
                    <m:r>
                      <a:rPr lang="es-ES" sz="2800" b="0" i="1" strike="noStrike" spc="-1" dirty="0">
                        <a:solidFill>
                          <a:srgbClr val="000000"/>
                        </a:solidFill>
                        <a:latin typeface="Cambria Math" panose="02040503050406030204" pitchFamily="18" charset="0"/>
                      </a:rPr>
                      <m:t>𝑥</m:t>
                    </m:r>
                    <m:r>
                      <a:rPr lang="es-ES" sz="2800" b="0" i="1" strike="noStrike" spc="-1" dirty="0">
                        <a:solidFill>
                          <a:srgbClr val="000000"/>
                        </a:solidFill>
                        <a:latin typeface="Cambria Math" panose="02040503050406030204" pitchFamily="18" charset="0"/>
                      </a:rPr>
                      <m:t>)</m:t>
                    </m:r>
                  </m:oMath>
                </a14:m>
                <a:r>
                  <a:rPr lang="es-ES" sz="2800" b="0" strike="noStrike" spc="-1" dirty="0">
                    <a:solidFill>
                      <a:srgbClr val="000000"/>
                    </a:solidFill>
                    <a:latin typeface="Calibri"/>
                  </a:rPr>
                  <a:t>, independientemente de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r>
                      <a:rPr lang="es-ES" sz="2800" b="0" i="1" strike="noStrike" spc="-1" baseline="-25000" dirty="0">
                        <a:solidFill>
                          <a:srgbClr val="000000"/>
                        </a:solidFill>
                        <a:latin typeface="Cambria Math" panose="02040503050406030204" pitchFamily="18" charset="0"/>
                      </a:rPr>
                      <m:t>1</m:t>
                    </m:r>
                  </m:oMath>
                </a14:m>
                <a:r>
                  <a:rPr lang="es-ES" sz="2800" b="0" strike="noStrike" spc="-1" dirty="0">
                    <a:solidFill>
                      <a:srgbClr val="000000"/>
                    </a:solidFill>
                    <a:latin typeface="Calibri"/>
                  </a:rPr>
                  <a:t>, donde</a:t>
                </a: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1</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5</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7</m:t>
                    </m:r>
                  </m:oMath>
                </a14:m>
                <a:endParaRPr lang="es-ES" b="0" dirty="0"/>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1</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m:t>
                    </m:r>
                  </m:oMath>
                </a14:m>
                <a:endParaRPr lang="es-ES" b="0" dirty="0"/>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1</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m:t>
                    </m:r>
                  </m:oMath>
                </a14:m>
                <a:endParaRPr lang="es-ES" b="0" dirty="0"/>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1</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0</m:t>
                    </m:r>
                  </m:oMath>
                </a14:m>
                <a:endParaRPr lang="es-ES" b="0"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Si </a:t>
                </a:r>
                <a14:m>
                  <m:oMath xmlns:m="http://schemas.openxmlformats.org/officeDocument/2006/math">
                    <m:r>
                      <a:rPr lang="es-ES" b="0" i="1" strike="noStrike" spc="-1" dirty="0" smtClean="0">
                        <a:solidFill>
                          <a:srgbClr val="000000"/>
                        </a:solidFill>
                        <a:latin typeface="Cambria Math" panose="02040503050406030204" pitchFamily="18" charset="0"/>
                      </a:rPr>
                      <m:t>𝑌</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𝑛</m:t>
                    </m:r>
                    <m:r>
                      <a:rPr lang="es-ES" b="0" i="1" strike="noStrike" spc="-1" dirty="0" smtClean="0">
                        <a:solidFill>
                          <a:srgbClr val="000000"/>
                        </a:solidFill>
                        <a:latin typeface="Cambria Math" panose="02040503050406030204" pitchFamily="18" charset="0"/>
                      </a:rPr>
                      <m:t>ú</m:t>
                    </m:r>
                    <m:r>
                      <a:rPr lang="es-ES" b="0" i="1" strike="noStrike" spc="-1" dirty="0" smtClean="0">
                        <a:solidFill>
                          <a:srgbClr val="000000"/>
                        </a:solidFill>
                        <a:latin typeface="Cambria Math" panose="02040503050406030204" pitchFamily="18" charset="0"/>
                      </a:rPr>
                      <m:t>𝑚𝑒𝑟𝑜</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𝑡𝑜𝑡𝑎𝑙</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𝑑𝑒</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𝑒𝑟𝑟𝑜𝑟𝑒𝑠</m:t>
                    </m:r>
                    <m:r>
                      <a:rPr lang="es-ES" b="0" i="1" strike="noStrike" spc="-1" dirty="0" smtClean="0">
                        <a:solidFill>
                          <a:srgbClr val="000000"/>
                        </a:solidFill>
                        <a:latin typeface="Cambria Math" panose="02040503050406030204" pitchFamily="18" charset="0"/>
                      </a:rPr>
                      <m:t> = </m:t>
                    </m:r>
                    <m:sSub>
                      <m:sSubPr>
                        <m:ctrlPr>
                          <a:rPr lang="es-ES" b="0" i="1" strike="noStrike" spc="-1" dirty="0" smtClean="0">
                            <a:solidFill>
                              <a:srgbClr val="000000"/>
                            </a:solidFill>
                            <a:latin typeface="Cambria Math" panose="02040503050406030204" pitchFamily="18" charset="0"/>
                          </a:rPr>
                        </m:ctrlPr>
                      </m:sSubPr>
                      <m:e>
                        <m:r>
                          <a:rPr lang="es-ES" b="0" i="1" strike="noStrike" spc="-1" dirty="0" smtClean="0">
                            <a:solidFill>
                              <a:srgbClr val="000000"/>
                            </a:solidFill>
                            <a:latin typeface="Cambria Math" panose="02040503050406030204" pitchFamily="18" charset="0"/>
                          </a:rPr>
                          <m:t>𝑋</m:t>
                        </m:r>
                      </m:e>
                      <m:sub>
                        <m:r>
                          <a:rPr lang="es-ES" b="0" i="1" strike="noStrike" spc="-1" dirty="0" smtClean="0">
                            <a:solidFill>
                              <a:srgbClr val="000000"/>
                            </a:solidFill>
                            <a:latin typeface="Cambria Math" panose="02040503050406030204" pitchFamily="18" charset="0"/>
                          </a:rPr>
                          <m:t>1</m:t>
                        </m:r>
                      </m:sub>
                    </m:sSub>
                    <m:r>
                      <a:rPr lang="es-ES" b="0" i="1" strike="noStrike" spc="-1" dirty="0" smtClean="0">
                        <a:solidFill>
                          <a:srgbClr val="000000"/>
                        </a:solidFill>
                        <a:latin typeface="Cambria Math" panose="02040503050406030204" pitchFamily="18" charset="0"/>
                      </a:rPr>
                      <m:t>+ </m:t>
                    </m:r>
                    <m:sSub>
                      <m:sSubPr>
                        <m:ctrlPr>
                          <a:rPr lang="es-ES" b="0" i="1" strike="noStrike" spc="-1" dirty="0" smtClean="0">
                            <a:solidFill>
                              <a:srgbClr val="000000"/>
                            </a:solidFill>
                            <a:latin typeface="Cambria Math" panose="02040503050406030204" pitchFamily="18" charset="0"/>
                          </a:rPr>
                        </m:ctrlPr>
                      </m:sSubPr>
                      <m:e>
                        <m:r>
                          <a:rPr lang="es-ES" b="0" i="1" strike="noStrike" spc="-1" dirty="0" smtClean="0">
                            <a:solidFill>
                              <a:srgbClr val="000000"/>
                            </a:solidFill>
                            <a:latin typeface="Cambria Math" panose="02040503050406030204" pitchFamily="18" charset="0"/>
                          </a:rPr>
                          <m:t>𝑋</m:t>
                        </m:r>
                      </m:e>
                      <m:sub>
                        <m:r>
                          <a:rPr lang="es-ES" b="0" i="1" strike="noStrike" spc="-1" dirty="0" smtClean="0">
                            <a:solidFill>
                              <a:srgbClr val="000000"/>
                            </a:solidFill>
                            <a:latin typeface="Cambria Math" panose="02040503050406030204" pitchFamily="18" charset="0"/>
                          </a:rPr>
                          <m:t>2</m:t>
                        </m:r>
                      </m:sub>
                    </m:sSub>
                  </m:oMath>
                </a14:m>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Encontrar</a:t>
                </a:r>
              </a:p>
              <a:p>
                <a:pPr marL="914400" lvl="1" indent="-457200">
                  <a:spcBef>
                    <a:spcPts val="1001"/>
                  </a:spcBef>
                  <a:buClr>
                    <a:srgbClr val="000000"/>
                  </a:buClr>
                  <a:buFont typeface="+mj-lt"/>
                  <a:buAutoNum type="alphaLcParenR"/>
                </a:pPr>
                <a:r>
                  <a:rPr lang="es-ES" spc="-1" dirty="0">
                    <a:solidFill>
                      <a:srgbClr val="000000"/>
                    </a:solidFill>
                    <a:latin typeface="Calibri"/>
                  </a:rPr>
                  <a:t>L</a:t>
                </a:r>
                <a:r>
                  <a:rPr lang="es-ES" b="0" strike="noStrike" spc="-1" dirty="0">
                    <a:solidFill>
                      <a:srgbClr val="000000"/>
                    </a:solidFill>
                    <a:latin typeface="Calibri"/>
                  </a:rPr>
                  <a:t>a función de masa de probabilidad (</a:t>
                </a:r>
                <a:r>
                  <a:rPr lang="es-ES" b="0" strike="noStrike" spc="-1" dirty="0" err="1">
                    <a:solidFill>
                      <a:srgbClr val="000000"/>
                    </a:solidFill>
                    <a:latin typeface="Calibri"/>
                  </a:rPr>
                  <a:t>pmf</a:t>
                </a:r>
                <a:r>
                  <a:rPr lang="es-ES" b="0" strike="noStrike" spc="-1" dirty="0">
                    <a:solidFill>
                      <a:srgbClr val="000000"/>
                    </a:solidFill>
                    <a:latin typeface="Calibri"/>
                  </a:rPr>
                  <a:t>) de la variable aleatoria </a:t>
                </a:r>
                <a14:m>
                  <m:oMath xmlns:m="http://schemas.openxmlformats.org/officeDocument/2006/math">
                    <m:r>
                      <a:rPr lang="es-ES" b="0" i="1" strike="noStrike" spc="-1" dirty="0" smtClean="0">
                        <a:solidFill>
                          <a:srgbClr val="000000"/>
                        </a:solidFill>
                        <a:latin typeface="Cambria Math" panose="02040503050406030204" pitchFamily="18" charset="0"/>
                      </a:rPr>
                      <m:t>𝑌</m:t>
                    </m:r>
                  </m:oMath>
                </a14:m>
                <a:endParaRPr lang="es-ES" b="0" strike="noStrike" spc="-1" dirty="0">
                  <a:solidFill>
                    <a:srgbClr val="000000"/>
                  </a:solidFill>
                  <a:latin typeface="Calibri"/>
                </a:endParaRPr>
              </a:p>
              <a:p>
                <a:pPr marL="914400" lvl="1" indent="-457200">
                  <a:spcBef>
                    <a:spcPts val="1001"/>
                  </a:spcBef>
                  <a:buClr>
                    <a:srgbClr val="000000"/>
                  </a:buClr>
                  <a:buFont typeface="+mj-lt"/>
                  <a:buAutoNum type="alphaLcParenR"/>
                </a:pPr>
                <a:r>
                  <a:rPr lang="es-ES" b="0" strike="noStrike" spc="-1" dirty="0">
                    <a:solidFill>
                      <a:srgbClr val="000000"/>
                    </a:solidFill>
                    <a:latin typeface="Calibri"/>
                  </a:rPr>
                  <a:t>La función de distribución acumulada (</a:t>
                </a:r>
                <a:r>
                  <a:rPr lang="es-ES" b="0" strike="noStrike" spc="-1" dirty="0" err="1">
                    <a:solidFill>
                      <a:srgbClr val="000000"/>
                    </a:solidFill>
                    <a:latin typeface="Calibri"/>
                  </a:rPr>
                  <a:t>cdf</a:t>
                </a:r>
                <a:r>
                  <a:rPr lang="es-ES" b="0" strike="noStrike" spc="-1" dirty="0">
                    <a:solidFill>
                      <a:srgbClr val="000000"/>
                    </a:solidFill>
                    <a:latin typeface="Calibri"/>
                  </a:rPr>
                  <a:t>) de la variable aleatoria </a:t>
                </a:r>
                <a14:m>
                  <m:oMath xmlns:m="http://schemas.openxmlformats.org/officeDocument/2006/math">
                    <m:r>
                      <a:rPr lang="es-ES" b="0" i="1" strike="noStrike" spc="-1" dirty="0" smtClean="0">
                        <a:solidFill>
                          <a:srgbClr val="000000"/>
                        </a:solidFill>
                        <a:latin typeface="Cambria Math" panose="02040503050406030204" pitchFamily="18" charset="0"/>
                      </a:rPr>
                      <m:t>𝑌</m:t>
                    </m:r>
                  </m:oMath>
                </a14:m>
                <a:endParaRPr lang="es-ES" b="0" strike="noStrike" spc="-1" dirty="0">
                  <a:solidFill>
                    <a:srgbClr val="000000"/>
                  </a:solidFill>
                  <a:latin typeface="Calibri"/>
                </a:endParaRPr>
              </a:p>
              <a:p>
                <a:pPr marL="914400" lvl="1" indent="-457200">
                  <a:spcBef>
                    <a:spcPts val="1001"/>
                  </a:spcBef>
                  <a:buClr>
                    <a:srgbClr val="000000"/>
                  </a:buClr>
                  <a:buFont typeface="+mj-lt"/>
                  <a:buAutoNum type="alphaLcParenR"/>
                </a:pPr>
                <a:r>
                  <a:rPr lang="es-ES" spc="-1" dirty="0">
                    <a:solidFill>
                      <a:srgbClr val="000000"/>
                    </a:solidFill>
                  </a:rPr>
                  <a:t>Calcular </a:t>
                </a:r>
                <a14:m>
                  <m:oMath xmlns:m="http://schemas.openxmlformats.org/officeDocument/2006/math">
                    <m:r>
                      <a:rPr lang="es-ES" i="1" spc="-1" dirty="0">
                        <a:solidFill>
                          <a:srgbClr val="000000"/>
                        </a:solidFill>
                        <a:latin typeface="Cambria Math" panose="02040503050406030204" pitchFamily="18" charset="0"/>
                      </a:rPr>
                      <m:t>𝑃</m:t>
                    </m:r>
                    <m:r>
                      <a:rPr lang="es-ES" i="1" spc="-1" dirty="0">
                        <a:solidFill>
                          <a:srgbClr val="000000"/>
                        </a:solidFill>
                        <a:latin typeface="Cambria Math" panose="02040503050406030204" pitchFamily="18" charset="0"/>
                      </a:rPr>
                      <m:t>{</m:t>
                    </m:r>
                    <m:r>
                      <a:rPr lang="es-ES" i="1" spc="-1" dirty="0">
                        <a:solidFill>
                          <a:srgbClr val="000000"/>
                        </a:solidFill>
                        <a:latin typeface="Cambria Math" panose="02040503050406030204" pitchFamily="18" charset="0"/>
                      </a:rPr>
                      <m:t>𝑌</m:t>
                    </m:r>
                    <m:r>
                      <a:rPr lang="es-ES" b="0" i="1" spc="-1" dirty="0" smtClean="0">
                        <a:solidFill>
                          <a:srgbClr val="000000"/>
                        </a:solidFill>
                        <a:latin typeface="Cambria Math" panose="02040503050406030204" pitchFamily="18" charset="0"/>
                      </a:rPr>
                      <m:t>&lt;</m:t>
                    </m:r>
                    <m:r>
                      <a:rPr lang="es-ES" i="1" spc="-1" dirty="0">
                        <a:solidFill>
                          <a:srgbClr val="000000"/>
                        </a:solidFill>
                        <a:latin typeface="Cambria Math" panose="02040503050406030204" pitchFamily="18" charset="0"/>
                      </a:rPr>
                      <m:t>2</m:t>
                    </m:r>
                    <m:r>
                      <a:rPr lang="es-ES" i="1" spc="-1" dirty="0">
                        <a:solidFill>
                          <a:srgbClr val="000000"/>
                        </a:solidFill>
                        <a:latin typeface="Cambria Math" panose="02040503050406030204" pitchFamily="18" charset="0"/>
                      </a:rPr>
                      <m:t>}</m:t>
                    </m:r>
                  </m:oMath>
                </a14:m>
                <a:endParaRPr lang="es-ES" spc="-1" dirty="0">
                  <a:solidFill>
                    <a:srgbClr val="000000"/>
                  </a:solidFill>
                </a:endParaRPr>
              </a:p>
              <a:p>
                <a:pPr marL="914400" lvl="1" indent="-457200">
                  <a:spcBef>
                    <a:spcPts val="1001"/>
                  </a:spcBef>
                  <a:buClr>
                    <a:srgbClr val="000000"/>
                  </a:buClr>
                  <a:buFont typeface="+mj-lt"/>
                  <a:buAutoNum type="alphaLcParenR"/>
                </a:pPr>
                <a:r>
                  <a:rPr lang="es-ES" spc="-1" dirty="0">
                    <a:solidFill>
                      <a:srgbClr val="000000"/>
                    </a:solidFill>
                    <a:latin typeface="Calibri"/>
                  </a:rPr>
                  <a:t>Calcular </a:t>
                </a:r>
                <a14:m>
                  <m:oMath xmlns:m="http://schemas.openxmlformats.org/officeDocument/2006/math">
                    <m:r>
                      <a:rPr lang="es-ES" i="1" spc="-1" dirty="0" smtClean="0">
                        <a:solidFill>
                          <a:srgbClr val="000000"/>
                        </a:solidFill>
                        <a:latin typeface="Cambria Math" panose="02040503050406030204" pitchFamily="18" charset="0"/>
                      </a:rPr>
                      <m:t>𝑃</m:t>
                    </m:r>
                    <m:r>
                      <a:rPr lang="es-ES" i="1" spc="-1" dirty="0" smtClean="0">
                        <a:solidFill>
                          <a:srgbClr val="000000"/>
                        </a:solidFill>
                        <a:latin typeface="Cambria Math" panose="02040503050406030204" pitchFamily="18" charset="0"/>
                      </a:rPr>
                      <m:t>{</m:t>
                    </m:r>
                    <m:r>
                      <a:rPr lang="es-ES" i="1" spc="-1" dirty="0" smtClean="0">
                        <a:solidFill>
                          <a:srgbClr val="000000"/>
                        </a:solidFill>
                        <a:latin typeface="Cambria Math" panose="02040503050406030204" pitchFamily="18" charset="0"/>
                      </a:rPr>
                      <m:t>𝑌</m:t>
                    </m:r>
                    <m:r>
                      <a:rPr lang="es-ES" b="0" i="1" spc="-1" dirty="0" smtClean="0">
                        <a:solidFill>
                          <a:srgbClr val="000000"/>
                        </a:solidFill>
                        <a:latin typeface="Cambria Math" panose="02040503050406030204" pitchFamily="18" charset="0"/>
                      </a:rPr>
                      <m:t>&gt;</m:t>
                    </m:r>
                    <m:r>
                      <a:rPr lang="es-ES" b="0" i="1" spc="-1" dirty="0" smtClean="0">
                        <a:solidFill>
                          <a:srgbClr val="000000"/>
                        </a:solidFill>
                        <a:latin typeface="Cambria Math" panose="02040503050406030204" pitchFamily="18" charset="0"/>
                      </a:rPr>
                      <m:t>4</m:t>
                    </m:r>
                    <m:r>
                      <a:rPr lang="es-ES" i="1" spc="-1" dirty="0" smtClean="0">
                        <a:solidFill>
                          <a:srgbClr val="000000"/>
                        </a:solidFill>
                        <a:latin typeface="Cambria Math" panose="02040503050406030204" pitchFamily="18" charset="0"/>
                      </a:rPr>
                      <m:t>}</m:t>
                    </m:r>
                  </m:oMath>
                </a14:m>
                <a:endParaRPr lang="es-ES" spc="-1" dirty="0">
                  <a:solidFill>
                    <a:srgbClr val="000000"/>
                  </a:solidFill>
                  <a:latin typeface="Calibri"/>
                </a:endParaRPr>
              </a:p>
            </p:txBody>
          </p:sp>
        </mc:Choice>
        <mc:Fallback xmlns="">
          <p:sp>
            <p:nvSpPr>
              <p:cNvPr id="101" name="PlaceHolder 2"/>
              <p:cNvSpPr>
                <a:spLocks noGrp="1" noRot="1" noChangeAspect="1" noMove="1" noResize="1" noEditPoints="1" noAdjustHandles="1" noChangeArrowheads="1" noChangeShapeType="1" noTextEdit="1"/>
              </p:cNvSpPr>
              <p:nvPr>
                <p:ph/>
              </p:nvPr>
            </p:nvSpPr>
            <p:spPr>
              <a:xfrm>
                <a:off x="838080" y="1825560"/>
                <a:ext cx="10515240" cy="4667400"/>
              </a:xfrm>
              <a:prstGeom prst="rect">
                <a:avLst/>
              </a:prstGeom>
              <a:blipFill>
                <a:blip r:embed="rId2"/>
                <a:stretch>
                  <a:fillRect l="-580" t="-2480"/>
                </a:stretch>
              </a:blipFill>
              <a:ln w="0">
                <a:noFill/>
              </a:ln>
            </p:spPr>
            <p:txBody>
              <a:bodyPr/>
              <a:lstStyle/>
              <a:p>
                <a:r>
                  <a:rPr lang="es-ES">
                    <a:noFill/>
                  </a:rPr>
                  <a:t> </a:t>
                </a:r>
              </a:p>
            </p:txBody>
          </p:sp>
        </mc:Fallback>
      </mc:AlternateContent>
      <p:pic>
        <p:nvPicPr>
          <p:cNvPr id="102" name="Imagen 7">
            <a:extLst>
              <a:ext uri="{C183D7F6-B498-43B3-948B-1728B52AA6E4}">
                <adec:decorative xmlns:adec="http://schemas.microsoft.com/office/drawing/2017/decorative" val="1"/>
              </a:ext>
            </a:extLst>
          </p:cNvPr>
          <p:cNvPicPr/>
          <p:nvPr/>
        </p:nvPicPr>
        <p:blipFill>
          <a:blip r:embed="rId3"/>
          <a:stretch/>
        </p:blipFill>
        <p:spPr>
          <a:xfrm>
            <a:off x="8610480" y="3003467"/>
            <a:ext cx="2018880" cy="1571400"/>
          </a:xfrm>
          <a:prstGeom prst="rect">
            <a:avLst/>
          </a:prstGeom>
          <a:ln w="0">
            <a:noFill/>
          </a:ln>
        </p:spPr>
      </p:pic>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Ejemplo 3.3 (Solución) (I)</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04" name="PlaceHolder 2"/>
              <p:cNvSpPr>
                <a:spLocks noGrp="1"/>
              </p:cNvSpPr>
              <p:nvPr>
                <p:ph/>
              </p:nvPr>
            </p:nvSpPr>
            <p:spPr>
              <a:xfrm>
                <a:off x="838080" y="1825560"/>
                <a:ext cx="10515240" cy="4895640"/>
              </a:xfrm>
              <a:prstGeom prst="rect">
                <a:avLst/>
              </a:prstGeom>
              <a:noFill/>
              <a:ln w="0">
                <a:noFill/>
              </a:ln>
            </p:spPr>
            <p:txBody>
              <a:bodyPr anchor="t">
                <a:normAutofit fontScale="89000" lnSpcReduction="1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Dividimos el problema en pasos.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En primer lugar, determinar todos los valores posibles de Y,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A continuación, calcular la probabilidad de cada valor.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El número de errores Y es un entero que puede ser:</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tan bajo como 0 + 0 = 0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tan alto como 3 + 2 = 5, ya que P</a:t>
                </a:r>
                <a:r>
                  <a:rPr lang="es-ES" sz="2400" b="0" strike="noStrike" spc="-1" baseline="-25000" dirty="0">
                    <a:solidFill>
                      <a:srgbClr val="000000"/>
                    </a:solidFill>
                    <a:latin typeface="Calibri"/>
                  </a:rPr>
                  <a:t>2</a:t>
                </a:r>
                <a:r>
                  <a:rPr lang="es-ES" sz="2400" b="0" strike="noStrike" spc="-1" dirty="0">
                    <a:solidFill>
                      <a:srgbClr val="000000"/>
                    </a:solidFill>
                    <a:latin typeface="Calibri"/>
                  </a:rPr>
                  <a:t>(3) = 0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a) Función de la masa de probabilidad (</a:t>
                </a:r>
                <a:r>
                  <a:rPr lang="es-ES" sz="2800" b="0" strike="noStrike" spc="-1" dirty="0" err="1">
                    <a:solidFill>
                      <a:srgbClr val="000000"/>
                    </a:solidFill>
                    <a:latin typeface="Calibri"/>
                  </a:rPr>
                  <a:t>pmf</a:t>
                </a:r>
                <a:r>
                  <a:rPr lang="es-ES" sz="2800" b="0" strike="noStrike" spc="-1" dirty="0">
                    <a:solidFill>
                      <a:srgbClr val="000000"/>
                    </a:solidFill>
                    <a:latin typeface="Calibri"/>
                  </a:rPr>
                  <a:t>)</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i="1" smtClean="0">
                            <a:latin typeface="Cambria Math" panose="02040503050406030204" pitchFamily="18" charset="0"/>
                          </a:rPr>
                        </m:ctrlPr>
                      </m:dPr>
                      <m:e>
                        <m:r>
                          <a:rPr lang="es-ES" i="1">
                            <a:latin typeface="Cambria Math" panose="02040503050406030204" pitchFamily="18" charset="0"/>
                          </a:rPr>
                          <m:t>0</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𝑌</m:t>
                        </m:r>
                        <m:r>
                          <a:rPr lang="es-ES" i="1">
                            <a:latin typeface="Cambria Math" panose="02040503050406030204" pitchFamily="18" charset="0"/>
                          </a:rPr>
                          <m:t>=</m:t>
                        </m:r>
                        <m:r>
                          <a:rPr lang="es-ES" i="1">
                            <a:latin typeface="Cambria Math" panose="02040503050406030204" pitchFamily="18" charset="0"/>
                          </a:rPr>
                          <m:t>0</m:t>
                        </m:r>
                      </m:e>
                    </m:d>
                    <m:r>
                      <a:rPr lang="es-ES" i="1">
                        <a:latin typeface="Cambria Math" panose="02040503050406030204" pitchFamily="18" charset="0"/>
                      </a:rPr>
                      <m:t>=</m:t>
                    </m:r>
                    <m:r>
                      <a:rPr lang="es-ES" i="1" smtClean="0">
                        <a:latin typeface="Cambria Math" panose="02040503050406030204" pitchFamily="18" charset="0"/>
                      </a:rPr>
                      <m:t>𝑃</m:t>
                    </m:r>
                    <m:d>
                      <m:dPr>
                        <m:begChr m:val="{"/>
                        <m:endChr m:val="}"/>
                        <m:ctrlPr>
                          <a:rPr lang="es-ES" i="1" smtClean="0">
                            <a:latin typeface="Cambria Math" panose="02040503050406030204" pitchFamily="18" charset="0"/>
                          </a:rPr>
                        </m:ctrlPr>
                      </m:dPr>
                      <m:e>
                        <m:sSub>
                          <m:sSubPr>
                            <m:ctrlPr>
                              <a:rPr lang="es-ES" i="1" smtClean="0">
                                <a:latin typeface="Cambria Math" panose="02040503050406030204" pitchFamily="18" charset="0"/>
                              </a:rPr>
                            </m:ctrlPr>
                          </m:sSubPr>
                          <m:e>
                            <m:r>
                              <a:rPr lang="es-ES" b="0" i="1" smtClean="0">
                                <a:latin typeface="Cambria Math" panose="02040503050406030204" pitchFamily="18" charset="0"/>
                              </a:rPr>
                              <m:t>{</m:t>
                            </m:r>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m:t>
                        </m:r>
                        <m:r>
                          <a:rPr lang="es-ES" i="1">
                            <a:latin typeface="Cambria Math" panose="02040503050406030204" pitchFamily="18" charset="0"/>
                          </a:rPr>
                          <m:t>0</m:t>
                        </m:r>
                        <m:r>
                          <a:rPr lang="es-ES" b="0" i="1" smtClean="0">
                            <a:latin typeface="Cambria Math" panose="02040503050406030204" pitchFamily="18" charset="0"/>
                          </a:rPr>
                          <m:t>}</m:t>
                        </m:r>
                      </m:e>
                    </m:d>
                    <m:r>
                      <a:rPr lang="es-ES" i="1">
                        <a:latin typeface="Cambria Math" panose="02040503050406030204" pitchFamily="18" charset="0"/>
                      </a:rPr>
                      <m:t>=</m:t>
                    </m:r>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1</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b="0" i="1" smtClean="0">
                            <a:latin typeface="Cambria Math" panose="02040503050406030204" pitchFamily="18" charset="0"/>
                          </a:rPr>
                          <m:t>2</m:t>
                        </m:r>
                      </m:sub>
                    </m:sSub>
                    <m:d>
                      <m:dPr>
                        <m:ctrlPr>
                          <a:rPr lang="es-ES" i="1">
                            <a:latin typeface="Cambria Math" panose="02040503050406030204" pitchFamily="18" charset="0"/>
                          </a:rPr>
                        </m:ctrlPr>
                      </m:dPr>
                      <m:e>
                        <m:r>
                          <a:rPr lang="es-ES" i="1">
                            <a:latin typeface="Cambria Math" panose="02040503050406030204" pitchFamily="18" charset="0"/>
                          </a:rPr>
                          <m:t>0</m:t>
                        </m:r>
                      </m:e>
                    </m:d>
                    <m:r>
                      <a:rPr lang="es-ES" b="0" i="1" smtClean="0">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5</m:t>
                        </m:r>
                      </m:e>
                    </m:d>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7</m:t>
                        </m:r>
                      </m:e>
                    </m:d>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35</m:t>
                    </m:r>
                  </m:oMath>
                </a14:m>
                <a:endParaRPr lang="es-ES" i="1" dirty="0">
                  <a:latin typeface="Cambria Math" panose="02040503050406030204" pitchFamily="18" charset="0"/>
                </a:endParaRP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i="1" smtClean="0">
                            <a:latin typeface="Cambria Math" panose="02040503050406030204" pitchFamily="18" charset="0"/>
                          </a:rPr>
                        </m:ctrlPr>
                      </m:dPr>
                      <m:e>
                        <m:r>
                          <a:rPr lang="es-ES" b="0" i="1" smtClean="0">
                            <a:latin typeface="Cambria Math" panose="02040503050406030204" pitchFamily="18" charset="0"/>
                          </a:rPr>
                          <m:t>1</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𝑌</m:t>
                        </m:r>
                        <m:r>
                          <a:rPr lang="es-ES" i="1">
                            <a:latin typeface="Cambria Math" panose="02040503050406030204" pitchFamily="18" charset="0"/>
                          </a:rPr>
                          <m:t>=</m:t>
                        </m:r>
                        <m:r>
                          <a:rPr lang="es-ES" i="1">
                            <a:latin typeface="Cambria Math" panose="02040503050406030204" pitchFamily="18" charset="0"/>
                          </a:rPr>
                          <m:t>1</m:t>
                        </m:r>
                      </m:e>
                    </m:d>
                    <m:r>
                      <a:rPr lang="es-ES" i="1">
                        <a:latin typeface="Cambria Math" panose="02040503050406030204" pitchFamily="18" charset="0"/>
                      </a:rPr>
                      <m:t>=</m:t>
                    </m:r>
                    <m:d>
                      <m:dPr>
                        <m:ctrlPr>
                          <a:rPr lang="es-ES" b="0" i="1" smtClean="0">
                            <a:latin typeface="Cambria Math" panose="02040503050406030204" pitchFamily="18" charset="0"/>
                          </a:rPr>
                        </m:ctrlPr>
                      </m:dPr>
                      <m:e>
                        <m:r>
                          <a:rPr lang="es-ES" i="1" smtClean="0">
                            <a:latin typeface="Cambria Math" panose="02040503050406030204" pitchFamily="18" charset="0"/>
                          </a:rPr>
                          <m:t>𝑃</m:t>
                        </m:r>
                        <m:d>
                          <m:dPr>
                            <m:begChr m:val="{"/>
                            <m:endChr m:val="}"/>
                            <m:ctrlPr>
                              <a:rPr lang="es-ES" i="1" smtClean="0">
                                <a:latin typeface="Cambria Math" panose="02040503050406030204" pitchFamily="18" charset="0"/>
                              </a:rPr>
                            </m:ctrlPr>
                          </m:dPr>
                          <m:e>
                            <m:sSub>
                              <m:sSubPr>
                                <m:ctrlPr>
                                  <a:rPr lang="es-ES"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𝑃</m:t>
                            </m:r>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m:t>
                            </m:r>
                            <m:r>
                              <a:rPr lang="es-ES" b="0" i="1" smtClean="0">
                                <a:latin typeface="Cambria Math" panose="02040503050406030204" pitchFamily="18" charset="0"/>
                              </a:rPr>
                              <m:t>1</m:t>
                            </m:r>
                          </m:e>
                        </m:d>
                      </m:e>
                    </m:d>
                    <m:r>
                      <a:rPr lang="es-ES" b="0" i="1" smtClean="0">
                        <a:latin typeface="Cambria Math" panose="02040503050406030204" pitchFamily="18" charset="0"/>
                      </a:rPr>
                      <m:t>+</m:t>
                    </m:r>
                    <m:d>
                      <m:dPr>
                        <m:ctrlPr>
                          <a:rPr lang="es-ES" b="0" i="1" smtClean="0">
                            <a:latin typeface="Cambria Math" panose="02040503050406030204" pitchFamily="18" charset="0"/>
                            <a:ea typeface="Cambria Math" panose="02040503050406030204" pitchFamily="18" charset="0"/>
                          </a:rPr>
                        </m:ctrlPr>
                      </m:dPr>
                      <m:e>
                        <m:r>
                          <a:rPr lang="es-ES" i="1">
                            <a:latin typeface="Cambria Math" panose="02040503050406030204" pitchFamily="18" charset="0"/>
                          </a:rPr>
                          <m:t>𝑃</m:t>
                        </m:r>
                        <m:d>
                          <m:dPr>
                            <m:begChr m:val="{"/>
                            <m:endChr m:val="}"/>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1</m:t>
                                </m:r>
                              </m:sub>
                            </m:sSub>
                            <m:r>
                              <a:rPr lang="es-ES" i="1">
                                <a:latin typeface="Cambria Math" panose="02040503050406030204" pitchFamily="18" charset="0"/>
                              </a:rPr>
                              <m:t>=</m:t>
                            </m:r>
                            <m:r>
                              <a:rPr lang="es-ES" b="0" i="1" smtClean="0">
                                <a:latin typeface="Cambria Math" panose="02040503050406030204" pitchFamily="18" charset="0"/>
                              </a:rPr>
                              <m:t>1</m:t>
                            </m:r>
                            <m:r>
                              <a:rPr lang="es-ES" i="1">
                                <a:latin typeface="Cambria Math" panose="02040503050406030204" pitchFamily="18" charset="0"/>
                              </a:rPr>
                              <m:t>}</m:t>
                            </m:r>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𝑃</m:t>
                            </m:r>
                            <m:r>
                              <a:rPr lang="es-ES" i="1">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2</m:t>
                                </m:r>
                              </m:sub>
                            </m:sSub>
                            <m:r>
                              <a:rPr lang="es-ES" i="1">
                                <a:latin typeface="Cambria Math" panose="02040503050406030204" pitchFamily="18" charset="0"/>
                              </a:rPr>
                              <m:t>=</m:t>
                            </m:r>
                            <m:r>
                              <a:rPr lang="es-ES" b="0" i="1" smtClean="0">
                                <a:latin typeface="Cambria Math" panose="02040503050406030204" pitchFamily="18" charset="0"/>
                              </a:rPr>
                              <m:t>0</m:t>
                            </m:r>
                          </m:e>
                        </m:d>
                      </m:e>
                    </m:d>
                    <m:r>
                      <a:rPr lang="es-ES" i="1">
                        <a:latin typeface="Cambria Math" panose="02040503050406030204" pitchFamily="18" charset="0"/>
                      </a:rPr>
                      <m:t>=</m:t>
                    </m:r>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1</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b="0" i="1" smtClean="0">
                            <a:latin typeface="Cambria Math" panose="02040503050406030204" pitchFamily="18" charset="0"/>
                          </a:rPr>
                          <m:t>2</m:t>
                        </m:r>
                      </m:sub>
                    </m:sSub>
                    <m:d>
                      <m:dPr>
                        <m:ctrlPr>
                          <a:rPr lang="es-ES" i="1">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1</m:t>
                        </m:r>
                      </m:sub>
                    </m:sSub>
                    <m:d>
                      <m:dPr>
                        <m:ctrlPr>
                          <a:rPr lang="es-ES" i="1">
                            <a:latin typeface="Cambria Math" panose="02040503050406030204" pitchFamily="18" charset="0"/>
                          </a:rPr>
                        </m:ctrlPr>
                      </m:dPr>
                      <m:e>
                        <m:r>
                          <a:rPr lang="es-ES" b="0" i="1" smtClean="0">
                            <a:latin typeface="Cambria Math" panose="02040503050406030204" pitchFamily="18" charset="0"/>
                          </a:rPr>
                          <m:t>1</m:t>
                        </m:r>
                      </m:e>
                    </m:d>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2</m:t>
                        </m:r>
                      </m:sub>
                    </m:sSub>
                    <m:d>
                      <m:dPr>
                        <m:ctrlPr>
                          <a:rPr lang="es-ES" i="1">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5</m:t>
                        </m:r>
                      </m:e>
                    </m:d>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7</m:t>
                    </m:r>
                    <m:r>
                      <a:rPr lang="es-ES" b="0" i="1" smtClean="0">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31</m:t>
                    </m:r>
                  </m:oMath>
                </a14:m>
                <a:endParaRPr lang="es-ES" dirty="0"/>
              </a:p>
              <a:p>
                <a:pPr lvl="1"/>
                <a:r>
                  <a:rPr lang="es-ES" dirty="0"/>
                  <a:t>…</a:t>
                </a: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𝑌</m:t>
                        </m:r>
                      </m:sub>
                    </m:sSub>
                    <m:d>
                      <m:dPr>
                        <m:ctrlPr>
                          <a:rPr lang="es-ES" i="1">
                            <a:latin typeface="Cambria Math" panose="02040503050406030204" pitchFamily="18" charset="0"/>
                          </a:rPr>
                        </m:ctrlPr>
                      </m:dPr>
                      <m:e>
                        <m:r>
                          <a:rPr lang="es-ES" b="0" i="1" smtClean="0">
                            <a:latin typeface="Cambria Math" panose="02040503050406030204" pitchFamily="18" charset="0"/>
                          </a:rPr>
                          <m:t>5</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𝑌</m:t>
                        </m:r>
                        <m:r>
                          <a:rPr lang="es-ES" i="1">
                            <a:latin typeface="Cambria Math" panose="02040503050406030204" pitchFamily="18" charset="0"/>
                          </a:rPr>
                          <m:t>=</m:t>
                        </m:r>
                        <m:r>
                          <a:rPr lang="es-ES" i="1">
                            <a:latin typeface="Cambria Math" panose="02040503050406030204" pitchFamily="18" charset="0"/>
                          </a:rPr>
                          <m:t>5</m:t>
                        </m:r>
                      </m:e>
                    </m:d>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1</m:t>
                        </m:r>
                      </m:sub>
                    </m:sSub>
                    <m:d>
                      <m:dPr>
                        <m:ctrlPr>
                          <a:rPr lang="es-ES" i="1">
                            <a:latin typeface="Cambria Math" panose="02040503050406030204" pitchFamily="18" charset="0"/>
                          </a:rPr>
                        </m:ctrlPr>
                      </m:dPr>
                      <m:e>
                        <m:r>
                          <a:rPr lang="es-ES" b="0" i="1" smtClean="0">
                            <a:latin typeface="Cambria Math" panose="02040503050406030204" pitchFamily="18" charset="0"/>
                          </a:rPr>
                          <m:t>3</m:t>
                        </m:r>
                      </m:e>
                    </m:d>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2</m:t>
                        </m:r>
                      </m:sub>
                    </m:sSub>
                    <m:d>
                      <m:dPr>
                        <m:ctrlPr>
                          <a:rPr lang="es-ES" i="1">
                            <a:latin typeface="Cambria Math" panose="02040503050406030204" pitchFamily="18" charset="0"/>
                          </a:rPr>
                        </m:ctrlPr>
                      </m:dPr>
                      <m:e>
                        <m:r>
                          <a:rPr lang="es-ES" b="0" i="1" smtClean="0">
                            <a:latin typeface="Cambria Math" panose="02040503050406030204" pitchFamily="18" charset="0"/>
                          </a:rPr>
                          <m:t>2</m:t>
                        </m:r>
                      </m:e>
                    </m:d>
                    <m:r>
                      <a:rPr lang="es-ES" i="1">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1</m:t>
                        </m:r>
                      </m:e>
                    </m:d>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1</m:t>
                        </m:r>
                      </m:e>
                    </m:d>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01</m:t>
                    </m:r>
                  </m:oMath>
                </a14:m>
                <a:endParaRPr lang="es-ES" i="1" dirty="0">
                  <a:latin typeface="Cambria Math" panose="02040503050406030204" pitchFamily="18" charset="0"/>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Se puede comprobar que la suma de las probabilidades es 1</a:t>
                </a:r>
              </a:p>
              <a:p>
                <a:pPr lvl="2">
                  <a:spcBef>
                    <a:spcPts val="499"/>
                  </a:spcBef>
                  <a:buClr>
                    <a:srgbClr val="000000"/>
                  </a:buClr>
                  <a:buFont typeface="Arial"/>
                  <a:buChar char="•"/>
                </a:pPr>
                <a14:m>
                  <m:oMath xmlns:m="http://schemas.openxmlformats.org/officeDocument/2006/math">
                    <m:nary>
                      <m:naryPr>
                        <m:chr m:val="∑"/>
                        <m:ctrlPr>
                          <a:rPr lang="es-ES" i="1" smtClean="0">
                            <a:latin typeface="Cambria Math" panose="02040503050406030204" pitchFamily="18" charset="0"/>
                          </a:rPr>
                        </m:ctrlPr>
                      </m:naryPr>
                      <m:sub>
                        <m:r>
                          <m:rPr>
                            <m:brk m:alnAt="23"/>
                          </m:rPr>
                          <a:rPr lang="es-ES" b="0" i="1" smtClean="0">
                            <a:latin typeface="Cambria Math" panose="02040503050406030204" pitchFamily="18" charset="0"/>
                          </a:rPr>
                          <m:t>𝑦</m:t>
                        </m:r>
                        <m:r>
                          <a:rPr lang="es-ES" b="0" i="1" smtClean="0">
                            <a:latin typeface="Cambria Math" panose="02040503050406030204" pitchFamily="18" charset="0"/>
                          </a:rPr>
                          <m:t>=</m:t>
                        </m:r>
                        <m:r>
                          <a:rPr lang="es-ES" b="0" i="1" smtClean="0">
                            <a:latin typeface="Cambria Math" panose="02040503050406030204" pitchFamily="18" charset="0"/>
                          </a:rPr>
                          <m:t>0</m:t>
                        </m:r>
                      </m:sub>
                      <m:sup>
                        <m:r>
                          <a:rPr lang="es-ES" b="0" i="1" smtClean="0">
                            <a:latin typeface="Cambria Math" panose="02040503050406030204" pitchFamily="18" charset="0"/>
                          </a:rPr>
                          <m:t>5</m:t>
                        </m:r>
                      </m:sup>
                      <m:e>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𝑦</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35</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31</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18</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12</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02</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01</m:t>
                        </m:r>
                        <m:r>
                          <a:rPr lang="es-ES" b="0" i="1" smtClean="0">
                            <a:latin typeface="Cambria Math" panose="02040503050406030204" pitchFamily="18" charset="0"/>
                          </a:rPr>
                          <m:t>=</m:t>
                        </m:r>
                        <m:r>
                          <a:rPr lang="es-ES" b="0" i="1" smtClean="0">
                            <a:latin typeface="Cambria Math" panose="02040503050406030204" pitchFamily="18" charset="0"/>
                          </a:rPr>
                          <m:t>1</m:t>
                        </m:r>
                      </m:e>
                    </m:nary>
                  </m:oMath>
                </a14:m>
                <a:endParaRPr lang="es-ES" b="0" strike="noStrike" spc="-1" dirty="0">
                  <a:solidFill>
                    <a:srgbClr val="000000"/>
                  </a:solidFill>
                  <a:latin typeface="Calibri"/>
                </a:endParaRPr>
              </a:p>
              <a:p>
                <a:pPr>
                  <a:lnSpc>
                    <a:spcPct val="90000"/>
                  </a:lnSpc>
                  <a:spcBef>
                    <a:spcPts val="1417"/>
                  </a:spcBef>
                  <a:buNone/>
                </a:pPr>
                <a:endParaRPr lang="es-ES" sz="20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p:txBody>
          </p:sp>
        </mc:Choice>
        <mc:Fallback xmlns="">
          <p:sp>
            <p:nvSpPr>
              <p:cNvPr id="104" name="PlaceHolder 2"/>
              <p:cNvSpPr>
                <a:spLocks noGrp="1" noRot="1" noChangeAspect="1" noMove="1" noResize="1" noEditPoints="1" noAdjustHandles="1" noChangeArrowheads="1" noChangeShapeType="1" noTextEdit="1"/>
              </p:cNvSpPr>
              <p:nvPr>
                <p:ph/>
              </p:nvPr>
            </p:nvSpPr>
            <p:spPr>
              <a:xfrm>
                <a:off x="838080" y="1825560"/>
                <a:ext cx="10515240" cy="4895640"/>
              </a:xfrm>
              <a:prstGeom prst="rect">
                <a:avLst/>
              </a:prstGeom>
              <a:blipFill>
                <a:blip r:embed="rId2"/>
                <a:stretch>
                  <a:fillRect l="-812" t="-2239" b="-13184"/>
                </a:stretch>
              </a:blipFill>
              <a:ln w="0">
                <a:noFill/>
              </a:ln>
            </p:spPr>
            <p:txBody>
              <a:bodyPr/>
              <a:lstStyle/>
              <a:p>
                <a:r>
                  <a:rPr lang="es-ES">
                    <a:noFill/>
                  </a:rPr>
                  <a:t> </a:t>
                </a:r>
              </a:p>
            </p:txBody>
          </p:sp>
        </mc:Fallback>
      </mc:AlternateContent>
      <p:pic>
        <p:nvPicPr>
          <p:cNvPr id="105" name="Imagen 2">
            <a:extLst>
              <a:ext uri="{C183D7F6-B498-43B3-948B-1728B52AA6E4}">
                <adec:decorative xmlns:adec="http://schemas.microsoft.com/office/drawing/2017/decorative" val="1"/>
              </a:ext>
            </a:extLst>
          </p:cNvPr>
          <p:cNvPicPr/>
          <p:nvPr/>
        </p:nvPicPr>
        <p:blipFill>
          <a:blip r:embed="rId3"/>
          <a:stretch/>
        </p:blipFill>
        <p:spPr>
          <a:xfrm>
            <a:off x="9104040" y="2087640"/>
            <a:ext cx="2018880" cy="1571400"/>
          </a:xfrm>
          <a:prstGeom prst="rect">
            <a:avLst/>
          </a:prstGeom>
          <a:ln w="0">
            <a:noFill/>
          </a:ln>
        </p:spPr>
      </p:pic>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Ejemplo 3.3 (Solución) (II)</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07"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pc="-1" dirty="0">
                    <a:solidFill>
                      <a:srgbClr val="000000"/>
                    </a:solidFill>
                    <a:latin typeface="Calibri"/>
                  </a:rPr>
                  <a:t>b</a:t>
                </a:r>
                <a:r>
                  <a:rPr lang="es-ES" sz="2800" b="0" strike="noStrike" spc="-1" dirty="0">
                    <a:solidFill>
                      <a:srgbClr val="000000"/>
                    </a:solidFill>
                    <a:latin typeface="Calibri"/>
                  </a:rPr>
                  <a:t>) Función de distribución acumulada (</a:t>
                </a:r>
                <a:r>
                  <a:rPr lang="es-ES" sz="2800" b="0" strike="noStrike" spc="-1" dirty="0" err="1">
                    <a:solidFill>
                      <a:srgbClr val="000000"/>
                    </a:solidFill>
                    <a:latin typeface="Calibri"/>
                  </a:rPr>
                  <a:t>cdf</a:t>
                </a:r>
                <a:r>
                  <a:rPr lang="es-ES" sz="2800" b="0" strike="noStrike" spc="-1" dirty="0">
                    <a:solidFill>
                      <a:srgbClr val="000000"/>
                    </a:solidFill>
                    <a:latin typeface="Calibri"/>
                  </a:rPr>
                  <a:t>)</a:t>
                </a:r>
              </a:p>
              <a:p>
                <a:pPr lvl="1"/>
                <a14:m>
                  <m:oMath xmlns:m="http://schemas.openxmlformats.org/officeDocument/2006/math">
                    <m:sSub>
                      <m:sSubPr>
                        <m:ctrlPr>
                          <a:rPr lang="pl-PL" i="1" smtClean="0">
                            <a:latin typeface="Cambria Math" panose="02040503050406030204" pitchFamily="18" charset="0"/>
                            <a:cs typeface="Calibri" panose="020F0502020204030204" pitchFamily="34" charset="0"/>
                          </a:rPr>
                        </m:ctrlPr>
                      </m:sSubPr>
                      <m:e>
                        <m:r>
                          <a:rPr lang="es-ES" b="0" i="1" smtClean="0">
                            <a:latin typeface="Cambria Math" panose="02040503050406030204" pitchFamily="18" charset="0"/>
                            <a:cs typeface="Calibri" panose="020F0502020204030204" pitchFamily="34" charset="0"/>
                          </a:rPr>
                          <m:t>𝐹</m:t>
                        </m:r>
                      </m:e>
                      <m:sub>
                        <m:r>
                          <a:rPr lang="es-ES" b="0" i="1" smtClean="0">
                            <a:latin typeface="Cambria Math" panose="02040503050406030204" pitchFamily="18" charset="0"/>
                            <a:cs typeface="Calibri" panose="020F0502020204030204" pitchFamily="34" charset="0"/>
                          </a:rPr>
                          <m:t>𝑌</m:t>
                        </m:r>
                      </m:sub>
                    </m:sSub>
                    <m:d>
                      <m:dPr>
                        <m:ctrlPr>
                          <a:rPr lang="es-ES" b="0" i="1" smtClean="0">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0</m:t>
                        </m:r>
                      </m:e>
                    </m:d>
                    <m:r>
                      <a:rPr lang="es-ES" b="0" i="1" smtClean="0">
                        <a:latin typeface="Cambria Math" panose="02040503050406030204" pitchFamily="18" charset="0"/>
                        <a:cs typeface="Calibri" panose="020F0502020204030204" pitchFamily="34" charset="0"/>
                      </a:rPr>
                      <m:t>=</m:t>
                    </m:r>
                    <m:sSub>
                      <m:sSubPr>
                        <m:ctrlPr>
                          <a:rPr lang="es-ES" b="0" i="1" smtClean="0">
                            <a:latin typeface="Cambria Math" panose="02040503050406030204" pitchFamily="18" charset="0"/>
                            <a:cs typeface="Calibri" panose="020F0502020204030204" pitchFamily="34" charset="0"/>
                          </a:rPr>
                        </m:ctrlPr>
                      </m:sSubPr>
                      <m:e>
                        <m:r>
                          <a:rPr lang="es-ES" b="0" i="1" smtClean="0">
                            <a:latin typeface="Cambria Math" panose="02040503050406030204" pitchFamily="18" charset="0"/>
                            <a:cs typeface="Calibri" panose="020F0502020204030204" pitchFamily="34" charset="0"/>
                          </a:rPr>
                          <m:t>𝑃</m:t>
                        </m:r>
                      </m:e>
                      <m:sub>
                        <m:r>
                          <a:rPr lang="es-ES" b="0" i="1" smtClean="0">
                            <a:latin typeface="Cambria Math" panose="02040503050406030204" pitchFamily="18" charset="0"/>
                            <a:cs typeface="Calibri" panose="020F0502020204030204" pitchFamily="34" charset="0"/>
                          </a:rPr>
                          <m:t>𝑌</m:t>
                        </m:r>
                      </m:sub>
                    </m:sSub>
                    <m:d>
                      <m:dPr>
                        <m:ctrlPr>
                          <a:rPr lang="es-ES" b="0" i="1" smtClean="0">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0</m:t>
                        </m:r>
                      </m:e>
                    </m:d>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35</m:t>
                    </m:r>
                  </m:oMath>
                </a14:m>
                <a:endParaRPr lang="es-ES" dirty="0">
                  <a:latin typeface="Calibri" panose="020F0502020204030204" pitchFamily="34" charset="0"/>
                  <a:cs typeface="Calibri" panose="020F0502020204030204" pitchFamily="34" charset="0"/>
                </a:endParaRPr>
              </a:p>
              <a:p>
                <a:pPr lvl="1"/>
                <a14:m>
                  <m:oMath xmlns:m="http://schemas.openxmlformats.org/officeDocument/2006/math">
                    <m:sSub>
                      <m:sSubPr>
                        <m:ctrlPr>
                          <a:rPr lang="pl-PL" i="1" smtClean="0">
                            <a:latin typeface="Cambria Math" panose="02040503050406030204" pitchFamily="18" charset="0"/>
                            <a:cs typeface="Calibri" panose="020F0502020204030204" pitchFamily="34" charset="0"/>
                          </a:rPr>
                        </m:ctrlPr>
                      </m:sSubPr>
                      <m:e>
                        <m:r>
                          <a:rPr lang="es-ES" b="0" i="1" smtClean="0">
                            <a:latin typeface="Cambria Math" panose="02040503050406030204" pitchFamily="18" charset="0"/>
                            <a:cs typeface="Calibri" panose="020F0502020204030204" pitchFamily="34" charset="0"/>
                          </a:rPr>
                          <m:t>𝐹</m:t>
                        </m:r>
                      </m:e>
                      <m:sub>
                        <m:r>
                          <a:rPr lang="es-ES" b="0" i="1" smtClean="0">
                            <a:latin typeface="Cambria Math" panose="02040503050406030204" pitchFamily="18" charset="0"/>
                            <a:cs typeface="Calibri" panose="020F0502020204030204" pitchFamily="34" charset="0"/>
                          </a:rPr>
                          <m:t>𝑌</m:t>
                        </m:r>
                      </m:sub>
                    </m:sSub>
                    <m:d>
                      <m:dPr>
                        <m:ctrlPr>
                          <a:rPr lang="es-ES" b="0" i="1" smtClean="0">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1</m:t>
                        </m:r>
                      </m:e>
                    </m:d>
                    <m:r>
                      <a:rPr lang="es-ES" b="0" i="1" smtClean="0">
                        <a:latin typeface="Cambria Math" panose="02040503050406030204" pitchFamily="18" charset="0"/>
                        <a:cs typeface="Calibri" panose="020F0502020204030204" pitchFamily="34" charset="0"/>
                      </a:rPr>
                      <m:t>=</m:t>
                    </m:r>
                    <m:sSub>
                      <m:sSubPr>
                        <m:ctrlPr>
                          <a:rPr lang="pl-PL" i="1">
                            <a:latin typeface="Cambria Math" panose="02040503050406030204" pitchFamily="18" charset="0"/>
                            <a:cs typeface="Calibri" panose="020F0502020204030204" pitchFamily="34" charset="0"/>
                          </a:rPr>
                        </m:ctrlPr>
                      </m:sSubPr>
                      <m:e>
                        <m:r>
                          <a:rPr lang="es-ES" i="1">
                            <a:latin typeface="Cambria Math" panose="02040503050406030204" pitchFamily="18" charset="0"/>
                            <a:cs typeface="Calibri" panose="020F0502020204030204" pitchFamily="34" charset="0"/>
                          </a:rPr>
                          <m:t>𝐹</m:t>
                        </m:r>
                      </m:e>
                      <m:sub>
                        <m:r>
                          <a:rPr lang="es-ES" i="1">
                            <a:latin typeface="Cambria Math" panose="02040503050406030204" pitchFamily="18" charset="0"/>
                            <a:cs typeface="Calibri" panose="020F0502020204030204" pitchFamily="34" charset="0"/>
                          </a:rPr>
                          <m:t>𝑌</m:t>
                        </m:r>
                      </m:sub>
                    </m:sSub>
                    <m:d>
                      <m:dPr>
                        <m:ctrlPr>
                          <a:rPr lang="es-ES" i="1">
                            <a:latin typeface="Cambria Math" panose="02040503050406030204" pitchFamily="18" charset="0"/>
                            <a:cs typeface="Calibri" panose="020F0502020204030204" pitchFamily="34" charset="0"/>
                          </a:rPr>
                        </m:ctrlPr>
                      </m:dPr>
                      <m:e>
                        <m:r>
                          <a:rPr lang="es-ES" i="1">
                            <a:latin typeface="Cambria Math" panose="02040503050406030204" pitchFamily="18" charset="0"/>
                            <a:cs typeface="Calibri" panose="020F0502020204030204" pitchFamily="34" charset="0"/>
                          </a:rPr>
                          <m:t>0</m:t>
                        </m:r>
                      </m:e>
                    </m:d>
                    <m:r>
                      <a:rPr lang="es-ES" b="0" i="1" smtClean="0">
                        <a:latin typeface="Cambria Math" panose="02040503050406030204" pitchFamily="18" charset="0"/>
                        <a:cs typeface="Calibri" panose="020F0502020204030204" pitchFamily="34" charset="0"/>
                      </a:rPr>
                      <m:t>+</m:t>
                    </m:r>
                    <m:sSub>
                      <m:sSubPr>
                        <m:ctrlPr>
                          <a:rPr lang="es-ES" b="0" i="1" smtClean="0">
                            <a:latin typeface="Cambria Math" panose="02040503050406030204" pitchFamily="18" charset="0"/>
                            <a:cs typeface="Calibri" panose="020F0502020204030204" pitchFamily="34" charset="0"/>
                          </a:rPr>
                        </m:ctrlPr>
                      </m:sSubPr>
                      <m:e>
                        <m:r>
                          <a:rPr lang="es-ES" b="0" i="1" smtClean="0">
                            <a:latin typeface="Cambria Math" panose="02040503050406030204" pitchFamily="18" charset="0"/>
                            <a:cs typeface="Calibri" panose="020F0502020204030204" pitchFamily="34" charset="0"/>
                          </a:rPr>
                          <m:t>𝑃</m:t>
                        </m:r>
                      </m:e>
                      <m:sub>
                        <m:r>
                          <a:rPr lang="es-ES" b="0" i="1" smtClean="0">
                            <a:latin typeface="Cambria Math" panose="02040503050406030204" pitchFamily="18" charset="0"/>
                            <a:cs typeface="Calibri" panose="020F0502020204030204" pitchFamily="34" charset="0"/>
                          </a:rPr>
                          <m:t>𝑌</m:t>
                        </m:r>
                      </m:sub>
                    </m:sSub>
                    <m:d>
                      <m:dPr>
                        <m:ctrlPr>
                          <a:rPr lang="es-ES" b="0" i="1" smtClean="0">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1</m:t>
                        </m:r>
                      </m:e>
                    </m:d>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35</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31</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66</m:t>
                    </m:r>
                    <m:r>
                      <a:rPr lang="es-ES" b="0" i="1" smtClean="0">
                        <a:latin typeface="Cambria Math" panose="02040503050406030204" pitchFamily="18" charset="0"/>
                        <a:cs typeface="Calibri" panose="020F0502020204030204" pitchFamily="34" charset="0"/>
                      </a:rPr>
                      <m:t> </m:t>
                    </m:r>
                  </m:oMath>
                </a14:m>
                <a:endParaRPr lang="es-ES" dirty="0">
                  <a:latin typeface="Calibri" panose="020F0502020204030204" pitchFamily="34" charset="0"/>
                  <a:cs typeface="Calibri" panose="020F0502020204030204" pitchFamily="34" charset="0"/>
                </a:endParaRPr>
              </a:p>
              <a:p>
                <a:pPr lvl="1"/>
                <a:r>
                  <a:rPr lang="es-ES" dirty="0">
                    <a:latin typeface="Calibri" panose="020F0502020204030204" pitchFamily="34" charset="0"/>
                    <a:cs typeface="Calibri" panose="020F0502020204030204" pitchFamily="34" charset="0"/>
                  </a:rPr>
                  <a:t>…</a:t>
                </a:r>
              </a:p>
              <a:p>
                <a:pPr lvl="1"/>
                <a14:m>
                  <m:oMath xmlns:m="http://schemas.openxmlformats.org/officeDocument/2006/math">
                    <m:sSub>
                      <m:sSubPr>
                        <m:ctrlPr>
                          <a:rPr lang="pl-PL" i="1" smtClean="0">
                            <a:latin typeface="Cambria Math" panose="02040503050406030204" pitchFamily="18" charset="0"/>
                            <a:cs typeface="Calibri" panose="020F0502020204030204" pitchFamily="34" charset="0"/>
                          </a:rPr>
                        </m:ctrlPr>
                      </m:sSubPr>
                      <m:e>
                        <m:r>
                          <a:rPr lang="es-ES" b="0" i="1" smtClean="0">
                            <a:latin typeface="Cambria Math" panose="02040503050406030204" pitchFamily="18" charset="0"/>
                            <a:cs typeface="Calibri" panose="020F0502020204030204" pitchFamily="34" charset="0"/>
                          </a:rPr>
                          <m:t>𝐹</m:t>
                        </m:r>
                      </m:e>
                      <m:sub>
                        <m:r>
                          <a:rPr lang="es-ES" b="0" i="1" smtClean="0">
                            <a:latin typeface="Cambria Math" panose="02040503050406030204" pitchFamily="18" charset="0"/>
                            <a:cs typeface="Calibri" panose="020F0502020204030204" pitchFamily="34" charset="0"/>
                          </a:rPr>
                          <m:t>𝑌</m:t>
                        </m:r>
                      </m:sub>
                    </m:sSub>
                    <m:d>
                      <m:dPr>
                        <m:ctrlPr>
                          <a:rPr lang="es-ES" b="0" i="1" smtClean="0">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5</m:t>
                        </m:r>
                      </m:e>
                    </m:d>
                    <m:r>
                      <a:rPr lang="es-ES" b="0" i="1" smtClean="0">
                        <a:latin typeface="Cambria Math" panose="02040503050406030204" pitchFamily="18" charset="0"/>
                        <a:cs typeface="Calibri" panose="020F0502020204030204" pitchFamily="34" charset="0"/>
                      </a:rPr>
                      <m:t>=</m:t>
                    </m:r>
                    <m:sSub>
                      <m:sSubPr>
                        <m:ctrlPr>
                          <a:rPr lang="pl-PL" i="1">
                            <a:latin typeface="Cambria Math" panose="02040503050406030204" pitchFamily="18" charset="0"/>
                            <a:cs typeface="Calibri" panose="020F0502020204030204" pitchFamily="34" charset="0"/>
                          </a:rPr>
                        </m:ctrlPr>
                      </m:sSubPr>
                      <m:e>
                        <m:r>
                          <a:rPr lang="es-ES" i="1">
                            <a:latin typeface="Cambria Math" panose="02040503050406030204" pitchFamily="18" charset="0"/>
                            <a:cs typeface="Calibri" panose="020F0502020204030204" pitchFamily="34" charset="0"/>
                          </a:rPr>
                          <m:t>𝐹</m:t>
                        </m:r>
                      </m:e>
                      <m:sub>
                        <m:r>
                          <a:rPr lang="es-ES" i="1">
                            <a:latin typeface="Cambria Math" panose="02040503050406030204" pitchFamily="18" charset="0"/>
                            <a:cs typeface="Calibri" panose="020F0502020204030204" pitchFamily="34" charset="0"/>
                          </a:rPr>
                          <m:t>𝑌</m:t>
                        </m:r>
                      </m:sub>
                    </m:sSub>
                    <m:d>
                      <m:dPr>
                        <m:ctrlPr>
                          <a:rPr lang="es-ES" i="1">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4</m:t>
                        </m:r>
                      </m:e>
                    </m:d>
                    <m:r>
                      <a:rPr lang="es-ES" b="0" i="1" smtClean="0">
                        <a:latin typeface="Cambria Math" panose="02040503050406030204" pitchFamily="18" charset="0"/>
                        <a:cs typeface="Calibri" panose="020F0502020204030204" pitchFamily="34" charset="0"/>
                      </a:rPr>
                      <m:t>+</m:t>
                    </m:r>
                    <m:sSub>
                      <m:sSubPr>
                        <m:ctrlPr>
                          <a:rPr lang="es-ES" b="0" i="1" smtClean="0">
                            <a:latin typeface="Cambria Math" panose="02040503050406030204" pitchFamily="18" charset="0"/>
                            <a:cs typeface="Calibri" panose="020F0502020204030204" pitchFamily="34" charset="0"/>
                          </a:rPr>
                        </m:ctrlPr>
                      </m:sSubPr>
                      <m:e>
                        <m:r>
                          <a:rPr lang="es-ES" b="0" i="1" smtClean="0">
                            <a:latin typeface="Cambria Math" panose="02040503050406030204" pitchFamily="18" charset="0"/>
                            <a:cs typeface="Calibri" panose="020F0502020204030204" pitchFamily="34" charset="0"/>
                          </a:rPr>
                          <m:t>𝑃</m:t>
                        </m:r>
                      </m:e>
                      <m:sub>
                        <m:r>
                          <a:rPr lang="es-ES" b="0" i="1" smtClean="0">
                            <a:latin typeface="Cambria Math" panose="02040503050406030204" pitchFamily="18" charset="0"/>
                            <a:cs typeface="Calibri" panose="020F0502020204030204" pitchFamily="34" charset="0"/>
                          </a:rPr>
                          <m:t>𝑌</m:t>
                        </m:r>
                      </m:sub>
                    </m:sSub>
                    <m:d>
                      <m:dPr>
                        <m:ctrlPr>
                          <a:rPr lang="es-ES" b="0" i="1" smtClean="0">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5</m:t>
                        </m:r>
                      </m:e>
                    </m:d>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99</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01</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1</m:t>
                    </m:r>
                    <m:r>
                      <a:rPr lang="es-ES" b="0" i="1" smtClean="0">
                        <a:latin typeface="Cambria Math" panose="02040503050406030204" pitchFamily="18" charset="0"/>
                        <a:cs typeface="Calibri" panose="020F0502020204030204" pitchFamily="34" charset="0"/>
                      </a:rPr>
                      <m:t> </m:t>
                    </m:r>
                  </m:oMath>
                </a14:m>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marL="457200">
                  <a:lnSpc>
                    <a:spcPct val="90000"/>
                  </a:lnSpc>
                  <a:spcBef>
                    <a:spcPts val="499"/>
                  </a:spcBef>
                  <a:buNone/>
                  <a:tabLst>
                    <a:tab pos="0" algn="l"/>
                  </a:tabLst>
                </a:pPr>
                <a:endParaRPr lang="es-ES" sz="2400" b="0" strike="noStrike" spc="-1" dirty="0">
                  <a:solidFill>
                    <a:srgbClr val="000000"/>
                  </a:solidFill>
                  <a:latin typeface="Calibri"/>
                </a:endParaRPr>
              </a:p>
              <a:p>
                <a:pPr>
                  <a:lnSpc>
                    <a:spcPct val="90000"/>
                  </a:lnSpc>
                  <a:spcBef>
                    <a:spcPts val="1417"/>
                  </a:spcBef>
                  <a:buNone/>
                  <a:tabLst>
                    <a:tab pos="0" algn="l"/>
                  </a:tabLst>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07"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2241"/>
                </a:stretch>
              </a:blipFill>
              <a:ln w="0">
                <a:noFill/>
              </a:ln>
            </p:spPr>
            <p:txBody>
              <a:bodyPr/>
              <a:lstStyle/>
              <a:p>
                <a:r>
                  <a:rPr lang="es-ES">
                    <a:noFill/>
                  </a:rPr>
                  <a:t> </a:t>
                </a:r>
              </a:p>
            </p:txBody>
          </p:sp>
        </mc:Fallback>
      </mc:AlternateContent>
      <p:pic>
        <p:nvPicPr>
          <p:cNvPr id="108" name="Imagen 5">
            <a:extLst>
              <a:ext uri="{C183D7F6-B498-43B3-948B-1728B52AA6E4}">
                <adec:decorative xmlns:adec="http://schemas.microsoft.com/office/drawing/2017/decorative" val="1"/>
              </a:ext>
            </a:extLst>
          </p:cNvPr>
          <p:cNvPicPr/>
          <p:nvPr/>
        </p:nvPicPr>
        <p:blipFill>
          <a:blip r:embed="rId3"/>
          <a:stretch/>
        </p:blipFill>
        <p:spPr>
          <a:xfrm>
            <a:off x="3383280" y="3799800"/>
            <a:ext cx="5784120" cy="3057840"/>
          </a:xfrm>
          <a:prstGeom prst="rect">
            <a:avLst/>
          </a:prstGeom>
          <a:ln w="0">
            <a:noFill/>
          </a:ln>
        </p:spPr>
      </p:pic>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16</a:t>
            </a:fld>
            <a:endParaRPr/>
          </a:p>
        </p:txBody>
      </p:sp>
      <p:sp>
        <p:nvSpPr>
          <p:cNvPr id="2" name="Rectángulo 1">
            <a:extLst>
              <a:ext uri="{FF2B5EF4-FFF2-40B4-BE49-F238E27FC236}">
                <a16:creationId xmlns:a16="http://schemas.microsoft.com/office/drawing/2014/main" id="{2F9995B4-CB1E-2CE8-BE5C-4AA89F3C05E9}"/>
              </a:ext>
              <a:ext uri="{C183D7F6-B498-43B3-948B-1728B52AA6E4}">
                <adec:decorative xmlns:adec="http://schemas.microsoft.com/office/drawing/2017/decorative" val="1"/>
              </a:ext>
            </a:extLst>
          </p:cNvPr>
          <p:cNvSpPr/>
          <p:nvPr/>
        </p:nvSpPr>
        <p:spPr>
          <a:xfrm>
            <a:off x="3769112" y="3891776"/>
            <a:ext cx="5398288" cy="4237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Ejemplo 3.3 (Solución) (III)</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07" name="PlaceHolder 2"/>
              <p:cNvSpPr>
                <a:spLocks noGrp="1"/>
              </p:cNvSpPr>
              <p:nvPr>
                <p:ph/>
              </p:nvPr>
            </p:nvSpPr>
            <p:spPr>
              <a:xfrm>
                <a:off x="838079" y="1825560"/>
                <a:ext cx="9266619" cy="4350960"/>
              </a:xfrm>
              <a:prstGeom prst="rect">
                <a:avLst/>
              </a:prstGeom>
              <a:noFill/>
              <a:ln w="0">
                <a:noFill/>
              </a:ln>
            </p:spPr>
            <p:txBody>
              <a:bodyPr anchor="t">
                <a:normAutofit/>
              </a:bodyPr>
              <a:lstStyle/>
              <a:p>
                <a:pPr>
                  <a:spcBef>
                    <a:spcPts val="1001"/>
                  </a:spcBef>
                  <a:buClr>
                    <a:srgbClr val="000000"/>
                  </a:buClr>
                  <a:buFont typeface="Arial"/>
                  <a:buChar char="•"/>
                </a:pPr>
                <a:r>
                  <a:rPr lang="es-ES" sz="2800" b="0" strike="noStrike" spc="-1" dirty="0">
                    <a:solidFill>
                      <a:srgbClr val="000000"/>
                    </a:solidFill>
                    <a:latin typeface="Calibri"/>
                  </a:rPr>
                  <a:t>c) </a:t>
                </a:r>
                <a14:m>
                  <m:oMath xmlns:m="http://schemas.openxmlformats.org/officeDocument/2006/math">
                    <m:r>
                      <a:rPr lang="es-ES" i="1" spc="-1" dirty="0">
                        <a:solidFill>
                          <a:srgbClr val="000000"/>
                        </a:solidFill>
                        <a:latin typeface="Cambria Math" panose="02040503050406030204" pitchFamily="18" charset="0"/>
                      </a:rPr>
                      <m:t>𝑃</m:t>
                    </m:r>
                    <m:d>
                      <m:dPr>
                        <m:begChr m:val="{"/>
                        <m:endChr m:val="}"/>
                        <m:ctrlPr>
                          <a:rPr lang="es-ES" i="1" spc="-1" dirty="0">
                            <a:solidFill>
                              <a:srgbClr val="000000"/>
                            </a:solidFill>
                            <a:latin typeface="Cambria Math" panose="02040503050406030204" pitchFamily="18" charset="0"/>
                          </a:rPr>
                        </m:ctrlPr>
                      </m:dPr>
                      <m:e>
                        <m:r>
                          <a:rPr lang="es-ES" i="1" spc="-1" dirty="0">
                            <a:solidFill>
                              <a:srgbClr val="000000"/>
                            </a:solidFill>
                            <a:latin typeface="Cambria Math" panose="02040503050406030204" pitchFamily="18" charset="0"/>
                          </a:rPr>
                          <m:t>𝑌</m:t>
                        </m:r>
                        <m:r>
                          <a:rPr lang="es-ES" b="0" i="1" spc="-1" dirty="0" smtClean="0">
                            <a:solidFill>
                              <a:srgbClr val="000000"/>
                            </a:solidFill>
                            <a:latin typeface="Cambria Math" panose="02040503050406030204" pitchFamily="18" charset="0"/>
                          </a:rPr>
                          <m:t>&lt;</m:t>
                        </m:r>
                        <m:r>
                          <a:rPr lang="es-ES" i="1" spc="-1" dirty="0">
                            <a:solidFill>
                              <a:srgbClr val="000000"/>
                            </a:solidFill>
                            <a:latin typeface="Cambria Math" panose="02040503050406030204" pitchFamily="18" charset="0"/>
                          </a:rPr>
                          <m:t>2</m:t>
                        </m:r>
                      </m:e>
                    </m:d>
                    <m:r>
                      <a:rPr lang="es-ES" b="0" i="1" spc="-1" dirty="0" smtClean="0">
                        <a:solidFill>
                          <a:srgbClr val="000000"/>
                        </a:solidFill>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𝑌</m:t>
                        </m:r>
                      </m:sub>
                    </m:sSub>
                    <m:d>
                      <m:dPr>
                        <m:ctrlPr>
                          <a:rPr lang="es-ES" i="1">
                            <a:latin typeface="Cambria Math" panose="02040503050406030204" pitchFamily="18" charset="0"/>
                          </a:rPr>
                        </m:ctrlPr>
                      </m:dPr>
                      <m:e>
                        <m:r>
                          <a:rPr lang="es-ES" i="1">
                            <a:latin typeface="Cambria Math" panose="02040503050406030204" pitchFamily="18" charset="0"/>
                          </a:rPr>
                          <m:t>0</m:t>
                        </m:r>
                      </m:e>
                    </m:d>
                    <m:r>
                      <a:rPr lang="es-ES" b="0" i="1" spc="-1" dirty="0" smtClean="0">
                        <a:solidFill>
                          <a:srgbClr val="000000"/>
                        </a:solidFill>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𝑌</m:t>
                        </m:r>
                      </m:sub>
                    </m:sSub>
                    <m:d>
                      <m:dPr>
                        <m:ctrlPr>
                          <a:rPr lang="es-ES" i="1">
                            <a:latin typeface="Cambria Math" panose="02040503050406030204" pitchFamily="18" charset="0"/>
                          </a:rPr>
                        </m:ctrlPr>
                      </m:dPr>
                      <m:e>
                        <m:r>
                          <a:rPr lang="es-ES" b="0" i="1" smtClean="0">
                            <a:latin typeface="Cambria Math" panose="02040503050406030204" pitchFamily="18" charset="0"/>
                          </a:rPr>
                          <m:t>1</m:t>
                        </m:r>
                      </m:e>
                    </m:d>
                    <m:r>
                      <a:rPr lang="es-ES" b="0" i="1" spc="-1" dirty="0" smtClean="0">
                        <a:solidFill>
                          <a:srgbClr val="000000"/>
                        </a:solidFill>
                        <a:latin typeface="Cambria Math" panose="02040503050406030204" pitchFamily="18" charset="0"/>
                      </a:rPr>
                      <m:t>=</m:t>
                    </m:r>
                    <m:r>
                      <a:rPr lang="es-ES" b="0" i="1" spc="-1" dirty="0" smtClean="0">
                        <a:solidFill>
                          <a:srgbClr val="000000"/>
                        </a:solidFill>
                        <a:latin typeface="Cambria Math" panose="02040503050406030204" pitchFamily="18" charset="0"/>
                      </a:rPr>
                      <m:t>0</m:t>
                    </m:r>
                    <m:r>
                      <a:rPr lang="es-ES" b="0" i="1" spc="-1" dirty="0" smtClean="0">
                        <a:solidFill>
                          <a:srgbClr val="000000"/>
                        </a:solidFill>
                        <a:latin typeface="Cambria Math" panose="02040503050406030204" pitchFamily="18" charset="0"/>
                      </a:rPr>
                      <m:t>.</m:t>
                    </m:r>
                    <m:r>
                      <a:rPr lang="es-ES" b="0" i="1" spc="-1" dirty="0" smtClean="0">
                        <a:solidFill>
                          <a:srgbClr val="000000"/>
                        </a:solidFill>
                        <a:latin typeface="Cambria Math" panose="02040503050406030204" pitchFamily="18" charset="0"/>
                      </a:rPr>
                      <m:t>35</m:t>
                    </m:r>
                    <m:r>
                      <a:rPr lang="es-ES" b="0" i="1" spc="-1" dirty="0" smtClean="0">
                        <a:solidFill>
                          <a:srgbClr val="000000"/>
                        </a:solidFill>
                        <a:latin typeface="Cambria Math" panose="02040503050406030204" pitchFamily="18" charset="0"/>
                      </a:rPr>
                      <m:t>+</m:t>
                    </m:r>
                    <m:r>
                      <a:rPr lang="es-ES" b="0" i="1" spc="-1" dirty="0" smtClean="0">
                        <a:solidFill>
                          <a:srgbClr val="000000"/>
                        </a:solidFill>
                        <a:latin typeface="Cambria Math" panose="02040503050406030204" pitchFamily="18" charset="0"/>
                      </a:rPr>
                      <m:t>0</m:t>
                    </m:r>
                    <m:r>
                      <a:rPr lang="es-ES" b="0" i="1" spc="-1" dirty="0" smtClean="0">
                        <a:solidFill>
                          <a:srgbClr val="000000"/>
                        </a:solidFill>
                        <a:latin typeface="Cambria Math" panose="02040503050406030204" pitchFamily="18" charset="0"/>
                      </a:rPr>
                      <m:t>.</m:t>
                    </m:r>
                    <m:r>
                      <a:rPr lang="es-ES" b="0" i="1" spc="-1" dirty="0" smtClean="0">
                        <a:solidFill>
                          <a:srgbClr val="000000"/>
                        </a:solidFill>
                        <a:latin typeface="Cambria Math" panose="02040503050406030204" pitchFamily="18" charset="0"/>
                      </a:rPr>
                      <m:t>31</m:t>
                    </m:r>
                    <m:r>
                      <a:rPr lang="es-ES" b="0" i="1" spc="-1" dirty="0" smtClean="0">
                        <a:solidFill>
                          <a:srgbClr val="000000"/>
                        </a:solidFill>
                        <a:latin typeface="Cambria Math" panose="02040503050406030204" pitchFamily="18" charset="0"/>
                      </a:rPr>
                      <m:t>=</m:t>
                    </m:r>
                    <m:r>
                      <a:rPr lang="es-ES" b="0" i="1" spc="-1" dirty="0" smtClean="0">
                        <a:solidFill>
                          <a:srgbClr val="000000"/>
                        </a:solidFill>
                        <a:latin typeface="Cambria Math" panose="02040503050406030204" pitchFamily="18" charset="0"/>
                      </a:rPr>
                      <m:t>0</m:t>
                    </m:r>
                    <m:r>
                      <a:rPr lang="es-ES" b="0" i="1" spc="-1" dirty="0" smtClean="0">
                        <a:solidFill>
                          <a:srgbClr val="000000"/>
                        </a:solidFill>
                        <a:latin typeface="Cambria Math" panose="02040503050406030204" pitchFamily="18" charset="0"/>
                      </a:rPr>
                      <m:t>.</m:t>
                    </m:r>
                    <m:r>
                      <a:rPr lang="es-ES" b="0" i="1" spc="-1" dirty="0" smtClean="0">
                        <a:solidFill>
                          <a:srgbClr val="000000"/>
                        </a:solidFill>
                        <a:latin typeface="Cambria Math" panose="02040503050406030204" pitchFamily="18" charset="0"/>
                      </a:rPr>
                      <m:t>66</m:t>
                    </m:r>
                  </m:oMath>
                </a14:m>
                <a:endParaRPr lang="es-ES" sz="2400" b="0" strike="noStrike" spc="-1" dirty="0">
                  <a:solidFill>
                    <a:srgbClr val="000000"/>
                  </a:solidFill>
                  <a:latin typeface="Calibri"/>
                </a:endParaRPr>
              </a:p>
              <a:p>
                <a:pPr>
                  <a:spcBef>
                    <a:spcPts val="1001"/>
                  </a:spcBef>
                  <a:buClr>
                    <a:srgbClr val="000000"/>
                  </a:buClr>
                  <a:buFont typeface="Arial"/>
                  <a:buChar char="•"/>
                </a:pPr>
                <a:r>
                  <a:rPr lang="es-ES" spc="-1" dirty="0">
                    <a:solidFill>
                      <a:srgbClr val="000000"/>
                    </a:solidFill>
                    <a:latin typeface="Calibri"/>
                  </a:rPr>
                  <a:t>d) </a:t>
                </a:r>
                <a14:m>
                  <m:oMath xmlns:m="http://schemas.openxmlformats.org/officeDocument/2006/math">
                    <m:r>
                      <a:rPr lang="es-ES" i="1" spc="-1" dirty="0" smtClean="0">
                        <a:solidFill>
                          <a:srgbClr val="000000"/>
                        </a:solidFill>
                        <a:latin typeface="Cambria Math" panose="02040503050406030204" pitchFamily="18" charset="0"/>
                      </a:rPr>
                      <m:t>𝑃</m:t>
                    </m:r>
                    <m:d>
                      <m:dPr>
                        <m:begChr m:val="{"/>
                        <m:endChr m:val="}"/>
                        <m:ctrlPr>
                          <a:rPr lang="es-ES" i="1" spc="-1" dirty="0">
                            <a:solidFill>
                              <a:srgbClr val="000000"/>
                            </a:solidFill>
                            <a:latin typeface="Cambria Math" panose="02040503050406030204" pitchFamily="18" charset="0"/>
                          </a:rPr>
                        </m:ctrlPr>
                      </m:dPr>
                      <m:e>
                        <m:r>
                          <a:rPr lang="es-ES" i="1" spc="-1" dirty="0">
                            <a:solidFill>
                              <a:srgbClr val="000000"/>
                            </a:solidFill>
                            <a:latin typeface="Cambria Math" panose="02040503050406030204" pitchFamily="18" charset="0"/>
                          </a:rPr>
                          <m:t>𝑌</m:t>
                        </m:r>
                        <m:r>
                          <a:rPr lang="es-ES" b="0" i="1" spc="-1" dirty="0" smtClean="0">
                            <a:solidFill>
                              <a:srgbClr val="000000"/>
                            </a:solidFill>
                            <a:latin typeface="Cambria Math" panose="02040503050406030204" pitchFamily="18" charset="0"/>
                          </a:rPr>
                          <m:t>&gt;</m:t>
                        </m:r>
                        <m:r>
                          <a:rPr lang="es-ES" b="0" i="1" spc="-1" dirty="0" smtClean="0">
                            <a:solidFill>
                              <a:srgbClr val="000000"/>
                            </a:solidFill>
                            <a:latin typeface="Cambria Math" panose="02040503050406030204" pitchFamily="18" charset="0"/>
                          </a:rPr>
                          <m:t>4</m:t>
                        </m:r>
                      </m:e>
                    </m:d>
                    <m:r>
                      <a:rPr lang="es-ES" b="0" i="1" spc="-1" dirty="0" smtClean="0">
                        <a:solidFill>
                          <a:srgbClr val="000000"/>
                        </a:solidFill>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𝑌</m:t>
                        </m:r>
                      </m:sub>
                    </m:sSub>
                    <m:d>
                      <m:dPr>
                        <m:ctrlPr>
                          <a:rPr lang="es-ES" i="1">
                            <a:latin typeface="Cambria Math" panose="02040503050406030204" pitchFamily="18" charset="0"/>
                          </a:rPr>
                        </m:ctrlPr>
                      </m:dPr>
                      <m:e>
                        <m:r>
                          <a:rPr lang="es-ES" b="0" i="1" smtClean="0">
                            <a:latin typeface="Cambria Math" panose="02040503050406030204" pitchFamily="18" charset="0"/>
                          </a:rPr>
                          <m:t>5</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01</m:t>
                    </m:r>
                  </m:oMath>
                </a14:m>
                <a:endParaRPr lang="es-ES" b="0" strike="noStrike" spc="-1" dirty="0">
                  <a:solidFill>
                    <a:srgbClr val="000000"/>
                  </a:solidFill>
                  <a:latin typeface="Calibri"/>
                </a:endParaRPr>
              </a:p>
              <a:p>
                <a:pPr>
                  <a:lnSpc>
                    <a:spcPct val="90000"/>
                  </a:lnSpc>
                  <a:spcBef>
                    <a:spcPts val="1417"/>
                  </a:spcBef>
                  <a:buNone/>
                  <a:tabLst>
                    <a:tab pos="0" algn="l"/>
                  </a:tabLst>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07" name="PlaceHolder 2"/>
              <p:cNvSpPr>
                <a:spLocks noGrp="1" noRot="1" noChangeAspect="1" noMove="1" noResize="1" noEditPoints="1" noAdjustHandles="1" noChangeArrowheads="1" noChangeShapeType="1" noTextEdit="1"/>
              </p:cNvSpPr>
              <p:nvPr>
                <p:ph/>
              </p:nvPr>
            </p:nvSpPr>
            <p:spPr>
              <a:xfrm>
                <a:off x="838079" y="1825560"/>
                <a:ext cx="9266619" cy="4350960"/>
              </a:xfrm>
              <a:prstGeom prst="rect">
                <a:avLst/>
              </a:prstGeom>
              <a:blipFill>
                <a:blip r:embed="rId2"/>
                <a:stretch>
                  <a:fillRect l="-1183" t="-224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17</a:t>
            </a:fld>
            <a:endParaRPr/>
          </a:p>
        </p:txBody>
      </p:sp>
      <p:sp>
        <p:nvSpPr>
          <p:cNvPr id="2" name="Rectángulo 1">
            <a:extLst>
              <a:ext uri="{FF2B5EF4-FFF2-40B4-BE49-F238E27FC236}">
                <a16:creationId xmlns:a16="http://schemas.microsoft.com/office/drawing/2014/main" id="{2F9995B4-CB1E-2CE8-BE5C-4AA89F3C05E9}"/>
              </a:ext>
              <a:ext uri="{C183D7F6-B498-43B3-948B-1728B52AA6E4}">
                <adec:decorative xmlns:adec="http://schemas.microsoft.com/office/drawing/2017/decorative" val="1"/>
              </a:ext>
            </a:extLst>
          </p:cNvPr>
          <p:cNvSpPr/>
          <p:nvPr/>
        </p:nvSpPr>
        <p:spPr>
          <a:xfrm>
            <a:off x="3769112" y="3891776"/>
            <a:ext cx="5398288" cy="4237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 name="Imagen 4">
            <a:extLst>
              <a:ext uri="{FF2B5EF4-FFF2-40B4-BE49-F238E27FC236}">
                <a16:creationId xmlns:a16="http://schemas.microsoft.com/office/drawing/2014/main" id="{8062A6C3-7180-661D-539E-1CE545E02F3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722814" y="3279813"/>
            <a:ext cx="3659893" cy="3213147"/>
          </a:xfrm>
          <a:prstGeom prst="rect">
            <a:avLst/>
          </a:prstGeom>
        </p:spPr>
      </p:pic>
    </p:spTree>
    <p:extLst>
      <p:ext uri="{BB962C8B-B14F-4D97-AF65-F5344CB8AC3E}">
        <p14:creationId xmlns:p14="http://schemas.microsoft.com/office/powerpoint/2010/main" val="2065846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pc="-1" dirty="0">
                <a:solidFill>
                  <a:srgbClr val="000000"/>
                </a:solidFill>
                <a:latin typeface="Calibri Light"/>
              </a:rPr>
              <a:t>5. Características </a:t>
            </a:r>
            <a:r>
              <a:rPr lang="es-ES" sz="4400" b="0" strike="noStrike" spc="-1" dirty="0">
                <a:solidFill>
                  <a:srgbClr val="000000"/>
                </a:solidFill>
                <a:latin typeface="Calibri Light"/>
              </a:rPr>
              <a:t>de una variable aleatoria</a:t>
            </a:r>
            <a:endParaRPr lang="es-ES" sz="4400" b="0" strike="noStrike" spc="-1" dirty="0">
              <a:solidFill>
                <a:srgbClr val="000000"/>
              </a:solidFill>
              <a:latin typeface="Calibri"/>
            </a:endParaRPr>
          </a:p>
        </p:txBody>
      </p:sp>
      <p:sp>
        <p:nvSpPr>
          <p:cNvPr id="126" name="PlaceHolder 2"/>
          <p:cNvSpPr>
            <a:spLocks noGrp="1"/>
          </p:cNvSpPr>
          <p:nvPr>
            <p:ph/>
          </p:nvPr>
        </p:nvSpPr>
        <p:spPr>
          <a:xfrm>
            <a:off x="838080" y="1825560"/>
            <a:ext cx="10515240" cy="4350960"/>
          </a:xfrm>
          <a:prstGeom prst="rect">
            <a:avLst/>
          </a:prstGeom>
          <a:noFill/>
          <a:ln w="0">
            <a:noFill/>
          </a:ln>
        </p:spPr>
        <p:txBody>
          <a:bodyPr anchor="t">
            <a:normAutofit fontScale="945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distribución de una variable aleatoria o un vector aleatorio, es decir la colección completa de sus probabilidades, contiene toda la información sobre su comportamiento.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Esta información detallada se puede resumir en unas pocas características fundamentales que describen el valor medio, el valor más probable de </a:t>
            </a:r>
            <a:r>
              <a:rPr lang="es-ES" spc="-1" dirty="0">
                <a:solidFill>
                  <a:srgbClr val="000000"/>
                </a:solidFill>
                <a:latin typeface="Calibri"/>
              </a:rPr>
              <a:t>l</a:t>
            </a:r>
            <a:r>
              <a:rPr lang="es-ES" sz="2800" b="0" strike="noStrike" spc="-1" dirty="0">
                <a:solidFill>
                  <a:srgbClr val="000000"/>
                </a:solidFill>
                <a:latin typeface="Calibri"/>
              </a:rPr>
              <a:t>a variable aleatoria, su variabilidad, etc.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Las más utilizadas son:</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Esperanza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Varianza</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Desviación estándar</a:t>
            </a: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Esperanza</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28"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1" strike="noStrike" spc="-1" dirty="0">
                    <a:solidFill>
                      <a:srgbClr val="000000"/>
                    </a:solidFill>
                    <a:latin typeface="Calibri"/>
                  </a:rPr>
                  <a:t>E(X)</a:t>
                </a:r>
                <a:r>
                  <a:rPr lang="es-ES" sz="2800" b="0" strike="noStrike" spc="-1" dirty="0">
                    <a:solidFill>
                      <a:srgbClr val="000000"/>
                    </a:solidFill>
                    <a:latin typeface="Calibri"/>
                  </a:rPr>
                  <a:t>: La esperanza de una variable aleatoria es su valor esperado</a:t>
                </a:r>
                <a:endParaRPr lang="es-ES" spc="-1" dirty="0">
                  <a:solidFill>
                    <a:srgbClr val="000000"/>
                  </a:solidFill>
                  <a:latin typeface="Calibri"/>
                </a:endParaRPr>
              </a:p>
              <a:p>
                <a:pPr marL="228600" indent="-228600">
                  <a:lnSpc>
                    <a:spcPct val="90000"/>
                  </a:lnSpc>
                  <a:spcBef>
                    <a:spcPts val="1001"/>
                  </a:spcBef>
                  <a:buClr>
                    <a:srgbClr val="000000"/>
                  </a:buClr>
                  <a:buFont typeface="Arial"/>
                  <a:buChar char="•"/>
                </a:pPr>
                <a:r>
                  <a:rPr lang="es-ES" spc="-1" dirty="0">
                    <a:solidFill>
                      <a:srgbClr val="000000"/>
                    </a:solidFill>
                    <a:latin typeface="Calibri"/>
                  </a:rPr>
                  <a:t>S</a:t>
                </a:r>
                <a:r>
                  <a:rPr lang="es-ES" sz="2800" b="0" strike="noStrike" spc="-1" dirty="0">
                    <a:solidFill>
                      <a:srgbClr val="000000"/>
                    </a:solidFill>
                    <a:latin typeface="Calibri"/>
                  </a:rPr>
                  <a:t>e calcula como </a:t>
                </a:r>
                <a:r>
                  <a:rPr lang="es-ES" sz="2800" b="0" strike="noStrike" spc="-1">
                    <a:solidFill>
                      <a:srgbClr val="000000"/>
                    </a:solidFill>
                    <a:latin typeface="Calibri"/>
                  </a:rPr>
                  <a:t>la media o promedio </a:t>
                </a:r>
                <a:r>
                  <a:rPr lang="es-ES" spc="-1" dirty="0">
                    <a:solidFill>
                      <a:srgbClr val="000000"/>
                    </a:solidFill>
                    <a:latin typeface="Calibri"/>
                  </a:rPr>
                  <a:t>de todos sus posibles valores</a:t>
                </a:r>
                <a:r>
                  <a:rPr lang="es-ES" spc="-1">
                    <a:solidFill>
                      <a:srgbClr val="000000"/>
                    </a:solidFill>
                    <a:latin typeface="Calibri"/>
                  </a:rPr>
                  <a:t>, ponderados </a:t>
                </a:r>
                <a:r>
                  <a:rPr lang="es-ES" spc="-1" dirty="0">
                    <a:solidFill>
                      <a:srgbClr val="000000"/>
                    </a:solidFill>
                    <a:latin typeface="Calibri"/>
                  </a:rPr>
                  <a:t>según la probabilidad de </a:t>
                </a:r>
                <a:r>
                  <a:rPr lang="es-ES" spc="-1">
                    <a:solidFill>
                      <a:srgbClr val="000000"/>
                    </a:solidFill>
                    <a:latin typeface="Calibri"/>
                  </a:rPr>
                  <a:t>cada valor</a:t>
                </a:r>
                <a:endParaRPr lang="es-ES" sz="24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pc="-1" dirty="0">
                    <a:solidFill>
                      <a:srgbClr val="000000"/>
                    </a:solidFill>
                    <a:latin typeface="Calibri"/>
                  </a:rPr>
                  <a:t>Normalmente </a:t>
                </a:r>
                <a:r>
                  <a:rPr lang="es-ES" sz="2800" b="0" strike="noStrike" spc="-1" dirty="0">
                    <a:solidFill>
                      <a:srgbClr val="000000"/>
                    </a:solidFill>
                    <a:latin typeface="Calibri"/>
                  </a:rPr>
                  <a:t>se denota por la letra griega </a:t>
                </a:r>
                <a:r>
                  <a:rPr lang="es-ES" sz="2800" b="0" i="1" strike="noStrike" spc="-1" dirty="0">
                    <a:solidFill>
                      <a:srgbClr val="000000"/>
                    </a:solidFill>
                    <a:latin typeface="Calibri"/>
                  </a:rPr>
                  <a:t>μ</a:t>
                </a:r>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Si X es una variable discreta:</a:t>
                </a:r>
              </a:p>
              <a:p>
                <a:pPr lvl="1">
                  <a:spcBef>
                    <a:spcPts val="1001"/>
                  </a:spcBef>
                  <a:buClr>
                    <a:srgbClr val="000000"/>
                  </a:buClr>
                  <a:buFont typeface="Arial"/>
                  <a:buChar char="•"/>
                </a:pPr>
                <a14:m>
                  <m:oMath xmlns:m="http://schemas.openxmlformats.org/officeDocument/2006/math">
                    <m:r>
                      <a:rPr lang="es-ES" sz="2400" i="1" smtClean="0">
                        <a:latin typeface="Cambria Math" panose="02040503050406030204" pitchFamily="18" charset="0"/>
                        <a:ea typeface="Cambria Math" panose="02040503050406030204" pitchFamily="18" charset="0"/>
                      </a:rPr>
                      <m:t>𝜇</m:t>
                    </m:r>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𝐸</m:t>
                    </m:r>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𝑋</m:t>
                        </m:r>
                      </m:e>
                    </m:d>
                    <m:r>
                      <a:rPr lang="es-ES" sz="2400" b="0" i="1" smtClean="0">
                        <a:latin typeface="Cambria Math" panose="02040503050406030204" pitchFamily="18" charset="0"/>
                      </a:rPr>
                      <m:t>=</m:t>
                    </m:r>
                    <m:nary>
                      <m:naryPr>
                        <m:chr m:val="∑"/>
                        <m:supHide m:val="on"/>
                        <m:ctrlPr>
                          <a:rPr lang="es-ES" sz="2400" b="0" i="1" smtClean="0">
                            <a:latin typeface="Cambria Math" panose="02040503050406030204" pitchFamily="18" charset="0"/>
                          </a:rPr>
                        </m:ctrlPr>
                      </m:naryPr>
                      <m:sub>
                        <m:r>
                          <a:rPr lang="es-ES" sz="2400" b="0" i="1" smtClean="0">
                            <a:latin typeface="Cambria Math" panose="02040503050406030204" pitchFamily="18" charset="0"/>
                          </a:rPr>
                          <m:t>𝑥</m:t>
                        </m:r>
                      </m:sub>
                      <m:sup/>
                      <m:e>
                        <m:r>
                          <a:rPr lang="es-ES" sz="2400" b="0" i="1" smtClean="0">
                            <a:latin typeface="Cambria Math" panose="02040503050406030204" pitchFamily="18" charset="0"/>
                          </a:rPr>
                          <m:t>𝑥𝑃</m:t>
                        </m:r>
                        <m:r>
                          <a:rPr lang="es-ES" sz="2400" b="0" i="1" smtClean="0">
                            <a:latin typeface="Cambria Math" panose="02040503050406030204" pitchFamily="18" charset="0"/>
                          </a:rPr>
                          <m:t>(</m:t>
                        </m:r>
                        <m:r>
                          <a:rPr lang="es-ES" sz="2400" b="0" i="1" smtClean="0">
                            <a:latin typeface="Cambria Math" panose="02040503050406030204" pitchFamily="18" charset="0"/>
                          </a:rPr>
                          <m:t>𝑥</m:t>
                        </m:r>
                        <m:r>
                          <a:rPr lang="es-ES" sz="2400" b="0" i="1" smtClean="0">
                            <a:latin typeface="Cambria Math" panose="02040503050406030204" pitchFamily="18" charset="0"/>
                          </a:rPr>
                          <m:t>)</m:t>
                        </m:r>
                      </m:e>
                    </m:nary>
                  </m:oMath>
                </a14:m>
                <a:endParaRPr lang="es-ES" sz="2000" b="0" strike="noStrike" spc="-1" dirty="0">
                  <a:solidFill>
                    <a:srgbClr val="000000"/>
                  </a:solidFill>
                  <a:latin typeface="Calibri"/>
                </a:endParaRPr>
              </a:p>
              <a:p>
                <a:pPr lvl="1">
                  <a:spcBef>
                    <a:spcPts val="1001"/>
                  </a:spcBef>
                  <a:buClr>
                    <a:srgbClr val="000000"/>
                  </a:buClr>
                  <a:buFont typeface="Arial"/>
                  <a:buChar char="•"/>
                </a:pPr>
                <a:r>
                  <a:rPr lang="es-ES" sz="2000" spc="-1" dirty="0">
                    <a:solidFill>
                      <a:srgbClr val="000000"/>
                    </a:solidFill>
                    <a:latin typeface="Calibri"/>
                  </a:rPr>
                  <a:t>Ejemplo: </a:t>
                </a:r>
                <a14:m>
                  <m:oMath xmlns:m="http://schemas.openxmlformats.org/officeDocument/2006/math">
                    <m:r>
                      <a:rPr lang="es-ES" sz="2000" b="0" i="1" smtClean="0">
                        <a:latin typeface="Cambria Math" panose="02040503050406030204" pitchFamily="18" charset="0"/>
                        <a:ea typeface="Cambria Math" panose="02040503050406030204" pitchFamily="18" charset="0"/>
                      </a:rPr>
                      <m:t>𝐸</m:t>
                    </m:r>
                    <m:d>
                      <m:dPr>
                        <m:ctrlPr>
                          <a:rPr lang="es-ES" sz="2000" b="0" i="1" smtClean="0">
                            <a:latin typeface="Cambria Math" panose="02040503050406030204" pitchFamily="18" charset="0"/>
                          </a:rPr>
                        </m:ctrlPr>
                      </m:dPr>
                      <m:e>
                        <m:r>
                          <a:rPr lang="es-ES" sz="2000" b="0" i="1" smtClean="0">
                            <a:latin typeface="Cambria Math" panose="02040503050406030204" pitchFamily="18" charset="0"/>
                          </a:rPr>
                          <m:t>𝑋</m:t>
                        </m:r>
                      </m:e>
                    </m:d>
                    <m:r>
                      <a:rPr lang="es-ES" sz="2000" b="0" i="1" smtClean="0">
                        <a:latin typeface="Cambria Math" panose="02040503050406030204" pitchFamily="18" charset="0"/>
                      </a:rPr>
                      <m:t>=</m:t>
                    </m:r>
                    <m:r>
                      <a:rPr lang="es-ES" sz="2000" b="0" i="1" smtClean="0">
                        <a:latin typeface="Cambria Math" panose="02040503050406030204" pitchFamily="18" charset="0"/>
                      </a:rPr>
                      <m:t>1</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2</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1</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oMath>
                </a14:m>
                <a:endParaRPr lang="es-ES" sz="2000" b="0" strike="noStrike" spc="-1" dirty="0">
                  <a:solidFill>
                    <a:srgbClr val="000000"/>
                  </a:solidFill>
                  <a:latin typeface="Calibri"/>
                </a:endParaRPr>
              </a:p>
              <a:p>
                <a:pPr>
                  <a:spcBef>
                    <a:spcPts val="499"/>
                  </a:spcBef>
                  <a:buClr>
                    <a:srgbClr val="000000"/>
                  </a:buClr>
                  <a:buFont typeface="Arial"/>
                  <a:buChar char="•"/>
                </a:pPr>
                <a:r>
                  <a:rPr lang="es-ES" b="0" strike="noStrike" spc="-1" dirty="0">
                    <a:solidFill>
                      <a:srgbClr val="000000"/>
                    </a:solidFill>
                    <a:latin typeface="Calibri"/>
                  </a:rPr>
                  <a:t>Aunque una variable sea aleatoria, su esperanza no es aleatoria</a:t>
                </a: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28"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224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Esperanza. Ejemplo 3.1 (Tres monedas)</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30"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X = Número de caras al lanzar 3 monedas</a:t>
                </a: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8</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125</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8</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375</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2</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8</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375</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8</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125</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endParaRPr lang="es-ES" spc="-1" dirty="0">
                  <a:solidFill>
                    <a:srgbClr val="000000"/>
                  </a:solidFill>
                  <a:latin typeface="Calibri"/>
                </a:endParaRPr>
              </a:p>
              <a:p>
                <a:pPr>
                  <a:spcBef>
                    <a:spcPts val="499"/>
                  </a:spcBef>
                  <a:buClr>
                    <a:srgbClr val="000000"/>
                  </a:buClr>
                  <a:buFont typeface="Arial"/>
                  <a:buChar char="•"/>
                </a:pPr>
                <a14:m>
                  <m:oMath xmlns:m="http://schemas.openxmlformats.org/officeDocument/2006/math">
                    <m:r>
                      <a:rPr lang="en-US" i="1" smtClean="0">
                        <a:latin typeface="Cambria Math" panose="02040503050406030204" pitchFamily="18" charset="0"/>
                        <a:ea typeface="Cambria Math" panose="02040503050406030204" pitchFamily="18" charset="0"/>
                      </a:rPr>
                      <m:t>𝜇</m:t>
                    </m:r>
                    <m:r>
                      <a:rPr lang="en-US"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125</m:t>
                    </m:r>
                    <m:r>
                      <a:rPr lang="es-ES" i="1">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375</m:t>
                    </m:r>
                    <m:r>
                      <a:rPr lang="es-ES" i="1">
                        <a:latin typeface="Cambria Math" panose="02040503050406030204" pitchFamily="18" charset="0"/>
                      </a:rPr>
                      <m:t>+</m:t>
                    </m:r>
                    <m:r>
                      <a:rPr lang="es-ES" b="0" i="1" smtClean="0">
                        <a:latin typeface="Cambria Math" panose="02040503050406030204" pitchFamily="18" charset="0"/>
                      </a:rPr>
                      <m:t>2</m:t>
                    </m:r>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375</m:t>
                    </m:r>
                    <m:r>
                      <a:rPr lang="es-ES" b="0" i="1" smtClean="0">
                        <a:latin typeface="Cambria Math" panose="02040503050406030204" pitchFamily="18" charset="0"/>
                      </a:rPr>
                      <m:t>+</m:t>
                    </m:r>
                    <m:r>
                      <a:rPr lang="es-ES" b="0" i="1" smtClean="0">
                        <a:latin typeface="Cambria Math" panose="02040503050406030204" pitchFamily="18" charset="0"/>
                      </a:rPr>
                      <m:t>3</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125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𝑐𝑎𝑟𝑎𝑠</m:t>
                    </m:r>
                  </m:oMath>
                </a14:m>
                <a:endParaRPr lang="es-ES" dirty="0"/>
              </a:p>
              <a:p>
                <a:pPr>
                  <a:spcBef>
                    <a:spcPts val="499"/>
                  </a:spcBef>
                  <a:buClr>
                    <a:srgbClr val="000000"/>
                  </a:buClr>
                  <a:buFont typeface="Arial"/>
                  <a:buChar char="•"/>
                </a:pPr>
                <a:endParaRPr lang="es-ES"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130"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2241"/>
                </a:stretch>
              </a:blipFill>
              <a:ln w="0">
                <a:noFill/>
              </a:ln>
            </p:spPr>
            <p:txBody>
              <a:bodyPr/>
              <a:lstStyle/>
              <a:p>
                <a:r>
                  <a:rPr lang="es-ES">
                    <a:noFill/>
                  </a:rPr>
                  <a:t> </a:t>
                </a:r>
              </a:p>
            </p:txBody>
          </p:sp>
        </mc:Fallback>
      </mc:AlternateContent>
      <p:pic>
        <p:nvPicPr>
          <p:cNvPr id="131" name="Imagen 5">
            <a:extLst>
              <a:ext uri="{C183D7F6-B498-43B3-948B-1728B52AA6E4}">
                <adec:decorative xmlns:adec="http://schemas.microsoft.com/office/drawing/2017/decorative" val="1"/>
              </a:ext>
            </a:extLst>
          </p:cNvPr>
          <p:cNvPicPr/>
          <p:nvPr/>
        </p:nvPicPr>
        <p:blipFill>
          <a:blip r:embed="rId3"/>
          <a:stretch/>
        </p:blipFill>
        <p:spPr>
          <a:xfrm>
            <a:off x="8902406" y="2109908"/>
            <a:ext cx="1875960" cy="1714320"/>
          </a:xfrm>
          <a:prstGeom prst="rect">
            <a:avLst/>
          </a:prstGeom>
          <a:ln w="0">
            <a:noFill/>
          </a:ln>
        </p:spPr>
      </p:pic>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Esperanza de una función</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33" name="PlaceHolder 2"/>
              <p:cNvSpPr>
                <a:spLocks noGrp="1"/>
              </p:cNvSpPr>
              <p:nvPr>
                <p:ph/>
              </p:nvPr>
            </p:nvSpPr>
            <p:spPr>
              <a:xfrm>
                <a:off x="838080" y="1825560"/>
                <a:ext cx="10515240" cy="4350960"/>
              </a:xfrm>
              <a:prstGeom prst="rect">
                <a:avLst/>
              </a:prstGeom>
              <a:noFill/>
              <a:ln w="0">
                <a:noFill/>
              </a:ln>
            </p:spPr>
            <p:txBody>
              <a:bodyPr anchor="t">
                <a:normAutofit fontScale="92500" lnSpcReduction="10000"/>
              </a:bodyPr>
              <a:lstStyle/>
              <a:p>
                <a:pPr>
                  <a:spcBef>
                    <a:spcPts val="1001"/>
                  </a:spcBef>
                  <a:buClr>
                    <a:srgbClr val="000000"/>
                  </a:buClr>
                  <a:buFont typeface="Arial"/>
                  <a:buChar char="•"/>
                </a:pPr>
                <a:r>
                  <a:rPr lang="es-ES" spc="-1" dirty="0">
                    <a:solidFill>
                      <a:srgbClr val="000000"/>
                    </a:solidFill>
                  </a:rPr>
                  <a:t>Puede haber variables aleatorias que dependan de otras variables aleatorias</a:t>
                </a:r>
              </a:p>
              <a:p>
                <a:pPr lvl="1">
                  <a:spcBef>
                    <a:spcPts val="1001"/>
                  </a:spcBef>
                  <a:buClr>
                    <a:srgbClr val="000000"/>
                  </a:buClr>
                  <a:buFont typeface="Arial"/>
                  <a:buChar char="•"/>
                </a:pPr>
                <a:r>
                  <a:rPr lang="es-ES" spc="-1" dirty="0">
                    <a:solidFill>
                      <a:srgbClr val="000000"/>
                    </a:solidFill>
                  </a:rPr>
                  <a:t>Es decir, el valor de un variable aleatoria (</a:t>
                </a:r>
                <a14:m>
                  <m:oMath xmlns:m="http://schemas.openxmlformats.org/officeDocument/2006/math">
                    <m:r>
                      <a:rPr lang="es-ES" i="1" spc="-1" dirty="0">
                        <a:solidFill>
                          <a:srgbClr val="000000"/>
                        </a:solidFill>
                        <a:latin typeface="Cambria Math" panose="02040503050406030204" pitchFamily="18" charset="0"/>
                      </a:rPr>
                      <m:t>𝑌</m:t>
                    </m:r>
                  </m:oMath>
                </a14:m>
                <a:r>
                  <a:rPr lang="es-ES" spc="-1" dirty="0">
                    <a:solidFill>
                      <a:srgbClr val="000000"/>
                    </a:solidFill>
                  </a:rPr>
                  <a:t>) se obtiene como una función aplicada a la otra (</a:t>
                </a:r>
                <a14:m>
                  <m:oMath xmlns:m="http://schemas.openxmlformats.org/officeDocument/2006/math">
                    <m:r>
                      <a:rPr lang="es-ES" i="1" spc="-1" dirty="0">
                        <a:solidFill>
                          <a:srgbClr val="000000"/>
                        </a:solidFill>
                        <a:latin typeface="Cambria Math" panose="02040503050406030204" pitchFamily="18" charset="0"/>
                      </a:rPr>
                      <m:t>𝑋</m:t>
                    </m:r>
                  </m:oMath>
                </a14:m>
                <a:r>
                  <a:rPr lang="es-ES" spc="-1" dirty="0">
                    <a:solidFill>
                      <a:srgbClr val="000000"/>
                    </a:solidFill>
                  </a:rPr>
                  <a:t>)</a:t>
                </a:r>
              </a:p>
              <a:p>
                <a:pPr lvl="1">
                  <a:spcBef>
                    <a:spcPts val="1001"/>
                  </a:spcBef>
                  <a:buClr>
                    <a:srgbClr val="000000"/>
                  </a:buClr>
                  <a:buFont typeface="Arial"/>
                  <a:buChar char="•"/>
                </a:pPr>
                <a14:m>
                  <m:oMath xmlns:m="http://schemas.openxmlformats.org/officeDocument/2006/math">
                    <m:r>
                      <a:rPr lang="es-ES" i="1" spc="-1" dirty="0">
                        <a:solidFill>
                          <a:srgbClr val="000000"/>
                        </a:solidFill>
                        <a:latin typeface="Cambria Math" panose="02040503050406030204" pitchFamily="18" charset="0"/>
                      </a:rPr>
                      <m:t>𝑌</m:t>
                    </m:r>
                    <m:r>
                      <a:rPr lang="es-ES" i="1" spc="-1" dirty="0">
                        <a:solidFill>
                          <a:srgbClr val="000000"/>
                        </a:solidFill>
                        <a:latin typeface="Cambria Math" panose="02040503050406030204" pitchFamily="18" charset="0"/>
                      </a:rPr>
                      <m:t> = </m:t>
                    </m:r>
                    <m:r>
                      <a:rPr lang="es-ES" i="1" spc="-1" dirty="0">
                        <a:solidFill>
                          <a:srgbClr val="000000"/>
                        </a:solidFill>
                        <a:latin typeface="Cambria Math" panose="02040503050406030204" pitchFamily="18" charset="0"/>
                      </a:rPr>
                      <m:t>𝑔</m:t>
                    </m:r>
                    <m:r>
                      <a:rPr lang="es-ES" i="1" spc="-1" dirty="0">
                        <a:solidFill>
                          <a:srgbClr val="000000"/>
                        </a:solidFill>
                        <a:latin typeface="Cambria Math" panose="02040503050406030204" pitchFamily="18" charset="0"/>
                      </a:rPr>
                      <m:t>(</m:t>
                    </m:r>
                    <m:r>
                      <a:rPr lang="es-ES" i="1" spc="-1" dirty="0">
                        <a:solidFill>
                          <a:srgbClr val="000000"/>
                        </a:solidFill>
                        <a:latin typeface="Cambria Math" panose="02040503050406030204" pitchFamily="18" charset="0"/>
                      </a:rPr>
                      <m:t>𝑋</m:t>
                    </m:r>
                    <m:r>
                      <a:rPr lang="es-ES" i="1" spc="-1" dirty="0">
                        <a:solidFill>
                          <a:srgbClr val="000000"/>
                        </a:solidFill>
                        <a:latin typeface="Cambria Math" panose="02040503050406030204" pitchFamily="18" charset="0"/>
                      </a:rPr>
                      <m:t>)</m:t>
                    </m:r>
                  </m:oMath>
                </a14:m>
                <a:endParaRPr lang="es-ES" spc="-1" dirty="0">
                  <a:solidFill>
                    <a:srgbClr val="000000"/>
                  </a:solidFill>
                </a:endParaRPr>
              </a:p>
              <a:p>
                <a:pPr>
                  <a:spcBef>
                    <a:spcPts val="1001"/>
                  </a:spcBef>
                  <a:buClr>
                    <a:srgbClr val="000000"/>
                  </a:buClr>
                  <a:buFont typeface="Arial"/>
                  <a:buChar char="•"/>
                </a:pPr>
                <a:r>
                  <a:rPr lang="es-ES" spc="-1" dirty="0">
                    <a:solidFill>
                      <a:srgbClr val="000000"/>
                    </a:solidFill>
                  </a:rPr>
                  <a:t>Ejemplos</a:t>
                </a:r>
              </a:p>
              <a:p>
                <a:pPr lvl="1">
                  <a:spcBef>
                    <a:spcPts val="499"/>
                  </a:spcBef>
                  <a:buClr>
                    <a:srgbClr val="000000"/>
                  </a:buClr>
                  <a:buFont typeface="Arial"/>
                  <a:buChar char="•"/>
                </a:pPr>
                <a:r>
                  <a:rPr lang="es-ES" spc="-1" dirty="0">
                    <a:solidFill>
                      <a:srgbClr val="000000"/>
                    </a:solidFill>
                  </a:rPr>
                  <a:t>El tiempo de descarga de vídeo de Internet (Y), que depende de la velocidad de conexión (X)</a:t>
                </a:r>
              </a:p>
              <a:p>
                <a:pPr lvl="1">
                  <a:spcBef>
                    <a:spcPts val="499"/>
                  </a:spcBef>
                  <a:buClr>
                    <a:srgbClr val="000000"/>
                  </a:buClr>
                  <a:buFont typeface="Arial"/>
                  <a:buChar char="•"/>
                </a:pPr>
                <a:r>
                  <a:rPr lang="es-ES" spc="-1" dirty="0">
                    <a:solidFill>
                      <a:srgbClr val="000000"/>
                    </a:solidFill>
                  </a:rPr>
                  <a:t>El beneficio de una tienda de ordenadores (Y), que depende del número de ordenadores vendidos (X)</a:t>
                </a:r>
              </a:p>
              <a:p>
                <a:pPr>
                  <a:spcBef>
                    <a:spcPts val="1001"/>
                  </a:spcBef>
                  <a:buClr>
                    <a:srgbClr val="000000"/>
                  </a:buClr>
                  <a:buFont typeface="Arial"/>
                  <a:buChar char="•"/>
                </a:pPr>
                <a:r>
                  <a:rPr lang="es-ES" spc="-1" dirty="0">
                    <a:solidFill>
                      <a:srgbClr val="000000"/>
                    </a:solidFill>
                  </a:rPr>
                  <a:t>La esperanza de </a:t>
                </a:r>
                <a14:m>
                  <m:oMath xmlns:m="http://schemas.openxmlformats.org/officeDocument/2006/math">
                    <m:r>
                      <a:rPr lang="es-ES" i="1" spc="-1" dirty="0">
                        <a:solidFill>
                          <a:srgbClr val="000000"/>
                        </a:solidFill>
                        <a:latin typeface="Cambria Math" panose="02040503050406030204" pitchFamily="18" charset="0"/>
                      </a:rPr>
                      <m:t>𝑌</m:t>
                    </m:r>
                    <m:r>
                      <a:rPr lang="es-ES" i="1" spc="-1" dirty="0">
                        <a:solidFill>
                          <a:srgbClr val="000000"/>
                        </a:solidFill>
                        <a:latin typeface="Cambria Math" panose="02040503050406030204" pitchFamily="18" charset="0"/>
                      </a:rPr>
                      <m:t> = </m:t>
                    </m:r>
                    <m:r>
                      <a:rPr lang="es-ES" i="1" spc="-1" dirty="0">
                        <a:solidFill>
                          <a:srgbClr val="000000"/>
                        </a:solidFill>
                        <a:latin typeface="Cambria Math" panose="02040503050406030204" pitchFamily="18" charset="0"/>
                      </a:rPr>
                      <m:t>𝑔</m:t>
                    </m:r>
                    <m:r>
                      <a:rPr lang="es-ES" i="1" spc="-1" dirty="0">
                        <a:solidFill>
                          <a:srgbClr val="000000"/>
                        </a:solidFill>
                        <a:latin typeface="Cambria Math" panose="02040503050406030204" pitchFamily="18" charset="0"/>
                      </a:rPr>
                      <m:t>(</m:t>
                    </m:r>
                    <m:r>
                      <a:rPr lang="es-ES" i="1" spc="-1" dirty="0">
                        <a:solidFill>
                          <a:srgbClr val="000000"/>
                        </a:solidFill>
                        <a:latin typeface="Cambria Math" panose="02040503050406030204" pitchFamily="18" charset="0"/>
                      </a:rPr>
                      <m:t>𝑋</m:t>
                    </m:r>
                    <m:r>
                      <a:rPr lang="es-ES" i="1" spc="-1" dirty="0">
                        <a:solidFill>
                          <a:srgbClr val="000000"/>
                        </a:solidFill>
                        <a:latin typeface="Cambria Math" panose="02040503050406030204" pitchFamily="18" charset="0"/>
                      </a:rPr>
                      <m:t>)</m:t>
                    </m:r>
                  </m:oMath>
                </a14:m>
                <a:r>
                  <a:rPr lang="es-ES" spc="-1" dirty="0">
                    <a:solidFill>
                      <a:srgbClr val="000000"/>
                    </a:solidFill>
                  </a:rPr>
                  <a:t> se calcula mediante una fórmula similar</a:t>
                </a:r>
              </a:p>
              <a:p>
                <a:pPr lvl="1">
                  <a:spcBef>
                    <a:spcPts val="1001"/>
                  </a:spcBef>
                  <a:buClr>
                    <a:srgbClr val="000000"/>
                  </a:buClr>
                  <a:buFont typeface="Arial"/>
                  <a:buChar char="•"/>
                </a:pPr>
                <a14:m>
                  <m:oMath xmlns:m="http://schemas.openxmlformats.org/officeDocument/2006/math">
                    <m:r>
                      <a:rPr lang="es-ES" i="1">
                        <a:latin typeface="Cambria Math" panose="02040503050406030204" pitchFamily="18" charset="0"/>
                        <a:ea typeface="Cambria Math" panose="02040503050406030204" pitchFamily="18" charset="0"/>
                      </a:rPr>
                      <m:t>𝐸</m:t>
                    </m:r>
                    <m:d>
                      <m:dPr>
                        <m:ctrlPr>
                          <a:rPr lang="es-ES" i="1">
                            <a:latin typeface="Cambria Math" panose="02040503050406030204" pitchFamily="18" charset="0"/>
                          </a:rPr>
                        </m:ctrlPr>
                      </m:dPr>
                      <m:e>
                        <m:r>
                          <a:rPr lang="es-ES" i="1">
                            <a:latin typeface="Cambria Math" panose="02040503050406030204" pitchFamily="18" charset="0"/>
                          </a:rPr>
                          <m:t>𝑌</m:t>
                        </m:r>
                      </m:e>
                    </m:d>
                    <m:r>
                      <a:rPr lang="es-ES" i="1">
                        <a:latin typeface="Cambria Math" panose="02040503050406030204" pitchFamily="18" charset="0"/>
                      </a:rPr>
                      <m:t>=</m:t>
                    </m:r>
                    <m:r>
                      <a:rPr lang="es-ES" i="1">
                        <a:latin typeface="Cambria Math" panose="02040503050406030204" pitchFamily="18" charset="0"/>
                      </a:rPr>
                      <m:t>𝐸</m:t>
                    </m:r>
                    <m:d>
                      <m:dPr>
                        <m:begChr m:val="{"/>
                        <m:endChr m:val="}"/>
                        <m:ctrlPr>
                          <a:rPr lang="es-ES" i="1">
                            <a:latin typeface="Cambria Math" panose="02040503050406030204" pitchFamily="18" charset="0"/>
                          </a:rPr>
                        </m:ctrlPr>
                      </m:dPr>
                      <m:e>
                        <m:r>
                          <a:rPr lang="es-ES" i="1">
                            <a:latin typeface="Cambria Math" panose="02040503050406030204" pitchFamily="18" charset="0"/>
                          </a:rPr>
                          <m:t>𝑔</m:t>
                        </m:r>
                        <m:r>
                          <a:rPr lang="es-ES" i="1">
                            <a:latin typeface="Cambria Math" panose="02040503050406030204" pitchFamily="18" charset="0"/>
                          </a:rPr>
                          <m:t>(</m:t>
                        </m:r>
                        <m:r>
                          <a:rPr lang="es-ES" i="1">
                            <a:latin typeface="Cambria Math" panose="02040503050406030204" pitchFamily="18" charset="0"/>
                          </a:rPr>
                          <m:t>𝑋</m:t>
                        </m:r>
                        <m:r>
                          <a:rPr lang="es-ES" i="1">
                            <a:latin typeface="Cambria Math" panose="02040503050406030204" pitchFamily="18" charset="0"/>
                          </a:rPr>
                          <m:t>)</m:t>
                        </m:r>
                      </m:e>
                    </m:d>
                    <m:r>
                      <a:rPr lang="es-ES" i="1">
                        <a:latin typeface="Cambria Math" panose="02040503050406030204" pitchFamily="18" charset="0"/>
                      </a:rPr>
                      <m:t>=</m:t>
                    </m:r>
                    <m:nary>
                      <m:naryPr>
                        <m:chr m:val="∑"/>
                        <m:supHide m:val="on"/>
                        <m:ctrlPr>
                          <a:rPr lang="es-ES" i="1">
                            <a:latin typeface="Cambria Math" panose="02040503050406030204" pitchFamily="18" charset="0"/>
                          </a:rPr>
                        </m:ctrlPr>
                      </m:naryPr>
                      <m:sub>
                        <m:r>
                          <a:rPr lang="es-ES" i="1">
                            <a:latin typeface="Cambria Math" panose="02040503050406030204" pitchFamily="18" charset="0"/>
                          </a:rPr>
                          <m:t>𝑥</m:t>
                        </m:r>
                      </m:sub>
                      <m:sup/>
                      <m:e>
                        <m:r>
                          <a:rPr lang="es-ES" i="1">
                            <a:latin typeface="Cambria Math" panose="02040503050406030204" pitchFamily="18" charset="0"/>
                          </a:rPr>
                          <m:t>𝑔</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𝑃</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e>
                    </m:nary>
                  </m:oMath>
                </a14:m>
                <a:endParaRPr lang="en-US" dirty="0"/>
              </a:p>
              <a:p>
                <a:pPr marL="228600" indent="-228600">
                  <a:lnSpc>
                    <a:spcPct val="90000"/>
                  </a:lnSpc>
                  <a:spcBef>
                    <a:spcPts val="1001"/>
                  </a:spcBef>
                  <a:buClr>
                    <a:srgbClr val="000000"/>
                  </a:buClr>
                  <a:buFont typeface="Arial"/>
                  <a:buChar char="•"/>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33"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870" t="-2801" b="-17087"/>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Varianza</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37" name="PlaceHolder 2"/>
              <p:cNvSpPr>
                <a:spLocks noGrp="1"/>
              </p:cNvSpPr>
              <p:nvPr>
                <p:ph/>
              </p:nvPr>
            </p:nvSpPr>
            <p:spPr>
              <a:xfrm>
                <a:off x="838080" y="1825560"/>
                <a:ext cx="10515240" cy="4350960"/>
              </a:xfrm>
              <a:prstGeom prst="rect">
                <a:avLst/>
              </a:prstGeom>
              <a:noFill/>
              <a:ln w="0">
                <a:noFill/>
              </a:ln>
            </p:spPr>
            <p:txBody>
              <a:bodyPr anchor="t">
                <a:normAutofit fontScale="96500" lnSpcReduction="10000"/>
              </a:bodyPr>
              <a:lstStyle/>
              <a:p>
                <a:pPr marL="228600" indent="-228600">
                  <a:lnSpc>
                    <a:spcPct val="90000"/>
                  </a:lnSpc>
                  <a:spcBef>
                    <a:spcPts val="1001"/>
                  </a:spcBef>
                  <a:buClr>
                    <a:srgbClr val="000000"/>
                  </a:buClr>
                  <a:buFont typeface="Arial"/>
                  <a:buChar char="•"/>
                </a:pPr>
                <a:r>
                  <a:rPr lang="es-ES" sz="2800" b="1" strike="noStrike" spc="-1" dirty="0">
                    <a:solidFill>
                      <a:srgbClr val="000000"/>
                    </a:solidFill>
                    <a:latin typeface="Calibri"/>
                  </a:rPr>
                  <a:t>Var(X)</a:t>
                </a:r>
                <a:r>
                  <a:rPr lang="es-ES" sz="2800" b="0" strike="noStrike" spc="-1" dirty="0">
                    <a:solidFill>
                      <a:srgbClr val="000000"/>
                    </a:solidFill>
                    <a:latin typeface="Calibri"/>
                  </a:rPr>
                  <a:t>: La varianza de una variable aleatoria X se define como el cuadrado de la desviación esperada de la variable respecto de su esperanza</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La varianza es una medida de la variabilidad de una variable aleatoria</a:t>
                </a:r>
              </a:p>
              <a:p>
                <a:pPr marL="228600" indent="-228600">
                  <a:lnSpc>
                    <a:spcPct val="90000"/>
                  </a:lnSpc>
                  <a:spcBef>
                    <a:spcPts val="1001"/>
                  </a:spcBef>
                  <a:buClr>
                    <a:srgbClr val="000000"/>
                  </a:buClr>
                  <a:buFont typeface="Arial"/>
                  <a:buChar char="•"/>
                </a:pPr>
                <a:r>
                  <a:rPr lang="es-ES" spc="-1" dirty="0">
                    <a:solidFill>
                      <a:srgbClr val="000000"/>
                    </a:solidFill>
                    <a:latin typeface="Calibri"/>
                  </a:rPr>
                  <a:t>La </a:t>
                </a:r>
                <a:r>
                  <a:rPr lang="es-ES" sz="2800" b="0" strike="noStrike" spc="-1" dirty="0">
                    <a:solidFill>
                      <a:srgbClr val="000000"/>
                    </a:solidFill>
                    <a:latin typeface="Calibri"/>
                  </a:rPr>
                  <a:t>varianza a menudo se denotada como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rPr>
                          <m:t>2</m:t>
                        </m:r>
                      </m:sup>
                    </m:sSup>
                  </m:oMath>
                </a14:m>
                <a:r>
                  <a:rPr lang="es-ES" sz="2800" b="0" strike="noStrike" spc="-1" dirty="0">
                    <a:solidFill>
                      <a:srgbClr val="000000"/>
                    </a:solidFill>
                    <a:latin typeface="Calibri"/>
                  </a:rPr>
                  <a:t>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Si X es una variable aleatoria discreta:</a:t>
                </a:r>
              </a:p>
              <a:p>
                <a:pPr lvl="1">
                  <a:spcBef>
                    <a:spcPts val="1001"/>
                  </a:spcBef>
                  <a:buClr>
                    <a:srgbClr val="000000"/>
                  </a:buClr>
                  <a:buFont typeface="Arial"/>
                  <a:buChar char="•"/>
                </a:pPr>
                <a14:m>
                  <m:oMath xmlns:m="http://schemas.openxmlformats.org/officeDocument/2006/math">
                    <m:sSup>
                      <m:sSupPr>
                        <m:ctrlPr>
                          <a:rPr lang="en-US" sz="2400" i="1" smtClean="0">
                            <a:latin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𝜎</m:t>
                        </m:r>
                      </m:e>
                      <m:sup>
                        <m:r>
                          <a:rPr lang="en-US" sz="2400" i="1">
                            <a:latin typeface="Cambria Math" panose="02040503050406030204" pitchFamily="18" charset="0"/>
                          </a:rPr>
                          <m:t>2</m:t>
                        </m:r>
                      </m:sup>
                    </m:sSup>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ea typeface="Cambria Math" panose="02040503050406030204" pitchFamily="18" charset="0"/>
                      </a:rPr>
                      <m:t>𝑉𝑎𝑟</m:t>
                    </m:r>
                    <m:d>
                      <m:dPr>
                        <m:ctrlPr>
                          <a:rPr lang="es-ES" sz="2400" i="1">
                            <a:latin typeface="Cambria Math" panose="02040503050406030204" pitchFamily="18" charset="0"/>
                            <a:ea typeface="Cambria Math" panose="02040503050406030204" pitchFamily="18" charset="0"/>
                          </a:rPr>
                        </m:ctrlPr>
                      </m:dPr>
                      <m:e>
                        <m:r>
                          <a:rPr lang="es-ES" sz="2400" i="1">
                            <a:latin typeface="Cambria Math" panose="02040503050406030204" pitchFamily="18" charset="0"/>
                            <a:ea typeface="Cambria Math" panose="02040503050406030204" pitchFamily="18" charset="0"/>
                          </a:rPr>
                          <m:t>𝑋</m:t>
                        </m:r>
                      </m:e>
                    </m:d>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ea typeface="Cambria Math" panose="02040503050406030204" pitchFamily="18" charset="0"/>
                      </a:rPr>
                      <m:t>𝐸</m:t>
                    </m:r>
                    <m:sSup>
                      <m:sSupPr>
                        <m:ctrlPr>
                          <a:rPr lang="es-ES" sz="2400" i="1">
                            <a:latin typeface="Cambria Math" panose="02040503050406030204" pitchFamily="18" charset="0"/>
                            <a:ea typeface="Cambria Math" panose="02040503050406030204" pitchFamily="18" charset="0"/>
                          </a:rPr>
                        </m:ctrlPr>
                      </m:sSupPr>
                      <m:e>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ea typeface="Cambria Math" panose="02040503050406030204" pitchFamily="18" charset="0"/>
                          </a:rPr>
                          <m:t>𝑋</m:t>
                        </m:r>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ea typeface="Cambria Math" panose="02040503050406030204" pitchFamily="18" charset="0"/>
                          </a:rPr>
                          <m:t>𝐸</m:t>
                        </m:r>
                        <m:d>
                          <m:dPr>
                            <m:ctrlPr>
                              <a:rPr lang="es-ES" sz="2400" i="1">
                                <a:latin typeface="Cambria Math" panose="02040503050406030204" pitchFamily="18" charset="0"/>
                                <a:ea typeface="Cambria Math" panose="02040503050406030204" pitchFamily="18" charset="0"/>
                              </a:rPr>
                            </m:ctrlPr>
                          </m:dPr>
                          <m:e>
                            <m:r>
                              <a:rPr lang="es-ES" sz="2400" i="1">
                                <a:latin typeface="Cambria Math" panose="02040503050406030204" pitchFamily="18" charset="0"/>
                                <a:ea typeface="Cambria Math" panose="02040503050406030204" pitchFamily="18" charset="0"/>
                              </a:rPr>
                              <m:t>𝑋</m:t>
                            </m:r>
                          </m:e>
                        </m:d>
                        <m:r>
                          <a:rPr lang="es-ES" sz="2400" i="1">
                            <a:latin typeface="Cambria Math" panose="02040503050406030204" pitchFamily="18" charset="0"/>
                            <a:ea typeface="Cambria Math" panose="02040503050406030204" pitchFamily="18" charset="0"/>
                          </a:rPr>
                          <m:t>)</m:t>
                        </m:r>
                      </m:e>
                      <m:sup>
                        <m:r>
                          <a:rPr lang="es-ES" sz="2400" i="1">
                            <a:latin typeface="Cambria Math" panose="02040503050406030204" pitchFamily="18" charset="0"/>
                            <a:ea typeface="Cambria Math" panose="02040503050406030204" pitchFamily="18" charset="0"/>
                          </a:rPr>
                          <m:t>2</m:t>
                        </m:r>
                      </m:sup>
                    </m:sSup>
                    <m:r>
                      <a:rPr lang="es-ES" sz="2400" i="1">
                        <a:latin typeface="Cambria Math" panose="02040503050406030204" pitchFamily="18" charset="0"/>
                      </a:rPr>
                      <m:t>=</m:t>
                    </m:r>
                    <m:nary>
                      <m:naryPr>
                        <m:chr m:val="∑"/>
                        <m:supHide m:val="on"/>
                        <m:ctrlPr>
                          <a:rPr lang="es-ES" sz="2400" i="1">
                            <a:latin typeface="Cambria Math" panose="02040503050406030204" pitchFamily="18" charset="0"/>
                          </a:rPr>
                        </m:ctrlPr>
                      </m:naryPr>
                      <m:sub>
                        <m:r>
                          <a:rPr lang="es-ES" sz="2400" i="1">
                            <a:latin typeface="Cambria Math" panose="02040503050406030204" pitchFamily="18" charset="0"/>
                          </a:rPr>
                          <m:t>𝑥</m:t>
                        </m:r>
                      </m:sub>
                      <m:sup/>
                      <m:e>
                        <m:sSup>
                          <m:sSupPr>
                            <m:ctrlPr>
                              <a:rPr lang="es-ES" sz="2400" i="1">
                                <a:latin typeface="Cambria Math" panose="02040503050406030204" pitchFamily="18" charset="0"/>
                              </a:rPr>
                            </m:ctrlPr>
                          </m:sSupPr>
                          <m:e>
                            <m:r>
                              <a:rPr lang="es-ES" sz="2400" i="1">
                                <a:latin typeface="Cambria Math" panose="02040503050406030204" pitchFamily="18" charset="0"/>
                              </a:rPr>
                              <m:t>(</m:t>
                            </m:r>
                            <m:r>
                              <a:rPr lang="es-ES" sz="2400" i="1">
                                <a:latin typeface="Cambria Math" panose="02040503050406030204" pitchFamily="18" charset="0"/>
                              </a:rPr>
                              <m:t>𝑥</m:t>
                            </m:r>
                            <m:r>
                              <a:rPr lang="es-ES" sz="2400" i="1">
                                <a:latin typeface="Cambria Math" panose="02040503050406030204" pitchFamily="18" charset="0"/>
                              </a:rPr>
                              <m:t>−</m:t>
                            </m:r>
                            <m:r>
                              <a:rPr lang="es-ES" sz="2400" i="1">
                                <a:latin typeface="Cambria Math" panose="02040503050406030204" pitchFamily="18" charset="0"/>
                                <a:ea typeface="Cambria Math" panose="02040503050406030204" pitchFamily="18" charset="0"/>
                              </a:rPr>
                              <m:t>𝜇</m:t>
                            </m:r>
                            <m:r>
                              <a:rPr lang="es-ES" sz="2400" i="1">
                                <a:latin typeface="Cambria Math" panose="02040503050406030204" pitchFamily="18" charset="0"/>
                                <a:ea typeface="Cambria Math" panose="02040503050406030204" pitchFamily="18" charset="0"/>
                              </a:rPr>
                              <m:t>)</m:t>
                            </m:r>
                          </m:e>
                          <m:sup>
                            <m:r>
                              <a:rPr lang="es-ES" sz="2400" i="1">
                                <a:latin typeface="Cambria Math" panose="02040503050406030204" pitchFamily="18" charset="0"/>
                              </a:rPr>
                              <m:t>2</m:t>
                            </m:r>
                          </m:sup>
                        </m:sSup>
                        <m:r>
                          <a:rPr lang="es-ES" sz="2400" i="1">
                            <a:latin typeface="Cambria Math" panose="02040503050406030204" pitchFamily="18" charset="0"/>
                          </a:rPr>
                          <m:t>𝑃</m:t>
                        </m:r>
                        <m:r>
                          <a:rPr lang="es-ES" sz="2400" i="1">
                            <a:latin typeface="Cambria Math" panose="02040503050406030204" pitchFamily="18" charset="0"/>
                          </a:rPr>
                          <m:t>(</m:t>
                        </m:r>
                        <m:r>
                          <a:rPr lang="es-ES" sz="2400" i="1">
                            <a:latin typeface="Cambria Math" panose="02040503050406030204" pitchFamily="18" charset="0"/>
                          </a:rPr>
                          <m:t>𝑥</m:t>
                        </m:r>
                        <m:r>
                          <a:rPr lang="es-ES" sz="2400" i="1">
                            <a:latin typeface="Cambria Math" panose="02040503050406030204" pitchFamily="18" charset="0"/>
                          </a:rPr>
                          <m:t>)</m:t>
                        </m:r>
                      </m:e>
                    </m:nary>
                  </m:oMath>
                </a14:m>
                <a:endParaRPr lang="es-ES" sz="20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varianza es siempre positiva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varianza también se puede calcular como</a:t>
                </a:r>
              </a:p>
              <a:p>
                <a:pPr lvl="1">
                  <a:spcBef>
                    <a:spcPts val="1001"/>
                  </a:spcBef>
                  <a:buClr>
                    <a:srgbClr val="000000"/>
                  </a:buClr>
                  <a:buFont typeface="Arial"/>
                  <a:buChar char="•"/>
                </a:pPr>
                <a14:m>
                  <m:oMath xmlns:m="http://schemas.openxmlformats.org/officeDocument/2006/math">
                    <m:r>
                      <a:rPr lang="es-ES" i="1" smtClean="0">
                        <a:latin typeface="Cambria Math" panose="02040503050406030204" pitchFamily="18" charset="0"/>
                        <a:ea typeface="Cambria Math" panose="02040503050406030204" pitchFamily="18" charset="0"/>
                      </a:rPr>
                      <m:t>𝑉𝑎𝑟</m:t>
                    </m:r>
                    <m:d>
                      <m:dPr>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𝑋</m:t>
                        </m:r>
                      </m:e>
                    </m:d>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𝑋</m:t>
                            </m:r>
                          </m:e>
                          <m:sup>
                            <m:r>
                              <a:rPr lang="es-ES" b="0" i="1" smtClean="0">
                                <a:latin typeface="Cambria Math" panose="02040503050406030204" pitchFamily="18" charset="0"/>
                                <a:ea typeface="Cambria Math" panose="02040503050406030204" pitchFamily="18" charset="0"/>
                              </a:rPr>
                              <m:t>2</m:t>
                            </m:r>
                          </m:sup>
                        </m:sSup>
                      </m:e>
                    </m:d>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𝜇</m:t>
                        </m:r>
                      </m:e>
                      <m:sup>
                        <m:r>
                          <a:rPr lang="es-ES" b="0" i="1" smtClean="0">
                            <a:latin typeface="Cambria Math" panose="02040503050406030204" pitchFamily="18" charset="0"/>
                            <a:ea typeface="Cambria Math" panose="02040503050406030204" pitchFamily="18" charset="0"/>
                          </a:rPr>
                          <m:t>2</m:t>
                        </m:r>
                      </m:sup>
                    </m:sSup>
                  </m:oMath>
                </a14:m>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37"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986" t="-280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Varianza. Ejemplo 3.10 (correo electrónico)</a:t>
            </a:r>
            <a:endParaRPr lang="es-ES" sz="4400" b="0" strike="noStrike" spc="-1" dirty="0">
              <a:solidFill>
                <a:srgbClr val="000000"/>
              </a:solidFill>
              <a:latin typeface="Calibri"/>
            </a:endParaRPr>
          </a:p>
        </p:txBody>
      </p:sp>
      <p:sp>
        <p:nvSpPr>
          <p:cNvPr id="139"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Considerar dos usuarios:</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Uno recibe 48 o 52 mensajes de correo electrónico cada día, con la misma probabilidad cada caso (50%) </a:t>
            </a:r>
          </a:p>
          <a:p>
            <a:pPr lvl="1">
              <a:spcBef>
                <a:spcPts val="499"/>
              </a:spcBef>
              <a:buClr>
                <a:srgbClr val="000000"/>
              </a:buClr>
              <a:buFont typeface="Arial"/>
              <a:buChar char="•"/>
            </a:pPr>
            <a:r>
              <a:rPr lang="es-ES" sz="2400" b="0" strike="noStrike" spc="-1" dirty="0">
                <a:solidFill>
                  <a:srgbClr val="000000"/>
                </a:solidFill>
                <a:latin typeface="Calibri"/>
              </a:rPr>
              <a:t>El otro recibe 0 o 100 correos electrónicos, con la misma probabilidad cada caso (50%)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¿Cuál es una característica común de estas dos distribuciones, y en qué se diferencian?</a:t>
            </a: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Varianza. Ejemplo 3.10 (solución)</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41" name="PlaceHolder 2"/>
              <p:cNvSpPr>
                <a:spLocks noGrp="1"/>
              </p:cNvSpPr>
              <p:nvPr>
                <p:ph/>
              </p:nvPr>
            </p:nvSpPr>
            <p:spPr>
              <a:xfrm>
                <a:off x="838080" y="1825560"/>
                <a:ext cx="10515240" cy="4667400"/>
              </a:xfrm>
              <a:prstGeom prst="rect">
                <a:avLst/>
              </a:prstGeom>
              <a:noFill/>
              <a:ln w="0">
                <a:noFill/>
              </a:ln>
            </p:spPr>
            <p:txBody>
              <a:bodyPr anchor="t">
                <a:normAutofit fontScale="79000" lnSpcReduction="1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X=Número de mensajes de correo electrónico en un día recibidos por el primer usuario</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Y=Número de mensajes de correo electrónico en un día recibidos por el otro usuario</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Esperanzas</a:t>
                </a:r>
              </a:p>
              <a:p>
                <a:pPr lvl="1"/>
                <a14:m>
                  <m:oMath xmlns:m="http://schemas.openxmlformats.org/officeDocument/2006/math">
                    <m:r>
                      <a:rPr lang="es-ES" sz="2000" b="0" i="1" smtClean="0">
                        <a:latin typeface="Cambria Math" panose="02040503050406030204" pitchFamily="18" charset="0"/>
                      </a:rPr>
                      <m:t>𝐸</m:t>
                    </m:r>
                    <m:d>
                      <m:dPr>
                        <m:ctrlPr>
                          <a:rPr lang="es-ES" sz="2000" b="0" i="1" smtClean="0">
                            <a:latin typeface="Cambria Math" panose="02040503050406030204" pitchFamily="18" charset="0"/>
                          </a:rPr>
                        </m:ctrlPr>
                      </m:dPr>
                      <m:e>
                        <m:r>
                          <a:rPr lang="es-ES" sz="2000" b="0" i="1" smtClean="0">
                            <a:latin typeface="Cambria Math" panose="02040503050406030204" pitchFamily="18" charset="0"/>
                          </a:rPr>
                          <m:t>𝑋</m:t>
                        </m:r>
                      </m:e>
                    </m:d>
                    <m:r>
                      <a:rPr lang="en-US" sz="2000" i="1" smtClean="0">
                        <a:latin typeface="Cambria Math" panose="02040503050406030204" pitchFamily="18" charset="0"/>
                      </a:rPr>
                      <m:t>=</m:t>
                    </m:r>
                    <m:r>
                      <a:rPr lang="es-ES" sz="2000" b="0" i="1" smtClean="0">
                        <a:latin typeface="Cambria Math" panose="02040503050406030204" pitchFamily="18" charset="0"/>
                      </a:rPr>
                      <m:t>48</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52</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50</m:t>
                    </m:r>
                    <m:r>
                      <a:rPr lang="es-ES" sz="2000" b="0" i="0" smtClean="0">
                        <a:latin typeface="Cambria Math" panose="02040503050406030204" pitchFamily="18" charset="0"/>
                        <a:ea typeface="Cambria Math" panose="02040503050406030204" pitchFamily="18" charset="0"/>
                      </a:rPr>
                      <m:t> </m:t>
                    </m:r>
                    <m:r>
                      <m:rPr>
                        <m:sty m:val="p"/>
                      </m:rPr>
                      <a:rPr lang="es-ES" sz="2000" b="0" i="0" smtClean="0">
                        <a:latin typeface="Cambria Math" panose="02040503050406030204" pitchFamily="18" charset="0"/>
                        <a:ea typeface="Cambria Math" panose="02040503050406030204" pitchFamily="18" charset="0"/>
                      </a:rPr>
                      <m:t>mensajes</m:t>
                    </m:r>
                    <m:r>
                      <a:rPr lang="es-ES" sz="2000" b="0" i="0" smtClean="0">
                        <a:latin typeface="Cambria Math" panose="02040503050406030204" pitchFamily="18" charset="0"/>
                        <a:ea typeface="Cambria Math" panose="02040503050406030204" pitchFamily="18" charset="0"/>
                      </a:rPr>
                      <m:t> </m:t>
                    </m:r>
                    <m:r>
                      <m:rPr>
                        <m:sty m:val="p"/>
                      </m:rPr>
                      <a:rPr lang="es-ES" sz="2000" b="0" i="0" smtClean="0">
                        <a:latin typeface="Cambria Math" panose="02040503050406030204" pitchFamily="18" charset="0"/>
                        <a:ea typeface="Cambria Math" panose="02040503050406030204" pitchFamily="18" charset="0"/>
                      </a:rPr>
                      <m:t>en</m:t>
                    </m:r>
                    <m:r>
                      <a:rPr lang="es-ES" sz="2000" b="0" i="0" smtClean="0">
                        <a:latin typeface="Cambria Math" panose="02040503050406030204" pitchFamily="18" charset="0"/>
                        <a:ea typeface="Cambria Math" panose="02040503050406030204" pitchFamily="18" charset="0"/>
                      </a:rPr>
                      <m:t> </m:t>
                    </m:r>
                    <m:r>
                      <m:rPr>
                        <m:sty m:val="p"/>
                      </m:rPr>
                      <a:rPr lang="es-ES" sz="2000" b="0" i="0" smtClean="0">
                        <a:latin typeface="Cambria Math" panose="02040503050406030204" pitchFamily="18" charset="0"/>
                        <a:ea typeface="Cambria Math" panose="02040503050406030204" pitchFamily="18" charset="0"/>
                      </a:rPr>
                      <m:t>un</m:t>
                    </m:r>
                    <m:r>
                      <a:rPr lang="es-ES" sz="2000" b="0" i="0" smtClean="0">
                        <a:latin typeface="Cambria Math" panose="02040503050406030204" pitchFamily="18" charset="0"/>
                        <a:ea typeface="Cambria Math" panose="02040503050406030204" pitchFamily="18" charset="0"/>
                      </a:rPr>
                      <m:t> </m:t>
                    </m:r>
                    <m:r>
                      <m:rPr>
                        <m:sty m:val="p"/>
                      </m:rPr>
                      <a:rPr lang="es-ES" sz="2000" b="0" i="0" smtClean="0">
                        <a:latin typeface="Cambria Math" panose="02040503050406030204" pitchFamily="18" charset="0"/>
                        <a:ea typeface="Cambria Math" panose="02040503050406030204" pitchFamily="18" charset="0"/>
                      </a:rPr>
                      <m:t>d</m:t>
                    </m:r>
                    <m:r>
                      <a:rPr lang="es-ES" sz="2000" b="0" i="0" smtClean="0">
                        <a:latin typeface="Cambria Math" panose="02040503050406030204" pitchFamily="18" charset="0"/>
                        <a:ea typeface="Cambria Math" panose="02040503050406030204" pitchFamily="18" charset="0"/>
                      </a:rPr>
                      <m:t>í</m:t>
                    </m:r>
                    <m:r>
                      <m:rPr>
                        <m:sty m:val="p"/>
                      </m:rPr>
                      <a:rPr lang="es-ES" sz="2000" b="0" i="0" smtClean="0">
                        <a:latin typeface="Cambria Math" panose="02040503050406030204" pitchFamily="18" charset="0"/>
                        <a:ea typeface="Cambria Math" panose="02040503050406030204" pitchFamily="18" charset="0"/>
                      </a:rPr>
                      <m:t>a</m:t>
                    </m:r>
                  </m:oMath>
                </a14:m>
                <a:endParaRPr lang="es-ES" sz="2000" b="0" dirty="0">
                  <a:ea typeface="Cambria Math" panose="02040503050406030204" pitchFamily="18" charset="0"/>
                </a:endParaRPr>
              </a:p>
              <a:p>
                <a:pPr lvl="1"/>
                <a14:m>
                  <m:oMath xmlns:m="http://schemas.openxmlformats.org/officeDocument/2006/math">
                    <m:r>
                      <a:rPr lang="es-ES" sz="2000" b="0" i="1" smtClean="0">
                        <a:latin typeface="Cambria Math" panose="02040503050406030204" pitchFamily="18" charset="0"/>
                      </a:rPr>
                      <m:t>𝐸</m:t>
                    </m:r>
                    <m:d>
                      <m:dPr>
                        <m:ctrlPr>
                          <a:rPr lang="es-ES" sz="2000" b="0" i="1" smtClean="0">
                            <a:latin typeface="Cambria Math" panose="02040503050406030204" pitchFamily="18" charset="0"/>
                          </a:rPr>
                        </m:ctrlPr>
                      </m:dPr>
                      <m:e>
                        <m:r>
                          <a:rPr lang="es-ES" sz="2000" b="0" i="1" smtClean="0">
                            <a:latin typeface="Cambria Math" panose="02040503050406030204" pitchFamily="18" charset="0"/>
                          </a:rPr>
                          <m:t>𝑌</m:t>
                        </m:r>
                      </m:e>
                    </m:d>
                    <m:r>
                      <a:rPr lang="en-US" sz="2000" i="1" smtClean="0">
                        <a:latin typeface="Cambria Math" panose="02040503050406030204" pitchFamily="18" charset="0"/>
                      </a:rPr>
                      <m:t>=</m:t>
                    </m:r>
                    <m:r>
                      <a:rPr lang="es-ES" sz="2000" b="0" i="1" smtClean="0">
                        <a:latin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100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50</m:t>
                    </m:r>
                    <m:r>
                      <a:rPr lang="es-ES" sz="2000" b="0" i="1" smtClean="0">
                        <a:latin typeface="Cambria Math" panose="02040503050406030204" pitchFamily="18" charset="0"/>
                        <a:ea typeface="Cambria Math" panose="02040503050406030204" pitchFamily="18" charset="0"/>
                      </a:rPr>
                      <m:t> </m:t>
                    </m:r>
                    <m:r>
                      <m:rPr>
                        <m:nor/>
                      </m:rPr>
                      <a:rPr lang="es-ES" sz="2000" b="0" i="0" smtClean="0">
                        <a:latin typeface="Cambria Math" panose="02040503050406030204" pitchFamily="18" charset="0"/>
                        <a:ea typeface="Cambria Math" panose="02040503050406030204" pitchFamily="18" charset="0"/>
                      </a:rPr>
                      <m:t>mensajes</m:t>
                    </m:r>
                    <m:r>
                      <m:rPr>
                        <m:nor/>
                      </m:rPr>
                      <a:rPr lang="es-ES" sz="2000" b="0" i="0" smtClean="0">
                        <a:latin typeface="Cambria Math" panose="02040503050406030204" pitchFamily="18" charset="0"/>
                        <a:ea typeface="Cambria Math" panose="02040503050406030204" pitchFamily="18" charset="0"/>
                      </a:rPr>
                      <m:t> </m:t>
                    </m:r>
                    <m:r>
                      <m:rPr>
                        <m:nor/>
                      </m:rPr>
                      <a:rPr lang="es-ES" sz="2000" b="0" i="0" smtClean="0">
                        <a:latin typeface="Cambria Math" panose="02040503050406030204" pitchFamily="18" charset="0"/>
                        <a:ea typeface="Cambria Math" panose="02040503050406030204" pitchFamily="18" charset="0"/>
                      </a:rPr>
                      <m:t>en</m:t>
                    </m:r>
                    <m:r>
                      <m:rPr>
                        <m:nor/>
                      </m:rPr>
                      <a:rPr lang="es-ES" sz="2000" b="0" i="0" smtClean="0">
                        <a:latin typeface="Cambria Math" panose="02040503050406030204" pitchFamily="18" charset="0"/>
                        <a:ea typeface="Cambria Math" panose="02040503050406030204" pitchFamily="18" charset="0"/>
                      </a:rPr>
                      <m:t> </m:t>
                    </m:r>
                    <m:r>
                      <m:rPr>
                        <m:nor/>
                      </m:rPr>
                      <a:rPr lang="es-ES" sz="2000" b="0" i="0" smtClean="0">
                        <a:latin typeface="Cambria Math" panose="02040503050406030204" pitchFamily="18" charset="0"/>
                        <a:ea typeface="Cambria Math" panose="02040503050406030204" pitchFamily="18" charset="0"/>
                      </a:rPr>
                      <m:t>un</m:t>
                    </m:r>
                    <m:r>
                      <m:rPr>
                        <m:nor/>
                      </m:rPr>
                      <a:rPr lang="es-ES" sz="2000" b="0" i="0" smtClean="0">
                        <a:latin typeface="Cambria Math" panose="02040503050406030204" pitchFamily="18" charset="0"/>
                        <a:ea typeface="Cambria Math" panose="02040503050406030204" pitchFamily="18" charset="0"/>
                      </a:rPr>
                      <m:t> </m:t>
                    </m:r>
                    <m:r>
                      <m:rPr>
                        <m:nor/>
                      </m:rPr>
                      <a:rPr lang="es-ES" sz="2000" b="0" i="0" smtClean="0">
                        <a:latin typeface="Cambria Math" panose="02040503050406030204" pitchFamily="18" charset="0"/>
                        <a:ea typeface="Cambria Math" panose="02040503050406030204" pitchFamily="18" charset="0"/>
                      </a:rPr>
                      <m:t>d</m:t>
                    </m:r>
                    <m:r>
                      <m:rPr>
                        <m:nor/>
                      </m:rPr>
                      <a:rPr lang="es-ES" sz="2000" b="0" i="0" smtClean="0">
                        <a:latin typeface="Cambria Math" panose="02040503050406030204" pitchFamily="18" charset="0"/>
                        <a:ea typeface="Cambria Math" panose="02040503050406030204" pitchFamily="18" charset="0"/>
                      </a:rPr>
                      <m:t>í</m:t>
                    </m:r>
                    <m:r>
                      <m:rPr>
                        <m:nor/>
                      </m:rPr>
                      <a:rPr lang="es-ES" sz="2000" b="0" i="0" smtClean="0">
                        <a:latin typeface="Cambria Math" panose="02040503050406030204" pitchFamily="18" charset="0"/>
                        <a:ea typeface="Cambria Math" panose="02040503050406030204" pitchFamily="18" charset="0"/>
                      </a:rPr>
                      <m:t>a</m:t>
                    </m:r>
                    <m:r>
                      <a:rPr lang="es-ES" sz="2000" b="0" i="1" smtClean="0">
                        <a:latin typeface="Cambria Math" panose="02040503050406030204" pitchFamily="18" charset="0"/>
                        <a:ea typeface="Cambria Math" panose="02040503050406030204" pitchFamily="18" charset="0"/>
                      </a:rPr>
                      <m:t> </m:t>
                    </m:r>
                  </m:oMath>
                </a14:m>
                <a:endParaRPr lang="es-ES" sz="2000" b="0" dirty="0">
                  <a:ea typeface="Cambria Math" panose="02040503050406030204" pitchFamily="18" charset="0"/>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ea typeface="Cambria Math"/>
                  </a:rPr>
                  <a:t>Varianzas</a:t>
                </a:r>
                <a:endParaRPr lang="es-ES" sz="2800" b="0" strike="noStrike" spc="-1" dirty="0">
                  <a:solidFill>
                    <a:srgbClr val="000000"/>
                  </a:solidFill>
                  <a:latin typeface="Calibri"/>
                </a:endParaRPr>
              </a:p>
              <a:p>
                <a:pPr lvl="1"/>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sSup>
                      <m:sSupPr>
                        <m:ctrlPr>
                          <a:rPr lang="en-US" i="1" smtClean="0">
                            <a:latin typeface="Cambria Math" panose="02040503050406030204" pitchFamily="18" charset="0"/>
                          </a:rPr>
                        </m:ctrlPr>
                      </m:sSupPr>
                      <m:e>
                        <m:r>
                          <a:rPr lang="es-ES" b="0" i="1" smtClean="0">
                            <a:latin typeface="Cambria Math" panose="02040503050406030204" pitchFamily="18" charset="0"/>
                          </a:rPr>
                          <m:t>(</m:t>
                        </m:r>
                        <m:r>
                          <a:rPr lang="es-ES" b="0" i="1" smtClean="0">
                            <a:latin typeface="Cambria Math" panose="02040503050406030204" pitchFamily="18" charset="0"/>
                          </a:rPr>
                          <m:t>48</m:t>
                        </m:r>
                        <m:r>
                          <a:rPr lang="es-ES" b="0" i="1" smtClean="0">
                            <a:latin typeface="Cambria Math" panose="02040503050406030204" pitchFamily="18" charset="0"/>
                          </a:rPr>
                          <m:t>−</m:t>
                        </m:r>
                        <m:r>
                          <a:rPr lang="es-ES" b="0" i="1" smtClean="0">
                            <a:latin typeface="Cambria Math" panose="02040503050406030204" pitchFamily="18" charset="0"/>
                          </a:rPr>
                          <m:t>50</m:t>
                        </m:r>
                        <m:r>
                          <a:rPr lang="es-ES" b="0" i="1" smtClean="0">
                            <a:latin typeface="Cambria Math" panose="02040503050406030204" pitchFamily="18" charset="0"/>
                          </a:rPr>
                          <m:t>)</m:t>
                        </m:r>
                      </m:e>
                      <m:sup>
                        <m:r>
                          <a:rPr lang="es-ES" b="0" i="1" smtClean="0">
                            <a:latin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52</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50</m:t>
                            </m:r>
                          </m:e>
                        </m:d>
                      </m:e>
                      <m:sup>
                        <m:r>
                          <a:rPr lang="es-ES" b="0" i="1" smtClean="0">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4</m:t>
                    </m:r>
                    <m:r>
                      <a:rPr lang="es-ES" b="0" i="1" smtClean="0">
                        <a:latin typeface="Cambria Math" panose="02040503050406030204" pitchFamily="18" charset="0"/>
                        <a:ea typeface="Cambria Math" panose="02040503050406030204" pitchFamily="18" charset="0"/>
                      </a:rPr>
                      <m:t> </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𝑚𝑒𝑛𝑠𝑎𝑗𝑒𝑠</m:t>
                        </m:r>
                      </m:e>
                      <m:sup>
                        <m:r>
                          <a:rPr lang="es-ES" b="0" i="1" smtClean="0">
                            <a:latin typeface="Cambria Math" panose="02040503050406030204" pitchFamily="18" charset="0"/>
                            <a:ea typeface="Cambria Math" panose="02040503050406030204" pitchFamily="18" charset="0"/>
                          </a:rPr>
                          <m:t>2</m:t>
                        </m:r>
                      </m:sup>
                    </m:sSup>
                  </m:oMath>
                </a14:m>
                <a:endParaRPr lang="es-ES" b="0" dirty="0">
                  <a:ea typeface="Cambria Math" panose="02040503050406030204" pitchFamily="18" charset="0"/>
                </a:endParaRPr>
              </a:p>
              <a:p>
                <a:pPr lvl="1"/>
                <a14:m>
                  <m:oMath xmlns:m="http://schemas.openxmlformats.org/officeDocument/2006/math">
                    <m:sSup>
                      <m:sSupPr>
                        <m:ctrlPr>
                          <a:rPr lang="en-US" i="1">
                            <a:latin typeface="Cambria Math" panose="02040503050406030204" pitchFamily="18" charset="0"/>
                          </a:rPr>
                        </m:ctrlPr>
                      </m:sSupPr>
                      <m:e>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𝑌</m:t>
                            </m:r>
                          </m:e>
                        </m:d>
                        <m:r>
                          <a:rPr lang="es-ES" b="0" i="1" smtClean="0">
                            <a:latin typeface="Cambria Math" panose="02040503050406030204" pitchFamily="18" charset="0"/>
                          </a:rPr>
                          <m:t>=</m:t>
                        </m:r>
                        <m:r>
                          <a:rPr lang="es-ES" i="1">
                            <a:latin typeface="Cambria Math" panose="02040503050406030204" pitchFamily="18" charset="0"/>
                          </a:rPr>
                          <m:t>(</m:t>
                        </m:r>
                        <m:r>
                          <a:rPr lang="es-ES" b="0" i="1" smtClean="0">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50</m:t>
                        </m:r>
                        <m:r>
                          <a:rPr lang="es-ES" i="1">
                            <a:latin typeface="Cambria Math" panose="02040503050406030204" pitchFamily="18" charset="0"/>
                          </a:rPr>
                          <m:t>)</m:t>
                        </m:r>
                      </m:e>
                      <m:sup>
                        <m:r>
                          <a:rPr lang="es-ES" i="1">
                            <a:latin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5</m:t>
                    </m:r>
                    <m:r>
                      <a:rPr lang="es-ES" i="1">
                        <a:latin typeface="Cambria Math" panose="02040503050406030204" pitchFamily="18" charset="0"/>
                        <a:ea typeface="Cambria Math" panose="02040503050406030204" pitchFamily="18" charset="0"/>
                      </a:rPr>
                      <m:t>+</m:t>
                    </m:r>
                    <m:sSup>
                      <m:sSupPr>
                        <m:ctrlPr>
                          <a:rPr lang="es-ES" i="1">
                            <a:latin typeface="Cambria Math" panose="02040503050406030204" pitchFamily="18" charset="0"/>
                            <a:ea typeface="Cambria Math" panose="02040503050406030204" pitchFamily="18" charset="0"/>
                          </a:rPr>
                        </m:ctrlPr>
                      </m:sSupPr>
                      <m:e>
                        <m:d>
                          <m:dPr>
                            <m:ctrlPr>
                              <a:rPr lang="es-ES" b="0" i="1">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100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50</m:t>
                            </m:r>
                          </m:e>
                        </m:d>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5</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2500</m:t>
                    </m:r>
                    <m:r>
                      <a:rPr lang="es-ES" b="0" i="1" smtClean="0">
                        <a:latin typeface="Cambria Math" panose="02040503050406030204" pitchFamily="18" charset="0"/>
                        <a:ea typeface="Cambria Math" panose="02040503050406030204" pitchFamily="18" charset="0"/>
                      </a:rPr>
                      <m:t> </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𝑚𝑒𝑛𝑠𝑎𝑗𝑒𝑠</m:t>
                        </m:r>
                      </m:e>
                      <m:sup>
                        <m:r>
                          <a:rPr lang="es-ES" b="0" i="1" smtClean="0">
                            <a:latin typeface="Cambria Math" panose="02040503050406030204" pitchFamily="18" charset="0"/>
                            <a:ea typeface="Cambria Math" panose="02040503050406030204" pitchFamily="18" charset="0"/>
                          </a:rPr>
                          <m:t>2</m:t>
                        </m:r>
                      </m:sup>
                    </m:sSup>
                  </m:oMath>
                </a14:m>
                <a:endParaRPr lang="en-US"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ea typeface="Cambria Math"/>
                  </a:rPr>
                  <a:t>Solución</a:t>
                </a:r>
                <a:endParaRPr lang="es-ES" sz="28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ea typeface="Cambria Math"/>
                  </a:rPr>
                  <a:t>Ambos usuarios reciben el mismo número promedio de correos electrónicos (Esperanzas=50)</a:t>
                </a:r>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ea typeface="Cambria Math"/>
                  </a:rPr>
                  <a:t>Sin embargo, en el primer caso, el número de correos electrónicos es siempre cercano a la esperanza (50), mientras que en el segundo caso, siempre difiere de la esperanza en 50 </a:t>
                </a:r>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ea typeface="Cambria Math"/>
                  </a:rPr>
                  <a:t>La primera variable aleatoria, X, es más estable; tiene baja variabilidad. Tiene una varianza baja (4)</a:t>
                </a:r>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ea typeface="Cambria Math"/>
                  </a:rPr>
                  <a:t>La segunda variable, Y, tiene una alta variabilidad. Tiene una varianza alta (2500)</a:t>
                </a:r>
                <a:endParaRPr lang="es-ES" sz="24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41" name="PlaceHolder 2"/>
              <p:cNvSpPr>
                <a:spLocks noGrp="1" noRot="1" noChangeAspect="1" noMove="1" noResize="1" noEditPoints="1" noAdjustHandles="1" noChangeArrowheads="1" noChangeShapeType="1" noTextEdit="1"/>
              </p:cNvSpPr>
              <p:nvPr>
                <p:ph/>
              </p:nvPr>
            </p:nvSpPr>
            <p:spPr>
              <a:xfrm>
                <a:off x="838080" y="1825560"/>
                <a:ext cx="10515240" cy="4667400"/>
              </a:xfrm>
              <a:prstGeom prst="rect">
                <a:avLst/>
              </a:prstGeom>
              <a:blipFill>
                <a:blip r:embed="rId2"/>
                <a:stretch>
                  <a:fillRect l="-638" t="-2089" r="-174" b="-26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Desviación estándar</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43"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1" strike="noStrike" spc="-1" dirty="0" err="1">
                    <a:solidFill>
                      <a:srgbClr val="000000"/>
                    </a:solidFill>
                    <a:latin typeface="Calibri"/>
                  </a:rPr>
                  <a:t>Std</a:t>
                </a:r>
                <a:r>
                  <a:rPr lang="es-ES" sz="2800" b="1" strike="noStrike" spc="-1" dirty="0">
                    <a:solidFill>
                      <a:srgbClr val="000000"/>
                    </a:solidFill>
                    <a:latin typeface="Calibri"/>
                  </a:rPr>
                  <a:t>(X)</a:t>
                </a:r>
                <a:r>
                  <a:rPr lang="es-ES" sz="2800" b="0" strike="noStrike" spc="-1" dirty="0">
                    <a:solidFill>
                      <a:srgbClr val="000000"/>
                    </a:solidFill>
                    <a:latin typeface="Calibri"/>
                  </a:rPr>
                  <a:t>: La desviación estándar (o desviación típica) de una variable aleatoria X es la raíz cuadrada de la varianza.</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La desviación estándar es una medida de la variabilidad de una variable aleatoria.</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El valor de desviación estándar a menudo se denota por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s-ES" sz="2800" b="0" strike="noStrike" spc="-1" dirty="0">
                    <a:solidFill>
                      <a:srgbClr val="000000"/>
                    </a:solidFill>
                    <a:latin typeface="Calibri"/>
                  </a:rPr>
                  <a:t>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Si X es una variable </a:t>
                </a:r>
                <a:r>
                  <a:rPr lang="es-ES" spc="-1" dirty="0">
                    <a:solidFill>
                      <a:srgbClr val="000000"/>
                    </a:solidFill>
                    <a:latin typeface="Calibri"/>
                  </a:rPr>
                  <a:t>aleatoria</a:t>
                </a:r>
                <a:r>
                  <a:rPr lang="es-ES" sz="2800" b="0" strike="noStrike" spc="-1" dirty="0">
                    <a:solidFill>
                      <a:srgbClr val="000000"/>
                    </a:solidFill>
                    <a:latin typeface="Calibri"/>
                  </a:rPr>
                  <a:t>:</a:t>
                </a:r>
              </a:p>
              <a:p>
                <a:pPr lvl="1">
                  <a:spcBef>
                    <a:spcPts val="1001"/>
                  </a:spcBef>
                  <a:buClr>
                    <a:srgbClr val="000000"/>
                  </a:buClr>
                  <a:buFont typeface="Arial"/>
                  <a:buChar char="•"/>
                </a:pPr>
                <a14:m>
                  <m:oMath xmlns:m="http://schemas.openxmlformats.org/officeDocument/2006/math">
                    <m:r>
                      <a:rPr lang="en-US" sz="2000" i="1" smtClean="0">
                        <a:latin typeface="Cambria Math" panose="02040503050406030204" pitchFamily="18" charset="0"/>
                        <a:ea typeface="Cambria Math" panose="02040503050406030204" pitchFamily="18" charset="0"/>
                      </a:rPr>
                      <m:t>𝜎</m:t>
                    </m:r>
                    <m:r>
                      <a:rPr lang="es-ES" sz="2000" i="1">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𝑆𝑡𝑑</m:t>
                    </m:r>
                    <m:d>
                      <m:dPr>
                        <m:ctrlPr>
                          <a:rPr lang="es-ES" sz="2000" i="1">
                            <a:latin typeface="Cambria Math" panose="02040503050406030204" pitchFamily="18" charset="0"/>
                            <a:ea typeface="Cambria Math" panose="02040503050406030204" pitchFamily="18" charset="0"/>
                          </a:rPr>
                        </m:ctrlPr>
                      </m:dPr>
                      <m:e>
                        <m:r>
                          <a:rPr lang="es-ES" sz="2000" i="1">
                            <a:latin typeface="Cambria Math" panose="02040503050406030204" pitchFamily="18" charset="0"/>
                            <a:ea typeface="Cambria Math" panose="02040503050406030204" pitchFamily="18" charset="0"/>
                          </a:rPr>
                          <m:t>𝑋</m:t>
                        </m:r>
                      </m:e>
                    </m:d>
                    <m:r>
                      <a:rPr lang="es-ES" sz="2000" i="1">
                        <a:latin typeface="Cambria Math" panose="02040503050406030204" pitchFamily="18" charset="0"/>
                        <a:ea typeface="Cambria Math" panose="02040503050406030204" pitchFamily="18" charset="0"/>
                      </a:rPr>
                      <m:t>=</m:t>
                    </m:r>
                    <m:rad>
                      <m:radPr>
                        <m:degHide m:val="on"/>
                        <m:ctrlPr>
                          <a:rPr lang="es-ES" sz="2000" i="1" smtClean="0">
                            <a:latin typeface="Cambria Math" panose="02040503050406030204" pitchFamily="18" charset="0"/>
                            <a:ea typeface="Cambria Math" panose="02040503050406030204" pitchFamily="18" charset="0"/>
                          </a:rPr>
                        </m:ctrlPr>
                      </m:radPr>
                      <m:deg/>
                      <m:e>
                        <m:r>
                          <a:rPr lang="es-ES" sz="2000" b="0" i="1" smtClean="0">
                            <a:latin typeface="Cambria Math" panose="02040503050406030204" pitchFamily="18" charset="0"/>
                            <a:ea typeface="Cambria Math" panose="02040503050406030204" pitchFamily="18" charset="0"/>
                          </a:rPr>
                          <m:t>𝑉𝑎𝑟</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𝑋</m:t>
                        </m:r>
                        <m:r>
                          <a:rPr lang="es-ES" sz="2000" b="0" i="1" smtClean="0">
                            <a:latin typeface="Cambria Math" panose="02040503050406030204" pitchFamily="18" charset="0"/>
                            <a:ea typeface="Cambria Math" panose="02040503050406030204" pitchFamily="18" charset="0"/>
                          </a:rPr>
                          <m:t>)</m:t>
                        </m:r>
                      </m:e>
                    </m:rad>
                  </m:oMath>
                </a14:m>
                <a:endParaRPr lang="en-US" sz="2000"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desviación estándar se mide en las mismas unidades que X</a:t>
                </a:r>
              </a:p>
              <a:p>
                <a:pPr lvl="1">
                  <a:spcBef>
                    <a:spcPts val="1001"/>
                  </a:spcBef>
                  <a:buClr>
                    <a:srgbClr val="000000"/>
                  </a:buClr>
                  <a:buFont typeface="Arial"/>
                  <a:buChar char="•"/>
                </a:pPr>
                <a:r>
                  <a:rPr lang="es-ES" spc="-1" dirty="0">
                    <a:solidFill>
                      <a:srgbClr val="000000"/>
                    </a:solidFill>
                    <a:latin typeface="Calibri"/>
                  </a:rPr>
                  <a:t>Por ello se suele utilizar como alternativa a la varianza para medir variabilidad</a:t>
                </a:r>
                <a:endParaRPr lang="es-ES"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43"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2241" r="-58"/>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400" b="0" strike="noStrike" spc="-1" dirty="0">
                <a:solidFill>
                  <a:srgbClr val="000000"/>
                </a:solidFill>
                <a:latin typeface="Calibri Light"/>
              </a:rPr>
              <a:t>5. Características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Desviación estándar. Ejemplo 3.10</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45" name="PlaceHolder 2"/>
              <p:cNvSpPr>
                <a:spLocks noGrp="1"/>
              </p:cNvSpPr>
              <p:nvPr>
                <p:ph/>
              </p:nvPr>
            </p:nvSpPr>
            <p:spPr>
              <a:xfrm>
                <a:off x="838080" y="1825560"/>
                <a:ext cx="10515240" cy="4350960"/>
              </a:xfrm>
              <a:prstGeom prst="rect">
                <a:avLst/>
              </a:prstGeom>
              <a:noFill/>
              <a:ln w="0">
                <a:noFill/>
              </a:ln>
            </p:spPr>
            <p:txBody>
              <a:bodyPr anchor="t">
                <a:normAutofit fontScale="77500" lnSpcReduction="2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X=Número de mensajes de correo electrónico en un día recibidos por el primer usuario.</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Y=Número de mensajes de correo electrónico en un día recibidos por el otro usuario.</a:t>
                </a:r>
              </a:p>
              <a:p>
                <a:pPr marL="228600" indent="-228600">
                  <a:lnSpc>
                    <a:spcPct val="90000"/>
                  </a:lnSpc>
                  <a:spcBef>
                    <a:spcPts val="1001"/>
                  </a:spcBef>
                  <a:buClr>
                    <a:srgbClr val="000000"/>
                  </a:buClr>
                  <a:buFont typeface="Arial"/>
                  <a:buChar char="•"/>
                </a:pPr>
                <a:r>
                  <a:rPr lang="es-ES" spc="-1" dirty="0">
                    <a:solidFill>
                      <a:srgbClr val="000000"/>
                    </a:solidFill>
                    <a:latin typeface="Calibri"/>
                  </a:rPr>
                  <a:t>E</a:t>
                </a:r>
                <a:r>
                  <a:rPr lang="es-ES" sz="2800" b="0" strike="noStrike" spc="-1" dirty="0">
                    <a:solidFill>
                      <a:srgbClr val="000000"/>
                    </a:solidFill>
                    <a:latin typeface="Calibri"/>
                  </a:rPr>
                  <a:t>speranzas</a:t>
                </a:r>
              </a:p>
              <a:p>
                <a:pPr lvl="1"/>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n-US" i="1" smtClean="0">
                        <a:latin typeface="Cambria Math" panose="02040503050406030204" pitchFamily="18" charset="0"/>
                      </a:rPr>
                      <m:t>=</m:t>
                    </m:r>
                    <m:r>
                      <a:rPr lang="es-ES" b="0" i="1" smtClean="0">
                        <a:latin typeface="Cambria Math" panose="02040503050406030204" pitchFamily="18" charset="0"/>
                      </a:rPr>
                      <m:t>48</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52</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50</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𝑚𝑒𝑛𝑠𝑎𝑗𝑒𝑠</m:t>
                    </m:r>
                  </m:oMath>
                </a14:m>
                <a:endParaRPr lang="es-ES" b="0" dirty="0">
                  <a:ea typeface="Cambria Math" panose="02040503050406030204" pitchFamily="18" charset="0"/>
                </a:endParaRPr>
              </a:p>
              <a:p>
                <a:pPr lvl="1"/>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𝑌</m:t>
                        </m:r>
                      </m:e>
                    </m:d>
                    <m:r>
                      <a:rPr lang="en-US"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100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50</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𝑚𝑒𝑛𝑠𝑎𝑗𝑒𝑠</m:t>
                    </m:r>
                  </m:oMath>
                </a14:m>
                <a:endParaRPr lang="es-ES" b="0" dirty="0">
                  <a:ea typeface="Cambria Math" panose="02040503050406030204" pitchFamily="18" charset="0"/>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ea typeface="Cambria Math"/>
                  </a:rPr>
                  <a:t>Varianzas</a:t>
                </a:r>
                <a:endParaRPr lang="es-ES" sz="2800" b="0" strike="noStrike" spc="-1" dirty="0">
                  <a:solidFill>
                    <a:srgbClr val="000000"/>
                  </a:solidFill>
                  <a:latin typeface="Calibri"/>
                </a:endParaRPr>
              </a:p>
              <a:p>
                <a:pPr lvl="1"/>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sSup>
                      <m:sSupPr>
                        <m:ctrlPr>
                          <a:rPr lang="en-US" i="1" smtClean="0">
                            <a:latin typeface="Cambria Math" panose="02040503050406030204" pitchFamily="18" charset="0"/>
                          </a:rPr>
                        </m:ctrlPr>
                      </m:sSupPr>
                      <m:e>
                        <m:r>
                          <a:rPr lang="es-ES" b="0" i="1" smtClean="0">
                            <a:latin typeface="Cambria Math" panose="02040503050406030204" pitchFamily="18" charset="0"/>
                          </a:rPr>
                          <m:t>(</m:t>
                        </m:r>
                        <m:r>
                          <a:rPr lang="es-ES" b="0" i="1" smtClean="0">
                            <a:latin typeface="Cambria Math" panose="02040503050406030204" pitchFamily="18" charset="0"/>
                          </a:rPr>
                          <m:t>48</m:t>
                        </m:r>
                        <m:r>
                          <a:rPr lang="es-ES" b="0" i="1" smtClean="0">
                            <a:latin typeface="Cambria Math" panose="02040503050406030204" pitchFamily="18" charset="0"/>
                          </a:rPr>
                          <m:t>−</m:t>
                        </m:r>
                        <m:r>
                          <a:rPr lang="es-ES" b="0" i="1" smtClean="0">
                            <a:latin typeface="Cambria Math" panose="02040503050406030204" pitchFamily="18" charset="0"/>
                          </a:rPr>
                          <m:t>50</m:t>
                        </m:r>
                        <m:r>
                          <a:rPr lang="es-ES" b="0" i="1" smtClean="0">
                            <a:latin typeface="Cambria Math" panose="02040503050406030204" pitchFamily="18" charset="0"/>
                          </a:rPr>
                          <m:t>)</m:t>
                        </m:r>
                      </m:e>
                      <m:sup>
                        <m:r>
                          <a:rPr lang="es-ES" b="0" i="1" smtClean="0">
                            <a:latin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52</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50</m:t>
                        </m:r>
                        <m:r>
                          <a:rPr lang="es-ES" b="0" i="1" smtClean="0">
                            <a:latin typeface="Cambria Math" panose="02040503050406030204" pitchFamily="18" charset="0"/>
                            <a:ea typeface="Cambria Math" panose="02040503050406030204" pitchFamily="18" charset="0"/>
                          </a:rPr>
                          <m:t>)</m:t>
                        </m:r>
                      </m:e>
                      <m:sup>
                        <m:r>
                          <a:rPr lang="es-ES" b="0" i="1" smtClean="0">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4</m:t>
                    </m:r>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𝑚𝑒𝑛𝑠𝑎𝑗𝑒𝑠</m:t>
                        </m:r>
                      </m:e>
                      <m:sup>
                        <m:r>
                          <a:rPr lang="es-ES" i="1">
                            <a:latin typeface="Cambria Math" panose="02040503050406030204" pitchFamily="18" charset="0"/>
                            <a:ea typeface="Cambria Math" panose="02040503050406030204" pitchFamily="18" charset="0"/>
                          </a:rPr>
                          <m:t>2</m:t>
                        </m:r>
                      </m:sup>
                    </m:sSup>
                  </m:oMath>
                </a14:m>
                <a:endParaRPr lang="es-ES" b="0" dirty="0">
                  <a:ea typeface="Cambria Math" panose="02040503050406030204" pitchFamily="18" charset="0"/>
                </a:endParaRPr>
              </a:p>
              <a:p>
                <a:pPr lvl="1"/>
                <a14:m>
                  <m:oMath xmlns:m="http://schemas.openxmlformats.org/officeDocument/2006/math">
                    <m:sSup>
                      <m:sSupPr>
                        <m:ctrlPr>
                          <a:rPr lang="en-US" i="1">
                            <a:latin typeface="Cambria Math" panose="02040503050406030204" pitchFamily="18" charset="0"/>
                          </a:rPr>
                        </m:ctrlPr>
                      </m:sSupPr>
                      <m:e>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r>
                          <a:rPr lang="es-ES" i="1">
                            <a:latin typeface="Cambria Math" panose="02040503050406030204" pitchFamily="18" charset="0"/>
                          </a:rPr>
                          <m:t>(</m:t>
                        </m:r>
                        <m:r>
                          <a:rPr lang="es-ES" b="0" i="1" smtClean="0">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50</m:t>
                        </m:r>
                        <m:r>
                          <a:rPr lang="es-ES" i="1">
                            <a:latin typeface="Cambria Math" panose="02040503050406030204" pitchFamily="18" charset="0"/>
                          </a:rPr>
                          <m:t>)</m:t>
                        </m:r>
                      </m:e>
                      <m:sup>
                        <m:r>
                          <a:rPr lang="es-ES" i="1">
                            <a:latin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5</m:t>
                    </m:r>
                    <m:r>
                      <a:rPr lang="es-ES" i="1">
                        <a:latin typeface="Cambria Math" panose="02040503050406030204" pitchFamily="18" charset="0"/>
                        <a:ea typeface="Cambria Math" panose="02040503050406030204" pitchFamily="18" charset="0"/>
                      </a:rPr>
                      <m:t>+</m:t>
                    </m:r>
                    <m:sSup>
                      <m:sSupPr>
                        <m:ctrlPr>
                          <a:rPr lang="es-ES" i="1">
                            <a:latin typeface="Cambria Math" panose="02040503050406030204" pitchFamily="18" charset="0"/>
                            <a:ea typeface="Cambria Math" panose="02040503050406030204" pitchFamily="18" charset="0"/>
                          </a:rPr>
                        </m:ctrlPr>
                      </m:sSupPr>
                      <m:e>
                        <m:d>
                          <m:dPr>
                            <m:ctrlPr>
                              <a:rPr lang="es-ES" b="0" i="1">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100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50</m:t>
                            </m:r>
                          </m:e>
                        </m:d>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5</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2500</m:t>
                    </m:r>
                    <m:r>
                      <a:rPr lang="es-ES" b="0" i="1" smtClean="0">
                        <a:latin typeface="Cambria Math" panose="02040503050406030204" pitchFamily="18" charset="0"/>
                        <a:ea typeface="Cambria Math" panose="02040503050406030204" pitchFamily="18" charset="0"/>
                      </a:rPr>
                      <m:t> </m:t>
                    </m:r>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𝑚𝑒𝑛𝑠𝑎𝑗𝑒𝑠</m:t>
                        </m:r>
                      </m:e>
                      <m:sup>
                        <m:r>
                          <a:rPr lang="es-ES" i="1">
                            <a:latin typeface="Cambria Math" panose="02040503050406030204" pitchFamily="18" charset="0"/>
                            <a:ea typeface="Cambria Math" panose="02040503050406030204" pitchFamily="18" charset="0"/>
                          </a:rPr>
                          <m:t>2</m:t>
                        </m:r>
                      </m:sup>
                    </m:sSup>
                  </m:oMath>
                </a14:m>
                <a:endParaRPr lang="en-US"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ea typeface="Cambria Math"/>
                  </a:rPr>
                  <a:t>Desviaciones estándar</a:t>
                </a:r>
              </a:p>
              <a:p>
                <a:pPr lvl="1"/>
                <a14:m>
                  <m:oMath xmlns:m="http://schemas.openxmlformats.org/officeDocument/2006/math">
                    <m:r>
                      <m:rPr>
                        <m:sty m:val="p"/>
                      </m:rPr>
                      <a:rPr lang="es-ES" b="0" i="0" smtClean="0">
                        <a:latin typeface="Cambria Math" panose="02040503050406030204" pitchFamily="18" charset="0"/>
                      </a:rPr>
                      <m:t>Std</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n-US" i="1" smtClean="0">
                        <a:latin typeface="Cambria Math" panose="02040503050406030204" pitchFamily="18" charset="0"/>
                      </a:rPr>
                      <m:t>=</m:t>
                    </m:r>
                    <m:rad>
                      <m:radPr>
                        <m:degHide m:val="on"/>
                        <m:ctrlPr>
                          <a:rPr lang="en-US" i="1" smtClean="0">
                            <a:latin typeface="Cambria Math" panose="02040503050406030204" pitchFamily="18" charset="0"/>
                          </a:rPr>
                        </m:ctrlPr>
                      </m:radPr>
                      <m:deg/>
                      <m:e>
                        <m:r>
                          <a:rPr lang="es-ES" b="0" i="1" smtClean="0">
                            <a:latin typeface="Cambria Math" panose="02040503050406030204" pitchFamily="18" charset="0"/>
                          </a:rPr>
                          <m:t>4</m:t>
                        </m:r>
                      </m:e>
                    </m:rad>
                    <m:r>
                      <a:rPr lang="es-ES" b="0" i="1" smtClean="0">
                        <a:latin typeface="Cambria Math" panose="02040503050406030204" pitchFamily="18" charset="0"/>
                      </a:rPr>
                      <m:t>=</m:t>
                    </m:r>
                    <m:r>
                      <a:rPr lang="es-ES" b="0" i="1" smtClean="0">
                        <a:latin typeface="Cambria Math" panose="02040503050406030204" pitchFamily="18" charset="0"/>
                      </a:rPr>
                      <m:t>2</m:t>
                    </m:r>
                    <m:r>
                      <a:rPr lang="es-ES" b="0" i="1" smtClean="0">
                        <a:latin typeface="Cambria Math" panose="02040503050406030204" pitchFamily="18" charset="0"/>
                      </a:rPr>
                      <m:t> </m:t>
                    </m:r>
                    <m:r>
                      <a:rPr lang="es-ES" b="0" i="1" smtClean="0">
                        <a:latin typeface="Cambria Math" panose="02040503050406030204" pitchFamily="18" charset="0"/>
                      </a:rPr>
                      <m:t>𝑚𝑒𝑛𝑠𝑎𝑗𝑒𝑠</m:t>
                    </m:r>
                  </m:oMath>
                </a14:m>
                <a:endParaRPr lang="es-ES" b="0" dirty="0">
                  <a:ea typeface="Cambria Math" panose="02040503050406030204" pitchFamily="18" charset="0"/>
                </a:endParaRPr>
              </a:p>
              <a:p>
                <a:pPr lvl="1"/>
                <a14:m>
                  <m:oMath xmlns:m="http://schemas.openxmlformats.org/officeDocument/2006/math">
                    <m:r>
                      <a:rPr lang="es-ES" b="0" i="1" smtClean="0">
                        <a:latin typeface="Cambria Math" panose="02040503050406030204" pitchFamily="18" charset="0"/>
                      </a:rPr>
                      <m:t>𝑆𝑡𝑑</m:t>
                    </m:r>
                    <m:d>
                      <m:dPr>
                        <m:ctrlPr>
                          <a:rPr lang="es-ES" b="0" i="1" smtClean="0">
                            <a:latin typeface="Cambria Math" panose="02040503050406030204" pitchFamily="18" charset="0"/>
                          </a:rPr>
                        </m:ctrlPr>
                      </m:dPr>
                      <m:e>
                        <m:r>
                          <a:rPr lang="es-ES" b="0" i="1" smtClean="0">
                            <a:latin typeface="Cambria Math" panose="02040503050406030204" pitchFamily="18" charset="0"/>
                          </a:rPr>
                          <m:t>𝑌</m:t>
                        </m:r>
                      </m:e>
                    </m:d>
                    <m:r>
                      <a:rPr lang="en-US" i="1" smtClean="0">
                        <a:latin typeface="Cambria Math" panose="02040503050406030204" pitchFamily="18" charset="0"/>
                      </a:rPr>
                      <m:t>=</m:t>
                    </m:r>
                    <m:rad>
                      <m:radPr>
                        <m:degHide m:val="on"/>
                        <m:ctrlPr>
                          <a:rPr lang="en-US" i="1">
                            <a:latin typeface="Cambria Math" panose="02040503050406030204" pitchFamily="18" charset="0"/>
                          </a:rPr>
                        </m:ctrlPr>
                      </m:radPr>
                      <m:deg/>
                      <m:e>
                        <m:r>
                          <a:rPr lang="es-ES" b="0" i="1" smtClean="0">
                            <a:latin typeface="Cambria Math" panose="02040503050406030204" pitchFamily="18" charset="0"/>
                          </a:rPr>
                          <m:t>2500</m:t>
                        </m:r>
                      </m:e>
                    </m:rad>
                    <m:r>
                      <a:rPr lang="es-ES" b="0" i="1" smtClean="0">
                        <a:latin typeface="Cambria Math" panose="02040503050406030204" pitchFamily="18" charset="0"/>
                      </a:rPr>
                      <m:t>=</m:t>
                    </m:r>
                    <m:r>
                      <a:rPr lang="es-ES" b="0" i="1" smtClean="0">
                        <a:latin typeface="Cambria Math" panose="02040503050406030204" pitchFamily="18" charset="0"/>
                      </a:rPr>
                      <m:t>50</m:t>
                    </m:r>
                    <m:r>
                      <a:rPr lang="es-ES" b="0" i="1" smtClean="0">
                        <a:latin typeface="Cambria Math" panose="02040503050406030204" pitchFamily="18" charset="0"/>
                      </a:rPr>
                      <m:t> </m:t>
                    </m:r>
                    <m:r>
                      <a:rPr lang="es-ES" b="0" i="1" smtClean="0">
                        <a:latin typeface="Cambria Math" panose="02040503050406030204" pitchFamily="18" charset="0"/>
                      </a:rPr>
                      <m:t>𝑚𝑒𝑛𝑠𝑎𝑗𝑒𝑠</m:t>
                    </m:r>
                  </m:oMath>
                </a14:m>
                <a:endParaRPr lang="en-US" dirty="0"/>
              </a:p>
              <a:p>
                <a:pPr marL="457200" lvl="1" indent="0">
                  <a:spcBef>
                    <a:spcPts val="1001"/>
                  </a:spcBef>
                  <a:buClr>
                    <a:srgbClr val="000000"/>
                  </a:buClr>
                  <a:buNone/>
                </a:pPr>
                <a:endParaRPr lang="es-ES"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45"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638" t="-280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pc="-1" dirty="0">
                <a:solidFill>
                  <a:srgbClr val="000000"/>
                </a:solidFill>
                <a:latin typeface="Calibri Light"/>
              </a:rPr>
              <a:t>5</a:t>
            </a:r>
            <a:r>
              <a:rPr lang="es-ES" sz="4400" b="0" strike="noStrike" spc="-1" dirty="0">
                <a:solidFill>
                  <a:srgbClr val="000000"/>
                </a:solidFill>
                <a:latin typeface="Calibri Light"/>
              </a:rPr>
              <a:t>. Características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La desigualdad de </a:t>
            </a:r>
            <a:r>
              <a:rPr lang="es-ES" sz="4400" b="0" strike="noStrike" spc="-1" dirty="0" err="1">
                <a:solidFill>
                  <a:srgbClr val="000000"/>
                </a:solidFill>
                <a:latin typeface="Calibri Light"/>
              </a:rPr>
              <a:t>Chebyshev</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59" name="PlaceHolder 2"/>
              <p:cNvSpPr>
                <a:spLocks noGrp="1"/>
              </p:cNvSpPr>
              <p:nvPr>
                <p:ph/>
              </p:nvPr>
            </p:nvSpPr>
            <p:spPr>
              <a:xfrm>
                <a:off x="838080" y="1825560"/>
                <a:ext cx="10515240" cy="4350960"/>
              </a:xfrm>
              <a:prstGeom prst="rect">
                <a:avLst/>
              </a:prstGeom>
              <a:noFill/>
              <a:ln w="0">
                <a:noFill/>
              </a:ln>
            </p:spPr>
            <p:txBody>
              <a:bodyPr anchor="t">
                <a:normAutofit fontScale="90500" lnSpcReduction="2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Conociendo solo la esperanza y la varianza de una variable aleatoria, se puede encontrar el rango de valores más más probables de la variable</a:t>
                </a:r>
              </a:p>
              <a:p>
                <a:pPr>
                  <a:spcBef>
                    <a:spcPts val="1001"/>
                  </a:spcBef>
                  <a:buClr>
                    <a:srgbClr val="000000"/>
                  </a:buClr>
                  <a:buFont typeface="Arial"/>
                  <a:buChar char="•"/>
                </a:pPr>
                <a:r>
                  <a:rPr lang="es-ES" sz="2800" b="0" strike="noStrike" spc="-1" dirty="0">
                    <a:solidFill>
                      <a:srgbClr val="000000"/>
                    </a:solidFill>
                    <a:latin typeface="Calibri"/>
                  </a:rPr>
                  <a:t>Para cualquier distribución con esperanza </a:t>
                </a:r>
                <a14:m>
                  <m:oMath xmlns:m="http://schemas.openxmlformats.org/officeDocument/2006/math">
                    <m:r>
                      <a:rPr lang="es-ES" sz="2800" b="0" i="1" strike="noStrike" spc="-1" dirty="0" smtClean="0">
                        <a:solidFill>
                          <a:srgbClr val="000000"/>
                        </a:solidFill>
                        <a:latin typeface="Cambria Math" panose="02040503050406030204" pitchFamily="18" charset="0"/>
                      </a:rPr>
                      <m:t>𝐸</m:t>
                    </m:r>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𝑋</m:t>
                    </m:r>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𝜇</m:t>
                    </m:r>
                  </m:oMath>
                </a14:m>
                <a:r>
                  <a:rPr lang="es-ES" sz="2800" b="0" strike="noStrike" spc="-1" dirty="0">
                    <a:solidFill>
                      <a:srgbClr val="000000"/>
                    </a:solidFill>
                    <a:latin typeface="Calibri"/>
                  </a:rPr>
                  <a:t> y varianza </a:t>
                </a:r>
                <a14:m>
                  <m:oMath xmlns:m="http://schemas.openxmlformats.org/officeDocument/2006/math">
                    <m:sSup>
                      <m:sSupPr>
                        <m:ctrlPr>
                          <a:rPr lang="en-US" i="1" smtClean="0">
                            <a:latin typeface="Cambria Math" panose="02040503050406030204" pitchFamily="18" charset="0"/>
                          </a:rPr>
                        </m:ctrlPr>
                      </m:sSupPr>
                      <m:e>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𝜎</m:t>
                        </m:r>
                      </m:e>
                      <m:sup>
                        <m:r>
                          <a:rPr lang="en-US" i="1" smtClean="0">
                            <a:latin typeface="Cambria Math" panose="02040503050406030204" pitchFamily="18" charset="0"/>
                          </a:rPr>
                          <m:t>2</m:t>
                        </m:r>
                      </m:sup>
                    </m:sSup>
                  </m:oMath>
                </a14:m>
                <a:r>
                  <a:rPr lang="en-US" dirty="0"/>
                  <a:t>, </a:t>
                </a:r>
                <a:r>
                  <a:rPr lang="es-ES" sz="2800" b="0" strike="noStrike" spc="-1" dirty="0">
                    <a:solidFill>
                      <a:srgbClr val="000000"/>
                    </a:solidFill>
                    <a:latin typeface="Calibri"/>
                  </a:rPr>
                  <a:t>y para cualquier valor </a:t>
                </a:r>
                <a:r>
                  <a:rPr lang="en-US" dirty="0"/>
                  <a:t>ε </a:t>
                </a:r>
                <a:r>
                  <a:rPr lang="es-ES" sz="2800" b="0" strike="noStrike" spc="-1" dirty="0">
                    <a:solidFill>
                      <a:srgbClr val="000000"/>
                    </a:solidFill>
                    <a:latin typeface="Calibri"/>
                  </a:rPr>
                  <a:t>positivo, se cumple</a:t>
                </a:r>
              </a:p>
              <a:p>
                <a:pPr lvl="1">
                  <a:spcBef>
                    <a:spcPts val="1001"/>
                  </a:spcBef>
                  <a:buClr>
                    <a:srgbClr val="000000"/>
                  </a:buClr>
                  <a:buFont typeface="Arial"/>
                  <a:buChar char="•"/>
                </a:pPr>
                <a14:m>
                  <m:oMath xmlns:m="http://schemas.openxmlformats.org/officeDocument/2006/math">
                    <m:r>
                      <a:rPr lang="es-ES" b="0" i="1" smtClean="0">
                        <a:latin typeface="Cambria Math" panose="02040503050406030204" pitchFamily="18" charset="0"/>
                      </a:rPr>
                      <m:t>𝑃</m:t>
                    </m:r>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𝜇</m:t>
                        </m:r>
                      </m:e>
                    </m:d>
                    <m:r>
                      <a:rPr lang="es-ES" b="0" i="1" smtClean="0">
                        <a:latin typeface="Cambria Math" panose="02040503050406030204" pitchFamily="18" charset="0"/>
                      </a:rPr>
                      <m:t>&gt;</m:t>
                    </m:r>
                    <m:r>
                      <a:rPr lang="es-ES" b="0" i="1" smtClean="0">
                        <a:latin typeface="Cambria Math" panose="02040503050406030204" pitchFamily="18" charset="0"/>
                        <a:ea typeface="Cambria Math" panose="02040503050406030204" pitchFamily="18" charset="0"/>
                      </a:rPr>
                      <m:t>𝜀</m:t>
                    </m:r>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d>
                          <m:dPr>
                            <m:ctrlPr>
                              <a:rPr lang="es-ES" b="0" i="1" smtClean="0">
                                <a:latin typeface="Cambria Math" panose="02040503050406030204" pitchFamily="18" charset="0"/>
                                <a:ea typeface="Cambria Math" panose="02040503050406030204" pitchFamily="18" charset="0"/>
                              </a:rPr>
                            </m:ctrlPr>
                          </m:dPr>
                          <m:e>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𝜎</m:t>
                                </m:r>
                              </m:num>
                              <m:den>
                                <m:r>
                                  <a:rPr lang="es-ES" b="0" i="1" smtClean="0">
                                    <a:latin typeface="Cambria Math" panose="02040503050406030204" pitchFamily="18" charset="0"/>
                                    <a:ea typeface="Cambria Math" panose="02040503050406030204" pitchFamily="18" charset="0"/>
                                  </a:rPr>
                                  <m:t>𝜀</m:t>
                                </m:r>
                              </m:den>
                            </m:f>
                          </m:e>
                        </m:d>
                      </m:e>
                      <m:sup>
                        <m:r>
                          <a:rPr lang="es-ES" b="0" i="1" smtClean="0">
                            <a:latin typeface="Cambria Math" panose="02040503050406030204" pitchFamily="18" charset="0"/>
                            <a:ea typeface="Cambria Math" panose="02040503050406030204" pitchFamily="18" charset="0"/>
                          </a:rPr>
                          <m:t>2</m:t>
                        </m:r>
                      </m:sup>
                    </m:sSup>
                  </m:oMath>
                </a14:m>
                <a:endParaRPr lang="es-ES"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desigualdad de </a:t>
                </a:r>
                <a:r>
                  <a:rPr lang="es-ES" sz="2800" b="0" strike="noStrike" spc="-1" dirty="0" err="1">
                    <a:solidFill>
                      <a:srgbClr val="000000"/>
                    </a:solidFill>
                    <a:latin typeface="Calibri"/>
                  </a:rPr>
                  <a:t>Chebyshev</a:t>
                </a:r>
                <a:r>
                  <a:rPr lang="es-ES" sz="2800" b="0" strike="noStrike" spc="-1" dirty="0">
                    <a:solidFill>
                      <a:srgbClr val="000000"/>
                    </a:solidFill>
                    <a:latin typeface="Calibri"/>
                  </a:rPr>
                  <a:t> muestra que, en general, la varianza más alta implica mayores probabilidades de grandes desviaciones, y esto aumenta el riesgo de que una variable aleatoria tome valores lejos de su esperanza.</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Ejemplos de aplicación:</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Evaluar riesgos de acuerdos financieros, asignar fondos, crear carteras de valores óptimas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Asignar de forma óptima la memoria del ordenador, el tiempo de CPU, u otros recursos</a:t>
                </a:r>
              </a:p>
              <a:p>
                <a:pPr>
                  <a:lnSpc>
                    <a:spcPct val="90000"/>
                  </a:lnSpc>
                  <a:spcBef>
                    <a:spcPts val="1001"/>
                  </a:spcBef>
                  <a:buNone/>
                </a:pPr>
                <a:endParaRPr lang="es-ES" sz="2800" b="0" strike="noStrike" spc="-1" dirty="0">
                  <a:solidFill>
                    <a:srgbClr val="000000"/>
                  </a:solidFill>
                  <a:latin typeface="Calibri"/>
                </a:endParaRPr>
              </a:p>
            </p:txBody>
          </p:sp>
        </mc:Choice>
        <mc:Fallback xmlns="">
          <p:sp>
            <p:nvSpPr>
              <p:cNvPr id="159"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812" t="-3221" r="-1043"/>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27</a:t>
            </a:fld>
            <a:endParaRPr/>
          </a:p>
        </p:txBody>
      </p:sp>
    </p:spTree>
    <p:extLst>
      <p:ext uri="{BB962C8B-B14F-4D97-AF65-F5344CB8AC3E}">
        <p14:creationId xmlns:p14="http://schemas.microsoft.com/office/powerpoint/2010/main" val="995088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pc="-1" dirty="0">
                <a:solidFill>
                  <a:srgbClr val="000000"/>
                </a:solidFill>
                <a:latin typeface="Calibri Light"/>
              </a:rPr>
              <a:t>5</a:t>
            </a:r>
            <a:r>
              <a:rPr lang="es-ES" sz="4400" b="0" strike="noStrike" spc="-1" dirty="0">
                <a:solidFill>
                  <a:srgbClr val="000000"/>
                </a:solidFill>
                <a:latin typeface="Calibri Light"/>
              </a:rPr>
              <a:t>. Características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La desigualdad de </a:t>
            </a:r>
            <a:r>
              <a:rPr lang="es-ES" sz="4400" b="0" strike="noStrike" spc="-1" dirty="0" err="1">
                <a:solidFill>
                  <a:srgbClr val="000000"/>
                </a:solidFill>
                <a:latin typeface="Calibri Light"/>
              </a:rPr>
              <a:t>Chebyshev</a:t>
            </a:r>
            <a:r>
              <a:rPr lang="es-ES" sz="4400" b="0" strike="noStrike" spc="-1" dirty="0">
                <a:solidFill>
                  <a:srgbClr val="000000"/>
                </a:solidFill>
                <a:latin typeface="Calibri Light"/>
              </a:rPr>
              <a:t>. Ejemplo 3.12</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61" name="PlaceHolder 2"/>
              <p:cNvSpPr>
                <a:spLocks noGrp="1"/>
              </p:cNvSpPr>
              <p:nvPr>
                <p:ph/>
              </p:nvPr>
            </p:nvSpPr>
            <p:spPr>
              <a:xfrm>
                <a:off x="838080" y="1825560"/>
                <a:ext cx="10515240" cy="4350960"/>
              </a:xfrm>
              <a:prstGeom prst="rect">
                <a:avLst/>
              </a:prstGeom>
              <a:noFill/>
              <a:ln w="0">
                <a:noFill/>
              </a:ln>
            </p:spPr>
            <p:txBody>
              <a:bodyPr anchor="t">
                <a:normAutofit lnSpcReduction="10000"/>
              </a:bodyPr>
              <a:lstStyle/>
              <a:p>
                <a:pPr marL="0" indent="0">
                  <a:spcBef>
                    <a:spcPts val="1001"/>
                  </a:spcBef>
                  <a:buClr>
                    <a:srgbClr val="000000"/>
                  </a:buClr>
                  <a:buNone/>
                </a:pPr>
                <a:r>
                  <a:rPr lang="es-ES" spc="-1" dirty="0">
                    <a:solidFill>
                      <a:srgbClr val="000000"/>
                    </a:solidFill>
                  </a:rPr>
                  <a:t>El número de errores en un nuevo software es una variable aleatoria con una esperanza de 20 errores y una desviación estándar de 2 errores</a:t>
                </a:r>
              </a:p>
              <a:p>
                <a:pPr>
                  <a:spcBef>
                    <a:spcPts val="1001"/>
                  </a:spcBef>
                  <a:buClr>
                    <a:srgbClr val="000000"/>
                  </a:buClr>
                  <a:buFont typeface="Arial"/>
                  <a:buChar char="•"/>
                </a:pPr>
                <a:r>
                  <a:rPr lang="es-ES" spc="-1" dirty="0">
                    <a:solidFill>
                      <a:srgbClr val="000000"/>
                    </a:solidFill>
                  </a:rPr>
                  <a:t>a) ¿Cuál es la probabilidad de que el software tenga más de 30 errores? </a:t>
                </a:r>
              </a:p>
              <a:p>
                <a:pPr lvl="1">
                  <a:spcBef>
                    <a:spcPts val="499"/>
                  </a:spcBef>
                  <a:buClr>
                    <a:srgbClr val="000000"/>
                  </a:buClr>
                  <a:buFont typeface="Arial"/>
                  <a:buChar char="•"/>
                </a:pPr>
                <a:r>
                  <a:rPr lang="es-ES" spc="-1" dirty="0">
                    <a:solidFill>
                      <a:srgbClr val="000000"/>
                    </a:solidFill>
                  </a:rPr>
                  <a:t>Solución: No se puede calcular la probabilidad exacta, sólo el valor máximo posible de esa probabilidad, aplicando la desigualdad de </a:t>
                </a:r>
                <a:r>
                  <a:rPr lang="es-ES" spc="-1" dirty="0" err="1">
                    <a:solidFill>
                      <a:srgbClr val="000000"/>
                    </a:solidFill>
                  </a:rPr>
                  <a:t>Chebyshev</a:t>
                </a:r>
                <a:endParaRPr lang="es-ES" spc="-1" dirty="0">
                  <a:solidFill>
                    <a:srgbClr val="000000"/>
                  </a:solidFill>
                </a:endParaRPr>
              </a:p>
              <a:p>
                <a:pPr lvl="2">
                  <a:spcBef>
                    <a:spcPts val="499"/>
                  </a:spcBef>
                  <a:buClr>
                    <a:srgbClr val="000000"/>
                  </a:buClr>
                  <a:buFont typeface="Arial"/>
                  <a:buChar char="•"/>
                </a:pPr>
                <a14:m>
                  <m:oMath xmlns:m="http://schemas.openxmlformats.org/officeDocument/2006/math">
                    <m:r>
                      <a:rPr lang="es-ES" sz="1600" i="1">
                        <a:latin typeface="Cambria Math" panose="02040503050406030204" pitchFamily="18" charset="0"/>
                      </a:rPr>
                      <m:t>𝑃</m:t>
                    </m:r>
                    <m:d>
                      <m:dPr>
                        <m:begChr m:val="{"/>
                        <m:endChr m:val="}"/>
                        <m:ctrlPr>
                          <a:rPr lang="es-ES" sz="1600" i="1">
                            <a:latin typeface="Cambria Math" panose="02040503050406030204" pitchFamily="18" charset="0"/>
                          </a:rPr>
                        </m:ctrlPr>
                      </m:dPr>
                      <m:e>
                        <m:r>
                          <a:rPr lang="es-ES" sz="1600" i="1">
                            <a:latin typeface="Cambria Math" panose="02040503050406030204" pitchFamily="18" charset="0"/>
                          </a:rPr>
                          <m:t>𝑋</m:t>
                        </m:r>
                        <m:r>
                          <a:rPr lang="es-ES" sz="1600" i="1">
                            <a:latin typeface="Cambria Math" panose="02040503050406030204" pitchFamily="18" charset="0"/>
                          </a:rPr>
                          <m:t>&gt;</m:t>
                        </m:r>
                        <m:r>
                          <a:rPr lang="es-ES" sz="1600" i="1">
                            <a:latin typeface="Cambria Math" panose="02040503050406030204" pitchFamily="18" charset="0"/>
                          </a:rPr>
                          <m:t>30</m:t>
                        </m:r>
                      </m:e>
                    </m:d>
                    <m:r>
                      <a:rPr lang="es-ES" sz="1600" i="1">
                        <a:latin typeface="Cambria Math" panose="02040503050406030204" pitchFamily="18" charset="0"/>
                      </a:rPr>
                      <m:t>=</m:t>
                    </m:r>
                    <m:r>
                      <a:rPr lang="es-ES" sz="1600" i="1">
                        <a:latin typeface="Cambria Math" panose="02040503050406030204" pitchFamily="18" charset="0"/>
                      </a:rPr>
                      <m:t>𝑃</m:t>
                    </m:r>
                    <m:d>
                      <m:dPr>
                        <m:begChr m:val="{"/>
                        <m:endChr m:val="}"/>
                        <m:ctrlPr>
                          <a:rPr lang="es-ES" sz="1600" i="1">
                            <a:latin typeface="Cambria Math" panose="02040503050406030204" pitchFamily="18" charset="0"/>
                          </a:rPr>
                        </m:ctrlPr>
                      </m:dPr>
                      <m:e>
                        <m:d>
                          <m:dPr>
                            <m:begChr m:val="|"/>
                            <m:endChr m:val="|"/>
                            <m:ctrlPr>
                              <a:rPr lang="es-ES" sz="1600" i="1">
                                <a:latin typeface="Cambria Math" panose="02040503050406030204" pitchFamily="18" charset="0"/>
                              </a:rPr>
                            </m:ctrlPr>
                          </m:dPr>
                          <m:e>
                            <m:r>
                              <a:rPr lang="es-ES" sz="1600" i="1">
                                <a:latin typeface="Cambria Math" panose="02040503050406030204" pitchFamily="18" charset="0"/>
                              </a:rPr>
                              <m:t>𝑋</m:t>
                            </m:r>
                            <m:r>
                              <a:rPr lang="es-ES" sz="1600" i="1">
                                <a:latin typeface="Cambria Math" panose="02040503050406030204" pitchFamily="18" charset="0"/>
                              </a:rPr>
                              <m:t>−</m:t>
                            </m:r>
                            <m:r>
                              <a:rPr lang="es-ES" sz="1600" i="1">
                                <a:latin typeface="Cambria Math" panose="02040503050406030204" pitchFamily="18" charset="0"/>
                              </a:rPr>
                              <m:t>20</m:t>
                            </m:r>
                          </m:e>
                        </m:d>
                        <m:r>
                          <a:rPr lang="es-ES" sz="1600" i="1">
                            <a:latin typeface="Cambria Math" panose="02040503050406030204" pitchFamily="18" charset="0"/>
                          </a:rPr>
                          <m:t>&gt;</m:t>
                        </m:r>
                        <m:r>
                          <a:rPr lang="es-ES" sz="1600" i="1">
                            <a:latin typeface="Cambria Math" panose="02040503050406030204" pitchFamily="18" charset="0"/>
                          </a:rPr>
                          <m:t>10</m:t>
                        </m:r>
                      </m:e>
                    </m:d>
                    <m:r>
                      <a:rPr lang="es-ES" sz="1600" i="1">
                        <a:latin typeface="Cambria Math" panose="02040503050406030204" pitchFamily="18" charset="0"/>
                        <a:ea typeface="Cambria Math" panose="02040503050406030204" pitchFamily="18" charset="0"/>
                      </a:rPr>
                      <m:t>≤</m:t>
                    </m:r>
                    <m:sSup>
                      <m:sSupPr>
                        <m:ctrlPr>
                          <a:rPr lang="es-ES" sz="1600" i="1">
                            <a:latin typeface="Cambria Math" panose="02040503050406030204" pitchFamily="18" charset="0"/>
                            <a:ea typeface="Cambria Math" panose="02040503050406030204" pitchFamily="18" charset="0"/>
                          </a:rPr>
                        </m:ctrlPr>
                      </m:sSupPr>
                      <m:e>
                        <m:d>
                          <m:dPr>
                            <m:ctrlPr>
                              <a:rPr lang="es-ES" sz="1600" i="1">
                                <a:latin typeface="Cambria Math" panose="02040503050406030204" pitchFamily="18" charset="0"/>
                                <a:ea typeface="Cambria Math" panose="02040503050406030204" pitchFamily="18" charset="0"/>
                              </a:rPr>
                            </m:ctrlPr>
                          </m:dPr>
                          <m:e>
                            <m:f>
                              <m:fPr>
                                <m:ctrlPr>
                                  <a:rPr lang="es-ES" sz="1600" i="1">
                                    <a:latin typeface="Cambria Math" panose="02040503050406030204" pitchFamily="18" charset="0"/>
                                    <a:ea typeface="Cambria Math" panose="02040503050406030204" pitchFamily="18" charset="0"/>
                                  </a:rPr>
                                </m:ctrlPr>
                              </m:fPr>
                              <m:num>
                                <m:r>
                                  <a:rPr lang="es-ES" sz="1600" i="1">
                                    <a:latin typeface="Cambria Math" panose="02040503050406030204" pitchFamily="18" charset="0"/>
                                    <a:ea typeface="Cambria Math" panose="02040503050406030204" pitchFamily="18" charset="0"/>
                                  </a:rPr>
                                  <m:t>2</m:t>
                                </m:r>
                              </m:num>
                              <m:den>
                                <m:r>
                                  <a:rPr lang="es-ES" sz="1600" i="1">
                                    <a:latin typeface="Cambria Math" panose="02040503050406030204" pitchFamily="18" charset="0"/>
                                    <a:ea typeface="Cambria Math" panose="02040503050406030204" pitchFamily="18" charset="0"/>
                                  </a:rPr>
                                  <m:t>10</m:t>
                                </m:r>
                              </m:den>
                            </m:f>
                          </m:e>
                        </m:d>
                      </m:e>
                      <m:sup>
                        <m:r>
                          <a:rPr lang="es-ES" sz="1600" i="1">
                            <a:latin typeface="Cambria Math" panose="02040503050406030204" pitchFamily="18" charset="0"/>
                            <a:ea typeface="Cambria Math" panose="02040503050406030204" pitchFamily="18" charset="0"/>
                          </a:rPr>
                          <m:t>2</m:t>
                        </m:r>
                      </m:sup>
                    </m:sSup>
                    <m:r>
                      <a:rPr lang="es-ES" sz="1600" i="1">
                        <a:latin typeface="Cambria Math" panose="02040503050406030204" pitchFamily="18" charset="0"/>
                        <a:ea typeface="Cambria Math" panose="02040503050406030204" pitchFamily="18" charset="0"/>
                      </a:rPr>
                      <m:t>=</m:t>
                    </m:r>
                    <m:r>
                      <a:rPr lang="es-ES" sz="1600" i="1">
                        <a:latin typeface="Cambria Math" panose="02040503050406030204" pitchFamily="18" charset="0"/>
                        <a:ea typeface="Cambria Math" panose="02040503050406030204" pitchFamily="18" charset="0"/>
                      </a:rPr>
                      <m:t>0</m:t>
                    </m:r>
                    <m:r>
                      <a:rPr lang="es-ES" sz="1600" i="1">
                        <a:latin typeface="Cambria Math" panose="02040503050406030204" pitchFamily="18" charset="0"/>
                        <a:ea typeface="Cambria Math" panose="02040503050406030204" pitchFamily="18" charset="0"/>
                      </a:rPr>
                      <m:t>.</m:t>
                    </m:r>
                    <m:r>
                      <a:rPr lang="es-ES" sz="1600" i="1">
                        <a:latin typeface="Cambria Math" panose="02040503050406030204" pitchFamily="18" charset="0"/>
                        <a:ea typeface="Cambria Math" panose="02040503050406030204" pitchFamily="18" charset="0"/>
                      </a:rPr>
                      <m:t>04</m:t>
                    </m:r>
                  </m:oMath>
                </a14:m>
                <a:r>
                  <a:rPr lang="es-ES" b="1" spc="-1" dirty="0">
                    <a:solidFill>
                      <a:srgbClr val="000000"/>
                    </a:solidFill>
                  </a:rPr>
                  <a:t>, </a:t>
                </a:r>
                <a:r>
                  <a:rPr lang="es-ES" dirty="0"/>
                  <a:t>por tanto </a:t>
                </a:r>
                <a:r>
                  <a:rPr lang="es-ES" dirty="0">
                    <a:sym typeface="Wingdings" panose="05000000000000000000" pitchFamily="2" charset="2"/>
                  </a:rPr>
                  <a:t></a:t>
                </a:r>
                <a14:m>
                  <m:oMath xmlns:m="http://schemas.openxmlformats.org/officeDocument/2006/math">
                    <m:r>
                      <a:rPr lang="es-ES" sz="1050" i="1">
                        <a:latin typeface="Cambria Math" panose="02040503050406030204" pitchFamily="18" charset="0"/>
                        <a:ea typeface="Cambria Math" panose="02040503050406030204" pitchFamily="18" charset="0"/>
                      </a:rPr>
                      <m:t>,</m:t>
                    </m:r>
                    <m:r>
                      <a:rPr lang="es-ES" b="1" i="1">
                        <a:latin typeface="Cambria Math" panose="02040503050406030204" pitchFamily="18" charset="0"/>
                      </a:rPr>
                      <m:t>𝑷</m:t>
                    </m:r>
                    <m:r>
                      <a:rPr lang="es-ES" b="1" i="1">
                        <a:latin typeface="Cambria Math" panose="02040503050406030204" pitchFamily="18" charset="0"/>
                      </a:rPr>
                      <m:t>{</m:t>
                    </m:r>
                    <m:r>
                      <a:rPr lang="es-ES" b="1" i="1">
                        <a:latin typeface="Cambria Math" panose="02040503050406030204" pitchFamily="18" charset="0"/>
                      </a:rPr>
                      <m:t>𝑿</m:t>
                    </m:r>
                    <m:r>
                      <a:rPr lang="es-ES" b="1" i="1">
                        <a:latin typeface="Cambria Math" panose="02040503050406030204" pitchFamily="18" charset="0"/>
                      </a:rPr>
                      <m:t>&gt;</m:t>
                    </m:r>
                    <m:r>
                      <a:rPr lang="es-ES" b="1" i="1">
                        <a:latin typeface="Cambria Math" panose="02040503050406030204" pitchFamily="18" charset="0"/>
                      </a:rPr>
                      <m:t>𝟑𝟎</m:t>
                    </m:r>
                    <m:r>
                      <a:rPr lang="es-ES" b="1" i="1">
                        <a:latin typeface="Cambria Math" panose="02040503050406030204" pitchFamily="18" charset="0"/>
                      </a:rPr>
                      <m:t>}≤</m:t>
                    </m:r>
                    <m:r>
                      <a:rPr lang="es-ES" b="1" i="1">
                        <a:latin typeface="Cambria Math" panose="02040503050406030204" pitchFamily="18" charset="0"/>
                        <a:ea typeface="Cambria Math" panose="02040503050406030204" pitchFamily="18" charset="0"/>
                      </a:rPr>
                      <m:t>𝟎</m:t>
                    </m:r>
                    <m:r>
                      <a:rPr lang="es-ES" b="1" i="1">
                        <a:latin typeface="Cambria Math" panose="02040503050406030204" pitchFamily="18" charset="0"/>
                        <a:ea typeface="Cambria Math" panose="02040503050406030204" pitchFamily="18" charset="0"/>
                      </a:rPr>
                      <m:t>.</m:t>
                    </m:r>
                    <m:r>
                      <a:rPr lang="es-ES" b="1" i="1">
                        <a:latin typeface="Cambria Math" panose="02040503050406030204" pitchFamily="18" charset="0"/>
                        <a:ea typeface="Cambria Math" panose="02040503050406030204" pitchFamily="18" charset="0"/>
                      </a:rPr>
                      <m:t>𝟎𝟒</m:t>
                    </m:r>
                  </m:oMath>
                </a14:m>
                <a:endParaRPr lang="es-ES" b="1" spc="-1" dirty="0">
                  <a:solidFill>
                    <a:srgbClr val="000000"/>
                  </a:solidFill>
                </a:endParaRPr>
              </a:p>
              <a:p>
                <a:pPr>
                  <a:spcBef>
                    <a:spcPts val="1001"/>
                  </a:spcBef>
                  <a:buClr>
                    <a:srgbClr val="000000"/>
                  </a:buClr>
                  <a:buFont typeface="Arial"/>
                  <a:buChar char="•"/>
                </a:pPr>
                <a:r>
                  <a:rPr lang="es-ES" spc="-1" dirty="0">
                    <a:solidFill>
                      <a:srgbClr val="000000"/>
                    </a:solidFill>
                  </a:rPr>
                  <a:t>b) ¿y si la desviación estándar fuera de 5 errores? </a:t>
                </a:r>
              </a:p>
              <a:p>
                <a:pPr lvl="1">
                  <a:spcBef>
                    <a:spcPts val="1001"/>
                  </a:spcBef>
                  <a:buClr>
                    <a:srgbClr val="000000"/>
                  </a:buClr>
                  <a:buFont typeface="Arial"/>
                  <a:buChar char="•"/>
                </a:pPr>
                <a:r>
                  <a:rPr lang="es-ES" spc="-1" dirty="0">
                    <a:solidFill>
                      <a:srgbClr val="000000"/>
                    </a:solidFill>
                  </a:rPr>
                  <a:t>Solución: </a:t>
                </a:r>
                <a:r>
                  <a:rPr lang="es-ES" dirty="0"/>
                  <a:t>El límite de la probabilidad aumenta al aumentar la desviación estándar</a:t>
                </a:r>
              </a:p>
              <a:p>
                <a:pPr lvl="2">
                  <a:spcBef>
                    <a:spcPts val="499"/>
                  </a:spcBef>
                  <a:buClr>
                    <a:srgbClr val="000000"/>
                  </a:buClr>
                  <a:buFont typeface="Arial"/>
                  <a:buChar char="•"/>
                </a:pPr>
                <a14:m>
                  <m:oMath xmlns:m="http://schemas.openxmlformats.org/officeDocument/2006/math">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&gt;</m:t>
                        </m:r>
                        <m:r>
                          <a:rPr lang="es-ES" i="1">
                            <a:latin typeface="Cambria Math" panose="02040503050406030204" pitchFamily="18" charset="0"/>
                          </a:rPr>
                          <m:t>30</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d>
                          <m:dPr>
                            <m:begChr m:val="|"/>
                            <m:endChr m:val="|"/>
                            <m:ctrlPr>
                              <a:rPr lang="es-ES"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20</m:t>
                            </m:r>
                          </m:e>
                        </m:d>
                        <m:r>
                          <a:rPr lang="es-ES" i="1">
                            <a:latin typeface="Cambria Math" panose="02040503050406030204" pitchFamily="18" charset="0"/>
                          </a:rPr>
                          <m:t>&gt;</m:t>
                        </m:r>
                        <m:r>
                          <a:rPr lang="es-ES" i="1">
                            <a:latin typeface="Cambria Math" panose="02040503050406030204" pitchFamily="18" charset="0"/>
                          </a:rPr>
                          <m:t>10</m:t>
                        </m:r>
                      </m:e>
                    </m:d>
                    <m:r>
                      <a:rPr lang="es-ES" i="1">
                        <a:latin typeface="Cambria Math" panose="02040503050406030204" pitchFamily="18" charset="0"/>
                        <a:ea typeface="Cambria Math" panose="02040503050406030204" pitchFamily="18" charset="0"/>
                      </a:rPr>
                      <m:t>≤</m:t>
                    </m:r>
                    <m:sSup>
                      <m:sSupPr>
                        <m:ctrlPr>
                          <a:rPr lang="es-ES" i="1">
                            <a:latin typeface="Cambria Math" panose="02040503050406030204" pitchFamily="18" charset="0"/>
                            <a:ea typeface="Cambria Math" panose="02040503050406030204" pitchFamily="18" charset="0"/>
                          </a:rPr>
                        </m:ctrlPr>
                      </m:sSupPr>
                      <m:e>
                        <m:d>
                          <m:dPr>
                            <m:ctrlPr>
                              <a:rPr lang="es-ES" i="1">
                                <a:latin typeface="Cambria Math" panose="02040503050406030204" pitchFamily="18" charset="0"/>
                                <a:ea typeface="Cambria Math" panose="02040503050406030204" pitchFamily="18" charset="0"/>
                              </a:rPr>
                            </m:ctrlPr>
                          </m:dPr>
                          <m:e>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5</m:t>
                                </m:r>
                              </m:num>
                              <m:den>
                                <m:r>
                                  <a:rPr lang="es-ES" i="1">
                                    <a:latin typeface="Cambria Math" panose="02040503050406030204" pitchFamily="18" charset="0"/>
                                    <a:ea typeface="Cambria Math" panose="02040503050406030204" pitchFamily="18" charset="0"/>
                                  </a:rPr>
                                  <m:t>10</m:t>
                                </m:r>
                              </m:den>
                            </m:f>
                          </m:e>
                        </m:d>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25</m:t>
                    </m:r>
                  </m:oMath>
                </a14:m>
                <a:r>
                  <a:rPr lang="es-ES" dirty="0"/>
                  <a:t>, por tanto </a:t>
                </a:r>
                <a:r>
                  <a:rPr lang="es-ES" dirty="0">
                    <a:sym typeface="Wingdings" panose="05000000000000000000" pitchFamily="2" charset="2"/>
                  </a:rPr>
                  <a:t></a:t>
                </a:r>
                <a14:m>
                  <m:oMath xmlns:m="http://schemas.openxmlformats.org/officeDocument/2006/math">
                    <m:r>
                      <a:rPr lang="es-ES" sz="1200" i="1">
                        <a:latin typeface="Cambria Math" panose="02040503050406030204" pitchFamily="18" charset="0"/>
                        <a:ea typeface="Cambria Math" panose="02040503050406030204" pitchFamily="18" charset="0"/>
                      </a:rPr>
                      <m:t>,</m:t>
                    </m:r>
                    <m:r>
                      <a:rPr lang="es-ES" b="1" i="1">
                        <a:latin typeface="Cambria Math" panose="02040503050406030204" pitchFamily="18" charset="0"/>
                      </a:rPr>
                      <m:t>𝑷</m:t>
                    </m:r>
                    <m:r>
                      <a:rPr lang="es-ES" b="1" i="1">
                        <a:latin typeface="Cambria Math" panose="02040503050406030204" pitchFamily="18" charset="0"/>
                      </a:rPr>
                      <m:t>{</m:t>
                    </m:r>
                    <m:r>
                      <a:rPr lang="es-ES" b="1" i="1">
                        <a:latin typeface="Cambria Math" panose="02040503050406030204" pitchFamily="18" charset="0"/>
                      </a:rPr>
                      <m:t>𝑿</m:t>
                    </m:r>
                    <m:r>
                      <a:rPr lang="es-ES" b="1" i="1">
                        <a:latin typeface="Cambria Math" panose="02040503050406030204" pitchFamily="18" charset="0"/>
                      </a:rPr>
                      <m:t>&gt;</m:t>
                    </m:r>
                    <m:r>
                      <a:rPr lang="es-ES" b="1" i="1">
                        <a:latin typeface="Cambria Math" panose="02040503050406030204" pitchFamily="18" charset="0"/>
                      </a:rPr>
                      <m:t>𝟑𝟎</m:t>
                    </m:r>
                    <m:r>
                      <a:rPr lang="es-ES" b="1" i="1">
                        <a:latin typeface="Cambria Math" panose="02040503050406030204" pitchFamily="18" charset="0"/>
                      </a:rPr>
                      <m:t>}≤</m:t>
                    </m:r>
                    <m:r>
                      <a:rPr lang="es-ES" b="1" i="1">
                        <a:latin typeface="Cambria Math" panose="02040503050406030204" pitchFamily="18" charset="0"/>
                        <a:ea typeface="Cambria Math" panose="02040503050406030204" pitchFamily="18" charset="0"/>
                      </a:rPr>
                      <m:t>𝟎</m:t>
                    </m:r>
                    <m:r>
                      <a:rPr lang="es-ES" b="1" i="1">
                        <a:latin typeface="Cambria Math" panose="02040503050406030204" pitchFamily="18" charset="0"/>
                        <a:ea typeface="Cambria Math" panose="02040503050406030204" pitchFamily="18" charset="0"/>
                      </a:rPr>
                      <m:t>.</m:t>
                    </m:r>
                    <m:r>
                      <a:rPr lang="es-ES" b="1" i="1">
                        <a:latin typeface="Cambria Math" panose="02040503050406030204" pitchFamily="18" charset="0"/>
                        <a:ea typeface="Cambria Math" panose="02040503050406030204" pitchFamily="18" charset="0"/>
                      </a:rPr>
                      <m:t>𝟐𝟓</m:t>
                    </m:r>
                  </m:oMath>
                </a14:m>
                <a:endParaRPr lang="es-ES" spc="-1" dirty="0">
                  <a:solidFill>
                    <a:srgbClr val="000000"/>
                  </a:solidFill>
                </a:endParaRPr>
              </a:p>
              <a:p>
                <a:pPr lvl="2">
                  <a:spcBef>
                    <a:spcPts val="499"/>
                  </a:spcBef>
                  <a:buClr>
                    <a:srgbClr val="000000"/>
                  </a:buClr>
                  <a:buFont typeface="Arial"/>
                  <a:buChar char="•"/>
                </a:pPr>
                <a:endParaRPr lang="es-ES" b="0" strike="noStrike" spc="-1" dirty="0">
                  <a:solidFill>
                    <a:srgbClr val="000000"/>
                  </a:solidFill>
                  <a:latin typeface="Calibri"/>
                </a:endParaRPr>
              </a:p>
              <a:p>
                <a:pPr>
                  <a:lnSpc>
                    <a:spcPct val="90000"/>
                  </a:lnSpc>
                  <a:spcBef>
                    <a:spcPts val="1417"/>
                  </a:spcBef>
                  <a:buNone/>
                </a:pPr>
                <a:endParaRPr lang="es-ES" sz="2000" b="0" strike="noStrike" spc="-1" dirty="0">
                  <a:solidFill>
                    <a:srgbClr val="000000"/>
                  </a:solidFill>
                  <a:latin typeface="Calibri"/>
                </a:endParaRPr>
              </a:p>
            </p:txBody>
          </p:sp>
        </mc:Choice>
        <mc:Fallback xmlns="">
          <p:sp>
            <p:nvSpPr>
              <p:cNvPr id="161"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159" t="-3081" r="-110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28</a:t>
            </a:fld>
            <a:endParaRPr/>
          </a:p>
        </p:txBody>
      </p:sp>
    </p:spTree>
    <p:extLst>
      <p:ext uri="{BB962C8B-B14F-4D97-AF65-F5344CB8AC3E}">
        <p14:creationId xmlns:p14="http://schemas.microsoft.com/office/powerpoint/2010/main" val="24243036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a:t>
            </a:r>
            <a:r>
              <a:rPr lang="es-ES" sz="4400" b="0" strike="noStrike" spc="-1" dirty="0">
                <a:solidFill>
                  <a:srgbClr val="000000"/>
                </a:solidFill>
                <a:latin typeface="Calibri Light"/>
              </a:rPr>
              <a:t>. Características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Ejercicios propuestos</a:t>
            </a:r>
            <a:endParaRPr lang="es-ES" sz="4400" b="0" strike="noStrike" spc="-1" dirty="0">
              <a:solidFill>
                <a:srgbClr val="000000"/>
              </a:solidFill>
              <a:latin typeface="Calibri"/>
            </a:endParaRPr>
          </a:p>
        </p:txBody>
      </p:sp>
      <p:sp>
        <p:nvSpPr>
          <p:cNvPr id="163"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Ejercicios 3.1 a 3.5, 3.8, 3.9 del libro</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Las respuestas de 3.1, 3.2, 3.3, 3.9 están disponibles en</a:t>
            </a:r>
            <a:r>
              <a:rPr lang="es-ES" spc="-1" dirty="0">
                <a:solidFill>
                  <a:srgbClr val="000000"/>
                </a:solidFill>
                <a:latin typeface="Calibri"/>
              </a:rPr>
              <a:t> el libro</a:t>
            </a:r>
            <a:endParaRPr lang="es-ES" sz="2400" b="0" strike="noStrike" spc="-1" dirty="0">
              <a:solidFill>
                <a:srgbClr val="000000"/>
              </a:solidFill>
              <a:latin typeface="Calibri"/>
            </a:endParaRP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29</a:t>
            </a:fld>
            <a:endParaRPr/>
          </a:p>
        </p:txBody>
      </p:sp>
    </p:spTree>
    <p:extLst>
      <p:ext uri="{BB962C8B-B14F-4D97-AF65-F5344CB8AC3E}">
        <p14:creationId xmlns:p14="http://schemas.microsoft.com/office/powerpoint/2010/main" val="4154760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10" name="PlaceHolder 2"/>
              <p:cNvSpPr>
                <a:spLocks noGrp="1"/>
              </p:cNvSpPr>
              <p:nvPr>
                <p:ph/>
              </p:nvPr>
            </p:nvSpPr>
            <p:spPr>
              <a:xfrm>
                <a:off x="838080" y="1825560"/>
                <a:ext cx="10515240" cy="4350960"/>
              </a:xfrm>
              <a:prstGeom prst="rect">
                <a:avLst/>
              </a:prstGeom>
              <a:noFill/>
              <a:ln w="0">
                <a:noFill/>
              </a:ln>
            </p:spPr>
            <p:txBody>
              <a:bodyPr anchor="t">
                <a:normAutofit fontScale="87500" lnSpcReduction="10000"/>
              </a:bodyPr>
              <a:lstStyle/>
              <a:p>
                <a:pPr>
                  <a:spcBef>
                    <a:spcPts val="1001"/>
                  </a:spcBef>
                  <a:buClr>
                    <a:srgbClr val="000000"/>
                  </a:buClr>
                  <a:buFont typeface="Arial"/>
                  <a:buChar char="•"/>
                </a:pPr>
                <a:r>
                  <a:rPr lang="es-ES" spc="-1" dirty="0">
                    <a:solidFill>
                      <a:srgbClr val="000000"/>
                    </a:solidFill>
                  </a:rPr>
                  <a:t>Si </a:t>
                </a:r>
                <a14:m>
                  <m:oMath xmlns:m="http://schemas.openxmlformats.org/officeDocument/2006/math">
                    <m:r>
                      <a:rPr lang="es-ES" i="1" spc="-1" dirty="0">
                        <a:solidFill>
                          <a:srgbClr val="000000"/>
                        </a:solidFill>
                        <a:latin typeface="Cambria Math" panose="02040503050406030204" pitchFamily="18" charset="0"/>
                      </a:rPr>
                      <m:t>𝑋</m:t>
                    </m:r>
                  </m:oMath>
                </a14:m>
                <a:r>
                  <a:rPr lang="es-ES" spc="-1" dirty="0">
                    <a:solidFill>
                      <a:srgbClr val="000000"/>
                    </a:solidFill>
                  </a:rPr>
                  <a:t> e </a:t>
                </a:r>
                <a14:m>
                  <m:oMath xmlns:m="http://schemas.openxmlformats.org/officeDocument/2006/math">
                    <m:r>
                      <a:rPr lang="es-ES" i="1" spc="-1" dirty="0">
                        <a:solidFill>
                          <a:srgbClr val="000000"/>
                        </a:solidFill>
                        <a:latin typeface="Cambria Math" panose="02040503050406030204" pitchFamily="18" charset="0"/>
                      </a:rPr>
                      <m:t>𝑌</m:t>
                    </m:r>
                  </m:oMath>
                </a14:m>
                <a:r>
                  <a:rPr lang="es-ES" spc="-1" dirty="0">
                    <a:solidFill>
                      <a:srgbClr val="000000"/>
                    </a:solidFill>
                  </a:rPr>
                  <a:t> son variables aleatorias, entonces el par </a:t>
                </a:r>
                <a14:m>
                  <m:oMath xmlns:m="http://schemas.openxmlformats.org/officeDocument/2006/math">
                    <m:r>
                      <a:rPr lang="es-ES" i="1" spc="-1" dirty="0">
                        <a:solidFill>
                          <a:srgbClr val="000000"/>
                        </a:solidFill>
                        <a:latin typeface="Cambria Math" panose="02040503050406030204" pitchFamily="18" charset="0"/>
                      </a:rPr>
                      <m:t>(</m:t>
                    </m:r>
                    <m:r>
                      <a:rPr lang="es-ES" i="1" spc="-1" dirty="0">
                        <a:solidFill>
                          <a:srgbClr val="000000"/>
                        </a:solidFill>
                        <a:latin typeface="Cambria Math" panose="02040503050406030204" pitchFamily="18" charset="0"/>
                      </a:rPr>
                      <m:t>𝑋</m:t>
                    </m:r>
                    <m:r>
                      <a:rPr lang="es-ES" i="1" spc="-1" dirty="0">
                        <a:solidFill>
                          <a:srgbClr val="000000"/>
                        </a:solidFill>
                        <a:latin typeface="Cambria Math" panose="02040503050406030204" pitchFamily="18" charset="0"/>
                      </a:rPr>
                      <m:t>, </m:t>
                    </m:r>
                    <m:r>
                      <a:rPr lang="es-ES" i="1" spc="-1" dirty="0">
                        <a:solidFill>
                          <a:srgbClr val="000000"/>
                        </a:solidFill>
                        <a:latin typeface="Cambria Math" panose="02040503050406030204" pitchFamily="18" charset="0"/>
                      </a:rPr>
                      <m:t>𝑌</m:t>
                    </m:r>
                    <m:r>
                      <a:rPr lang="es-ES" i="1" spc="-1" dirty="0">
                        <a:solidFill>
                          <a:srgbClr val="000000"/>
                        </a:solidFill>
                        <a:latin typeface="Cambria Math" panose="02040503050406030204" pitchFamily="18" charset="0"/>
                      </a:rPr>
                      <m:t>)</m:t>
                    </m:r>
                  </m:oMath>
                </a14:m>
                <a:r>
                  <a:rPr lang="es-ES" spc="-1" dirty="0">
                    <a:solidFill>
                      <a:srgbClr val="000000"/>
                    </a:solidFill>
                  </a:rPr>
                  <a:t> es un </a:t>
                </a:r>
                <a:r>
                  <a:rPr lang="es-ES" b="1" spc="-1" dirty="0">
                    <a:solidFill>
                      <a:srgbClr val="000000"/>
                    </a:solidFill>
                  </a:rPr>
                  <a:t>vector aleatorio</a:t>
                </a:r>
                <a:r>
                  <a:rPr lang="es-ES" spc="-1" dirty="0">
                    <a:solidFill>
                      <a:srgbClr val="000000"/>
                    </a:solidFill>
                  </a:rPr>
                  <a:t>. </a:t>
                </a:r>
              </a:p>
              <a:p>
                <a:pPr>
                  <a:spcBef>
                    <a:spcPts val="1001"/>
                  </a:spcBef>
                  <a:buClr>
                    <a:srgbClr val="000000"/>
                  </a:buClr>
                  <a:buFont typeface="Arial"/>
                  <a:buChar char="•"/>
                </a:pPr>
                <a:r>
                  <a:rPr lang="es-ES" spc="-1" dirty="0">
                    <a:solidFill>
                      <a:srgbClr val="000000"/>
                    </a:solidFill>
                  </a:rPr>
                  <a:t>La colección de todas las probabilidades de </a:t>
                </a:r>
                <a14:m>
                  <m:oMath xmlns:m="http://schemas.openxmlformats.org/officeDocument/2006/math">
                    <m:r>
                      <a:rPr lang="es-ES" i="1" spc="-1" dirty="0">
                        <a:solidFill>
                          <a:srgbClr val="000000"/>
                        </a:solidFill>
                        <a:latin typeface="Cambria Math" panose="02040503050406030204" pitchFamily="18" charset="0"/>
                      </a:rPr>
                      <m:t>(</m:t>
                    </m:r>
                    <m:r>
                      <a:rPr lang="es-ES" i="1" spc="-1" dirty="0">
                        <a:solidFill>
                          <a:srgbClr val="000000"/>
                        </a:solidFill>
                        <a:latin typeface="Cambria Math" panose="02040503050406030204" pitchFamily="18" charset="0"/>
                      </a:rPr>
                      <m:t>𝑋</m:t>
                    </m:r>
                    <m:r>
                      <a:rPr lang="es-ES" i="1" spc="-1" dirty="0">
                        <a:solidFill>
                          <a:srgbClr val="000000"/>
                        </a:solidFill>
                        <a:latin typeface="Cambria Math" panose="02040503050406030204" pitchFamily="18" charset="0"/>
                      </a:rPr>
                      <m:t>, </m:t>
                    </m:r>
                    <m:r>
                      <a:rPr lang="es-ES" i="1" spc="-1" dirty="0">
                        <a:solidFill>
                          <a:srgbClr val="000000"/>
                        </a:solidFill>
                        <a:latin typeface="Cambria Math" panose="02040503050406030204" pitchFamily="18" charset="0"/>
                      </a:rPr>
                      <m:t>𝑌</m:t>
                    </m:r>
                    <m:r>
                      <a:rPr lang="es-ES" i="1" spc="-1" dirty="0">
                        <a:solidFill>
                          <a:srgbClr val="000000"/>
                        </a:solidFill>
                        <a:latin typeface="Cambria Math" panose="02040503050406030204" pitchFamily="18" charset="0"/>
                      </a:rPr>
                      <m:t>)</m:t>
                    </m:r>
                  </m:oMath>
                </a14:m>
                <a:r>
                  <a:rPr lang="es-ES" spc="-1" dirty="0">
                    <a:solidFill>
                      <a:srgbClr val="000000"/>
                    </a:solidFill>
                  </a:rPr>
                  <a:t> se denomina</a:t>
                </a:r>
              </a:p>
              <a:p>
                <a:pPr lvl="1">
                  <a:spcBef>
                    <a:spcPts val="1001"/>
                  </a:spcBef>
                  <a:buClr>
                    <a:srgbClr val="000000"/>
                  </a:buClr>
                  <a:buFont typeface="Arial"/>
                  <a:buChar char="•"/>
                </a:pPr>
                <a:r>
                  <a:rPr lang="es-ES" b="1" spc="-1" dirty="0">
                    <a:solidFill>
                      <a:srgbClr val="000000"/>
                    </a:solidFill>
                  </a:rPr>
                  <a:t>Distribución de probabilidad conjunta </a:t>
                </a:r>
                <a:r>
                  <a:rPr lang="es-ES" spc="-1" dirty="0">
                    <a:solidFill>
                      <a:srgbClr val="000000"/>
                    </a:solidFill>
                  </a:rPr>
                  <a:t>de </a:t>
                </a:r>
                <a14:m>
                  <m:oMath xmlns:m="http://schemas.openxmlformats.org/officeDocument/2006/math">
                    <m:r>
                      <a:rPr lang="es-ES" i="1" spc="-1" dirty="0">
                        <a:solidFill>
                          <a:srgbClr val="000000"/>
                        </a:solidFill>
                        <a:latin typeface="Cambria Math" panose="02040503050406030204" pitchFamily="18" charset="0"/>
                      </a:rPr>
                      <m:t>𝑋</m:t>
                    </m:r>
                  </m:oMath>
                </a14:m>
                <a:r>
                  <a:rPr lang="es-ES" spc="-1" dirty="0">
                    <a:solidFill>
                      <a:srgbClr val="000000"/>
                    </a:solidFill>
                  </a:rPr>
                  <a:t> e </a:t>
                </a:r>
                <a14:m>
                  <m:oMath xmlns:m="http://schemas.openxmlformats.org/officeDocument/2006/math">
                    <m:r>
                      <a:rPr lang="es-ES" i="1" spc="-1" dirty="0">
                        <a:solidFill>
                          <a:srgbClr val="000000"/>
                        </a:solidFill>
                        <a:latin typeface="Cambria Math" panose="02040503050406030204" pitchFamily="18" charset="0"/>
                      </a:rPr>
                      <m:t>𝑌</m:t>
                    </m:r>
                  </m:oMath>
                </a14:m>
                <a:r>
                  <a:rPr lang="es-ES" spc="-1" dirty="0">
                    <a:solidFill>
                      <a:srgbClr val="000000"/>
                    </a:solidFill>
                  </a:rPr>
                  <a:t> </a:t>
                </a:r>
              </a:p>
              <a:p>
                <a:pPr>
                  <a:spcBef>
                    <a:spcPts val="1001"/>
                  </a:spcBef>
                  <a:buClr>
                    <a:srgbClr val="000000"/>
                  </a:buClr>
                  <a:buFont typeface="Arial"/>
                  <a:buChar char="•"/>
                </a:pPr>
                <a:r>
                  <a:rPr lang="es-ES" spc="-1" dirty="0">
                    <a:solidFill>
                      <a:srgbClr val="000000"/>
                    </a:solidFill>
                  </a:rPr>
                  <a:t>Las distribuciones de probabilidad individuales de </a:t>
                </a:r>
                <a14:m>
                  <m:oMath xmlns:m="http://schemas.openxmlformats.org/officeDocument/2006/math">
                    <m:r>
                      <a:rPr lang="es-ES" i="1" spc="-1" dirty="0">
                        <a:solidFill>
                          <a:srgbClr val="000000"/>
                        </a:solidFill>
                        <a:latin typeface="Cambria Math" panose="02040503050406030204" pitchFamily="18" charset="0"/>
                      </a:rPr>
                      <m:t>𝑋</m:t>
                    </m:r>
                  </m:oMath>
                </a14:m>
                <a:r>
                  <a:rPr lang="es-ES" spc="-1" dirty="0">
                    <a:solidFill>
                      <a:srgbClr val="000000"/>
                    </a:solidFill>
                  </a:rPr>
                  <a:t> e </a:t>
                </a:r>
                <a14:m>
                  <m:oMath xmlns:m="http://schemas.openxmlformats.org/officeDocument/2006/math">
                    <m:r>
                      <a:rPr lang="es-ES" i="1" spc="-1" dirty="0">
                        <a:solidFill>
                          <a:srgbClr val="000000"/>
                        </a:solidFill>
                        <a:latin typeface="Cambria Math" panose="02040503050406030204" pitchFamily="18" charset="0"/>
                      </a:rPr>
                      <m:t>𝑌</m:t>
                    </m:r>
                  </m:oMath>
                </a14:m>
                <a:r>
                  <a:rPr lang="es-ES" spc="-1" dirty="0">
                    <a:solidFill>
                      <a:srgbClr val="000000"/>
                    </a:solidFill>
                  </a:rPr>
                  <a:t> se denominan</a:t>
                </a:r>
              </a:p>
              <a:p>
                <a:pPr lvl="1">
                  <a:spcBef>
                    <a:spcPts val="1001"/>
                  </a:spcBef>
                  <a:buClr>
                    <a:srgbClr val="000000"/>
                  </a:buClr>
                  <a:buFont typeface="Arial"/>
                  <a:buChar char="•"/>
                </a:pPr>
                <a:r>
                  <a:rPr lang="es-ES" b="1" spc="-1" dirty="0">
                    <a:solidFill>
                      <a:srgbClr val="000000"/>
                    </a:solidFill>
                  </a:rPr>
                  <a:t>Distribución de probabilidad marginal</a:t>
                </a:r>
                <a:r>
                  <a:rPr lang="es-ES" spc="-1" dirty="0">
                    <a:solidFill>
                      <a:srgbClr val="000000"/>
                    </a:solidFill>
                  </a:rPr>
                  <a:t> de </a:t>
                </a:r>
                <a14:m>
                  <m:oMath xmlns:m="http://schemas.openxmlformats.org/officeDocument/2006/math">
                    <m:r>
                      <a:rPr lang="es-ES" i="1" spc="-1" dirty="0">
                        <a:solidFill>
                          <a:srgbClr val="000000"/>
                        </a:solidFill>
                        <a:latin typeface="Cambria Math" panose="02040503050406030204" pitchFamily="18" charset="0"/>
                      </a:rPr>
                      <m:t>𝑋</m:t>
                    </m:r>
                  </m:oMath>
                </a14:m>
                <a:endParaRPr lang="es-ES" spc="-1" dirty="0">
                  <a:solidFill>
                    <a:srgbClr val="000000"/>
                  </a:solidFill>
                </a:endParaRPr>
              </a:p>
              <a:p>
                <a:pPr lvl="1">
                  <a:spcBef>
                    <a:spcPts val="1001"/>
                  </a:spcBef>
                  <a:buClr>
                    <a:srgbClr val="000000"/>
                  </a:buClr>
                  <a:buFont typeface="Arial"/>
                  <a:buChar char="•"/>
                </a:pPr>
                <a:r>
                  <a:rPr lang="es-ES" b="1" spc="-1" dirty="0">
                    <a:solidFill>
                      <a:srgbClr val="000000"/>
                    </a:solidFill>
                  </a:rPr>
                  <a:t>Distribución de probabilidad marginal</a:t>
                </a:r>
                <a:r>
                  <a:rPr lang="es-ES" spc="-1" dirty="0">
                    <a:solidFill>
                      <a:srgbClr val="000000"/>
                    </a:solidFill>
                  </a:rPr>
                  <a:t> de </a:t>
                </a:r>
                <a14:m>
                  <m:oMath xmlns:m="http://schemas.openxmlformats.org/officeDocument/2006/math">
                    <m:r>
                      <m:rPr>
                        <m:sty m:val="p"/>
                      </m:rPr>
                      <a:rPr lang="es-ES" spc="-1" dirty="0">
                        <a:solidFill>
                          <a:srgbClr val="000000"/>
                        </a:solidFill>
                        <a:latin typeface="Cambria Math" panose="02040503050406030204" pitchFamily="18" charset="0"/>
                      </a:rPr>
                      <m:t>Y</m:t>
                    </m:r>
                  </m:oMath>
                </a14:m>
                <a:endParaRPr lang="es-ES" spc="-1" dirty="0">
                  <a:solidFill>
                    <a:srgbClr val="000000"/>
                  </a:solidFill>
                </a:endParaRPr>
              </a:p>
              <a:p>
                <a:pPr>
                  <a:spcBef>
                    <a:spcPts val="1001"/>
                  </a:spcBef>
                  <a:buClr>
                    <a:srgbClr val="000000"/>
                  </a:buClr>
                  <a:buFont typeface="Arial"/>
                  <a:buChar char="•"/>
                </a:pPr>
                <a:r>
                  <a:rPr lang="es-ES" spc="-1" dirty="0">
                    <a:solidFill>
                      <a:srgbClr val="000000"/>
                    </a:solidFill>
                  </a:rPr>
                  <a:t>La </a:t>
                </a:r>
                <a:r>
                  <a:rPr lang="es-ES" b="1" spc="-1" dirty="0">
                    <a:solidFill>
                      <a:srgbClr val="000000"/>
                    </a:solidFill>
                  </a:rPr>
                  <a:t>función de masa de probabilidad conjunta</a:t>
                </a:r>
                <a:r>
                  <a:rPr lang="es-ES" spc="-1" dirty="0">
                    <a:solidFill>
                      <a:srgbClr val="000000"/>
                    </a:solidFill>
                  </a:rPr>
                  <a:t> de X e Y se define como</a:t>
                </a:r>
              </a:p>
              <a:p>
                <a:pPr lvl="1">
                  <a:spcBef>
                    <a:spcPts val="1001"/>
                  </a:spcBef>
                  <a:buClr>
                    <a:srgbClr val="000000"/>
                  </a:buClr>
                  <a:buFont typeface="Arial"/>
                  <a:buChar char="•"/>
                </a:pP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r>
                          <a:rPr lang="es-ES" b="0" i="1" smtClean="0">
                            <a:latin typeface="Cambria Math" panose="02040503050406030204" pitchFamily="18" charset="0"/>
                          </a:rPr>
                          <m:t>)</m:t>
                        </m:r>
                      </m:sub>
                    </m:sSub>
                    <m:d>
                      <m:dPr>
                        <m:ctrlPr>
                          <a:rPr lang="es-ES" i="1">
                            <a:latin typeface="Cambria Math" panose="02040503050406030204" pitchFamily="18" charset="0"/>
                          </a:rPr>
                        </m:ctrlPr>
                      </m:dPr>
                      <m:e>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d>
                          <m:dPr>
                            <m:ctrlPr>
                              <a:rPr lang="es-ES"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𝑌</m:t>
                            </m:r>
                          </m:e>
                        </m:d>
                        <m:r>
                          <a:rPr lang="es-ES" i="1">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e>
                        </m:d>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m:t>
                        </m:r>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ea typeface="Cambria Math" panose="02040503050406030204" pitchFamily="18" charset="0"/>
                          </a:rPr>
                          <m:t>𝑌</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𝑦</m:t>
                        </m:r>
                        <m:r>
                          <a:rPr lang="es-ES" i="1">
                            <a:latin typeface="Cambria Math" panose="02040503050406030204" pitchFamily="18" charset="0"/>
                            <a:ea typeface="Cambria Math" panose="02040503050406030204" pitchFamily="18" charset="0"/>
                          </a:rPr>
                          <m:t>}</m:t>
                        </m:r>
                      </m:e>
                    </m:d>
                  </m:oMath>
                </a14:m>
                <a:endParaRPr lang="en-US" dirty="0"/>
              </a:p>
              <a:p>
                <a:pPr lvl="1">
                  <a:spcBef>
                    <a:spcPts val="1001"/>
                  </a:spcBef>
                  <a:buClr>
                    <a:srgbClr val="000000"/>
                  </a:buClr>
                  <a:buFont typeface="Arial"/>
                  <a:buChar char="•"/>
                </a:pPr>
                <a:r>
                  <a:rPr lang="en-US" dirty="0" err="1"/>
                  <a:t>Donde</a:t>
                </a:r>
                <a:r>
                  <a:rPr lang="en-US" dirty="0"/>
                  <a:t> </a:t>
                </a:r>
                <a14:m>
                  <m:oMath xmlns:m="http://schemas.openxmlformats.org/officeDocument/2006/math">
                    <m:r>
                      <a:rPr lang="es-ES" i="1">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𝑌</m:t>
                        </m:r>
                      </m:e>
                    </m:d>
                    <m:r>
                      <a:rPr lang="es-ES" i="1">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e>
                    </m:d>
                    <m:r>
                      <a:rPr lang="es-ES" i="1">
                        <a:latin typeface="Cambria Math" panose="02040503050406030204" pitchFamily="18" charset="0"/>
                      </a:rPr>
                      <m:t>} </m:t>
                    </m:r>
                  </m:oMath>
                </a14:m>
                <a:r>
                  <a:rPr lang="es-ES" spc="-1" dirty="0">
                    <a:solidFill>
                      <a:srgbClr val="000000"/>
                    </a:solidFill>
                  </a:rPr>
                  <a:t>son sucesos exhaustivos y mutuamente excluyentes para diferentes pares </a:t>
                </a:r>
                <a14:m>
                  <m:oMath xmlns:m="http://schemas.openxmlformats.org/officeDocument/2006/math">
                    <m:r>
                      <a:rPr lang="es-ES" i="1" spc="-1" dirty="0">
                        <a:solidFill>
                          <a:srgbClr val="000000"/>
                        </a:solidFill>
                        <a:latin typeface="Cambria Math" panose="02040503050406030204" pitchFamily="18" charset="0"/>
                      </a:rPr>
                      <m:t>(</m:t>
                    </m:r>
                    <m:r>
                      <a:rPr lang="es-ES" i="1" spc="-1" dirty="0">
                        <a:solidFill>
                          <a:srgbClr val="000000"/>
                        </a:solidFill>
                        <a:latin typeface="Cambria Math" panose="02040503050406030204" pitchFamily="18" charset="0"/>
                      </a:rPr>
                      <m:t>𝑥</m:t>
                    </m:r>
                    <m:r>
                      <a:rPr lang="es-ES" i="1" spc="-1" dirty="0">
                        <a:solidFill>
                          <a:srgbClr val="000000"/>
                        </a:solidFill>
                        <a:latin typeface="Cambria Math" panose="02040503050406030204" pitchFamily="18" charset="0"/>
                      </a:rPr>
                      <m:t>, </m:t>
                    </m:r>
                    <m:r>
                      <a:rPr lang="es-ES" i="1" spc="-1" dirty="0">
                        <a:solidFill>
                          <a:srgbClr val="000000"/>
                        </a:solidFill>
                        <a:latin typeface="Cambria Math" panose="02040503050406030204" pitchFamily="18" charset="0"/>
                      </a:rPr>
                      <m:t>𝑦</m:t>
                    </m:r>
                    <m:r>
                      <a:rPr lang="es-ES" i="1" spc="-1" dirty="0">
                        <a:solidFill>
                          <a:srgbClr val="000000"/>
                        </a:solidFill>
                        <a:latin typeface="Cambria Math" panose="02040503050406030204" pitchFamily="18" charset="0"/>
                      </a:rPr>
                      <m:t>)</m:t>
                    </m:r>
                  </m:oMath>
                </a14:m>
                <a:endParaRPr lang="es-ES" spc="-1" dirty="0">
                  <a:solidFill>
                    <a:srgbClr val="000000"/>
                  </a:solidFill>
                </a:endParaRPr>
              </a:p>
              <a:p>
                <a:pPr lvl="1">
                  <a:spcBef>
                    <a:spcPts val="1001"/>
                  </a:spcBef>
                  <a:buClr>
                    <a:srgbClr val="000000"/>
                  </a:buClr>
                  <a:buFont typeface="Arial"/>
                  <a:buChar char="•"/>
                </a:pPr>
                <a:r>
                  <a:rPr lang="es-ES" spc="-1" dirty="0">
                    <a:solidFill>
                      <a:srgbClr val="000000"/>
                    </a:solidFill>
                  </a:rPr>
                  <a:t>Por lo tanto </a:t>
                </a:r>
                <a14:m>
                  <m:oMath xmlns:m="http://schemas.openxmlformats.org/officeDocument/2006/math">
                    <m:nary>
                      <m:naryPr>
                        <m:chr m:val="∑"/>
                        <m:supHide m:val="on"/>
                        <m:ctrlPr>
                          <a:rPr lang="en-US" i="1">
                            <a:latin typeface="Cambria Math" panose="02040503050406030204" pitchFamily="18" charset="0"/>
                          </a:rPr>
                        </m:ctrlPr>
                      </m:naryPr>
                      <m:sub>
                        <m:r>
                          <m:rPr>
                            <m:brk m:alnAt="7"/>
                          </m:rPr>
                          <a:rPr lang="es-ES" i="1">
                            <a:latin typeface="Cambria Math" panose="02040503050406030204" pitchFamily="18" charset="0"/>
                          </a:rPr>
                          <m:t>𝑥</m:t>
                        </m:r>
                      </m:sub>
                      <m:sup/>
                      <m:e>
                        <m:nary>
                          <m:naryPr>
                            <m:chr m:val="∑"/>
                            <m:supHide m:val="on"/>
                            <m:ctrlPr>
                              <a:rPr lang="en-US" i="1">
                                <a:latin typeface="Cambria Math" panose="02040503050406030204" pitchFamily="18" charset="0"/>
                              </a:rPr>
                            </m:ctrlPr>
                          </m:naryPr>
                          <m:sub>
                            <m:r>
                              <m:rPr>
                                <m:brk m:alnAt="7"/>
                              </m:rPr>
                              <a:rPr lang="es-ES" i="1">
                                <a:latin typeface="Cambria Math" panose="02040503050406030204" pitchFamily="18" charset="0"/>
                              </a:rPr>
                              <m:t>𝑦</m:t>
                            </m:r>
                          </m:sub>
                          <m:sup/>
                          <m:e>
                            <m:r>
                              <a:rPr lang="es-ES" i="1">
                                <a:latin typeface="Cambria Math" panose="02040503050406030204" pitchFamily="18" charset="0"/>
                              </a:rPr>
                              <m:t>𝑃</m:t>
                            </m:r>
                            <m:d>
                              <m:dPr>
                                <m:ctrlPr>
                                  <a:rPr lang="es-ES" i="1">
                                    <a:latin typeface="Cambria Math" panose="02040503050406030204" pitchFamily="18" charset="0"/>
                                  </a:rPr>
                                </m:ctrlPr>
                              </m:dPr>
                              <m:e>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e>
                            </m:d>
                            <m:r>
                              <a:rPr lang="es-ES" i="1">
                                <a:latin typeface="Cambria Math" panose="02040503050406030204" pitchFamily="18" charset="0"/>
                              </a:rPr>
                              <m:t>=</m:t>
                            </m:r>
                            <m:r>
                              <a:rPr lang="es-ES" i="1">
                                <a:latin typeface="Cambria Math" panose="02040503050406030204" pitchFamily="18" charset="0"/>
                              </a:rPr>
                              <m:t>1</m:t>
                            </m:r>
                          </m:e>
                        </m:nary>
                      </m:e>
                    </m:nary>
                  </m:oMath>
                </a14:m>
                <a:endParaRPr lang="es-ES"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p:txBody>
          </p:sp>
        </mc:Choice>
        <mc:Fallback xmlns="">
          <p:sp>
            <p:nvSpPr>
              <p:cNvPr id="110"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812" t="-2521" r="-1449" b="-16527"/>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30</a:t>
            </a:fld>
            <a:endParaRPr/>
          </a:p>
        </p:txBody>
      </p:sp>
    </p:spTree>
    <p:extLst>
      <p:ext uri="{BB962C8B-B14F-4D97-AF65-F5344CB8AC3E}">
        <p14:creationId xmlns:p14="http://schemas.microsoft.com/office/powerpoint/2010/main" val="42497435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 name="Imagen 5">
            <a:extLst>
              <a:ext uri="{C183D7F6-B498-43B3-948B-1728B52AA6E4}">
                <adec:decorative xmlns:adec="http://schemas.microsoft.com/office/drawing/2017/decorative" val="1"/>
              </a:ext>
            </a:extLst>
          </p:cNvPr>
          <p:cNvPicPr/>
          <p:nvPr/>
        </p:nvPicPr>
        <p:blipFill>
          <a:blip r:embed="rId2"/>
          <a:stretch/>
        </p:blipFill>
        <p:spPr>
          <a:xfrm>
            <a:off x="6725880" y="2732400"/>
            <a:ext cx="5384520" cy="2537640"/>
          </a:xfrm>
          <a:prstGeom prst="rect">
            <a:avLst/>
          </a:prstGeom>
          <a:ln w="0">
            <a:noFill/>
          </a:ln>
        </p:spPr>
      </p:pic>
      <p:sp>
        <p:nvSpPr>
          <p:cNvPr id="11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 </a:t>
            </a:r>
            <a:br>
              <a:rPr lang="es-ES" sz="4400" b="0" strike="noStrike" spc="-1" dirty="0">
                <a:solidFill>
                  <a:srgbClr val="000000"/>
                </a:solidFill>
                <a:latin typeface="Calibri Light"/>
              </a:rPr>
            </a:br>
            <a:r>
              <a:rPr lang="es-ES" sz="4400" b="0" strike="noStrike" spc="-1" dirty="0">
                <a:solidFill>
                  <a:srgbClr val="000000"/>
                </a:solidFill>
                <a:latin typeface="Calibri Light"/>
              </a:rPr>
              <a:t>Regla de adición</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13" name="PlaceHolder 2"/>
              <p:cNvSpPr>
                <a:spLocks noGrp="1"/>
              </p:cNvSpPr>
              <p:nvPr>
                <p:ph/>
              </p:nvPr>
            </p:nvSpPr>
            <p:spPr>
              <a:xfrm>
                <a:off x="838080" y="1825560"/>
                <a:ext cx="5887800" cy="4350960"/>
              </a:xfrm>
              <a:prstGeom prst="rect">
                <a:avLst/>
              </a:prstGeom>
              <a:noFill/>
              <a:ln w="0">
                <a:noFill/>
              </a:ln>
            </p:spPr>
            <p:txBody>
              <a:bodyPr anchor="t">
                <a:normAutofit fontScale="96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función de masa de probabilidad marginal de una variable es la suma de las probabilidades conjuntas sobre todos los valores de la otra variable</a:t>
                </a: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𝑋</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𝑥</m:t>
                        </m:r>
                      </m:e>
                    </m:d>
                    <m:r>
                      <a:rPr lang="es-ES" b="0" i="1" smtClean="0">
                        <a:latin typeface="Cambria Math" panose="02040503050406030204" pitchFamily="18" charset="0"/>
                      </a:rPr>
                      <m:t>=</m:t>
                    </m:r>
                    <m:nary>
                      <m:naryPr>
                        <m:chr m:val="∑"/>
                        <m:supHide m:val="on"/>
                        <m:ctrlPr>
                          <a:rPr lang="es-ES" b="0" i="1" smtClean="0">
                            <a:latin typeface="Cambria Math" panose="02040503050406030204" pitchFamily="18" charset="0"/>
                          </a:rPr>
                        </m:ctrlPr>
                      </m:naryPr>
                      <m:sub>
                        <m:r>
                          <m:rPr>
                            <m:brk m:alnAt="7"/>
                          </m:rPr>
                          <a:rPr lang="es-ES" b="0" i="1" smtClean="0">
                            <a:latin typeface="Cambria Math" panose="02040503050406030204" pitchFamily="18" charset="0"/>
                          </a:rPr>
                          <m:t>𝑦</m:t>
                        </m:r>
                      </m:sub>
                      <m:sup/>
                      <m:e>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d>
                              <m:dPr>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e>
                            </m:d>
                          </m:sub>
                        </m:sSub>
                        <m:r>
                          <a:rPr lang="es-ES" b="0" i="1" smtClean="0">
                            <a:latin typeface="Cambria Math" panose="02040503050406030204" pitchFamily="18" charset="0"/>
                          </a:rPr>
                          <m:t>(</m:t>
                        </m:r>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𝑦</m:t>
                        </m:r>
                        <m:r>
                          <a:rPr lang="es-ES" b="0" i="1" smtClean="0">
                            <a:latin typeface="Cambria Math" panose="02040503050406030204" pitchFamily="18" charset="0"/>
                          </a:rPr>
                          <m:t>)</m:t>
                        </m:r>
                      </m:e>
                    </m:nary>
                  </m:oMath>
                </a14:m>
                <a:endParaRPr lang="en-US" dirty="0"/>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𝑦</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𝑌</m:t>
                        </m:r>
                        <m:r>
                          <a:rPr lang="es-ES" b="0" i="1" smtClean="0">
                            <a:latin typeface="Cambria Math" panose="02040503050406030204" pitchFamily="18" charset="0"/>
                          </a:rPr>
                          <m:t>=</m:t>
                        </m:r>
                        <m:r>
                          <a:rPr lang="es-ES" b="0" i="1" smtClean="0">
                            <a:latin typeface="Cambria Math" panose="02040503050406030204" pitchFamily="18" charset="0"/>
                          </a:rPr>
                          <m:t>𝑦</m:t>
                        </m:r>
                      </m:e>
                    </m:d>
                    <m:r>
                      <a:rPr lang="es-ES" b="0" i="1" smtClean="0">
                        <a:latin typeface="Cambria Math" panose="02040503050406030204" pitchFamily="18" charset="0"/>
                      </a:rPr>
                      <m:t>=</m:t>
                    </m:r>
                    <m:nary>
                      <m:naryPr>
                        <m:chr m:val="∑"/>
                        <m:supHide m:val="on"/>
                        <m:ctrlPr>
                          <a:rPr lang="es-ES" b="0" i="1" smtClean="0">
                            <a:latin typeface="Cambria Math" panose="02040503050406030204" pitchFamily="18" charset="0"/>
                          </a:rPr>
                        </m:ctrlPr>
                      </m:naryPr>
                      <m:sub>
                        <m:r>
                          <a:rPr lang="es-ES" b="0" i="1" smtClean="0">
                            <a:latin typeface="Cambria Math" panose="02040503050406030204" pitchFamily="18" charset="0"/>
                          </a:rPr>
                          <m:t>𝑥</m:t>
                        </m:r>
                      </m:sub>
                      <m:sup/>
                      <m:e>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d>
                              <m:dPr>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e>
                            </m:d>
                          </m:sub>
                        </m:sSub>
                        <m:r>
                          <a:rPr lang="es-ES" b="0" i="1" smtClean="0">
                            <a:latin typeface="Cambria Math" panose="02040503050406030204" pitchFamily="18" charset="0"/>
                          </a:rPr>
                          <m:t>(</m:t>
                        </m:r>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𝑦</m:t>
                        </m:r>
                        <m:r>
                          <a:rPr lang="es-ES" b="0" i="1" smtClean="0">
                            <a:latin typeface="Cambria Math" panose="02040503050406030204" pitchFamily="18" charset="0"/>
                          </a:rPr>
                          <m:t>)</m:t>
                        </m:r>
                      </m:e>
                    </m:nary>
                  </m:oMath>
                </a14:m>
                <a:endParaRPr lang="es-ES" b="0" strike="noStrike" spc="-1" dirty="0">
                  <a:solidFill>
                    <a:srgbClr val="000000"/>
                  </a:solidFill>
                  <a:latin typeface="Calibri"/>
                </a:endParaRPr>
              </a:p>
            </p:txBody>
          </p:sp>
        </mc:Choice>
        <mc:Fallback xmlns="">
          <p:sp>
            <p:nvSpPr>
              <p:cNvPr id="113" name="PlaceHolder 2"/>
              <p:cNvSpPr>
                <a:spLocks noGrp="1" noRot="1" noChangeAspect="1" noMove="1" noResize="1" noEditPoints="1" noAdjustHandles="1" noChangeArrowheads="1" noChangeShapeType="1" noTextEdit="1"/>
              </p:cNvSpPr>
              <p:nvPr>
                <p:ph/>
              </p:nvPr>
            </p:nvSpPr>
            <p:spPr>
              <a:xfrm>
                <a:off x="838080" y="1825560"/>
                <a:ext cx="5887800" cy="4350960"/>
              </a:xfrm>
              <a:prstGeom prst="rect">
                <a:avLst/>
              </a:prstGeom>
              <a:blipFill>
                <a:blip r:embed="rId3"/>
                <a:stretch>
                  <a:fillRect l="-1760" t="-2101" r="-1656"/>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31</a:t>
            </a:fld>
            <a:endParaRPr/>
          </a:p>
        </p:txBody>
      </p:sp>
    </p:spTree>
    <p:extLst>
      <p:ext uri="{BB962C8B-B14F-4D97-AF65-F5344CB8AC3E}">
        <p14:creationId xmlns:p14="http://schemas.microsoft.com/office/powerpoint/2010/main" val="1784680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b="0" strike="noStrike" spc="-1" dirty="0">
                <a:solidFill>
                  <a:srgbClr val="000000"/>
                </a:solidFill>
                <a:latin typeface="Calibri Light"/>
              </a:rPr>
              <a:t> Distribución de un vector aleatorio discreto</a:t>
            </a:r>
            <a:br>
              <a:rPr lang="es-ES" b="0" strike="noStrike" spc="-1" dirty="0">
                <a:solidFill>
                  <a:srgbClr val="000000"/>
                </a:solidFill>
                <a:latin typeface="Calibri Light"/>
              </a:rPr>
            </a:br>
            <a:r>
              <a:rPr lang="es-ES" b="0" strike="noStrike" spc="-1" dirty="0">
                <a:solidFill>
                  <a:srgbClr val="000000"/>
                </a:solidFill>
                <a:latin typeface="Calibri Light"/>
              </a:rPr>
              <a:t>Independencia de variables aleatorias</a:t>
            </a:r>
            <a:endParaRPr lang="es-ES"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15" name="PlaceHolder 2"/>
              <p:cNvSpPr>
                <a:spLocks noGrp="1"/>
              </p:cNvSpPr>
              <p:nvPr>
                <p:ph/>
              </p:nvPr>
            </p:nvSpPr>
            <p:spPr>
              <a:xfrm>
                <a:off x="838080" y="1825560"/>
                <a:ext cx="10515240" cy="4350960"/>
              </a:xfrm>
              <a:prstGeom prst="rect">
                <a:avLst/>
              </a:prstGeom>
              <a:noFill/>
              <a:ln w="0">
                <a:noFill/>
              </a:ln>
            </p:spPr>
            <p:txBody>
              <a:bodyPr anchor="t">
                <a:normAutofit fontScale="94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Las variables aleatorias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 </a:t>
                </a:r>
                <a14:m>
                  <m:oMath xmlns:m="http://schemas.openxmlformats.org/officeDocument/2006/math">
                    <m:r>
                      <a:rPr lang="es-ES" sz="2800" b="0" i="1" strike="noStrike" spc="-1" dirty="0" smtClean="0">
                        <a:solidFill>
                          <a:srgbClr val="000000"/>
                        </a:solidFill>
                        <a:latin typeface="Cambria Math" panose="02040503050406030204" pitchFamily="18" charset="0"/>
                      </a:rPr>
                      <m:t>𝑌</m:t>
                    </m:r>
                  </m:oMath>
                </a14:m>
                <a:r>
                  <a:rPr lang="es-ES" sz="2800" b="0" strike="noStrike" spc="-1" dirty="0">
                    <a:solidFill>
                      <a:srgbClr val="000000"/>
                    </a:solidFill>
                    <a:latin typeface="Calibri"/>
                  </a:rPr>
                  <a:t> son independientes si, para todos los valores de x e y:</a:t>
                </a:r>
              </a:p>
              <a:p>
                <a:pPr lvl="1">
                  <a:spcBef>
                    <a:spcPts val="1001"/>
                  </a:spcBef>
                  <a:buClr>
                    <a:srgbClr val="000000"/>
                  </a:buClr>
                  <a:buFont typeface="Arial"/>
                  <a:buChar char="•"/>
                </a:pP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d>
                          <m:dPr>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e>
                        </m:d>
                      </m:sub>
                    </m:sSub>
                    <m:d>
                      <m:dPr>
                        <m:ctrlPr>
                          <a:rPr lang="es-ES" b="0" i="1" smtClean="0">
                            <a:latin typeface="Cambria Math" panose="02040503050406030204" pitchFamily="18" charset="0"/>
                          </a:rPr>
                        </m:ctrlPr>
                      </m:dPr>
                      <m:e>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𝑦</m:t>
                        </m:r>
                      </m:e>
                    </m:d>
                    <m:r>
                      <a:rPr lang="es-ES" b="0" i="1" smtClean="0">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𝑋</m:t>
                        </m:r>
                      </m:sub>
                    </m:sSub>
                    <m:d>
                      <m:dPr>
                        <m:ctrlPr>
                          <a:rPr lang="es-ES" i="1">
                            <a:latin typeface="Cambria Math" panose="02040503050406030204" pitchFamily="18" charset="0"/>
                          </a:rPr>
                        </m:ctrlPr>
                      </m:dPr>
                      <m:e>
                        <m:r>
                          <a:rPr lang="es-ES" i="1">
                            <a:latin typeface="Cambria Math" panose="02040503050406030204" pitchFamily="18" charset="0"/>
                          </a:rPr>
                          <m:t>𝑥</m:t>
                        </m:r>
                      </m:e>
                    </m:d>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b="0" i="1" smtClean="0">
                            <a:latin typeface="Cambria Math" panose="02040503050406030204" pitchFamily="18" charset="0"/>
                          </a:rPr>
                          <m:t>𝑌</m:t>
                        </m:r>
                      </m:sub>
                    </m:sSub>
                    <m:d>
                      <m:dPr>
                        <m:ctrlPr>
                          <a:rPr lang="es-ES" i="1">
                            <a:latin typeface="Cambria Math" panose="02040503050406030204" pitchFamily="18" charset="0"/>
                          </a:rPr>
                        </m:ctrlPr>
                      </m:dPr>
                      <m:e>
                        <m:r>
                          <a:rPr lang="es-ES" b="0" i="1" smtClean="0">
                            <a:latin typeface="Cambria Math" panose="02040503050406030204" pitchFamily="18" charset="0"/>
                          </a:rPr>
                          <m:t>𝑦</m:t>
                        </m:r>
                      </m:e>
                    </m:d>
                  </m:oMath>
                </a14:m>
                <a:endParaRPr lang="es-ES"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Los sucesos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𝑋</m:t>
                    </m:r>
                    <m:r>
                      <a:rPr lang="es-ES" sz="2800" b="0" i="1" strike="noStrike" spc="-1" dirty="0" smtClean="0">
                        <a:solidFill>
                          <a:srgbClr val="000000"/>
                        </a:solidFill>
                        <a:latin typeface="Cambria Math" panose="02040503050406030204" pitchFamily="18" charset="0"/>
                      </a:rPr>
                      <m:t> = </m:t>
                    </m:r>
                    <m:r>
                      <a:rPr lang="es-ES" sz="2800" b="0" i="1" strike="noStrike" spc="-1" dirty="0" smtClean="0">
                        <a:solidFill>
                          <a:srgbClr val="000000"/>
                        </a:solidFill>
                        <a:latin typeface="Cambria Math" panose="02040503050406030204" pitchFamily="18" charset="0"/>
                      </a:rPr>
                      <m:t>𝑥</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y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𝑌</m:t>
                    </m:r>
                    <m:r>
                      <a:rPr lang="es-ES" sz="2800" b="0" i="1" strike="noStrike" spc="-1" dirty="0" smtClean="0">
                        <a:solidFill>
                          <a:srgbClr val="000000"/>
                        </a:solidFill>
                        <a:latin typeface="Cambria Math" panose="02040503050406030204" pitchFamily="18" charset="0"/>
                      </a:rPr>
                      <m:t> = </m:t>
                    </m:r>
                    <m:r>
                      <a:rPr lang="es-ES" sz="2800" b="0" i="1" strike="noStrike" spc="-1" dirty="0" smtClean="0">
                        <a:solidFill>
                          <a:srgbClr val="000000"/>
                        </a:solidFill>
                        <a:latin typeface="Cambria Math" panose="02040503050406030204" pitchFamily="18" charset="0"/>
                      </a:rPr>
                      <m:t>𝑦</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son independientes para todo </a:t>
                </a:r>
                <a14:m>
                  <m:oMath xmlns:m="http://schemas.openxmlformats.org/officeDocument/2006/math">
                    <m:r>
                      <a:rPr lang="es-ES" sz="2800" b="0" i="1" strike="noStrike" spc="-1" dirty="0" smtClean="0">
                        <a:solidFill>
                          <a:srgbClr val="000000"/>
                        </a:solidFill>
                        <a:latin typeface="Cambria Math" panose="02040503050406030204" pitchFamily="18" charset="0"/>
                      </a:rPr>
                      <m:t>𝑥</m:t>
                    </m:r>
                  </m:oMath>
                </a14:m>
                <a:r>
                  <a:rPr lang="es-ES" sz="2800" b="0" strike="noStrike" spc="-1" dirty="0">
                    <a:solidFill>
                      <a:srgbClr val="000000"/>
                    </a:solidFill>
                    <a:latin typeface="Calibri"/>
                  </a:rPr>
                  <a:t> e </a:t>
                </a:r>
                <a14:m>
                  <m:oMath xmlns:m="http://schemas.openxmlformats.org/officeDocument/2006/math">
                    <m:r>
                      <a:rPr lang="es-ES" sz="2800" b="0" i="1" strike="noStrike" spc="-1" dirty="0" smtClean="0">
                        <a:solidFill>
                          <a:srgbClr val="000000"/>
                        </a:solidFill>
                        <a:latin typeface="Cambria Math" panose="02040503050406030204" pitchFamily="18" charset="0"/>
                      </a:rPr>
                      <m:t>𝑦</m:t>
                    </m:r>
                  </m:oMath>
                </a14:m>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Las variables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 </a:t>
                </a:r>
                <a14:m>
                  <m:oMath xmlns:m="http://schemas.openxmlformats.org/officeDocument/2006/math">
                    <m:r>
                      <a:rPr lang="es-ES" sz="2800" b="0" i="1" strike="noStrike" spc="-1" dirty="0" smtClean="0">
                        <a:solidFill>
                          <a:srgbClr val="000000"/>
                        </a:solidFill>
                        <a:latin typeface="Cambria Math" panose="02040503050406030204" pitchFamily="18" charset="0"/>
                      </a:rPr>
                      <m:t>𝑌</m:t>
                    </m:r>
                  </m:oMath>
                </a14:m>
                <a:r>
                  <a:rPr lang="es-ES" sz="2800" b="0" strike="noStrike" spc="-1" dirty="0">
                    <a:solidFill>
                      <a:srgbClr val="000000"/>
                    </a:solidFill>
                    <a:latin typeface="Calibri"/>
                  </a:rPr>
                  <a:t> toman sus valores independientemente la una de la otra</a:t>
                </a:r>
              </a:p>
            </p:txBody>
          </p:sp>
        </mc:Choice>
        <mc:Fallback xmlns="">
          <p:sp>
            <p:nvSpPr>
              <p:cNvPr id="115"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870" t="-2101" r="-290"/>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32</a:t>
            </a:fld>
            <a:endParaRPr/>
          </a:p>
        </p:txBody>
      </p:sp>
    </p:spTree>
    <p:extLst>
      <p:ext uri="{BB962C8B-B14F-4D97-AF65-F5344CB8AC3E}">
        <p14:creationId xmlns:p14="http://schemas.microsoft.com/office/powerpoint/2010/main" val="7729091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a:t>
            </a:r>
            <a:br>
              <a:rPr lang="es-ES" sz="4400" b="0" strike="noStrike" spc="-1" dirty="0">
                <a:solidFill>
                  <a:srgbClr val="000000"/>
                </a:solidFill>
                <a:latin typeface="Calibri Light"/>
              </a:rPr>
            </a:br>
            <a:r>
              <a:rPr lang="es-ES" sz="4400" b="0" strike="noStrike" spc="-1" dirty="0">
                <a:solidFill>
                  <a:srgbClr val="000000"/>
                </a:solidFill>
                <a:latin typeface="Calibri Light"/>
              </a:rPr>
              <a:t>Ejemplo 3.6 (Errores en un programa)</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17" name="PlaceHolder 2"/>
              <p:cNvSpPr>
                <a:spLocks noGrp="1"/>
              </p:cNvSpPr>
              <p:nvPr>
                <p:ph/>
              </p:nvPr>
            </p:nvSpPr>
            <p:spPr>
              <a:xfrm>
                <a:off x="838080" y="1825560"/>
                <a:ext cx="10515240" cy="4350960"/>
              </a:xfrm>
              <a:prstGeom prst="rect">
                <a:avLst/>
              </a:prstGeom>
              <a:noFill/>
              <a:ln w="0">
                <a:noFill/>
              </a:ln>
            </p:spPr>
            <p:txBody>
              <a:bodyPr anchor="t">
                <a:normAutofit fontScale="82000" lnSpcReduction="2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Un programa consta de dos módulos. </a:t>
                </a:r>
              </a:p>
              <a:p>
                <a:pPr marL="228600" indent="-228600">
                  <a:lnSpc>
                    <a:spcPct val="90000"/>
                  </a:lnSpc>
                  <a:spcBef>
                    <a:spcPts val="1001"/>
                  </a:spcBef>
                  <a:buClr>
                    <a:srgbClr val="000000"/>
                  </a:buClr>
                  <a:buFont typeface="Arial"/>
                  <a:buChar char="•"/>
                </a:pP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es el número de errores en el primer módulo</a:t>
                </a:r>
              </a:p>
              <a:p>
                <a:pPr marL="228600" indent="-228600">
                  <a:lnSpc>
                    <a:spcPct val="90000"/>
                  </a:lnSpc>
                  <a:spcBef>
                    <a:spcPts val="1001"/>
                  </a:spcBef>
                  <a:buClr>
                    <a:srgbClr val="000000"/>
                  </a:buClr>
                  <a:buFont typeface="Arial"/>
                  <a:buChar char="•"/>
                </a:pPr>
                <a14:m>
                  <m:oMath xmlns:m="http://schemas.openxmlformats.org/officeDocument/2006/math">
                    <m:r>
                      <a:rPr lang="es-ES" sz="2800" b="0" i="1" strike="noStrike" spc="-1" dirty="0" smtClean="0">
                        <a:solidFill>
                          <a:srgbClr val="000000"/>
                        </a:solidFill>
                        <a:latin typeface="Cambria Math" panose="02040503050406030204" pitchFamily="18" charset="0"/>
                      </a:rPr>
                      <m:t>𝑌</m:t>
                    </m:r>
                  </m:oMath>
                </a14:m>
                <a:r>
                  <a:rPr lang="es-ES" sz="2800" b="0" strike="noStrike" spc="-1" dirty="0">
                    <a:solidFill>
                      <a:srgbClr val="000000"/>
                    </a:solidFill>
                    <a:latin typeface="Calibri"/>
                  </a:rPr>
                  <a:t> es el número de errores en el segundo módulo</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El vector aleatorio tiene función de masa de probabilidad conjunta </a:t>
                </a:r>
                <a14:m>
                  <m:oMath xmlns:m="http://schemas.openxmlformats.org/officeDocument/2006/math">
                    <m:r>
                      <a:rPr lang="es-ES" sz="2800" b="0" i="1" strike="noStrike" spc="-1" dirty="0" smtClean="0">
                        <a:solidFill>
                          <a:srgbClr val="000000"/>
                        </a:solidFill>
                        <a:latin typeface="Cambria Math" panose="02040503050406030204" pitchFamily="18" charset="0"/>
                      </a:rPr>
                      <m:t>𝑃</m:t>
                    </m:r>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𝑋</m:t>
                    </m:r>
                    <m:r>
                      <a:rPr lang="es-ES" sz="2800" b="0" i="1" strike="noStrike" spc="-1" dirty="0" smtClean="0">
                        <a:solidFill>
                          <a:srgbClr val="000000"/>
                        </a:solidFill>
                        <a:latin typeface="Cambria Math" panose="02040503050406030204" pitchFamily="18" charset="0"/>
                      </a:rPr>
                      <m:t>, </m:t>
                    </m:r>
                    <m:r>
                      <a:rPr lang="es-ES" sz="2800" b="0" i="1" strike="noStrike" spc="-1" dirty="0" smtClean="0">
                        <a:solidFill>
                          <a:srgbClr val="000000"/>
                        </a:solidFill>
                        <a:latin typeface="Cambria Math" panose="02040503050406030204" pitchFamily="18" charset="0"/>
                      </a:rPr>
                      <m:t>𝑌</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a:t>
                </a: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2</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2</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2</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05</m:t>
                    </m:r>
                    <m:r>
                      <a:rPr lang="es-ES" sz="2400" b="0" i="1" strike="noStrike" spc="-1" dirty="0" smtClean="0">
                        <a:solidFill>
                          <a:srgbClr val="000000"/>
                        </a:solidFill>
                        <a:latin typeface="Cambria Math" panose="02040503050406030204" pitchFamily="18" charset="0"/>
                      </a:rPr>
                      <m:t> </m:t>
                    </m:r>
                  </m:oMath>
                </a14:m>
                <a:endParaRPr lang="es-ES" sz="2400" b="0" strike="noStrike" spc="-1" dirty="0">
                  <a:solidFill>
                    <a:srgbClr val="000000"/>
                  </a:solidFill>
                  <a:latin typeface="Calibri"/>
                </a:endParaRPr>
              </a:p>
              <a:p>
                <a:pPr>
                  <a:spcBef>
                    <a:spcPts val="1001"/>
                  </a:spcBef>
                  <a:buClr>
                    <a:srgbClr val="000000"/>
                  </a:buClr>
                  <a:buFont typeface="Arial"/>
                  <a:buChar char="•"/>
                </a:pPr>
                <a:r>
                  <a:rPr lang="es-ES" sz="2800" b="0" strike="noStrike" spc="-1" dirty="0">
                    <a:solidFill>
                      <a:srgbClr val="000000"/>
                    </a:solidFill>
                    <a:latin typeface="Calibri"/>
                  </a:rPr>
                  <a:t>Nota: por simplicidad </a:t>
                </a: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d>
                          <m:dPr>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e>
                        </m:d>
                      </m:sub>
                    </m:sSub>
                    <m:d>
                      <m:dPr>
                        <m:ctrlPr>
                          <a:rPr lang="es-ES" b="0" i="1" smtClean="0">
                            <a:latin typeface="Cambria Math" panose="02040503050406030204" pitchFamily="18" charset="0"/>
                          </a:rPr>
                        </m:ctrlPr>
                      </m:dPr>
                      <m:e>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𝑦</m:t>
                        </m:r>
                      </m:e>
                    </m:d>
                  </m:oMath>
                </a14:m>
                <a:r>
                  <a:rPr lang="es-ES" sz="2800" b="0" strike="noStrike" spc="-1" dirty="0">
                    <a:solidFill>
                      <a:srgbClr val="000000"/>
                    </a:solidFill>
                    <a:latin typeface="Calibri"/>
                  </a:rPr>
                  <a:t> se ha escrito como </a:t>
                </a:r>
                <a14:m>
                  <m:oMath xmlns:m="http://schemas.openxmlformats.org/officeDocument/2006/math">
                    <m:r>
                      <a:rPr lang="es-ES" b="0" i="1" smtClean="0">
                        <a:latin typeface="Cambria Math" panose="02040503050406030204" pitchFamily="18" charset="0"/>
                      </a:rPr>
                      <m:t>𝑃</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r>
                      <a:rPr lang="es-ES" i="1">
                        <a:latin typeface="Cambria Math" panose="02040503050406030204" pitchFamily="18" charset="0"/>
                      </a:rPr>
                      <m:t>)</m:t>
                    </m:r>
                  </m:oMath>
                </a14:m>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Preguntas:</a:t>
                </a:r>
              </a:p>
              <a:p>
                <a:pPr marL="914400" lvl="1" indent="-457200">
                  <a:lnSpc>
                    <a:spcPct val="90000"/>
                  </a:lnSpc>
                  <a:spcBef>
                    <a:spcPts val="499"/>
                  </a:spcBef>
                  <a:buClr>
                    <a:srgbClr val="000000"/>
                  </a:buClr>
                  <a:buFont typeface="Calibri Light"/>
                  <a:buAutoNum type="alphaLcParenR"/>
                </a:pPr>
                <a:r>
                  <a:rPr lang="es-ES" sz="2400" b="0" strike="noStrike" spc="-1" dirty="0">
                    <a:solidFill>
                      <a:srgbClr val="000000"/>
                    </a:solidFill>
                    <a:latin typeface="Calibri"/>
                  </a:rPr>
                  <a:t>Encontrar las distribuciones de probabilidad marginal de </a:t>
                </a:r>
                <a14:m>
                  <m:oMath xmlns:m="http://schemas.openxmlformats.org/officeDocument/2006/math">
                    <m:r>
                      <a:rPr lang="es-ES" sz="2400" b="0" i="1" strike="noStrike" spc="-1" dirty="0" smtClean="0">
                        <a:solidFill>
                          <a:srgbClr val="000000"/>
                        </a:solidFill>
                        <a:latin typeface="Cambria Math" panose="02040503050406030204" pitchFamily="18" charset="0"/>
                      </a:rPr>
                      <m:t>𝑋</m:t>
                    </m:r>
                  </m:oMath>
                </a14:m>
                <a:r>
                  <a:rPr lang="es-ES" sz="2400" b="0" strike="noStrike" spc="-1" dirty="0">
                    <a:solidFill>
                      <a:srgbClr val="000000"/>
                    </a:solidFill>
                    <a:latin typeface="Calibri"/>
                  </a:rPr>
                  <a:t> e </a:t>
                </a:r>
                <a14:m>
                  <m:oMath xmlns:m="http://schemas.openxmlformats.org/officeDocument/2006/math">
                    <m:r>
                      <a:rPr lang="es-ES" sz="2400" b="0" i="1" strike="noStrike" spc="-1" dirty="0" smtClean="0">
                        <a:solidFill>
                          <a:srgbClr val="000000"/>
                        </a:solidFill>
                        <a:latin typeface="Cambria Math" panose="02040503050406030204" pitchFamily="18" charset="0"/>
                      </a:rPr>
                      <m:t>𝑌</m:t>
                    </m:r>
                  </m:oMath>
                </a14:m>
                <a:endParaRPr lang="es-ES" sz="2400" b="0" strike="noStrike" spc="-1" dirty="0">
                  <a:solidFill>
                    <a:srgbClr val="000000"/>
                  </a:solidFill>
                  <a:latin typeface="Calibri"/>
                </a:endParaRPr>
              </a:p>
              <a:p>
                <a:pPr marL="914400" lvl="1" indent="-457200">
                  <a:lnSpc>
                    <a:spcPct val="90000"/>
                  </a:lnSpc>
                  <a:spcBef>
                    <a:spcPts val="499"/>
                  </a:spcBef>
                  <a:buClr>
                    <a:srgbClr val="000000"/>
                  </a:buClr>
                  <a:buFont typeface="Calibri Light"/>
                  <a:buAutoNum type="alphaLcParenR"/>
                </a:pPr>
                <a:r>
                  <a:rPr lang="es-ES" sz="2400" b="0" strike="noStrike" spc="-1" dirty="0">
                    <a:solidFill>
                      <a:srgbClr val="000000"/>
                    </a:solidFill>
                    <a:latin typeface="Calibri"/>
                  </a:rPr>
                  <a:t>Encontrar la probabilidad de que no haya errores en el primer módulo</a:t>
                </a:r>
              </a:p>
              <a:p>
                <a:pPr marL="914400" lvl="1" indent="-457200">
                  <a:lnSpc>
                    <a:spcPct val="90000"/>
                  </a:lnSpc>
                  <a:spcBef>
                    <a:spcPts val="499"/>
                  </a:spcBef>
                  <a:buClr>
                    <a:srgbClr val="000000"/>
                  </a:buClr>
                  <a:buFont typeface="Calibri Light"/>
                  <a:buAutoNum type="alphaLcParenR"/>
                </a:pPr>
                <a:r>
                  <a:rPr lang="es-ES" sz="2400" b="0" strike="noStrike" spc="-1" dirty="0">
                    <a:solidFill>
                      <a:srgbClr val="000000"/>
                    </a:solidFill>
                    <a:latin typeface="Calibri"/>
                  </a:rPr>
                  <a:t>Encontrar la distribución de probabilidad del número total de errores en el programa</a:t>
                </a:r>
              </a:p>
              <a:p>
                <a:pPr marL="914400" lvl="1" indent="-457200">
                  <a:lnSpc>
                    <a:spcPct val="90000"/>
                  </a:lnSpc>
                  <a:spcBef>
                    <a:spcPts val="499"/>
                  </a:spcBef>
                  <a:buClr>
                    <a:srgbClr val="000000"/>
                  </a:buClr>
                  <a:buFont typeface="Calibri Light"/>
                  <a:buAutoNum type="alphaLcParenR"/>
                </a:pPr>
                <a:r>
                  <a:rPr lang="es-ES" sz="2400" b="0" strike="noStrike" spc="-1" dirty="0">
                    <a:solidFill>
                      <a:srgbClr val="000000"/>
                    </a:solidFill>
                    <a:latin typeface="Calibri"/>
                  </a:rPr>
                  <a:t>Averiguar si los errores en los dos módulos ocurren de forma independiente</a:t>
                </a:r>
              </a:p>
            </p:txBody>
          </p:sp>
        </mc:Choice>
        <mc:Fallback xmlns="">
          <p:sp>
            <p:nvSpPr>
              <p:cNvPr id="117"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696" t="-308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33</a:t>
            </a:fld>
            <a:endParaRPr/>
          </a:p>
        </p:txBody>
      </p:sp>
    </p:spTree>
    <p:extLst>
      <p:ext uri="{BB962C8B-B14F-4D97-AF65-F5344CB8AC3E}">
        <p14:creationId xmlns:p14="http://schemas.microsoft.com/office/powerpoint/2010/main" val="13712283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a:t>
            </a:r>
            <a:br>
              <a:rPr lang="es-ES" sz="4400" b="0" strike="noStrike" spc="-1" dirty="0">
                <a:solidFill>
                  <a:srgbClr val="000000"/>
                </a:solidFill>
                <a:latin typeface="Calibri Light"/>
              </a:rPr>
            </a:br>
            <a:r>
              <a:rPr lang="es-ES" sz="4400" b="0" strike="noStrike" spc="-1" dirty="0">
                <a:solidFill>
                  <a:srgbClr val="000000"/>
                </a:solidFill>
                <a:latin typeface="Calibri Light"/>
              </a:rPr>
              <a:t>Ejemplo 3.6 (Solución) (I)</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19" name="PlaceHolder 2"/>
              <p:cNvSpPr>
                <a:spLocks noGrp="1"/>
              </p:cNvSpPr>
              <p:nvPr>
                <p:ph/>
              </p:nvPr>
            </p:nvSpPr>
            <p:spPr>
              <a:xfrm>
                <a:off x="838080" y="1825560"/>
                <a:ext cx="10515240" cy="4350960"/>
              </a:xfrm>
              <a:prstGeom prst="rect">
                <a:avLst/>
              </a:prstGeom>
              <a:noFill/>
              <a:ln w="0">
                <a:noFill/>
              </a:ln>
            </p:spPr>
            <p:txBody>
              <a:bodyPr anchor="t">
                <a:normAutofit fontScale="97000"/>
              </a:bodyPr>
              <a:lstStyle/>
              <a:p>
                <a:pPr marL="457200" indent="-457200">
                  <a:lnSpc>
                    <a:spcPct val="90000"/>
                  </a:lnSpc>
                  <a:spcBef>
                    <a:spcPts val="1001"/>
                  </a:spcBef>
                  <a:buClr>
                    <a:srgbClr val="000000"/>
                  </a:buClr>
                  <a:buFont typeface="Calibri Light"/>
                  <a:buAutoNum type="alphaLcParenR"/>
                </a:pPr>
                <a:r>
                  <a:rPr lang="es-ES" sz="2800" b="0" strike="noStrike" spc="-1" dirty="0">
                    <a:solidFill>
                      <a:srgbClr val="000000"/>
                    </a:solidFill>
                    <a:latin typeface="Calibri"/>
                  </a:rPr>
                  <a:t>Encontrar	 las distribuciones de probabilidad marginal de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 </a:t>
                </a:r>
                <a14:m>
                  <m:oMath xmlns:m="http://schemas.openxmlformats.org/officeDocument/2006/math">
                    <m:r>
                      <a:rPr lang="es-ES" sz="2800" b="0" i="1" strike="noStrike" spc="-1" dirty="0" smtClean="0">
                        <a:solidFill>
                          <a:srgbClr val="000000"/>
                        </a:solidFill>
                        <a:latin typeface="Cambria Math" panose="02040503050406030204" pitchFamily="18" charset="0"/>
                      </a:rPr>
                      <m:t>𝑌</m:t>
                    </m:r>
                  </m:oMath>
                </a14:m>
                <a:endParaRPr lang="es-ES" sz="28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Solución: </a:t>
                </a: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baseline="-25000" dirty="0">
                        <a:solidFill>
                          <a:srgbClr val="000000"/>
                        </a:solidFill>
                        <a:latin typeface="Cambria Math" panose="02040503050406030204" pitchFamily="18" charset="0"/>
                      </a:rPr>
                      <m:t>𝑋</m:t>
                    </m:r>
                    <m:r>
                      <a:rPr lang="es-ES" sz="2400" b="0" i="1" strike="noStrike" spc="-1" dirty="0">
                        <a:solidFill>
                          <a:srgbClr val="000000"/>
                        </a:solidFill>
                        <a:latin typeface="Cambria Math" panose="02040503050406030204" pitchFamily="18" charset="0"/>
                      </a:rPr>
                      <m:t>(</m:t>
                    </m:r>
                    <m:r>
                      <a:rPr lang="es-ES" sz="2400" b="0" i="1" strike="noStrike" spc="-1" dirty="0">
                        <a:solidFill>
                          <a:srgbClr val="000000"/>
                        </a:solidFill>
                        <a:latin typeface="Cambria Math" panose="02040503050406030204" pitchFamily="18" charset="0"/>
                      </a:rPr>
                      <m:t>𝑥</m:t>
                    </m:r>
                    <m:r>
                      <a:rPr lang="es-ES" sz="2400" b="0" i="1" strike="noStrike" spc="-1" dirty="0">
                        <a:solidFill>
                          <a:srgbClr val="000000"/>
                        </a:solidFill>
                        <a:latin typeface="Cambria Math" panose="02040503050406030204" pitchFamily="18" charset="0"/>
                      </a:rPr>
                      <m:t>)</m:t>
                    </m:r>
                  </m:oMath>
                </a14:m>
                <a:r>
                  <a:rPr lang="es-ES" sz="2400" b="0" strike="noStrike" spc="-1" dirty="0">
                    <a:solidFill>
                      <a:srgbClr val="000000"/>
                    </a:solidFill>
                    <a:latin typeface="Calibri"/>
                  </a:rPr>
                  <a:t> y </a:t>
                </a: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baseline="-25000" dirty="0">
                        <a:solidFill>
                          <a:srgbClr val="000000"/>
                        </a:solidFill>
                        <a:latin typeface="Cambria Math" panose="02040503050406030204" pitchFamily="18" charset="0"/>
                      </a:rPr>
                      <m:t>𝑌</m:t>
                    </m:r>
                    <m:r>
                      <a:rPr lang="es-ES" sz="2400" b="0" i="1" strike="noStrike" spc="-1" dirty="0">
                        <a:solidFill>
                          <a:srgbClr val="000000"/>
                        </a:solidFill>
                        <a:latin typeface="Cambria Math" panose="02040503050406030204" pitchFamily="18" charset="0"/>
                      </a:rPr>
                      <m:t>(</m:t>
                    </m:r>
                    <m:r>
                      <a:rPr lang="es-ES" sz="2400" b="0" i="1" strike="noStrike" spc="-1" dirty="0">
                        <a:solidFill>
                          <a:srgbClr val="000000"/>
                        </a:solidFill>
                        <a:latin typeface="Cambria Math" panose="02040503050406030204" pitchFamily="18" charset="0"/>
                      </a:rPr>
                      <m:t>𝑦</m:t>
                    </m:r>
                    <m:r>
                      <a:rPr lang="es-ES" sz="2400" b="0" i="1" strike="noStrike" spc="-1" dirty="0">
                        <a:solidFill>
                          <a:srgbClr val="000000"/>
                        </a:solidFill>
                        <a:latin typeface="Cambria Math" panose="02040503050406030204" pitchFamily="18" charset="0"/>
                      </a:rPr>
                      <m:t>)</m:t>
                    </m:r>
                  </m:oMath>
                </a14:m>
                <a:endParaRPr lang="es-ES" sz="2400" b="0" strike="noStrike" spc="-1" dirty="0">
                  <a:solidFill>
                    <a:srgbClr val="000000"/>
                  </a:solidFill>
                  <a:latin typeface="Calibri"/>
                </a:endParaRP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𝑋</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50</m:t>
                    </m:r>
                  </m:oMath>
                </a14:m>
                <a:endParaRPr lang="es-ES" b="0" i="1" dirty="0">
                  <a:latin typeface="Cambria Math" panose="02040503050406030204" pitchFamily="18" charset="0"/>
                </a:endParaRPr>
              </a:p>
              <a:p>
                <a:pPr lvl="1"/>
                <a14:m>
                  <m:oMath xmlns:m="http://schemas.openxmlformats.org/officeDocument/2006/math">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𝑋</m:t>
                        </m:r>
                      </m:sub>
                    </m:sSub>
                    <m:d>
                      <m:dPr>
                        <m:ctrlPr>
                          <a:rPr lang="es-ES" i="1">
                            <a:latin typeface="Cambria Math" panose="02040503050406030204" pitchFamily="18" charset="0"/>
                          </a:rPr>
                        </m:ctrlPr>
                      </m:dPr>
                      <m:e>
                        <m:r>
                          <a:rPr lang="es-ES" b="0" i="1" smtClean="0">
                            <a:latin typeface="Cambria Math" panose="02040503050406030204" pitchFamily="18" charset="0"/>
                          </a:rPr>
                          <m:t>1</m:t>
                        </m:r>
                      </m:e>
                    </m:d>
                    <m:r>
                      <a:rPr lang="es-ES" i="1">
                        <a:latin typeface="Cambria Math" panose="02040503050406030204" pitchFamily="18" charset="0"/>
                      </a:rPr>
                      <m:t>=</m:t>
                    </m:r>
                    <m:r>
                      <a:rPr lang="es-ES" i="1">
                        <a:latin typeface="Cambria Math" panose="02040503050406030204" pitchFamily="18" charset="0"/>
                      </a:rPr>
                      <m:t>𝑃</m:t>
                    </m:r>
                    <m:d>
                      <m:dPr>
                        <m:ctrlPr>
                          <a:rPr lang="es-ES" i="1">
                            <a:latin typeface="Cambria Math" panose="02040503050406030204" pitchFamily="18" charset="0"/>
                          </a:rPr>
                        </m:ctrlPr>
                      </m:dPr>
                      <m:e>
                        <m:r>
                          <a:rPr lang="es-ES" b="0" i="1" smtClean="0">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rPr>
                          <m:t>0</m:t>
                        </m:r>
                      </m:e>
                    </m:d>
                    <m:r>
                      <a:rPr lang="es-ES" i="1">
                        <a:latin typeface="Cambria Math" panose="02040503050406030204" pitchFamily="18" charset="0"/>
                      </a:rPr>
                      <m:t>+</m:t>
                    </m:r>
                    <m:r>
                      <a:rPr lang="es-ES" i="1">
                        <a:latin typeface="Cambria Math" panose="02040503050406030204" pitchFamily="18" charset="0"/>
                      </a:rPr>
                      <m:t>𝑃</m:t>
                    </m:r>
                    <m:d>
                      <m:dPr>
                        <m:ctrlPr>
                          <a:rPr lang="es-ES" i="1">
                            <a:latin typeface="Cambria Math" panose="02040503050406030204" pitchFamily="18" charset="0"/>
                          </a:rPr>
                        </m:ctrlPr>
                      </m:dPr>
                      <m:e>
                        <m:r>
                          <a:rPr lang="es-ES" b="0" i="1" smtClean="0">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rPr>
                          <m:t>1</m:t>
                        </m:r>
                      </m:e>
                    </m:d>
                    <m:r>
                      <a:rPr lang="es-ES" i="1">
                        <a:latin typeface="Cambria Math" panose="02040503050406030204" pitchFamily="18" charset="0"/>
                      </a:rPr>
                      <m:t>+</m:t>
                    </m:r>
                    <m:r>
                      <a:rPr lang="es-ES" i="1">
                        <a:latin typeface="Cambria Math" panose="02040503050406030204" pitchFamily="18" charset="0"/>
                      </a:rPr>
                      <m:t>𝑃</m:t>
                    </m:r>
                    <m:d>
                      <m:dPr>
                        <m:ctrlPr>
                          <a:rPr lang="es-ES" i="1">
                            <a:latin typeface="Cambria Math" panose="02040503050406030204" pitchFamily="18" charset="0"/>
                          </a:rPr>
                        </m:ctrlPr>
                      </m:dPr>
                      <m:e>
                        <m:r>
                          <a:rPr lang="es-ES" b="0" i="1" smtClean="0">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rPr>
                          <m:t>2</m:t>
                        </m:r>
                      </m:e>
                    </m:d>
                    <m:r>
                      <a:rPr lang="es-ES" i="1">
                        <a:latin typeface="Cambria Math" panose="02040503050406030204" pitchFamily="18" charset="0"/>
                      </a:rPr>
                      <m:t>+</m:t>
                    </m:r>
                    <m:r>
                      <a:rPr lang="es-ES" i="1">
                        <a:latin typeface="Cambria Math" panose="02040503050406030204" pitchFamily="18" charset="0"/>
                      </a:rPr>
                      <m:t>𝑃</m:t>
                    </m:r>
                    <m:d>
                      <m:dPr>
                        <m:ctrlPr>
                          <a:rPr lang="es-ES" i="1">
                            <a:latin typeface="Cambria Math" panose="02040503050406030204" pitchFamily="18" charset="0"/>
                          </a:rPr>
                        </m:ctrlPr>
                      </m:dPr>
                      <m:e>
                        <m:r>
                          <a:rPr lang="es-ES" b="0" i="1" smtClean="0">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rPr>
                          <m:t>3</m:t>
                        </m:r>
                      </m:e>
                    </m:d>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50</m:t>
                    </m:r>
                  </m:oMath>
                </a14:m>
                <a:endParaRPr lang="es-ES" i="1" dirty="0">
                  <a:latin typeface="Cambria Math" panose="02040503050406030204" pitchFamily="18" charset="0"/>
                </a:endParaRP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40</m:t>
                    </m:r>
                  </m:oMath>
                </a14:m>
                <a:endParaRPr lang="es-ES" b="0" i="1" dirty="0">
                  <a:latin typeface="Cambria Math" panose="02040503050406030204" pitchFamily="18" charset="0"/>
                </a:endParaRP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30</m:t>
                    </m:r>
                  </m:oMath>
                </a14:m>
                <a:endParaRPr lang="es-ES" b="0" i="1" dirty="0">
                  <a:latin typeface="Cambria Math" panose="02040503050406030204" pitchFamily="18" charset="0"/>
                </a:endParaRP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15</m:t>
                    </m:r>
                  </m:oMath>
                </a14:m>
                <a:endParaRPr lang="es-ES" b="0" i="1" dirty="0">
                  <a:latin typeface="Cambria Math" panose="02040503050406030204" pitchFamily="18" charset="0"/>
                </a:endParaRP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15</m:t>
                    </m:r>
                  </m:oMath>
                </a14:m>
                <a:endParaRPr lang="en-US" dirty="0"/>
              </a:p>
              <a:p>
                <a:pPr marL="457200" indent="-457200">
                  <a:lnSpc>
                    <a:spcPct val="90000"/>
                  </a:lnSpc>
                  <a:spcBef>
                    <a:spcPts val="1001"/>
                  </a:spcBef>
                  <a:buClr>
                    <a:srgbClr val="000000"/>
                  </a:buClr>
                  <a:buFont typeface="Calibri Light"/>
                  <a:buAutoNum type="alphaLcParenR"/>
                </a:pPr>
                <a:r>
                  <a:rPr lang="es-ES" sz="2800" b="0" strike="noStrike" spc="-1" dirty="0">
                    <a:solidFill>
                      <a:srgbClr val="000000"/>
                    </a:solidFill>
                    <a:latin typeface="Calibri"/>
                  </a:rPr>
                  <a:t>Encontrar la probabilidad de que no haya errores en el primer módulo</a:t>
                </a:r>
              </a:p>
              <a:p>
                <a:pPr lvl="1">
                  <a:spcBef>
                    <a:spcPts val="1001"/>
                  </a:spcBef>
                  <a:buClr>
                    <a:srgbClr val="000000"/>
                  </a:buClr>
                </a:pPr>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𝑋</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𝑦</m:t>
                        </m:r>
                        <m:r>
                          <a:rPr lang="es-ES" b="0" i="1" smtClean="0">
                            <a:latin typeface="Cambria Math" panose="02040503050406030204" pitchFamily="18" charset="0"/>
                          </a:rPr>
                          <m:t>=</m:t>
                        </m:r>
                        <m:r>
                          <a:rPr lang="es-ES" b="0" i="1" smtClean="0">
                            <a:latin typeface="Cambria Math" panose="02040503050406030204" pitchFamily="18" charset="0"/>
                          </a:rPr>
                          <m:t>0</m:t>
                        </m:r>
                      </m:sub>
                      <m:sup>
                        <m:r>
                          <a:rPr lang="es-ES" b="0" i="1" smtClean="0">
                            <a:latin typeface="Cambria Math" panose="02040503050406030204" pitchFamily="18" charset="0"/>
                          </a:rPr>
                          <m:t>3</m:t>
                        </m:r>
                      </m:sup>
                      <m:e>
                        <m:sSub>
                          <m:sSubPr>
                            <m:ctrlPr>
                              <a:rPr lang="es-ES" i="1">
                                <a:latin typeface="Cambria Math" panose="02040503050406030204" pitchFamily="18" charset="0"/>
                              </a:rPr>
                            </m:ctrlPr>
                          </m:sSubPr>
                          <m:e>
                            <m:r>
                              <a:rPr lang="es-ES" i="1">
                                <a:latin typeface="Cambria Math" panose="02040503050406030204" pitchFamily="18" charset="0"/>
                              </a:rPr>
                              <m:t>𝑃</m:t>
                            </m:r>
                          </m:e>
                          <m:sub>
                            <m:d>
                              <m:dPr>
                                <m:ctrlPr>
                                  <a:rPr lang="es-ES"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𝑌</m:t>
                                </m:r>
                              </m:e>
                            </m:d>
                          </m:sub>
                        </m:sSub>
                        <m:r>
                          <a:rPr lang="es-ES" i="1">
                            <a:latin typeface="Cambria Math" panose="02040503050406030204" pitchFamily="18" charset="0"/>
                          </a:rPr>
                          <m:t>(</m:t>
                        </m:r>
                        <m:r>
                          <a:rPr lang="es-ES" b="0" i="1" smtClean="0">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𝑦</m:t>
                        </m:r>
                        <m:r>
                          <a:rPr lang="es-ES" b="0" i="1" smtClean="0">
                            <a:latin typeface="Cambria Math" panose="02040503050406030204" pitchFamily="18" charset="0"/>
                          </a:rPr>
                          <m:t>)</m:t>
                        </m:r>
                      </m:e>
                    </m:nary>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20</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20</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05</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05</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50</m:t>
                    </m:r>
                  </m:oMath>
                </a14:m>
                <a:endParaRPr lang="en-US" dirty="0"/>
              </a:p>
              <a:p>
                <a:pPr lvl="1">
                  <a:spcBef>
                    <a:spcPts val="1001"/>
                  </a:spcBef>
                  <a:buClr>
                    <a:srgbClr val="000000"/>
                  </a:buClr>
                </a:pPr>
                <a:endParaRPr lang="es-ES"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p:txBody>
          </p:sp>
        </mc:Choice>
        <mc:Fallback xmlns="">
          <p:sp>
            <p:nvSpPr>
              <p:cNvPr id="119"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101" t="-2381" b="-13585"/>
                </a:stretch>
              </a:blipFill>
              <a:ln w="0">
                <a:noFill/>
              </a:ln>
            </p:spPr>
            <p:txBody>
              <a:bodyPr/>
              <a:lstStyle/>
              <a:p>
                <a:r>
                  <a:rPr lang="es-ES">
                    <a:noFill/>
                  </a:rPr>
                  <a:t> </a:t>
                </a:r>
              </a:p>
            </p:txBody>
          </p:sp>
        </mc:Fallback>
      </mc:AlternateContent>
      <p:pic>
        <p:nvPicPr>
          <p:cNvPr id="120" name="Imagen 5">
            <a:extLst>
              <a:ext uri="{C183D7F6-B498-43B3-948B-1728B52AA6E4}">
                <adec:decorative xmlns:adec="http://schemas.microsoft.com/office/drawing/2017/decorative" val="1"/>
              </a:ext>
            </a:extLst>
          </p:cNvPr>
          <p:cNvPicPr/>
          <p:nvPr/>
        </p:nvPicPr>
        <p:blipFill>
          <a:blip r:embed="rId3"/>
          <a:stretch/>
        </p:blipFill>
        <p:spPr>
          <a:xfrm>
            <a:off x="7205400" y="3609000"/>
            <a:ext cx="3744720" cy="1225080"/>
          </a:xfrm>
          <a:prstGeom prst="rect">
            <a:avLst/>
          </a:prstGeom>
          <a:ln w="0">
            <a:noFill/>
          </a:ln>
        </p:spPr>
      </p:pic>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34</a:t>
            </a:fld>
            <a:endParaRPr/>
          </a:p>
        </p:txBody>
      </p:sp>
    </p:spTree>
    <p:extLst>
      <p:ext uri="{BB962C8B-B14F-4D97-AF65-F5344CB8AC3E}">
        <p14:creationId xmlns:p14="http://schemas.microsoft.com/office/powerpoint/2010/main" val="41517856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 Ejemplo 3.6 (Solución) (II)</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22" name="PlaceHolder 2"/>
              <p:cNvSpPr>
                <a:spLocks noGrp="1"/>
              </p:cNvSpPr>
              <p:nvPr>
                <p:ph/>
              </p:nvPr>
            </p:nvSpPr>
            <p:spPr>
              <a:xfrm>
                <a:off x="838080" y="1825560"/>
                <a:ext cx="10515240" cy="4350960"/>
              </a:xfrm>
              <a:prstGeom prst="rect">
                <a:avLst/>
              </a:prstGeom>
              <a:noFill/>
              <a:ln w="0">
                <a:noFill/>
              </a:ln>
            </p:spPr>
            <p:txBody>
              <a:bodyPr anchor="t">
                <a:normAutofit fontScale="96000"/>
              </a:bodyPr>
              <a:lstStyle/>
              <a:p>
                <a:pPr marL="514440" indent="-514440">
                  <a:lnSpc>
                    <a:spcPct val="90000"/>
                  </a:lnSpc>
                  <a:spcBef>
                    <a:spcPts val="1001"/>
                  </a:spcBef>
                  <a:buClr>
                    <a:srgbClr val="000000"/>
                  </a:buClr>
                  <a:buFont typeface="Calibri Light"/>
                  <a:buAutoNum type="alphaLcParenR" startAt="3"/>
                </a:pPr>
                <a:r>
                  <a:rPr lang="es-ES" sz="2800" b="0" strike="noStrike" spc="-1" dirty="0">
                    <a:solidFill>
                      <a:srgbClr val="000000"/>
                    </a:solidFill>
                    <a:latin typeface="Calibri"/>
                  </a:rPr>
                  <a:t>Encontrar la distribución de probabilidad del número total de errores en el programa</a:t>
                </a: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𝑍</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𝑋</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𝑌</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𝑛</m:t>
                    </m:r>
                    <m:r>
                      <a:rPr lang="es-ES" sz="2400" b="0" i="1" strike="noStrike" spc="-1" dirty="0" smtClean="0">
                        <a:solidFill>
                          <a:srgbClr val="000000"/>
                        </a:solidFill>
                        <a:latin typeface="Cambria Math" panose="02040503050406030204" pitchFamily="18" charset="0"/>
                      </a:rPr>
                      <m:t>ú</m:t>
                    </m:r>
                    <m:r>
                      <a:rPr lang="es-ES" sz="2400" b="0" i="1" strike="noStrike" spc="-1" dirty="0" smtClean="0">
                        <a:solidFill>
                          <a:srgbClr val="000000"/>
                        </a:solidFill>
                        <a:latin typeface="Cambria Math" panose="02040503050406030204" pitchFamily="18" charset="0"/>
                      </a:rPr>
                      <m:t>𝑚𝑒𝑟𝑜</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𝑡𝑜𝑡𝑎𝑙</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𝑑𝑒</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𝑒𝑟𝑟𝑜𝑟𝑒𝑠</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𝑍</m:t>
                    </m:r>
                  </m:oMath>
                </a14:m>
                <a:r>
                  <a:rPr lang="es-ES" sz="2400" b="0" strike="noStrike" spc="-1" dirty="0">
                    <a:solidFill>
                      <a:srgbClr val="000000"/>
                    </a:solidFill>
                    <a:latin typeface="Calibri"/>
                  </a:rPr>
                  <a:t> puede ser </a:t>
                </a:r>
                <a14:m>
                  <m:oMath xmlns:m="http://schemas.openxmlformats.org/officeDocument/2006/math">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2</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𝑜</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4</m:t>
                    </m:r>
                  </m:oMath>
                </a14:m>
                <a:endParaRPr lang="es-ES" sz="2400" b="0" strike="noStrike" spc="-1" dirty="0">
                  <a:solidFill>
                    <a:srgbClr val="000000"/>
                  </a:solidFill>
                  <a:latin typeface="Calibri"/>
                </a:endParaRP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𝑍</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r>
                          <a:rPr lang="es-ES" b="0" i="1" smtClean="0">
                            <a:latin typeface="Cambria Math" panose="02040503050406030204" pitchFamily="18" charset="0"/>
                          </a:rPr>
                          <m:t>=</m:t>
                        </m:r>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e>
                    </m:d>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𝑃</m:t>
                        </m:r>
                      </m:e>
                      <m: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e>
                        </m:d>
                      </m:sub>
                    </m:s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m:t>
                    </m:r>
                  </m:oMath>
                </a14:m>
                <a:endParaRPr lang="en-US" dirty="0"/>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𝑍</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r>
                          <a:rPr lang="es-ES" b="0" i="1" smtClean="0">
                            <a:latin typeface="Cambria Math" panose="02040503050406030204" pitchFamily="18" charset="0"/>
                          </a:rPr>
                          <m:t>=</m:t>
                        </m:r>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e>
                    </m:d>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d>
                          <m:dPr>
                            <m:begChr m:val="{"/>
                            <m:endChr m:val="}"/>
                            <m:ctrlPr>
                              <a:rPr lang="es-ES" b="0" i="1" smtClean="0">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1</m:t>
                            </m:r>
                          </m:e>
                        </m:d>
                        <m:r>
                          <a:rPr lang="es-ES" i="1">
                            <a:latin typeface="Cambria Math" panose="02040503050406030204" pitchFamily="18" charset="0"/>
                          </a:rPr>
                          <m:t>∩</m:t>
                        </m:r>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𝑌</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e>
                    </m:d>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𝑃</m:t>
                        </m:r>
                      </m:e>
                      <m: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e>
                        </m:d>
                      </m:sub>
                    </m:s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e>
                    </m:d>
                    <m:r>
                      <a:rPr lang="es-ES" b="0"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𝑃</m:t>
                        </m:r>
                      </m:e>
                      <m:sub>
                        <m:d>
                          <m:dPr>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𝑋</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𝑌</m:t>
                            </m:r>
                          </m:e>
                        </m:d>
                      </m:sub>
                    </m:sSub>
                    <m:d>
                      <m:dPr>
                        <m:ctrlPr>
                          <a:rPr lang="es-ES" i="1">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40</m:t>
                    </m:r>
                  </m:oMath>
                </a14:m>
                <a:endParaRPr lang="en-US" dirty="0"/>
              </a:p>
              <a:p>
                <a:pPr lvl="1"/>
                <a:r>
                  <a:rPr lang="en-US" dirty="0"/>
                  <a:t>…</a:t>
                </a: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𝑍</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4</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r>
                          <a:rPr lang="es-ES" b="0" i="1" smtClean="0">
                            <a:latin typeface="Cambria Math" panose="02040503050406030204" pitchFamily="18" charset="0"/>
                          </a:rPr>
                          <m:t>=</m:t>
                        </m:r>
                        <m:r>
                          <a:rPr lang="es-ES" b="0" i="1" smtClean="0">
                            <a:latin typeface="Cambria Math" panose="02040503050406030204" pitchFamily="18" charset="0"/>
                          </a:rPr>
                          <m:t>4</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3</m:t>
                        </m:r>
                        <m:r>
                          <a:rPr lang="es-ES" b="0" i="1" smtClean="0">
                            <a:latin typeface="Cambria Math" panose="02040503050406030204" pitchFamily="18" charset="0"/>
                            <a:ea typeface="Cambria Math" panose="02040503050406030204" pitchFamily="18" charset="0"/>
                          </a:rPr>
                          <m:t>}</m:t>
                        </m:r>
                      </m:e>
                    </m:d>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𝑃</m:t>
                        </m:r>
                      </m:e>
                      <m: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e>
                        </m:d>
                      </m:sub>
                    </m:s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3</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10</m:t>
                    </m:r>
                  </m:oMath>
                </a14:m>
                <a:endParaRPr lang="en-US" dirty="0"/>
              </a:p>
              <a:p>
                <a:pPr marL="685800" lvl="1" indent="-228600">
                  <a:lnSpc>
                    <a:spcPct val="90000"/>
                  </a:lnSpc>
                  <a:spcBef>
                    <a:spcPts val="499"/>
                  </a:spcBef>
                  <a:buClr>
                    <a:srgbClr val="000000"/>
                  </a:buClr>
                  <a:buFont typeface="Arial"/>
                  <a:buChar char="•"/>
                </a:pPr>
                <a:r>
                  <a:rPr lang="es-ES" spc="-1" dirty="0">
                    <a:solidFill>
                      <a:srgbClr val="000000"/>
                    </a:solidFill>
                    <a:latin typeface="Calibri"/>
                  </a:rPr>
                  <a:t>S</a:t>
                </a:r>
                <a:r>
                  <a:rPr lang="es-ES" sz="2400" b="0" strike="noStrike" spc="-1" dirty="0">
                    <a:solidFill>
                      <a:srgbClr val="000000"/>
                    </a:solidFill>
                    <a:latin typeface="Calibri"/>
                  </a:rPr>
                  <a:t>e puede comprobar que</a:t>
                </a:r>
              </a:p>
              <a:p>
                <a:pPr lvl="2">
                  <a:spcBef>
                    <a:spcPts val="499"/>
                  </a:spcBef>
                  <a:buClr>
                    <a:srgbClr val="000000"/>
                  </a:buClr>
                  <a:buFont typeface="Arial"/>
                  <a:buChar char="•"/>
                </a:pPr>
                <a14:m>
                  <m:oMath xmlns:m="http://schemas.openxmlformats.org/officeDocument/2006/math">
                    <m:nary>
                      <m:naryPr>
                        <m:chr m:val="∑"/>
                        <m:ctrlPr>
                          <a:rPr lang="en-US" i="1" smtClean="0">
                            <a:latin typeface="Cambria Math" panose="02040503050406030204" pitchFamily="18" charset="0"/>
                          </a:rPr>
                        </m:ctrlPr>
                      </m:naryPr>
                      <m:sub>
                        <m:r>
                          <m:rPr>
                            <m:brk m:alnAt="23"/>
                          </m:rPr>
                          <a:rPr lang="es-ES" b="0" i="1" smtClean="0">
                            <a:latin typeface="Cambria Math" panose="02040503050406030204" pitchFamily="18" charset="0"/>
                          </a:rPr>
                          <m:t>𝑧</m:t>
                        </m:r>
                        <m:r>
                          <a:rPr lang="es-ES" b="0" i="1" smtClean="0">
                            <a:latin typeface="Cambria Math" panose="02040503050406030204" pitchFamily="18" charset="0"/>
                          </a:rPr>
                          <m:t>=</m:t>
                        </m:r>
                        <m:r>
                          <a:rPr lang="es-ES" b="0" i="1" smtClean="0">
                            <a:latin typeface="Cambria Math" panose="02040503050406030204" pitchFamily="18" charset="0"/>
                          </a:rPr>
                          <m:t>0</m:t>
                        </m:r>
                      </m:sub>
                      <m:sup>
                        <m:r>
                          <a:rPr lang="es-ES" b="0" i="1" smtClean="0">
                            <a:latin typeface="Cambria Math" panose="02040503050406030204" pitchFamily="18" charset="0"/>
                          </a:rPr>
                          <m:t>4</m:t>
                        </m:r>
                      </m:sup>
                      <m:e>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𝑍</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𝑧</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20</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40</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15</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15</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10</m:t>
                        </m:r>
                        <m:r>
                          <a:rPr lang="es-ES" b="0" i="1" smtClean="0">
                            <a:latin typeface="Cambria Math" panose="02040503050406030204" pitchFamily="18" charset="0"/>
                          </a:rPr>
                          <m:t>=</m:t>
                        </m:r>
                        <m:r>
                          <a:rPr lang="es-ES" b="0" i="1" smtClean="0">
                            <a:latin typeface="Cambria Math" panose="02040503050406030204" pitchFamily="18" charset="0"/>
                          </a:rPr>
                          <m:t>1</m:t>
                        </m:r>
                      </m:e>
                    </m:nary>
                  </m:oMath>
                </a14:m>
                <a:r>
                  <a:rPr lang="es-ES" b="0" strike="noStrike" spc="-1" dirty="0">
                    <a:solidFill>
                      <a:srgbClr val="000000"/>
                    </a:solidFill>
                    <a:latin typeface="Calibri"/>
                  </a:rPr>
                  <a:t> </a:t>
                </a:r>
                <a:endParaRPr lang="es-ES" sz="28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p:txBody>
          </p:sp>
        </mc:Choice>
        <mc:Fallback xmlns="">
          <p:sp>
            <p:nvSpPr>
              <p:cNvPr id="122"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101" t="-2381" b="-14566"/>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35</a:t>
            </a:fld>
            <a:endParaRPr/>
          </a:p>
        </p:txBody>
      </p:sp>
    </p:spTree>
    <p:extLst>
      <p:ext uri="{BB962C8B-B14F-4D97-AF65-F5344CB8AC3E}">
        <p14:creationId xmlns:p14="http://schemas.microsoft.com/office/powerpoint/2010/main" val="3979943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a:t>
            </a:r>
            <a:br>
              <a:rPr lang="es-ES" sz="4400" b="0" strike="noStrike" spc="-1" dirty="0">
                <a:solidFill>
                  <a:srgbClr val="000000"/>
                </a:solidFill>
                <a:latin typeface="Calibri Light"/>
              </a:rPr>
            </a:br>
            <a:r>
              <a:rPr lang="es-ES" sz="4400" b="0" strike="noStrike" spc="-1" dirty="0">
                <a:solidFill>
                  <a:srgbClr val="000000"/>
                </a:solidFill>
                <a:latin typeface="Calibri Light"/>
              </a:rPr>
              <a:t>Ejemplo 3.6 (Solución) (III)</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24" name="PlaceHolder 2"/>
              <p:cNvSpPr>
                <a:spLocks noGrp="1"/>
              </p:cNvSpPr>
              <p:nvPr>
                <p:ph/>
              </p:nvPr>
            </p:nvSpPr>
            <p:spPr>
              <a:xfrm>
                <a:off x="838080" y="1825560"/>
                <a:ext cx="10515240" cy="4350960"/>
              </a:xfrm>
              <a:prstGeom prst="rect">
                <a:avLst/>
              </a:prstGeom>
              <a:noFill/>
              <a:ln w="0">
                <a:noFill/>
              </a:ln>
            </p:spPr>
            <p:txBody>
              <a:bodyPr anchor="t">
                <a:normAutofit/>
              </a:bodyPr>
              <a:lstStyle/>
              <a:p>
                <a:pPr marL="514440" indent="-514440">
                  <a:lnSpc>
                    <a:spcPct val="90000"/>
                  </a:lnSpc>
                  <a:spcBef>
                    <a:spcPts val="1001"/>
                  </a:spcBef>
                  <a:buClr>
                    <a:srgbClr val="000000"/>
                  </a:buClr>
                  <a:buFont typeface="Calibri Light"/>
                  <a:buAutoNum type="alphaLcParenR" startAt="4"/>
                </a:pPr>
                <a:r>
                  <a:rPr lang="es-ES" sz="2800" b="0" strike="noStrike" spc="-1" dirty="0">
                    <a:solidFill>
                      <a:srgbClr val="000000"/>
                    </a:solidFill>
                    <a:latin typeface="Calibri"/>
                  </a:rPr>
                  <a:t>Averiguar si los errores en los dos módulos ocurren de forma independiente</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Para decidir sobre la independencia de X e Y, comprobamos </a:t>
                </a:r>
                <a:r>
                  <a:rPr lang="es-ES" spc="-1" dirty="0">
                    <a:solidFill>
                      <a:srgbClr val="000000"/>
                    </a:solidFill>
                    <a:latin typeface="Calibri"/>
                  </a:rPr>
                  <a:t>si </a:t>
                </a: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d>
                          <m:dPr>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e>
                        </m:d>
                      </m:sub>
                    </m:sSub>
                    <m:d>
                      <m:dPr>
                        <m:ctrlPr>
                          <a:rPr lang="es-ES" b="0" i="1" smtClean="0">
                            <a:latin typeface="Cambria Math" panose="02040503050406030204" pitchFamily="18" charset="0"/>
                          </a:rPr>
                        </m:ctrlPr>
                      </m:dPr>
                      <m:e>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𝑦</m:t>
                        </m:r>
                      </m:e>
                    </m:d>
                    <m:r>
                      <a:rPr lang="es-ES" b="0" i="1" smtClean="0">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𝑋</m:t>
                        </m:r>
                      </m:sub>
                    </m:sSub>
                    <m:d>
                      <m:dPr>
                        <m:ctrlPr>
                          <a:rPr lang="es-ES" i="1">
                            <a:latin typeface="Cambria Math" panose="02040503050406030204" pitchFamily="18" charset="0"/>
                          </a:rPr>
                        </m:ctrlPr>
                      </m:dPr>
                      <m:e>
                        <m:r>
                          <a:rPr lang="es-ES" i="1">
                            <a:latin typeface="Cambria Math" panose="02040503050406030204" pitchFamily="18" charset="0"/>
                          </a:rPr>
                          <m:t>𝑥</m:t>
                        </m:r>
                      </m:e>
                    </m:d>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b="0" i="1" smtClean="0">
                            <a:latin typeface="Cambria Math" panose="02040503050406030204" pitchFamily="18" charset="0"/>
                          </a:rPr>
                          <m:t>𝑌</m:t>
                        </m:r>
                      </m:sub>
                    </m:sSub>
                    <m:d>
                      <m:dPr>
                        <m:ctrlPr>
                          <a:rPr lang="es-ES" i="1">
                            <a:latin typeface="Cambria Math" panose="02040503050406030204" pitchFamily="18" charset="0"/>
                          </a:rPr>
                        </m:ctrlPr>
                      </m:dPr>
                      <m:e>
                        <m:r>
                          <a:rPr lang="es-ES" b="0" i="1" smtClean="0">
                            <a:latin typeface="Cambria Math" panose="02040503050406030204" pitchFamily="18" charset="0"/>
                          </a:rPr>
                          <m:t>𝑦</m:t>
                        </m:r>
                      </m:e>
                    </m:d>
                  </m:oMath>
                </a14:m>
                <a:r>
                  <a:rPr lang="es-ES" sz="2400" b="0" strike="noStrike" spc="-1" dirty="0">
                    <a:solidFill>
                      <a:srgbClr val="000000"/>
                    </a:solidFill>
                    <a:latin typeface="Calibri"/>
                  </a:rPr>
                  <a:t> para todo x e y</a:t>
                </a:r>
              </a:p>
              <a:p>
                <a:pPr lvl="2"/>
                <a14:m>
                  <m:oMath xmlns:m="http://schemas.openxmlformats.org/officeDocument/2006/math">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𝑃</m:t>
                        </m:r>
                      </m:e>
                      <m: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e>
                        </m:d>
                      </m:sub>
                    </m:s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m:t>
                    </m:r>
                    <m:r>
                      <a:rPr lang="es-E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𝑋</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b="0" i="1" smtClean="0">
                            <a:latin typeface="Cambria Math" panose="02040503050406030204" pitchFamily="18" charset="0"/>
                          </a:rPr>
                          <m:t>𝑌</m:t>
                        </m:r>
                      </m:sub>
                    </m:sSub>
                    <m:d>
                      <m:dPr>
                        <m:ctrlPr>
                          <a:rPr lang="es-ES" i="1">
                            <a:latin typeface="Cambria Math" panose="02040503050406030204" pitchFamily="18" charset="0"/>
                          </a:rPr>
                        </m:ctrlPr>
                      </m:dPr>
                      <m:e>
                        <m:r>
                          <a:rPr lang="es-ES" i="1">
                            <a:latin typeface="Cambria Math" panose="02040503050406030204" pitchFamily="18" charset="0"/>
                          </a:rPr>
                          <m:t>0</m:t>
                        </m:r>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50</m:t>
                        </m:r>
                      </m:e>
                    </m:d>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40</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m:t>
                    </m:r>
                  </m:oMath>
                </a14:m>
                <a:endParaRPr lang="en-US" dirty="0"/>
              </a:p>
              <a:p>
                <a:pPr lvl="2"/>
                <a14:m>
                  <m:oMath xmlns:m="http://schemas.openxmlformats.org/officeDocument/2006/math">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𝑃</m:t>
                        </m:r>
                      </m:e>
                      <m: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e>
                        </m:d>
                      </m:sub>
                    </m:s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m:t>
                    </m:r>
                    <m:r>
                      <a:rPr lang="es-E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𝑋</m:t>
                        </m:r>
                      </m:sub>
                    </m:sSub>
                    <m:d>
                      <m:dPr>
                        <m:ctrlPr>
                          <a:rPr lang="es-ES" i="1">
                            <a:latin typeface="Cambria Math" panose="02040503050406030204" pitchFamily="18" charset="0"/>
                          </a:rPr>
                        </m:ctrlPr>
                      </m:dPr>
                      <m:e>
                        <m:r>
                          <a:rPr lang="es-ES" i="1">
                            <a:latin typeface="Cambria Math" panose="02040503050406030204" pitchFamily="18" charset="0"/>
                          </a:rPr>
                          <m:t>0</m:t>
                        </m:r>
                      </m:e>
                    </m:d>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𝑌</m:t>
                        </m:r>
                      </m:sub>
                    </m:sSub>
                    <m:d>
                      <m:dPr>
                        <m:ctrlPr>
                          <a:rPr lang="es-ES" i="1">
                            <a:latin typeface="Cambria Math" panose="02040503050406030204" pitchFamily="18" charset="0"/>
                          </a:rPr>
                        </m:ctrlPr>
                      </m:dPr>
                      <m:e>
                        <m:r>
                          <a:rPr lang="es-ES" b="0" i="1" smtClean="0">
                            <a:latin typeface="Cambria Math" panose="02040503050406030204" pitchFamily="18" charset="0"/>
                          </a:rPr>
                          <m:t>1</m:t>
                        </m:r>
                      </m:e>
                    </m:d>
                    <m:r>
                      <a:rPr lang="es-ES" i="1">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50</m:t>
                        </m:r>
                      </m:e>
                    </m:d>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3</m:t>
                        </m:r>
                        <m:r>
                          <a:rPr lang="es-ES" i="1">
                            <a:latin typeface="Cambria Math" panose="02040503050406030204" pitchFamily="18" charset="0"/>
                          </a:rPr>
                          <m:t>0</m:t>
                        </m:r>
                      </m:e>
                    </m:d>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15</m:t>
                    </m:r>
                  </m:oMath>
                </a14:m>
                <a:endParaRPr lang="es-ES"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No hay necesidad de comprobar más, al encontrar un par que no cumple la fórmula de variables aleatorias independientes</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Por lo tanto, los números de errores en dos módulos no son independientes</a:t>
                </a: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p:txBody>
          </p:sp>
        </mc:Choice>
        <mc:Fallback xmlns="">
          <p:sp>
            <p:nvSpPr>
              <p:cNvPr id="124"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217" t="-238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36</a:t>
            </a:fld>
            <a:endParaRPr/>
          </a:p>
        </p:txBody>
      </p:sp>
    </p:spTree>
    <p:extLst>
      <p:ext uri="{BB962C8B-B14F-4D97-AF65-F5344CB8AC3E}">
        <p14:creationId xmlns:p14="http://schemas.microsoft.com/office/powerpoint/2010/main" val="111707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a:t>
            </a:r>
            <a:br>
              <a:rPr lang="es-ES" sz="4400" b="0" strike="noStrike" spc="-1" dirty="0">
                <a:solidFill>
                  <a:srgbClr val="000000"/>
                </a:solidFill>
                <a:latin typeface="Calibri Light"/>
              </a:rPr>
            </a:br>
            <a:r>
              <a:rPr lang="es-ES" sz="4400" b="0" strike="noStrike" spc="-1" dirty="0">
                <a:solidFill>
                  <a:srgbClr val="000000"/>
                </a:solidFill>
                <a:latin typeface="Calibri Light"/>
              </a:rPr>
              <a:t>Ejercicios propuestos</a:t>
            </a:r>
            <a:endParaRPr lang="es-ES" sz="4400" b="0" strike="noStrike" spc="-1" dirty="0">
              <a:solidFill>
                <a:srgbClr val="000000"/>
              </a:solidFill>
              <a:latin typeface="Calibri"/>
            </a:endParaRPr>
          </a:p>
        </p:txBody>
      </p:sp>
      <p:sp>
        <p:nvSpPr>
          <p:cNvPr id="163"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Ejercicios </a:t>
            </a:r>
            <a:r>
              <a:rPr lang="es-ES" spc="-1" dirty="0">
                <a:solidFill>
                  <a:srgbClr val="000000"/>
                </a:solidFill>
                <a:latin typeface="Calibri"/>
              </a:rPr>
              <a:t>3.10</a:t>
            </a:r>
            <a:r>
              <a:rPr lang="es-ES" sz="2800" b="0" strike="noStrike" spc="-1" dirty="0">
                <a:solidFill>
                  <a:srgbClr val="000000"/>
                </a:solidFill>
                <a:latin typeface="Calibri"/>
              </a:rPr>
              <a:t> a 3.15 del libro</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Las respuestas de 3.10, 3.11, 3.12, 3.15 están disponibles en el libro</a:t>
            </a: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37</a:t>
            </a:fld>
            <a:endParaRPr/>
          </a:p>
        </p:txBody>
      </p:sp>
    </p:spTree>
    <p:extLst>
      <p:ext uri="{BB962C8B-B14F-4D97-AF65-F5344CB8AC3E}">
        <p14:creationId xmlns:p14="http://schemas.microsoft.com/office/powerpoint/2010/main" val="30078563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400" b="0" strike="noStrike" spc="-1" dirty="0">
                <a:solidFill>
                  <a:srgbClr val="000000"/>
                </a:solidFill>
                <a:latin typeface="Calibri Light"/>
              </a:rPr>
              <a:t>7. Esperanza de </a:t>
            </a:r>
            <a:r>
              <a:rPr lang="es-ES" spc="-1" dirty="0">
                <a:solidFill>
                  <a:srgbClr val="000000"/>
                </a:solidFill>
                <a:latin typeface="Calibri Light"/>
              </a:rPr>
              <a:t>funciones de más de una variable</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35" name="PlaceHolder 2"/>
              <p:cNvSpPr>
                <a:spLocks noGrp="1"/>
              </p:cNvSpPr>
              <p:nvPr>
                <p:ph/>
              </p:nvPr>
            </p:nvSpPr>
            <p:spPr>
              <a:xfrm>
                <a:off x="838080" y="1825560"/>
                <a:ext cx="10515240" cy="4350960"/>
              </a:xfrm>
              <a:prstGeom prst="rect">
                <a:avLst/>
              </a:prstGeom>
              <a:noFill/>
              <a:ln w="0">
                <a:noFill/>
              </a:ln>
            </p:spPr>
            <p:txBody>
              <a:bodyPr anchor="t">
                <a:normAutofit lnSpcReduction="10000"/>
              </a:bodyPr>
              <a:lstStyle/>
              <a:p>
                <a:pPr>
                  <a:spcBef>
                    <a:spcPts val="1001"/>
                  </a:spcBef>
                  <a:buClr>
                    <a:srgbClr val="000000"/>
                  </a:buClr>
                  <a:buFont typeface="Arial"/>
                  <a:buChar char="•"/>
                </a:pPr>
                <a:r>
                  <a:rPr lang="es-ES" sz="2800" b="0" strike="noStrike" spc="-1" dirty="0">
                    <a:solidFill>
                      <a:srgbClr val="000000"/>
                    </a:solidFill>
                    <a:latin typeface="Calibri"/>
                  </a:rPr>
                  <a:t>Caso general: función </a:t>
                </a:r>
                <a14:m>
                  <m:oMath xmlns:m="http://schemas.openxmlformats.org/officeDocument/2006/math">
                    <m:r>
                      <a:rPr lang="es-ES" sz="2800" b="0" i="1" strike="noStrike" spc="-1" dirty="0" smtClean="0">
                        <a:solidFill>
                          <a:srgbClr val="000000"/>
                        </a:solidFill>
                        <a:latin typeface="Cambria Math" panose="02040503050406030204" pitchFamily="18" charset="0"/>
                      </a:rPr>
                      <m:t>𝑔</m:t>
                    </m:r>
                  </m:oMath>
                </a14:m>
                <a:r>
                  <a:rPr lang="es-ES" sz="2800" b="0" strike="noStrike" spc="-1" dirty="0">
                    <a:solidFill>
                      <a:srgbClr val="000000"/>
                    </a:solidFill>
                    <a:latin typeface="Calibri"/>
                  </a:rPr>
                  <a:t> de dos </a:t>
                </a:r>
                <a:r>
                  <a:rPr lang="es-ES" spc="-1" dirty="0">
                    <a:solidFill>
                      <a:srgbClr val="000000"/>
                    </a:solidFill>
                    <a:latin typeface="Calibri"/>
                  </a:rPr>
                  <a:t>variables aleatorias discretas </a:t>
                </a:r>
                <a14:m>
                  <m:oMath xmlns:m="http://schemas.openxmlformats.org/officeDocument/2006/math">
                    <m:r>
                      <a:rPr lang="es-ES" i="1" spc="-1" dirty="0">
                        <a:solidFill>
                          <a:srgbClr val="000000"/>
                        </a:solidFill>
                        <a:latin typeface="Cambria Math" panose="02040503050406030204" pitchFamily="18" charset="0"/>
                      </a:rPr>
                      <m:t>𝑋</m:t>
                    </m:r>
                  </m:oMath>
                </a14:m>
                <a:r>
                  <a:rPr lang="es-ES" spc="-1" dirty="0">
                    <a:solidFill>
                      <a:srgbClr val="000000"/>
                    </a:solidFill>
                  </a:rPr>
                  <a:t> e </a:t>
                </a:r>
                <a14:m>
                  <m:oMath xmlns:m="http://schemas.openxmlformats.org/officeDocument/2006/math">
                    <m:r>
                      <a:rPr lang="es-ES" i="1" spc="-1" dirty="0">
                        <a:solidFill>
                          <a:srgbClr val="000000"/>
                        </a:solidFill>
                        <a:latin typeface="Cambria Math" panose="02040503050406030204" pitchFamily="18" charset="0"/>
                      </a:rPr>
                      <m:t>𝑌</m:t>
                    </m:r>
                  </m:oMath>
                </a14:m>
                <a:r>
                  <a:rPr lang="es-ES" spc="-1" dirty="0">
                    <a:solidFill>
                      <a:srgbClr val="000000"/>
                    </a:solidFill>
                    <a:latin typeface="Calibri"/>
                  </a:rPr>
                  <a:t> </a:t>
                </a:r>
              </a:p>
              <a:p>
                <a:pPr lvl="1">
                  <a:spcBef>
                    <a:spcPts val="1001"/>
                  </a:spcBef>
                  <a:buClr>
                    <a:srgbClr val="000000"/>
                  </a:buClr>
                  <a:buFont typeface="Arial"/>
                  <a:buChar char="•"/>
                </a:pPr>
                <a14:m>
                  <m:oMath xmlns:m="http://schemas.openxmlformats.org/officeDocument/2006/math">
                    <m:r>
                      <a:rPr lang="es-ES" b="0" i="1" smtClean="0">
                        <a:latin typeface="Cambria Math" panose="02040503050406030204" pitchFamily="18" charset="0"/>
                      </a:rPr>
                      <m:t>𝐸</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𝑔</m:t>
                        </m:r>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r>
                          <a:rPr lang="es-ES" b="0" i="1" smtClean="0">
                            <a:latin typeface="Cambria Math" panose="02040503050406030204" pitchFamily="18" charset="0"/>
                          </a:rPr>
                          <m:t>)</m:t>
                        </m:r>
                      </m:e>
                    </m:d>
                    <m:r>
                      <a:rPr lang="es-ES" b="0" i="1" smtClean="0">
                        <a:latin typeface="Cambria Math" panose="02040503050406030204" pitchFamily="18" charset="0"/>
                      </a:rPr>
                      <m:t>=</m:t>
                    </m:r>
                    <m:nary>
                      <m:naryPr>
                        <m:chr m:val="∑"/>
                        <m:supHide m:val="on"/>
                        <m:ctrlPr>
                          <a:rPr lang="es-ES" i="1">
                            <a:latin typeface="Cambria Math" panose="02040503050406030204" pitchFamily="18" charset="0"/>
                          </a:rPr>
                        </m:ctrlPr>
                      </m:naryPr>
                      <m:sub>
                        <m:r>
                          <m:rPr>
                            <m:brk m:alnAt="7"/>
                          </m:rPr>
                          <a:rPr lang="es-ES" i="1">
                            <a:latin typeface="Cambria Math" panose="02040503050406030204" pitchFamily="18" charset="0"/>
                          </a:rPr>
                          <m:t>𝑥</m:t>
                        </m:r>
                      </m:sub>
                      <m:sup/>
                      <m:e>
                        <m:nary>
                          <m:naryPr>
                            <m:chr m:val="∑"/>
                            <m:supHide m:val="on"/>
                            <m:ctrlPr>
                              <a:rPr lang="es-ES" i="1">
                                <a:latin typeface="Cambria Math" panose="02040503050406030204" pitchFamily="18" charset="0"/>
                              </a:rPr>
                            </m:ctrlPr>
                          </m:naryPr>
                          <m:sub>
                            <m:r>
                              <m:rPr>
                                <m:brk m:alnAt="7"/>
                              </m:rPr>
                              <a:rPr lang="es-ES" i="1">
                                <a:latin typeface="Cambria Math" panose="02040503050406030204" pitchFamily="18" charset="0"/>
                              </a:rPr>
                              <m:t>𝑦</m:t>
                            </m:r>
                          </m:sub>
                          <m:sup/>
                          <m:e>
                            <m:r>
                              <a:rPr lang="es-ES" b="0" i="1" smtClean="0">
                                <a:latin typeface="Cambria Math" panose="02040503050406030204" pitchFamily="18" charset="0"/>
                              </a:rPr>
                              <m:t>𝑔</m:t>
                            </m:r>
                            <m:r>
                              <a:rPr lang="es-ES" b="0" i="1" smtClean="0">
                                <a:latin typeface="Cambria Math" panose="02040503050406030204" pitchFamily="18" charset="0"/>
                              </a:rPr>
                              <m:t>(</m:t>
                            </m:r>
                            <m:r>
                              <a:rPr lang="es-ES" i="1">
                                <a:latin typeface="Cambria Math" panose="02040503050406030204" pitchFamily="18" charset="0"/>
                              </a:rPr>
                              <m:t>𝑥</m:t>
                            </m:r>
                            <m:r>
                              <a:rPr lang="es-ES" b="0" i="1" smtClean="0">
                                <a:latin typeface="Cambria Math" panose="02040503050406030204" pitchFamily="18" charset="0"/>
                              </a:rPr>
                              <m:t>,</m:t>
                            </m:r>
                            <m:r>
                              <a:rPr lang="es-ES" i="1">
                                <a:latin typeface="Cambria Math" panose="02040503050406030204" pitchFamily="18" charset="0"/>
                              </a:rPr>
                              <m:t>𝑦</m:t>
                            </m:r>
                            <m:r>
                              <a:rPr lang="es-ES" b="0" i="1" smtClean="0">
                                <a:latin typeface="Cambria Math" panose="02040503050406030204" pitchFamily="18" charset="0"/>
                              </a:rPr>
                              <m:t>)</m:t>
                            </m:r>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r>
                                  <a:rPr lang="es-ES" b="0" i="1" smtClean="0">
                                    <a:latin typeface="Cambria Math" panose="02040503050406030204" pitchFamily="18" charset="0"/>
                                  </a:rPr>
                                  <m:t>)</m:t>
                                </m:r>
                              </m:sub>
                            </m:sSub>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r>
                              <a:rPr lang="es-ES" i="1">
                                <a:latin typeface="Cambria Math" panose="02040503050406030204" pitchFamily="18" charset="0"/>
                              </a:rPr>
                              <m:t>)</m:t>
                            </m:r>
                          </m:e>
                        </m:nary>
                      </m:e>
                    </m:nary>
                  </m:oMath>
                </a14:m>
                <a:endParaRPr lang="es-ES" b="0" strike="noStrike" spc="-1" dirty="0">
                  <a:solidFill>
                    <a:srgbClr val="000000"/>
                  </a:solidFill>
                  <a:latin typeface="Calibri"/>
                </a:endParaRPr>
              </a:p>
              <a:p>
                <a:pPr lvl="2">
                  <a:spcBef>
                    <a:spcPts val="1001"/>
                  </a:spcBef>
                  <a:buClr>
                    <a:srgbClr val="000000"/>
                  </a:buClr>
                  <a:buFont typeface="Arial"/>
                  <a:buChar char="•"/>
                </a:pP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m:t>
                        </m:r>
                        <m:r>
                          <a:rPr lang="es-ES" sz="2400" b="0" i="1" smtClean="0">
                            <a:latin typeface="Cambria Math" panose="02040503050406030204" pitchFamily="18" charset="0"/>
                          </a:rPr>
                          <m:t>𝑋</m:t>
                        </m:r>
                        <m:r>
                          <a:rPr lang="es-ES" sz="2400" b="0" i="1" smtClean="0">
                            <a:latin typeface="Cambria Math" panose="02040503050406030204" pitchFamily="18" charset="0"/>
                          </a:rPr>
                          <m:t>,</m:t>
                        </m:r>
                        <m:r>
                          <a:rPr lang="es-ES" sz="2400" b="0" i="1" smtClean="0">
                            <a:latin typeface="Cambria Math" panose="02040503050406030204" pitchFamily="18" charset="0"/>
                          </a:rPr>
                          <m:t>𝑌</m:t>
                        </m:r>
                        <m:r>
                          <a:rPr lang="es-ES" sz="2400" b="0" i="1" smtClean="0">
                            <a:latin typeface="Cambria Math" panose="02040503050406030204" pitchFamily="18" charset="0"/>
                          </a:rPr>
                          <m:t>)</m:t>
                        </m:r>
                      </m:sub>
                    </m:sSub>
                    <m:r>
                      <a:rPr lang="es-ES" sz="2400" i="1" smtClean="0">
                        <a:latin typeface="Cambria Math" panose="02040503050406030204" pitchFamily="18" charset="0"/>
                      </a:rPr>
                      <m:t>(</m:t>
                    </m:r>
                    <m:r>
                      <a:rPr lang="es-ES" sz="2400" i="1" smtClean="0">
                        <a:latin typeface="Cambria Math" panose="02040503050406030204" pitchFamily="18" charset="0"/>
                      </a:rPr>
                      <m:t>𝑥</m:t>
                    </m:r>
                    <m:r>
                      <a:rPr lang="es-ES" sz="2400" i="1" smtClean="0">
                        <a:latin typeface="Cambria Math" panose="02040503050406030204" pitchFamily="18" charset="0"/>
                      </a:rPr>
                      <m:t>,</m:t>
                    </m:r>
                    <m:r>
                      <a:rPr lang="es-ES" sz="2400" i="1" smtClean="0">
                        <a:latin typeface="Cambria Math" panose="02040503050406030204" pitchFamily="18" charset="0"/>
                      </a:rPr>
                      <m:t>𝑦</m:t>
                    </m:r>
                    <m:r>
                      <a:rPr lang="es-ES" sz="2400" i="1" smtClean="0">
                        <a:latin typeface="Cambria Math" panose="02040503050406030204" pitchFamily="18" charset="0"/>
                      </a:rPr>
                      <m:t>)</m:t>
                    </m:r>
                  </m:oMath>
                </a14:m>
                <a:r>
                  <a:rPr lang="es-ES" sz="2000" b="0" strike="noStrike" spc="-1" dirty="0">
                    <a:solidFill>
                      <a:srgbClr val="000000"/>
                    </a:solidFill>
                    <a:latin typeface="Calibri"/>
                    <a:ea typeface="Cambria Math"/>
                  </a:rPr>
                  <a:t> es la función de masa de probabilidad conjunta del vector aleatorio</a:t>
                </a:r>
                <a14:m>
                  <m:oMath xmlns:m="http://schemas.openxmlformats.org/officeDocument/2006/math">
                    <m:r>
                      <a:rPr lang="es-ES" sz="2400" b="0" i="0" smtClean="0">
                        <a:latin typeface="Cambria Math" panose="02040503050406030204" pitchFamily="18" charset="0"/>
                      </a:rPr>
                      <m:t> </m:t>
                    </m:r>
                    <m:r>
                      <a:rPr lang="es-ES" sz="2400" i="1" smtClean="0">
                        <a:latin typeface="Cambria Math" panose="02040503050406030204" pitchFamily="18" charset="0"/>
                      </a:rPr>
                      <m:t>(</m:t>
                    </m:r>
                    <m:r>
                      <a:rPr lang="es-ES" sz="2400" i="1" smtClean="0">
                        <a:latin typeface="Cambria Math" panose="02040503050406030204" pitchFamily="18" charset="0"/>
                      </a:rPr>
                      <m:t>𝑋</m:t>
                    </m:r>
                    <m:r>
                      <a:rPr lang="es-ES" sz="2400" i="1" smtClean="0">
                        <a:latin typeface="Cambria Math" panose="02040503050406030204" pitchFamily="18" charset="0"/>
                      </a:rPr>
                      <m:t>, </m:t>
                    </m:r>
                    <m:r>
                      <a:rPr lang="es-ES" sz="2400" i="1" smtClean="0">
                        <a:latin typeface="Cambria Math" panose="02040503050406030204" pitchFamily="18" charset="0"/>
                      </a:rPr>
                      <m:t>𝑌</m:t>
                    </m:r>
                    <m:r>
                      <a:rPr lang="es-ES" sz="2400" i="1" smtClean="0">
                        <a:latin typeface="Cambria Math" panose="02040503050406030204" pitchFamily="18" charset="0"/>
                      </a:rPr>
                      <m:t>)</m:t>
                    </m:r>
                  </m:oMath>
                </a14:m>
                <a:r>
                  <a:rPr lang="es-ES" sz="2000" b="0" strike="noStrike" spc="-1" dirty="0">
                    <a:solidFill>
                      <a:srgbClr val="000000"/>
                    </a:solidFill>
                    <a:latin typeface="Calibri"/>
                    <a:ea typeface="Cambria Math"/>
                  </a:rPr>
                  <a:t>  </a:t>
                </a:r>
                <a:endParaRPr lang="es-ES" sz="20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Esperanza de la suma de dos variables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 </a:t>
                </a:r>
                <a14:m>
                  <m:oMath xmlns:m="http://schemas.openxmlformats.org/officeDocument/2006/math">
                    <m:r>
                      <a:rPr lang="es-ES" sz="2800" b="0" i="1" strike="noStrike" spc="-1" dirty="0" smtClean="0">
                        <a:solidFill>
                          <a:srgbClr val="000000"/>
                        </a:solidFill>
                        <a:latin typeface="Cambria Math" panose="02040503050406030204" pitchFamily="18" charset="0"/>
                      </a:rPr>
                      <m:t>𝑌</m:t>
                    </m:r>
                  </m:oMath>
                </a14:m>
                <a:endParaRPr lang="es-ES" sz="2800" b="0" strike="noStrike" spc="-1" dirty="0">
                  <a:solidFill>
                    <a:srgbClr val="000000"/>
                  </a:solidFill>
                  <a:latin typeface="Calibri"/>
                </a:endParaRPr>
              </a:p>
              <a:p>
                <a:pPr lvl="1">
                  <a:spcBef>
                    <a:spcPts val="1001"/>
                  </a:spcBef>
                  <a:buClr>
                    <a:srgbClr val="000000"/>
                  </a:buClr>
                  <a:buFont typeface="Arial"/>
                  <a:buChar char="•"/>
                </a:pPr>
                <a14:m>
                  <m:oMath xmlns:m="http://schemas.openxmlformats.org/officeDocument/2006/math">
                    <m:r>
                      <a:rPr lang="es-ES" sz="2400" b="0" i="1" smtClean="0">
                        <a:latin typeface="Cambria Math" panose="02040503050406030204" pitchFamily="18" charset="0"/>
                      </a:rPr>
                      <m:t>𝐸</m:t>
                    </m:r>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𝑋</m:t>
                        </m:r>
                        <m:r>
                          <a:rPr lang="es-ES" sz="2400" b="0" i="1" smtClean="0">
                            <a:latin typeface="Cambria Math" panose="02040503050406030204" pitchFamily="18" charset="0"/>
                          </a:rPr>
                          <m:t>+</m:t>
                        </m:r>
                        <m:r>
                          <a:rPr lang="es-ES" sz="2400" b="0" i="1" smtClean="0">
                            <a:latin typeface="Cambria Math" panose="02040503050406030204" pitchFamily="18" charset="0"/>
                          </a:rPr>
                          <m:t>𝑌</m:t>
                        </m:r>
                      </m:e>
                    </m:d>
                    <m:r>
                      <a:rPr lang="es-ES" sz="2400" b="0" i="1" smtClean="0">
                        <a:latin typeface="Cambria Math" panose="02040503050406030204" pitchFamily="18" charset="0"/>
                      </a:rPr>
                      <m:t>=</m:t>
                    </m:r>
                    <m:nary>
                      <m:naryPr>
                        <m:chr m:val="∑"/>
                        <m:supHide m:val="on"/>
                        <m:ctrlPr>
                          <a:rPr lang="es-ES" sz="2400" i="1">
                            <a:latin typeface="Cambria Math" panose="02040503050406030204" pitchFamily="18" charset="0"/>
                          </a:rPr>
                        </m:ctrlPr>
                      </m:naryPr>
                      <m:sub>
                        <m:r>
                          <m:rPr>
                            <m:brk m:alnAt="7"/>
                          </m:rPr>
                          <a:rPr lang="es-ES" sz="2400" i="1">
                            <a:latin typeface="Cambria Math" panose="02040503050406030204" pitchFamily="18" charset="0"/>
                          </a:rPr>
                          <m:t>𝑥</m:t>
                        </m:r>
                      </m:sub>
                      <m:sup/>
                      <m:e>
                        <m:nary>
                          <m:naryPr>
                            <m:chr m:val="∑"/>
                            <m:supHide m:val="on"/>
                            <m:ctrlPr>
                              <a:rPr lang="es-ES" sz="2400" i="1">
                                <a:latin typeface="Cambria Math" panose="02040503050406030204" pitchFamily="18" charset="0"/>
                              </a:rPr>
                            </m:ctrlPr>
                          </m:naryPr>
                          <m:sub>
                            <m:r>
                              <m:rPr>
                                <m:brk m:alnAt="7"/>
                              </m:rPr>
                              <a:rPr lang="es-ES" sz="2400" i="1">
                                <a:latin typeface="Cambria Math" panose="02040503050406030204" pitchFamily="18" charset="0"/>
                              </a:rPr>
                              <m:t>𝑦</m:t>
                            </m:r>
                          </m:sub>
                          <m:sup/>
                          <m:e>
                            <m:d>
                              <m:dPr>
                                <m:ctrlPr>
                                  <a:rPr lang="es-ES" sz="2400" b="0" i="1" smtClean="0">
                                    <a:latin typeface="Cambria Math" panose="02040503050406030204" pitchFamily="18" charset="0"/>
                                  </a:rPr>
                                </m:ctrlPr>
                              </m:dPr>
                              <m:e>
                                <m:r>
                                  <a:rPr lang="es-ES" sz="2400" i="1">
                                    <a:latin typeface="Cambria Math" panose="02040503050406030204" pitchFamily="18" charset="0"/>
                                  </a:rPr>
                                  <m:t>𝑥</m:t>
                                </m:r>
                                <m:r>
                                  <a:rPr lang="es-ES" sz="2400" b="0" i="1" smtClean="0">
                                    <a:latin typeface="Cambria Math" panose="02040503050406030204" pitchFamily="18" charset="0"/>
                                  </a:rPr>
                                  <m:t>+</m:t>
                                </m:r>
                                <m:r>
                                  <a:rPr lang="es-ES" sz="2400" i="1">
                                    <a:latin typeface="Cambria Math" panose="02040503050406030204" pitchFamily="18" charset="0"/>
                                  </a:rPr>
                                  <m:t>𝑦</m:t>
                                </m:r>
                              </m:e>
                            </m:d>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𝑃</m:t>
                                </m:r>
                              </m:e>
                              <m:sub>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𝑋</m:t>
                                    </m:r>
                                    <m:r>
                                      <a:rPr lang="es-ES" sz="2400" b="0" i="1" smtClean="0">
                                        <a:latin typeface="Cambria Math" panose="02040503050406030204" pitchFamily="18" charset="0"/>
                                      </a:rPr>
                                      <m:t>,</m:t>
                                    </m:r>
                                    <m:r>
                                      <a:rPr lang="es-ES" sz="2400" b="0" i="1" smtClean="0">
                                        <a:latin typeface="Cambria Math" panose="02040503050406030204" pitchFamily="18" charset="0"/>
                                      </a:rPr>
                                      <m:t>𝑌</m:t>
                                    </m:r>
                                  </m:e>
                                </m:d>
                              </m:sub>
                            </m:sSub>
                            <m:d>
                              <m:dPr>
                                <m:ctrlPr>
                                  <a:rPr lang="es-ES" sz="2400" b="0" i="1">
                                    <a:latin typeface="Cambria Math" panose="02040503050406030204" pitchFamily="18" charset="0"/>
                                  </a:rPr>
                                </m:ctrlPr>
                              </m:dPr>
                              <m:e>
                                <m:r>
                                  <a:rPr lang="es-ES" sz="2400" i="1">
                                    <a:latin typeface="Cambria Math" panose="02040503050406030204" pitchFamily="18" charset="0"/>
                                  </a:rPr>
                                  <m:t>𝑥</m:t>
                                </m:r>
                                <m:r>
                                  <a:rPr lang="es-ES" sz="2400" i="1">
                                    <a:latin typeface="Cambria Math" panose="02040503050406030204" pitchFamily="18" charset="0"/>
                                  </a:rPr>
                                  <m:t>,</m:t>
                                </m:r>
                                <m:r>
                                  <a:rPr lang="es-ES" sz="2400" i="1">
                                    <a:latin typeface="Cambria Math" panose="02040503050406030204" pitchFamily="18" charset="0"/>
                                  </a:rPr>
                                  <m:t>𝑦</m:t>
                                </m:r>
                              </m:e>
                            </m:d>
                          </m:e>
                        </m:nary>
                      </m:e>
                    </m:nary>
                    <m:r>
                      <a:rPr lang="es-ES" sz="2400" b="0" i="1" smtClean="0">
                        <a:latin typeface="Cambria Math" panose="02040503050406030204" pitchFamily="18" charset="0"/>
                      </a:rPr>
                      <m:t>=</m:t>
                    </m:r>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s-ES" sz="2000" i="1">
                        <a:latin typeface="Cambria Math" panose="02040503050406030204" pitchFamily="18" charset="0"/>
                      </a:rPr>
                      <m:t>+</m:t>
                    </m:r>
                    <m:r>
                      <a:rPr lang="en-US" sz="2000" i="1">
                        <a:latin typeface="Cambria Math" panose="02040503050406030204" pitchFamily="18" charset="0"/>
                      </a:rPr>
                      <m:t>𝐸</m:t>
                    </m:r>
                    <m:r>
                      <a:rPr lang="en-US" sz="2000" i="1">
                        <a:latin typeface="Cambria Math" panose="02040503050406030204" pitchFamily="18" charset="0"/>
                      </a:rPr>
                      <m:t>(</m:t>
                    </m:r>
                    <m:r>
                      <a:rPr lang="en-US" sz="2000" i="1">
                        <a:latin typeface="Cambria Math" panose="02040503050406030204" pitchFamily="18" charset="0"/>
                      </a:rPr>
                      <m:t>𝑌</m:t>
                    </m:r>
                    <m:r>
                      <a:rPr lang="en-US" sz="2000" i="1">
                        <a:latin typeface="Cambria Math" panose="02040503050406030204" pitchFamily="18" charset="0"/>
                      </a:rPr>
                      <m:t>)</m:t>
                    </m:r>
                  </m:oMath>
                </a14:m>
                <a:endParaRPr lang="es-ES" sz="2000" i="1" dirty="0">
                  <a:latin typeface="Cambria Math" panose="02040503050406030204" pitchFamily="18" charset="0"/>
                </a:endParaRPr>
              </a:p>
              <a:p>
                <a:pPr lvl="1">
                  <a:spcBef>
                    <a:spcPts val="1001"/>
                  </a:spcBef>
                  <a:buClr>
                    <a:srgbClr val="000000"/>
                  </a:buClr>
                  <a:buFont typeface="Arial"/>
                  <a:buChar char="•"/>
                </a:pPr>
                <a14:m>
                  <m:oMath xmlns:m="http://schemas.openxmlformats.org/officeDocument/2006/math">
                    <m:r>
                      <a:rPr lang="en-US" sz="2000" i="1" smtClean="0">
                        <a:latin typeface="Cambria Math" panose="02040503050406030204" pitchFamily="18" charset="0"/>
                      </a:rPr>
                      <m:t>𝐸</m:t>
                    </m:r>
                    <m:d>
                      <m:dPr>
                        <m:ctrlPr>
                          <a:rPr lang="en-US" sz="2000" i="1" smtClean="0">
                            <a:latin typeface="Cambria Math" panose="02040503050406030204" pitchFamily="18" charset="0"/>
                          </a:rPr>
                        </m:ctrlPr>
                      </m:dPr>
                      <m:e>
                        <m:r>
                          <a:rPr lang="es-ES" sz="2000" b="0" i="1" smtClean="0">
                            <a:latin typeface="Cambria Math" panose="02040503050406030204" pitchFamily="18" charset="0"/>
                          </a:rPr>
                          <m:t>𝑎</m:t>
                        </m:r>
                        <m:r>
                          <a:rPr lang="en-US" sz="2000" i="1" smtClean="0">
                            <a:latin typeface="Cambria Math" panose="02040503050406030204" pitchFamily="18" charset="0"/>
                          </a:rPr>
                          <m:t>𝑋</m:t>
                        </m:r>
                        <m:r>
                          <a:rPr lang="es-ES" sz="2000" b="0" i="1" smtClean="0">
                            <a:latin typeface="Cambria Math" panose="02040503050406030204" pitchFamily="18" charset="0"/>
                          </a:rPr>
                          <m:t>+</m:t>
                        </m:r>
                        <m:r>
                          <a:rPr lang="es-ES" sz="2000" b="0" i="1" smtClean="0">
                            <a:latin typeface="Cambria Math" panose="02040503050406030204" pitchFamily="18" charset="0"/>
                          </a:rPr>
                          <m:t>𝑏𝑌</m:t>
                        </m:r>
                        <m:r>
                          <a:rPr lang="es-ES" sz="2000" b="0" i="1" smtClean="0">
                            <a:latin typeface="Cambria Math" panose="02040503050406030204" pitchFamily="18" charset="0"/>
                          </a:rPr>
                          <m:t>+</m:t>
                        </m:r>
                        <m:r>
                          <a:rPr lang="es-ES" sz="2000" b="0" i="1" smtClean="0">
                            <a:latin typeface="Cambria Math" panose="02040503050406030204" pitchFamily="18" charset="0"/>
                          </a:rPr>
                          <m:t>𝑐</m:t>
                        </m:r>
                      </m:e>
                    </m:d>
                    <m:r>
                      <a:rPr lang="en-US" sz="2000" i="1">
                        <a:latin typeface="Cambria Math" panose="02040503050406030204" pitchFamily="18" charset="0"/>
                      </a:rPr>
                      <m:t>=</m:t>
                    </m:r>
                    <m:r>
                      <a:rPr lang="es-ES" sz="2000" b="0" i="1" smtClean="0">
                        <a:latin typeface="Cambria Math" panose="02040503050406030204" pitchFamily="18" charset="0"/>
                      </a:rPr>
                      <m:t>𝑎</m:t>
                    </m:r>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s-ES" sz="2000" b="0" i="1" smtClean="0">
                        <a:latin typeface="Cambria Math" panose="02040503050406030204" pitchFamily="18" charset="0"/>
                      </a:rPr>
                      <m:t>+</m:t>
                    </m:r>
                    <m:r>
                      <a:rPr lang="es-ES" sz="2000" b="0" i="1" smtClean="0">
                        <a:latin typeface="Cambria Math" panose="02040503050406030204" pitchFamily="18" charset="0"/>
                      </a:rPr>
                      <m:t>𝑏𝐸</m:t>
                    </m:r>
                    <m:d>
                      <m:dPr>
                        <m:ctrlPr>
                          <a:rPr lang="en-US" sz="2000" i="1">
                            <a:latin typeface="Cambria Math" panose="02040503050406030204" pitchFamily="18" charset="0"/>
                          </a:rPr>
                        </m:ctrlPr>
                      </m:dPr>
                      <m:e>
                        <m:r>
                          <a:rPr lang="en-US" sz="2000" i="1">
                            <a:latin typeface="Cambria Math" panose="02040503050406030204" pitchFamily="18" charset="0"/>
                          </a:rPr>
                          <m:t>𝑌</m:t>
                        </m:r>
                      </m:e>
                    </m:d>
                    <m:r>
                      <a:rPr lang="es-ES" sz="2000" b="0" i="1" smtClean="0">
                        <a:latin typeface="Cambria Math" panose="02040503050406030204" pitchFamily="18" charset="0"/>
                      </a:rPr>
                      <m:t>+</m:t>
                    </m:r>
                    <m:r>
                      <a:rPr lang="es-ES" sz="2000" b="0" i="1" smtClean="0">
                        <a:latin typeface="Cambria Math" panose="02040503050406030204" pitchFamily="18" charset="0"/>
                      </a:rPr>
                      <m:t>𝑐</m:t>
                    </m:r>
                  </m:oMath>
                </a14:m>
                <a:endParaRPr lang="en-US" sz="2000"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Esperanza del producto de dos variables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 </a:t>
                </a:r>
                <a14:m>
                  <m:oMath xmlns:m="http://schemas.openxmlformats.org/officeDocument/2006/math">
                    <m:r>
                      <a:rPr lang="es-ES" sz="2800" b="0" i="1" strike="noStrike" spc="-1" dirty="0" smtClean="0">
                        <a:solidFill>
                          <a:srgbClr val="000000"/>
                        </a:solidFill>
                        <a:latin typeface="Cambria Math" panose="02040503050406030204" pitchFamily="18" charset="0"/>
                      </a:rPr>
                      <m:t>𝑌</m:t>
                    </m:r>
                  </m:oMath>
                </a14:m>
                <a:r>
                  <a:rPr lang="es-ES" sz="2800" b="0" strike="noStrike" spc="-1" dirty="0">
                    <a:solidFill>
                      <a:srgbClr val="000000"/>
                    </a:solidFill>
                    <a:latin typeface="Calibri"/>
                  </a:rPr>
                  <a:t> </a:t>
                </a:r>
              </a:p>
              <a:p>
                <a:pPr lvl="1">
                  <a:spcBef>
                    <a:spcPts val="1001"/>
                  </a:spcBef>
                  <a:buClr>
                    <a:srgbClr val="000000"/>
                  </a:buClr>
                  <a:buFont typeface="Arial"/>
                  <a:buChar char="•"/>
                </a:pPr>
                <a14:m>
                  <m:oMath xmlns:m="http://schemas.openxmlformats.org/officeDocument/2006/math">
                    <m:r>
                      <a:rPr lang="es-ES" sz="2400" i="1" smtClean="0">
                        <a:latin typeface="Cambria Math" panose="02040503050406030204" pitchFamily="18" charset="0"/>
                      </a:rPr>
                      <m:t>𝐸</m:t>
                    </m:r>
                    <m:d>
                      <m:dPr>
                        <m:ctrlPr>
                          <a:rPr lang="es-ES" sz="2400" i="1">
                            <a:latin typeface="Cambria Math" panose="02040503050406030204" pitchFamily="18" charset="0"/>
                          </a:rPr>
                        </m:ctrlPr>
                      </m:dPr>
                      <m:e>
                        <m:r>
                          <a:rPr lang="es-ES" sz="2400" i="1">
                            <a:latin typeface="Cambria Math" panose="02040503050406030204" pitchFamily="18" charset="0"/>
                          </a:rPr>
                          <m:t>𝑋</m:t>
                        </m:r>
                        <m:r>
                          <a:rPr lang="es-ES" sz="2400" i="1" smtClean="0">
                            <a:latin typeface="Cambria Math" panose="02040503050406030204" pitchFamily="18" charset="0"/>
                            <a:ea typeface="Cambria Math" panose="02040503050406030204" pitchFamily="18" charset="0"/>
                          </a:rPr>
                          <m:t>∙</m:t>
                        </m:r>
                        <m:r>
                          <a:rPr lang="es-ES" sz="2400" i="1">
                            <a:latin typeface="Cambria Math" panose="02040503050406030204" pitchFamily="18" charset="0"/>
                          </a:rPr>
                          <m:t>𝑌</m:t>
                        </m:r>
                      </m:e>
                    </m:d>
                    <m:r>
                      <a:rPr lang="es-ES" sz="2400" i="1">
                        <a:latin typeface="Cambria Math" panose="02040503050406030204" pitchFamily="18" charset="0"/>
                      </a:rPr>
                      <m:t>=</m:t>
                    </m:r>
                    <m:nary>
                      <m:naryPr>
                        <m:chr m:val="∑"/>
                        <m:supHide m:val="on"/>
                        <m:ctrlPr>
                          <a:rPr lang="es-ES" sz="2400" i="1">
                            <a:latin typeface="Cambria Math" panose="02040503050406030204" pitchFamily="18" charset="0"/>
                          </a:rPr>
                        </m:ctrlPr>
                      </m:naryPr>
                      <m:sub>
                        <m:r>
                          <m:rPr>
                            <m:brk m:alnAt="7"/>
                          </m:rPr>
                          <a:rPr lang="es-ES" sz="2400" i="1">
                            <a:latin typeface="Cambria Math" panose="02040503050406030204" pitchFamily="18" charset="0"/>
                          </a:rPr>
                          <m:t>𝑥</m:t>
                        </m:r>
                      </m:sub>
                      <m:sup/>
                      <m:e>
                        <m:nary>
                          <m:naryPr>
                            <m:chr m:val="∑"/>
                            <m:supHide m:val="on"/>
                            <m:ctrlPr>
                              <a:rPr lang="es-ES" sz="2400" i="1">
                                <a:latin typeface="Cambria Math" panose="02040503050406030204" pitchFamily="18" charset="0"/>
                              </a:rPr>
                            </m:ctrlPr>
                          </m:naryPr>
                          <m:sub>
                            <m:r>
                              <m:rPr>
                                <m:brk m:alnAt="7"/>
                              </m:rPr>
                              <a:rPr lang="es-ES" sz="2400" i="1">
                                <a:latin typeface="Cambria Math" panose="02040503050406030204" pitchFamily="18" charset="0"/>
                              </a:rPr>
                              <m:t>𝑦</m:t>
                            </m:r>
                          </m:sub>
                          <m:sup/>
                          <m:e>
                            <m:r>
                              <a:rPr lang="es-ES" sz="2400" b="0" i="1" smtClean="0">
                                <a:latin typeface="Cambria Math" panose="02040503050406030204" pitchFamily="18" charset="0"/>
                              </a:rPr>
                              <m:t>(</m:t>
                            </m:r>
                            <m:r>
                              <a:rPr lang="es-ES" sz="2400" i="1">
                                <a:latin typeface="Cambria Math" panose="02040503050406030204" pitchFamily="18" charset="0"/>
                              </a:rPr>
                              <m:t>𝑥</m:t>
                            </m:r>
                            <m:r>
                              <a:rPr lang="es-ES" sz="2400" i="1" smtClean="0">
                                <a:latin typeface="Cambria Math" panose="02040503050406030204" pitchFamily="18" charset="0"/>
                                <a:ea typeface="Cambria Math" panose="02040503050406030204" pitchFamily="18" charset="0"/>
                              </a:rPr>
                              <m:t>∙</m:t>
                            </m:r>
                            <m:r>
                              <a:rPr lang="es-ES" sz="2400" i="1">
                                <a:latin typeface="Cambria Math" panose="02040503050406030204" pitchFamily="18" charset="0"/>
                              </a:rPr>
                              <m:t>𝑦</m:t>
                            </m:r>
                            <m:r>
                              <a:rPr lang="es-ES" sz="2400"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𝑃</m:t>
                                </m:r>
                              </m:e>
                              <m:sub>
                                <m:d>
                                  <m:dPr>
                                    <m:ctrlPr>
                                      <a:rPr lang="es-ES"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𝑌</m:t>
                                    </m:r>
                                  </m:e>
                                </m:d>
                              </m:sub>
                            </m:sSub>
                            <m:d>
                              <m:dPr>
                                <m:ctrlPr>
                                  <a:rPr lang="es-ES" i="1">
                                    <a:latin typeface="Cambria Math" panose="02040503050406030204" pitchFamily="18" charset="0"/>
                                  </a:rPr>
                                </m:ctrlPr>
                              </m:dPr>
                              <m:e>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e>
                            </m:d>
                          </m:e>
                        </m:nary>
                      </m:e>
                    </m:nary>
                  </m:oMath>
                </a14:m>
                <a:endParaRPr lang="es-ES" sz="2000" b="0" i="1" dirty="0">
                  <a:latin typeface="Cambria Math" panose="02040503050406030204" pitchFamily="18" charset="0"/>
                </a:endParaRPr>
              </a:p>
              <a:p>
                <a:pPr lvl="1">
                  <a:spcBef>
                    <a:spcPts val="1001"/>
                  </a:spcBef>
                  <a:buClr>
                    <a:srgbClr val="000000"/>
                  </a:buClr>
                  <a:buFont typeface="Arial"/>
                  <a:buChar char="•"/>
                </a:pPr>
                <a:r>
                  <a:rPr lang="es-ES" dirty="0"/>
                  <a:t>Si </a:t>
                </a:r>
                <a14:m>
                  <m:oMath xmlns:m="http://schemas.openxmlformats.org/officeDocument/2006/math">
                    <m:r>
                      <a:rPr lang="es-ES" i="1" spc="-1" dirty="0">
                        <a:solidFill>
                          <a:srgbClr val="000000"/>
                        </a:solidFill>
                        <a:latin typeface="Cambria Math" panose="02040503050406030204" pitchFamily="18" charset="0"/>
                      </a:rPr>
                      <m:t>𝑋</m:t>
                    </m:r>
                  </m:oMath>
                </a14:m>
                <a:r>
                  <a:rPr lang="es-ES" spc="-1" dirty="0">
                    <a:solidFill>
                      <a:srgbClr val="000000"/>
                    </a:solidFill>
                  </a:rPr>
                  <a:t> e </a:t>
                </a:r>
                <a14:m>
                  <m:oMath xmlns:m="http://schemas.openxmlformats.org/officeDocument/2006/math">
                    <m:r>
                      <a:rPr lang="es-ES" i="1" spc="-1" dirty="0">
                        <a:solidFill>
                          <a:srgbClr val="000000"/>
                        </a:solidFill>
                        <a:latin typeface="Cambria Math" panose="02040503050406030204" pitchFamily="18" charset="0"/>
                      </a:rPr>
                      <m:t>𝑌</m:t>
                    </m:r>
                  </m:oMath>
                </a14:m>
                <a:r>
                  <a:rPr lang="es-ES" spc="-1" dirty="0">
                    <a:solidFill>
                      <a:srgbClr val="000000"/>
                    </a:solidFill>
                  </a:rPr>
                  <a:t> </a:t>
                </a:r>
                <a:r>
                  <a:rPr lang="es-ES" dirty="0"/>
                  <a:t>son independientes </a:t>
                </a:r>
                <a:r>
                  <a:rPr lang="es-ES" dirty="0">
                    <a:sym typeface="Wingdings" panose="05000000000000000000" pitchFamily="2" charset="2"/>
                  </a:rPr>
                  <a:t></a:t>
                </a:r>
                <a:r>
                  <a:rPr lang="es-ES" dirty="0"/>
                  <a:t> </a:t>
                </a:r>
                <a14:m>
                  <m:oMath xmlns:m="http://schemas.openxmlformats.org/officeDocument/2006/math">
                    <m:r>
                      <a:rPr lang="es-ES" i="1">
                        <a:latin typeface="Cambria Math" panose="02040503050406030204" pitchFamily="18" charset="0"/>
                      </a:rPr>
                      <m:t>𝐸</m:t>
                    </m:r>
                    <m:r>
                      <a:rPr lang="es-ES" i="1">
                        <a:latin typeface="Cambria Math" panose="02040503050406030204" pitchFamily="18" charset="0"/>
                      </a:rPr>
                      <m:t>(</m:t>
                    </m:r>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𝑌</m:t>
                    </m:r>
                    <m:r>
                      <a:rPr lang="es-ES" i="1">
                        <a:latin typeface="Cambria Math" panose="02040503050406030204" pitchFamily="18" charset="0"/>
                      </a:rPr>
                      <m:t>)=</m:t>
                    </m:r>
                    <m:r>
                      <a:rPr lang="es-ES" i="1">
                        <a:latin typeface="Cambria Math" panose="02040503050406030204" pitchFamily="18" charset="0"/>
                      </a:rPr>
                      <m:t>𝐸</m:t>
                    </m:r>
                    <m:r>
                      <a:rPr lang="es-ES" i="1">
                        <a:latin typeface="Cambria Math" panose="02040503050406030204" pitchFamily="18" charset="0"/>
                      </a:rPr>
                      <m:t>(</m:t>
                    </m:r>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𝐸</m:t>
                    </m:r>
                    <m:r>
                      <a:rPr lang="es-ES" i="1">
                        <a:latin typeface="Cambria Math" panose="02040503050406030204" pitchFamily="18" charset="0"/>
                      </a:rPr>
                      <m:t>(</m:t>
                    </m:r>
                    <m:r>
                      <a:rPr lang="es-ES" i="1">
                        <a:latin typeface="Cambria Math" panose="02040503050406030204" pitchFamily="18" charset="0"/>
                      </a:rPr>
                      <m:t>𝑌</m:t>
                    </m:r>
                    <m:r>
                      <a:rPr lang="es-ES" i="1">
                        <a:latin typeface="Cambria Math" panose="02040503050406030204" pitchFamily="18" charset="0"/>
                      </a:rPr>
                      <m:t>)</m:t>
                    </m:r>
                  </m:oMath>
                </a14:m>
                <a:endParaRPr lang="en-US" i="1" dirty="0">
                  <a:latin typeface="Cambria Math" panose="02040503050406030204" pitchFamily="18" charset="0"/>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35"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4482" b="-8263"/>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b="0" strike="noStrike" spc="-1" dirty="0">
                <a:solidFill>
                  <a:srgbClr val="000000"/>
                </a:solidFill>
                <a:latin typeface="Calibri Light"/>
              </a:rPr>
              <a:t>7. Esperanza de </a:t>
            </a:r>
            <a:r>
              <a:rPr lang="es-ES" sz="4000" spc="-1" dirty="0">
                <a:solidFill>
                  <a:srgbClr val="000000"/>
                </a:solidFill>
                <a:latin typeface="Calibri Light"/>
              </a:rPr>
              <a:t>funciones de más de una variable</a:t>
            </a:r>
            <a:br>
              <a:rPr lang="es-ES" sz="4000" spc="-1" dirty="0">
                <a:solidFill>
                  <a:srgbClr val="000000"/>
                </a:solidFill>
                <a:latin typeface="Calibri Light"/>
              </a:rPr>
            </a:br>
            <a:r>
              <a:rPr lang="es-ES" sz="4000" spc="-1" dirty="0">
                <a:solidFill>
                  <a:srgbClr val="000000"/>
                </a:solidFill>
                <a:latin typeface="Calibri Light"/>
              </a:rPr>
              <a:t>Ejemplo 3.9 (Errores en un programa)</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35"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Continuación del ejemplo 3.6</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Un programa consta de dos módulos. </a:t>
                </a:r>
              </a:p>
              <a:p>
                <a:pPr lvl="1">
                  <a:spcBef>
                    <a:spcPts val="1001"/>
                  </a:spcBef>
                  <a:buClr>
                    <a:srgbClr val="000000"/>
                  </a:buClr>
                  <a:buFont typeface="Arial"/>
                  <a:buChar char="•"/>
                </a:pPr>
                <a:r>
                  <a:rPr lang="es-ES" b="0" strike="noStrike" spc="-1" dirty="0">
                    <a:solidFill>
                      <a:srgbClr val="000000"/>
                    </a:solidFill>
                    <a:latin typeface="Calibri"/>
                  </a:rPr>
                  <a:t>X es el número de errores en el primer módulo</a:t>
                </a:r>
              </a:p>
              <a:p>
                <a:pPr lvl="1">
                  <a:spcBef>
                    <a:spcPts val="1001"/>
                  </a:spcBef>
                  <a:buClr>
                    <a:srgbClr val="000000"/>
                  </a:buClr>
                  <a:buFont typeface="Arial"/>
                  <a:buChar char="•"/>
                </a:pPr>
                <a:r>
                  <a:rPr lang="es-ES" b="0" strike="noStrike" spc="-1" dirty="0">
                    <a:solidFill>
                      <a:srgbClr val="000000"/>
                    </a:solidFill>
                    <a:latin typeface="Calibri"/>
                  </a:rPr>
                  <a:t>Y es el número de errores en el segundo módulo</a:t>
                </a:r>
              </a:p>
              <a:p>
                <a:pPr lvl="1">
                  <a:spcBef>
                    <a:spcPts val="1001"/>
                  </a:spcBef>
                  <a:buClr>
                    <a:srgbClr val="000000"/>
                  </a:buClr>
                  <a:buFont typeface="Arial"/>
                  <a:buChar char="•"/>
                </a:pPr>
                <a:r>
                  <a:rPr lang="es-ES" b="0" strike="noStrike" spc="-1" dirty="0">
                    <a:solidFill>
                      <a:srgbClr val="000000"/>
                    </a:solidFill>
                    <a:latin typeface="Calibri"/>
                  </a:rPr>
                  <a:t>El vector aleatorio tiene función de masa de probabilidad conjunta </a:t>
                </a:r>
                <a14:m>
                  <m:oMath xmlns:m="http://schemas.openxmlformats.org/officeDocument/2006/math">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𝑋</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𝑌</m:t>
                    </m:r>
                    <m:r>
                      <a:rPr lang="es-ES" b="0" i="1" strike="noStrike" spc="-1" dirty="0" smtClean="0">
                        <a:solidFill>
                          <a:srgbClr val="000000"/>
                        </a:solidFill>
                        <a:latin typeface="Cambria Math" panose="02040503050406030204" pitchFamily="18" charset="0"/>
                      </a:rPr>
                      <m:t>)</m:t>
                    </m:r>
                  </m:oMath>
                </a14:m>
                <a:r>
                  <a:rPr lang="es-ES" b="0" strike="noStrike" spc="-1" dirty="0">
                    <a:solidFill>
                      <a:srgbClr val="000000"/>
                    </a:solidFill>
                    <a:latin typeface="Calibri"/>
                  </a:rPr>
                  <a:t>: </a:t>
                </a:r>
              </a:p>
              <a:p>
                <a:pPr lvl="2">
                  <a:spcBef>
                    <a:spcPts val="499"/>
                  </a:spcBef>
                  <a:buClr>
                    <a:srgbClr val="000000"/>
                  </a:buClr>
                  <a:buFont typeface="Arial"/>
                  <a:buChar char="•"/>
                </a:pPr>
                <a14:m>
                  <m:oMath xmlns:m="http://schemas.openxmlformats.org/officeDocument/2006/math">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2</m:t>
                    </m:r>
                  </m:oMath>
                </a14:m>
                <a:endParaRPr lang="es-ES" b="0" strike="noStrike" spc="-1" dirty="0">
                  <a:solidFill>
                    <a:srgbClr val="000000"/>
                  </a:solidFill>
                  <a:latin typeface="Calibri"/>
                </a:endParaRPr>
              </a:p>
              <a:p>
                <a:pPr lvl="2">
                  <a:spcBef>
                    <a:spcPts val="499"/>
                  </a:spcBef>
                  <a:buClr>
                    <a:srgbClr val="000000"/>
                  </a:buClr>
                  <a:buFont typeface="Arial"/>
                  <a:buChar char="•"/>
                </a:pPr>
                <a14:m>
                  <m:oMath xmlns:m="http://schemas.openxmlformats.org/officeDocument/2006/math">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2</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3</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m:t>
                    </m:r>
                  </m:oMath>
                </a14:m>
                <a:endParaRPr lang="es-ES" b="0" strike="noStrike" spc="-1" dirty="0">
                  <a:solidFill>
                    <a:srgbClr val="000000"/>
                  </a:solidFill>
                  <a:latin typeface="Calibri"/>
                </a:endParaRPr>
              </a:p>
              <a:p>
                <a:pPr lvl="2">
                  <a:spcBef>
                    <a:spcPts val="499"/>
                  </a:spcBef>
                  <a:buClr>
                    <a:srgbClr val="000000"/>
                  </a:buClr>
                  <a:buFont typeface="Arial"/>
                  <a:buChar char="•"/>
                </a:pPr>
                <a14:m>
                  <m:oMath xmlns:m="http://schemas.openxmlformats.org/officeDocument/2006/math">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2</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3</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05</m:t>
                    </m:r>
                  </m:oMath>
                </a14:m>
                <a:endParaRPr lang="es-ES" b="0" strike="noStrike" spc="-1" dirty="0">
                  <a:solidFill>
                    <a:srgbClr val="000000"/>
                  </a:solidFill>
                  <a:latin typeface="Calibri"/>
                </a:endParaRPr>
              </a:p>
              <a:p>
                <a:pPr>
                  <a:spcBef>
                    <a:spcPts val="499"/>
                  </a:spcBef>
                  <a:buClr>
                    <a:srgbClr val="000000"/>
                  </a:buClr>
                  <a:buFont typeface="Arial"/>
                  <a:buChar char="•"/>
                </a:pPr>
                <a:r>
                  <a:rPr lang="es-ES" spc="-1" dirty="0">
                    <a:solidFill>
                      <a:srgbClr val="000000"/>
                    </a:solidFill>
                    <a:latin typeface="Calibri"/>
                  </a:rPr>
                  <a:t>Calcular la esperanza del número total de errores: </a:t>
                </a:r>
                <a14:m>
                  <m:oMath xmlns:m="http://schemas.openxmlformats.org/officeDocument/2006/math">
                    <m:r>
                      <a:rPr lang="es-ES" i="1" spc="-1" dirty="0" smtClean="0">
                        <a:solidFill>
                          <a:srgbClr val="000000"/>
                        </a:solidFill>
                        <a:latin typeface="Cambria Math" panose="02040503050406030204" pitchFamily="18" charset="0"/>
                      </a:rPr>
                      <m:t>𝐸</m:t>
                    </m:r>
                    <m:r>
                      <a:rPr lang="es-ES" i="1" spc="-1" dirty="0" smtClean="0">
                        <a:solidFill>
                          <a:srgbClr val="000000"/>
                        </a:solidFill>
                        <a:latin typeface="Cambria Math" panose="02040503050406030204" pitchFamily="18" charset="0"/>
                      </a:rPr>
                      <m:t>(</m:t>
                    </m:r>
                    <m:r>
                      <a:rPr lang="es-ES" i="1" spc="-1" dirty="0" smtClean="0">
                        <a:solidFill>
                          <a:srgbClr val="000000"/>
                        </a:solidFill>
                        <a:latin typeface="Cambria Math" panose="02040503050406030204" pitchFamily="18" charset="0"/>
                      </a:rPr>
                      <m:t>𝑋</m:t>
                    </m:r>
                    <m:r>
                      <a:rPr lang="es-ES" i="1" spc="-1" dirty="0" smtClean="0">
                        <a:solidFill>
                          <a:srgbClr val="000000"/>
                        </a:solidFill>
                        <a:latin typeface="Cambria Math" panose="02040503050406030204" pitchFamily="18" charset="0"/>
                      </a:rPr>
                      <m:t>+</m:t>
                    </m:r>
                    <m:r>
                      <a:rPr lang="es-ES" i="1" spc="-1" dirty="0" smtClean="0">
                        <a:solidFill>
                          <a:srgbClr val="000000"/>
                        </a:solidFill>
                        <a:latin typeface="Cambria Math" panose="02040503050406030204" pitchFamily="18" charset="0"/>
                      </a:rPr>
                      <m:t>𝑌</m:t>
                    </m:r>
                    <m:r>
                      <a:rPr lang="es-ES" i="1" spc="-1" dirty="0" smtClean="0">
                        <a:solidFill>
                          <a:srgbClr val="000000"/>
                        </a:solidFill>
                        <a:latin typeface="Cambria Math" panose="02040503050406030204" pitchFamily="18" charset="0"/>
                      </a:rPr>
                      <m:t>)</m:t>
                    </m:r>
                  </m:oMath>
                </a14:m>
                <a:endParaRPr lang="es-ES"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35"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224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39</a:t>
            </a:fld>
            <a:endParaRPr/>
          </a:p>
        </p:txBody>
      </p:sp>
    </p:spTree>
    <p:extLst>
      <p:ext uri="{BB962C8B-B14F-4D97-AF65-F5344CB8AC3E}">
        <p14:creationId xmlns:p14="http://schemas.microsoft.com/office/powerpoint/2010/main" val="28241503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b="0" strike="noStrike" spc="-1" dirty="0">
                <a:solidFill>
                  <a:srgbClr val="000000"/>
                </a:solidFill>
                <a:latin typeface="Calibri Light"/>
              </a:rPr>
              <a:t>7. Esperanza de </a:t>
            </a:r>
            <a:r>
              <a:rPr lang="es-ES" sz="4000" spc="-1" dirty="0">
                <a:solidFill>
                  <a:srgbClr val="000000"/>
                </a:solidFill>
                <a:latin typeface="Calibri Light"/>
              </a:rPr>
              <a:t>funciones de más de una variable</a:t>
            </a:r>
            <a:br>
              <a:rPr lang="es-ES" sz="4000" spc="-1" dirty="0">
                <a:solidFill>
                  <a:srgbClr val="000000"/>
                </a:solidFill>
                <a:latin typeface="Calibri Light"/>
              </a:rPr>
            </a:br>
            <a:r>
              <a:rPr lang="es-ES" sz="4000" spc="-1" dirty="0">
                <a:solidFill>
                  <a:srgbClr val="000000"/>
                </a:solidFill>
                <a:latin typeface="Calibri Light"/>
              </a:rPr>
              <a:t>Ejemplo 3.9 (Solución)</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35" name="PlaceHolder 2"/>
              <p:cNvSpPr>
                <a:spLocks noGrp="1"/>
              </p:cNvSpPr>
              <p:nvPr>
                <p:ph/>
              </p:nvPr>
            </p:nvSpPr>
            <p:spPr>
              <a:xfrm>
                <a:off x="838080" y="1825560"/>
                <a:ext cx="10515240" cy="4350960"/>
              </a:xfrm>
              <a:prstGeom prst="rect">
                <a:avLst/>
              </a:prstGeom>
              <a:noFill/>
              <a:ln w="0">
                <a:noFill/>
              </a:ln>
            </p:spPr>
            <p:txBody>
              <a:bodyPr anchor="t">
                <a:normAutofit/>
              </a:bodyPr>
              <a:lstStyle/>
              <a:p>
                <a:pPr>
                  <a:spcBef>
                    <a:spcPts val="499"/>
                  </a:spcBef>
                  <a:buClr>
                    <a:srgbClr val="000000"/>
                  </a:buClr>
                  <a:buFont typeface="Arial"/>
                  <a:buChar char="•"/>
                </a:pPr>
                <a:r>
                  <a:rPr lang="es-ES" b="0" strike="noStrike" spc="-1" dirty="0">
                    <a:solidFill>
                      <a:srgbClr val="000000"/>
                    </a:solidFill>
                    <a:latin typeface="Calibri"/>
                  </a:rPr>
                  <a:t>Del ejemplo 3.6:</a:t>
                </a:r>
              </a:p>
              <a:p>
                <a:pPr lvl="1">
                  <a:spcBef>
                    <a:spcPts val="499"/>
                  </a:spcBef>
                  <a:buClr>
                    <a:srgbClr val="000000"/>
                  </a:buClr>
                  <a:buFont typeface="Arial"/>
                  <a:buChar char="•"/>
                </a:pPr>
                <a14:m>
                  <m:oMath xmlns:m="http://schemas.openxmlformats.org/officeDocument/2006/math">
                    <m:r>
                      <a:rPr lang="es-ES" b="0" i="1" strike="noStrike" spc="-1" dirty="0" smtClean="0">
                        <a:solidFill>
                          <a:srgbClr val="000000"/>
                        </a:solidFill>
                        <a:latin typeface="Cambria Math" panose="02040503050406030204" pitchFamily="18" charset="0"/>
                      </a:rPr>
                      <m:t>𝐸</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𝑋</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5</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5</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5</m:t>
                    </m:r>
                  </m:oMath>
                </a14:m>
                <a:endParaRPr lang="es-ES" b="0" strike="noStrike" spc="-1" dirty="0">
                  <a:solidFill>
                    <a:srgbClr val="000000"/>
                  </a:solidFill>
                  <a:latin typeface="Calibri"/>
                </a:endParaRPr>
              </a:p>
              <a:p>
                <a:pPr lvl="1">
                  <a:spcBef>
                    <a:spcPts val="499"/>
                  </a:spcBef>
                  <a:buClr>
                    <a:srgbClr val="000000"/>
                  </a:buClr>
                  <a:buFont typeface="Arial"/>
                  <a:buChar char="•"/>
                </a:pPr>
                <a14:m>
                  <m:oMath xmlns:m="http://schemas.openxmlformats.org/officeDocument/2006/math">
                    <m:r>
                      <a:rPr lang="es-ES" b="0" i="1" strike="noStrike" spc="-1" dirty="0" smtClean="0">
                        <a:solidFill>
                          <a:srgbClr val="000000"/>
                        </a:solidFill>
                        <a:latin typeface="Cambria Math" panose="02040503050406030204" pitchFamily="18" charset="0"/>
                      </a:rPr>
                      <m:t>𝐸</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𝑌</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4</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3</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2</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15</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3</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15</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05</m:t>
                    </m:r>
                  </m:oMath>
                </a14:m>
                <a:endParaRPr lang="es-ES" b="0" strike="noStrike" spc="-1" dirty="0">
                  <a:solidFill>
                    <a:srgbClr val="000000"/>
                  </a:solidFill>
                  <a:latin typeface="Calibri"/>
                </a:endParaRPr>
              </a:p>
              <a:p>
                <a:pPr>
                  <a:spcBef>
                    <a:spcPts val="499"/>
                  </a:spcBef>
                  <a:buClr>
                    <a:srgbClr val="000000"/>
                  </a:buClr>
                  <a:buFont typeface="Arial"/>
                  <a:buChar char="•"/>
                </a:pPr>
                <a:r>
                  <a:rPr lang="es-ES" b="0" strike="noStrike" spc="-1" dirty="0">
                    <a:solidFill>
                      <a:srgbClr val="000000"/>
                    </a:solidFill>
                    <a:latin typeface="Calibri"/>
                  </a:rPr>
                  <a:t>Por lo tanto: </a:t>
                </a:r>
              </a:p>
              <a:p>
                <a:pPr lvl="1">
                  <a:spcBef>
                    <a:spcPts val="499"/>
                  </a:spcBef>
                  <a:buClr>
                    <a:srgbClr val="000000"/>
                  </a:buClr>
                  <a:buFont typeface="Arial"/>
                  <a:buChar char="•"/>
                </a:pPr>
                <a14:m>
                  <m:oMath xmlns:m="http://schemas.openxmlformats.org/officeDocument/2006/math">
                    <m:r>
                      <a:rPr lang="es-ES" b="0" i="1" strike="noStrike" spc="-1" dirty="0" smtClean="0">
                        <a:solidFill>
                          <a:srgbClr val="000000"/>
                        </a:solidFill>
                        <a:latin typeface="Cambria Math" panose="02040503050406030204" pitchFamily="18" charset="0"/>
                      </a:rPr>
                      <m:t>𝐸</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𝑋</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𝑌</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5</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05</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55</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𝑒𝑟𝑟𝑜𝑟𝑒𝑠</m:t>
                    </m:r>
                  </m:oMath>
                </a14:m>
                <a:endParaRPr lang="es-ES"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35"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224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40</a:t>
            </a:fld>
            <a:endParaRPr/>
          </a:p>
        </p:txBody>
      </p:sp>
    </p:spTree>
    <p:extLst>
      <p:ext uri="{BB962C8B-B14F-4D97-AF65-F5344CB8AC3E}">
        <p14:creationId xmlns:p14="http://schemas.microsoft.com/office/powerpoint/2010/main" val="28223211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400" b="0" strike="noStrike" spc="-1" dirty="0">
                <a:solidFill>
                  <a:srgbClr val="000000"/>
                </a:solidFill>
                <a:latin typeface="Calibri Light"/>
              </a:rPr>
              <a:t>7. Esperanza de </a:t>
            </a:r>
            <a:r>
              <a:rPr lang="es-ES" spc="-1" dirty="0">
                <a:solidFill>
                  <a:srgbClr val="000000"/>
                </a:solidFill>
                <a:latin typeface="Calibri Light"/>
              </a:rPr>
              <a:t>funciones de más de una variable. </a:t>
            </a:r>
            <a:r>
              <a:rPr lang="es-ES" sz="4400" b="0" strike="noStrike" spc="-1" dirty="0">
                <a:solidFill>
                  <a:srgbClr val="000000"/>
                </a:solidFill>
                <a:latin typeface="Calibri Light"/>
              </a:rPr>
              <a:t>Ejercicios propuestos</a:t>
            </a:r>
            <a:endParaRPr lang="es-ES" sz="4400" b="0" strike="noStrike" spc="-1" dirty="0">
              <a:solidFill>
                <a:srgbClr val="000000"/>
              </a:solidFill>
              <a:latin typeface="Calibri"/>
            </a:endParaRPr>
          </a:p>
        </p:txBody>
      </p:sp>
      <p:sp>
        <p:nvSpPr>
          <p:cNvPr id="163"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Ejercicios </a:t>
            </a:r>
            <a:r>
              <a:rPr lang="es-ES" spc="-1" dirty="0">
                <a:solidFill>
                  <a:srgbClr val="000000"/>
                </a:solidFill>
                <a:latin typeface="Calibri"/>
              </a:rPr>
              <a:t>3.16 a 3.19</a:t>
            </a:r>
            <a:r>
              <a:rPr lang="es-ES" sz="2800" b="0" strike="noStrike" spc="-1" dirty="0">
                <a:solidFill>
                  <a:srgbClr val="000000"/>
                </a:solidFill>
                <a:latin typeface="Calibri"/>
              </a:rPr>
              <a:t> del libro</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Las respuestas de 3.17, 3.18 están disponibles en el libro</a:t>
            </a: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41</a:t>
            </a:fld>
            <a:endParaRPr/>
          </a:p>
        </p:txBody>
      </p:sp>
    </p:spTree>
    <p:extLst>
      <p:ext uri="{BB962C8B-B14F-4D97-AF65-F5344CB8AC3E}">
        <p14:creationId xmlns:p14="http://schemas.microsoft.com/office/powerpoint/2010/main" val="2658345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8</a:t>
            </a:r>
            <a:r>
              <a:rPr dirty="0"/>
              <a:t>. </a:t>
            </a:r>
            <a:r>
              <a:rPr dirty="0" err="1"/>
              <a:t>Distribución</a:t>
            </a:r>
            <a:r>
              <a:rPr dirty="0"/>
              <a:t> de Bernoulli</a:t>
            </a:r>
          </a:p>
        </p:txBody>
      </p:sp>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10515600" cy="4667250"/>
          </a:xfrm>
        </p:spPr>
        <p:txBody>
          <a:bodyPr>
            <a:normAutofit fontScale="85000" lnSpcReduction="20000"/>
          </a:bodyPr>
          <a:lstStyle/>
          <a:p>
            <a:r>
              <a:rPr dirty="0"/>
              <a:t>Una variable </a:t>
            </a:r>
            <a:r>
              <a:rPr dirty="0" err="1"/>
              <a:t>aleatoria</a:t>
            </a:r>
            <a:r>
              <a:rPr dirty="0"/>
              <a:t> con dos </a:t>
            </a:r>
            <a:r>
              <a:rPr dirty="0" err="1"/>
              <a:t>valores</a:t>
            </a:r>
            <a:r>
              <a:rPr dirty="0"/>
              <a:t> </a:t>
            </a:r>
            <a:r>
              <a:rPr dirty="0" err="1"/>
              <a:t>posibles</a:t>
            </a:r>
            <a:r>
              <a:rPr dirty="0"/>
              <a:t>, 0 y 1, </a:t>
            </a:r>
            <a:r>
              <a:rPr lang="es-ES" dirty="0"/>
              <a:t>es </a:t>
            </a:r>
            <a:r>
              <a:rPr dirty="0" err="1"/>
              <a:t>una</a:t>
            </a:r>
            <a:r>
              <a:rPr dirty="0"/>
              <a:t> </a:t>
            </a:r>
            <a:r>
              <a:rPr b="1" dirty="0"/>
              <a:t>variable </a:t>
            </a:r>
            <a:r>
              <a:rPr lang="es-ES" b="1" dirty="0"/>
              <a:t>de </a:t>
            </a:r>
            <a:r>
              <a:rPr b="1" dirty="0"/>
              <a:t>Bernoulli</a:t>
            </a:r>
            <a:endParaRPr lang="es-ES" b="1" dirty="0"/>
          </a:p>
          <a:p>
            <a:pPr lvl="1"/>
            <a:r>
              <a:rPr dirty="0" err="1"/>
              <a:t>su</a:t>
            </a:r>
            <a:r>
              <a:rPr dirty="0"/>
              <a:t> </a:t>
            </a:r>
            <a:r>
              <a:rPr dirty="0" err="1"/>
              <a:t>distribución</a:t>
            </a:r>
            <a:r>
              <a:rPr dirty="0"/>
              <a:t> </a:t>
            </a:r>
            <a:r>
              <a:rPr lang="es-ES" dirty="0"/>
              <a:t>de probabilidad </a:t>
            </a:r>
            <a:r>
              <a:rPr dirty="0"/>
              <a:t>es la </a:t>
            </a:r>
            <a:r>
              <a:rPr dirty="0" err="1"/>
              <a:t>distribución</a:t>
            </a:r>
            <a:r>
              <a:rPr dirty="0"/>
              <a:t> de </a:t>
            </a:r>
            <a:r>
              <a:rPr b="1" dirty="0"/>
              <a:t>Bernoulli</a:t>
            </a:r>
            <a:r>
              <a:rPr lang="es-ES" dirty="0"/>
              <a:t>,</a:t>
            </a:r>
            <a:endParaRPr lang="es-ES" b="1" dirty="0"/>
          </a:p>
          <a:p>
            <a:pPr lvl="1"/>
            <a:r>
              <a:rPr dirty="0"/>
              <a:t>y </a:t>
            </a:r>
            <a:r>
              <a:rPr dirty="0" err="1"/>
              <a:t>cualquier</a:t>
            </a:r>
            <a:r>
              <a:rPr dirty="0"/>
              <a:t> </a:t>
            </a:r>
            <a:r>
              <a:rPr dirty="0" err="1"/>
              <a:t>experimento</a:t>
            </a:r>
            <a:r>
              <a:rPr dirty="0"/>
              <a:t> con un </a:t>
            </a:r>
            <a:r>
              <a:rPr dirty="0" err="1"/>
              <a:t>resultado</a:t>
            </a:r>
            <a:r>
              <a:rPr dirty="0"/>
              <a:t> </a:t>
            </a:r>
            <a:r>
              <a:rPr dirty="0" err="1"/>
              <a:t>binario</a:t>
            </a:r>
            <a:r>
              <a:rPr dirty="0"/>
              <a:t> se llama un </a:t>
            </a:r>
            <a:r>
              <a:rPr b="1" dirty="0" err="1"/>
              <a:t>ensayo</a:t>
            </a:r>
            <a:r>
              <a:rPr b="1" dirty="0"/>
              <a:t> de Bernoulli</a:t>
            </a:r>
            <a:r>
              <a:rPr dirty="0"/>
              <a:t>.</a:t>
            </a:r>
          </a:p>
          <a:p>
            <a:r>
              <a:rPr dirty="0"/>
              <a:t>La </a:t>
            </a:r>
            <a:r>
              <a:rPr dirty="0" err="1"/>
              <a:t>distribución</a:t>
            </a:r>
            <a:r>
              <a:rPr dirty="0"/>
              <a:t> de Bernoulli </a:t>
            </a:r>
            <a:r>
              <a:rPr dirty="0" err="1"/>
              <a:t>fue</a:t>
            </a:r>
            <a:r>
              <a:rPr dirty="0"/>
              <a:t> </a:t>
            </a:r>
            <a:r>
              <a:rPr lang="es-ES" dirty="0"/>
              <a:t>propuesta</a:t>
            </a:r>
            <a:r>
              <a:rPr dirty="0"/>
              <a:t> </a:t>
            </a:r>
            <a:r>
              <a:rPr dirty="0" err="1"/>
              <a:t>por</a:t>
            </a:r>
            <a:r>
              <a:rPr dirty="0"/>
              <a:t> </a:t>
            </a:r>
            <a:r>
              <a:rPr dirty="0">
                <a:hlinkClick r:id="rId2"/>
              </a:rPr>
              <a:t>Jacob Bernoulli</a:t>
            </a:r>
          </a:p>
          <a:p>
            <a:r>
              <a:rPr dirty="0" err="1"/>
              <a:t>Ejemplos</a:t>
            </a:r>
            <a:r>
              <a:rPr dirty="0"/>
              <a:t> de </a:t>
            </a:r>
            <a:r>
              <a:rPr dirty="0" err="1"/>
              <a:t>ensayos</a:t>
            </a:r>
            <a:r>
              <a:rPr dirty="0"/>
              <a:t> de Bernoulli:</a:t>
            </a:r>
          </a:p>
          <a:p>
            <a:pPr lvl="1"/>
            <a:r>
              <a:rPr dirty="0" err="1"/>
              <a:t>Componentes</a:t>
            </a:r>
            <a:r>
              <a:rPr dirty="0"/>
              <a:t> </a:t>
            </a:r>
            <a:r>
              <a:rPr lang="es-ES" dirty="0"/>
              <a:t>correctos</a:t>
            </a:r>
            <a:r>
              <a:rPr dirty="0"/>
              <a:t> o </a:t>
            </a:r>
            <a:r>
              <a:rPr dirty="0" err="1"/>
              <a:t>defectuosos</a:t>
            </a:r>
            <a:r>
              <a:rPr dirty="0"/>
              <a:t>, </a:t>
            </a:r>
            <a:r>
              <a:rPr dirty="0" err="1"/>
              <a:t>partes</a:t>
            </a:r>
            <a:r>
              <a:rPr dirty="0"/>
              <a:t> que </a:t>
            </a:r>
            <a:r>
              <a:rPr dirty="0" err="1"/>
              <a:t>pasan</a:t>
            </a:r>
            <a:r>
              <a:rPr dirty="0"/>
              <a:t> o </a:t>
            </a:r>
            <a:r>
              <a:rPr dirty="0" err="1"/>
              <a:t>fallan</a:t>
            </a:r>
            <a:r>
              <a:rPr dirty="0"/>
              <a:t> </a:t>
            </a:r>
            <a:r>
              <a:rPr dirty="0" err="1"/>
              <a:t>pruebas</a:t>
            </a:r>
            <a:r>
              <a:rPr dirty="0"/>
              <a:t>, </a:t>
            </a:r>
            <a:r>
              <a:rPr dirty="0" err="1"/>
              <a:t>señales</a:t>
            </a:r>
            <a:r>
              <a:rPr dirty="0"/>
              <a:t> </a:t>
            </a:r>
            <a:r>
              <a:rPr dirty="0" err="1"/>
              <a:t>transmitidas</a:t>
            </a:r>
            <a:r>
              <a:rPr dirty="0"/>
              <a:t> o </a:t>
            </a:r>
            <a:r>
              <a:rPr dirty="0" err="1"/>
              <a:t>perdidas</a:t>
            </a:r>
            <a:r>
              <a:rPr dirty="0"/>
              <a:t>, </a:t>
            </a:r>
            <a:r>
              <a:rPr lang="es-ES" dirty="0"/>
              <a:t>buen o</a:t>
            </a:r>
            <a:r>
              <a:rPr dirty="0"/>
              <a:t> mal </a:t>
            </a:r>
            <a:r>
              <a:rPr dirty="0" err="1"/>
              <a:t>funcionamiento</a:t>
            </a:r>
            <a:r>
              <a:rPr dirty="0"/>
              <a:t> de</a:t>
            </a:r>
            <a:r>
              <a:rPr lang="es-ES" dirty="0"/>
              <a:t>l</a:t>
            </a:r>
            <a:r>
              <a:rPr dirty="0"/>
              <a:t> hardware, </a:t>
            </a:r>
            <a:r>
              <a:rPr dirty="0" err="1"/>
              <a:t>archivos</a:t>
            </a:r>
            <a:r>
              <a:rPr dirty="0"/>
              <a:t> </a:t>
            </a:r>
            <a:r>
              <a:rPr dirty="0" err="1"/>
              <a:t>adjuntos</a:t>
            </a:r>
            <a:r>
              <a:rPr dirty="0"/>
              <a:t> </a:t>
            </a:r>
            <a:r>
              <a:rPr lang="es-ES" dirty="0" err="1"/>
              <a:t>sospechoss</a:t>
            </a:r>
            <a:r>
              <a:rPr lang="es-ES" dirty="0"/>
              <a:t> o no sospechosos</a:t>
            </a:r>
            <a:r>
              <a:rPr dirty="0"/>
              <a:t>, sitios que </a:t>
            </a:r>
            <a:r>
              <a:rPr dirty="0" err="1"/>
              <a:t>contienen</a:t>
            </a:r>
            <a:r>
              <a:rPr dirty="0"/>
              <a:t> o no </a:t>
            </a:r>
            <a:r>
              <a:rPr dirty="0" err="1"/>
              <a:t>contienen</a:t>
            </a:r>
            <a:r>
              <a:rPr dirty="0"/>
              <a:t> </a:t>
            </a:r>
            <a:r>
              <a:rPr dirty="0" err="1"/>
              <a:t>una</a:t>
            </a:r>
            <a:r>
              <a:rPr dirty="0"/>
              <a:t> palabra clave, </a:t>
            </a:r>
            <a:r>
              <a:rPr lang="es-ES" dirty="0"/>
              <a:t>lanzar una moneda con cara y cruz</a:t>
            </a:r>
            <a:r>
              <a:rPr dirty="0"/>
              <a:t>, personas que </a:t>
            </a:r>
            <a:r>
              <a:rPr dirty="0" err="1"/>
              <a:t>usan</a:t>
            </a:r>
            <a:r>
              <a:rPr dirty="0"/>
              <a:t> </a:t>
            </a:r>
            <a:r>
              <a:rPr lang="es-ES" dirty="0"/>
              <a:t>o no un teléfono </a:t>
            </a:r>
            <a:r>
              <a:rPr dirty="0"/>
              <a:t>Android</a:t>
            </a:r>
            <a:r>
              <a:rPr lang="es-ES" dirty="0"/>
              <a:t>.</a:t>
            </a:r>
            <a:endParaRPr dirty="0"/>
          </a:p>
          <a:p>
            <a:r>
              <a:rPr lang="es-ES" dirty="0"/>
              <a:t>Se utilizan nombre</a:t>
            </a:r>
            <a:r>
              <a:rPr dirty="0"/>
              <a:t> </a:t>
            </a:r>
            <a:r>
              <a:rPr dirty="0" err="1"/>
              <a:t>genéricos</a:t>
            </a:r>
            <a:r>
              <a:rPr dirty="0"/>
              <a:t> para los dos </a:t>
            </a:r>
            <a:r>
              <a:rPr dirty="0" err="1"/>
              <a:t>resultados</a:t>
            </a:r>
            <a:r>
              <a:rPr dirty="0"/>
              <a:t>:</a:t>
            </a:r>
            <a:r>
              <a:rPr lang="es-ES" dirty="0"/>
              <a:t> "</a:t>
            </a:r>
            <a:r>
              <a:rPr dirty="0" err="1"/>
              <a:t>éxito</a:t>
            </a:r>
            <a:r>
              <a:rPr lang="es-ES" dirty="0"/>
              <a:t>"</a:t>
            </a:r>
            <a:r>
              <a:rPr dirty="0"/>
              <a:t> y </a:t>
            </a:r>
            <a:r>
              <a:rPr lang="es-ES" dirty="0"/>
              <a:t>"</a:t>
            </a:r>
            <a:r>
              <a:rPr dirty="0" err="1"/>
              <a:t>fracaso</a:t>
            </a:r>
            <a:r>
              <a:rPr lang="es-ES" dirty="0"/>
              <a:t>"</a:t>
            </a:r>
            <a:r>
              <a:rPr dirty="0"/>
              <a:t>. </a:t>
            </a:r>
            <a:endParaRPr lang="es-ES" dirty="0"/>
          </a:p>
          <a:p>
            <a:pPr lvl="1"/>
            <a:r>
              <a:rPr lang="es-ES" dirty="0"/>
              <a:t>Lo</a:t>
            </a:r>
            <a:r>
              <a:rPr dirty="0"/>
              <a:t>s </a:t>
            </a:r>
            <a:r>
              <a:rPr dirty="0" err="1"/>
              <a:t>éxitos</a:t>
            </a:r>
            <a:r>
              <a:rPr dirty="0"/>
              <a:t> no </a:t>
            </a:r>
            <a:r>
              <a:rPr dirty="0" err="1"/>
              <a:t>tienen</a:t>
            </a:r>
            <a:r>
              <a:rPr dirty="0"/>
              <a:t> que ser buenos, y los </a:t>
            </a:r>
            <a:r>
              <a:rPr dirty="0" err="1"/>
              <a:t>fracasos</a:t>
            </a:r>
            <a:r>
              <a:rPr dirty="0"/>
              <a:t> no </a:t>
            </a:r>
            <a:r>
              <a:rPr dirty="0" err="1"/>
              <a:t>tienen</a:t>
            </a:r>
            <a:r>
              <a:rPr dirty="0"/>
              <a:t> que ser </a:t>
            </a:r>
            <a:r>
              <a:rPr dirty="0" err="1"/>
              <a:t>malos</a:t>
            </a:r>
            <a:r>
              <a:rPr dirty="0"/>
              <a:t>.</a:t>
            </a:r>
          </a:p>
          <a:p>
            <a:pPr lvl="1"/>
            <a:r>
              <a:rPr dirty="0" err="1"/>
              <a:t>Ejemplo</a:t>
            </a:r>
            <a:endParaRPr lang="es-ES" dirty="0"/>
          </a:p>
          <a:p>
            <a:pPr lvl="2"/>
            <a:r>
              <a:rPr lang="es-ES" dirty="0"/>
              <a:t>X: Variable de Bernoulli que indica si una persona usa o no teléfono con sistema operativo Android</a:t>
            </a:r>
            <a:r>
              <a:rPr dirty="0"/>
              <a:t> </a:t>
            </a:r>
          </a:p>
          <a:p>
            <a:pPr lvl="2"/>
            <a:r>
              <a:rPr dirty="0"/>
              <a:t>Una persona </a:t>
            </a:r>
            <a:r>
              <a:rPr dirty="0" err="1"/>
              <a:t>usa</a:t>
            </a:r>
            <a:r>
              <a:rPr dirty="0"/>
              <a:t> un </a:t>
            </a:r>
            <a:r>
              <a:rPr dirty="0" err="1"/>
              <a:t>teléfono</a:t>
            </a:r>
            <a:r>
              <a:rPr dirty="0"/>
              <a:t> Android = </a:t>
            </a:r>
            <a:r>
              <a:rPr lang="es-ES" dirty="0"/>
              <a:t>"</a:t>
            </a:r>
            <a:r>
              <a:rPr dirty="0" err="1"/>
              <a:t>éxito</a:t>
            </a:r>
            <a:r>
              <a:rPr lang="es-ES" dirty="0"/>
              <a:t>"</a:t>
            </a:r>
            <a:r>
              <a:rPr dirty="0"/>
              <a:t> (X=1)</a:t>
            </a:r>
          </a:p>
          <a:p>
            <a:pPr lvl="2"/>
            <a:r>
              <a:rPr dirty="0"/>
              <a:t>Una persona no </a:t>
            </a:r>
            <a:r>
              <a:rPr dirty="0" err="1"/>
              <a:t>usa</a:t>
            </a:r>
            <a:r>
              <a:rPr dirty="0"/>
              <a:t> un </a:t>
            </a:r>
            <a:r>
              <a:rPr dirty="0" err="1"/>
              <a:t>teléfono</a:t>
            </a:r>
            <a:r>
              <a:rPr dirty="0"/>
              <a:t> Android = </a:t>
            </a:r>
            <a:r>
              <a:rPr lang="es-ES" dirty="0"/>
              <a:t>"</a:t>
            </a:r>
            <a:r>
              <a:rPr dirty="0" err="1"/>
              <a:t>fracaso</a:t>
            </a:r>
            <a:r>
              <a:rPr lang="es-ES" dirty="0"/>
              <a:t>"</a:t>
            </a:r>
            <a:r>
              <a:rPr dirty="0"/>
              <a:t> (X=0)</a:t>
            </a:r>
          </a:p>
          <a:p>
            <a:pPr lvl="1"/>
            <a:endParaRPr dirty="0"/>
          </a:p>
          <a:p>
            <a:pPr lvl="1"/>
            <a:endParaRPr dirty="0"/>
          </a:p>
        </p:txBody>
      </p:sp>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42</a:t>
            </a:fld>
            <a:endParaRPr lang="es-ES"/>
          </a:p>
        </p:txBody>
      </p:sp>
    </p:spTree>
    <p:extLst>
      <p:ext uri="{BB962C8B-B14F-4D97-AF65-F5344CB8AC3E}">
        <p14:creationId xmlns:p14="http://schemas.microsoft.com/office/powerpoint/2010/main" val="35436137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8. D</a:t>
            </a:r>
            <a:r>
              <a:rPr dirty="0" err="1"/>
              <a:t>istribución</a:t>
            </a:r>
            <a:r>
              <a:rPr dirty="0"/>
              <a:t> de Bernoulli</a:t>
            </a:r>
            <a:br>
              <a:rPr lang="es-ES" dirty="0"/>
            </a:br>
            <a:r>
              <a:rPr dirty="0" err="1"/>
              <a:t>Resumen</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10515600" cy="4895850"/>
              </a:xfrm>
            </p:spPr>
            <p:txBody>
              <a:bodyPr>
                <a:normAutofit fontScale="62500" lnSpcReduction="20000"/>
              </a:bodyPr>
              <a:lstStyle/>
              <a:p>
                <a14:m>
                  <m:oMath xmlns:m="http://schemas.openxmlformats.org/officeDocument/2006/math">
                    <m:r>
                      <a:rPr lang="es-ES" i="1" dirty="0" smtClean="0">
                        <a:latin typeface="Cambria Math" panose="02040503050406030204" pitchFamily="18" charset="0"/>
                      </a:rPr>
                      <m:t>𝑋</m:t>
                    </m:r>
                  </m:oMath>
                </a14:m>
                <a:r>
                  <a:rPr lang="es-ES" dirty="0"/>
                  <a:t>: Variable aleatoria con distribución de Bernoulli </a:t>
                </a:r>
                <a:r>
                  <a:rPr lang="es-ES" dirty="0">
                    <a:sym typeface="Wingdings" panose="05000000000000000000" pitchFamily="2" charset="2"/>
                  </a:rPr>
                  <a:t></a:t>
                </a:r>
                <a:r>
                  <a:rPr lang="es-ES" dirty="0"/>
                  <a:t>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 </m:t>
                    </m:r>
                    <m:r>
                      <a:rPr lang="es-ES" i="1" dirty="0" smtClean="0">
                        <a:latin typeface="Cambria Math" panose="02040503050406030204" pitchFamily="18" charset="0"/>
                      </a:rPr>
                      <m:t>𝐵𝑒𝑟𝑛𝑜𝑢𝑙𝑙𝑖</m:t>
                    </m:r>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m:t>
                    </m:r>
                  </m:oMath>
                </a14:m>
                <a:endParaRPr lang="es-ES" i="1" dirty="0"/>
              </a:p>
              <a:p>
                <a:pPr lvl="1">
                  <a:defRPr i="1"/>
                </a:pPr>
                <a:r>
                  <a:rPr lang="es-ES" dirty="0"/>
                  <a:t>Número de éxitos en un ensayo de Bernoulli</a:t>
                </a:r>
              </a:p>
              <a:p>
                <a:r>
                  <a:rPr lang="es-ES" dirty="0" err="1"/>
                  <a:t>Parámetro</a:t>
                </a:r>
                <a:endParaRPr lang="es-ES" dirty="0"/>
              </a:p>
              <a:p>
                <a:pPr lvl="1"/>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m:t>
                    </m:r>
                  </m:oMath>
                </a14:m>
                <a:r>
                  <a:rPr lang="es-ES" dirty="0"/>
                  <a:t>= </a:t>
                </a:r>
                <a:r>
                  <a:rPr lang="es-ES" dirty="0" err="1"/>
                  <a:t>probabilidad</a:t>
                </a:r>
                <a:r>
                  <a:rPr lang="es-ES" dirty="0"/>
                  <a:t> de </a:t>
                </a:r>
                <a:r>
                  <a:rPr lang="es-ES" dirty="0" err="1"/>
                  <a:t>éxito</a:t>
                </a:r>
                <a:endParaRPr lang="es-ES" dirty="0"/>
              </a:p>
              <a:p>
                <a:pPr lvl="1"/>
                <a:r>
                  <a:rPr lang="es-ES" dirty="0" err="1"/>
                  <a:t>Entonces</a:t>
                </a:r>
                <a:r>
                  <a:rPr lang="es-ES" dirty="0"/>
                  <a:t>, </a:t>
                </a:r>
                <a:r>
                  <a:rPr lang="es-ES" dirty="0" err="1"/>
                  <a:t>probabilidad</a:t>
                </a:r>
                <a:r>
                  <a:rPr lang="es-ES" dirty="0"/>
                  <a:t> de </a:t>
                </a:r>
                <a:r>
                  <a:rPr lang="es-ES" dirty="0" err="1"/>
                  <a:t>fracaso</a:t>
                </a:r>
                <a:r>
                  <a:rPr lang="es-ES" dirty="0"/>
                  <a:t> = </a:t>
                </a:r>
                <a14:m>
                  <m:oMath xmlns:m="http://schemas.openxmlformats.org/officeDocument/2006/math">
                    <m:r>
                      <a:rPr lang="es-ES" i="1" dirty="0" smtClean="0">
                        <a:latin typeface="Cambria Math" panose="02040503050406030204" pitchFamily="18" charset="0"/>
                      </a:rPr>
                      <m:t>1</m:t>
                    </m:r>
                    <m:r>
                      <a:rPr lang="es-ES" i="1" dirty="0" smtClean="0">
                        <a:latin typeface="Cambria Math" panose="02040503050406030204" pitchFamily="18" charset="0"/>
                      </a:rPr>
                      <m:t>−</m:t>
                    </m:r>
                    <m:r>
                      <a:rPr lang="es-ES" i="1" dirty="0" smtClean="0">
                        <a:latin typeface="Cambria Math" panose="02040503050406030204" pitchFamily="18" charset="0"/>
                      </a:rPr>
                      <m:t>𝑝</m:t>
                    </m:r>
                  </m:oMath>
                </a14:m>
                <a:r>
                  <a:rPr lang="es-ES" dirty="0"/>
                  <a:t> (</a:t>
                </a:r>
                <a:r>
                  <a:rPr lang="es-ES" dirty="0" err="1"/>
                  <a:t>normalmente</a:t>
                </a:r>
                <a:r>
                  <a:rPr lang="es-ES" dirty="0"/>
                  <a:t> </a:t>
                </a:r>
                <a:r>
                  <a:rPr lang="es-ES" dirty="0" err="1"/>
                  <a:t>llamad</a:t>
                </a:r>
                <a:r>
                  <a:rPr lang="es-ES" dirty="0"/>
                  <a:t>a </a:t>
                </a:r>
                <a:r>
                  <a:rPr lang="es-ES" i="1" dirty="0"/>
                  <a:t>q</a:t>
                </a:r>
                <a:r>
                  <a:rPr lang="es-ES" dirty="0"/>
                  <a:t>)</a:t>
                </a:r>
              </a:p>
              <a:p>
                <a:r>
                  <a:rPr lang="es-ES" dirty="0"/>
                  <a:t>Rango de </a:t>
                </a:r>
                <a:r>
                  <a:rPr lang="es-ES" dirty="0" err="1"/>
                  <a:t>valores</a:t>
                </a:r>
                <a:r>
                  <a:rPr lang="es-ES" dirty="0"/>
                  <a:t>:</a:t>
                </a:r>
              </a:p>
              <a:p>
                <a:pPr lvl="1"/>
                <a14:m>
                  <m:oMath xmlns:m="http://schemas.openxmlformats.org/officeDocument/2006/math">
                    <m:r>
                      <a:rPr lang="es-ES" i="1" dirty="0" smtClean="0">
                        <a:latin typeface="Cambria Math" panose="02040503050406030204" pitchFamily="18" charset="0"/>
                      </a:rPr>
                      <m:t>𝑥</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i="1" dirty="0" smtClean="0">
                        <a:latin typeface="Cambria Math" panose="02040503050406030204" pitchFamily="18" charset="0"/>
                      </a:rPr>
                      <m:t>, </m:t>
                    </m:r>
                    <m:r>
                      <a:rPr lang="es-ES" i="1" dirty="0" smtClean="0">
                        <a:latin typeface="Cambria Math" panose="02040503050406030204" pitchFamily="18" charset="0"/>
                      </a:rPr>
                      <m:t>1</m:t>
                    </m:r>
                    <m:r>
                      <a:rPr lang="es-ES" i="1" dirty="0" smtClean="0">
                        <a:latin typeface="Cambria Math" panose="02040503050406030204" pitchFamily="18" charset="0"/>
                      </a:rPr>
                      <m:t> </m:t>
                    </m:r>
                  </m:oMath>
                </a14:m>
                <a:endParaRPr lang="es-ES" dirty="0"/>
              </a:p>
              <a:p>
                <a:r>
                  <a:rPr lang="es-ES" dirty="0" err="1"/>
                  <a:t>Función</a:t>
                </a:r>
                <a:r>
                  <a:rPr lang="es-ES" dirty="0"/>
                  <a:t> de masa de </a:t>
                </a:r>
                <a:r>
                  <a:rPr lang="es-ES" dirty="0" err="1"/>
                  <a:t>probabilidad</a:t>
                </a:r>
                <a:r>
                  <a:rPr lang="es-ES" dirty="0"/>
                  <a:t> (</a:t>
                </a:r>
                <a:r>
                  <a:rPr lang="es-ES" dirty="0" err="1"/>
                  <a:t>pmf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d>
                      <m:dPr>
                        <m:begChr m:val="{"/>
                        <m:endChr m:val=""/>
                        <m:ctrlPr>
                          <a:rPr lang="ar-AE" b="0" i="1" smtClean="0">
                            <a:latin typeface="Cambria Math" panose="02040503050406030204" pitchFamily="18" charset="0"/>
                          </a:rPr>
                        </m:ctrlPr>
                      </m:dPr>
                      <m:e>
                        <m:eqArr>
                          <m:eqArrPr>
                            <m:ctrlPr>
                              <a:rPr lang="ar-AE" b="0" i="1" smtClean="0">
                                <a:latin typeface="Cambria Math" panose="02040503050406030204" pitchFamily="18" charset="0"/>
                              </a:rPr>
                            </m:ctrlPr>
                          </m:eqArrPr>
                          <m:e>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  </m:t>
                            </m:r>
                            <m:r>
                              <a:rPr lang="ar-AE" b="0" i="1" smtClean="0">
                                <a:latin typeface="Cambria Math" panose="02040503050406030204" pitchFamily="18" charset="0"/>
                              </a:rPr>
                              <m:t>𝑥</m:t>
                            </m:r>
                            <m:r>
                              <a:rPr lang="ar-AE" b="0" i="1" smtClean="0">
                                <a:latin typeface="Cambria Math" panose="02040503050406030204" pitchFamily="18" charset="0"/>
                              </a:rPr>
                              <m:t>=</m:t>
                            </m:r>
                            <m:r>
                              <a:rPr lang="ar-AE" b="0" i="1" smtClean="0">
                                <a:latin typeface="Cambria Math" panose="02040503050406030204" pitchFamily="18" charset="0"/>
                              </a:rPr>
                              <m:t>0</m:t>
                            </m:r>
                          </m:e>
                          <m:e>
                            <m:r>
                              <a:rPr lang="ar-AE" b="0" i="1" smtClean="0">
                                <a:latin typeface="Cambria Math" panose="02040503050406030204" pitchFamily="18" charset="0"/>
                              </a:rPr>
                              <m:t>&amp;         </m:t>
                            </m:r>
                            <m:r>
                              <a:rPr lang="ar-AE" b="0" i="1" smtClean="0">
                                <a:latin typeface="Cambria Math" panose="02040503050406030204" pitchFamily="18" charset="0"/>
                              </a:rPr>
                              <m:t>𝑝</m:t>
                            </m:r>
                            <m:r>
                              <a:rPr lang="ar-AE" b="0" i="1" smtClean="0">
                                <a:latin typeface="Cambria Math" panose="02040503050406030204" pitchFamily="18" charset="0"/>
                              </a:rPr>
                              <m:t>,  </m:t>
                            </m:r>
                            <m:r>
                              <a:rPr lang="ar-AE" b="0" i="1" smtClean="0">
                                <a:latin typeface="Cambria Math" panose="02040503050406030204" pitchFamily="18" charset="0"/>
                              </a:rPr>
                              <m:t>𝑥</m:t>
                            </m:r>
                            <m:r>
                              <a:rPr lang="ar-AE" b="0" i="1" smtClean="0">
                                <a:latin typeface="Cambria Math" panose="02040503050406030204" pitchFamily="18" charset="0"/>
                              </a:rPr>
                              <m:t>=</m:t>
                            </m:r>
                            <m:r>
                              <a:rPr lang="ar-AE" b="0" i="1" smtClean="0">
                                <a:latin typeface="Cambria Math" panose="02040503050406030204" pitchFamily="18" charset="0"/>
                              </a:rPr>
                              <m:t>1</m:t>
                            </m:r>
                          </m:e>
                        </m:eqArr>
                      </m:e>
                    </m:d>
                  </m:oMath>
                </a14:m>
                <a:r>
                  <a:rPr lang="ar-AE" dirty="0"/>
                  <a:t>	</a:t>
                </a:r>
              </a:p>
              <a:p>
                <a:pPr>
                  <a:tabLst>
                    <a:tab pos="2784475" algn="l"/>
                  </a:tabLst>
                </a:pPr>
                <a:r>
                  <a:rPr lang="es-ES" dirty="0" err="1"/>
                  <a:t>Función</a:t>
                </a:r>
                <a:r>
                  <a:rPr lang="es-ES" dirty="0"/>
                  <a:t> de </a:t>
                </a:r>
                <a:r>
                  <a:rPr lang="es-ES" dirty="0" err="1"/>
                  <a:t>distribución</a:t>
                </a:r>
                <a:r>
                  <a:rPr lang="es-ES" dirty="0"/>
                  <a:t> </a:t>
                </a:r>
                <a:r>
                  <a:rPr lang="es-ES" dirty="0" err="1"/>
                  <a:t>acumula</a:t>
                </a:r>
                <a:r>
                  <a:rPr lang="es-ES" dirty="0"/>
                  <a:t>da (</a:t>
                </a:r>
                <a:r>
                  <a:rPr lang="es-ES" dirty="0" err="1"/>
                  <a:t>cdf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𝑥</m:t>
                        </m:r>
                      </m:e>
                    </m:d>
                    <m:r>
                      <a:rPr lang="ar-AE" b="0" i="1" smtClean="0">
                        <a:latin typeface="Cambria Math" panose="02040503050406030204" pitchFamily="18" charset="0"/>
                        <a:ea typeface="Cambria Math" panose="02040503050406030204" pitchFamily="18" charset="0"/>
                      </a:rPr>
                      <m:t>=</m:t>
                    </m:r>
                    <m:d>
                      <m:dPr>
                        <m:begChr m:val="{"/>
                        <m:endChr m:val=""/>
                        <m:ctrlPr>
                          <a:rPr lang="ar-AE" b="0" i="1" smtClean="0">
                            <a:latin typeface="Cambria Math" panose="02040503050406030204" pitchFamily="18" charset="0"/>
                            <a:ea typeface="Cambria Math" panose="02040503050406030204" pitchFamily="18" charset="0"/>
                          </a:rPr>
                        </m:ctrlPr>
                      </m:dPr>
                      <m:e>
                        <m:eqArr>
                          <m:eqArrPr>
                            <m:ctrlPr>
                              <a:rPr lang="ar-AE" b="0" i="1" smtClean="0">
                                <a:latin typeface="Cambria Math" panose="02040503050406030204" pitchFamily="18" charset="0"/>
                                <a:ea typeface="Cambria Math" panose="02040503050406030204" pitchFamily="18" charset="0"/>
                              </a:rPr>
                            </m:ctrlPr>
                          </m:eqArrPr>
                          <m:e>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𝑝</m:t>
                            </m:r>
                            <m:r>
                              <a:rPr lang="ar-AE" b="0" i="1" smtClean="0">
                                <a:latin typeface="Cambria Math" panose="02040503050406030204" pitchFamily="18" charset="0"/>
                                <a:ea typeface="Cambria Math" panose="02040503050406030204" pitchFamily="18" charset="0"/>
                              </a:rPr>
                              <m:t>&amp;,  </m:t>
                            </m:r>
                            <m:r>
                              <a:rPr lang="ar-AE" b="0" i="1" smtClean="0">
                                <a:latin typeface="Cambria Math" panose="02040503050406030204" pitchFamily="18" charset="0"/>
                                <a:ea typeface="Cambria Math" panose="02040503050406030204" pitchFamily="18" charset="0"/>
                              </a:rPr>
                              <m:t>𝑥</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e>
                          <m:e>
                            <m:r>
                              <a:rPr lang="ar-AE"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  </m:t>
                            </m:r>
                            <m:r>
                              <a:rPr lang="ar-AE" b="0" i="1" smtClean="0">
                                <a:latin typeface="Cambria Math" panose="02040503050406030204" pitchFamily="18" charset="0"/>
                                <a:ea typeface="Cambria Math" panose="02040503050406030204" pitchFamily="18" charset="0"/>
                              </a:rPr>
                              <m:t>𝑥</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e>
                        </m:eqArr>
                      </m:e>
                    </m:d>
                  </m:oMath>
                </a14:m>
                <a:endParaRPr lang="ar-AE" dirty="0"/>
              </a:p>
              <a:p>
                <a:pPr>
                  <a:tabLst>
                    <a:tab pos="2784475" algn="l"/>
                  </a:tabLst>
                </a:pPr>
                <a:r>
                  <a:rPr lang="es-ES" dirty="0"/>
                  <a:t>Esperanza</a:t>
                </a:r>
              </a:p>
              <a:p>
                <a:pPr lvl="1">
                  <a:tabLst>
                    <a:tab pos="2784475" algn="l"/>
                  </a:tabLst>
                </a:pP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𝑝</m:t>
                    </m:r>
                  </m:oMath>
                </a14:m>
                <a:r>
                  <a:rPr lang="ar-AE" dirty="0"/>
                  <a:t> </a:t>
                </a:r>
              </a:p>
              <a:p>
                <a:pPr>
                  <a:tabLst>
                    <a:tab pos="2784475" algn="l"/>
                  </a:tabLst>
                </a:pPr>
                <a:r>
                  <a:rPr lang="es-ES" dirty="0" err="1"/>
                  <a:t>Varianza</a:t>
                </a:r>
                <a:endParaRPr lang="es-ES" dirty="0"/>
              </a:p>
              <a:p>
                <a:pPr lvl="1">
                  <a:tabLst>
                    <a:tab pos="2784475" algn="l"/>
                  </a:tabLst>
                </a:pPr>
                <a14:m>
                  <m:oMath xmlns:m="http://schemas.openxmlformats.org/officeDocument/2006/math">
                    <m:r>
                      <a:rPr lang="es-ES" b="0" i="1" smtClean="0">
                        <a:latin typeface="Cambria Math" panose="02040503050406030204" pitchFamily="18" charset="0"/>
                      </a:rPr>
                      <m:t>𝑉𝑎𝑟</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2"/>
                <a:stretch>
                  <a:fillRect l="-406" t="-211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43</a:t>
            </a:fld>
            <a:endParaRPr lang="es-ES"/>
          </a:p>
        </p:txBody>
      </p:sp>
    </p:spTree>
    <p:extLst>
      <p:ext uri="{BB962C8B-B14F-4D97-AF65-F5344CB8AC3E}">
        <p14:creationId xmlns:p14="http://schemas.microsoft.com/office/powerpoint/2010/main" val="33405503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8. D</a:t>
            </a:r>
            <a:r>
              <a:rPr dirty="0" err="1"/>
              <a:t>istribución</a:t>
            </a:r>
            <a:r>
              <a:rPr dirty="0"/>
              <a:t> de Bernoulli</a:t>
            </a:r>
            <a:br>
              <a:rPr lang="es-ES" dirty="0"/>
            </a:br>
            <a:r>
              <a:rPr dirty="0" err="1"/>
              <a:t>Ejemplo</a:t>
            </a:r>
            <a:r>
              <a:rPr dirty="0"/>
              <a:t> (</a:t>
            </a:r>
            <a:r>
              <a:rPr lang="es-ES" dirty="0"/>
              <a:t>Lanzar un dado</a:t>
            </a:r>
            <a:r>
              <a:rPr dirty="0"/>
              <a:t>)</a:t>
            </a:r>
          </a:p>
        </p:txBody>
      </p:sp>
      <p:sp>
        <p:nvSpPr>
          <p:cNvPr id="4" name="Marcador de número de diapositiva 3">
            <a:extLst>
              <a:ext uri="{FF2B5EF4-FFF2-40B4-BE49-F238E27FC236}">
                <a16:creationId xmlns:a16="http://schemas.microsoft.com/office/drawing/2014/main" id="{DF746467-C40D-CECC-7747-660A6320E1B7}"/>
              </a:ext>
              <a:ext uri="{C183D7F6-B498-43B3-948B-1728B52AA6E4}">
                <adec:decorative xmlns:adec="http://schemas.microsoft.com/office/drawing/2017/decorative" val="1"/>
              </a:ext>
            </a:extLst>
          </p:cNvPr>
          <p:cNvSpPr>
            <a:spLocks noGrp="1"/>
          </p:cNvSpPr>
          <p:nvPr>
            <p:ph type="sldNum" sz="quarter" idx="12"/>
          </p:nvPr>
        </p:nvSpPr>
        <p:spPr/>
        <p:txBody>
          <a:bodyPr/>
          <a:lstStyle/>
          <a:p>
            <a:fld id="{336CAFD0-1F6E-4E11-9822-836563A02839}" type="slidenum">
              <a:rPr lang="es-ES" smtClean="0"/>
              <a:t>44</a:t>
            </a:fld>
            <a:endParaRPr lang="es-ES"/>
          </a:p>
        </p:txBody>
      </p:sp>
      <mc:AlternateContent xmlns:mc="http://schemas.openxmlformats.org/markup-compatibility/2006" xmlns:a14="http://schemas.microsoft.com/office/drawing/2010/main">
        <mc:Choice Requires="a14">
          <p:sp>
            <p:nvSpPr>
              <p:cNvPr id="16" name="Marcador de contenido 2">
                <a:extLst>
                  <a:ext uri="{FF2B5EF4-FFF2-40B4-BE49-F238E27FC236}">
                    <a16:creationId xmlns:a16="http://schemas.microsoft.com/office/drawing/2014/main" id="{FCEA3D12-2EB4-A1A8-D8B1-86BB43DD8F4F}"/>
                  </a:ext>
                </a:extLst>
              </p:cNvPr>
              <p:cNvSpPr>
                <a:spLocks noGrp="1"/>
              </p:cNvSpPr>
              <p:nvPr>
                <p:ph idx="1"/>
              </p:nvPr>
            </p:nvSpPr>
            <p:spPr>
              <a:xfrm>
                <a:off x="838200" y="1825625"/>
                <a:ext cx="7658150" cy="4351338"/>
              </a:xfrm>
            </p:spPr>
            <p:txBody>
              <a:bodyPr>
                <a:normAutofit fontScale="85000" lnSpcReduction="20000"/>
              </a:bodyPr>
              <a:lstStyle/>
              <a:p>
                <a:r>
                  <a:rPr lang="es-ES" dirty="0"/>
                  <a:t>X: Número de veces que se obtiene el lado con 5 puntos al lanzar una vez un dado</a:t>
                </a:r>
              </a:p>
              <a:p>
                <a:pPr lvl="1"/>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err="1">
                        <a:latin typeface="Cambria Math" panose="02040503050406030204" pitchFamily="18" charset="0"/>
                      </a:rPr>
                      <m:t>𝑝𝑟𝑜𝑏𝑎𝑏𝑖𝑙𝑖𝑑𝑎𝑑</m:t>
                    </m:r>
                    <m:r>
                      <a:rPr lang="es-ES" i="1" dirty="0">
                        <a:latin typeface="Cambria Math" panose="02040503050406030204" pitchFamily="18" charset="0"/>
                      </a:rPr>
                      <m:t> </m:t>
                    </m:r>
                    <m:r>
                      <a:rPr lang="es-ES" i="1" dirty="0">
                        <a:latin typeface="Cambria Math" panose="02040503050406030204" pitchFamily="18" charset="0"/>
                      </a:rPr>
                      <m:t>𝑑𝑒</m:t>
                    </m:r>
                    <m:r>
                      <a:rPr lang="es-ES" i="1" dirty="0">
                        <a:latin typeface="Cambria Math" panose="02040503050406030204" pitchFamily="18" charset="0"/>
                      </a:rPr>
                      <m:t> é</m:t>
                    </m:r>
                    <m:r>
                      <a:rPr lang="es-ES" i="1" dirty="0" err="1">
                        <a:latin typeface="Cambria Math" panose="02040503050406030204" pitchFamily="18" charset="0"/>
                      </a:rPr>
                      <m:t>𝑥𝑖𝑡𝑜</m:t>
                    </m:r>
                    <m:r>
                      <a:rPr lang="es-ES" i="1" dirty="0">
                        <a:latin typeface="Cambria Math" panose="02040503050406030204" pitchFamily="18" charset="0"/>
                      </a:rPr>
                      <m:t> = </m:t>
                    </m:r>
                    <m:r>
                      <a:rPr lang="es-ES" i="1" dirty="0">
                        <a:latin typeface="Cambria Math" panose="02040503050406030204" pitchFamily="18" charset="0"/>
                      </a:rPr>
                      <m:t>1</m:t>
                    </m:r>
                    <m:r>
                      <a:rPr lang="es-ES" i="1" dirty="0">
                        <a:latin typeface="Cambria Math" panose="02040503050406030204" pitchFamily="18" charset="0"/>
                      </a:rPr>
                      <m:t>/</m:t>
                    </m:r>
                    <m:r>
                      <a:rPr lang="es-ES" i="1" dirty="0">
                        <a:latin typeface="Cambria Math" panose="02040503050406030204" pitchFamily="18" charset="0"/>
                      </a:rPr>
                      <m:t>6</m:t>
                    </m:r>
                    <m:r>
                      <a:rPr lang="es-ES" i="1" dirty="0">
                        <a:latin typeface="Cambria Math" panose="02040503050406030204" pitchFamily="18" charset="0"/>
                      </a:rPr>
                      <m:t> = </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17</m:t>
                    </m:r>
                  </m:oMath>
                </a14:m>
                <a:endParaRPr lang="es-ES" i="1" dirty="0"/>
              </a:p>
              <a:p>
                <a:pPr lvl="1"/>
                <a14:m>
                  <m:oMath xmlns:m="http://schemas.openxmlformats.org/officeDocument/2006/math">
                    <m:r>
                      <a:rPr lang="es-ES" i="1" dirty="0" smtClean="0">
                        <a:latin typeface="Cambria Math" panose="02040503050406030204" pitchFamily="18" charset="0"/>
                      </a:rPr>
                      <m:t>1</m:t>
                    </m:r>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err="1">
                        <a:latin typeface="Cambria Math" panose="02040503050406030204" pitchFamily="18" charset="0"/>
                      </a:rPr>
                      <m:t>𝑝𝑟𝑜𝑏𝑎𝑏𝑖𝑙𝑖𝑑𝑎𝑑</m:t>
                    </m:r>
                    <m:r>
                      <a:rPr lang="es-ES" i="1" dirty="0">
                        <a:latin typeface="Cambria Math" panose="02040503050406030204" pitchFamily="18" charset="0"/>
                      </a:rPr>
                      <m:t> </m:t>
                    </m:r>
                    <m:r>
                      <a:rPr lang="es-ES" i="1" dirty="0">
                        <a:latin typeface="Cambria Math" panose="02040503050406030204" pitchFamily="18" charset="0"/>
                      </a:rPr>
                      <m:t>𝑑𝑒</m:t>
                    </m:r>
                    <m:r>
                      <a:rPr lang="es-ES" i="1" dirty="0">
                        <a:latin typeface="Cambria Math" panose="02040503050406030204" pitchFamily="18" charset="0"/>
                      </a:rPr>
                      <m:t> </m:t>
                    </m:r>
                    <m:r>
                      <a:rPr lang="es-ES" i="1" dirty="0" err="1">
                        <a:latin typeface="Cambria Math" panose="02040503050406030204" pitchFamily="18" charset="0"/>
                      </a:rPr>
                      <m:t>𝑓𝑟𝑎𝑐𝑎𝑠𝑜</m:t>
                    </m:r>
                    <m:r>
                      <a:rPr lang="es-ES" i="1" dirty="0">
                        <a:latin typeface="Cambria Math" panose="02040503050406030204" pitchFamily="18" charset="0"/>
                      </a:rPr>
                      <m:t> = </m:t>
                    </m:r>
                    <m:r>
                      <a:rPr lang="es-ES" i="1" dirty="0">
                        <a:latin typeface="Cambria Math" panose="02040503050406030204" pitchFamily="18" charset="0"/>
                      </a:rPr>
                      <m:t>1</m:t>
                    </m:r>
                    <m:r>
                      <a:rPr lang="es-ES" i="1" dirty="0">
                        <a:latin typeface="Cambria Math" panose="02040503050406030204" pitchFamily="18" charset="0"/>
                      </a:rPr>
                      <m:t>−</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17</m:t>
                    </m:r>
                    <m:r>
                      <a:rPr lang="es-ES" i="1" dirty="0">
                        <a:latin typeface="Cambria Math" panose="02040503050406030204" pitchFamily="18" charset="0"/>
                      </a:rPr>
                      <m:t> = </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83</m:t>
                    </m:r>
                    <m:r>
                      <a:rPr lang="es-ES" i="1" dirty="0">
                        <a:latin typeface="Cambria Math" panose="02040503050406030204" pitchFamily="18" charset="0"/>
                      </a:rPr>
                      <m:t> </m:t>
                    </m:r>
                  </m:oMath>
                </a14:m>
                <a:endParaRPr lang="es-ES" dirty="0"/>
              </a:p>
              <a:p>
                <a:r>
                  <a:rPr lang="es-ES" dirty="0" err="1"/>
                  <a:t>Función</a:t>
                </a:r>
                <a:r>
                  <a:rPr lang="es-ES" dirty="0"/>
                  <a:t> de masa de </a:t>
                </a:r>
                <a:r>
                  <a:rPr lang="es-ES" dirty="0" err="1"/>
                  <a:t>probabilidad</a:t>
                </a:r>
                <a:r>
                  <a:rPr lang="es-ES" dirty="0"/>
                  <a:t> (</a:t>
                </a:r>
                <a:r>
                  <a:rPr lang="es-ES" dirty="0" err="1"/>
                  <a:t>pmf</a:t>
                </a:r>
                <a:r>
                  <a:rPr lang="es-ES" dirty="0"/>
                  <a:t>)</a:t>
                </a:r>
                <a:endParaRPr lang="es-ES" b="0" i="1" dirty="0">
                  <a:latin typeface="Cambria Math" panose="02040503050406030204" pitchFamily="18" charset="0"/>
                </a:endParaRPr>
              </a:p>
              <a:p>
                <a:pPr lvl="1"/>
                <a14:m>
                  <m:oMath xmlns:m="http://schemas.openxmlformats.org/officeDocument/2006/math">
                    <m:r>
                      <a:rPr lang="es-ES"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𝑥</m:t>
                        </m:r>
                      </m:e>
                    </m:d>
                    <m:r>
                      <a:rPr lang="ar-AE" i="1">
                        <a:latin typeface="Cambria Math" panose="02040503050406030204" pitchFamily="18" charset="0"/>
                      </a:rPr>
                      <m:t>=</m:t>
                    </m:r>
                    <m:d>
                      <m:dPr>
                        <m:begChr m:val="{"/>
                        <m:endChr m:val=""/>
                        <m:ctrlPr>
                          <a:rPr lang="ar-AE" i="1">
                            <a:latin typeface="Cambria Math" panose="02040503050406030204" pitchFamily="18" charset="0"/>
                          </a:rPr>
                        </m:ctrlPr>
                      </m:dPr>
                      <m:e>
                        <m:eqArr>
                          <m:eqArrPr>
                            <m:ctrlPr>
                              <a:rPr lang="ar-AE" i="1">
                                <a:latin typeface="Cambria Math" panose="02040503050406030204" pitchFamily="18" charset="0"/>
                              </a:rPr>
                            </m:ctrlPr>
                          </m:eqArr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83</m:t>
                            </m:r>
                            <m:r>
                              <a:rPr lang="ar-AE" i="1">
                                <a:latin typeface="Cambria Math" panose="02040503050406030204" pitchFamily="18" charset="0"/>
                              </a:rPr>
                              <m:t>,  </m:t>
                            </m:r>
                            <m:r>
                              <a:rPr lang="ar-AE" i="1">
                                <a:latin typeface="Cambria Math" panose="02040503050406030204" pitchFamily="18" charset="0"/>
                              </a:rPr>
                              <m:t>𝑥</m:t>
                            </m:r>
                            <m:r>
                              <a:rPr lang="ar-AE" i="1">
                                <a:latin typeface="Cambria Math" panose="02040503050406030204" pitchFamily="18" charset="0"/>
                              </a:rPr>
                              <m:t>=</m:t>
                            </m:r>
                            <m:r>
                              <a:rPr lang="ar-AE" i="1">
                                <a:latin typeface="Cambria Math" panose="02040503050406030204" pitchFamily="18" charset="0"/>
                              </a:rPr>
                              <m:t>0</m:t>
                            </m:r>
                          </m:e>
                          <m:e>
                            <m:r>
                              <a:rPr lang="ar-AE" i="1">
                                <a:latin typeface="Cambria Math" panose="02040503050406030204" pitchFamily="18" charset="0"/>
                              </a:rPr>
                              <m:t>&amp;</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17</m:t>
                            </m:r>
                            <m:r>
                              <a:rPr lang="ar-AE" i="1">
                                <a:latin typeface="Cambria Math" panose="02040503050406030204" pitchFamily="18" charset="0"/>
                              </a:rPr>
                              <m:t>,  </m:t>
                            </m:r>
                            <m:r>
                              <a:rPr lang="ar-AE" i="1">
                                <a:latin typeface="Cambria Math" panose="02040503050406030204" pitchFamily="18" charset="0"/>
                              </a:rPr>
                              <m:t>𝑥</m:t>
                            </m:r>
                            <m:r>
                              <a:rPr lang="ar-AE" i="1">
                                <a:latin typeface="Cambria Math" panose="02040503050406030204" pitchFamily="18" charset="0"/>
                              </a:rPr>
                              <m:t>=</m:t>
                            </m:r>
                            <m:r>
                              <a:rPr lang="ar-AE" i="1">
                                <a:latin typeface="Cambria Math" panose="02040503050406030204" pitchFamily="18" charset="0"/>
                              </a:rPr>
                              <m:t>1</m:t>
                            </m:r>
                          </m:e>
                        </m:eqArr>
                      </m:e>
                    </m:d>
                  </m:oMath>
                </a14:m>
                <a:r>
                  <a:rPr lang="ar-AE" dirty="0"/>
                  <a:t>	</a:t>
                </a:r>
              </a:p>
              <a:p>
                <a:pPr>
                  <a:tabLst>
                    <a:tab pos="2784475" algn="l"/>
                  </a:tabLst>
                </a:pPr>
                <a:r>
                  <a:rPr lang="es-ES" dirty="0" err="1"/>
                  <a:t>Función</a:t>
                </a:r>
                <a:r>
                  <a:rPr lang="es-ES" dirty="0"/>
                  <a:t> de </a:t>
                </a:r>
                <a:r>
                  <a:rPr lang="es-ES" dirty="0" err="1"/>
                  <a:t>distribución</a:t>
                </a:r>
                <a:r>
                  <a:rPr lang="es-ES" dirty="0"/>
                  <a:t> acumulada (</a:t>
                </a:r>
                <a:r>
                  <a:rPr lang="es-ES" dirty="0" err="1"/>
                  <a:t>cdf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d>
                      <m:dPr>
                        <m:begChr m:val="{"/>
                        <m:endChr m:val=""/>
                        <m:ctrlPr>
                          <a:rPr lang="ar-AE" b="0" i="1" smtClean="0">
                            <a:latin typeface="Cambria Math" panose="02040503050406030204" pitchFamily="18" charset="0"/>
                            <a:ea typeface="Cambria Math" panose="02040503050406030204" pitchFamily="18" charset="0"/>
                          </a:rPr>
                        </m:ctrlPr>
                      </m:dPr>
                      <m:e>
                        <m:eqArr>
                          <m:eqArrPr>
                            <m:ctrlPr>
                              <a:rPr lang="ar-AE" b="0" i="1" smtClean="0">
                                <a:latin typeface="Cambria Math" panose="02040503050406030204" pitchFamily="18" charset="0"/>
                                <a:ea typeface="Cambria Math" panose="02040503050406030204" pitchFamily="18" charset="0"/>
                              </a:rPr>
                            </m:ctrlPr>
                          </m:eqArrPr>
                          <m:e>
                            <m:r>
                              <a:rPr lang="ar-AE" b="0" i="1" smtClean="0">
                                <a:latin typeface="Cambria Math" panose="02040503050406030204" pitchFamily="18" charset="0"/>
                                <a:ea typeface="Cambria Math" panose="02040503050406030204" pitchFamily="18" charset="0"/>
                              </a:rPr>
                              <m:t>0</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83</m:t>
                            </m:r>
                            <m:r>
                              <a:rPr lang="ar-AE" b="0" i="1" smtClean="0">
                                <a:latin typeface="Cambria Math" panose="02040503050406030204" pitchFamily="18" charset="0"/>
                                <a:ea typeface="Cambria Math" panose="02040503050406030204" pitchFamily="18" charset="0"/>
                              </a:rPr>
                              <m:t>,  </m:t>
                            </m:r>
                            <m:r>
                              <a:rPr lang="ar-AE" b="0" i="1" smtClean="0">
                                <a:latin typeface="Cambria Math" panose="02040503050406030204" pitchFamily="18" charset="0"/>
                                <a:ea typeface="Cambria Math" panose="02040503050406030204" pitchFamily="18" charset="0"/>
                              </a:rPr>
                              <m:t>𝑥</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e>
                          <m:e>
                            <m:r>
                              <a:rPr lang="ar-AE" b="0" i="1" smtClean="0">
                                <a:latin typeface="Cambria Math" panose="02040503050406030204" pitchFamily="18" charset="0"/>
                                <a:ea typeface="Cambria Math" panose="02040503050406030204" pitchFamily="18" charset="0"/>
                              </a:rPr>
                              <m:t>      </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  </m:t>
                            </m:r>
                            <m:r>
                              <a:rPr lang="ar-AE" b="0" i="1" smtClean="0">
                                <a:latin typeface="Cambria Math" panose="02040503050406030204" pitchFamily="18" charset="0"/>
                                <a:ea typeface="Cambria Math" panose="02040503050406030204" pitchFamily="18" charset="0"/>
                              </a:rPr>
                              <m:t>𝑥</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e>
                        </m:eqArr>
                      </m:e>
                    </m:d>
                  </m:oMath>
                </a14:m>
                <a:endParaRPr lang="ar-AE" dirty="0"/>
              </a:p>
              <a:p>
                <a:pPr>
                  <a:tabLst>
                    <a:tab pos="2784475" algn="l"/>
                  </a:tabLst>
                </a:pPr>
                <a:r>
                  <a:rPr lang="es-ES" dirty="0"/>
                  <a:t>Esperanza: </a:t>
                </a: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17</m:t>
                    </m:r>
                    <m:r>
                      <a:rPr lang="es-ES" b="0" i="1" smtClean="0">
                        <a:latin typeface="Cambria Math" panose="02040503050406030204" pitchFamily="18" charset="0"/>
                      </a:rPr>
                      <m:t> é</m:t>
                    </m:r>
                    <m:r>
                      <a:rPr lang="es-ES" b="0" i="1" smtClean="0">
                        <a:latin typeface="Cambria Math" panose="02040503050406030204" pitchFamily="18" charset="0"/>
                      </a:rPr>
                      <m:t>𝑥𝑖𝑡𝑜𝑠</m:t>
                    </m:r>
                  </m:oMath>
                </a14:m>
                <a:r>
                  <a:rPr lang="ar-AE" dirty="0"/>
                  <a:t> </a:t>
                </a:r>
              </a:p>
              <a:p>
                <a:pPr>
                  <a:tabLst>
                    <a:tab pos="2784475" algn="l"/>
                  </a:tabLst>
                </a:pPr>
                <a:r>
                  <a:rPr lang="es-ES" dirty="0" err="1"/>
                  <a:t>Varianza</a:t>
                </a:r>
                <a:r>
                  <a:rPr lang="es-ES" dirty="0"/>
                  <a:t>: </a:t>
                </a:r>
                <a14:m>
                  <m:oMath xmlns:m="http://schemas.openxmlformats.org/officeDocument/2006/math">
                    <m:r>
                      <a:rPr lang="es-ES" b="0" i="1" smtClean="0">
                        <a:latin typeface="Cambria Math" panose="02040503050406030204" pitchFamily="18" charset="0"/>
                      </a:rPr>
                      <m:t>𝑉𝑎𝑟</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𝑝</m:t>
                    </m:r>
                    <m:d>
                      <m:dPr>
                        <m:ctrlPr>
                          <a:rPr lang="ar-AE" b="0" i="1" smtClean="0">
                            <a:latin typeface="Cambria Math" panose="02040503050406030204" pitchFamily="18" charset="0"/>
                          </a:rPr>
                        </m:ctrlPr>
                      </m:dPr>
                      <m:e>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e>
                    </m:d>
                    <m:r>
                      <a:rPr lang="ar-AE" b="0" i="1" smtClean="0">
                        <a:latin typeface="Cambria Math" panose="02040503050406030204" pitchFamily="18" charset="0"/>
                      </a:rPr>
                      <m:t>=</m:t>
                    </m:r>
                    <m:d>
                      <m:dPr>
                        <m:ctrlPr>
                          <a:rPr lang="ar-AE" b="0" i="1" smtClean="0">
                            <a:latin typeface="Cambria Math" panose="02040503050406030204" pitchFamily="18" charset="0"/>
                          </a:rPr>
                        </m:ctrlPr>
                      </m:d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17</m:t>
                        </m:r>
                      </m:e>
                    </m:d>
                    <m:d>
                      <m:dPr>
                        <m:ctrlPr>
                          <a:rPr lang="ar-AE" b="0" i="1" smtClean="0">
                            <a:latin typeface="Cambria Math" panose="02040503050406030204" pitchFamily="18" charset="0"/>
                          </a:rPr>
                        </m:ctrlPr>
                      </m:d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83</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1411</m:t>
                    </m:r>
                    <m:r>
                      <a:rPr lang="es-ES" b="0" i="1" smtClean="0">
                        <a:latin typeface="Cambria Math" panose="02040503050406030204" pitchFamily="18" charset="0"/>
                      </a:rPr>
                      <m:t> </m:t>
                    </m:r>
                    <m:sSup>
                      <m:sSupPr>
                        <m:ctrlPr>
                          <a:rPr lang="es-ES" b="0" i="1" smtClean="0">
                            <a:latin typeface="Cambria Math" panose="02040503050406030204" pitchFamily="18" charset="0"/>
                          </a:rPr>
                        </m:ctrlPr>
                      </m:sSupPr>
                      <m:e>
                        <m:r>
                          <a:rPr lang="es-ES" b="0" i="1" smtClean="0">
                            <a:latin typeface="Cambria Math" panose="02040503050406030204" pitchFamily="18" charset="0"/>
                          </a:rPr>
                          <m:t>é</m:t>
                        </m:r>
                        <m:r>
                          <a:rPr lang="es-ES" b="0" i="1" smtClean="0">
                            <a:latin typeface="Cambria Math" panose="02040503050406030204" pitchFamily="18" charset="0"/>
                          </a:rPr>
                          <m:t>𝑥𝑖𝑡𝑜𝑠</m:t>
                        </m:r>
                      </m:e>
                      <m:sup>
                        <m:r>
                          <a:rPr lang="es-ES" b="0" i="1" smtClean="0">
                            <a:latin typeface="Cambria Math" panose="02040503050406030204" pitchFamily="18" charset="0"/>
                          </a:rPr>
                          <m:t>2</m:t>
                        </m:r>
                      </m:sup>
                    </m:sSup>
                  </m:oMath>
                </a14:m>
                <a:r>
                  <a:rPr lang="es-ES" dirty="0"/>
                  <a:t> </a:t>
                </a:r>
                <a:endParaRPr dirty="0"/>
              </a:p>
            </p:txBody>
          </p:sp>
        </mc:Choice>
        <mc:Fallback xmlns="">
          <p:sp>
            <p:nvSpPr>
              <p:cNvPr id="16" name="Marcador de contenido 2">
                <a:extLst>
                  <a:ext uri="{FF2B5EF4-FFF2-40B4-BE49-F238E27FC236}">
                    <a16:creationId xmlns:a16="http://schemas.microsoft.com/office/drawing/2014/main" id="{FCEA3D12-2EB4-A1A8-D8B1-86BB43DD8F4F}"/>
                  </a:ext>
                </a:extLst>
              </p:cNvPr>
              <p:cNvSpPr>
                <a:spLocks noGrp="1" noRot="1" noChangeAspect="1" noMove="1" noResize="1" noEditPoints="1" noAdjustHandles="1" noChangeArrowheads="1" noChangeShapeType="1" noTextEdit="1"/>
              </p:cNvSpPr>
              <p:nvPr>
                <p:ph idx="1"/>
              </p:nvPr>
            </p:nvSpPr>
            <p:spPr>
              <a:xfrm>
                <a:off x="838200" y="1825625"/>
                <a:ext cx="7658150" cy="4351338"/>
              </a:xfrm>
              <a:blipFill>
                <a:blip r:embed="rId6"/>
                <a:stretch>
                  <a:fillRect l="-1115" t="-3221" r="-1592"/>
                </a:stretch>
              </a:blipFill>
            </p:spPr>
            <p:txBody>
              <a:bodyPr/>
              <a:lstStyle/>
              <a:p>
                <a:r>
                  <a:rPr lang="es-ES">
                    <a:noFill/>
                  </a:rPr>
                  <a:t> </a:t>
                </a:r>
              </a:p>
            </p:txBody>
          </p:sp>
        </mc:Fallback>
      </mc:AlternateContent>
      <p:pic>
        <p:nvPicPr>
          <p:cNvPr id="7" name="Imagen 6">
            <a:extLst>
              <a:ext uri="{FF2B5EF4-FFF2-40B4-BE49-F238E27FC236}">
                <a16:creationId xmlns:a16="http://schemas.microsoft.com/office/drawing/2014/main" id="{5A06C85F-2487-87D3-31A1-0EB7937177A6}"/>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911335" y="2132813"/>
            <a:ext cx="1907986" cy="2052635"/>
          </a:xfrm>
          <a:prstGeom prst="rect">
            <a:avLst/>
          </a:prstGeom>
        </p:spPr>
      </p:pic>
      <p:pic>
        <p:nvPicPr>
          <p:cNvPr id="13" name="Imagen 12">
            <a:extLst>
              <a:ext uri="{FF2B5EF4-FFF2-40B4-BE49-F238E27FC236}">
                <a16:creationId xmlns:a16="http://schemas.microsoft.com/office/drawing/2014/main" id="{89B02823-6E49-7A84-E988-1B6024946F3B}"/>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971082" y="4298880"/>
            <a:ext cx="1907986" cy="2185271"/>
          </a:xfrm>
          <a:prstGeom prst="rect">
            <a:avLst/>
          </a:prstGeom>
        </p:spPr>
      </p:pic>
      <p:pic>
        <p:nvPicPr>
          <p:cNvPr id="6" name="Imagen 5">
            <a:extLst>
              <a:ext uri="{FF2B5EF4-FFF2-40B4-BE49-F238E27FC236}">
                <a16:creationId xmlns:a16="http://schemas.microsoft.com/office/drawing/2014/main" id="{9AA8EED1-39BD-FD25-6D27-483C1CBA8961}"/>
              </a:ext>
              <a:ext uri="{C183D7F6-B498-43B3-948B-1728B52AA6E4}">
                <adec:decorative xmlns:adec="http://schemas.microsoft.com/office/drawing/2017/decorative" val="1"/>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10801301" y="2414478"/>
            <a:ext cx="552499" cy="580305"/>
          </a:xfrm>
          <a:prstGeom prst="rect">
            <a:avLst/>
          </a:prstGeom>
        </p:spPr>
      </p:pic>
    </p:spTree>
    <p:extLst>
      <p:ext uri="{BB962C8B-B14F-4D97-AF65-F5344CB8AC3E}">
        <p14:creationId xmlns:p14="http://schemas.microsoft.com/office/powerpoint/2010/main" val="28999812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DCCD44-580C-2349-7CEE-F5FF8F4FBDC1}"/>
              </a:ext>
            </a:extLst>
          </p:cNvPr>
          <p:cNvSpPr>
            <a:spLocks noGrp="1"/>
          </p:cNvSpPr>
          <p:nvPr>
            <p:ph type="title"/>
          </p:nvPr>
        </p:nvSpPr>
        <p:spPr/>
        <p:txBody>
          <a:bodyPr/>
          <a:lstStyle/>
          <a:p>
            <a:r>
              <a:rPr lang="es-ES" dirty="0"/>
              <a:t>9. D</a:t>
            </a:r>
            <a:r>
              <a:rPr dirty="0" err="1"/>
              <a:t>istribución</a:t>
            </a:r>
            <a:r>
              <a:rPr dirty="0"/>
              <a:t> </a:t>
            </a:r>
            <a:r>
              <a:rPr lang="es-ES" dirty="0"/>
              <a:t>Binomial</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5AB056D-72CF-52F5-8FF5-B85155761FED}"/>
                  </a:ext>
                </a:extLst>
              </p:cNvPr>
              <p:cNvSpPr>
                <a:spLocks noGrp="1"/>
              </p:cNvSpPr>
              <p:nvPr>
                <p:ph idx="1"/>
              </p:nvPr>
            </p:nvSpPr>
            <p:spPr/>
            <p:txBody>
              <a:bodyPr>
                <a:normAutofit/>
              </a:bodyPr>
              <a:lstStyle/>
              <a:p>
                <a:r>
                  <a:rPr dirty="0"/>
                  <a:t>Una variable </a:t>
                </a:r>
                <a:r>
                  <a:rPr lang="es-ES" dirty="0"/>
                  <a:t>aleatoria </a:t>
                </a:r>
                <a:r>
                  <a:rPr dirty="0" err="1"/>
                  <a:t>descrita</a:t>
                </a:r>
                <a:r>
                  <a:rPr dirty="0"/>
                  <a:t> </a:t>
                </a:r>
                <a:r>
                  <a:rPr dirty="0" err="1"/>
                  <a:t>como</a:t>
                </a:r>
                <a:r>
                  <a:rPr dirty="0"/>
                  <a:t> </a:t>
                </a:r>
                <a:r>
                  <a:rPr lang="es-ES" dirty="0"/>
                  <a:t>"</a:t>
                </a:r>
                <a:r>
                  <a:rPr dirty="0" err="1"/>
                  <a:t>el</a:t>
                </a:r>
                <a:r>
                  <a:rPr dirty="0"/>
                  <a:t> </a:t>
                </a:r>
                <a:r>
                  <a:rPr dirty="0" err="1"/>
                  <a:t>número</a:t>
                </a:r>
                <a:r>
                  <a:rPr dirty="0"/>
                  <a:t> de </a:t>
                </a:r>
                <a:r>
                  <a:rPr dirty="0" err="1"/>
                  <a:t>éxitos</a:t>
                </a:r>
                <a:r>
                  <a:rPr dirty="0"/>
                  <a:t> en </a:t>
                </a:r>
                <a:r>
                  <a:rPr dirty="0" err="1"/>
                  <a:t>una</a:t>
                </a:r>
                <a:r>
                  <a:rPr dirty="0"/>
                  <a:t> </a:t>
                </a:r>
                <a:r>
                  <a:rPr dirty="0" err="1"/>
                  <a:t>secuencia</a:t>
                </a:r>
                <a:r>
                  <a:rPr dirty="0"/>
                  <a:t> de </a:t>
                </a:r>
                <a:r>
                  <a:rPr dirty="0" err="1"/>
                  <a:t>ensayos</a:t>
                </a:r>
                <a:r>
                  <a:rPr dirty="0"/>
                  <a:t> </a:t>
                </a:r>
                <a:r>
                  <a:rPr dirty="0" err="1"/>
                  <a:t>independientes</a:t>
                </a:r>
                <a:r>
                  <a:rPr dirty="0"/>
                  <a:t> de Bernoulli</a:t>
                </a:r>
                <a:r>
                  <a:rPr lang="es-ES" dirty="0"/>
                  <a:t>"</a:t>
                </a:r>
                <a:r>
                  <a:rPr dirty="0"/>
                  <a:t> </a:t>
                </a:r>
                <a:r>
                  <a:rPr dirty="0" err="1"/>
                  <a:t>tiene</a:t>
                </a:r>
                <a:r>
                  <a:rPr dirty="0"/>
                  <a:t> </a:t>
                </a:r>
                <a:r>
                  <a:rPr lang="es-ES" dirty="0"/>
                  <a:t>una </a:t>
                </a:r>
                <a:r>
                  <a:rPr dirty="0" err="1"/>
                  <a:t>distribución</a:t>
                </a:r>
                <a:r>
                  <a:rPr dirty="0"/>
                  <a:t> </a:t>
                </a:r>
                <a:r>
                  <a:rPr lang="es-ES" dirty="0"/>
                  <a:t>de probabilidad Binomial</a:t>
                </a:r>
                <a:r>
                  <a:rPr dirty="0"/>
                  <a:t> </a:t>
                </a:r>
              </a:p>
              <a:p>
                <a:r>
                  <a:rPr dirty="0"/>
                  <a:t>Sus </a:t>
                </a:r>
                <a:r>
                  <a:rPr dirty="0" err="1"/>
                  <a:t>parámetros</a:t>
                </a:r>
                <a:r>
                  <a:rPr dirty="0"/>
                  <a:t> son:</a:t>
                </a:r>
              </a:p>
              <a:p>
                <a:pPr lvl="1"/>
                <a14:m>
                  <m:oMath xmlns:m="http://schemas.openxmlformats.org/officeDocument/2006/math">
                    <m:r>
                      <a:rPr lang="es-ES" i="1" dirty="0" smtClean="0">
                        <a:latin typeface="Cambria Math" panose="02040503050406030204" pitchFamily="18" charset="0"/>
                      </a:rPr>
                      <m:t>𝑛</m:t>
                    </m:r>
                  </m:oMath>
                </a14:m>
                <a:r>
                  <a:rPr dirty="0"/>
                  <a:t>, </a:t>
                </a:r>
                <a:r>
                  <a:rPr dirty="0" err="1"/>
                  <a:t>el</a:t>
                </a:r>
                <a:r>
                  <a:rPr dirty="0"/>
                  <a:t> </a:t>
                </a:r>
                <a:r>
                  <a:rPr dirty="0" err="1"/>
                  <a:t>número</a:t>
                </a:r>
                <a:r>
                  <a:rPr dirty="0"/>
                  <a:t> de </a:t>
                </a:r>
                <a:r>
                  <a:rPr lang="es-ES" dirty="0"/>
                  <a:t>ensayo</a:t>
                </a:r>
                <a:r>
                  <a:rPr dirty="0"/>
                  <a:t>s</a:t>
                </a:r>
              </a:p>
              <a:p>
                <a:pPr lvl="1"/>
                <a14:m>
                  <m:oMath xmlns:m="http://schemas.openxmlformats.org/officeDocument/2006/math">
                    <m:r>
                      <a:rPr lang="es-ES" i="1" dirty="0" smtClean="0">
                        <a:latin typeface="Cambria Math" panose="02040503050406030204" pitchFamily="18" charset="0"/>
                      </a:rPr>
                      <m:t>𝑝</m:t>
                    </m:r>
                  </m:oMath>
                </a14:m>
                <a:r>
                  <a:rPr dirty="0"/>
                  <a:t>, la </a:t>
                </a:r>
                <a:r>
                  <a:rPr dirty="0" err="1"/>
                  <a:t>probabilidad</a:t>
                </a:r>
                <a:r>
                  <a:rPr dirty="0"/>
                  <a:t> de </a:t>
                </a:r>
                <a:r>
                  <a:rPr dirty="0" err="1"/>
                  <a:t>éxito</a:t>
                </a:r>
                <a:r>
                  <a:rPr dirty="0"/>
                  <a:t> en un </a:t>
                </a:r>
                <a:r>
                  <a:rPr dirty="0" err="1"/>
                  <a:t>ensayo</a:t>
                </a:r>
                <a:endParaRPr dirty="0"/>
              </a:p>
              <a:p>
                <a:r>
                  <a:rPr dirty="0"/>
                  <a:t>La </a:t>
                </a:r>
                <a:r>
                  <a:rPr dirty="0" err="1"/>
                  <a:t>distribución</a:t>
                </a:r>
                <a:r>
                  <a:rPr dirty="0"/>
                  <a:t> </a:t>
                </a:r>
                <a:r>
                  <a:rPr lang="es-ES" dirty="0"/>
                  <a:t>Binomial</a:t>
                </a:r>
                <a:r>
                  <a:rPr dirty="0"/>
                  <a:t> </a:t>
                </a:r>
                <a:r>
                  <a:rPr dirty="0" err="1"/>
                  <a:t>fue</a:t>
                </a:r>
                <a:r>
                  <a:rPr dirty="0"/>
                  <a:t> </a:t>
                </a:r>
                <a:r>
                  <a:rPr lang="es-ES" dirty="0"/>
                  <a:t>propuesta</a:t>
                </a:r>
                <a:r>
                  <a:rPr dirty="0"/>
                  <a:t> </a:t>
                </a:r>
                <a:r>
                  <a:rPr dirty="0" err="1"/>
                  <a:t>por</a:t>
                </a:r>
                <a:r>
                  <a:rPr dirty="0"/>
                  <a:t> </a:t>
                </a:r>
                <a:r>
                  <a:rPr dirty="0">
                    <a:hlinkClick r:id="rId2"/>
                  </a:rPr>
                  <a:t>Jacob Bernoulli</a:t>
                </a:r>
              </a:p>
              <a:p>
                <a:r>
                  <a:rPr dirty="0"/>
                  <a:t>Una </a:t>
                </a:r>
                <a:r>
                  <a:rPr dirty="0" err="1"/>
                  <a:t>suma</a:t>
                </a:r>
                <a:r>
                  <a:rPr dirty="0"/>
                  <a:t> de </a:t>
                </a:r>
                <a14:m>
                  <m:oMath xmlns:m="http://schemas.openxmlformats.org/officeDocument/2006/math">
                    <m:r>
                      <a:rPr lang="es-ES" i="1" dirty="0" smtClean="0">
                        <a:latin typeface="Cambria Math" panose="02040503050406030204" pitchFamily="18" charset="0"/>
                      </a:rPr>
                      <m:t>𝑛</m:t>
                    </m:r>
                  </m:oMath>
                </a14:m>
                <a:r>
                  <a:rPr dirty="0"/>
                  <a:t> variables de Bernoulli </a:t>
                </a:r>
                <a:r>
                  <a:rPr dirty="0" err="1"/>
                  <a:t>independientes</a:t>
                </a:r>
                <a:r>
                  <a:rPr dirty="0"/>
                  <a:t> es </a:t>
                </a:r>
                <a:r>
                  <a:rPr lang="es-ES" dirty="0"/>
                  <a:t>una variable </a:t>
                </a:r>
                <a:r>
                  <a:rPr dirty="0"/>
                  <a:t>Binomial</a:t>
                </a:r>
              </a:p>
              <a:p>
                <a:pPr lvl="1"/>
                <a:endParaRPr dirty="0"/>
              </a:p>
              <a:p>
                <a:endParaRPr dirty="0"/>
              </a:p>
            </p:txBody>
          </p:sp>
        </mc:Choice>
        <mc:Fallback xmlns="">
          <p:sp>
            <p:nvSpPr>
              <p:cNvPr id="3" name="Marcador de contenido 2">
                <a:extLst>
                  <a:ext uri="{FF2B5EF4-FFF2-40B4-BE49-F238E27FC236}">
                    <a16:creationId xmlns:a16="http://schemas.microsoft.com/office/drawing/2014/main" id="{25AB056D-72CF-52F5-8FF5-B85155761FED}"/>
                  </a:ext>
                </a:extLst>
              </p:cNvPr>
              <p:cNvSpPr>
                <a:spLocks noGrp="1" noRot="1" noChangeAspect="1" noMove="1" noResize="1" noEditPoints="1" noAdjustHandles="1" noChangeArrowheads="1" noChangeShapeType="1" noTextEdit="1"/>
              </p:cNvSpPr>
              <p:nvPr>
                <p:ph idx="1"/>
              </p:nvPr>
            </p:nvSpPr>
            <p:spPr>
              <a:blipFill>
                <a:blip r:embed="rId3"/>
                <a:stretch>
                  <a:fillRect l="-1043" t="-2241" r="-46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2A3D8405-81F4-D68B-4EC1-54B535619CF5}"/>
              </a:ext>
            </a:extLst>
          </p:cNvPr>
          <p:cNvSpPr>
            <a:spLocks noGrp="1"/>
          </p:cNvSpPr>
          <p:nvPr>
            <p:ph type="sldNum" sz="quarter" idx="12"/>
          </p:nvPr>
        </p:nvSpPr>
        <p:spPr/>
        <p:txBody>
          <a:bodyPr/>
          <a:lstStyle/>
          <a:p>
            <a:fld id="{336CAFD0-1F6E-4E11-9822-836563A02839}" type="slidenum">
              <a:rPr lang="es-ES" smtClean="0"/>
              <a:t>45</a:t>
            </a:fld>
            <a:endParaRPr lang="es-ES"/>
          </a:p>
        </p:txBody>
      </p:sp>
    </p:spTree>
    <p:extLst>
      <p:ext uri="{BB962C8B-B14F-4D97-AF65-F5344CB8AC3E}">
        <p14:creationId xmlns:p14="http://schemas.microsoft.com/office/powerpoint/2010/main" val="22146123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9. D</a:t>
            </a:r>
            <a:r>
              <a:rPr dirty="0" err="1"/>
              <a:t>istribución</a:t>
            </a:r>
            <a:r>
              <a:rPr dirty="0"/>
              <a:t> </a:t>
            </a:r>
            <a:r>
              <a:rPr lang="es-ES" dirty="0"/>
              <a:t>Binomial</a:t>
            </a:r>
            <a:br>
              <a:rPr lang="es-ES" dirty="0"/>
            </a:br>
            <a:r>
              <a:rPr dirty="0" err="1"/>
              <a:t>Resumen</a:t>
            </a:r>
            <a:endParaRPr dirty="0">
              <a:highlight>
                <a:srgbClr val="FFFF00"/>
              </a:highlight>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4"/>
                <a:ext cx="10515600" cy="5032376"/>
              </a:xfrm>
            </p:spPr>
            <p:txBody>
              <a:bodyPr>
                <a:normAutofit fontScale="55000" lnSpcReduction="20000"/>
              </a:bodyPr>
              <a:lstStyle/>
              <a:p>
                <a:r>
                  <a:rPr lang="es-ES" dirty="0"/>
                  <a:t>X: Variable </a:t>
                </a:r>
                <a:r>
                  <a:rPr lang="es-ES" dirty="0" err="1"/>
                  <a:t>aleatoria</a:t>
                </a:r>
                <a:r>
                  <a:rPr lang="es-ES" dirty="0"/>
                  <a:t> con </a:t>
                </a:r>
                <a:r>
                  <a:rPr lang="es-ES" dirty="0" err="1"/>
                  <a:t>distribución</a:t>
                </a:r>
                <a:r>
                  <a:rPr lang="es-ES" dirty="0"/>
                  <a:t> Binomial </a:t>
                </a:r>
                <a:r>
                  <a:rPr lang="es-ES" dirty="0">
                    <a:sym typeface="Wingdings" panose="05000000000000000000" pitchFamily="2" charset="2"/>
                  </a:rPr>
                  <a:t></a:t>
                </a:r>
                <a:r>
                  <a:rPr lang="es-ES" dirty="0"/>
                  <a:t>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 </m:t>
                    </m:r>
                    <m:r>
                      <a:rPr lang="es-ES" i="1" dirty="0" smtClean="0">
                        <a:latin typeface="Cambria Math" panose="02040503050406030204" pitchFamily="18" charset="0"/>
                      </a:rPr>
                      <m:t>𝐵𝑖𝑛𝑜𝑚𝑖𝑎𝑙</m:t>
                    </m:r>
                    <m:r>
                      <a:rPr lang="es-ES" i="1" dirty="0" smtClean="0">
                        <a:latin typeface="Cambria Math" panose="02040503050406030204" pitchFamily="18" charset="0"/>
                      </a:rPr>
                      <m:t>(</m:t>
                    </m:r>
                    <m:r>
                      <a:rPr lang="es-ES" i="1" dirty="0" smtClean="0">
                        <a:latin typeface="Cambria Math" panose="02040503050406030204" pitchFamily="18" charset="0"/>
                      </a:rPr>
                      <m:t>𝑛</m:t>
                    </m:r>
                    <m:r>
                      <a:rPr lang="es-ES"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m:t>
                    </m:r>
                  </m:oMath>
                </a14:m>
                <a:endParaRPr lang="es-ES" i="1" dirty="0"/>
              </a:p>
              <a:p>
                <a:pPr lvl="1">
                  <a:defRPr i="1"/>
                </a:pPr>
                <a:r>
                  <a:rPr lang="es-ES" dirty="0" err="1"/>
                  <a:t>Número</a:t>
                </a:r>
                <a:r>
                  <a:rPr lang="es-ES" dirty="0"/>
                  <a:t> de </a:t>
                </a:r>
                <a:r>
                  <a:rPr lang="es-ES" dirty="0" err="1"/>
                  <a:t>éxitos</a:t>
                </a:r>
                <a:r>
                  <a:rPr lang="es-ES" dirty="0"/>
                  <a:t> en n ensayos </a:t>
                </a:r>
                <a:r>
                  <a:rPr lang="es-ES" dirty="0" err="1"/>
                  <a:t>independientes</a:t>
                </a:r>
                <a:r>
                  <a:rPr lang="es-ES" dirty="0"/>
                  <a:t> de Bernoulli</a:t>
                </a:r>
                <a:endParaRPr lang="es-ES" i="1" dirty="0"/>
              </a:p>
              <a:p>
                <a:r>
                  <a:rPr lang="es-ES" dirty="0" err="1"/>
                  <a:t>Parámetros</a:t>
                </a:r>
                <a:endParaRPr lang="es-ES" dirty="0"/>
              </a:p>
              <a:p>
                <a:pPr lvl="1"/>
                <a:r>
                  <a:rPr lang="es-ES" i="1" dirty="0"/>
                  <a:t>n </a:t>
                </a:r>
                <a:r>
                  <a:rPr lang="es-ES" dirty="0"/>
                  <a:t>= </a:t>
                </a:r>
                <a:r>
                  <a:rPr lang="es-ES" dirty="0" err="1"/>
                  <a:t>número</a:t>
                </a:r>
                <a:r>
                  <a:rPr lang="es-ES" dirty="0"/>
                  <a:t> de </a:t>
                </a:r>
                <a:r>
                  <a:rPr lang="es-ES" dirty="0" err="1"/>
                  <a:t>ensayos</a:t>
                </a:r>
                <a:r>
                  <a:rPr lang="es-ES" dirty="0"/>
                  <a:t> = 1, 2, 3,...</a:t>
                </a:r>
                <a:endParaRPr lang="es-ES" i="1" dirty="0"/>
              </a:p>
              <a:p>
                <a:pPr lvl="1"/>
                <a:r>
                  <a:rPr lang="es-ES" i="1" dirty="0"/>
                  <a:t>p</a:t>
                </a:r>
                <a:r>
                  <a:rPr lang="es-ES" dirty="0"/>
                  <a:t> = </a:t>
                </a:r>
                <a:r>
                  <a:rPr lang="es-ES" dirty="0" err="1"/>
                  <a:t>probabilidad</a:t>
                </a:r>
                <a:r>
                  <a:rPr lang="es-ES" dirty="0"/>
                  <a:t> de </a:t>
                </a:r>
                <a:r>
                  <a:rPr lang="es-ES" dirty="0" err="1"/>
                  <a:t>éxito</a:t>
                </a:r>
                <a:r>
                  <a:rPr lang="es-ES" dirty="0"/>
                  <a:t> en un </a:t>
                </a:r>
                <a:r>
                  <a:rPr lang="es-ES" dirty="0" err="1"/>
                  <a:t>ensayo</a:t>
                </a:r>
                <a:endParaRPr lang="es-ES" dirty="0"/>
              </a:p>
              <a:p>
                <a:r>
                  <a:rPr lang="es-ES" dirty="0"/>
                  <a:t>Rango de </a:t>
                </a:r>
                <a:r>
                  <a:rPr lang="es-ES" dirty="0" err="1"/>
                  <a:t>valores</a:t>
                </a:r>
                <a:endParaRPr lang="es-ES" dirty="0"/>
              </a:p>
              <a:p>
                <a:pPr lvl="1"/>
                <a:r>
                  <a:rPr lang="es-ES" dirty="0"/>
                  <a:t> </a:t>
                </a:r>
                <a14:m>
                  <m:oMath xmlns:m="http://schemas.openxmlformats.org/officeDocument/2006/math">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 </m:t>
                    </m:r>
                    <m:r>
                      <a:rPr lang="es-ES" b="0" i="1" smtClean="0">
                        <a:latin typeface="Cambria Math" panose="02040503050406030204" pitchFamily="18" charset="0"/>
                      </a:rPr>
                      <m:t>1</m:t>
                    </m:r>
                    <m:r>
                      <a:rPr lang="es-ES" b="0" i="1" smtClean="0">
                        <a:latin typeface="Cambria Math" panose="02040503050406030204" pitchFamily="18" charset="0"/>
                      </a:rPr>
                      <m:t>, </m:t>
                    </m:r>
                    <m:r>
                      <a:rPr lang="es-ES" b="0" i="1" smtClean="0">
                        <a:latin typeface="Cambria Math" panose="02040503050406030204" pitchFamily="18" charset="0"/>
                      </a:rPr>
                      <m:t>2</m:t>
                    </m:r>
                    <m:r>
                      <a:rPr lang="es-ES" b="0" i="1" smtClean="0">
                        <a:latin typeface="Cambria Math" panose="02040503050406030204" pitchFamily="18" charset="0"/>
                      </a:rPr>
                      <m:t>,  .., </m:t>
                    </m:r>
                    <m:r>
                      <a:rPr lang="es-ES" b="0" i="1" smtClean="0">
                        <a:latin typeface="Cambria Math" panose="02040503050406030204" pitchFamily="18" charset="0"/>
                      </a:rPr>
                      <m:t>𝑛</m:t>
                    </m:r>
                    <m:r>
                      <a:rPr lang="es-ES" b="0" i="1" smtClean="0">
                        <a:latin typeface="Cambria Math" panose="02040503050406030204" pitchFamily="18" charset="0"/>
                      </a:rPr>
                      <m:t> </m:t>
                    </m:r>
                  </m:oMath>
                </a14:m>
                <a:endParaRPr lang="es-ES" i="1" dirty="0"/>
              </a:p>
              <a:p>
                <a:r>
                  <a:rPr lang="es-ES" dirty="0" err="1"/>
                  <a:t>Función</a:t>
                </a:r>
                <a:r>
                  <a:rPr lang="es-ES" dirty="0"/>
                  <a:t> de masa de </a:t>
                </a:r>
                <a:r>
                  <a:rPr lang="es-ES" dirty="0" err="1"/>
                  <a:t>probabilidad</a:t>
                </a:r>
                <a:r>
                  <a:rPr lang="es-ES" dirty="0"/>
                  <a:t> (</a:t>
                </a:r>
                <a:r>
                  <a:rPr lang="es-ES" dirty="0" err="1"/>
                  <a:t>pmf</a:t>
                </a:r>
                <a:r>
                  <a:rPr lang="es-ES" dirty="0"/>
                  <a:t>)</a:t>
                </a:r>
              </a:p>
              <a:p>
                <a:pPr lvl="1">
                  <a:defRPr i="1"/>
                </a:pPr>
                <a:r>
                  <a:rPr lang="es-ES" dirty="0"/>
                  <a:t>En su cálculo se aplica Combinatoria, son combinaciones sin repetición</a:t>
                </a:r>
              </a:p>
              <a:p>
                <a:pPr lvl="1">
                  <a:tabLst>
                    <a:tab pos="2784475" algn="l"/>
                  </a:tabLst>
                </a:pPr>
                <a14:m>
                  <m:oMath xmlns:m="http://schemas.openxmlformats.org/officeDocument/2006/math">
                    <m:r>
                      <a:rPr lang="es-ES"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d>
                      <m:dPr>
                        <m:ctrlPr>
                          <a:rPr lang="ar-AE" b="0" i="1" smtClean="0">
                            <a:latin typeface="Cambria Math" panose="02040503050406030204" pitchFamily="18" charset="0"/>
                          </a:rPr>
                        </m:ctrlPr>
                      </m:dPr>
                      <m:e>
                        <m:m>
                          <m:mPr>
                            <m:mcs>
                              <m:mc>
                                <m:mcPr>
                                  <m:count m:val="1"/>
                                  <m:mcJc m:val="center"/>
                                </m:mcPr>
                              </m:mc>
                            </m:mcs>
                            <m:ctrlPr>
                              <a:rPr lang="ar-AE" b="0" i="1" smtClean="0">
                                <a:latin typeface="Cambria Math" panose="02040503050406030204" pitchFamily="18" charset="0"/>
                              </a:rPr>
                            </m:ctrlPr>
                          </m:mPr>
                          <m:mr>
                            <m:e>
                              <m:r>
                                <m:rPr>
                                  <m:brk m:alnAt="7"/>
                                </m:rPr>
                                <a:rPr lang="ar-AE" b="0" i="1" smtClean="0">
                                  <a:latin typeface="Cambria Math" panose="02040503050406030204" pitchFamily="18" charset="0"/>
                                </a:rPr>
                                <m:t>𝑛</m:t>
                              </m:r>
                            </m:e>
                          </m:mr>
                          <m:mr>
                            <m:e>
                              <m:r>
                                <a:rPr lang="ar-AE" b="0" i="1" smtClean="0">
                                  <a:latin typeface="Cambria Math" panose="02040503050406030204" pitchFamily="18" charset="0"/>
                                </a:rPr>
                                <m:t>𝑥</m:t>
                              </m:r>
                            </m:e>
                          </m:mr>
                        </m:m>
                      </m:e>
                    </m:d>
                    <m:sSup>
                      <m:sSupPr>
                        <m:ctrlPr>
                          <a:rPr lang="ar-AE" b="0" i="1" smtClean="0">
                            <a:latin typeface="Cambria Math" panose="02040503050406030204" pitchFamily="18" charset="0"/>
                          </a:rPr>
                        </m:ctrlPr>
                      </m:sSupPr>
                      <m:e>
                        <m:r>
                          <a:rPr lang="ar-AE" b="0" i="1" smtClean="0">
                            <a:latin typeface="Cambria Math" panose="02040503050406030204" pitchFamily="18" charset="0"/>
                          </a:rPr>
                          <m:t>𝑝</m:t>
                        </m:r>
                      </m:e>
                      <m:sup>
                        <m:r>
                          <a:rPr lang="ar-AE" b="0" i="1" smtClean="0">
                            <a:latin typeface="Cambria Math" panose="02040503050406030204" pitchFamily="18" charset="0"/>
                          </a:rPr>
                          <m:t>𝑥</m:t>
                        </m:r>
                      </m:sup>
                    </m:sSup>
                    <m:sSup>
                      <m:sSupPr>
                        <m:ctrlPr>
                          <a:rPr lang="ar-AE" b="0" i="1" smtClean="0">
                            <a:latin typeface="Cambria Math" panose="02040503050406030204" pitchFamily="18" charset="0"/>
                          </a:rPr>
                        </m:ctrlPr>
                      </m:sSupPr>
                      <m:e>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e>
                      <m:sup>
                        <m:r>
                          <a:rPr lang="ar-AE" b="0" i="1" smtClean="0">
                            <a:latin typeface="Cambria Math" panose="02040503050406030204" pitchFamily="18" charset="0"/>
                          </a:rPr>
                          <m:t>𝑛</m:t>
                        </m:r>
                        <m:r>
                          <a:rPr lang="ar-AE" b="0" i="1" smtClean="0">
                            <a:latin typeface="Cambria Math" panose="02040503050406030204" pitchFamily="18" charset="0"/>
                          </a:rPr>
                          <m:t>−</m:t>
                        </m:r>
                        <m:r>
                          <a:rPr lang="ar-AE" b="0" i="1" smtClean="0">
                            <a:latin typeface="Cambria Math" panose="02040503050406030204" pitchFamily="18" charset="0"/>
                          </a:rPr>
                          <m:t>𝑥</m:t>
                        </m:r>
                      </m:sup>
                    </m:sSup>
                  </m:oMath>
                </a14:m>
                <a:r>
                  <a:rPr lang="ar-AE" dirty="0"/>
                  <a:t>	</a:t>
                </a:r>
              </a:p>
              <a:p>
                <a:pPr>
                  <a:tabLst>
                    <a:tab pos="2784475" algn="l"/>
                  </a:tabLst>
                </a:pPr>
                <a:r>
                  <a:rPr lang="es-ES" dirty="0" err="1"/>
                  <a:t>Función</a:t>
                </a:r>
                <a:r>
                  <a:rPr lang="es-ES" dirty="0"/>
                  <a:t> de </a:t>
                </a:r>
                <a:r>
                  <a:rPr lang="es-ES" dirty="0" err="1"/>
                  <a:t>distribución</a:t>
                </a:r>
                <a:r>
                  <a:rPr lang="es-ES" dirty="0"/>
                  <a:t> acumulada (</a:t>
                </a:r>
                <a:r>
                  <a:rPr lang="es-ES" dirty="0" err="1"/>
                  <a:t>cdf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𝑥</m:t>
                        </m:r>
                      </m:e>
                    </m:d>
                    <m:r>
                      <a:rPr lang="ar-AE" b="0" i="1" smtClean="0">
                        <a:latin typeface="Cambria Math" panose="02040503050406030204" pitchFamily="18" charset="0"/>
                        <a:ea typeface="Cambria Math" panose="02040503050406030204" pitchFamily="18" charset="0"/>
                      </a:rPr>
                      <m:t>=</m:t>
                    </m:r>
                    <m:nary>
                      <m:naryPr>
                        <m:chr m:val="∑"/>
                        <m:ctrlPr>
                          <a:rPr lang="ar-AE" b="0" i="1" smtClean="0">
                            <a:latin typeface="Cambria Math" panose="02040503050406030204" pitchFamily="18" charset="0"/>
                            <a:ea typeface="Cambria Math" panose="02040503050406030204" pitchFamily="18" charset="0"/>
                          </a:rPr>
                        </m:ctrlPr>
                      </m:naryPr>
                      <m:sub>
                        <m:r>
                          <m:rPr>
                            <m:brk m:alnAt="23"/>
                          </m:rPr>
                          <a:rPr lang="ar-AE" b="0" i="1" smtClean="0">
                            <a:latin typeface="Cambria Math" panose="02040503050406030204" pitchFamily="18" charset="0"/>
                            <a:ea typeface="Cambria Math" panose="02040503050406030204" pitchFamily="18" charset="0"/>
                          </a:rPr>
                          <m:t>𝑖</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sub>
                      <m:sup>
                        <m:r>
                          <a:rPr lang="ar-AE" b="0" i="1" smtClean="0">
                            <a:latin typeface="Cambria Math" panose="02040503050406030204" pitchFamily="18" charset="0"/>
                            <a:ea typeface="Cambria Math" panose="02040503050406030204" pitchFamily="18" charset="0"/>
                          </a:rPr>
                          <m:t>𝑥</m:t>
                        </m:r>
                      </m:sup>
                      <m:e>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ar-AE" i="1">
                                      <a:latin typeface="Cambria Math" panose="02040503050406030204" pitchFamily="18" charset="0"/>
                                    </a:rPr>
                                    <m:t>𝑛</m:t>
                                  </m:r>
                                </m:e>
                              </m:mr>
                              <m:mr>
                                <m:e>
                                  <m:r>
                                    <a:rPr lang="es-ES" b="0" i="1" smtClean="0">
                                      <a:latin typeface="Cambria Math" panose="02040503050406030204" pitchFamily="18" charset="0"/>
                                    </a:rPr>
                                    <m:t>𝑖</m:t>
                                  </m:r>
                                </m:e>
                              </m:mr>
                            </m:m>
                          </m:e>
                        </m:d>
                        <m:sSup>
                          <m:sSupPr>
                            <m:ctrlPr>
                              <a:rPr lang="ar-AE" i="1">
                                <a:latin typeface="Cambria Math" panose="02040503050406030204" pitchFamily="18" charset="0"/>
                              </a:rPr>
                            </m:ctrlPr>
                          </m:sSupPr>
                          <m:e>
                            <m:r>
                              <a:rPr lang="ar-AE" i="1">
                                <a:latin typeface="Cambria Math" panose="02040503050406030204" pitchFamily="18" charset="0"/>
                              </a:rPr>
                              <m:t>𝑝</m:t>
                            </m:r>
                          </m:e>
                          <m:sup>
                            <m:r>
                              <a:rPr lang="es-ES" b="0" i="1" smtClean="0">
                                <a:latin typeface="Cambria Math" panose="02040503050406030204" pitchFamily="18" charset="0"/>
                              </a:rPr>
                              <m:t>𝑖</m:t>
                            </m:r>
                          </m:sup>
                        </m:sSup>
                        <m:sSup>
                          <m:sSupPr>
                            <m:ctrlPr>
                              <a:rPr lang="ar-AE" i="1">
                                <a:latin typeface="Cambria Math" panose="02040503050406030204" pitchFamily="18" charset="0"/>
                              </a:rPr>
                            </m:ctrlPr>
                          </m:sSupPr>
                          <m:e>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𝑝</m:t>
                            </m:r>
                            <m:r>
                              <a:rPr lang="ar-AE" i="1">
                                <a:latin typeface="Cambria Math" panose="02040503050406030204" pitchFamily="18" charset="0"/>
                              </a:rPr>
                              <m:t>)</m:t>
                            </m:r>
                          </m:e>
                          <m:sup>
                            <m:r>
                              <a:rPr lang="ar-AE" i="1">
                                <a:latin typeface="Cambria Math" panose="02040503050406030204" pitchFamily="18" charset="0"/>
                              </a:rPr>
                              <m:t>𝑛</m:t>
                            </m:r>
                            <m:r>
                              <a:rPr lang="ar-AE" i="1">
                                <a:latin typeface="Cambria Math" panose="02040503050406030204" pitchFamily="18" charset="0"/>
                              </a:rPr>
                              <m:t>−</m:t>
                            </m:r>
                            <m:r>
                              <a:rPr lang="es-ES" b="0" i="1" smtClean="0">
                                <a:latin typeface="Cambria Math" panose="02040503050406030204" pitchFamily="18" charset="0"/>
                              </a:rPr>
                              <m:t>𝑖</m:t>
                            </m:r>
                          </m:sup>
                        </m:sSup>
                      </m:e>
                    </m:nary>
                  </m:oMath>
                </a14:m>
                <a:endParaRPr lang="ar-AE" dirty="0"/>
              </a:p>
              <a:p>
                <a:pPr>
                  <a:tabLst>
                    <a:tab pos="2784475" algn="l"/>
                  </a:tabLst>
                </a:pPr>
                <a:r>
                  <a:rPr lang="es-ES" dirty="0"/>
                  <a:t>Esperanza</a:t>
                </a:r>
              </a:p>
              <a:p>
                <a:pPr lvl="1">
                  <a:tabLst>
                    <a:tab pos="2784475" algn="l"/>
                  </a:tabLst>
                </a:pP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𝑛𝑝</m:t>
                    </m:r>
                  </m:oMath>
                </a14:m>
                <a:r>
                  <a:rPr lang="ar-AE" dirty="0"/>
                  <a:t> </a:t>
                </a:r>
              </a:p>
              <a:p>
                <a:pPr>
                  <a:tabLst>
                    <a:tab pos="2784475" algn="l"/>
                  </a:tabLst>
                </a:pPr>
                <a:r>
                  <a:rPr lang="es-ES" dirty="0" err="1"/>
                  <a:t>Varianza</a:t>
                </a:r>
                <a:endParaRPr lang="es-ES" dirty="0"/>
              </a:p>
              <a:p>
                <a:pPr lvl="1">
                  <a:tabLst>
                    <a:tab pos="2784475" algn="l"/>
                  </a:tabLst>
                </a:pPr>
                <a14:m>
                  <m:oMath xmlns:m="http://schemas.openxmlformats.org/officeDocument/2006/math">
                    <m:r>
                      <a:rPr lang="es-ES" b="0" i="1" smtClean="0">
                        <a:latin typeface="Cambria Math" panose="02040503050406030204" pitchFamily="18" charset="0"/>
                      </a:rPr>
                      <m:t>𝑉𝑎𝑟</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𝑛𝑝</m:t>
                    </m:r>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oMath>
                </a14:m>
                <a:endParaRPr lang="ar-AE" dirty="0"/>
              </a:p>
              <a:p>
                <a:pPr>
                  <a:tabLst>
                    <a:tab pos="2784475" algn="l"/>
                  </a:tabLst>
                </a:pPr>
                <a:r>
                  <a:rPr lang="es-ES" dirty="0"/>
                  <a:t>Relación con </a:t>
                </a:r>
                <a:r>
                  <a:rPr lang="es-ES" dirty="0" err="1"/>
                  <a:t>otras</a:t>
                </a:r>
                <a:r>
                  <a:rPr lang="es-ES" dirty="0"/>
                  <a:t> </a:t>
                </a:r>
                <a:r>
                  <a:rPr lang="es-ES" dirty="0" err="1"/>
                  <a:t>distribuciones</a:t>
                </a:r>
                <a:endParaRPr lang="es-ES" dirty="0"/>
              </a:p>
              <a:p>
                <a:pPr lvl="1">
                  <a:tabLst>
                    <a:tab pos="2784475" algn="l"/>
                  </a:tabLst>
                </a:pPr>
                <a14:m>
                  <m:oMath xmlns:m="http://schemas.openxmlformats.org/officeDocument/2006/math">
                    <m:r>
                      <a:rPr lang="es-ES" i="1" dirty="0" smtClean="0">
                        <a:latin typeface="Cambria Math" panose="02040503050406030204" pitchFamily="18" charset="0"/>
                      </a:rPr>
                      <m:t>𝐵𝑖𝑛𝑜𝑚𝑖𝑎𝑙</m:t>
                    </m:r>
                    <m:r>
                      <a:rPr lang="es-ES" i="1" dirty="0" smtClean="0">
                        <a:latin typeface="Cambria Math" panose="02040503050406030204" pitchFamily="18" charset="0"/>
                      </a:rPr>
                      <m:t>(</m:t>
                    </m:r>
                    <m:r>
                      <a:rPr lang="es-ES" i="1" dirty="0" smtClean="0">
                        <a:latin typeface="Cambria Math" panose="02040503050406030204" pitchFamily="18" charset="0"/>
                      </a:rPr>
                      <m:t>𝑛</m:t>
                    </m:r>
                    <m:r>
                      <a:rPr lang="es-ES"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 </m:t>
                    </m:r>
                  </m:oMath>
                </a14:m>
                <a:r>
                  <a:rPr lang="es-ES" dirty="0"/>
                  <a:t>es una suma de n variables </a:t>
                </a:r>
                <a14:m>
                  <m:oMath xmlns:m="http://schemas.openxmlformats.org/officeDocument/2006/math">
                    <m:r>
                      <a:rPr lang="es-ES" i="1" dirty="0" smtClean="0">
                        <a:latin typeface="Cambria Math" panose="02040503050406030204" pitchFamily="18" charset="0"/>
                      </a:rPr>
                      <m:t>𝐵𝑒𝑟𝑛𝑜𝑢𝑙𝑙𝑖</m:t>
                    </m:r>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 </m:t>
                    </m:r>
                  </m:oMath>
                </a14:m>
                <a:r>
                  <a:rPr lang="es-ES" dirty="0" err="1"/>
                  <a:t>independientes</a:t>
                </a:r>
                <a:endParaRPr lang="es-ES" dirty="0"/>
              </a:p>
              <a:p>
                <a:pPr lvl="1">
                  <a:tabLst>
                    <a:tab pos="2784475" algn="l"/>
                  </a:tabLst>
                </a:pPr>
                <a14:m>
                  <m:oMath xmlns:m="http://schemas.openxmlformats.org/officeDocument/2006/math">
                    <m:r>
                      <a:rPr lang="es-ES" i="1" dirty="0" smtClean="0">
                        <a:latin typeface="Cambria Math" panose="02040503050406030204" pitchFamily="18" charset="0"/>
                      </a:rPr>
                      <m:t>𝐵𝑒𝑟𝑛𝑜𝑢𝑙𝑙𝑖</m:t>
                    </m:r>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m:t>
                    </m:r>
                  </m:oMath>
                </a14:m>
                <a:r>
                  <a:rPr lang="es-ES" dirty="0"/>
                  <a:t> es un </a:t>
                </a:r>
                <a:r>
                  <a:rPr lang="es-ES" dirty="0" err="1"/>
                  <a:t>caso</a:t>
                </a:r>
                <a:r>
                  <a:rPr lang="es-ES" dirty="0"/>
                  <a:t> especial de </a:t>
                </a:r>
                <a14:m>
                  <m:oMath xmlns:m="http://schemas.openxmlformats.org/officeDocument/2006/math">
                    <m:r>
                      <a:rPr lang="es-ES" i="1" dirty="0" smtClean="0">
                        <a:latin typeface="Cambria Math" panose="02040503050406030204" pitchFamily="18" charset="0"/>
                      </a:rPr>
                      <m:t>𝐵𝑖𝑛𝑜𝑚𝑖𝑎𝑙</m:t>
                    </m:r>
                    <m:r>
                      <a:rPr lang="es-ES" i="1" dirty="0" smtClean="0">
                        <a:latin typeface="Cambria Math" panose="02040503050406030204" pitchFamily="18" charset="0"/>
                      </a:rPr>
                      <m:t> (</m:t>
                    </m:r>
                    <m:r>
                      <a:rPr lang="es-ES" i="1" dirty="0" smtClean="0">
                        <a:latin typeface="Cambria Math" panose="02040503050406030204" pitchFamily="18" charset="0"/>
                      </a:rPr>
                      <m:t>𝑛</m:t>
                    </m:r>
                    <m:r>
                      <a:rPr lang="es-ES"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m:t>
                    </m:r>
                  </m:oMath>
                </a14:m>
                <a:r>
                  <a:rPr lang="es-ES" dirty="0"/>
                  <a:t> </a:t>
                </a:r>
                <a:r>
                  <a:rPr lang="es-ES" dirty="0" err="1"/>
                  <a:t>cuando</a:t>
                </a:r>
                <a:r>
                  <a:rPr lang="es-ES" dirty="0"/>
                  <a:t> </a:t>
                </a: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m:t>
                    </m:r>
                    <m:r>
                      <a:rPr lang="es-ES" i="1" dirty="0" smtClean="0">
                        <a:latin typeface="Cambria Math" panose="02040503050406030204" pitchFamily="18" charset="0"/>
                      </a:rPr>
                      <m:t>1</m:t>
                    </m:r>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4"/>
                <a:ext cx="10515600" cy="5032376"/>
              </a:xfrm>
              <a:blipFill>
                <a:blip r:embed="rId2"/>
                <a:stretch>
                  <a:fillRect l="-174" t="-145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46</a:t>
            </a:fld>
            <a:endParaRPr lang="es-ES"/>
          </a:p>
        </p:txBody>
      </p:sp>
    </p:spTree>
    <p:extLst>
      <p:ext uri="{BB962C8B-B14F-4D97-AF65-F5344CB8AC3E}">
        <p14:creationId xmlns:p14="http://schemas.microsoft.com/office/powerpoint/2010/main" val="1519963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A902294-857C-36AB-CD60-ED8C10805FD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462666" y="1609756"/>
            <a:ext cx="8961494" cy="5291276"/>
          </a:xfrm>
          <a:prstGeom prst="rect">
            <a:avLst/>
          </a:prstGeom>
        </p:spPr>
      </p:pic>
      <p:sp>
        <p:nvSpPr>
          <p:cNvPr id="2" name="Título 1">
            <a:extLst>
              <a:ext uri="{FF2B5EF4-FFF2-40B4-BE49-F238E27FC236}">
                <a16:creationId xmlns:a16="http://schemas.microsoft.com/office/drawing/2014/main" id="{8D4F2A3C-A822-D107-CD22-6F278B51E6C7}"/>
              </a:ext>
            </a:extLst>
          </p:cNvPr>
          <p:cNvSpPr>
            <a:spLocks noGrp="1"/>
          </p:cNvSpPr>
          <p:nvPr>
            <p:ph type="title"/>
          </p:nvPr>
        </p:nvSpPr>
        <p:spPr/>
        <p:txBody>
          <a:bodyPr>
            <a:normAutofit/>
          </a:bodyPr>
          <a:lstStyle/>
          <a:p>
            <a:r>
              <a:rPr lang="es-ES" dirty="0"/>
              <a:t>9. D</a:t>
            </a:r>
            <a:r>
              <a:rPr dirty="0" err="1"/>
              <a:t>istribución</a:t>
            </a:r>
            <a:r>
              <a:rPr dirty="0"/>
              <a:t> </a:t>
            </a:r>
            <a:r>
              <a:rPr lang="es-ES" dirty="0"/>
              <a:t>Binomial</a:t>
            </a:r>
            <a:br>
              <a:rPr lang="es-ES" dirty="0"/>
            </a:br>
            <a:r>
              <a:rPr lang="es-ES" dirty="0"/>
              <a:t>Función de probabilidad para</a:t>
            </a:r>
            <a:r>
              <a:rPr dirty="0"/>
              <a:t> </a:t>
            </a:r>
            <a:r>
              <a:rPr dirty="0" err="1"/>
              <a:t>diferentes</a:t>
            </a:r>
            <a:r>
              <a:rPr dirty="0"/>
              <a:t> </a:t>
            </a:r>
            <a:r>
              <a:rPr i="1" dirty="0"/>
              <a:t>n</a:t>
            </a:r>
            <a:r>
              <a:rPr dirty="0"/>
              <a:t> y </a:t>
            </a:r>
            <a:r>
              <a:rPr i="1" dirty="0"/>
              <a:t>p</a:t>
            </a:r>
          </a:p>
        </p:txBody>
      </p:sp>
      <p:sp>
        <p:nvSpPr>
          <p:cNvPr id="4" name="Marcador de número de diapositiva 3">
            <a:extLst>
              <a:ext uri="{FF2B5EF4-FFF2-40B4-BE49-F238E27FC236}">
                <a16:creationId xmlns:a16="http://schemas.microsoft.com/office/drawing/2014/main" id="{4BB8B8DF-8762-B3DD-9965-23D04231A3BB}"/>
              </a:ext>
            </a:extLst>
          </p:cNvPr>
          <p:cNvSpPr>
            <a:spLocks noGrp="1"/>
          </p:cNvSpPr>
          <p:nvPr>
            <p:ph type="sldNum" sz="quarter" idx="12"/>
          </p:nvPr>
        </p:nvSpPr>
        <p:spPr/>
        <p:txBody>
          <a:bodyPr/>
          <a:lstStyle/>
          <a:p>
            <a:fld id="{336CAFD0-1F6E-4E11-9822-836563A02839}" type="slidenum">
              <a:rPr lang="es-ES" smtClean="0"/>
              <a:t>47</a:t>
            </a:fld>
            <a:endParaRPr lang="es-ES"/>
          </a:p>
        </p:txBody>
      </p:sp>
    </p:spTree>
    <p:extLst>
      <p:ext uri="{BB962C8B-B14F-4D97-AF65-F5344CB8AC3E}">
        <p14:creationId xmlns:p14="http://schemas.microsoft.com/office/powerpoint/2010/main" val="7291800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9. D</a:t>
            </a:r>
            <a:r>
              <a:rPr dirty="0" err="1"/>
              <a:t>istribución</a:t>
            </a:r>
            <a:r>
              <a:rPr dirty="0"/>
              <a:t> </a:t>
            </a:r>
            <a:r>
              <a:rPr lang="es-ES" dirty="0"/>
              <a:t>Binomial</a:t>
            </a:r>
            <a:br>
              <a:rPr lang="es-ES" dirty="0"/>
            </a:br>
            <a:r>
              <a:rPr dirty="0" err="1"/>
              <a:t>Ejemplo</a:t>
            </a:r>
            <a:r>
              <a:rPr dirty="0"/>
              <a:t> (</a:t>
            </a:r>
            <a:r>
              <a:rPr lang="es-ES" dirty="0"/>
              <a:t>Lanzar un dado</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6263640" cy="4351338"/>
              </a:xfrm>
            </p:spPr>
            <p:txBody>
              <a:bodyPr>
                <a:normAutofit fontScale="62500" lnSpcReduction="20000"/>
              </a:bodyPr>
              <a:lstStyle/>
              <a:p>
                <a:r>
                  <a:rPr lang="es-ES" dirty="0"/>
                  <a:t>X: Número de veces que se obtiene el lado con 5 puntos al lanzar un dado 10 veces</a:t>
                </a:r>
              </a:p>
              <a:p>
                <a:pPr lvl="1"/>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err="1">
                        <a:latin typeface="Cambria Math" panose="02040503050406030204" pitchFamily="18" charset="0"/>
                      </a:rPr>
                      <m:t>𝑝𝑟𝑜𝑏𝑎𝑏𝑖𝑙𝑖𝑑𝑎𝑑</m:t>
                    </m:r>
                    <m:r>
                      <a:rPr lang="es-ES" i="1" dirty="0">
                        <a:latin typeface="Cambria Math" panose="02040503050406030204" pitchFamily="18" charset="0"/>
                      </a:rPr>
                      <m:t> </m:t>
                    </m:r>
                    <m:r>
                      <a:rPr lang="es-ES" i="1" dirty="0">
                        <a:latin typeface="Cambria Math" panose="02040503050406030204" pitchFamily="18" charset="0"/>
                      </a:rPr>
                      <m:t>𝑑𝑒</m:t>
                    </m:r>
                    <m:r>
                      <a:rPr lang="es-ES" i="1" dirty="0">
                        <a:latin typeface="Cambria Math" panose="02040503050406030204" pitchFamily="18" charset="0"/>
                      </a:rPr>
                      <m:t> é</m:t>
                    </m:r>
                    <m:r>
                      <a:rPr lang="es-ES" i="1" dirty="0" err="1">
                        <a:latin typeface="Cambria Math" panose="02040503050406030204" pitchFamily="18" charset="0"/>
                      </a:rPr>
                      <m:t>𝑥𝑖𝑡𝑜</m:t>
                    </m:r>
                    <m:r>
                      <a:rPr lang="es-ES" i="1" dirty="0">
                        <a:latin typeface="Cambria Math" panose="02040503050406030204" pitchFamily="18" charset="0"/>
                      </a:rPr>
                      <m:t> </m:t>
                    </m:r>
                    <m:r>
                      <a:rPr lang="es-ES" i="1" dirty="0">
                        <a:latin typeface="Cambria Math" panose="02040503050406030204" pitchFamily="18" charset="0"/>
                      </a:rPr>
                      <m:t>𝑒𝑛</m:t>
                    </m:r>
                    <m:r>
                      <a:rPr lang="es-ES" i="1" dirty="0">
                        <a:latin typeface="Cambria Math" panose="02040503050406030204" pitchFamily="18" charset="0"/>
                      </a:rPr>
                      <m:t> </m:t>
                    </m:r>
                    <m:r>
                      <a:rPr lang="es-ES" i="1" dirty="0">
                        <a:latin typeface="Cambria Math" panose="02040503050406030204" pitchFamily="18" charset="0"/>
                      </a:rPr>
                      <m:t>𝑢𝑛</m:t>
                    </m:r>
                    <m:r>
                      <a:rPr lang="es-ES" i="1" dirty="0">
                        <a:latin typeface="Cambria Math" panose="02040503050406030204" pitchFamily="18" charset="0"/>
                      </a:rPr>
                      <m:t> </m:t>
                    </m:r>
                    <m:r>
                      <a:rPr lang="es-ES" i="1" dirty="0" err="1">
                        <a:latin typeface="Cambria Math" panose="02040503050406030204" pitchFamily="18" charset="0"/>
                      </a:rPr>
                      <m:t>𝑒𝑛𝑠𝑎𝑦𝑜</m:t>
                    </m:r>
                    <m:r>
                      <a:rPr lang="es-ES" i="1" dirty="0">
                        <a:latin typeface="Cambria Math" panose="02040503050406030204" pitchFamily="18" charset="0"/>
                      </a:rPr>
                      <m:t> = </m:t>
                    </m:r>
                    <m:r>
                      <a:rPr lang="es-ES" i="1" dirty="0">
                        <a:latin typeface="Cambria Math" panose="02040503050406030204" pitchFamily="18" charset="0"/>
                      </a:rPr>
                      <m:t>1</m:t>
                    </m:r>
                    <m:r>
                      <a:rPr lang="es-ES" i="1" dirty="0">
                        <a:latin typeface="Cambria Math" panose="02040503050406030204" pitchFamily="18" charset="0"/>
                      </a:rPr>
                      <m:t>/</m:t>
                    </m:r>
                    <m:r>
                      <a:rPr lang="es-ES" i="1" dirty="0">
                        <a:latin typeface="Cambria Math" panose="02040503050406030204" pitchFamily="18" charset="0"/>
                      </a:rPr>
                      <m:t>6</m:t>
                    </m:r>
                    <m:r>
                      <a:rPr lang="es-ES" i="1" dirty="0">
                        <a:latin typeface="Cambria Math" panose="02040503050406030204" pitchFamily="18" charset="0"/>
                      </a:rPr>
                      <m:t> = </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17</m:t>
                    </m:r>
                  </m:oMath>
                </a14:m>
                <a:endParaRPr lang="es-ES" dirty="0"/>
              </a:p>
              <a:p>
                <a:pPr lvl="1"/>
                <a14:m>
                  <m:oMath xmlns:m="http://schemas.openxmlformats.org/officeDocument/2006/math">
                    <m:r>
                      <a:rPr lang="es-ES" i="1" dirty="0" smtClean="0">
                        <a:latin typeface="Cambria Math" panose="02040503050406030204" pitchFamily="18" charset="0"/>
                      </a:rPr>
                      <m:t>1</m:t>
                    </m:r>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err="1">
                        <a:latin typeface="Cambria Math" panose="02040503050406030204" pitchFamily="18" charset="0"/>
                      </a:rPr>
                      <m:t>𝑝𝑟𝑜𝑏𝑎𝑏𝑖𝑙𝑖𝑑𝑎𝑑</m:t>
                    </m:r>
                    <m:r>
                      <a:rPr lang="es-ES" i="1" dirty="0">
                        <a:latin typeface="Cambria Math" panose="02040503050406030204" pitchFamily="18" charset="0"/>
                      </a:rPr>
                      <m:t> </m:t>
                    </m:r>
                    <m:r>
                      <a:rPr lang="es-ES" i="1" dirty="0">
                        <a:latin typeface="Cambria Math" panose="02040503050406030204" pitchFamily="18" charset="0"/>
                      </a:rPr>
                      <m:t>𝑑𝑒</m:t>
                    </m:r>
                    <m:r>
                      <a:rPr lang="es-ES" i="1" dirty="0">
                        <a:latin typeface="Cambria Math" panose="02040503050406030204" pitchFamily="18" charset="0"/>
                      </a:rPr>
                      <m:t> </m:t>
                    </m:r>
                    <m:r>
                      <a:rPr lang="es-ES" i="1" dirty="0" err="1">
                        <a:latin typeface="Cambria Math" panose="02040503050406030204" pitchFamily="18" charset="0"/>
                      </a:rPr>
                      <m:t>𝑓𝑟𝑎𝑐𝑎𝑠𝑜</m:t>
                    </m:r>
                    <m:r>
                      <a:rPr lang="es-ES" i="1" dirty="0">
                        <a:latin typeface="Cambria Math" panose="02040503050406030204" pitchFamily="18" charset="0"/>
                      </a:rPr>
                      <m:t> </m:t>
                    </m:r>
                    <m:r>
                      <a:rPr lang="es-ES" i="1" dirty="0">
                        <a:latin typeface="Cambria Math" panose="02040503050406030204" pitchFamily="18" charset="0"/>
                      </a:rPr>
                      <m:t>𝑒𝑛</m:t>
                    </m:r>
                    <m:r>
                      <a:rPr lang="es-ES" i="1" dirty="0">
                        <a:latin typeface="Cambria Math" panose="02040503050406030204" pitchFamily="18" charset="0"/>
                      </a:rPr>
                      <m:t> </m:t>
                    </m:r>
                    <m:r>
                      <a:rPr lang="es-ES" i="1" dirty="0">
                        <a:latin typeface="Cambria Math" panose="02040503050406030204" pitchFamily="18" charset="0"/>
                      </a:rPr>
                      <m:t>𝑢𝑛</m:t>
                    </m:r>
                    <m:r>
                      <a:rPr lang="es-ES" i="1" dirty="0">
                        <a:latin typeface="Cambria Math" panose="02040503050406030204" pitchFamily="18" charset="0"/>
                      </a:rPr>
                      <m:t> </m:t>
                    </m:r>
                    <m:r>
                      <a:rPr lang="es-ES" i="1" dirty="0" err="1">
                        <a:latin typeface="Cambria Math" panose="02040503050406030204" pitchFamily="18" charset="0"/>
                      </a:rPr>
                      <m:t>𝑒𝑛𝑠𝑎𝑦𝑜</m:t>
                    </m:r>
                    <m:r>
                      <a:rPr lang="es-ES" i="1" dirty="0">
                        <a:latin typeface="Cambria Math" panose="02040503050406030204" pitchFamily="18" charset="0"/>
                      </a:rPr>
                      <m:t> = </m:t>
                    </m:r>
                    <m:r>
                      <a:rPr lang="es-ES" i="1" dirty="0">
                        <a:latin typeface="Cambria Math" panose="02040503050406030204" pitchFamily="18" charset="0"/>
                      </a:rPr>
                      <m:t>1</m:t>
                    </m:r>
                    <m:r>
                      <a:rPr lang="es-ES" i="1" dirty="0">
                        <a:latin typeface="Cambria Math" panose="02040503050406030204" pitchFamily="18" charset="0"/>
                      </a:rPr>
                      <m:t>−</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17</m:t>
                    </m:r>
                    <m:r>
                      <a:rPr lang="es-ES" i="1" dirty="0">
                        <a:latin typeface="Cambria Math" panose="02040503050406030204" pitchFamily="18" charset="0"/>
                      </a:rPr>
                      <m:t> = </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83</m:t>
                    </m:r>
                    <m:r>
                      <a:rPr lang="es-ES" i="1" dirty="0">
                        <a:latin typeface="Cambria Math" panose="02040503050406030204" pitchFamily="18" charset="0"/>
                      </a:rPr>
                      <m:t> </m:t>
                    </m:r>
                  </m:oMath>
                </a14:m>
                <a:endParaRPr lang="es-ES" dirty="0"/>
              </a:p>
              <a:p>
                <a:r>
                  <a:rPr lang="es-ES" dirty="0" err="1"/>
                  <a:t>Función</a:t>
                </a:r>
                <a:r>
                  <a:rPr lang="es-ES" dirty="0"/>
                  <a:t> de masa de </a:t>
                </a:r>
                <a:r>
                  <a:rPr lang="es-ES" dirty="0" err="1"/>
                  <a:t>probabilidad</a:t>
                </a:r>
                <a:r>
                  <a:rPr lang="es-ES" dirty="0"/>
                  <a:t> (</a:t>
                </a:r>
                <a:r>
                  <a:rPr lang="es-ES" dirty="0" err="1"/>
                  <a:t>pmf</a:t>
                </a:r>
                <a:r>
                  <a:rPr lang="es-ES" dirty="0"/>
                  <a:t>)</a:t>
                </a:r>
                <a:endParaRPr lang="es-ES" b="0" i="1" dirty="0">
                  <a:latin typeface="Cambria Math" panose="02040503050406030204" pitchFamily="18" charset="0"/>
                </a:endParaRPr>
              </a:p>
              <a:p>
                <a:pPr lvl="1"/>
                <a14:m>
                  <m:oMath xmlns:m="http://schemas.openxmlformats.org/officeDocument/2006/math">
                    <m:r>
                      <a:rPr lang="es-ES"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𝑥</m:t>
                        </m:r>
                      </m:e>
                    </m:d>
                    <m:r>
                      <a:rPr lang="ar-AE" i="1">
                        <a:latin typeface="Cambria Math" panose="02040503050406030204" pitchFamily="18" charset="0"/>
                      </a:rPr>
                      <m:t>=</m:t>
                    </m:r>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ar-AE" b="0" i="1" smtClean="0">
                                  <a:latin typeface="Cambria Math" panose="02040503050406030204" pitchFamily="18" charset="0"/>
                                </a:rPr>
                                <m:t>1</m:t>
                              </m:r>
                              <m:r>
                                <a:rPr lang="ar-AE" b="0" i="1" smtClean="0">
                                  <a:latin typeface="Cambria Math" panose="02040503050406030204" pitchFamily="18" charset="0"/>
                                </a:rPr>
                                <m:t>0</m:t>
                              </m:r>
                            </m:e>
                          </m:mr>
                          <m:mr>
                            <m:e>
                              <m:r>
                                <a:rPr lang="ar-AE" i="1">
                                  <a:latin typeface="Cambria Math" panose="02040503050406030204" pitchFamily="18" charset="0"/>
                                </a:rPr>
                                <m:t>𝑥</m:t>
                              </m:r>
                            </m:e>
                          </m:mr>
                        </m:m>
                      </m:e>
                    </m:d>
                    <m:sSup>
                      <m:sSupPr>
                        <m:ctrlPr>
                          <a:rPr lang="ar-AE" i="1">
                            <a:latin typeface="Cambria Math" panose="02040503050406030204" pitchFamily="18" charset="0"/>
                          </a:rPr>
                        </m:ctrlPr>
                      </m:sSup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17</m:t>
                        </m:r>
                      </m:e>
                      <m:sup>
                        <m:r>
                          <a:rPr lang="ar-AE" i="1">
                            <a:latin typeface="Cambria Math" panose="02040503050406030204" pitchFamily="18" charset="0"/>
                          </a:rPr>
                          <m:t>𝑥</m:t>
                        </m:r>
                      </m:sup>
                    </m:sSup>
                    <m:sSup>
                      <m:sSupPr>
                        <m:ctrlPr>
                          <a:rPr lang="ar-AE" i="1">
                            <a:latin typeface="Cambria Math" panose="02040503050406030204" pitchFamily="18" charset="0"/>
                          </a:rPr>
                        </m:ctrlPr>
                      </m:sSup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83</m:t>
                        </m:r>
                      </m:e>
                      <m:sup>
                        <m:r>
                          <a:rPr lang="ar-AE" b="0" i="1" smtClean="0">
                            <a:latin typeface="Cambria Math" panose="02040503050406030204" pitchFamily="18" charset="0"/>
                          </a:rPr>
                          <m:t>10</m:t>
                        </m:r>
                        <m:r>
                          <a:rPr lang="ar-AE" i="1">
                            <a:latin typeface="Cambria Math" panose="02040503050406030204" pitchFamily="18" charset="0"/>
                          </a:rPr>
                          <m:t>−</m:t>
                        </m:r>
                        <m:r>
                          <a:rPr lang="ar-AE" i="1">
                            <a:latin typeface="Cambria Math" panose="02040503050406030204" pitchFamily="18" charset="0"/>
                          </a:rPr>
                          <m:t>𝑥</m:t>
                        </m:r>
                      </m:sup>
                    </m:sSup>
                  </m:oMath>
                </a14:m>
                <a:r>
                  <a:rPr lang="ar-AE" dirty="0"/>
                  <a:t>	</a:t>
                </a:r>
              </a:p>
              <a:p>
                <a:pPr lvl="1"/>
                <a14:m>
                  <m:oMath xmlns:m="http://schemas.openxmlformats.org/officeDocument/2006/math">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0</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155</m:t>
                    </m:r>
                    <m:r>
                      <a:rPr lang="ar-AE" b="0" i="1" smtClean="0">
                        <a:latin typeface="Cambria Math" panose="02040503050406030204" pitchFamily="18" charset="0"/>
                      </a:rPr>
                      <m:t>; </m:t>
                    </m:r>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1</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318</m:t>
                    </m:r>
                    <m:r>
                      <a:rPr lang="ar-AE" b="0" i="1" smtClean="0">
                        <a:latin typeface="Cambria Math" panose="02040503050406030204" pitchFamily="18" charset="0"/>
                      </a:rPr>
                      <m:t>; </m:t>
                    </m:r>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2</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293</m:t>
                    </m:r>
                  </m:oMath>
                </a14:m>
                <a:r>
                  <a:rPr lang="ar-AE" dirty="0"/>
                  <a:t> ...</a:t>
                </a:r>
              </a:p>
              <a:p>
                <a:pPr>
                  <a:tabLst>
                    <a:tab pos="2784475" algn="l"/>
                  </a:tabLst>
                </a:pPr>
                <a:r>
                  <a:rPr lang="es-ES" dirty="0" err="1"/>
                  <a:t>Función</a:t>
                </a:r>
                <a:r>
                  <a:rPr lang="es-ES" dirty="0"/>
                  <a:t> de </a:t>
                </a:r>
                <a:r>
                  <a:rPr lang="es-ES" dirty="0" err="1"/>
                  <a:t>distribución</a:t>
                </a:r>
                <a:r>
                  <a:rPr lang="es-ES" dirty="0"/>
                  <a:t> acumulada (</a:t>
                </a:r>
                <a:r>
                  <a:rPr lang="es-ES" dirty="0" err="1"/>
                  <a:t>cdf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nary>
                      <m:naryPr>
                        <m:chr m:val="∑"/>
                        <m:ctrlPr>
                          <a:rPr lang="ar-AE" i="1">
                            <a:latin typeface="Cambria Math" panose="02040503050406030204" pitchFamily="18" charset="0"/>
                            <a:ea typeface="Cambria Math" panose="02040503050406030204" pitchFamily="18" charset="0"/>
                          </a:rPr>
                        </m:ctrlPr>
                      </m:naryPr>
                      <m:sub>
                        <m:r>
                          <m:rPr>
                            <m:brk m:alnAt="23"/>
                          </m:rPr>
                          <a:rPr lang="ar-AE" i="1">
                            <a:latin typeface="Cambria Math" panose="02040503050406030204" pitchFamily="18" charset="0"/>
                            <a:ea typeface="Cambria Math" panose="02040503050406030204" pitchFamily="18" charset="0"/>
                          </a:rPr>
                          <m:t>𝑖</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0</m:t>
                        </m:r>
                      </m:sub>
                      <m:sup>
                        <m:r>
                          <a:rPr lang="ar-AE" i="1">
                            <a:latin typeface="Cambria Math" panose="02040503050406030204" pitchFamily="18" charset="0"/>
                            <a:ea typeface="Cambria Math" panose="02040503050406030204" pitchFamily="18" charset="0"/>
                          </a:rPr>
                          <m:t>𝑥</m:t>
                        </m:r>
                      </m:sup>
                      <m:e>
                        <m:r>
                          <a:rPr lang="ar-AE" i="1">
                            <a:latin typeface="Cambria Math" panose="02040503050406030204" pitchFamily="18" charset="0"/>
                            <a:ea typeface="Cambria Math" panose="02040503050406030204" pitchFamily="18" charset="0"/>
                          </a:rPr>
                          <m:t>𝑃</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𝑖</m:t>
                        </m:r>
                        <m:r>
                          <a:rPr lang="ar-AE" i="1">
                            <a:latin typeface="Cambria Math" panose="02040503050406030204" pitchFamily="18" charset="0"/>
                            <a:ea typeface="Cambria Math" panose="02040503050406030204" pitchFamily="18" charset="0"/>
                          </a:rPr>
                          <m:t>)</m:t>
                        </m:r>
                      </m:e>
                    </m:nary>
                  </m:oMath>
                </a14:m>
                <a:endParaRPr lang="ar-AE" dirty="0"/>
              </a:p>
              <a:p>
                <a:pPr lvl="1">
                  <a:tabLst>
                    <a:tab pos="2784475" algn="l"/>
                  </a:tabLst>
                </a:pPr>
                <a14:m>
                  <m:oMath xmlns:m="http://schemas.openxmlformats.org/officeDocument/2006/math">
                    <m:r>
                      <a:rPr lang="ar-AE"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0</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155</m:t>
                    </m:r>
                    <m:r>
                      <a:rPr lang="ar-AE" b="0" i="1" smtClean="0">
                        <a:latin typeface="Cambria Math" panose="02040503050406030204" pitchFamily="18" charset="0"/>
                      </a:rPr>
                      <m:t>;  </m:t>
                    </m:r>
                    <m:r>
                      <a:rPr lang="ar-AE"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1</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473</m:t>
                    </m:r>
                    <m:r>
                      <a:rPr lang="ar-AE" b="0" i="1" smtClean="0">
                        <a:latin typeface="Cambria Math" panose="02040503050406030204" pitchFamily="18" charset="0"/>
                      </a:rPr>
                      <m:t>; .. ; </m:t>
                    </m:r>
                    <m:r>
                      <a:rPr lang="ar-AE"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10</m:t>
                        </m:r>
                      </m:e>
                    </m:d>
                    <m:r>
                      <a:rPr lang="ar-AE" b="0" i="1" smtClean="0">
                        <a:latin typeface="Cambria Math" panose="02040503050406030204" pitchFamily="18" charset="0"/>
                      </a:rPr>
                      <m:t>=</m:t>
                    </m:r>
                    <m:r>
                      <a:rPr lang="ar-AE" b="0" i="1" smtClean="0">
                        <a:latin typeface="Cambria Math" panose="02040503050406030204" pitchFamily="18" charset="0"/>
                      </a:rPr>
                      <m:t>1</m:t>
                    </m:r>
                  </m:oMath>
                </a14:m>
                <a:endParaRPr lang="ar-AE" dirty="0"/>
              </a:p>
              <a:p>
                <a:pPr>
                  <a:tabLst>
                    <a:tab pos="2784475" algn="l"/>
                  </a:tabLst>
                </a:pPr>
                <a:r>
                  <a:rPr lang="es-ES" dirty="0"/>
                  <a:t>Esperanza: </a:t>
                </a: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𝑛𝑝</m:t>
                    </m:r>
                    <m:r>
                      <a:rPr lang="ar-AE" b="0" i="1" smtClean="0">
                        <a:latin typeface="Cambria Math" panose="02040503050406030204" pitchFamily="18" charset="0"/>
                      </a:rPr>
                      <m:t>=</m:t>
                    </m:r>
                    <m:d>
                      <m:dPr>
                        <m:ctrlPr>
                          <a:rPr lang="ar-AE" b="0" i="1" smtClean="0">
                            <a:latin typeface="Cambria Math" panose="02040503050406030204" pitchFamily="18" charset="0"/>
                          </a:rPr>
                        </m:ctrlPr>
                      </m:dPr>
                      <m:e>
                        <m:r>
                          <a:rPr lang="ar-AE" b="0" i="1" smtClean="0">
                            <a:latin typeface="Cambria Math" panose="02040503050406030204" pitchFamily="18" charset="0"/>
                          </a:rPr>
                          <m:t>10</m:t>
                        </m:r>
                      </m:e>
                    </m:d>
                    <m:d>
                      <m:dPr>
                        <m:ctrlPr>
                          <a:rPr lang="ar-AE" b="0" i="1" smtClean="0">
                            <a:latin typeface="Cambria Math" panose="02040503050406030204" pitchFamily="18" charset="0"/>
                          </a:rPr>
                        </m:ctrlPr>
                      </m:d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17</m:t>
                        </m:r>
                      </m:e>
                    </m:d>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7</m:t>
                    </m:r>
                    <m:r>
                      <a:rPr lang="es-ES" b="0" i="1" smtClean="0">
                        <a:latin typeface="Cambria Math" panose="02040503050406030204" pitchFamily="18" charset="0"/>
                      </a:rPr>
                      <m:t> é</m:t>
                    </m:r>
                    <m:r>
                      <a:rPr lang="es-ES" b="0" i="1" smtClean="0">
                        <a:latin typeface="Cambria Math" panose="02040503050406030204" pitchFamily="18" charset="0"/>
                      </a:rPr>
                      <m:t>𝑥𝑖𝑡𝑜𝑠</m:t>
                    </m:r>
                  </m:oMath>
                </a14:m>
                <a:r>
                  <a:rPr lang="ar-AE" dirty="0"/>
                  <a:t> </a:t>
                </a:r>
              </a:p>
              <a:p>
                <a:pPr>
                  <a:tabLst>
                    <a:tab pos="2784475" algn="l"/>
                  </a:tabLst>
                </a:pPr>
                <a:r>
                  <a:rPr lang="es-ES" dirty="0" err="1"/>
                  <a:t>Varianza</a:t>
                </a:r>
                <a:r>
                  <a:rPr lang="es-ES" dirty="0"/>
                  <a:t>: </a:t>
                </a:r>
                <a14:m>
                  <m:oMath xmlns:m="http://schemas.openxmlformats.org/officeDocument/2006/math">
                    <m:r>
                      <a:rPr lang="es-ES" b="0" i="1" smtClean="0">
                        <a:latin typeface="Cambria Math" panose="02040503050406030204" pitchFamily="18" charset="0"/>
                      </a:rPr>
                      <m:t>𝑉𝑎𝑟</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𝑛𝑝</m:t>
                    </m:r>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r>
                      <a:rPr lang="ar-AE" b="0" i="1" smtClean="0">
                        <a:latin typeface="Cambria Math" panose="02040503050406030204" pitchFamily="18" charset="0"/>
                      </a:rPr>
                      <m:t>10</m:t>
                    </m:r>
                    <m:r>
                      <a:rPr lang="ar-AE" b="0" i="1" smtClean="0">
                        <a:latin typeface="Cambria Math" panose="02040503050406030204" pitchFamily="18" charset="0"/>
                      </a:rPr>
                      <m:t>)</m:t>
                    </m:r>
                    <m:d>
                      <m:dPr>
                        <m:ctrlPr>
                          <a:rPr lang="ar-AE" b="0" i="1" smtClean="0">
                            <a:latin typeface="Cambria Math" panose="02040503050406030204" pitchFamily="18" charset="0"/>
                          </a:rPr>
                        </m:ctrlPr>
                      </m:d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17</m:t>
                        </m:r>
                      </m:e>
                    </m:d>
                    <m:d>
                      <m:dPr>
                        <m:ctrlPr>
                          <a:rPr lang="ar-AE" b="0" i="1" smtClean="0">
                            <a:latin typeface="Cambria Math" panose="02040503050406030204" pitchFamily="18" charset="0"/>
                          </a:rPr>
                        </m:ctrlPr>
                      </m:d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83</m:t>
                        </m:r>
                      </m:e>
                    </m:d>
                    <m:r>
                      <a:rPr lang="ar-AE" b="0" i="1" smtClean="0">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411</m:t>
                    </m:r>
                    <m:r>
                      <a:rPr lang="es-ES" i="1">
                        <a:latin typeface="Cambria Math" panose="02040503050406030204" pitchFamily="18" charset="0"/>
                      </a:rPr>
                      <m:t> </m:t>
                    </m:r>
                    <m:sSup>
                      <m:sSupPr>
                        <m:ctrlPr>
                          <a:rPr lang="ar-AE" i="1">
                            <a:latin typeface="Cambria Math" panose="02040503050406030204" pitchFamily="18" charset="0"/>
                          </a:rPr>
                        </m:ctrlPr>
                      </m:sSupPr>
                      <m:e>
                        <m:r>
                          <a:rPr lang="es-ES" i="1">
                            <a:latin typeface="Cambria Math" panose="02040503050406030204" pitchFamily="18" charset="0"/>
                          </a:rPr>
                          <m:t>é</m:t>
                        </m:r>
                        <m:r>
                          <a:rPr lang="es-ES" i="1">
                            <a:latin typeface="Cambria Math" panose="02040503050406030204" pitchFamily="18" charset="0"/>
                          </a:rPr>
                          <m:t>𝑥𝑖𝑡𝑜𝑠</m:t>
                        </m:r>
                      </m:e>
                      <m:sup>
                        <m:r>
                          <a:rPr lang="es-ES" i="1">
                            <a:latin typeface="Cambria Math" panose="02040503050406030204" pitchFamily="18" charset="0"/>
                          </a:rPr>
                          <m:t>2</m:t>
                        </m:r>
                      </m:sup>
                    </m:sSup>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5"/>
                <a:ext cx="6263640" cy="4351338"/>
              </a:xfrm>
              <a:blipFill>
                <a:blip r:embed="rId2"/>
                <a:stretch>
                  <a:fillRect l="-682"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48</a:t>
            </a:fld>
            <a:endParaRPr lang="es-ES"/>
          </a:p>
        </p:txBody>
      </p:sp>
      <p:pic>
        <p:nvPicPr>
          <p:cNvPr id="6" name="Imagen 5">
            <a:extLst>
              <a:ext uri="{FF2B5EF4-FFF2-40B4-BE49-F238E27FC236}">
                <a16:creationId xmlns:a16="http://schemas.microsoft.com/office/drawing/2014/main" id="{9AA8EED1-39BD-FD25-6D27-483C1CBA8961}"/>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236310" y="3057567"/>
            <a:ext cx="552499" cy="580305"/>
          </a:xfrm>
          <a:prstGeom prst="rect">
            <a:avLst/>
          </a:prstGeom>
        </p:spPr>
      </p:pic>
      <p:pic>
        <p:nvPicPr>
          <p:cNvPr id="21" name="Imagen 20">
            <a:extLst>
              <a:ext uri="{FF2B5EF4-FFF2-40B4-BE49-F238E27FC236}">
                <a16:creationId xmlns:a16="http://schemas.microsoft.com/office/drawing/2014/main" id="{A4C06388-DA4A-CDA6-4B3C-7605150C9C75}"/>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01840" y="4194176"/>
            <a:ext cx="4951564" cy="2039238"/>
          </a:xfrm>
          <a:prstGeom prst="rect">
            <a:avLst/>
          </a:prstGeom>
        </p:spPr>
      </p:pic>
      <p:pic>
        <p:nvPicPr>
          <p:cNvPr id="23" name="Imagen 22">
            <a:extLst>
              <a:ext uri="{FF2B5EF4-FFF2-40B4-BE49-F238E27FC236}">
                <a16:creationId xmlns:a16="http://schemas.microsoft.com/office/drawing/2014/main" id="{85143D44-34D5-9762-3629-D9BF6E6B2DBA}"/>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101840" y="1825626"/>
            <a:ext cx="4951564" cy="2067754"/>
          </a:xfrm>
          <a:prstGeom prst="rect">
            <a:avLst/>
          </a:prstGeom>
        </p:spPr>
      </p:pic>
      <p:sp>
        <p:nvSpPr>
          <p:cNvPr id="5" name="CuadroTexto 4">
            <a:extLst>
              <a:ext uri="{FF2B5EF4-FFF2-40B4-BE49-F238E27FC236}">
                <a16:creationId xmlns:a16="http://schemas.microsoft.com/office/drawing/2014/main" id="{E865F8A9-7CE3-277A-67A3-0A8C2EB8948B}"/>
              </a:ext>
              <a:ext uri="{C183D7F6-B498-43B3-948B-1728B52AA6E4}">
                <adec:decorative xmlns:adec="http://schemas.microsoft.com/office/drawing/2017/decorative" val="1"/>
              </a:ext>
            </a:extLst>
          </p:cNvPr>
          <p:cNvSpPr txBox="1"/>
          <p:nvPr/>
        </p:nvSpPr>
        <p:spPr>
          <a:xfrm>
            <a:off x="8067040" y="3859338"/>
            <a:ext cx="782319" cy="276999"/>
          </a:xfrm>
          <a:prstGeom prst="rect">
            <a:avLst/>
          </a:prstGeom>
          <a:noFill/>
          <a:ln>
            <a:solidFill>
              <a:srgbClr val="C00000"/>
            </a:solidFill>
          </a:ln>
        </p:spPr>
        <p:txBody>
          <a:bodyPr wrap="square">
            <a:spAutoFit/>
          </a:bodyPr>
          <a:lstStyle/>
          <a:p>
            <a:pPr>
              <a:defRPr sz="1200" b="1">
                <a:solidFill>
                  <a:srgbClr val="C00000"/>
                </a:solidFill>
              </a:defRPr>
            </a:pPr>
            <a:r>
              <a:t>E(X)=1,7</a:t>
            </a:r>
          </a:p>
        </p:txBody>
      </p:sp>
      <p:sp>
        <p:nvSpPr>
          <p:cNvPr id="7" name="Flecha: hacia abajo 6">
            <a:extLst>
              <a:ext uri="{FF2B5EF4-FFF2-40B4-BE49-F238E27FC236}">
                <a16:creationId xmlns:a16="http://schemas.microsoft.com/office/drawing/2014/main" id="{0253F30A-A38B-7935-D44F-5FF57A2FF9D6}"/>
              </a:ext>
              <a:ext uri="{C183D7F6-B498-43B3-948B-1728B52AA6E4}">
                <adec:decorative xmlns:adec="http://schemas.microsoft.com/office/drawing/2017/decorative" val="1"/>
              </a:ext>
            </a:extLst>
          </p:cNvPr>
          <p:cNvSpPr/>
          <p:nvPr/>
        </p:nvSpPr>
        <p:spPr>
          <a:xfrm flipV="1">
            <a:off x="8458199" y="3585460"/>
            <a:ext cx="131756" cy="2769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p>
        </p:txBody>
      </p:sp>
    </p:spTree>
    <p:extLst>
      <p:ext uri="{BB962C8B-B14F-4D97-AF65-F5344CB8AC3E}">
        <p14:creationId xmlns:p14="http://schemas.microsoft.com/office/powerpoint/2010/main" val="24588670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65C2A-2D45-7794-22E3-6EA892B834E2}"/>
              </a:ext>
            </a:extLst>
          </p:cNvPr>
          <p:cNvSpPr>
            <a:spLocks noGrp="1"/>
          </p:cNvSpPr>
          <p:nvPr>
            <p:ph type="title"/>
          </p:nvPr>
        </p:nvSpPr>
        <p:spPr/>
        <p:txBody>
          <a:bodyPr>
            <a:normAutofit fontScale="90000"/>
          </a:bodyPr>
          <a:lstStyle/>
          <a:p>
            <a:r>
              <a:rPr lang="es-ES" dirty="0"/>
              <a:t>9. D</a:t>
            </a:r>
            <a:r>
              <a:rPr dirty="0" err="1"/>
              <a:t>istribución</a:t>
            </a:r>
            <a:r>
              <a:rPr dirty="0"/>
              <a:t> </a:t>
            </a:r>
            <a:r>
              <a:rPr lang="es-ES" dirty="0"/>
              <a:t>Binomial</a:t>
            </a:r>
            <a:br>
              <a:rPr lang="es-ES" dirty="0"/>
            </a:br>
            <a:r>
              <a:rPr dirty="0" err="1"/>
              <a:t>Ejemplo</a:t>
            </a:r>
            <a:r>
              <a:rPr dirty="0"/>
              <a:t> 3.16 (</a:t>
            </a:r>
            <a:r>
              <a:rPr lang="es-ES" dirty="0"/>
              <a:t>Suscripción de conexión a </a:t>
            </a:r>
            <a:r>
              <a:rPr dirty="0"/>
              <a:t>Internet)</a:t>
            </a:r>
          </a:p>
        </p:txBody>
      </p:sp>
      <p:sp>
        <p:nvSpPr>
          <p:cNvPr id="3" name="Marcador de contenido 2">
            <a:extLst>
              <a:ext uri="{FF2B5EF4-FFF2-40B4-BE49-F238E27FC236}">
                <a16:creationId xmlns:a16="http://schemas.microsoft.com/office/drawing/2014/main" id="{111CA46C-8793-7F0A-3B46-8CBB27760382}"/>
              </a:ext>
            </a:extLst>
          </p:cNvPr>
          <p:cNvSpPr>
            <a:spLocks noGrp="1"/>
          </p:cNvSpPr>
          <p:nvPr>
            <p:ph idx="1"/>
          </p:nvPr>
        </p:nvSpPr>
        <p:spPr/>
        <p:txBody>
          <a:bodyPr/>
          <a:lstStyle/>
          <a:p>
            <a:r>
              <a:t>Como parte de una estrategia de negocio, el 20 % de los nuevos suscriptores de servicios de Internet seleccionados al azar reciben una promoción especial del proveedor. </a:t>
            </a:r>
          </a:p>
          <a:p>
            <a:r>
              <a:t>Un grupo de 10 vecinos firma para el servicio.</a:t>
            </a:r>
          </a:p>
          <a:p>
            <a:r>
              <a:t>¿Cuál es la probabilidad de que al menos 4 de ellos obtengan una promoción especial?</a:t>
            </a:r>
          </a:p>
        </p:txBody>
      </p:sp>
      <p:sp>
        <p:nvSpPr>
          <p:cNvPr id="4" name="Marcador de número de diapositiva 3">
            <a:extLst>
              <a:ext uri="{FF2B5EF4-FFF2-40B4-BE49-F238E27FC236}">
                <a16:creationId xmlns:a16="http://schemas.microsoft.com/office/drawing/2014/main" id="{0CF17A2E-B3E3-E697-AB61-6FD8AE808DC6}"/>
              </a:ext>
            </a:extLst>
          </p:cNvPr>
          <p:cNvSpPr>
            <a:spLocks noGrp="1"/>
          </p:cNvSpPr>
          <p:nvPr>
            <p:ph type="sldNum" sz="quarter" idx="12"/>
          </p:nvPr>
        </p:nvSpPr>
        <p:spPr/>
        <p:txBody>
          <a:bodyPr/>
          <a:lstStyle/>
          <a:p>
            <a:fld id="{336CAFD0-1F6E-4E11-9822-836563A02839}" type="slidenum">
              <a:rPr lang="es-ES" smtClean="0"/>
              <a:t>49</a:t>
            </a:fld>
            <a:endParaRPr lang="es-ES"/>
          </a:p>
        </p:txBody>
      </p:sp>
    </p:spTree>
    <p:extLst>
      <p:ext uri="{BB962C8B-B14F-4D97-AF65-F5344CB8AC3E}">
        <p14:creationId xmlns:p14="http://schemas.microsoft.com/office/powerpoint/2010/main" val="27591126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65C2A-2D45-7794-22E3-6EA892B834E2}"/>
              </a:ext>
            </a:extLst>
          </p:cNvPr>
          <p:cNvSpPr>
            <a:spLocks noGrp="1"/>
          </p:cNvSpPr>
          <p:nvPr>
            <p:ph type="title"/>
          </p:nvPr>
        </p:nvSpPr>
        <p:spPr/>
        <p:txBody>
          <a:bodyPr/>
          <a:lstStyle/>
          <a:p>
            <a:r>
              <a:rPr lang="es-ES" dirty="0"/>
              <a:t>9. D</a:t>
            </a:r>
            <a:r>
              <a:rPr dirty="0" err="1"/>
              <a:t>istribución</a:t>
            </a:r>
            <a:r>
              <a:rPr dirty="0"/>
              <a:t> </a:t>
            </a:r>
            <a:r>
              <a:rPr lang="es-ES" dirty="0"/>
              <a:t>Binomial</a:t>
            </a:r>
            <a:br>
              <a:rPr lang="es-ES" dirty="0"/>
            </a:br>
            <a:r>
              <a:rPr dirty="0" err="1"/>
              <a:t>Ejemplo</a:t>
            </a:r>
            <a:r>
              <a:rPr dirty="0"/>
              <a:t> 3.16 (</a:t>
            </a:r>
            <a:r>
              <a:rPr dirty="0" err="1"/>
              <a:t>Solución</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11CA46C-8793-7F0A-3B46-8CBB27760382}"/>
                  </a:ext>
                </a:extLst>
              </p:cNvPr>
              <p:cNvSpPr>
                <a:spLocks noGrp="1"/>
              </p:cNvSpPr>
              <p:nvPr>
                <p:ph idx="1"/>
              </p:nvPr>
            </p:nvSpPr>
            <p:spPr/>
            <p:txBody>
              <a:bodyPr>
                <a:normAutofit fontScale="92500" lnSpcReduction="10000"/>
              </a:bodyPr>
              <a:lstStyle/>
              <a:p>
                <a:r>
                  <a:rPr lang="es-ES" dirty="0"/>
                  <a:t>X: Número de personas que obtienen una promoción especial (éxitos), sobre 10 personas que solicitan el servicio (ensayos)</a:t>
                </a:r>
              </a:p>
              <a:p>
                <a:pPr lvl="1"/>
                <a:r>
                  <a:rPr lang="es-ES" dirty="0"/>
                  <a:t>X es </a:t>
                </a:r>
                <a:r>
                  <a:rPr lang="es-ES" dirty="0" err="1"/>
                  <a:t>el</a:t>
                </a:r>
                <a:r>
                  <a:rPr lang="es-ES" dirty="0"/>
                  <a:t> </a:t>
                </a:r>
                <a:r>
                  <a:rPr lang="es-ES" dirty="0" err="1"/>
                  <a:t>número</a:t>
                </a:r>
                <a:r>
                  <a:rPr lang="es-ES" dirty="0"/>
                  <a:t> de </a:t>
                </a:r>
                <a:r>
                  <a:rPr lang="es-ES" dirty="0" err="1"/>
                  <a:t>éxitos</a:t>
                </a:r>
                <a:r>
                  <a:rPr lang="es-ES" dirty="0"/>
                  <a:t> en 10 </a:t>
                </a:r>
                <a:r>
                  <a:rPr lang="es-ES" dirty="0" err="1"/>
                  <a:t>ensayos</a:t>
                </a:r>
                <a:r>
                  <a:rPr lang="es-ES" dirty="0"/>
                  <a:t> de Bernoulli</a:t>
                </a:r>
              </a:p>
              <a:p>
                <a:pPr lvl="1"/>
                <a:r>
                  <a:rPr lang="es-ES" dirty="0"/>
                  <a:t>X tiene distribución Binomial con parámetros n = 10 y p = 0,2.</a:t>
                </a:r>
              </a:p>
              <a:p>
                <a:r>
                  <a:rPr lang="es-ES" dirty="0" err="1"/>
                  <a:t>Necesitamos</a:t>
                </a:r>
                <a:r>
                  <a:rPr lang="es-ES" dirty="0"/>
                  <a:t> </a:t>
                </a:r>
                <a:r>
                  <a:rPr lang="es-ES" dirty="0" err="1"/>
                  <a:t>encontrar</a:t>
                </a:r>
                <a:r>
                  <a:rPr lang="es-ES" dirty="0"/>
                  <a:t> la </a:t>
                </a:r>
                <a:r>
                  <a:rPr lang="es-ES" dirty="0" err="1"/>
                  <a:t>probabilidad</a:t>
                </a:r>
                <a:r>
                  <a:rPr lang="es-ES" dirty="0"/>
                  <a:t> </a:t>
                </a:r>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 {</m:t>
                    </m:r>
                    <m:r>
                      <a:rPr lang="es-ES" i="1" dirty="0" smtClean="0">
                        <a:latin typeface="Cambria Math" panose="02040503050406030204" pitchFamily="18" charset="0"/>
                      </a:rPr>
                      <m:t>𝑋</m:t>
                    </m:r>
                    <m:r>
                      <a:rPr lang="es-ES" i="1" dirty="0" smtClean="0">
                        <a:latin typeface="Cambria Math" panose="02040503050406030204" pitchFamily="18" charset="0"/>
                      </a:rPr>
                      <m:t> ≥ </m:t>
                    </m:r>
                    <m:r>
                      <a:rPr lang="es-ES" i="1" dirty="0" smtClean="0">
                        <a:latin typeface="Cambria Math" panose="02040503050406030204" pitchFamily="18" charset="0"/>
                      </a:rPr>
                      <m:t>4</m:t>
                    </m:r>
                    <m:r>
                      <a:rPr lang="es-ES" i="1" dirty="0" smtClean="0">
                        <a:latin typeface="Cambria Math" panose="02040503050406030204" pitchFamily="18" charset="0"/>
                      </a:rPr>
                      <m:t>}</m:t>
                    </m:r>
                  </m:oMath>
                </a14:m>
                <a:endParaRPr lang="es-ES" dirty="0"/>
              </a:p>
              <a:p>
                <a14:m>
                  <m:oMath xmlns:m="http://schemas.openxmlformats.org/officeDocument/2006/math">
                    <m:r>
                      <a:rPr lang="es-ES"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4</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begChr m:val="{"/>
                        <m:endChr m:val="}"/>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4</m:t>
                        </m:r>
                      </m:e>
                    </m:d>
                    <m:r>
                      <a:rPr lang="ar-AE" b="0" i="1" smtClean="0">
                        <a:latin typeface="Cambria Math" panose="02040503050406030204" pitchFamily="18" charset="0"/>
                        <a:ea typeface="Cambria Math" panose="02040503050406030204" pitchFamily="18" charset="0"/>
                      </a:rPr>
                      <m:t>+ ..+</m:t>
                    </m:r>
                    <m:r>
                      <a:rPr lang="ar-AE" b="0" i="1" smtClean="0">
                        <a:latin typeface="Cambria Math" panose="02040503050406030204" pitchFamily="18" charset="0"/>
                        <a:ea typeface="Cambria Math" panose="02040503050406030204" pitchFamily="18" charset="0"/>
                      </a:rPr>
                      <m:t>𝑃</m:t>
                    </m:r>
                    <m:d>
                      <m:dPr>
                        <m:begChr m:val="{"/>
                        <m:endChr m:val="}"/>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10</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begChr m:val="{"/>
                        <m:endChr m:val="}"/>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3</m:t>
                        </m:r>
                      </m:e>
                    </m:d>
                  </m:oMath>
                </a14:m>
                <a:endParaRPr lang="ar-AE" b="0" dirty="0">
                  <a:ea typeface="Cambria Math" panose="02040503050406030204" pitchFamily="18" charset="0"/>
                </a:endParaRPr>
              </a:p>
              <a:p>
                <a:pPr lvl="1">
                  <a:defRPr>
                    <a:ea typeface="Cambria Math" panose="02040503050406030204" pitchFamily="18" charset="0"/>
                  </a:defRPr>
                </a:pPr>
                <a:r>
                  <a:rPr lang="es-ES" dirty="0" err="1"/>
                  <a:t>Opción</a:t>
                </a:r>
                <a:r>
                  <a:rPr lang="es-ES" dirty="0"/>
                  <a:t> 1: </a:t>
                </a:r>
                <a14:m>
                  <m:oMath xmlns:m="http://schemas.openxmlformats.org/officeDocument/2006/math">
                    <m:r>
                      <a:rPr lang="es-ES"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4</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0</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1</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2</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3</m:t>
                        </m:r>
                      </m:e>
                    </m:d>
                    <m:r>
                      <a:rPr lang="ar-AE" b="0" i="1" smtClean="0">
                        <a:latin typeface="Cambria Math" panose="02040503050406030204" pitchFamily="18" charset="0"/>
                        <a:ea typeface="Cambria Math" panose="02040503050406030204" pitchFamily="18" charset="0"/>
                      </a:rPr>
                      <m:t>)</m:t>
                    </m:r>
                  </m:oMath>
                </a14:m>
                <a:endParaRPr lang="ar-AE" dirty="0">
                  <a:ea typeface="Cambria Math" panose="02040503050406030204" pitchFamily="18" charset="0"/>
                </a:endParaRPr>
              </a:p>
              <a:p>
                <a:pPr lvl="1">
                  <a:defRPr>
                    <a:ea typeface="Cambria Math" panose="02040503050406030204" pitchFamily="18" charset="0"/>
                  </a:defRPr>
                </a:pPr>
                <a:r>
                  <a:rPr lang="es-ES" dirty="0" err="1"/>
                  <a:t>Opción</a:t>
                </a:r>
                <a:r>
                  <a:rPr lang="es-ES" dirty="0"/>
                  <a:t> 2: </a:t>
                </a:r>
                <a14:m>
                  <m:oMath xmlns:m="http://schemas.openxmlformats.org/officeDocument/2006/math">
                    <m:r>
                      <a:rPr lang="es-ES"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4</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𝐹</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3</m:t>
                    </m:r>
                    <m:r>
                      <a:rPr lang="ar-AE" b="0" i="1" smtClean="0">
                        <a:latin typeface="Cambria Math" panose="02040503050406030204" pitchFamily="18" charset="0"/>
                        <a:ea typeface="Cambria Math" panose="02040503050406030204" pitchFamily="18" charset="0"/>
                      </a:rPr>
                      <m:t>)</m:t>
                    </m:r>
                  </m:oMath>
                </a14:m>
                <a:endParaRPr lang="ar-AE" b="0" dirty="0">
                  <a:ea typeface="Cambria Math" panose="02040503050406030204" pitchFamily="18" charset="0"/>
                </a:endParaRPr>
              </a:p>
              <a:p>
                <a:pPr lvl="2">
                  <a:defRPr>
                    <a:ea typeface="Cambria Math" panose="02040503050406030204" pitchFamily="18" charset="0"/>
                  </a:defRPr>
                </a:pPr>
                <a:r>
                  <a:rPr lang="es-ES" dirty="0"/>
                  <a:t>F(3) puede calcularse utilizando una calculadora, un software estadístico o la Tabla A2 del libro</a:t>
                </a:r>
                <a:endParaRPr lang="es-ES" b="0" dirty="0">
                  <a:ea typeface="Cambria Math" panose="02040503050406030204" pitchFamily="18" charset="0"/>
                </a:endParaRPr>
              </a:p>
              <a:p>
                <a:pPr lvl="2"/>
                <a:r>
                  <a:rPr lang="es-ES" dirty="0"/>
                  <a:t>Usando un software estadístico como R, se obtiene F(3) = 0.8791261</a:t>
                </a:r>
              </a:p>
              <a:p>
                <a14:m>
                  <m:oMath xmlns:m="http://schemas.openxmlformats.org/officeDocument/2006/math">
                    <m:r>
                      <a:rPr lang="es-ES"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4</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8791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1209</m:t>
                    </m:r>
                  </m:oMath>
                </a14:m>
                <a:endParaRPr dirty="0"/>
              </a:p>
            </p:txBody>
          </p:sp>
        </mc:Choice>
        <mc:Fallback xmlns="">
          <p:sp>
            <p:nvSpPr>
              <p:cNvPr id="3" name="Marcador de contenido 2">
                <a:extLst>
                  <a:ext uri="{FF2B5EF4-FFF2-40B4-BE49-F238E27FC236}">
                    <a16:creationId xmlns:a16="http://schemas.microsoft.com/office/drawing/2014/main" id="{111CA46C-8793-7F0A-3B46-8CBB27760382}"/>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17A2E-B3E3-E697-AB61-6FD8AE808DC6}"/>
              </a:ext>
            </a:extLst>
          </p:cNvPr>
          <p:cNvSpPr>
            <a:spLocks noGrp="1"/>
          </p:cNvSpPr>
          <p:nvPr>
            <p:ph type="sldNum" sz="quarter" idx="12"/>
          </p:nvPr>
        </p:nvSpPr>
        <p:spPr/>
        <p:txBody>
          <a:bodyPr/>
          <a:lstStyle/>
          <a:p>
            <a:fld id="{336CAFD0-1F6E-4E11-9822-836563A02839}" type="slidenum">
              <a:rPr lang="es-ES" smtClean="0"/>
              <a:t>50</a:t>
            </a:fld>
            <a:endParaRPr lang="es-ES"/>
          </a:p>
        </p:txBody>
      </p:sp>
    </p:spTree>
    <p:extLst>
      <p:ext uri="{BB962C8B-B14F-4D97-AF65-F5344CB8AC3E}">
        <p14:creationId xmlns:p14="http://schemas.microsoft.com/office/powerpoint/2010/main" val="26606169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65C2A-2D45-7794-22E3-6EA892B834E2}"/>
              </a:ext>
            </a:extLst>
          </p:cNvPr>
          <p:cNvSpPr>
            <a:spLocks noGrp="1"/>
          </p:cNvSpPr>
          <p:nvPr>
            <p:ph type="title"/>
          </p:nvPr>
        </p:nvSpPr>
        <p:spPr/>
        <p:txBody>
          <a:bodyPr/>
          <a:lstStyle/>
          <a:p>
            <a:r>
              <a:rPr lang="es-ES" dirty="0"/>
              <a:t>9. D</a:t>
            </a:r>
            <a:r>
              <a:rPr dirty="0" err="1"/>
              <a:t>istribución</a:t>
            </a:r>
            <a:r>
              <a:rPr dirty="0"/>
              <a:t> </a:t>
            </a:r>
            <a:r>
              <a:rPr lang="es-ES" dirty="0"/>
              <a:t>Binomial</a:t>
            </a:r>
            <a:br>
              <a:rPr lang="es-ES" dirty="0"/>
            </a:br>
            <a:r>
              <a:rPr dirty="0" err="1"/>
              <a:t>Ejemplo</a:t>
            </a:r>
            <a:r>
              <a:rPr dirty="0"/>
              <a:t> 3.16 (</a:t>
            </a:r>
            <a:r>
              <a:rPr dirty="0" err="1"/>
              <a:t>Solución</a:t>
            </a:r>
            <a:r>
              <a:rPr dirty="0"/>
              <a:t>) </a:t>
            </a:r>
            <a:r>
              <a:rPr dirty="0" err="1"/>
              <a:t>Utilizando</a:t>
            </a:r>
            <a:r>
              <a:rPr dirty="0"/>
              <a:t> la </a:t>
            </a:r>
            <a:r>
              <a:rPr dirty="0" err="1"/>
              <a:t>tabla</a:t>
            </a:r>
            <a:r>
              <a:rPr dirty="0"/>
              <a:t> A2</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11CA46C-8793-7F0A-3B46-8CBB27760382}"/>
                  </a:ext>
                </a:extLst>
              </p:cNvPr>
              <p:cNvSpPr>
                <a:spLocks noGrp="1"/>
              </p:cNvSpPr>
              <p:nvPr>
                <p:ph idx="1"/>
              </p:nvPr>
            </p:nvSpPr>
            <p:spPr/>
            <p:txBody>
              <a:bodyPr/>
              <a:lstStyle/>
              <a:p>
                <a:pPr>
                  <a:defRPr>
                    <a:ea typeface="Cambria Math" panose="02040503050406030204" pitchFamily="18" charset="0"/>
                  </a:defRPr>
                </a:pPr>
                <a:r>
                  <a:rPr dirty="0"/>
                  <a:t>F(3) </a:t>
                </a:r>
                <a:r>
                  <a:rPr dirty="0" err="1"/>
                  <a:t>puede</a:t>
                </a:r>
                <a:r>
                  <a:rPr dirty="0"/>
                  <a:t> </a:t>
                </a:r>
                <a:r>
                  <a:rPr dirty="0" err="1"/>
                  <a:t>obtenerse</a:t>
                </a:r>
                <a:r>
                  <a:rPr dirty="0"/>
                  <a:t> </a:t>
                </a:r>
                <a:r>
                  <a:rPr dirty="0" err="1"/>
                  <a:t>utilizando</a:t>
                </a:r>
                <a:r>
                  <a:rPr dirty="0"/>
                  <a:t> la </a:t>
                </a:r>
                <a:r>
                  <a:rPr dirty="0" err="1"/>
                  <a:t>Tabla</a:t>
                </a:r>
                <a:r>
                  <a:rPr dirty="0"/>
                  <a:t> A2 del </a:t>
                </a:r>
                <a:r>
                  <a:rPr dirty="0" err="1"/>
                  <a:t>libro</a:t>
                </a:r>
                <a:endParaRPr b="0" dirty="0">
                  <a:ea typeface="Cambria Math" panose="02040503050406030204" pitchFamily="18" charset="0"/>
                </a:endParaRPr>
              </a:p>
              <a:p>
                <a:pPr lvl="1">
                  <a:defRPr>
                    <a:ea typeface="Cambria Math" panose="02040503050406030204" pitchFamily="18" charset="0"/>
                  </a:defRPr>
                </a:pP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m:t>
                    </m:r>
                    <m:r>
                      <a:rPr lang="es-ES" i="1" dirty="0" smtClean="0">
                        <a:latin typeface="Cambria Math" panose="02040503050406030204" pitchFamily="18" charset="0"/>
                      </a:rPr>
                      <m:t>10</m:t>
                    </m:r>
                    <m:r>
                      <a:rPr lang="es-ES"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2</m:t>
                    </m:r>
                    <m:r>
                      <a:rPr lang="es-ES" i="1" dirty="0" smtClean="0">
                        <a:latin typeface="Cambria Math" panose="02040503050406030204" pitchFamily="18" charset="0"/>
                      </a:rPr>
                      <m:t>, </m:t>
                    </m:r>
                    <m:r>
                      <a:rPr lang="es-ES" i="1" dirty="0" smtClean="0">
                        <a:latin typeface="Cambria Math" panose="02040503050406030204" pitchFamily="18" charset="0"/>
                      </a:rPr>
                      <m:t>𝑥</m:t>
                    </m:r>
                    <m:r>
                      <a:rPr lang="es-ES" i="1" dirty="0" smtClean="0">
                        <a:latin typeface="Cambria Math" panose="02040503050406030204" pitchFamily="18" charset="0"/>
                      </a:rPr>
                      <m:t>=</m:t>
                    </m:r>
                    <m:r>
                      <a:rPr lang="es-ES" i="1" dirty="0" smtClean="0">
                        <a:latin typeface="Cambria Math" panose="02040503050406030204" pitchFamily="18" charset="0"/>
                      </a:rPr>
                      <m:t>3</m:t>
                    </m:r>
                  </m:oMath>
                </a14:m>
                <a:endParaRPr dirty="0"/>
              </a:p>
              <a:p>
                <a:pPr lvl="1">
                  <a:defRPr>
                    <a:ea typeface="Cambria Math" panose="02040503050406030204" pitchFamily="18" charset="0"/>
                  </a:defRPr>
                </a:pPr>
                <a14:m>
                  <m:oMath xmlns:m="http://schemas.openxmlformats.org/officeDocument/2006/math">
                    <m:r>
                      <a:rPr lang="es-ES" i="1" dirty="0" smtClean="0">
                        <a:latin typeface="Cambria Math" panose="02040503050406030204" pitchFamily="18" charset="0"/>
                      </a:rPr>
                      <m:t>𝐹</m:t>
                    </m:r>
                    <m:r>
                      <a:rPr lang="es-ES" i="1" dirty="0" smtClean="0">
                        <a:latin typeface="Cambria Math" panose="02040503050406030204" pitchFamily="18" charset="0"/>
                      </a:rPr>
                      <m:t>(</m:t>
                    </m:r>
                    <m:r>
                      <a:rPr lang="es-ES" i="1" dirty="0" smtClean="0">
                        <a:latin typeface="Cambria Math" panose="02040503050406030204" pitchFamily="18" charset="0"/>
                      </a:rPr>
                      <m:t>3</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879</m:t>
                    </m:r>
                  </m:oMath>
                </a14:m>
                <a:endParaRPr dirty="0"/>
              </a:p>
            </p:txBody>
          </p:sp>
        </mc:Choice>
        <mc:Fallback xmlns="">
          <p:sp>
            <p:nvSpPr>
              <p:cNvPr id="3" name="Marcador de contenido 2">
                <a:extLst>
                  <a:ext uri="{FF2B5EF4-FFF2-40B4-BE49-F238E27FC236}">
                    <a16:creationId xmlns:a16="http://schemas.microsoft.com/office/drawing/2014/main" id="{111CA46C-8793-7F0A-3B46-8CBB2776038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17A2E-B3E3-E697-AB61-6FD8AE808DC6}"/>
              </a:ext>
            </a:extLst>
          </p:cNvPr>
          <p:cNvSpPr>
            <a:spLocks noGrp="1"/>
          </p:cNvSpPr>
          <p:nvPr>
            <p:ph type="sldNum" sz="quarter" idx="12"/>
          </p:nvPr>
        </p:nvSpPr>
        <p:spPr/>
        <p:txBody>
          <a:bodyPr/>
          <a:lstStyle/>
          <a:p>
            <a:fld id="{336CAFD0-1F6E-4E11-9822-836563A02839}" type="slidenum">
              <a:rPr lang="es-ES" smtClean="0"/>
              <a:t>51</a:t>
            </a:fld>
            <a:endParaRPr lang="es-ES"/>
          </a:p>
        </p:txBody>
      </p:sp>
      <p:grpSp>
        <p:nvGrpSpPr>
          <p:cNvPr id="9" name="Grupo 8">
            <a:extLst>
              <a:ext uri="{FF2B5EF4-FFF2-40B4-BE49-F238E27FC236}">
                <a16:creationId xmlns:a16="http://schemas.microsoft.com/office/drawing/2014/main" id="{8D0734A5-9495-5E12-EBE4-22600EC1787B}"/>
              </a:ext>
              <a:ext uri="{C183D7F6-B498-43B3-948B-1728B52AA6E4}">
                <adec:decorative xmlns:adec="http://schemas.microsoft.com/office/drawing/2017/decorative" val="1"/>
              </a:ext>
            </a:extLst>
          </p:cNvPr>
          <p:cNvGrpSpPr/>
          <p:nvPr/>
        </p:nvGrpSpPr>
        <p:grpSpPr>
          <a:xfrm>
            <a:off x="1948048" y="3184049"/>
            <a:ext cx="8295903" cy="3172301"/>
            <a:chOff x="1081777" y="2486819"/>
            <a:chExt cx="6381750" cy="2175669"/>
          </a:xfrm>
        </p:grpSpPr>
        <p:pic>
          <p:nvPicPr>
            <p:cNvPr id="6" name="Imagen 5">
              <a:extLst>
                <a:ext uri="{FF2B5EF4-FFF2-40B4-BE49-F238E27FC236}">
                  <a16:creationId xmlns:a16="http://schemas.microsoft.com/office/drawing/2014/main" id="{2EC38726-9FD4-A062-3C94-F624473B2D2B}"/>
                </a:ext>
              </a:extLst>
            </p:cNvPr>
            <p:cNvPicPr>
              <a:picLocks noChangeAspect="1"/>
            </p:cNvPicPr>
            <p:nvPr/>
          </p:nvPicPr>
          <p:blipFill>
            <a:blip r:embed="rId3"/>
            <a:stretch>
              <a:fillRect/>
            </a:stretch>
          </p:blipFill>
          <p:spPr>
            <a:xfrm>
              <a:off x="1081777" y="2486819"/>
              <a:ext cx="6381750" cy="1514475"/>
            </a:xfrm>
            <a:prstGeom prst="rect">
              <a:avLst/>
            </a:prstGeom>
          </p:spPr>
        </p:pic>
        <p:pic>
          <p:nvPicPr>
            <p:cNvPr id="8" name="Imagen 7">
              <a:extLst>
                <a:ext uri="{FF2B5EF4-FFF2-40B4-BE49-F238E27FC236}">
                  <a16:creationId xmlns:a16="http://schemas.microsoft.com/office/drawing/2014/main" id="{C7B00C4C-C1AB-5E56-93F5-3C4AF84A5BFC}"/>
                </a:ext>
              </a:extLst>
            </p:cNvPr>
            <p:cNvPicPr>
              <a:picLocks noChangeAspect="1"/>
            </p:cNvPicPr>
            <p:nvPr/>
          </p:nvPicPr>
          <p:blipFill>
            <a:blip r:embed="rId4"/>
            <a:stretch>
              <a:fillRect/>
            </a:stretch>
          </p:blipFill>
          <p:spPr>
            <a:xfrm>
              <a:off x="1224652" y="4062413"/>
              <a:ext cx="6238875" cy="600075"/>
            </a:xfrm>
            <a:prstGeom prst="rect">
              <a:avLst/>
            </a:prstGeom>
          </p:spPr>
        </p:pic>
      </p:grpSp>
      <p:sp>
        <p:nvSpPr>
          <p:cNvPr id="10" name="Rectángulo 9">
            <a:extLst>
              <a:ext uri="{FF2B5EF4-FFF2-40B4-BE49-F238E27FC236}">
                <a16:creationId xmlns:a16="http://schemas.microsoft.com/office/drawing/2014/main" id="{3E9394D1-A9AF-7121-7B98-D77D5A894131}"/>
              </a:ext>
              <a:ext uri="{C183D7F6-B498-43B3-948B-1728B52AA6E4}">
                <adec:decorative xmlns:adec="http://schemas.microsoft.com/office/drawing/2017/decorative" val="1"/>
              </a:ext>
            </a:extLst>
          </p:cNvPr>
          <p:cNvSpPr/>
          <p:nvPr/>
        </p:nvSpPr>
        <p:spPr>
          <a:xfrm>
            <a:off x="3911600" y="5035550"/>
            <a:ext cx="345440" cy="23368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 name="Rectángulo 10">
            <a:extLst>
              <a:ext uri="{FF2B5EF4-FFF2-40B4-BE49-F238E27FC236}">
                <a16:creationId xmlns:a16="http://schemas.microsoft.com/office/drawing/2014/main" id="{51ABC636-3B3A-C23D-12EF-60684D2CF5F6}"/>
              </a:ext>
              <a:ext uri="{C183D7F6-B498-43B3-948B-1728B52AA6E4}">
                <adec:decorative xmlns:adec="http://schemas.microsoft.com/office/drawing/2017/decorative" val="1"/>
              </a:ext>
            </a:extLst>
          </p:cNvPr>
          <p:cNvSpPr/>
          <p:nvPr/>
        </p:nvSpPr>
        <p:spPr>
          <a:xfrm>
            <a:off x="2133777" y="5492519"/>
            <a:ext cx="345440" cy="23368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2" name="Rectángulo 11">
            <a:extLst>
              <a:ext uri="{FF2B5EF4-FFF2-40B4-BE49-F238E27FC236}">
                <a16:creationId xmlns:a16="http://schemas.microsoft.com/office/drawing/2014/main" id="{1C3A37C5-DDD9-0403-B504-076BAFF05CFD}"/>
              </a:ext>
              <a:ext uri="{C183D7F6-B498-43B3-948B-1728B52AA6E4}">
                <adec:decorative xmlns:adec="http://schemas.microsoft.com/office/drawing/2017/decorative" val="1"/>
              </a:ext>
            </a:extLst>
          </p:cNvPr>
          <p:cNvSpPr/>
          <p:nvPr/>
        </p:nvSpPr>
        <p:spPr>
          <a:xfrm>
            <a:off x="2347137" y="5990589"/>
            <a:ext cx="345440" cy="161961"/>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Elipse 12">
            <a:extLst>
              <a:ext uri="{FF2B5EF4-FFF2-40B4-BE49-F238E27FC236}">
                <a16:creationId xmlns:a16="http://schemas.microsoft.com/office/drawing/2014/main" id="{5149600E-9D79-CF7D-5668-7236564AF3C1}"/>
              </a:ext>
              <a:ext uri="{C183D7F6-B498-43B3-948B-1728B52AA6E4}">
                <adec:decorative xmlns:adec="http://schemas.microsoft.com/office/drawing/2017/decorative" val="1"/>
              </a:ext>
            </a:extLst>
          </p:cNvPr>
          <p:cNvSpPr/>
          <p:nvPr/>
        </p:nvSpPr>
        <p:spPr>
          <a:xfrm>
            <a:off x="3870960" y="5939630"/>
            <a:ext cx="426720" cy="264161"/>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Tree>
    <p:extLst>
      <p:ext uri="{BB962C8B-B14F-4D97-AF65-F5344CB8AC3E}">
        <p14:creationId xmlns:p14="http://schemas.microsoft.com/office/powerpoint/2010/main" val="15942264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F8BC9B-2899-08CA-2297-097A3C2A0A28}"/>
              </a:ext>
            </a:extLst>
          </p:cNvPr>
          <p:cNvSpPr>
            <a:spLocks noGrp="1"/>
          </p:cNvSpPr>
          <p:nvPr>
            <p:ph type="title"/>
          </p:nvPr>
        </p:nvSpPr>
        <p:spPr/>
        <p:txBody>
          <a:bodyPr>
            <a:normAutofit/>
          </a:bodyPr>
          <a:lstStyle/>
          <a:p>
            <a:r>
              <a:rPr lang="es-ES" dirty="0"/>
              <a:t>9. D</a:t>
            </a:r>
            <a:r>
              <a:rPr dirty="0" err="1"/>
              <a:t>istribución</a:t>
            </a:r>
            <a:r>
              <a:rPr dirty="0"/>
              <a:t> </a:t>
            </a:r>
            <a:r>
              <a:rPr lang="es-ES" dirty="0"/>
              <a:t>Binomial</a:t>
            </a:r>
            <a:br>
              <a:rPr lang="es-ES" dirty="0"/>
            </a:br>
            <a:r>
              <a:rPr dirty="0" err="1"/>
              <a:t>Ejemplo</a:t>
            </a:r>
            <a:r>
              <a:rPr dirty="0"/>
              <a:t> 3.16 (</a:t>
            </a:r>
            <a:r>
              <a:rPr dirty="0" err="1"/>
              <a:t>Solución</a:t>
            </a:r>
            <a:r>
              <a:rPr dirty="0"/>
              <a:t>) </a:t>
            </a:r>
            <a:r>
              <a:rPr dirty="0" err="1"/>
              <a:t>Interpretación</a:t>
            </a:r>
            <a:r>
              <a:rPr dirty="0"/>
              <a:t> </a:t>
            </a:r>
            <a:r>
              <a:rPr dirty="0" err="1"/>
              <a:t>gráfica</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7707946-EFEC-F456-1931-0828E9D17E21}"/>
                  </a:ext>
                </a:extLst>
              </p:cNvPr>
              <p:cNvSpPr>
                <a:spLocks noGrp="1"/>
              </p:cNvSpPr>
              <p:nvPr>
                <p:ph idx="1"/>
              </p:nvPr>
            </p:nvSpPr>
            <p:spPr/>
            <p:txBody>
              <a:bodyPr/>
              <a:lstStyle/>
              <a:p>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𝑋</m:t>
                    </m:r>
                    <m:r>
                      <a:rPr lang="es-ES" i="1" dirty="0" smtClean="0">
                        <a:latin typeface="Cambria Math" panose="02040503050406030204" pitchFamily="18" charset="0"/>
                      </a:rPr>
                      <m:t> ≥ </m:t>
                    </m:r>
                    <m:r>
                      <a:rPr lang="es-ES" i="1" dirty="0" smtClean="0">
                        <a:latin typeface="Cambria Math" panose="02040503050406030204" pitchFamily="18" charset="0"/>
                      </a:rPr>
                      <m:t>4</m:t>
                    </m:r>
                    <m:r>
                      <a:rPr lang="es-ES" i="1" dirty="0" smtClean="0">
                        <a:latin typeface="Cambria Math" panose="02040503050406030204" pitchFamily="18" charset="0"/>
                      </a:rPr>
                      <m:t>} </m:t>
                    </m:r>
                  </m:oMath>
                </a14:m>
                <a:r>
                  <a:rPr dirty="0"/>
                  <a:t>es la </a:t>
                </a:r>
                <a:r>
                  <a:rPr dirty="0" err="1"/>
                  <a:t>suma</a:t>
                </a:r>
                <a:r>
                  <a:rPr dirty="0"/>
                  <a:t> de la </a:t>
                </a:r>
                <a:r>
                  <a:rPr dirty="0" err="1"/>
                  <a:t>longitud</a:t>
                </a:r>
                <a:r>
                  <a:rPr dirty="0"/>
                  <a:t> de las </a:t>
                </a:r>
                <a:r>
                  <a:rPr dirty="0" err="1"/>
                  <a:t>líneas</a:t>
                </a:r>
                <a:r>
                  <a:rPr dirty="0"/>
                  <a:t> de </a:t>
                </a:r>
                <a14:m>
                  <m:oMath xmlns:m="http://schemas.openxmlformats.org/officeDocument/2006/math">
                    <m:r>
                      <a:rPr lang="es-ES" i="1" dirty="0" smtClean="0">
                        <a:latin typeface="Cambria Math" panose="02040503050406030204" pitchFamily="18" charset="0"/>
                      </a:rPr>
                      <m:t>𝑥</m:t>
                    </m:r>
                    <m:r>
                      <a:rPr lang="es-ES" i="1" dirty="0" smtClean="0">
                        <a:latin typeface="Cambria Math" panose="02040503050406030204" pitchFamily="18" charset="0"/>
                      </a:rPr>
                      <m:t>=</m:t>
                    </m:r>
                    <m:r>
                      <a:rPr lang="es-ES" i="1" dirty="0" smtClean="0">
                        <a:latin typeface="Cambria Math" panose="02040503050406030204" pitchFamily="18" charset="0"/>
                      </a:rPr>
                      <m:t>4</m:t>
                    </m:r>
                  </m:oMath>
                </a14:m>
                <a:r>
                  <a:rPr dirty="0"/>
                  <a:t> a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m:t>
                    </m:r>
                    <m:r>
                      <a:rPr lang="es-ES" i="1" dirty="0" smtClean="0">
                        <a:latin typeface="Cambria Math" panose="02040503050406030204" pitchFamily="18" charset="0"/>
                      </a:rPr>
                      <m:t>10</m:t>
                    </m:r>
                  </m:oMath>
                </a14:m>
                <a:endParaRPr dirty="0"/>
              </a:p>
            </p:txBody>
          </p:sp>
        </mc:Choice>
        <mc:Fallback xmlns="">
          <p:sp>
            <p:nvSpPr>
              <p:cNvPr id="3" name="Marcador de contenido 2">
                <a:extLst>
                  <a:ext uri="{FF2B5EF4-FFF2-40B4-BE49-F238E27FC236}">
                    <a16:creationId xmlns:a16="http://schemas.microsoft.com/office/drawing/2014/main" id="{67707946-EFEC-F456-1931-0828E9D17E21}"/>
                  </a:ext>
                </a:extLst>
              </p:cNvPr>
              <p:cNvSpPr>
                <a:spLocks noGrp="1" noRot="1" noChangeAspect="1" noMove="1" noResize="1" noEditPoints="1" noAdjustHandles="1" noChangeArrowheads="1" noChangeShapeType="1" noTextEdit="1"/>
              </p:cNvSpPr>
              <p:nvPr>
                <p:ph idx="1"/>
              </p:nvPr>
            </p:nvSpPr>
            <p:spPr>
              <a:blipFill>
                <a:blip r:embed="rId2"/>
                <a:stretch>
                  <a:fillRect t="-112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AA1984AA-D5E8-A2D3-05DE-BF032731D61D}"/>
              </a:ext>
            </a:extLst>
          </p:cNvPr>
          <p:cNvSpPr>
            <a:spLocks noGrp="1"/>
          </p:cNvSpPr>
          <p:nvPr>
            <p:ph type="sldNum" sz="quarter" idx="12"/>
          </p:nvPr>
        </p:nvSpPr>
        <p:spPr/>
        <p:txBody>
          <a:bodyPr/>
          <a:lstStyle/>
          <a:p>
            <a:fld id="{336CAFD0-1F6E-4E11-9822-836563A02839}" type="slidenum">
              <a:rPr lang="es-ES" smtClean="0"/>
              <a:t>52</a:t>
            </a:fld>
            <a:endParaRPr lang="es-ES"/>
          </a:p>
        </p:txBody>
      </p:sp>
      <p:pic>
        <p:nvPicPr>
          <p:cNvPr id="6" name="Imagen 5">
            <a:extLst>
              <a:ext uri="{FF2B5EF4-FFF2-40B4-BE49-F238E27FC236}">
                <a16:creationId xmlns:a16="http://schemas.microsoft.com/office/drawing/2014/main" id="{7949AA20-A674-6B58-15C9-C9C45CA50FA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200" y="2564130"/>
            <a:ext cx="7696200" cy="3314700"/>
          </a:xfrm>
          <a:prstGeom prst="rect">
            <a:avLst/>
          </a:prstGeom>
        </p:spPr>
      </p:pic>
      <p:sp>
        <p:nvSpPr>
          <p:cNvPr id="7" name="Rectángulo 6">
            <a:extLst>
              <a:ext uri="{FF2B5EF4-FFF2-40B4-BE49-F238E27FC236}">
                <a16:creationId xmlns:a16="http://schemas.microsoft.com/office/drawing/2014/main" id="{E3545DD3-B687-1618-1E30-5F74C16D93D1}"/>
              </a:ext>
              <a:ext uri="{C183D7F6-B498-43B3-948B-1728B52AA6E4}">
                <adec:decorative xmlns:adec="http://schemas.microsoft.com/office/drawing/2017/decorative" val="1"/>
              </a:ext>
            </a:extLst>
          </p:cNvPr>
          <p:cNvSpPr/>
          <p:nvPr/>
        </p:nvSpPr>
        <p:spPr>
          <a:xfrm>
            <a:off x="4267200" y="4358640"/>
            <a:ext cx="4084320" cy="110916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Tree>
    <p:extLst>
      <p:ext uri="{BB962C8B-B14F-4D97-AF65-F5344CB8AC3E}">
        <p14:creationId xmlns:p14="http://schemas.microsoft.com/office/powerpoint/2010/main" val="22895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65C2A-2D45-7794-22E3-6EA892B834E2}"/>
              </a:ext>
            </a:extLst>
          </p:cNvPr>
          <p:cNvSpPr>
            <a:spLocks noGrp="1"/>
          </p:cNvSpPr>
          <p:nvPr>
            <p:ph type="title"/>
          </p:nvPr>
        </p:nvSpPr>
        <p:spPr/>
        <p:txBody>
          <a:bodyPr>
            <a:normAutofit/>
          </a:bodyPr>
          <a:lstStyle/>
          <a:p>
            <a:r>
              <a:rPr lang="es-ES" dirty="0"/>
              <a:t>9. D</a:t>
            </a:r>
            <a:r>
              <a:rPr dirty="0" err="1"/>
              <a:t>istribución</a:t>
            </a:r>
            <a:r>
              <a:rPr dirty="0"/>
              <a:t> </a:t>
            </a:r>
            <a:r>
              <a:rPr lang="es-ES" dirty="0"/>
              <a:t>Binomial</a:t>
            </a:r>
            <a:br>
              <a:rPr lang="es-ES" dirty="0"/>
            </a:br>
            <a:r>
              <a:rPr dirty="0" err="1"/>
              <a:t>Ejemplo</a:t>
            </a:r>
            <a:r>
              <a:rPr dirty="0"/>
              <a:t> 3.17 (</a:t>
            </a:r>
            <a:r>
              <a:rPr lang="es-ES" dirty="0"/>
              <a:t>Videojuego</a:t>
            </a:r>
            <a:r>
              <a:rPr dirty="0"/>
              <a:t>)</a:t>
            </a:r>
          </a:p>
        </p:txBody>
      </p:sp>
      <p:sp>
        <p:nvSpPr>
          <p:cNvPr id="3" name="Marcador de contenido 2">
            <a:extLst>
              <a:ext uri="{FF2B5EF4-FFF2-40B4-BE49-F238E27FC236}">
                <a16:creationId xmlns:a16="http://schemas.microsoft.com/office/drawing/2014/main" id="{111CA46C-8793-7F0A-3B46-8CBB27760382}"/>
              </a:ext>
            </a:extLst>
          </p:cNvPr>
          <p:cNvSpPr>
            <a:spLocks noGrp="1"/>
          </p:cNvSpPr>
          <p:nvPr>
            <p:ph idx="1"/>
          </p:nvPr>
        </p:nvSpPr>
        <p:spPr/>
        <p:txBody>
          <a:bodyPr>
            <a:normAutofit lnSpcReduction="10000"/>
          </a:bodyPr>
          <a:lstStyle/>
          <a:p>
            <a:r>
              <a:rPr dirty="0"/>
              <a:t>Se lanza un </a:t>
            </a:r>
            <a:r>
              <a:rPr lang="es-ES" dirty="0"/>
              <a:t>video</a:t>
            </a:r>
            <a:r>
              <a:rPr dirty="0" err="1"/>
              <a:t>juego</a:t>
            </a:r>
            <a:r>
              <a:rPr lang="es-ES" dirty="0"/>
              <a:t> al mercado</a:t>
            </a:r>
            <a:endParaRPr dirty="0"/>
          </a:p>
          <a:p>
            <a:r>
              <a:rPr dirty="0"/>
              <a:t>El </a:t>
            </a:r>
            <a:r>
              <a:rPr lang="es-ES" dirty="0"/>
              <a:t>60%</a:t>
            </a:r>
            <a:r>
              <a:rPr dirty="0"/>
              <a:t> de los </a:t>
            </a:r>
            <a:r>
              <a:rPr dirty="0" err="1"/>
              <a:t>jugadores</a:t>
            </a:r>
            <a:r>
              <a:rPr dirty="0"/>
              <a:t> </a:t>
            </a:r>
            <a:r>
              <a:rPr dirty="0" err="1"/>
              <a:t>completan</a:t>
            </a:r>
            <a:r>
              <a:rPr dirty="0"/>
              <a:t> </a:t>
            </a:r>
            <a:r>
              <a:rPr dirty="0" err="1"/>
              <a:t>todos</a:t>
            </a:r>
            <a:r>
              <a:rPr dirty="0"/>
              <a:t> los </a:t>
            </a:r>
            <a:r>
              <a:rPr dirty="0" err="1"/>
              <a:t>niveles</a:t>
            </a:r>
            <a:endParaRPr dirty="0"/>
          </a:p>
          <a:p>
            <a:r>
              <a:rPr dirty="0"/>
              <a:t>El </a:t>
            </a:r>
            <a:r>
              <a:rPr lang="es-ES" dirty="0"/>
              <a:t>30%</a:t>
            </a:r>
            <a:r>
              <a:rPr dirty="0"/>
              <a:t> de </a:t>
            </a:r>
            <a:r>
              <a:rPr lang="es-ES" dirty="0"/>
              <a:t>los que completan todos los niveles</a:t>
            </a:r>
            <a:r>
              <a:rPr dirty="0"/>
              <a:t> </a:t>
            </a:r>
            <a:r>
              <a:rPr dirty="0" err="1"/>
              <a:t>comprará</a:t>
            </a:r>
            <a:r>
              <a:rPr dirty="0"/>
              <a:t> </a:t>
            </a:r>
            <a:r>
              <a:rPr dirty="0" err="1"/>
              <a:t>una</a:t>
            </a:r>
            <a:r>
              <a:rPr dirty="0"/>
              <a:t> </a:t>
            </a:r>
            <a:r>
              <a:rPr dirty="0" err="1"/>
              <a:t>versión</a:t>
            </a:r>
            <a:r>
              <a:rPr dirty="0"/>
              <a:t> </a:t>
            </a:r>
            <a:r>
              <a:rPr dirty="0" err="1"/>
              <a:t>avanzada</a:t>
            </a:r>
            <a:r>
              <a:rPr dirty="0"/>
              <a:t> del </a:t>
            </a:r>
            <a:r>
              <a:rPr dirty="0" err="1"/>
              <a:t>juego</a:t>
            </a:r>
            <a:endParaRPr lang="es-ES" dirty="0"/>
          </a:p>
          <a:p>
            <a:r>
              <a:rPr lang="es-ES" dirty="0"/>
              <a:t>Los jugadores que no completan todos los niveles no comprarán una versión avanzada</a:t>
            </a:r>
            <a:endParaRPr dirty="0"/>
          </a:p>
          <a:p>
            <a:r>
              <a:rPr lang="es-ES" dirty="0"/>
              <a:t>Entre </a:t>
            </a:r>
            <a:r>
              <a:rPr dirty="0"/>
              <a:t>15 </a:t>
            </a:r>
            <a:r>
              <a:rPr lang="es-ES" dirty="0"/>
              <a:t>jugadores</a:t>
            </a:r>
            <a:r>
              <a:rPr dirty="0"/>
              <a:t>, </a:t>
            </a:r>
          </a:p>
          <a:p>
            <a:pPr marL="914400" lvl="1" indent="-457200">
              <a:buFont typeface="+mj-lt"/>
              <a:buAutoNum type="alphaLcParenR"/>
            </a:pPr>
            <a:r>
              <a:rPr dirty="0"/>
              <a:t>¿</a:t>
            </a:r>
            <a:r>
              <a:rPr dirty="0" err="1"/>
              <a:t>cuál</a:t>
            </a:r>
            <a:r>
              <a:rPr dirty="0"/>
              <a:t> es </a:t>
            </a:r>
            <a:r>
              <a:rPr dirty="0" err="1"/>
              <a:t>el</a:t>
            </a:r>
            <a:r>
              <a:rPr dirty="0"/>
              <a:t> </a:t>
            </a:r>
            <a:r>
              <a:rPr dirty="0" err="1"/>
              <a:t>número</a:t>
            </a:r>
            <a:r>
              <a:rPr dirty="0"/>
              <a:t> </a:t>
            </a:r>
            <a:r>
              <a:rPr dirty="0" err="1"/>
              <a:t>esperado</a:t>
            </a:r>
            <a:r>
              <a:rPr dirty="0"/>
              <a:t> de </a:t>
            </a:r>
            <a:r>
              <a:rPr lang="es-ES" dirty="0"/>
              <a:t>jugadores</a:t>
            </a:r>
            <a:r>
              <a:rPr dirty="0"/>
              <a:t> que </a:t>
            </a:r>
            <a:r>
              <a:rPr dirty="0" err="1"/>
              <a:t>comprarán</a:t>
            </a:r>
            <a:r>
              <a:rPr dirty="0"/>
              <a:t> la </a:t>
            </a:r>
            <a:r>
              <a:rPr dirty="0" err="1"/>
              <a:t>versión</a:t>
            </a:r>
            <a:r>
              <a:rPr dirty="0"/>
              <a:t> </a:t>
            </a:r>
            <a:r>
              <a:rPr dirty="0" err="1"/>
              <a:t>avanzada</a:t>
            </a:r>
            <a:r>
              <a:rPr dirty="0"/>
              <a:t>?</a:t>
            </a:r>
          </a:p>
          <a:p>
            <a:pPr marL="914400" lvl="1" indent="-457200">
              <a:buFont typeface="+mj-lt"/>
              <a:buAutoNum type="alphaLcParenR"/>
            </a:pPr>
            <a:r>
              <a:rPr dirty="0"/>
              <a:t>¿</a:t>
            </a:r>
            <a:r>
              <a:rPr dirty="0" err="1"/>
              <a:t>Cuál</a:t>
            </a:r>
            <a:r>
              <a:rPr dirty="0"/>
              <a:t> es la </a:t>
            </a:r>
            <a:r>
              <a:rPr dirty="0" err="1"/>
              <a:t>probabilidad</a:t>
            </a:r>
            <a:r>
              <a:rPr dirty="0"/>
              <a:t> de que al </a:t>
            </a:r>
            <a:r>
              <a:rPr dirty="0" err="1"/>
              <a:t>menos</a:t>
            </a:r>
            <a:r>
              <a:rPr dirty="0"/>
              <a:t> dos </a:t>
            </a:r>
            <a:r>
              <a:rPr lang="es-ES" dirty="0"/>
              <a:t>jugadores</a:t>
            </a:r>
            <a:r>
              <a:rPr dirty="0"/>
              <a:t> lo </a:t>
            </a:r>
            <a:r>
              <a:rPr dirty="0" err="1"/>
              <a:t>compren</a:t>
            </a:r>
            <a:r>
              <a:rPr dirty="0"/>
              <a:t>?</a:t>
            </a:r>
          </a:p>
        </p:txBody>
      </p:sp>
      <p:sp>
        <p:nvSpPr>
          <p:cNvPr id="4" name="Marcador de número de diapositiva 3">
            <a:extLst>
              <a:ext uri="{FF2B5EF4-FFF2-40B4-BE49-F238E27FC236}">
                <a16:creationId xmlns:a16="http://schemas.microsoft.com/office/drawing/2014/main" id="{0CF17A2E-B3E3-E697-AB61-6FD8AE808DC6}"/>
              </a:ext>
            </a:extLst>
          </p:cNvPr>
          <p:cNvSpPr>
            <a:spLocks noGrp="1"/>
          </p:cNvSpPr>
          <p:nvPr>
            <p:ph type="sldNum" sz="quarter" idx="12"/>
          </p:nvPr>
        </p:nvSpPr>
        <p:spPr/>
        <p:txBody>
          <a:bodyPr/>
          <a:lstStyle/>
          <a:p>
            <a:fld id="{336CAFD0-1F6E-4E11-9822-836563A02839}" type="slidenum">
              <a:rPr lang="es-ES" smtClean="0"/>
              <a:t>53</a:t>
            </a:fld>
            <a:endParaRPr lang="es-ES"/>
          </a:p>
        </p:txBody>
      </p:sp>
    </p:spTree>
    <p:extLst>
      <p:ext uri="{BB962C8B-B14F-4D97-AF65-F5344CB8AC3E}">
        <p14:creationId xmlns:p14="http://schemas.microsoft.com/office/powerpoint/2010/main" val="24000614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65C2A-2D45-7794-22E3-6EA892B834E2}"/>
              </a:ext>
            </a:extLst>
          </p:cNvPr>
          <p:cNvSpPr>
            <a:spLocks noGrp="1"/>
          </p:cNvSpPr>
          <p:nvPr>
            <p:ph type="title"/>
          </p:nvPr>
        </p:nvSpPr>
        <p:spPr/>
        <p:txBody>
          <a:bodyPr/>
          <a:lstStyle/>
          <a:p>
            <a:r>
              <a:rPr lang="es-ES" dirty="0"/>
              <a:t>9. D</a:t>
            </a:r>
            <a:r>
              <a:rPr dirty="0" err="1"/>
              <a:t>istribución</a:t>
            </a:r>
            <a:r>
              <a:rPr dirty="0"/>
              <a:t> </a:t>
            </a:r>
            <a:r>
              <a:rPr lang="es-ES" dirty="0"/>
              <a:t>Binomial</a:t>
            </a:r>
            <a:br>
              <a:rPr lang="es-ES" dirty="0"/>
            </a:br>
            <a:r>
              <a:rPr dirty="0" err="1"/>
              <a:t>Ejemplo</a:t>
            </a:r>
            <a:r>
              <a:rPr dirty="0"/>
              <a:t> 3.17 (</a:t>
            </a:r>
            <a:r>
              <a:rPr dirty="0" err="1"/>
              <a:t>Solución</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11CA46C-8793-7F0A-3B46-8CBB27760382}"/>
                  </a:ext>
                </a:extLst>
              </p:cNvPr>
              <p:cNvSpPr>
                <a:spLocks noGrp="1"/>
              </p:cNvSpPr>
              <p:nvPr>
                <p:ph idx="1"/>
              </p:nvPr>
            </p:nvSpPr>
            <p:spPr/>
            <p:txBody>
              <a:bodyPr>
                <a:normAutofit fontScale="85000" lnSpcReduction="20000"/>
              </a:bodyPr>
              <a:lstStyle/>
              <a:p>
                <a:r>
                  <a:rPr lang="es-ES" dirty="0"/>
                  <a:t>X: </a:t>
                </a:r>
                <a:r>
                  <a:rPr lang="es-ES" dirty="0" err="1"/>
                  <a:t>número</a:t>
                </a:r>
                <a:r>
                  <a:rPr lang="es-ES" dirty="0"/>
                  <a:t> de jugadores (</a:t>
                </a:r>
                <a:r>
                  <a:rPr lang="es-ES" dirty="0" err="1"/>
                  <a:t>éxitos</a:t>
                </a:r>
                <a:r>
                  <a:rPr lang="es-ES" dirty="0"/>
                  <a:t>), entre los 15 jugadores encuestados (ensayos), que </a:t>
                </a:r>
                <a:r>
                  <a:rPr lang="es-ES" dirty="0" err="1"/>
                  <a:t>comprarán</a:t>
                </a:r>
                <a:r>
                  <a:rPr lang="es-ES" dirty="0"/>
                  <a:t> la </a:t>
                </a:r>
                <a:r>
                  <a:rPr lang="es-ES" dirty="0" err="1"/>
                  <a:t>versión</a:t>
                </a:r>
                <a:r>
                  <a:rPr lang="es-ES" dirty="0"/>
                  <a:t> </a:t>
                </a:r>
                <a:r>
                  <a:rPr lang="es-ES" dirty="0" err="1"/>
                  <a:t>avanzada</a:t>
                </a:r>
                <a:r>
                  <a:rPr lang="es-ES" dirty="0"/>
                  <a:t> del </a:t>
                </a:r>
                <a:r>
                  <a:rPr lang="es-ES" dirty="0" err="1"/>
                  <a:t>juego</a:t>
                </a:r>
                <a:r>
                  <a:rPr lang="es-ES" dirty="0"/>
                  <a:t>.</a:t>
                </a:r>
              </a:p>
              <a:p>
                <a:pPr lvl="1"/>
                <a:r>
                  <a:rPr lang="es-ES" dirty="0"/>
                  <a:t>X tiene distribución Binomial con n = 15</a:t>
                </a:r>
              </a:p>
              <a:p>
                <a:pPr lvl="1"/>
                <a:r>
                  <a:rPr lang="es-ES" dirty="0"/>
                  <a:t>La probabilidad de éxito en un ensayo se calcula aplicando la ley de la probabilidad total</a:t>
                </a:r>
                <a:endParaRPr lang="es-ES" i="1" dirty="0"/>
              </a:p>
              <a:p>
                <a:pPr lvl="2"/>
                <a14:m>
                  <m:oMath xmlns:m="http://schemas.openxmlformats.org/officeDocument/2006/math">
                    <m:r>
                      <a:rPr lang="es-ES" i="1" dirty="0" smtClean="0">
                        <a:latin typeface="Cambria Math" panose="02040503050406030204" pitchFamily="18" charset="0"/>
                      </a:rPr>
                      <m:t>𝐴</m:t>
                    </m:r>
                    <m:r>
                      <a:rPr lang="es-ES" i="1" dirty="0" smtClean="0">
                        <a:latin typeface="Cambria Math" panose="02040503050406030204" pitchFamily="18" charset="0"/>
                      </a:rPr>
                      <m:t>={</m:t>
                    </m:r>
                    <m:r>
                      <a:rPr lang="es-ES" i="1" dirty="0" smtClean="0">
                        <a:latin typeface="Cambria Math" panose="02040503050406030204" pitchFamily="18" charset="0"/>
                      </a:rPr>
                      <m:t>𝐶𝑜𝑚𝑝𝑟𝑎𝑟</m:t>
                    </m:r>
                    <m:r>
                      <a:rPr lang="es-ES" i="1" dirty="0" smtClean="0">
                        <a:latin typeface="Cambria Math" panose="02040503050406030204" pitchFamily="18" charset="0"/>
                      </a:rPr>
                      <m:t> </m:t>
                    </m:r>
                    <m:r>
                      <a:rPr lang="es-ES" i="1" dirty="0" smtClean="0">
                        <a:latin typeface="Cambria Math" panose="02040503050406030204" pitchFamily="18" charset="0"/>
                      </a:rPr>
                      <m:t>𝑣𝑒𝑟𝑠𝑖</m:t>
                    </m:r>
                    <m:r>
                      <a:rPr lang="es-ES" i="1" dirty="0" smtClean="0">
                        <a:latin typeface="Cambria Math" panose="02040503050406030204" pitchFamily="18" charset="0"/>
                      </a:rPr>
                      <m:t>ó</m:t>
                    </m:r>
                    <m:r>
                      <a:rPr lang="es-ES" i="1" dirty="0" smtClean="0">
                        <a:latin typeface="Cambria Math" panose="02040503050406030204" pitchFamily="18" charset="0"/>
                      </a:rPr>
                      <m:t>𝑛</m:t>
                    </m:r>
                    <m:r>
                      <a:rPr lang="es-ES" i="1" dirty="0">
                        <a:latin typeface="Cambria Math" panose="02040503050406030204" pitchFamily="18" charset="0"/>
                      </a:rPr>
                      <m:t> </m:t>
                    </m:r>
                    <m:r>
                      <a:rPr lang="es-ES" i="1" dirty="0" smtClean="0">
                        <a:latin typeface="Cambria Math" panose="02040503050406030204" pitchFamily="18" charset="0"/>
                      </a:rPr>
                      <m:t>𝑎𝑣𝑎𝑛𝑧𝑎𝑑𝑎</m:t>
                    </m:r>
                    <m:r>
                      <a:rPr lang="es-ES" i="1" dirty="0" smtClean="0">
                        <a:latin typeface="Cambria Math" panose="02040503050406030204" pitchFamily="18" charset="0"/>
                      </a:rPr>
                      <m:t>}</m:t>
                    </m:r>
                  </m:oMath>
                </a14:m>
                <a:endParaRPr lang="es-ES" i="1" dirty="0">
                  <a:latin typeface="Cambria Math" panose="02040503050406030204" pitchFamily="18" charset="0"/>
                </a:endParaRPr>
              </a:p>
              <a:p>
                <a:pPr lvl="2"/>
                <a14:m>
                  <m:oMath xmlns:m="http://schemas.openxmlformats.org/officeDocument/2006/math">
                    <m:r>
                      <a:rPr lang="es-ES" i="1" dirty="0" smtClean="0">
                        <a:latin typeface="Cambria Math" panose="02040503050406030204" pitchFamily="18" charset="0"/>
                      </a:rPr>
                      <m:t>𝐵</m:t>
                    </m:r>
                    <m:r>
                      <a:rPr lang="es-ES" i="1" dirty="0" smtClean="0">
                        <a:latin typeface="Cambria Math" panose="02040503050406030204" pitchFamily="18" charset="0"/>
                      </a:rPr>
                      <m:t>={</m:t>
                    </m:r>
                    <m:r>
                      <a:rPr lang="es-ES" i="1" dirty="0" smtClean="0">
                        <a:latin typeface="Cambria Math" panose="02040503050406030204" pitchFamily="18" charset="0"/>
                      </a:rPr>
                      <m:t>𝐶𝑜𝑚𝑝𝑙𝑒𝑡𝑎𝑟</m:t>
                    </m:r>
                    <m:r>
                      <a:rPr lang="es-ES" i="1" dirty="0" smtClean="0">
                        <a:latin typeface="Cambria Math" panose="02040503050406030204" pitchFamily="18" charset="0"/>
                      </a:rPr>
                      <m:t> </m:t>
                    </m:r>
                    <m:r>
                      <a:rPr lang="es-ES" i="1" dirty="0" smtClean="0">
                        <a:latin typeface="Cambria Math" panose="02040503050406030204" pitchFamily="18" charset="0"/>
                      </a:rPr>
                      <m:t>𝑡𝑜𝑑𝑜𝑠</m:t>
                    </m:r>
                    <m:r>
                      <a:rPr lang="es-ES" i="1" dirty="0" smtClean="0">
                        <a:latin typeface="Cambria Math" panose="02040503050406030204" pitchFamily="18" charset="0"/>
                      </a:rPr>
                      <m:t> </m:t>
                    </m:r>
                    <m:r>
                      <a:rPr lang="es-ES" i="1" dirty="0" smtClean="0">
                        <a:latin typeface="Cambria Math" panose="02040503050406030204" pitchFamily="18" charset="0"/>
                      </a:rPr>
                      <m:t>𝑙𝑜𝑠</m:t>
                    </m:r>
                    <m:r>
                      <a:rPr lang="es-ES" i="1" dirty="0" smtClean="0">
                        <a:latin typeface="Cambria Math" panose="02040503050406030204" pitchFamily="18" charset="0"/>
                      </a:rPr>
                      <m:t> </m:t>
                    </m:r>
                    <m:r>
                      <a:rPr lang="es-ES" i="1" dirty="0" smtClean="0">
                        <a:latin typeface="Cambria Math" panose="02040503050406030204" pitchFamily="18" charset="0"/>
                      </a:rPr>
                      <m:t>𝑛𝑖𝑣𝑒𝑙𝑒𝑠</m:t>
                    </m:r>
                    <m:r>
                      <a:rPr lang="es-ES" i="1" dirty="0" smtClean="0">
                        <a:latin typeface="Cambria Math" panose="02040503050406030204" pitchFamily="18" charset="0"/>
                      </a:rPr>
                      <m:t>}</m:t>
                    </m:r>
                  </m:oMath>
                </a14:m>
                <a:endParaRPr lang="es-ES" i="1" dirty="0">
                  <a:latin typeface="Cambria Math" panose="02040503050406030204" pitchFamily="18" charset="0"/>
                </a:endParaRPr>
              </a:p>
              <a:p>
                <a:pPr lvl="2"/>
                <a14:m>
                  <m:oMath xmlns:m="http://schemas.openxmlformats.org/officeDocument/2006/math">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𝐴</m:t>
                        </m:r>
                      </m:e>
                    </m:d>
                    <m:r>
                      <a:rPr lang="es-ES" i="1">
                        <a:latin typeface="Cambria Math" panose="02040503050406030204" pitchFamily="18" charset="0"/>
                      </a:rPr>
                      <m:t>=</m:t>
                    </m:r>
                    <m:r>
                      <a:rPr lang="es-ES" b="0" i="1" smtClean="0">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𝐴</m:t>
                        </m:r>
                      </m:e>
                      <m:e>
                        <m:r>
                          <a:rPr lang="es-ES" i="1">
                            <a:latin typeface="Cambria Math" panose="02040503050406030204" pitchFamily="18" charset="0"/>
                          </a:rPr>
                          <m:t>𝐵</m:t>
                        </m:r>
                      </m:e>
                    </m:d>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𝑃</m:t>
                    </m:r>
                    <m:d>
                      <m:dPr>
                        <m:begChr m:val="{"/>
                        <m:endChr m:val="}"/>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𝐵</m:t>
                        </m:r>
                      </m:e>
                    </m:d>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𝐴</m:t>
                        </m:r>
                      </m:e>
                      <m:e>
                        <m:acc>
                          <m:accPr>
                            <m:chr m:val="̅"/>
                            <m:ctrlPr>
                              <a:rPr lang="es-ES" i="1">
                                <a:latin typeface="Cambria Math" panose="02040503050406030204" pitchFamily="18" charset="0"/>
                              </a:rPr>
                            </m:ctrlPr>
                          </m:accPr>
                          <m:e>
                            <m:r>
                              <a:rPr lang="es-ES" i="1">
                                <a:latin typeface="Cambria Math" panose="02040503050406030204" pitchFamily="18" charset="0"/>
                              </a:rPr>
                              <m:t>𝐵</m:t>
                            </m:r>
                          </m:e>
                        </m:acc>
                      </m:e>
                    </m:d>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𝑃</m:t>
                    </m:r>
                    <m:d>
                      <m:dPr>
                        <m:begChr m:val="{"/>
                        <m:endChr m:val="}"/>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𝐵</m:t>
                            </m:r>
                          </m:e>
                        </m:acc>
                      </m:e>
                    </m:d>
                    <m:r>
                      <a:rPr lang="es-ES" b="0" i="1" dirty="0" smtClean="0">
                        <a:latin typeface="Cambria Math" panose="02040503050406030204" pitchFamily="18" charset="0"/>
                        <a:ea typeface="Cambria Math" panose="02040503050406030204" pitchFamily="18" charset="0"/>
                      </a:rPr>
                      <m:t>=</m:t>
                    </m:r>
                    <m:d>
                      <m:dPr>
                        <m:ctrlPr>
                          <a:rPr lang="es-ES" b="0" i="1" dirty="0" smtClean="0">
                            <a:latin typeface="Cambria Math" panose="02040503050406030204" pitchFamily="18" charset="0"/>
                            <a:ea typeface="Cambria Math" panose="02040503050406030204" pitchFamily="18" charset="0"/>
                          </a:rPr>
                        </m:ctrlPr>
                      </m:dPr>
                      <m:e>
                        <m:r>
                          <a:rPr lang="es-ES" b="0" i="1" dirty="0" smtClean="0">
                            <a:latin typeface="Cambria Math" panose="02040503050406030204" pitchFamily="18" charset="0"/>
                            <a:ea typeface="Cambria Math" panose="02040503050406030204" pitchFamily="18" charset="0"/>
                          </a:rPr>
                          <m:t>0</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3</m:t>
                        </m:r>
                      </m:e>
                    </m:d>
                    <m:d>
                      <m:dPr>
                        <m:ctrlPr>
                          <a:rPr lang="es-ES" b="0" i="1" dirty="0" smtClean="0">
                            <a:latin typeface="Cambria Math" panose="02040503050406030204" pitchFamily="18" charset="0"/>
                            <a:ea typeface="Cambria Math" panose="02040503050406030204" pitchFamily="18" charset="0"/>
                          </a:rPr>
                        </m:ctrlPr>
                      </m:dPr>
                      <m:e>
                        <m:r>
                          <a:rPr lang="es-ES" b="0" i="1" dirty="0" smtClean="0">
                            <a:latin typeface="Cambria Math" panose="02040503050406030204" pitchFamily="18" charset="0"/>
                            <a:ea typeface="Cambria Math" panose="02040503050406030204" pitchFamily="18" charset="0"/>
                          </a:rPr>
                          <m:t>0</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6</m:t>
                        </m:r>
                      </m:e>
                    </m:d>
                    <m:r>
                      <a:rPr lang="es-ES" b="0" i="1" dirty="0" smtClean="0">
                        <a:latin typeface="Cambria Math" panose="02040503050406030204" pitchFamily="18" charset="0"/>
                        <a:ea typeface="Cambria Math" panose="02040503050406030204" pitchFamily="18" charset="0"/>
                      </a:rPr>
                      <m:t>+</m:t>
                    </m:r>
                    <m:d>
                      <m:dPr>
                        <m:ctrlPr>
                          <a:rPr lang="es-ES" b="0" i="1" dirty="0" smtClean="0">
                            <a:latin typeface="Cambria Math" panose="02040503050406030204" pitchFamily="18" charset="0"/>
                            <a:ea typeface="Cambria Math" panose="02040503050406030204" pitchFamily="18" charset="0"/>
                          </a:rPr>
                        </m:ctrlPr>
                      </m:dPr>
                      <m:e>
                        <m:r>
                          <a:rPr lang="es-ES" b="0" i="1" dirty="0" smtClean="0">
                            <a:latin typeface="Cambria Math" panose="02040503050406030204" pitchFamily="18" charset="0"/>
                            <a:ea typeface="Cambria Math" panose="02040503050406030204" pitchFamily="18" charset="0"/>
                          </a:rPr>
                          <m:t>0</m:t>
                        </m:r>
                      </m:e>
                    </m:d>
                    <m:d>
                      <m:dPr>
                        <m:ctrlPr>
                          <a:rPr lang="es-ES" b="0" i="1" dirty="0" smtClean="0">
                            <a:latin typeface="Cambria Math" panose="02040503050406030204" pitchFamily="18" charset="0"/>
                            <a:ea typeface="Cambria Math" panose="02040503050406030204" pitchFamily="18" charset="0"/>
                          </a:rPr>
                        </m:ctrlPr>
                      </m:dPr>
                      <m:e>
                        <m:r>
                          <a:rPr lang="es-ES" b="0" i="1" dirty="0" smtClean="0">
                            <a:latin typeface="Cambria Math" panose="02040503050406030204" pitchFamily="18" charset="0"/>
                            <a:ea typeface="Cambria Math" panose="02040503050406030204" pitchFamily="18" charset="0"/>
                          </a:rPr>
                          <m:t>0</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4</m:t>
                        </m:r>
                      </m:e>
                    </m:d>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0</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18</m:t>
                    </m:r>
                  </m:oMath>
                </a14:m>
                <a:endParaRPr lang="es-ES" i="1" dirty="0">
                  <a:latin typeface="Cambria Math" panose="02040503050406030204" pitchFamily="18" charset="0"/>
                </a:endParaRPr>
              </a:p>
              <a:p>
                <a:pPr lvl="2"/>
                <a14:m>
                  <m:oMath xmlns:m="http://schemas.openxmlformats.org/officeDocument/2006/math">
                    <m:r>
                      <a:rPr lang="es-ES" i="1">
                        <a:latin typeface="Cambria Math" panose="02040503050406030204" pitchFamily="18" charset="0"/>
                      </a:rPr>
                      <m:t>𝑝</m:t>
                    </m:r>
                    <m:r>
                      <a:rPr lang="es-ES" i="1">
                        <a:latin typeface="Cambria Math" panose="02040503050406030204" pitchFamily="18" charset="0"/>
                      </a:rPr>
                      <m:t>=</m:t>
                    </m:r>
                    <m:r>
                      <a:rPr lang="es-ES" i="1">
                        <a:latin typeface="Cambria Math" panose="02040503050406030204" pitchFamily="18" charset="0"/>
                      </a:rPr>
                      <m:t>𝑃</m:t>
                    </m:r>
                    <m:r>
                      <a:rPr lang="es-ES" b="0" i="1" smtClean="0">
                        <a:latin typeface="Cambria Math" panose="02040503050406030204" pitchFamily="18" charset="0"/>
                      </a:rPr>
                      <m:t>{</m:t>
                    </m:r>
                    <m:r>
                      <a:rPr lang="es-ES" b="0" i="1" smtClean="0">
                        <a:latin typeface="Cambria Math" panose="02040503050406030204" pitchFamily="18" charset="0"/>
                      </a:rPr>
                      <m:t>𝐴</m:t>
                    </m:r>
                    <m:r>
                      <a:rPr lang="es-ES" b="0" i="1" smtClean="0">
                        <a:latin typeface="Cambria Math" panose="02040503050406030204" pitchFamily="18" charset="0"/>
                        <a:ea typeface="Cambria Math" panose="02040503050406030204" pitchFamily="18" charset="0"/>
                      </a:rPr>
                      <m:t>} = </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18</m:t>
                    </m:r>
                  </m:oMath>
                </a14:m>
                <a:endParaRPr lang="ar-AE" b="0" i="1" dirty="0">
                  <a:latin typeface="Cambria Math" panose="02040503050406030204" pitchFamily="18" charset="0"/>
                </a:endParaRPr>
              </a:p>
              <a:p>
                <a:r>
                  <a:rPr lang="es-ES" dirty="0" err="1"/>
                  <a:t>Solución</a:t>
                </a:r>
                <a:endParaRPr lang="es-ES" dirty="0"/>
              </a:p>
              <a:p>
                <a:pPr marL="914400" lvl="1" indent="-457200">
                  <a:buFont typeface="+mj-lt"/>
                  <a:buAutoNum type="alphaLcParenR"/>
                </a:pPr>
                <a:r>
                  <a:rPr lang="es-ES" dirty="0"/>
                  <a:t> </a:t>
                </a: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𝑛𝑝</m:t>
                    </m:r>
                    <m:r>
                      <a:rPr lang="ar-AE" b="0" i="1" smtClean="0">
                        <a:latin typeface="Cambria Math" panose="02040503050406030204" pitchFamily="18" charset="0"/>
                      </a:rPr>
                      <m:t>=</m:t>
                    </m:r>
                    <m:d>
                      <m:dPr>
                        <m:ctrlPr>
                          <a:rPr lang="ar-AE" b="0" i="1" smtClean="0">
                            <a:latin typeface="Cambria Math" panose="02040503050406030204" pitchFamily="18" charset="0"/>
                          </a:rPr>
                        </m:ctrlPr>
                      </m:dPr>
                      <m:e>
                        <m:r>
                          <a:rPr lang="ar-AE" b="0" i="1" smtClean="0">
                            <a:latin typeface="Cambria Math" panose="02040503050406030204" pitchFamily="18" charset="0"/>
                          </a:rPr>
                          <m:t>15</m:t>
                        </m:r>
                      </m:e>
                    </m:d>
                    <m:d>
                      <m:dPr>
                        <m:ctrlPr>
                          <a:rPr lang="ar-AE" b="0" i="1" smtClean="0">
                            <a:latin typeface="Cambria Math" panose="02040503050406030204" pitchFamily="18" charset="0"/>
                          </a:rPr>
                        </m:ctrlPr>
                      </m:d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18</m:t>
                        </m:r>
                      </m:e>
                    </m:d>
                    <m:r>
                      <a:rPr lang="ar-AE" b="0" i="1" smtClean="0">
                        <a:latin typeface="Cambria Math" panose="02040503050406030204" pitchFamily="18" charset="0"/>
                      </a:rPr>
                      <m:t>=</m:t>
                    </m:r>
                    <m:r>
                      <a:rPr lang="ar-AE" b="0" i="1" smtClean="0">
                        <a:latin typeface="Cambria Math" panose="02040503050406030204" pitchFamily="18" charset="0"/>
                      </a:rPr>
                      <m:t>2</m:t>
                    </m:r>
                    <m:r>
                      <a:rPr lang="ar-AE" b="0" i="1" smtClean="0">
                        <a:latin typeface="Cambria Math" panose="02040503050406030204" pitchFamily="18" charset="0"/>
                      </a:rPr>
                      <m:t>.</m:t>
                    </m:r>
                    <m:r>
                      <a:rPr lang="ar-AE" b="0" i="1" smtClean="0">
                        <a:latin typeface="Cambria Math" panose="02040503050406030204" pitchFamily="18" charset="0"/>
                      </a:rPr>
                      <m:t>7</m:t>
                    </m:r>
                    <m:r>
                      <a:rPr lang="es-ES" b="0" i="1" smtClean="0">
                        <a:latin typeface="Cambria Math" panose="02040503050406030204" pitchFamily="18" charset="0"/>
                      </a:rPr>
                      <m:t> </m:t>
                    </m:r>
                    <m:r>
                      <a:rPr lang="es-ES" b="0" i="1" smtClean="0">
                        <a:latin typeface="Cambria Math" panose="02040503050406030204" pitchFamily="18" charset="0"/>
                      </a:rPr>
                      <m:t>𝑗𝑢𝑔𝑎𝑑𝑜𝑟𝑒𝑠</m:t>
                    </m:r>
                  </m:oMath>
                </a14:m>
                <a:endParaRPr lang="ar-AE" b="0" dirty="0"/>
              </a:p>
              <a:p>
                <a:pPr marL="914400" lvl="1" indent="-457200">
                  <a:buFont typeface="+mj-lt"/>
                  <a:buAutoNum type="alphaLcParenR"/>
                </a:pPr>
                <a:r>
                  <a:rPr lang="ar-AE" dirty="0"/>
                  <a:t> </a:t>
                </a:r>
                <a14:m>
                  <m:oMath xmlns:m="http://schemas.openxmlformats.org/officeDocument/2006/math">
                    <m:r>
                      <a:rPr lang="ar-AE"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2</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begChr m:val="{"/>
                        <m:endChr m:val="}"/>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𝑃</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𝑃</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051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168</m:t>
                    </m:r>
                    <m:r>
                      <a:rPr lang="ar-AE" b="0" i="1" smtClean="0">
                        <a:latin typeface="Cambria Math" panose="02040503050406030204" pitchFamily="18" charset="0"/>
                        <a:ea typeface="Cambria Math" panose="02040503050406030204" pitchFamily="18" charset="0"/>
                      </a:rPr>
                      <m:t>=</m:t>
                    </m:r>
                    <m:r>
                      <a:rPr lang="ar-AE" b="1" i="1" smtClean="0">
                        <a:latin typeface="Cambria Math" panose="02040503050406030204" pitchFamily="18" charset="0"/>
                        <a:ea typeface="Cambria Math" panose="02040503050406030204" pitchFamily="18" charset="0"/>
                      </a:rPr>
                      <m:t>𝟎</m:t>
                    </m:r>
                    <m:r>
                      <a:rPr lang="ar-AE" b="1" i="1" smtClean="0">
                        <a:latin typeface="Cambria Math" panose="02040503050406030204" pitchFamily="18" charset="0"/>
                        <a:ea typeface="Cambria Math" panose="02040503050406030204" pitchFamily="18" charset="0"/>
                      </a:rPr>
                      <m:t>.</m:t>
                    </m:r>
                    <m:r>
                      <a:rPr lang="ar-AE" b="1" i="1" smtClean="0">
                        <a:latin typeface="Cambria Math" panose="02040503050406030204" pitchFamily="18" charset="0"/>
                        <a:ea typeface="Cambria Math" panose="02040503050406030204" pitchFamily="18" charset="0"/>
                      </a:rPr>
                      <m:t>𝟕𝟖𝟏</m:t>
                    </m:r>
                  </m:oMath>
                </a14:m>
                <a:r>
                  <a:rPr lang="ar-AE" dirty="0">
                    <a:ea typeface="Cambria Math" panose="02040503050406030204" pitchFamily="18" charset="0"/>
                  </a:rPr>
                  <a:t> </a:t>
                </a:r>
              </a:p>
              <a:p>
                <a:pPr lvl="2">
                  <a:defRPr>
                    <a:ea typeface="Cambria Math" panose="02040503050406030204" pitchFamily="18" charset="0"/>
                  </a:defRPr>
                </a:pPr>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ar-AE" b="0" i="1" smtClean="0">
                        <a:latin typeface="Cambria Math" panose="02040503050406030204" pitchFamily="18" charset="0"/>
                      </a:rPr>
                      <m:t>=</m:t>
                    </m:r>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1</m:t>
                              </m:r>
                              <m:r>
                                <a:rPr lang="es-ES" i="1">
                                  <a:latin typeface="Cambria Math" panose="02040503050406030204" pitchFamily="18" charset="0"/>
                                </a:rPr>
                                <m:t>5</m:t>
                              </m:r>
                            </m:e>
                          </m:mr>
                          <m:mr>
                            <m:e>
                              <m:r>
                                <a:rPr lang="es-ES" i="1">
                                  <a:latin typeface="Cambria Math" panose="02040503050406030204" pitchFamily="18" charset="0"/>
                                </a:rPr>
                                <m:t>0</m:t>
                              </m:r>
                            </m:e>
                          </m:mr>
                        </m:m>
                      </m:e>
                    </m:d>
                    <m:sSup>
                      <m:sSupPr>
                        <m:ctrlPr>
                          <a:rPr lang="ar-AE" i="1">
                            <a:latin typeface="Cambria Math" panose="02040503050406030204" pitchFamily="18" charset="0"/>
                          </a:rPr>
                        </m:ctrlPr>
                      </m:sSup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18</m:t>
                        </m:r>
                      </m:e>
                      <m:sup>
                        <m:r>
                          <a:rPr lang="es-ES" b="0" i="1" smtClean="0">
                            <a:latin typeface="Cambria Math" panose="02040503050406030204" pitchFamily="18" charset="0"/>
                          </a:rPr>
                          <m:t>0</m:t>
                        </m:r>
                      </m:sup>
                    </m:sSup>
                    <m:sSup>
                      <m:sSupPr>
                        <m:ctrlPr>
                          <a:rPr lang="ar-AE" i="1">
                            <a:latin typeface="Cambria Math" panose="02040503050406030204" pitchFamily="18" charset="0"/>
                          </a:rPr>
                        </m:ctrlPr>
                      </m:sSupPr>
                      <m:e>
                        <m:d>
                          <m:dPr>
                            <m:ctrlPr>
                              <a:rPr lang="ar-AE" i="1">
                                <a:latin typeface="Cambria Math" panose="02040503050406030204" pitchFamily="18" charset="0"/>
                              </a:rPr>
                            </m:ctrlPr>
                          </m:dPr>
                          <m:e>
                            <m:r>
                              <a:rPr lang="ar-AE" i="1">
                                <a:latin typeface="Cambria Math" panose="02040503050406030204" pitchFamily="18" charset="0"/>
                              </a:rPr>
                              <m:t>1</m:t>
                            </m:r>
                            <m:r>
                              <a:rPr lang="ar-AE"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18</m:t>
                            </m:r>
                          </m:e>
                        </m:d>
                      </m:e>
                      <m:sup>
                        <m:r>
                          <a:rPr lang="es-ES" b="0" i="1" smtClean="0">
                            <a:latin typeface="Cambria Math" panose="02040503050406030204" pitchFamily="18" charset="0"/>
                          </a:rPr>
                          <m:t>15</m:t>
                        </m:r>
                        <m:r>
                          <a:rPr lang="ar-AE" i="1">
                            <a:latin typeface="Cambria Math" panose="02040503050406030204" pitchFamily="18" charset="0"/>
                          </a:rPr>
                          <m:t>−</m:t>
                        </m:r>
                        <m:r>
                          <a:rPr lang="es-ES" b="0" i="1" smtClean="0">
                            <a:latin typeface="Cambria Math" panose="02040503050406030204" pitchFamily="18" charset="0"/>
                          </a:rPr>
                          <m:t>0</m:t>
                        </m:r>
                      </m:sup>
                    </m:sSup>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82</m:t>
                        </m:r>
                      </m:e>
                      <m:sup>
                        <m:r>
                          <a:rPr lang="es-ES" b="0" i="1" smtClean="0">
                            <a:latin typeface="Cambria Math" panose="02040503050406030204" pitchFamily="18" charset="0"/>
                          </a:rPr>
                          <m:t>15</m:t>
                        </m:r>
                      </m:sup>
                    </m:sSup>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051</m:t>
                    </m:r>
                  </m:oMath>
                </a14:m>
                <a:endParaRPr lang="es-ES" dirty="0"/>
              </a:p>
              <a:p>
                <a:pPr lvl="2">
                  <a:defRPr>
                    <a:ea typeface="Cambria Math" panose="02040503050406030204" pitchFamily="18" charset="0"/>
                  </a:defRPr>
                </a:pPr>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ar-AE" b="0" i="1" smtClean="0">
                        <a:latin typeface="Cambria Math" panose="02040503050406030204" pitchFamily="18" charset="0"/>
                      </a:rPr>
                      <m:t>=</m:t>
                    </m:r>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1</m:t>
                              </m:r>
                              <m:r>
                                <a:rPr lang="es-ES" i="1">
                                  <a:latin typeface="Cambria Math" panose="02040503050406030204" pitchFamily="18" charset="0"/>
                                </a:rPr>
                                <m:t>5</m:t>
                              </m:r>
                            </m:e>
                          </m:mr>
                          <m:mr>
                            <m:e>
                              <m:r>
                                <a:rPr lang="es-ES" b="0" i="1" smtClean="0">
                                  <a:latin typeface="Cambria Math" panose="02040503050406030204" pitchFamily="18" charset="0"/>
                                </a:rPr>
                                <m:t>1</m:t>
                              </m:r>
                            </m:e>
                          </m:mr>
                        </m:m>
                      </m:e>
                    </m:d>
                    <m:sSup>
                      <m:sSupPr>
                        <m:ctrlPr>
                          <a:rPr lang="ar-AE" i="1">
                            <a:latin typeface="Cambria Math" panose="02040503050406030204" pitchFamily="18" charset="0"/>
                          </a:rPr>
                        </m:ctrlPr>
                      </m:sSup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18</m:t>
                        </m:r>
                      </m:e>
                      <m:sup>
                        <m:r>
                          <a:rPr lang="es-ES" b="0" i="1" smtClean="0">
                            <a:latin typeface="Cambria Math" panose="02040503050406030204" pitchFamily="18" charset="0"/>
                          </a:rPr>
                          <m:t>1</m:t>
                        </m:r>
                      </m:sup>
                    </m:sSup>
                    <m:sSup>
                      <m:sSupPr>
                        <m:ctrlPr>
                          <a:rPr lang="ar-AE" i="1">
                            <a:latin typeface="Cambria Math" panose="02040503050406030204" pitchFamily="18" charset="0"/>
                          </a:rPr>
                        </m:ctrlPr>
                      </m:sSupPr>
                      <m:e>
                        <m:d>
                          <m:dPr>
                            <m:ctrlPr>
                              <a:rPr lang="ar-AE" i="1">
                                <a:latin typeface="Cambria Math" panose="02040503050406030204" pitchFamily="18" charset="0"/>
                              </a:rPr>
                            </m:ctrlPr>
                          </m:dPr>
                          <m:e>
                            <m:r>
                              <a:rPr lang="ar-AE" i="1">
                                <a:latin typeface="Cambria Math" panose="02040503050406030204" pitchFamily="18" charset="0"/>
                              </a:rPr>
                              <m:t>1</m:t>
                            </m:r>
                            <m:r>
                              <a:rPr lang="ar-AE"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18</m:t>
                            </m:r>
                          </m:e>
                        </m:d>
                      </m:e>
                      <m:sup>
                        <m:r>
                          <a:rPr lang="es-ES" b="0" i="1" smtClean="0">
                            <a:latin typeface="Cambria Math" panose="02040503050406030204" pitchFamily="18" charset="0"/>
                          </a:rPr>
                          <m:t>15</m:t>
                        </m:r>
                        <m:r>
                          <a:rPr lang="ar-AE" i="1">
                            <a:latin typeface="Cambria Math" panose="02040503050406030204" pitchFamily="18" charset="0"/>
                          </a:rPr>
                          <m:t>−</m:t>
                        </m:r>
                        <m:r>
                          <a:rPr lang="es-ES" b="0" i="1" smtClean="0">
                            <a:latin typeface="Cambria Math" panose="02040503050406030204" pitchFamily="18" charset="0"/>
                          </a:rPr>
                          <m:t>1</m:t>
                        </m:r>
                      </m:sup>
                    </m:sSup>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m:t>
                        </m:r>
                        <m:r>
                          <a:rPr lang="es-ES" b="0" i="1" smtClean="0">
                            <a:latin typeface="Cambria Math" panose="02040503050406030204" pitchFamily="18" charset="0"/>
                          </a:rPr>
                          <m:t>15</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18</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82</m:t>
                        </m:r>
                        <m:r>
                          <a:rPr lang="es-ES" b="0" i="1" smtClean="0">
                            <a:latin typeface="Cambria Math" panose="02040503050406030204" pitchFamily="18" charset="0"/>
                          </a:rPr>
                          <m:t>)</m:t>
                        </m:r>
                      </m:e>
                      <m:sup>
                        <m:r>
                          <a:rPr lang="es-ES" b="0" i="1" smtClean="0">
                            <a:latin typeface="Cambria Math" panose="02040503050406030204" pitchFamily="18" charset="0"/>
                          </a:rPr>
                          <m:t>14</m:t>
                        </m:r>
                      </m:sup>
                    </m:sSup>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168</m:t>
                    </m:r>
                  </m:oMath>
                </a14:m>
                <a:endParaRPr lang="es-ES" dirty="0"/>
              </a:p>
            </p:txBody>
          </p:sp>
        </mc:Choice>
        <mc:Fallback xmlns="">
          <p:sp>
            <p:nvSpPr>
              <p:cNvPr id="3" name="Marcador de contenido 2">
                <a:extLst>
                  <a:ext uri="{FF2B5EF4-FFF2-40B4-BE49-F238E27FC236}">
                    <a16:creationId xmlns:a16="http://schemas.microsoft.com/office/drawing/2014/main" id="{111CA46C-8793-7F0A-3B46-8CBB27760382}"/>
                  </a:ext>
                </a:extLst>
              </p:cNvPr>
              <p:cNvSpPr>
                <a:spLocks noGrp="1" noRot="1" noChangeAspect="1" noMove="1" noResize="1" noEditPoints="1" noAdjustHandles="1" noChangeArrowheads="1" noChangeShapeType="1" noTextEdit="1"/>
              </p:cNvSpPr>
              <p:nvPr>
                <p:ph idx="1"/>
              </p:nvPr>
            </p:nvSpPr>
            <p:spPr>
              <a:blipFill>
                <a:blip r:embed="rId2"/>
                <a:stretch>
                  <a:fillRect l="-812" t="-322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17A2E-B3E3-E697-AB61-6FD8AE808DC6}"/>
              </a:ext>
            </a:extLst>
          </p:cNvPr>
          <p:cNvSpPr>
            <a:spLocks noGrp="1"/>
          </p:cNvSpPr>
          <p:nvPr>
            <p:ph type="sldNum" sz="quarter" idx="12"/>
          </p:nvPr>
        </p:nvSpPr>
        <p:spPr/>
        <p:txBody>
          <a:bodyPr/>
          <a:lstStyle/>
          <a:p>
            <a:fld id="{336CAFD0-1F6E-4E11-9822-836563A02839}" type="slidenum">
              <a:rPr lang="es-ES" smtClean="0"/>
              <a:t>54</a:t>
            </a:fld>
            <a:endParaRPr lang="es-ES"/>
          </a:p>
        </p:txBody>
      </p:sp>
    </p:spTree>
    <p:extLst>
      <p:ext uri="{BB962C8B-B14F-4D97-AF65-F5344CB8AC3E}">
        <p14:creationId xmlns:p14="http://schemas.microsoft.com/office/powerpoint/2010/main" val="15305350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28AA593C-1705-2664-F949-15B6ADCE73E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173480" y="2859087"/>
            <a:ext cx="7772400" cy="3171825"/>
          </a:xfrm>
          <a:prstGeom prst="rect">
            <a:avLst/>
          </a:prstGeom>
        </p:spPr>
      </p:pic>
      <p:sp>
        <p:nvSpPr>
          <p:cNvPr id="2" name="Título 1">
            <a:extLst>
              <a:ext uri="{FF2B5EF4-FFF2-40B4-BE49-F238E27FC236}">
                <a16:creationId xmlns:a16="http://schemas.microsoft.com/office/drawing/2014/main" id="{61F8BC9B-2899-08CA-2297-097A3C2A0A28}"/>
              </a:ext>
            </a:extLst>
          </p:cNvPr>
          <p:cNvSpPr>
            <a:spLocks noGrp="1"/>
          </p:cNvSpPr>
          <p:nvPr>
            <p:ph type="title"/>
          </p:nvPr>
        </p:nvSpPr>
        <p:spPr/>
        <p:txBody>
          <a:bodyPr>
            <a:normAutofit/>
          </a:bodyPr>
          <a:lstStyle/>
          <a:p>
            <a:r>
              <a:rPr lang="es-ES" dirty="0"/>
              <a:t>9. D</a:t>
            </a:r>
            <a:r>
              <a:rPr dirty="0" err="1"/>
              <a:t>istribución</a:t>
            </a:r>
            <a:r>
              <a:rPr dirty="0"/>
              <a:t> </a:t>
            </a:r>
            <a:r>
              <a:rPr lang="es-ES" dirty="0"/>
              <a:t>Binomial</a:t>
            </a:r>
            <a:br>
              <a:rPr lang="es-ES" dirty="0"/>
            </a:br>
            <a:r>
              <a:rPr dirty="0" err="1"/>
              <a:t>Ejemplo</a:t>
            </a:r>
            <a:r>
              <a:rPr dirty="0"/>
              <a:t> 3.17 (</a:t>
            </a:r>
            <a:r>
              <a:rPr dirty="0" err="1"/>
              <a:t>Solución</a:t>
            </a:r>
            <a:r>
              <a:rPr dirty="0"/>
              <a:t>) </a:t>
            </a:r>
            <a:r>
              <a:rPr dirty="0" err="1"/>
              <a:t>Interpretación</a:t>
            </a:r>
            <a:r>
              <a:rPr dirty="0"/>
              <a:t> </a:t>
            </a:r>
            <a:r>
              <a:rPr dirty="0" err="1"/>
              <a:t>gráfica</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7707946-EFEC-F456-1931-0828E9D17E21}"/>
                  </a:ext>
                </a:extLst>
              </p:cNvPr>
              <p:cNvSpPr>
                <a:spLocks noGrp="1"/>
              </p:cNvSpPr>
              <p:nvPr>
                <p:ph idx="1"/>
              </p:nvPr>
            </p:nvSpPr>
            <p:spPr/>
            <p:txBody>
              <a:bodyPr/>
              <a:lstStyle/>
              <a:p>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𝑋</m:t>
                    </m:r>
                    <m:r>
                      <a:rPr lang="es-ES" i="1" dirty="0" smtClean="0">
                        <a:latin typeface="Cambria Math" panose="02040503050406030204" pitchFamily="18" charset="0"/>
                      </a:rPr>
                      <m:t>≥ </m:t>
                    </m:r>
                    <m:r>
                      <a:rPr lang="es-ES" i="1" dirty="0" smtClean="0">
                        <a:latin typeface="Cambria Math" panose="02040503050406030204" pitchFamily="18" charset="0"/>
                      </a:rPr>
                      <m:t>2</m:t>
                    </m:r>
                    <m:r>
                      <a:rPr lang="es-ES" i="1" dirty="0" smtClean="0">
                        <a:latin typeface="Cambria Math" panose="02040503050406030204" pitchFamily="18" charset="0"/>
                      </a:rPr>
                      <m:t>}</m:t>
                    </m:r>
                  </m:oMath>
                </a14:m>
                <a:r>
                  <a:rPr dirty="0"/>
                  <a:t> es la </a:t>
                </a:r>
                <a:r>
                  <a:rPr dirty="0" err="1"/>
                  <a:t>suma</a:t>
                </a:r>
                <a:r>
                  <a:rPr dirty="0"/>
                  <a:t> de la </a:t>
                </a:r>
                <a:r>
                  <a:rPr dirty="0" err="1"/>
                  <a:t>longitud</a:t>
                </a:r>
                <a:r>
                  <a:rPr dirty="0"/>
                  <a:t> de las </a:t>
                </a:r>
                <a:r>
                  <a:rPr dirty="0" err="1"/>
                  <a:t>líneas</a:t>
                </a:r>
                <a:r>
                  <a:rPr dirty="0"/>
                  <a:t> de </a:t>
                </a:r>
                <a:r>
                  <a:rPr lang="es-ES" dirty="0"/>
                  <a:t>X</a:t>
                </a:r>
                <a14:m>
                  <m:oMath xmlns:m="http://schemas.openxmlformats.org/officeDocument/2006/math">
                    <m:r>
                      <a:rPr lang="es-ES" i="1" dirty="0" smtClean="0">
                        <a:latin typeface="Cambria Math" panose="02040503050406030204" pitchFamily="18" charset="0"/>
                      </a:rPr>
                      <m:t>=</m:t>
                    </m:r>
                    <m:r>
                      <a:rPr lang="es-ES" i="1" dirty="0" smtClean="0">
                        <a:latin typeface="Cambria Math" panose="02040503050406030204" pitchFamily="18" charset="0"/>
                      </a:rPr>
                      <m:t>2</m:t>
                    </m:r>
                  </m:oMath>
                </a14:m>
                <a:r>
                  <a:rPr dirty="0"/>
                  <a:t> a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m:t>
                    </m:r>
                    <m:r>
                      <a:rPr lang="es-ES" i="1" dirty="0" smtClean="0">
                        <a:latin typeface="Cambria Math" panose="02040503050406030204" pitchFamily="18" charset="0"/>
                      </a:rPr>
                      <m:t>15</m:t>
                    </m:r>
                  </m:oMath>
                </a14:m>
                <a:endParaRPr dirty="0"/>
              </a:p>
            </p:txBody>
          </p:sp>
        </mc:Choice>
        <mc:Fallback xmlns="">
          <p:sp>
            <p:nvSpPr>
              <p:cNvPr id="3" name="Marcador de contenido 2">
                <a:extLst>
                  <a:ext uri="{FF2B5EF4-FFF2-40B4-BE49-F238E27FC236}">
                    <a16:creationId xmlns:a16="http://schemas.microsoft.com/office/drawing/2014/main" id="{67707946-EFEC-F456-1931-0828E9D17E21}"/>
                  </a:ext>
                </a:extLst>
              </p:cNvPr>
              <p:cNvSpPr>
                <a:spLocks noGrp="1" noRot="1" noChangeAspect="1" noMove="1" noResize="1" noEditPoints="1" noAdjustHandles="1" noChangeArrowheads="1" noChangeShapeType="1" noTextEdit="1"/>
              </p:cNvSpPr>
              <p:nvPr>
                <p:ph idx="1"/>
              </p:nvPr>
            </p:nvSpPr>
            <p:spPr>
              <a:blipFill>
                <a:blip r:embed="rId3"/>
                <a:stretch>
                  <a:fillRect t="-112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AA1984AA-D5E8-A2D3-05DE-BF032731D61D}"/>
              </a:ext>
            </a:extLst>
          </p:cNvPr>
          <p:cNvSpPr>
            <a:spLocks noGrp="1"/>
          </p:cNvSpPr>
          <p:nvPr>
            <p:ph type="sldNum" sz="quarter" idx="12"/>
          </p:nvPr>
        </p:nvSpPr>
        <p:spPr/>
        <p:txBody>
          <a:bodyPr/>
          <a:lstStyle/>
          <a:p>
            <a:fld id="{336CAFD0-1F6E-4E11-9822-836563A02839}" type="slidenum">
              <a:rPr lang="es-ES" smtClean="0"/>
              <a:t>55</a:t>
            </a:fld>
            <a:endParaRPr lang="es-ES"/>
          </a:p>
        </p:txBody>
      </p:sp>
      <p:sp>
        <p:nvSpPr>
          <p:cNvPr id="7" name="Rectángulo 6">
            <a:extLst>
              <a:ext uri="{FF2B5EF4-FFF2-40B4-BE49-F238E27FC236}">
                <a16:creationId xmlns:a16="http://schemas.microsoft.com/office/drawing/2014/main" id="{E3545DD3-B687-1618-1E30-5F74C16D93D1}"/>
              </a:ext>
              <a:ext uri="{C183D7F6-B498-43B3-948B-1728B52AA6E4}">
                <adec:decorative xmlns:adec="http://schemas.microsoft.com/office/drawing/2017/decorative" val="1"/>
              </a:ext>
            </a:extLst>
          </p:cNvPr>
          <p:cNvSpPr/>
          <p:nvPr/>
        </p:nvSpPr>
        <p:spPr>
          <a:xfrm>
            <a:off x="2976880" y="2679700"/>
            <a:ext cx="5750560" cy="304038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 name="CuadroTexto 8">
            <a:extLst>
              <a:ext uri="{FF2B5EF4-FFF2-40B4-BE49-F238E27FC236}">
                <a16:creationId xmlns:a16="http://schemas.microsoft.com/office/drawing/2014/main" id="{1C1EFF18-E336-D9DF-3B96-66EEC2671556}"/>
              </a:ext>
              <a:ext uri="{C183D7F6-B498-43B3-948B-1728B52AA6E4}">
                <adec:decorative xmlns:adec="http://schemas.microsoft.com/office/drawing/2017/decorative" val="1"/>
              </a:ext>
            </a:extLst>
          </p:cNvPr>
          <p:cNvSpPr txBox="1"/>
          <p:nvPr/>
        </p:nvSpPr>
        <p:spPr>
          <a:xfrm>
            <a:off x="2976880" y="6127234"/>
            <a:ext cx="980505" cy="369332"/>
          </a:xfrm>
          <a:prstGeom prst="rect">
            <a:avLst/>
          </a:prstGeom>
          <a:noFill/>
          <a:ln>
            <a:solidFill>
              <a:srgbClr val="C00000"/>
            </a:solidFill>
          </a:ln>
        </p:spPr>
        <p:txBody>
          <a:bodyPr wrap="square">
            <a:spAutoFit/>
          </a:bodyPr>
          <a:lstStyle/>
          <a:p>
            <a:pPr>
              <a:defRPr b="1">
                <a:solidFill>
                  <a:srgbClr val="C00000"/>
                </a:solidFill>
              </a:defRPr>
            </a:pPr>
            <a:r>
              <a:t>E(X)=2,7</a:t>
            </a:r>
          </a:p>
        </p:txBody>
      </p:sp>
      <p:sp>
        <p:nvSpPr>
          <p:cNvPr id="11" name="Flecha: hacia abajo 10">
            <a:extLst>
              <a:ext uri="{FF2B5EF4-FFF2-40B4-BE49-F238E27FC236}">
                <a16:creationId xmlns:a16="http://schemas.microsoft.com/office/drawing/2014/main" id="{251A6FFC-83AB-DDAB-2C4C-BC1A60E23189}"/>
              </a:ext>
              <a:ext uri="{C183D7F6-B498-43B3-948B-1728B52AA6E4}">
                <adec:decorative xmlns:adec="http://schemas.microsoft.com/office/drawing/2017/decorative" val="1"/>
              </a:ext>
            </a:extLst>
          </p:cNvPr>
          <p:cNvSpPr/>
          <p:nvPr/>
        </p:nvSpPr>
        <p:spPr>
          <a:xfrm flipV="1">
            <a:off x="3434079" y="5516879"/>
            <a:ext cx="152401" cy="57235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Tree>
    <p:extLst>
      <p:ext uri="{BB962C8B-B14F-4D97-AF65-F5344CB8AC3E}">
        <p14:creationId xmlns:p14="http://schemas.microsoft.com/office/powerpoint/2010/main" val="8573932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9. D</a:t>
            </a:r>
            <a:r>
              <a:rPr dirty="0" err="1"/>
              <a:t>istribución</a:t>
            </a:r>
            <a:r>
              <a:rPr dirty="0"/>
              <a:t> </a:t>
            </a:r>
            <a:r>
              <a:rPr lang="es-ES" dirty="0"/>
              <a:t>Binomial</a:t>
            </a:r>
            <a:br>
              <a:rPr lang="es-ES" dirty="0"/>
            </a:br>
            <a:r>
              <a:rPr dirty="0" err="1"/>
              <a:t>Ejercicios</a:t>
            </a:r>
            <a:r>
              <a:rPr dirty="0"/>
              <a:t> </a:t>
            </a:r>
            <a:r>
              <a:rPr dirty="0" err="1"/>
              <a:t>propuestos</a:t>
            </a:r>
            <a:endParaRPr dirty="0"/>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r>
              <a:rPr dirty="0" err="1"/>
              <a:t>Ejercicios</a:t>
            </a:r>
            <a:r>
              <a:rPr dirty="0"/>
              <a:t> 3.20 a 3.24, y 3.36 del </a:t>
            </a:r>
            <a:r>
              <a:rPr dirty="0" err="1"/>
              <a:t>libro</a:t>
            </a:r>
            <a:endParaRPr dirty="0"/>
          </a:p>
          <a:p>
            <a:pPr lvl="1"/>
            <a:r>
              <a:rPr dirty="0"/>
              <a:t>Las </a:t>
            </a:r>
            <a:r>
              <a:rPr dirty="0" err="1"/>
              <a:t>respuestas</a:t>
            </a:r>
            <a:r>
              <a:rPr dirty="0"/>
              <a:t> de</a:t>
            </a:r>
            <a:r>
              <a:rPr lang="es-ES" dirty="0"/>
              <a:t>l</a:t>
            </a:r>
            <a:r>
              <a:rPr dirty="0"/>
              <a:t> 3.20 a</a:t>
            </a:r>
            <a:r>
              <a:rPr lang="es-ES" dirty="0"/>
              <a:t>l</a:t>
            </a:r>
            <a:r>
              <a:rPr dirty="0"/>
              <a:t> 3.24 </a:t>
            </a:r>
            <a:r>
              <a:rPr dirty="0" err="1"/>
              <a:t>están</a:t>
            </a:r>
            <a:r>
              <a:rPr dirty="0"/>
              <a:t> </a:t>
            </a:r>
            <a:r>
              <a:rPr dirty="0" err="1"/>
              <a:t>disponibles</a:t>
            </a:r>
            <a:r>
              <a:rPr dirty="0"/>
              <a:t> en </a:t>
            </a:r>
            <a:r>
              <a:rPr lang="es-ES" sz="2400" b="0" strike="noStrike" spc="-1" dirty="0">
                <a:solidFill>
                  <a:srgbClr val="000000"/>
                </a:solidFill>
                <a:latin typeface="Calibri"/>
              </a:rPr>
              <a:t>el libro.</a:t>
            </a:r>
            <a:endParaRPr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56</a:t>
            </a:fld>
            <a:endParaRPr lang="es-ES"/>
          </a:p>
        </p:txBody>
      </p:sp>
    </p:spTree>
    <p:extLst>
      <p:ext uri="{BB962C8B-B14F-4D97-AF65-F5344CB8AC3E}">
        <p14:creationId xmlns:p14="http://schemas.microsoft.com/office/powerpoint/2010/main" val="37375538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DCCD44-580C-2349-7CEE-F5FF8F4FBDC1}"/>
              </a:ext>
            </a:extLst>
          </p:cNvPr>
          <p:cNvSpPr>
            <a:spLocks noGrp="1"/>
          </p:cNvSpPr>
          <p:nvPr>
            <p:ph type="title"/>
          </p:nvPr>
        </p:nvSpPr>
        <p:spPr/>
        <p:txBody>
          <a:bodyPr/>
          <a:lstStyle/>
          <a:p>
            <a:r>
              <a:rPr lang="es-ES" dirty="0"/>
              <a:t>10. D</a:t>
            </a:r>
            <a:r>
              <a:rPr dirty="0" err="1"/>
              <a:t>istribución</a:t>
            </a:r>
            <a:r>
              <a:rPr dirty="0"/>
              <a:t> </a:t>
            </a:r>
            <a:r>
              <a:rPr lang="es-ES" dirty="0"/>
              <a:t>Geométrica</a:t>
            </a:r>
            <a:endParaRPr dirty="0"/>
          </a:p>
        </p:txBody>
      </p:sp>
      <p:sp>
        <p:nvSpPr>
          <p:cNvPr id="3" name="Marcador de contenido 2">
            <a:extLst>
              <a:ext uri="{FF2B5EF4-FFF2-40B4-BE49-F238E27FC236}">
                <a16:creationId xmlns:a16="http://schemas.microsoft.com/office/drawing/2014/main" id="{25AB056D-72CF-52F5-8FF5-B85155761FED}"/>
              </a:ext>
            </a:extLst>
          </p:cNvPr>
          <p:cNvSpPr>
            <a:spLocks noGrp="1"/>
          </p:cNvSpPr>
          <p:nvPr>
            <p:ph idx="1"/>
          </p:nvPr>
        </p:nvSpPr>
        <p:spPr/>
        <p:txBody>
          <a:bodyPr>
            <a:normAutofit fontScale="92500"/>
          </a:bodyPr>
          <a:lstStyle/>
          <a:p>
            <a:r>
              <a:rPr dirty="0"/>
              <a:t>Una variable </a:t>
            </a:r>
            <a:r>
              <a:rPr lang="es-ES" dirty="0"/>
              <a:t>aleatoria </a:t>
            </a:r>
            <a:r>
              <a:rPr dirty="0" err="1"/>
              <a:t>descrita</a:t>
            </a:r>
            <a:r>
              <a:rPr dirty="0"/>
              <a:t> </a:t>
            </a:r>
            <a:r>
              <a:rPr dirty="0" err="1"/>
              <a:t>como</a:t>
            </a:r>
            <a:r>
              <a:rPr dirty="0"/>
              <a:t> </a:t>
            </a:r>
            <a:r>
              <a:rPr lang="es-ES" dirty="0"/>
              <a:t>"</a:t>
            </a:r>
            <a:r>
              <a:rPr dirty="0" err="1"/>
              <a:t>el</a:t>
            </a:r>
            <a:r>
              <a:rPr dirty="0"/>
              <a:t> </a:t>
            </a:r>
            <a:r>
              <a:rPr dirty="0" err="1"/>
              <a:t>número</a:t>
            </a:r>
            <a:r>
              <a:rPr dirty="0"/>
              <a:t> de </a:t>
            </a:r>
            <a:r>
              <a:rPr dirty="0" err="1"/>
              <a:t>ensayos</a:t>
            </a:r>
            <a:r>
              <a:rPr dirty="0"/>
              <a:t> </a:t>
            </a:r>
            <a:r>
              <a:rPr dirty="0" err="1"/>
              <a:t>necesarios</a:t>
            </a:r>
            <a:r>
              <a:rPr dirty="0"/>
              <a:t> para </a:t>
            </a:r>
            <a:r>
              <a:rPr dirty="0" err="1"/>
              <a:t>obtener</a:t>
            </a:r>
            <a:r>
              <a:rPr dirty="0"/>
              <a:t> </a:t>
            </a:r>
            <a:r>
              <a:rPr dirty="0" err="1"/>
              <a:t>el</a:t>
            </a:r>
            <a:r>
              <a:rPr dirty="0"/>
              <a:t> primer </a:t>
            </a:r>
            <a:r>
              <a:rPr dirty="0" err="1"/>
              <a:t>éxito</a:t>
            </a:r>
            <a:r>
              <a:rPr dirty="0"/>
              <a:t> en </a:t>
            </a:r>
            <a:r>
              <a:rPr dirty="0" err="1"/>
              <a:t>una</a:t>
            </a:r>
            <a:r>
              <a:rPr dirty="0"/>
              <a:t> </a:t>
            </a:r>
            <a:r>
              <a:rPr dirty="0" err="1"/>
              <a:t>secuencia</a:t>
            </a:r>
            <a:r>
              <a:rPr dirty="0"/>
              <a:t> de </a:t>
            </a:r>
            <a:r>
              <a:rPr dirty="0" err="1"/>
              <a:t>ensayos</a:t>
            </a:r>
            <a:r>
              <a:rPr dirty="0"/>
              <a:t> </a:t>
            </a:r>
            <a:r>
              <a:rPr dirty="0" err="1"/>
              <a:t>independientes</a:t>
            </a:r>
            <a:r>
              <a:rPr dirty="0"/>
              <a:t> de Bernoulli</a:t>
            </a:r>
            <a:r>
              <a:rPr lang="es-ES" dirty="0"/>
              <a:t>“,</a:t>
            </a:r>
            <a:r>
              <a:rPr dirty="0"/>
              <a:t> </a:t>
            </a:r>
            <a:r>
              <a:rPr dirty="0" err="1"/>
              <a:t>tiene</a:t>
            </a:r>
            <a:r>
              <a:rPr dirty="0"/>
              <a:t> </a:t>
            </a:r>
            <a:r>
              <a:rPr lang="es-ES" dirty="0"/>
              <a:t>una </a:t>
            </a:r>
            <a:r>
              <a:rPr dirty="0" err="1"/>
              <a:t>distribución</a:t>
            </a:r>
            <a:r>
              <a:rPr dirty="0"/>
              <a:t> </a:t>
            </a:r>
            <a:r>
              <a:rPr lang="es-ES" dirty="0"/>
              <a:t>de probabilidad Geométrica</a:t>
            </a:r>
            <a:r>
              <a:rPr dirty="0"/>
              <a:t>. </a:t>
            </a:r>
          </a:p>
          <a:p>
            <a:r>
              <a:rPr dirty="0" err="1"/>
              <a:t>Su</a:t>
            </a:r>
            <a:r>
              <a:rPr dirty="0"/>
              <a:t> </a:t>
            </a:r>
            <a:r>
              <a:rPr dirty="0" err="1"/>
              <a:t>único</a:t>
            </a:r>
            <a:r>
              <a:rPr dirty="0"/>
              <a:t> </a:t>
            </a:r>
            <a:r>
              <a:rPr dirty="0" err="1"/>
              <a:t>parámetro</a:t>
            </a:r>
            <a:r>
              <a:rPr dirty="0"/>
              <a:t> es p, la </a:t>
            </a:r>
            <a:r>
              <a:rPr dirty="0" err="1"/>
              <a:t>probabilidad</a:t>
            </a:r>
            <a:r>
              <a:rPr dirty="0"/>
              <a:t> de </a:t>
            </a:r>
            <a:r>
              <a:rPr dirty="0" err="1"/>
              <a:t>éxito</a:t>
            </a:r>
            <a:r>
              <a:rPr dirty="0"/>
              <a:t> en un </a:t>
            </a:r>
            <a:r>
              <a:rPr dirty="0" err="1"/>
              <a:t>ensayo</a:t>
            </a:r>
            <a:endParaRPr dirty="0"/>
          </a:p>
          <a:p>
            <a:r>
              <a:rPr dirty="0" err="1"/>
              <a:t>Ejemplos</a:t>
            </a:r>
            <a:r>
              <a:rPr dirty="0"/>
              <a:t>:</a:t>
            </a:r>
          </a:p>
          <a:p>
            <a:pPr lvl="1"/>
            <a:r>
              <a:rPr dirty="0"/>
              <a:t>Un </a:t>
            </a:r>
            <a:r>
              <a:rPr lang="es-ES" dirty="0"/>
              <a:t>buscador web rastrea una </a:t>
            </a:r>
            <a:r>
              <a:rPr dirty="0" err="1"/>
              <a:t>lista</a:t>
            </a:r>
            <a:r>
              <a:rPr dirty="0"/>
              <a:t> de </a:t>
            </a:r>
            <a:r>
              <a:rPr lang="es-ES" dirty="0"/>
              <a:t>páginas web hasta encontrar una que contenga la palabra indicada por el usuario. El número de páginas rastreadas hasta encontrar la primera que contiene la palabra, es una variable aleatoria Geométrica</a:t>
            </a:r>
            <a:r>
              <a:rPr dirty="0"/>
              <a:t>.</a:t>
            </a:r>
          </a:p>
          <a:p>
            <a:pPr lvl="1"/>
            <a:r>
              <a:rPr dirty="0"/>
              <a:t>Un </a:t>
            </a:r>
            <a:r>
              <a:rPr lang="es-ES" dirty="0"/>
              <a:t>responsable de recursos humanos </a:t>
            </a:r>
            <a:r>
              <a:rPr dirty="0" err="1"/>
              <a:t>entrevista</a:t>
            </a:r>
            <a:r>
              <a:rPr dirty="0"/>
              <a:t> </a:t>
            </a:r>
            <a:r>
              <a:rPr lang="es-ES" dirty="0"/>
              <a:t>uno por uno </a:t>
            </a:r>
            <a:r>
              <a:rPr dirty="0"/>
              <a:t>a los </a:t>
            </a:r>
            <a:r>
              <a:rPr dirty="0" err="1"/>
              <a:t>candidatos</a:t>
            </a:r>
            <a:r>
              <a:rPr lang="es-ES" dirty="0"/>
              <a:t> para una oferta de trabajo. </a:t>
            </a:r>
            <a:r>
              <a:rPr dirty="0"/>
              <a:t>El </a:t>
            </a:r>
            <a:r>
              <a:rPr dirty="0" err="1"/>
              <a:t>número</a:t>
            </a:r>
            <a:r>
              <a:rPr dirty="0"/>
              <a:t> de </a:t>
            </a:r>
            <a:r>
              <a:rPr dirty="0" err="1"/>
              <a:t>candidatos</a:t>
            </a:r>
            <a:r>
              <a:rPr dirty="0"/>
              <a:t> </a:t>
            </a:r>
            <a:r>
              <a:rPr dirty="0" err="1"/>
              <a:t>entrevistados</a:t>
            </a:r>
            <a:r>
              <a:rPr dirty="0"/>
              <a:t> hasta </a:t>
            </a:r>
            <a:r>
              <a:rPr lang="es-ES" dirty="0"/>
              <a:t>encontrar al que cumple las condiciones de la oferta, </a:t>
            </a:r>
            <a:r>
              <a:rPr dirty="0" err="1"/>
              <a:t>tiene</a:t>
            </a:r>
            <a:r>
              <a:rPr dirty="0"/>
              <a:t> </a:t>
            </a:r>
            <a:r>
              <a:rPr dirty="0" err="1"/>
              <a:t>distribución</a:t>
            </a:r>
            <a:r>
              <a:rPr dirty="0"/>
              <a:t> </a:t>
            </a:r>
            <a:r>
              <a:rPr lang="es-ES" dirty="0"/>
              <a:t>Geométrica</a:t>
            </a:r>
            <a:r>
              <a:rPr dirty="0"/>
              <a:t>.</a:t>
            </a:r>
          </a:p>
          <a:p>
            <a:endParaRPr dirty="0"/>
          </a:p>
        </p:txBody>
      </p:sp>
      <p:sp>
        <p:nvSpPr>
          <p:cNvPr id="4" name="Marcador de número de diapositiva 3">
            <a:extLst>
              <a:ext uri="{FF2B5EF4-FFF2-40B4-BE49-F238E27FC236}">
                <a16:creationId xmlns:a16="http://schemas.microsoft.com/office/drawing/2014/main" id="{2A3D8405-81F4-D68B-4EC1-54B535619CF5}"/>
              </a:ext>
            </a:extLst>
          </p:cNvPr>
          <p:cNvSpPr>
            <a:spLocks noGrp="1"/>
          </p:cNvSpPr>
          <p:nvPr>
            <p:ph type="sldNum" sz="quarter" idx="12"/>
          </p:nvPr>
        </p:nvSpPr>
        <p:spPr/>
        <p:txBody>
          <a:bodyPr/>
          <a:lstStyle/>
          <a:p>
            <a:fld id="{336CAFD0-1F6E-4E11-9822-836563A02839}" type="slidenum">
              <a:rPr lang="es-ES" smtClean="0"/>
              <a:t>57</a:t>
            </a:fld>
            <a:endParaRPr lang="es-ES"/>
          </a:p>
        </p:txBody>
      </p:sp>
    </p:spTree>
    <p:extLst>
      <p:ext uri="{BB962C8B-B14F-4D97-AF65-F5344CB8AC3E}">
        <p14:creationId xmlns:p14="http://schemas.microsoft.com/office/powerpoint/2010/main" val="35162295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10. D</a:t>
            </a:r>
            <a:r>
              <a:rPr dirty="0" err="1"/>
              <a:t>istribución</a:t>
            </a:r>
            <a:r>
              <a:rPr dirty="0"/>
              <a:t> </a:t>
            </a:r>
            <a:r>
              <a:rPr lang="es-ES" dirty="0"/>
              <a:t>Geométrica</a:t>
            </a:r>
            <a:br>
              <a:rPr lang="es-ES" dirty="0"/>
            </a:br>
            <a:r>
              <a:rPr dirty="0" err="1"/>
              <a:t>Resumen</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10515600" cy="4667250"/>
              </a:xfrm>
            </p:spPr>
            <p:txBody>
              <a:bodyPr>
                <a:normAutofit fontScale="70000" lnSpcReduction="20000"/>
              </a:bodyPr>
              <a:lstStyle/>
              <a:p>
                <a:r>
                  <a:rPr dirty="0"/>
                  <a:t>X: Variable </a:t>
                </a:r>
                <a:r>
                  <a:rPr dirty="0" err="1"/>
                  <a:t>aleatoria</a:t>
                </a:r>
                <a:r>
                  <a:rPr dirty="0"/>
                  <a:t> con </a:t>
                </a:r>
                <a:r>
                  <a:rPr dirty="0" err="1"/>
                  <a:t>distribución</a:t>
                </a:r>
                <a:r>
                  <a:rPr dirty="0"/>
                  <a:t>  </a:t>
                </a:r>
                <a:r>
                  <a:rPr lang="es-ES" i="1" dirty="0"/>
                  <a:t>Geométrica </a:t>
                </a:r>
                <a:r>
                  <a:rPr lang="es-ES" i="1" dirty="0">
                    <a:sym typeface="Wingdings" panose="05000000000000000000" pitchFamily="2" charset="2"/>
                  </a:rPr>
                  <a:t></a:t>
                </a:r>
                <a:r>
                  <a:rPr i="1" dirty="0"/>
                  <a:t>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 </m:t>
                    </m:r>
                    <m:r>
                      <a:rPr lang="es-ES" i="1" dirty="0" err="1">
                        <a:latin typeface="Cambria Math" panose="02040503050406030204" pitchFamily="18" charset="0"/>
                      </a:rPr>
                      <m:t>𝐺𝑒𝑜𝑚𝑒𝑡𝑟𝑖𝑐</m:t>
                    </m:r>
                    <m:r>
                      <a:rPr lang="es-ES" i="1" dirty="0">
                        <a:latin typeface="Cambria Math" panose="02040503050406030204" pitchFamily="18" charset="0"/>
                      </a:rPr>
                      <m:t>(</m:t>
                    </m:r>
                    <m:r>
                      <a:rPr lang="es-ES" i="1" dirty="0">
                        <a:latin typeface="Cambria Math" panose="02040503050406030204" pitchFamily="18" charset="0"/>
                      </a:rPr>
                      <m:t>𝑝</m:t>
                    </m:r>
                    <m:r>
                      <a:rPr lang="es-ES" i="1" dirty="0">
                        <a:latin typeface="Cambria Math" panose="02040503050406030204" pitchFamily="18" charset="0"/>
                      </a:rPr>
                      <m:t>)</m:t>
                    </m:r>
                  </m:oMath>
                </a14:m>
                <a:endParaRPr i="1" dirty="0"/>
              </a:p>
              <a:p>
                <a:pPr lvl="1">
                  <a:defRPr i="1"/>
                </a:pPr>
                <a:r>
                  <a:rPr dirty="0" err="1"/>
                  <a:t>Número</a:t>
                </a:r>
                <a:r>
                  <a:rPr dirty="0"/>
                  <a:t> de </a:t>
                </a:r>
                <a:r>
                  <a:rPr dirty="0" err="1"/>
                  <a:t>ensayos</a:t>
                </a:r>
                <a:r>
                  <a:rPr dirty="0"/>
                  <a:t> de Bernoulli hasta </a:t>
                </a:r>
                <a:r>
                  <a:rPr dirty="0" err="1"/>
                  <a:t>el</a:t>
                </a:r>
                <a:r>
                  <a:rPr dirty="0"/>
                  <a:t> primer </a:t>
                </a:r>
                <a:r>
                  <a:rPr dirty="0" err="1"/>
                  <a:t>éxito</a:t>
                </a:r>
                <a:endParaRPr i="1" dirty="0"/>
              </a:p>
              <a:p>
                <a:r>
                  <a:rPr dirty="0" err="1"/>
                  <a:t>Parámetros</a:t>
                </a:r>
                <a:endParaRPr dirty="0"/>
              </a:p>
              <a:p>
                <a:pPr lvl="1"/>
                <a:r>
                  <a:rPr i="1" dirty="0"/>
                  <a:t>p</a:t>
                </a:r>
                <a:r>
                  <a:rPr dirty="0"/>
                  <a:t> = </a:t>
                </a:r>
                <a:r>
                  <a:rPr dirty="0" err="1"/>
                  <a:t>probabilidad</a:t>
                </a:r>
                <a:r>
                  <a:rPr dirty="0"/>
                  <a:t> de </a:t>
                </a:r>
                <a:r>
                  <a:rPr dirty="0" err="1"/>
                  <a:t>éxito</a:t>
                </a:r>
                <a:r>
                  <a:rPr dirty="0"/>
                  <a:t> en un </a:t>
                </a:r>
                <a:r>
                  <a:rPr dirty="0" err="1"/>
                  <a:t>ensayo</a:t>
                </a:r>
                <a:endParaRPr dirty="0"/>
              </a:p>
              <a:p>
                <a:r>
                  <a:rPr dirty="0"/>
                  <a:t>Rango de </a:t>
                </a:r>
                <a:r>
                  <a:rPr dirty="0" err="1"/>
                  <a:t>valores</a:t>
                </a:r>
                <a:endParaRPr dirty="0"/>
              </a:p>
              <a:p>
                <a:pPr lvl="1"/>
                <a14:m>
                  <m:oMath xmlns:m="http://schemas.openxmlformats.org/officeDocument/2006/math">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 </m:t>
                    </m:r>
                    <m:r>
                      <a:rPr lang="es-ES" b="0" i="1" smtClean="0">
                        <a:latin typeface="Cambria Math" panose="02040503050406030204" pitchFamily="18" charset="0"/>
                      </a:rPr>
                      <m:t>2</m:t>
                    </m:r>
                    <m:r>
                      <a:rPr lang="es-ES" b="0" i="1" smtClean="0">
                        <a:latin typeface="Cambria Math" panose="02040503050406030204" pitchFamily="18" charset="0"/>
                      </a:rPr>
                      <m:t>, </m:t>
                    </m:r>
                    <m:r>
                      <a:rPr lang="es-ES" b="0" i="1" smtClean="0">
                        <a:latin typeface="Cambria Math" panose="02040503050406030204" pitchFamily="18" charset="0"/>
                      </a:rPr>
                      <m:t>3</m:t>
                    </m:r>
                    <m:r>
                      <a:rPr lang="es-ES" b="0" i="1" smtClean="0">
                        <a:latin typeface="Cambria Math" panose="02040503050406030204" pitchFamily="18" charset="0"/>
                      </a:rPr>
                      <m:t>, ..</m:t>
                    </m:r>
                  </m:oMath>
                </a14:m>
                <a:endParaRPr i="1" dirty="0"/>
              </a:p>
              <a:p>
                <a:r>
                  <a:rPr dirty="0" err="1"/>
                  <a:t>Función</a:t>
                </a:r>
                <a:r>
                  <a:rPr dirty="0"/>
                  <a:t> de masa de </a:t>
                </a:r>
                <a:r>
                  <a:rPr dirty="0" err="1"/>
                  <a:t>probabilidad</a:t>
                </a:r>
                <a:r>
                  <a:rPr dirty="0"/>
                  <a:t> (</a:t>
                </a:r>
                <a:r>
                  <a:rPr dirty="0" err="1"/>
                  <a:t>pmf</a:t>
                </a:r>
                <a:r>
                  <a:rPr dirty="0"/>
                  <a:t>)</a:t>
                </a:r>
              </a:p>
              <a:p>
                <a:pPr lvl="1">
                  <a:tabLst>
                    <a:tab pos="2784475" algn="l"/>
                  </a:tabLst>
                </a:pPr>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𝑝</m:t>
                    </m:r>
                    <m:sSup>
                      <m:sSupPr>
                        <m:ctrlPr>
                          <a:rPr lang="es-ES" b="0" i="1" smtClean="0">
                            <a:latin typeface="Cambria Math" panose="02040503050406030204" pitchFamily="18" charset="0"/>
                          </a:rPr>
                        </m:ctrlPr>
                      </m:sSupPr>
                      <m:e>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𝑝</m:t>
                        </m:r>
                        <m:r>
                          <a:rPr lang="es-ES" b="0" i="1" smtClean="0">
                            <a:latin typeface="Cambria Math" panose="02040503050406030204" pitchFamily="18" charset="0"/>
                          </a:rPr>
                          <m:t>)</m:t>
                        </m:r>
                      </m:e>
                      <m:sup>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1</m:t>
                        </m:r>
                      </m:sup>
                    </m:sSup>
                  </m:oMath>
                </a14:m>
                <a:r>
                  <a:rPr dirty="0"/>
                  <a:t>	</a:t>
                </a:r>
              </a:p>
              <a:p>
                <a:pPr>
                  <a:tabLst>
                    <a:tab pos="2784475" algn="l"/>
                  </a:tabLst>
                </a:pPr>
                <a:r>
                  <a:rPr dirty="0" err="1"/>
                  <a:t>Función</a:t>
                </a:r>
                <a:r>
                  <a:rPr dirty="0"/>
                  <a:t> de </a:t>
                </a:r>
                <a:r>
                  <a:rPr dirty="0" err="1"/>
                  <a:t>distribución</a:t>
                </a:r>
                <a:r>
                  <a:rPr dirty="0"/>
                  <a:t> </a:t>
                </a:r>
                <a:r>
                  <a:rPr lang="es-ES" dirty="0"/>
                  <a:t>acumulada</a:t>
                </a:r>
                <a:r>
                  <a:rPr dirty="0"/>
                  <a:t> (</a:t>
                </a:r>
                <a:r>
                  <a:rPr dirty="0" err="1"/>
                  <a:t>cdf</a:t>
                </a:r>
                <a:r>
                  <a:rPr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e>
                    </m:d>
                    <m:r>
                      <a:rPr lang="es-ES" b="0" i="1" smtClean="0">
                        <a:latin typeface="Cambria Math" panose="02040503050406030204" pitchFamily="18" charset="0"/>
                        <a:ea typeface="Cambria Math" panose="02040503050406030204" pitchFamily="18" charset="0"/>
                      </a:rPr>
                      <m:t>=</m:t>
                    </m:r>
                    <m:nary>
                      <m:naryPr>
                        <m:chr m:val="∑"/>
                        <m:ctrlPr>
                          <a:rPr lang="es-ES" b="0" i="1" smtClean="0">
                            <a:latin typeface="Cambria Math" panose="02040503050406030204" pitchFamily="18" charset="0"/>
                            <a:ea typeface="Cambria Math" panose="02040503050406030204" pitchFamily="18" charset="0"/>
                          </a:rPr>
                        </m:ctrlPr>
                      </m:naryPr>
                      <m:sub>
                        <m:r>
                          <m:rPr>
                            <m:brk m:alnAt="23"/>
                          </m:rPr>
                          <a:rPr lang="es-ES" b="0" i="1" smtClean="0">
                            <a:latin typeface="Cambria Math" panose="02040503050406030204" pitchFamily="18" charset="0"/>
                            <a:ea typeface="Cambria Math" panose="02040503050406030204" pitchFamily="18" charset="0"/>
                          </a:rPr>
                          <m:t>𝑖</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sub>
                      <m:sup>
                        <m:r>
                          <a:rPr lang="es-ES" b="0" i="1" smtClean="0">
                            <a:latin typeface="Cambria Math" panose="02040503050406030204" pitchFamily="18" charset="0"/>
                            <a:ea typeface="Cambria Math" panose="02040503050406030204" pitchFamily="18" charset="0"/>
                          </a:rPr>
                          <m:t>𝑥</m:t>
                        </m:r>
                      </m:sup>
                      <m:e>
                        <m:r>
                          <a:rPr lang="es-ES" i="1">
                            <a:latin typeface="Cambria Math" panose="02040503050406030204" pitchFamily="18" charset="0"/>
                          </a:rPr>
                          <m:t>𝑝</m:t>
                        </m:r>
                        <m:sSup>
                          <m:sSupPr>
                            <m:ctrlPr>
                              <a:rPr lang="es-ES" i="1">
                                <a:latin typeface="Cambria Math" panose="02040503050406030204" pitchFamily="18" charset="0"/>
                              </a:rPr>
                            </m:ctrlPr>
                          </m:sSupPr>
                          <m:e>
                            <m:r>
                              <a:rPr lang="es-ES" i="1">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rPr>
                              <m:t>𝑝</m:t>
                            </m:r>
                            <m:r>
                              <a:rPr lang="es-ES" i="1">
                                <a:latin typeface="Cambria Math" panose="02040503050406030204" pitchFamily="18" charset="0"/>
                              </a:rPr>
                              <m:t>)</m:t>
                            </m:r>
                          </m:e>
                          <m:sup>
                            <m:r>
                              <a:rPr lang="es-ES" b="0" i="1" smtClean="0">
                                <a:latin typeface="Cambria Math" panose="02040503050406030204" pitchFamily="18" charset="0"/>
                              </a:rPr>
                              <m:t>𝑖</m:t>
                            </m:r>
                            <m:r>
                              <a:rPr lang="es-ES" i="1">
                                <a:latin typeface="Cambria Math" panose="02040503050406030204" pitchFamily="18" charset="0"/>
                              </a:rPr>
                              <m:t>−</m:t>
                            </m:r>
                            <m:r>
                              <a:rPr lang="es-ES" i="1">
                                <a:latin typeface="Cambria Math" panose="02040503050406030204" pitchFamily="18" charset="0"/>
                              </a:rPr>
                              <m:t>1</m:t>
                            </m:r>
                          </m:sup>
                        </m:sSup>
                      </m:e>
                    </m:nary>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𝑝</m:t>
                        </m:r>
                        <m:r>
                          <a:rPr lang="es-ES" b="0" i="1" smtClean="0">
                            <a:latin typeface="Cambria Math" panose="02040503050406030204" pitchFamily="18" charset="0"/>
                            <a:ea typeface="Cambria Math" panose="02040503050406030204" pitchFamily="18" charset="0"/>
                          </a:rPr>
                          <m:t>)</m:t>
                        </m:r>
                      </m:e>
                      <m:sup>
                        <m:r>
                          <a:rPr lang="es-ES" b="0" i="1" smtClean="0">
                            <a:latin typeface="Cambria Math" panose="02040503050406030204" pitchFamily="18" charset="0"/>
                            <a:ea typeface="Cambria Math" panose="02040503050406030204" pitchFamily="18" charset="0"/>
                          </a:rPr>
                          <m:t>𝑥</m:t>
                        </m:r>
                      </m:sup>
                    </m:sSup>
                  </m:oMath>
                </a14:m>
                <a:endParaRPr dirty="0"/>
              </a:p>
              <a:p>
                <a:pPr>
                  <a:tabLst>
                    <a:tab pos="2784475" algn="l"/>
                  </a:tabLst>
                </a:pPr>
                <a:r>
                  <a:rPr lang="es-ES" dirty="0"/>
                  <a:t>Esperanza</a:t>
                </a:r>
              </a:p>
              <a:p>
                <a:pPr lvl="1">
                  <a:tabLst>
                    <a:tab pos="2784475" algn="l"/>
                  </a:tabLst>
                </a:pPr>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𝑝</m:t>
                        </m:r>
                      </m:den>
                    </m:f>
                  </m:oMath>
                </a14:m>
                <a:r>
                  <a:rPr dirty="0"/>
                  <a:t> </a:t>
                </a:r>
              </a:p>
              <a:p>
                <a:pPr>
                  <a:tabLst>
                    <a:tab pos="2784475" algn="l"/>
                  </a:tabLst>
                </a:pPr>
                <a:r>
                  <a:rPr dirty="0" err="1"/>
                  <a:t>Varianza</a:t>
                </a:r>
                <a:endParaRPr lang="es-ES" dirty="0"/>
              </a:p>
              <a:p>
                <a:pPr lvl="1">
                  <a:tabLst>
                    <a:tab pos="2784475" algn="l"/>
                  </a:tabLst>
                </a:pPr>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𝑝</m:t>
                        </m:r>
                      </m:num>
                      <m:den>
                        <m:sSup>
                          <m:sSupPr>
                            <m:ctrlPr>
                              <a:rPr lang="es-ES" b="0" i="1" smtClean="0">
                                <a:latin typeface="Cambria Math" panose="02040503050406030204" pitchFamily="18" charset="0"/>
                              </a:rPr>
                            </m:ctrlPr>
                          </m:sSupPr>
                          <m:e>
                            <m:r>
                              <a:rPr lang="es-ES" b="0" i="1" smtClean="0">
                                <a:latin typeface="Cambria Math" panose="02040503050406030204" pitchFamily="18" charset="0"/>
                              </a:rPr>
                              <m:t>𝑝</m:t>
                            </m:r>
                          </m:e>
                          <m:sup>
                            <m:r>
                              <a:rPr lang="es-ES" b="0" i="1" smtClean="0">
                                <a:latin typeface="Cambria Math" panose="02040503050406030204" pitchFamily="18" charset="0"/>
                              </a:rPr>
                              <m:t>2</m:t>
                            </m:r>
                          </m:sup>
                        </m:sSup>
                      </m:den>
                    </m:f>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522" t="-248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58</a:t>
            </a:fld>
            <a:endParaRPr lang="es-ES"/>
          </a:p>
        </p:txBody>
      </p:sp>
    </p:spTree>
    <p:extLst>
      <p:ext uri="{BB962C8B-B14F-4D97-AF65-F5344CB8AC3E}">
        <p14:creationId xmlns:p14="http://schemas.microsoft.com/office/powerpoint/2010/main" val="12734668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14992" y="2081795"/>
            <a:ext cx="5391150" cy="1895475"/>
          </a:xfrm>
          <a:prstGeom prst="rect">
            <a:avLst/>
          </a:prstGeom>
        </p:spPr>
      </p:pic>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10. D</a:t>
            </a:r>
            <a:r>
              <a:rPr dirty="0" err="1"/>
              <a:t>istribución</a:t>
            </a:r>
            <a:r>
              <a:rPr dirty="0"/>
              <a:t> </a:t>
            </a:r>
            <a:r>
              <a:rPr lang="es-ES" dirty="0"/>
              <a:t>Geométrica</a:t>
            </a:r>
            <a:br>
              <a:rPr lang="es-ES" dirty="0"/>
            </a:br>
            <a:r>
              <a:rPr dirty="0" err="1"/>
              <a:t>Ejemplo</a:t>
            </a:r>
            <a:r>
              <a:rPr dirty="0"/>
              <a:t> (</a:t>
            </a:r>
            <a:r>
              <a:rPr lang="es-ES" dirty="0"/>
              <a:t>Dado</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5391150" cy="4351338"/>
              </a:xfrm>
            </p:spPr>
            <p:txBody>
              <a:bodyPr>
                <a:normAutofit fontScale="85000" lnSpcReduction="20000"/>
              </a:bodyPr>
              <a:lstStyle/>
              <a:p>
                <a:r>
                  <a:rPr dirty="0"/>
                  <a:t>X: </a:t>
                </a:r>
                <a:r>
                  <a:rPr dirty="0" err="1"/>
                  <a:t>Número</a:t>
                </a:r>
                <a:r>
                  <a:rPr dirty="0"/>
                  <a:t> de </a:t>
                </a:r>
                <a:r>
                  <a:rPr dirty="0" err="1"/>
                  <a:t>ensayos</a:t>
                </a:r>
                <a:r>
                  <a:rPr dirty="0"/>
                  <a:t> </a:t>
                </a:r>
                <a:r>
                  <a:rPr lang="es-ES" dirty="0"/>
                  <a:t>hasta </a:t>
                </a:r>
                <a:r>
                  <a:rPr dirty="0" err="1"/>
                  <a:t>obtener</a:t>
                </a:r>
                <a:r>
                  <a:rPr dirty="0"/>
                  <a:t> </a:t>
                </a:r>
                <a:r>
                  <a:rPr dirty="0" err="1"/>
                  <a:t>el</a:t>
                </a:r>
                <a:r>
                  <a:rPr dirty="0"/>
                  <a:t> </a:t>
                </a:r>
                <a:r>
                  <a:rPr dirty="0" err="1"/>
                  <a:t>lado</a:t>
                </a:r>
                <a:r>
                  <a:rPr dirty="0"/>
                  <a:t> con 5 puntos </a:t>
                </a:r>
              </a:p>
              <a:p>
                <a:pPr lvl="1"/>
                <a14:m>
                  <m:oMath xmlns:m="http://schemas.openxmlformats.org/officeDocument/2006/math">
                    <m:r>
                      <a:rPr lang="es-ES" sz="2100" i="1" dirty="0" smtClean="0">
                        <a:latin typeface="Cambria Math" panose="02040503050406030204" pitchFamily="18" charset="0"/>
                      </a:rPr>
                      <m:t>𝑝</m:t>
                    </m:r>
                    <m:r>
                      <a:rPr lang="es-ES" sz="2100" i="1" dirty="0" smtClean="0">
                        <a:latin typeface="Cambria Math" panose="02040503050406030204" pitchFamily="18" charset="0"/>
                      </a:rPr>
                      <m:t> = </m:t>
                    </m:r>
                    <m:r>
                      <a:rPr lang="es-ES" sz="2100" i="1" dirty="0" err="1">
                        <a:latin typeface="Cambria Math" panose="02040503050406030204" pitchFamily="18" charset="0"/>
                      </a:rPr>
                      <m:t>𝑝𝑟𝑜𝑏𝑎𝑏𝑖𝑙𝑖𝑑𝑎𝑑</m:t>
                    </m:r>
                    <m:r>
                      <a:rPr lang="es-ES" sz="2100" i="1" dirty="0">
                        <a:latin typeface="Cambria Math" panose="02040503050406030204" pitchFamily="18" charset="0"/>
                      </a:rPr>
                      <m:t> </m:t>
                    </m:r>
                    <m:r>
                      <a:rPr lang="es-ES" sz="2100" i="1" dirty="0">
                        <a:latin typeface="Cambria Math" panose="02040503050406030204" pitchFamily="18" charset="0"/>
                      </a:rPr>
                      <m:t>𝑑𝑒</m:t>
                    </m:r>
                    <m:r>
                      <a:rPr lang="es-ES" sz="2100" i="1" dirty="0">
                        <a:latin typeface="Cambria Math" panose="02040503050406030204" pitchFamily="18" charset="0"/>
                      </a:rPr>
                      <m:t> é</m:t>
                    </m:r>
                    <m:r>
                      <a:rPr lang="es-ES" sz="2100" i="1" dirty="0" err="1">
                        <a:latin typeface="Cambria Math" panose="02040503050406030204" pitchFamily="18" charset="0"/>
                      </a:rPr>
                      <m:t>𝑥𝑖𝑡𝑜</m:t>
                    </m:r>
                    <m:r>
                      <a:rPr lang="es-ES" sz="2100" i="1" dirty="0">
                        <a:latin typeface="Cambria Math" panose="02040503050406030204" pitchFamily="18" charset="0"/>
                      </a:rPr>
                      <m:t> </m:t>
                    </m:r>
                    <m:r>
                      <a:rPr lang="es-ES" sz="2100" i="1" dirty="0">
                        <a:latin typeface="Cambria Math" panose="02040503050406030204" pitchFamily="18" charset="0"/>
                      </a:rPr>
                      <m:t>𝑒𝑛</m:t>
                    </m:r>
                    <m:r>
                      <a:rPr lang="es-ES" sz="2100" i="1" dirty="0">
                        <a:latin typeface="Cambria Math" panose="02040503050406030204" pitchFamily="18" charset="0"/>
                      </a:rPr>
                      <m:t> </m:t>
                    </m:r>
                    <m:r>
                      <a:rPr lang="es-ES" sz="2100" i="1" dirty="0">
                        <a:latin typeface="Cambria Math" panose="02040503050406030204" pitchFamily="18" charset="0"/>
                      </a:rPr>
                      <m:t>𝑢𝑛</m:t>
                    </m:r>
                    <m:r>
                      <a:rPr lang="es-ES" sz="2100" i="1" dirty="0">
                        <a:latin typeface="Cambria Math" panose="02040503050406030204" pitchFamily="18" charset="0"/>
                      </a:rPr>
                      <m:t> </m:t>
                    </m:r>
                    <m:r>
                      <a:rPr lang="es-ES" sz="2100" i="1" dirty="0" err="1">
                        <a:latin typeface="Cambria Math" panose="02040503050406030204" pitchFamily="18" charset="0"/>
                      </a:rPr>
                      <m:t>𝑒𝑛𝑠𝑎𝑦𝑜</m:t>
                    </m:r>
                    <m:r>
                      <a:rPr lang="es-ES" sz="2100" i="1" dirty="0">
                        <a:latin typeface="Cambria Math" panose="02040503050406030204" pitchFamily="18" charset="0"/>
                      </a:rPr>
                      <m:t> = </m:t>
                    </m:r>
                    <m:r>
                      <a:rPr lang="es-ES" sz="2100" i="1" dirty="0">
                        <a:latin typeface="Cambria Math" panose="02040503050406030204" pitchFamily="18" charset="0"/>
                      </a:rPr>
                      <m:t>1</m:t>
                    </m:r>
                    <m:r>
                      <a:rPr lang="es-ES" sz="2100" i="1" dirty="0">
                        <a:latin typeface="Cambria Math" panose="02040503050406030204" pitchFamily="18" charset="0"/>
                      </a:rPr>
                      <m:t>/</m:t>
                    </m:r>
                    <m:r>
                      <a:rPr lang="es-ES" sz="2100" i="1" dirty="0">
                        <a:latin typeface="Cambria Math" panose="02040503050406030204" pitchFamily="18" charset="0"/>
                      </a:rPr>
                      <m:t>6</m:t>
                    </m:r>
                    <m:r>
                      <a:rPr lang="es-ES" sz="2100" i="1" dirty="0">
                        <a:latin typeface="Cambria Math" panose="02040503050406030204" pitchFamily="18" charset="0"/>
                      </a:rPr>
                      <m:t> = </m:t>
                    </m:r>
                    <m:r>
                      <a:rPr lang="es-ES" sz="2100" i="1" dirty="0">
                        <a:latin typeface="Cambria Math" panose="02040503050406030204" pitchFamily="18" charset="0"/>
                      </a:rPr>
                      <m:t>0</m:t>
                    </m:r>
                    <m:r>
                      <a:rPr lang="es-ES" sz="2100" i="1" dirty="0">
                        <a:latin typeface="Cambria Math" panose="02040503050406030204" pitchFamily="18" charset="0"/>
                      </a:rPr>
                      <m:t>,</m:t>
                    </m:r>
                    <m:r>
                      <a:rPr lang="es-ES" sz="2100" i="1" dirty="0">
                        <a:latin typeface="Cambria Math" panose="02040503050406030204" pitchFamily="18" charset="0"/>
                      </a:rPr>
                      <m:t>17</m:t>
                    </m:r>
                  </m:oMath>
                </a14:m>
                <a:endParaRPr sz="2100" dirty="0"/>
              </a:p>
              <a:p>
                <a:r>
                  <a:rPr dirty="0" err="1"/>
                  <a:t>Función</a:t>
                </a:r>
                <a:r>
                  <a:rPr dirty="0"/>
                  <a:t> de masa de </a:t>
                </a:r>
                <a:r>
                  <a:rPr dirty="0" err="1"/>
                  <a:t>probabilidad</a:t>
                </a:r>
                <a:r>
                  <a:rPr dirty="0"/>
                  <a:t> (</a:t>
                </a:r>
                <a:r>
                  <a:rPr dirty="0" err="1"/>
                  <a:t>pmf</a:t>
                </a:r>
                <a:r>
                  <a:rPr dirty="0"/>
                  <a:t>)</a:t>
                </a:r>
                <a:endParaRPr b="0" i="1" dirty="0">
                  <a:latin typeface="Cambria Math" panose="02040503050406030204" pitchFamily="18" charset="0"/>
                </a:endParaRPr>
              </a:p>
              <a:p>
                <a:pPr lvl="1"/>
                <a14:m>
                  <m:oMath xmlns:m="http://schemas.openxmlformats.org/officeDocument/2006/math">
                    <m:r>
                      <a:rPr lang="es-ES" i="1">
                        <a:latin typeface="Cambria Math" panose="02040503050406030204" pitchFamily="18" charset="0"/>
                      </a:rPr>
                      <m:t>𝑃</m:t>
                    </m:r>
                    <m:d>
                      <m:dPr>
                        <m:ctrlPr>
                          <a:rPr lang="es-ES" i="1">
                            <a:latin typeface="Cambria Math" panose="02040503050406030204" pitchFamily="18" charset="0"/>
                          </a:rPr>
                        </m:ctrlPr>
                      </m:dPr>
                      <m:e>
                        <m:r>
                          <a:rPr lang="es-ES" i="1">
                            <a:latin typeface="Cambria Math" panose="02040503050406030204" pitchFamily="18" charset="0"/>
                          </a:rPr>
                          <m:t>𝑥</m:t>
                        </m:r>
                      </m:e>
                    </m:d>
                    <m:r>
                      <a:rPr lang="es-ES" i="1">
                        <a:latin typeface="Cambria Math" panose="02040503050406030204" pitchFamily="18" charset="0"/>
                      </a:rPr>
                      <m:t>=</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r>
                      <a:rPr lang="es-ES" b="0" i="1" smtClean="0">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r>
                          <a:rPr lang="es-ES" i="1">
                            <a:latin typeface="Cambria Math" panose="02040503050406030204" pitchFamily="18" charset="0"/>
                          </a:rPr>
                          <m:t>)</m:t>
                        </m:r>
                      </m:e>
                      <m:sup>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1</m:t>
                        </m:r>
                      </m:sup>
                    </m:sSup>
                  </m:oMath>
                </a14:m>
                <a:r>
                  <a:rPr dirty="0"/>
                  <a:t>	</a:t>
                </a:r>
              </a:p>
              <a:p>
                <a:pPr lvl="1"/>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14</m:t>
                    </m:r>
                  </m:oMath>
                </a14:m>
                <a:r>
                  <a:rPr dirty="0"/>
                  <a:t> ...</a:t>
                </a:r>
              </a:p>
              <a:p>
                <a:pPr>
                  <a:tabLst>
                    <a:tab pos="2784475" algn="l"/>
                  </a:tabLst>
                </a:pPr>
                <a:r>
                  <a:rPr dirty="0" err="1"/>
                  <a:t>Función</a:t>
                </a:r>
                <a:r>
                  <a:rPr dirty="0"/>
                  <a:t> de </a:t>
                </a:r>
                <a:r>
                  <a:rPr dirty="0" err="1"/>
                  <a:t>distribución</a:t>
                </a:r>
                <a:r>
                  <a:rPr dirty="0"/>
                  <a:t> </a:t>
                </a:r>
                <a:r>
                  <a:rPr lang="es-ES" dirty="0"/>
                  <a:t>acumulada</a:t>
                </a:r>
                <a:r>
                  <a:rPr dirty="0"/>
                  <a:t> (</a:t>
                </a:r>
                <a:r>
                  <a:rPr dirty="0" err="1"/>
                  <a:t>cdf</a:t>
                </a:r>
                <a:r>
                  <a:rPr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1</m:t>
                    </m:r>
                    <m:r>
                      <a:rPr lang="es-ES" i="1">
                        <a:latin typeface="Cambria Math" panose="02040503050406030204" pitchFamily="18" charset="0"/>
                        <a:ea typeface="Cambria Math" panose="02040503050406030204" pitchFamily="18" charset="0"/>
                      </a:rPr>
                      <m:t>−</m:t>
                    </m:r>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17</m:t>
                        </m:r>
                        <m:r>
                          <a:rPr lang="es-ES" i="1">
                            <a:latin typeface="Cambria Math" panose="02040503050406030204" pitchFamily="18" charset="0"/>
                            <a:ea typeface="Cambria Math" panose="02040503050406030204" pitchFamily="18" charset="0"/>
                          </a:rPr>
                          <m:t>)</m:t>
                        </m:r>
                      </m:e>
                      <m:sup>
                        <m:r>
                          <a:rPr lang="es-ES" i="1">
                            <a:latin typeface="Cambria Math" panose="02040503050406030204" pitchFamily="18" charset="0"/>
                            <a:ea typeface="Cambria Math" panose="02040503050406030204" pitchFamily="18" charset="0"/>
                          </a:rPr>
                          <m:t>𝑥</m:t>
                        </m:r>
                      </m:sup>
                    </m:sSup>
                  </m:oMath>
                </a14:m>
                <a:endParaRPr dirty="0"/>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r>
                      <a:rPr lang="es-ES" b="0" i="1" smtClean="0">
                        <a:latin typeface="Cambria Math" panose="02040503050406030204" pitchFamily="18" charset="0"/>
                      </a:rPr>
                      <m:t>;  </m:t>
                    </m:r>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31</m:t>
                    </m:r>
                    <m:r>
                      <a:rPr lang="es-ES" b="0" i="1" smtClean="0">
                        <a:latin typeface="Cambria Math" panose="02040503050406030204" pitchFamily="18" charset="0"/>
                      </a:rPr>
                      <m:t>; .. </m:t>
                    </m:r>
                  </m:oMath>
                </a14:m>
                <a:endParaRPr dirty="0"/>
              </a:p>
              <a:p>
                <a:pPr>
                  <a:tabLst>
                    <a:tab pos="2784475" algn="l"/>
                  </a:tabLst>
                </a:pPr>
                <a:r>
                  <a:rPr lang="es-ES" dirty="0"/>
                  <a:t>Esperanza</a:t>
                </a:r>
                <a:r>
                  <a:rPr dirty="0"/>
                  <a:t>: </a:t>
                </a:r>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𝑝</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den>
                    </m:f>
                    <m:r>
                      <a:rPr lang="es-ES" b="0" i="1" smtClean="0">
                        <a:latin typeface="Cambria Math" panose="02040503050406030204" pitchFamily="18" charset="0"/>
                      </a:rPr>
                      <m:t>=</m:t>
                    </m:r>
                    <m:r>
                      <a:rPr lang="es-ES" b="0" i="1" smtClean="0">
                        <a:latin typeface="Cambria Math" panose="02040503050406030204" pitchFamily="18" charset="0"/>
                      </a:rPr>
                      <m:t>5</m:t>
                    </m:r>
                    <m:r>
                      <a:rPr lang="es-ES" b="0" i="1" smtClean="0">
                        <a:latin typeface="Cambria Math" panose="02040503050406030204" pitchFamily="18" charset="0"/>
                      </a:rPr>
                      <m:t>.</m:t>
                    </m:r>
                    <m:r>
                      <a:rPr lang="es-ES" b="0" i="1" smtClean="0">
                        <a:latin typeface="Cambria Math" panose="02040503050406030204" pitchFamily="18" charset="0"/>
                      </a:rPr>
                      <m:t>88</m:t>
                    </m:r>
                  </m:oMath>
                </a14:m>
                <a:r>
                  <a:rPr dirty="0"/>
                  <a:t> </a:t>
                </a:r>
              </a:p>
              <a:p>
                <a:pPr>
                  <a:tabLst>
                    <a:tab pos="2784475" algn="l"/>
                  </a:tabLst>
                </a:pPr>
                <a:r>
                  <a:rPr dirty="0" err="1"/>
                  <a:t>Varianza</a:t>
                </a:r>
                <a:r>
                  <a:rPr dirty="0"/>
                  <a:t>: </a:t>
                </a:r>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r>
                          <a:rPr lang="es-ES" i="1">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num>
                      <m:den>
                        <m:sSup>
                          <m:sSupPr>
                            <m:ctrlPr>
                              <a:rPr lang="es-ES" i="1">
                                <a:latin typeface="Cambria Math" panose="02040503050406030204" pitchFamily="18" charset="0"/>
                              </a:rPr>
                            </m:ctrlPr>
                          </m:sSup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e>
                          <m:sup>
                            <m:r>
                              <a:rPr lang="es-ES" i="1">
                                <a:latin typeface="Cambria Math" panose="02040503050406030204" pitchFamily="18" charset="0"/>
                              </a:rPr>
                              <m:t>2</m:t>
                            </m:r>
                          </m:sup>
                        </m:sSup>
                      </m:den>
                    </m:f>
                    <m:r>
                      <a:rPr lang="es-ES" b="0" i="1" smtClean="0">
                        <a:latin typeface="Cambria Math" panose="02040503050406030204" pitchFamily="18" charset="0"/>
                      </a:rPr>
                      <m:t>=</m:t>
                    </m:r>
                    <m:r>
                      <a:rPr lang="es-ES" b="0" i="1" smtClean="0">
                        <a:latin typeface="Cambria Math" panose="02040503050406030204" pitchFamily="18" charset="0"/>
                      </a:rPr>
                      <m:t>28</m:t>
                    </m:r>
                    <m:r>
                      <a:rPr lang="es-ES" b="0" i="1" smtClean="0">
                        <a:latin typeface="Cambria Math" panose="02040503050406030204" pitchFamily="18" charset="0"/>
                      </a:rPr>
                      <m:t>.</m:t>
                    </m:r>
                    <m:r>
                      <a:rPr lang="es-ES" b="0" i="1" smtClean="0">
                        <a:latin typeface="Cambria Math" panose="02040503050406030204" pitchFamily="18" charset="0"/>
                      </a:rPr>
                      <m:t>72</m:t>
                    </m:r>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5"/>
                <a:ext cx="5391150" cy="4351338"/>
              </a:xfrm>
              <a:blipFill>
                <a:blip r:embed="rId4"/>
                <a:stretch>
                  <a:fillRect l="-1584" t="-3221" r="-1357"/>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59</a:t>
            </a:fld>
            <a:endParaRPr lang="es-ES"/>
          </a:p>
        </p:txBody>
      </p:sp>
      <p:pic>
        <p:nvPicPr>
          <p:cNvPr id="6" name="Imagen 5">
            <a:extLst>
              <a:ext uri="{FF2B5EF4-FFF2-40B4-BE49-F238E27FC236}">
                <a16:creationId xmlns:a16="http://schemas.microsoft.com/office/drawing/2014/main" id="{9AA8EED1-39BD-FD25-6D27-483C1CBA8961}"/>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6338742" y="1789519"/>
            <a:ext cx="552499" cy="580305"/>
          </a:xfrm>
          <a:prstGeom prst="rect">
            <a:avLst/>
          </a:prstGeom>
        </p:spPr>
      </p:pic>
      <p:sp>
        <p:nvSpPr>
          <p:cNvPr id="5" name="CuadroTexto 4">
            <a:extLst>
              <a:ext uri="{FF2B5EF4-FFF2-40B4-BE49-F238E27FC236}">
                <a16:creationId xmlns:a16="http://schemas.microsoft.com/office/drawing/2014/main" id="{E865F8A9-7CE3-277A-67A3-0A8C2EB8948B}"/>
              </a:ext>
              <a:ext uri="{C183D7F6-B498-43B3-948B-1728B52AA6E4}">
                <adec:decorative xmlns:adec="http://schemas.microsoft.com/office/drawing/2017/decorative" val="1"/>
              </a:ext>
            </a:extLst>
          </p:cNvPr>
          <p:cNvSpPr txBox="1"/>
          <p:nvPr/>
        </p:nvSpPr>
        <p:spPr>
          <a:xfrm>
            <a:off x="7575799" y="3990570"/>
            <a:ext cx="929640" cy="276999"/>
          </a:xfrm>
          <a:prstGeom prst="rect">
            <a:avLst/>
          </a:prstGeom>
          <a:noFill/>
          <a:ln>
            <a:solidFill>
              <a:srgbClr val="C00000"/>
            </a:solidFill>
          </a:ln>
        </p:spPr>
        <p:txBody>
          <a:bodyPr wrap="square">
            <a:spAutoFit/>
          </a:bodyPr>
          <a:lstStyle/>
          <a:p>
            <a:pPr>
              <a:defRPr sz="1200" b="1">
                <a:solidFill>
                  <a:srgbClr val="C00000"/>
                </a:solidFill>
              </a:defRPr>
            </a:pPr>
            <a:r>
              <a:t>E(X) = 5,88</a:t>
            </a:r>
          </a:p>
        </p:txBody>
      </p:sp>
      <p:sp>
        <p:nvSpPr>
          <p:cNvPr id="7" name="Flecha: hacia abajo 6">
            <a:extLst>
              <a:ext uri="{FF2B5EF4-FFF2-40B4-BE49-F238E27FC236}">
                <a16:creationId xmlns:a16="http://schemas.microsoft.com/office/drawing/2014/main" id="{0253F30A-A38B-7935-D44F-5FF57A2FF9D6}"/>
              </a:ext>
              <a:ext uri="{C183D7F6-B498-43B3-948B-1728B52AA6E4}">
                <adec:decorative xmlns:adec="http://schemas.microsoft.com/office/drawing/2017/decorative" val="1"/>
              </a:ext>
            </a:extLst>
          </p:cNvPr>
          <p:cNvSpPr/>
          <p:nvPr/>
        </p:nvSpPr>
        <p:spPr>
          <a:xfrm flipV="1">
            <a:off x="7934263" y="3633944"/>
            <a:ext cx="112457" cy="3454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p>
        </p:txBody>
      </p:sp>
      <p:pic>
        <p:nvPicPr>
          <p:cNvPr id="9" name="Imagen 8">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614992" y="4324848"/>
            <a:ext cx="5400675" cy="1962150"/>
          </a:xfrm>
          <a:prstGeom prst="rect">
            <a:avLst/>
          </a:prstGeom>
        </p:spPr>
      </p:pic>
    </p:spTree>
    <p:extLst>
      <p:ext uri="{BB962C8B-B14F-4D97-AF65-F5344CB8AC3E}">
        <p14:creationId xmlns:p14="http://schemas.microsoft.com/office/powerpoint/2010/main" val="35054291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10. D</a:t>
            </a:r>
            <a:r>
              <a:rPr dirty="0" err="1"/>
              <a:t>istribución</a:t>
            </a:r>
            <a:r>
              <a:rPr dirty="0"/>
              <a:t> </a:t>
            </a:r>
            <a:r>
              <a:rPr lang="es-ES" dirty="0"/>
              <a:t>Geométrica</a:t>
            </a:r>
            <a:br>
              <a:rPr lang="es-ES" dirty="0"/>
            </a:br>
            <a:r>
              <a:rPr dirty="0" err="1"/>
              <a:t>Ejercicios</a:t>
            </a:r>
            <a:r>
              <a:rPr dirty="0"/>
              <a:t> </a:t>
            </a:r>
            <a:r>
              <a:rPr dirty="0" err="1"/>
              <a:t>propuestos</a:t>
            </a:r>
            <a:endParaRPr dirty="0"/>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r>
              <a:rPr dirty="0" err="1"/>
              <a:t>Ejercicios</a:t>
            </a:r>
            <a:r>
              <a:rPr dirty="0"/>
              <a:t> 3.25 y 3</a:t>
            </a:r>
            <a:r>
              <a:rPr lang="es-ES" dirty="0"/>
              <a:t>.</a:t>
            </a:r>
            <a:r>
              <a:rPr dirty="0"/>
              <a:t>31 del </a:t>
            </a:r>
            <a:r>
              <a:rPr dirty="0" err="1"/>
              <a:t>libro</a:t>
            </a:r>
            <a:endParaRPr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60</a:t>
            </a:fld>
            <a:endParaRPr lang="es-ES"/>
          </a:p>
        </p:txBody>
      </p:sp>
    </p:spTree>
    <p:extLst>
      <p:ext uri="{BB962C8B-B14F-4D97-AF65-F5344CB8AC3E}">
        <p14:creationId xmlns:p14="http://schemas.microsoft.com/office/powerpoint/2010/main" val="21029610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DCCD44-580C-2349-7CEE-F5FF8F4FBDC1}"/>
              </a:ext>
            </a:extLst>
          </p:cNvPr>
          <p:cNvSpPr>
            <a:spLocks noGrp="1"/>
          </p:cNvSpPr>
          <p:nvPr>
            <p:ph type="title"/>
          </p:nvPr>
        </p:nvSpPr>
        <p:spPr/>
        <p:txBody>
          <a:bodyPr/>
          <a:lstStyle/>
          <a:p>
            <a:r>
              <a:rPr lang="es-ES" dirty="0"/>
              <a:t>11</a:t>
            </a:r>
            <a:r>
              <a:rPr dirty="0"/>
              <a:t>. </a:t>
            </a:r>
            <a:r>
              <a:rPr dirty="0" err="1"/>
              <a:t>Distribución</a:t>
            </a:r>
            <a:r>
              <a:rPr dirty="0"/>
              <a:t> </a:t>
            </a:r>
            <a:r>
              <a:rPr lang="es-ES" dirty="0"/>
              <a:t>Binomial</a:t>
            </a:r>
            <a:r>
              <a:rPr dirty="0"/>
              <a:t> </a:t>
            </a:r>
            <a:r>
              <a:rPr dirty="0" err="1"/>
              <a:t>negativa</a:t>
            </a:r>
            <a:endParaRPr dirty="0"/>
          </a:p>
        </p:txBody>
      </p:sp>
      <p:sp>
        <p:nvSpPr>
          <p:cNvPr id="3" name="Marcador de contenido 2">
            <a:extLst>
              <a:ext uri="{FF2B5EF4-FFF2-40B4-BE49-F238E27FC236}">
                <a16:creationId xmlns:a16="http://schemas.microsoft.com/office/drawing/2014/main" id="{25AB056D-72CF-52F5-8FF5-B85155761FED}"/>
              </a:ext>
            </a:extLst>
          </p:cNvPr>
          <p:cNvSpPr>
            <a:spLocks noGrp="1"/>
          </p:cNvSpPr>
          <p:nvPr>
            <p:ph idx="1"/>
          </p:nvPr>
        </p:nvSpPr>
        <p:spPr/>
        <p:txBody>
          <a:bodyPr>
            <a:normAutofit fontScale="92500"/>
          </a:bodyPr>
          <a:lstStyle/>
          <a:p>
            <a:r>
              <a:rPr dirty="0"/>
              <a:t>Una variable </a:t>
            </a:r>
            <a:r>
              <a:rPr dirty="0" err="1"/>
              <a:t>descrita</a:t>
            </a:r>
            <a:r>
              <a:rPr dirty="0"/>
              <a:t> </a:t>
            </a:r>
            <a:r>
              <a:rPr dirty="0" err="1"/>
              <a:t>como</a:t>
            </a:r>
            <a:r>
              <a:rPr dirty="0"/>
              <a:t> </a:t>
            </a:r>
            <a:r>
              <a:rPr lang="es-ES" dirty="0"/>
              <a:t>"</a:t>
            </a:r>
            <a:r>
              <a:rPr dirty="0" err="1"/>
              <a:t>el</a:t>
            </a:r>
            <a:r>
              <a:rPr dirty="0"/>
              <a:t> </a:t>
            </a:r>
            <a:r>
              <a:rPr dirty="0" err="1"/>
              <a:t>número</a:t>
            </a:r>
            <a:r>
              <a:rPr dirty="0"/>
              <a:t> de </a:t>
            </a:r>
            <a:r>
              <a:rPr dirty="0" err="1"/>
              <a:t>ensayos</a:t>
            </a:r>
            <a:r>
              <a:rPr dirty="0"/>
              <a:t> </a:t>
            </a:r>
            <a:r>
              <a:rPr dirty="0" err="1"/>
              <a:t>necesarios</a:t>
            </a:r>
            <a:r>
              <a:rPr dirty="0"/>
              <a:t> para </a:t>
            </a:r>
            <a:r>
              <a:rPr dirty="0" err="1"/>
              <a:t>obtener</a:t>
            </a:r>
            <a:r>
              <a:rPr dirty="0"/>
              <a:t> k </a:t>
            </a:r>
            <a:r>
              <a:rPr dirty="0" err="1"/>
              <a:t>éxitos</a:t>
            </a:r>
            <a:r>
              <a:rPr dirty="0"/>
              <a:t> en </a:t>
            </a:r>
            <a:r>
              <a:rPr dirty="0" err="1"/>
              <a:t>una</a:t>
            </a:r>
            <a:r>
              <a:rPr dirty="0"/>
              <a:t> </a:t>
            </a:r>
            <a:r>
              <a:rPr dirty="0" err="1"/>
              <a:t>secuencia</a:t>
            </a:r>
            <a:r>
              <a:rPr dirty="0"/>
              <a:t> de </a:t>
            </a:r>
            <a:r>
              <a:rPr dirty="0" err="1"/>
              <a:t>ensayos</a:t>
            </a:r>
            <a:r>
              <a:rPr dirty="0"/>
              <a:t> </a:t>
            </a:r>
            <a:r>
              <a:rPr dirty="0" err="1"/>
              <a:t>independientes</a:t>
            </a:r>
            <a:r>
              <a:rPr dirty="0"/>
              <a:t> de Bernoulli</a:t>
            </a:r>
            <a:r>
              <a:rPr lang="es-ES" dirty="0"/>
              <a:t>“,</a:t>
            </a:r>
            <a:r>
              <a:rPr dirty="0"/>
              <a:t> </a:t>
            </a:r>
            <a:r>
              <a:rPr dirty="0" err="1"/>
              <a:t>tiene</a:t>
            </a:r>
            <a:r>
              <a:rPr dirty="0"/>
              <a:t> </a:t>
            </a:r>
            <a:r>
              <a:rPr lang="es-ES" dirty="0"/>
              <a:t>una </a:t>
            </a:r>
            <a:r>
              <a:rPr dirty="0" err="1"/>
              <a:t>distribución</a:t>
            </a:r>
            <a:r>
              <a:rPr dirty="0"/>
              <a:t> </a:t>
            </a:r>
            <a:r>
              <a:rPr lang="es-ES" dirty="0"/>
              <a:t>de probabilidad Binomial</a:t>
            </a:r>
            <a:r>
              <a:rPr dirty="0"/>
              <a:t> </a:t>
            </a:r>
            <a:r>
              <a:rPr dirty="0" err="1"/>
              <a:t>negativa</a:t>
            </a:r>
            <a:endParaRPr dirty="0"/>
          </a:p>
          <a:p>
            <a:r>
              <a:rPr dirty="0"/>
              <a:t>Sus </a:t>
            </a:r>
            <a:r>
              <a:rPr dirty="0" err="1"/>
              <a:t>parámetros</a:t>
            </a:r>
            <a:r>
              <a:rPr dirty="0"/>
              <a:t> son:</a:t>
            </a:r>
          </a:p>
          <a:p>
            <a:pPr lvl="1"/>
            <a:r>
              <a:rPr lang="es-ES" dirty="0"/>
              <a:t>k, el número de éxitos que se quieren obtener</a:t>
            </a:r>
          </a:p>
          <a:p>
            <a:pPr lvl="1"/>
            <a:r>
              <a:rPr dirty="0"/>
              <a:t>p, la </a:t>
            </a:r>
            <a:r>
              <a:rPr dirty="0" err="1"/>
              <a:t>probabilidad</a:t>
            </a:r>
            <a:r>
              <a:rPr dirty="0"/>
              <a:t> de </a:t>
            </a:r>
            <a:r>
              <a:rPr dirty="0" err="1"/>
              <a:t>éxito</a:t>
            </a:r>
            <a:r>
              <a:rPr dirty="0"/>
              <a:t> en un </a:t>
            </a:r>
            <a:r>
              <a:rPr dirty="0" err="1"/>
              <a:t>ensayo</a:t>
            </a:r>
            <a:endParaRPr dirty="0"/>
          </a:p>
          <a:p>
            <a:r>
              <a:rPr dirty="0"/>
              <a:t>El </a:t>
            </a:r>
            <a:r>
              <a:rPr dirty="0" err="1"/>
              <a:t>nombre</a:t>
            </a:r>
            <a:r>
              <a:rPr dirty="0"/>
              <a:t> </a:t>
            </a:r>
            <a:r>
              <a:rPr lang="es-ES" dirty="0"/>
              <a:t>"</a:t>
            </a:r>
            <a:r>
              <a:rPr dirty="0" err="1"/>
              <a:t>distribución</a:t>
            </a:r>
            <a:r>
              <a:rPr dirty="0"/>
              <a:t> </a:t>
            </a:r>
            <a:r>
              <a:rPr lang="es-ES" dirty="0"/>
              <a:t>Binomial</a:t>
            </a:r>
            <a:r>
              <a:rPr dirty="0"/>
              <a:t> </a:t>
            </a:r>
            <a:r>
              <a:rPr dirty="0" err="1"/>
              <a:t>negativa</a:t>
            </a:r>
            <a:r>
              <a:rPr lang="es-ES" dirty="0"/>
              <a:t>"</a:t>
            </a:r>
            <a:r>
              <a:rPr dirty="0"/>
              <a:t> </a:t>
            </a:r>
            <a:r>
              <a:rPr lang="es-ES" dirty="0"/>
              <a:t>se usa para indicar que es lo contrario a “d</a:t>
            </a:r>
            <a:r>
              <a:rPr dirty="0" err="1"/>
              <a:t>istribución</a:t>
            </a:r>
            <a:r>
              <a:rPr dirty="0"/>
              <a:t> </a:t>
            </a:r>
            <a:r>
              <a:rPr lang="es-ES" dirty="0"/>
              <a:t>Binomial”</a:t>
            </a:r>
            <a:endParaRPr dirty="0"/>
          </a:p>
          <a:p>
            <a:pPr lvl="1"/>
            <a:r>
              <a:rPr dirty="0"/>
              <a:t>Las variables </a:t>
            </a:r>
            <a:r>
              <a:rPr lang="es-ES" dirty="0"/>
              <a:t>Binomial</a:t>
            </a:r>
            <a:r>
              <a:rPr dirty="0"/>
              <a:t>es </a:t>
            </a:r>
            <a:r>
              <a:rPr dirty="0" err="1"/>
              <a:t>cuentan</a:t>
            </a:r>
            <a:r>
              <a:rPr dirty="0"/>
              <a:t> </a:t>
            </a:r>
            <a:r>
              <a:rPr dirty="0" err="1"/>
              <a:t>el</a:t>
            </a:r>
            <a:r>
              <a:rPr dirty="0"/>
              <a:t> </a:t>
            </a:r>
            <a:r>
              <a:rPr dirty="0" err="1"/>
              <a:t>número</a:t>
            </a:r>
            <a:r>
              <a:rPr dirty="0"/>
              <a:t> de </a:t>
            </a:r>
            <a:r>
              <a:rPr dirty="0" err="1"/>
              <a:t>éxitos</a:t>
            </a:r>
            <a:r>
              <a:rPr dirty="0"/>
              <a:t> en un </a:t>
            </a:r>
            <a:r>
              <a:rPr dirty="0" err="1"/>
              <a:t>número</a:t>
            </a:r>
            <a:r>
              <a:rPr dirty="0"/>
              <a:t> </a:t>
            </a:r>
            <a:r>
              <a:rPr dirty="0" err="1"/>
              <a:t>fijo</a:t>
            </a:r>
            <a:r>
              <a:rPr dirty="0"/>
              <a:t> de </a:t>
            </a:r>
            <a:r>
              <a:rPr dirty="0" err="1"/>
              <a:t>ensayos</a:t>
            </a:r>
            <a:r>
              <a:rPr dirty="0"/>
              <a:t>, </a:t>
            </a:r>
            <a:endParaRPr lang="es-ES" dirty="0"/>
          </a:p>
          <a:p>
            <a:pPr lvl="1"/>
            <a:r>
              <a:rPr dirty="0" err="1"/>
              <a:t>mientras</a:t>
            </a:r>
            <a:r>
              <a:rPr dirty="0"/>
              <a:t> que las variables </a:t>
            </a:r>
            <a:r>
              <a:rPr lang="es-ES" dirty="0"/>
              <a:t>Binomial</a:t>
            </a:r>
            <a:r>
              <a:rPr dirty="0"/>
              <a:t>es </a:t>
            </a:r>
            <a:r>
              <a:rPr dirty="0" err="1"/>
              <a:t>negativas</a:t>
            </a:r>
            <a:r>
              <a:rPr dirty="0"/>
              <a:t> </a:t>
            </a:r>
            <a:r>
              <a:rPr dirty="0" err="1"/>
              <a:t>cuentan</a:t>
            </a:r>
            <a:r>
              <a:rPr dirty="0"/>
              <a:t> </a:t>
            </a:r>
            <a:r>
              <a:rPr dirty="0" err="1"/>
              <a:t>el</a:t>
            </a:r>
            <a:r>
              <a:rPr dirty="0"/>
              <a:t> </a:t>
            </a:r>
            <a:r>
              <a:rPr dirty="0" err="1"/>
              <a:t>número</a:t>
            </a:r>
            <a:r>
              <a:rPr dirty="0"/>
              <a:t> de </a:t>
            </a:r>
            <a:r>
              <a:rPr dirty="0" err="1"/>
              <a:t>ensayos</a:t>
            </a:r>
            <a:r>
              <a:rPr dirty="0"/>
              <a:t> </a:t>
            </a:r>
            <a:r>
              <a:rPr dirty="0" err="1"/>
              <a:t>necesarios</a:t>
            </a:r>
            <a:r>
              <a:rPr dirty="0"/>
              <a:t> para </a:t>
            </a:r>
            <a:r>
              <a:rPr lang="es-ES" dirty="0"/>
              <a:t>obtener </a:t>
            </a:r>
            <a:r>
              <a:rPr dirty="0"/>
              <a:t>un </a:t>
            </a:r>
            <a:r>
              <a:rPr dirty="0" err="1"/>
              <a:t>número</a:t>
            </a:r>
            <a:r>
              <a:rPr dirty="0"/>
              <a:t> </a:t>
            </a:r>
            <a:r>
              <a:rPr dirty="0" err="1"/>
              <a:t>fijo</a:t>
            </a:r>
            <a:r>
              <a:rPr dirty="0"/>
              <a:t> de </a:t>
            </a:r>
            <a:r>
              <a:rPr dirty="0" err="1"/>
              <a:t>éxitos</a:t>
            </a:r>
            <a:r>
              <a:rPr dirty="0"/>
              <a:t>.</a:t>
            </a:r>
          </a:p>
        </p:txBody>
      </p:sp>
      <p:sp>
        <p:nvSpPr>
          <p:cNvPr id="4" name="Marcador de número de diapositiva 3">
            <a:extLst>
              <a:ext uri="{FF2B5EF4-FFF2-40B4-BE49-F238E27FC236}">
                <a16:creationId xmlns:a16="http://schemas.microsoft.com/office/drawing/2014/main" id="{2A3D8405-81F4-D68B-4EC1-54B535619CF5}"/>
              </a:ext>
            </a:extLst>
          </p:cNvPr>
          <p:cNvSpPr>
            <a:spLocks noGrp="1"/>
          </p:cNvSpPr>
          <p:nvPr>
            <p:ph type="sldNum" sz="quarter" idx="12"/>
          </p:nvPr>
        </p:nvSpPr>
        <p:spPr/>
        <p:txBody>
          <a:bodyPr/>
          <a:lstStyle/>
          <a:p>
            <a:fld id="{336CAFD0-1F6E-4E11-9822-836563A02839}" type="slidenum">
              <a:rPr lang="es-ES" smtClean="0"/>
              <a:t>61</a:t>
            </a:fld>
            <a:endParaRPr lang="es-ES"/>
          </a:p>
        </p:txBody>
      </p:sp>
    </p:spTree>
    <p:extLst>
      <p:ext uri="{BB962C8B-B14F-4D97-AF65-F5344CB8AC3E}">
        <p14:creationId xmlns:p14="http://schemas.microsoft.com/office/powerpoint/2010/main" val="6053280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11</a:t>
            </a:r>
            <a:r>
              <a:rPr dirty="0"/>
              <a:t>. </a:t>
            </a:r>
            <a:r>
              <a:rPr dirty="0" err="1"/>
              <a:t>Distribución</a:t>
            </a:r>
            <a:r>
              <a:rPr dirty="0"/>
              <a:t> </a:t>
            </a:r>
            <a:r>
              <a:rPr lang="es-ES" dirty="0"/>
              <a:t>Binomial</a:t>
            </a:r>
            <a:r>
              <a:rPr dirty="0"/>
              <a:t> </a:t>
            </a:r>
            <a:r>
              <a:rPr dirty="0" err="1"/>
              <a:t>negativa</a:t>
            </a:r>
            <a:br>
              <a:rPr lang="es-ES" dirty="0"/>
            </a:br>
            <a:r>
              <a:rPr dirty="0" err="1"/>
              <a:t>Resumen</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4"/>
                <a:ext cx="10515600" cy="5032375"/>
              </a:xfrm>
            </p:spPr>
            <p:txBody>
              <a:bodyPr>
                <a:normAutofit fontScale="55000" lnSpcReduction="20000"/>
              </a:bodyPr>
              <a:lstStyle/>
              <a:p>
                <a:r>
                  <a:rPr lang="es-ES" dirty="0"/>
                  <a:t>X: Variable </a:t>
                </a:r>
                <a:r>
                  <a:rPr lang="es-ES" dirty="0" err="1"/>
                  <a:t>aleatoria</a:t>
                </a:r>
                <a:r>
                  <a:rPr lang="es-ES" dirty="0"/>
                  <a:t> con </a:t>
                </a:r>
                <a:r>
                  <a:rPr lang="es-ES" dirty="0" err="1"/>
                  <a:t>distribución</a:t>
                </a:r>
                <a:r>
                  <a:rPr lang="es-ES" dirty="0"/>
                  <a:t> Binomial negativa </a:t>
                </a:r>
                <a:r>
                  <a:rPr lang="es-ES" dirty="0">
                    <a:sym typeface="Wingdings" panose="05000000000000000000" pitchFamily="2" charset="2"/>
                  </a:rPr>
                  <a:t> </a:t>
                </a:r>
                <a14:m>
                  <m:oMath xmlns:m="http://schemas.openxmlformats.org/officeDocument/2006/math">
                    <m:r>
                      <a:rPr lang="es-ES" i="1" dirty="0" smtClean="0">
                        <a:latin typeface="Cambria Math" panose="02040503050406030204" pitchFamily="18" charset="0"/>
                        <a:sym typeface="Wingdings" panose="05000000000000000000" pitchFamily="2" charset="2"/>
                      </a:rPr>
                      <m:t>𝑋</m:t>
                    </m:r>
                    <m:r>
                      <a:rPr lang="es-ES" i="1" dirty="0" smtClean="0">
                        <a:latin typeface="Cambria Math" panose="02040503050406030204" pitchFamily="18" charset="0"/>
                        <a:sym typeface="Wingdings" panose="05000000000000000000" pitchFamily="2" charset="2"/>
                      </a:rPr>
                      <m:t>: </m:t>
                    </m:r>
                    <m:r>
                      <a:rPr lang="es-ES" i="1" dirty="0" smtClean="0">
                        <a:latin typeface="Cambria Math" panose="02040503050406030204" pitchFamily="18" charset="0"/>
                        <a:sym typeface="Wingdings" panose="05000000000000000000" pitchFamily="2" charset="2"/>
                      </a:rPr>
                      <m:t>𝑁𝐵</m:t>
                    </m:r>
                    <m:r>
                      <a:rPr lang="es-ES" i="1" dirty="0">
                        <a:latin typeface="Cambria Math" panose="02040503050406030204" pitchFamily="18" charset="0"/>
                      </a:rPr>
                      <m:t>(</m:t>
                    </m:r>
                    <m:r>
                      <a:rPr lang="es-ES" i="1" dirty="0">
                        <a:latin typeface="Cambria Math" panose="02040503050406030204" pitchFamily="18" charset="0"/>
                      </a:rPr>
                      <m:t>𝑘</m:t>
                    </m:r>
                    <m:r>
                      <a:rPr lang="es-ES" i="1" dirty="0">
                        <a:latin typeface="Cambria Math" panose="02040503050406030204" pitchFamily="18" charset="0"/>
                      </a:rPr>
                      <m:t>, </m:t>
                    </m:r>
                    <m:r>
                      <a:rPr lang="es-ES" i="1" dirty="0">
                        <a:latin typeface="Cambria Math" panose="02040503050406030204" pitchFamily="18" charset="0"/>
                      </a:rPr>
                      <m:t>𝑝</m:t>
                    </m:r>
                    <m:r>
                      <a:rPr lang="es-ES" i="1" dirty="0">
                        <a:latin typeface="Cambria Math" panose="02040503050406030204" pitchFamily="18" charset="0"/>
                      </a:rPr>
                      <m:t>)</m:t>
                    </m:r>
                  </m:oMath>
                </a14:m>
                <a:endParaRPr lang="es-ES" i="1" dirty="0"/>
              </a:p>
              <a:p>
                <a:pPr lvl="1">
                  <a:defRPr i="1"/>
                </a:pPr>
                <a:r>
                  <a:rPr lang="es-ES" dirty="0" err="1"/>
                  <a:t>Número</a:t>
                </a:r>
                <a:r>
                  <a:rPr lang="es-ES" dirty="0"/>
                  <a:t> de </a:t>
                </a:r>
                <a:r>
                  <a:rPr lang="es-ES" dirty="0" err="1"/>
                  <a:t>ensayos</a:t>
                </a:r>
                <a:r>
                  <a:rPr lang="es-ES" dirty="0"/>
                  <a:t> de Bernoulli hasta </a:t>
                </a:r>
                <a:r>
                  <a:rPr lang="es-ES" dirty="0" err="1"/>
                  <a:t>el</a:t>
                </a:r>
                <a:r>
                  <a:rPr lang="es-ES" dirty="0"/>
                  <a:t> </a:t>
                </a:r>
                <a:r>
                  <a:rPr lang="es-ES" dirty="0" err="1"/>
                  <a:t>éxito</a:t>
                </a:r>
                <a:r>
                  <a:rPr lang="es-ES" dirty="0"/>
                  <a:t> k-</a:t>
                </a:r>
                <a:r>
                  <a:rPr lang="es-ES" dirty="0" err="1"/>
                  <a:t>ésimo</a:t>
                </a:r>
                <a:endParaRPr lang="es-ES" i="1" dirty="0"/>
              </a:p>
              <a:p>
                <a:r>
                  <a:rPr lang="es-ES" dirty="0" err="1"/>
                  <a:t>Parámetros</a:t>
                </a:r>
                <a:endParaRPr lang="es-ES" dirty="0"/>
              </a:p>
              <a:p>
                <a:pPr lvl="1">
                  <a:defRPr i="1"/>
                </a:pPr>
                <a:r>
                  <a:rPr lang="es-ES" dirty="0"/>
                  <a:t>k = número de éxitos = 1, 2, 3, ... </a:t>
                </a:r>
              </a:p>
              <a:p>
                <a:pPr lvl="1"/>
                <a:r>
                  <a:rPr lang="es-ES" i="1" dirty="0"/>
                  <a:t>p</a:t>
                </a:r>
                <a:r>
                  <a:rPr lang="es-ES" dirty="0"/>
                  <a:t> = </a:t>
                </a:r>
                <a:r>
                  <a:rPr lang="es-ES" dirty="0" err="1"/>
                  <a:t>probabilidad</a:t>
                </a:r>
                <a:r>
                  <a:rPr lang="es-ES" dirty="0"/>
                  <a:t> de </a:t>
                </a:r>
                <a:r>
                  <a:rPr lang="es-ES" dirty="0" err="1"/>
                  <a:t>éxito</a:t>
                </a:r>
                <a:r>
                  <a:rPr lang="es-ES" dirty="0"/>
                  <a:t> en un </a:t>
                </a:r>
                <a:r>
                  <a:rPr lang="es-ES" dirty="0" err="1"/>
                  <a:t>ensayo</a:t>
                </a:r>
                <a:endParaRPr lang="es-ES" dirty="0"/>
              </a:p>
              <a:p>
                <a:r>
                  <a:rPr lang="es-ES" dirty="0"/>
                  <a:t>Rango de </a:t>
                </a:r>
                <a:r>
                  <a:rPr lang="es-ES" dirty="0" err="1"/>
                  <a:t>valores</a:t>
                </a:r>
                <a:endParaRPr lang="es-ES" dirty="0"/>
              </a:p>
              <a:p>
                <a:pPr lvl="1"/>
                <a14:m>
                  <m:oMath xmlns:m="http://schemas.openxmlformats.org/officeDocument/2006/math">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𝑘</m:t>
                    </m:r>
                    <m:r>
                      <a:rPr lang="es-ES" b="0" i="1" smtClean="0">
                        <a:latin typeface="Cambria Math" panose="02040503050406030204" pitchFamily="18" charset="0"/>
                      </a:rPr>
                      <m:t>, </m:t>
                    </m:r>
                    <m:d>
                      <m:dPr>
                        <m:ctrlPr>
                          <a:rPr lang="ar-AE" b="0" i="1" smtClean="0">
                            <a:latin typeface="Cambria Math" panose="02040503050406030204" pitchFamily="18" charset="0"/>
                          </a:rPr>
                        </m:ctrlPr>
                      </m:dPr>
                      <m:e>
                        <m:r>
                          <a:rPr lang="ar-AE" b="0" i="1" smtClean="0">
                            <a:latin typeface="Cambria Math" panose="02040503050406030204" pitchFamily="18" charset="0"/>
                          </a:rPr>
                          <m:t>𝑘</m:t>
                        </m:r>
                        <m:r>
                          <a:rPr lang="ar-AE" b="0" i="1" smtClean="0">
                            <a:latin typeface="Cambria Math" panose="02040503050406030204" pitchFamily="18" charset="0"/>
                          </a:rPr>
                          <m:t>+</m:t>
                        </m:r>
                        <m:r>
                          <a:rPr lang="ar-AE" b="0" i="1" smtClean="0">
                            <a:latin typeface="Cambria Math" panose="02040503050406030204" pitchFamily="18" charset="0"/>
                          </a:rPr>
                          <m:t>1</m:t>
                        </m:r>
                      </m:e>
                    </m:d>
                    <m:r>
                      <a:rPr lang="ar-AE" b="0" i="1" smtClean="0">
                        <a:latin typeface="Cambria Math" panose="02040503050406030204" pitchFamily="18" charset="0"/>
                      </a:rPr>
                      <m:t>,</m:t>
                    </m:r>
                    <m:d>
                      <m:dPr>
                        <m:ctrlPr>
                          <a:rPr lang="ar-AE" b="0" i="1" smtClean="0">
                            <a:latin typeface="Cambria Math" panose="02040503050406030204" pitchFamily="18" charset="0"/>
                          </a:rPr>
                        </m:ctrlPr>
                      </m:dPr>
                      <m:e>
                        <m:r>
                          <a:rPr lang="ar-AE" b="0" i="1" smtClean="0">
                            <a:latin typeface="Cambria Math" panose="02040503050406030204" pitchFamily="18" charset="0"/>
                          </a:rPr>
                          <m:t>𝑘</m:t>
                        </m:r>
                        <m:r>
                          <a:rPr lang="ar-AE" b="0" i="1" smtClean="0">
                            <a:latin typeface="Cambria Math" panose="02040503050406030204" pitchFamily="18" charset="0"/>
                          </a:rPr>
                          <m:t>+</m:t>
                        </m:r>
                        <m:r>
                          <a:rPr lang="ar-AE" b="0" i="1" smtClean="0">
                            <a:latin typeface="Cambria Math" panose="02040503050406030204" pitchFamily="18" charset="0"/>
                          </a:rPr>
                          <m:t>2</m:t>
                        </m:r>
                      </m:e>
                    </m:d>
                    <m:r>
                      <a:rPr lang="ar-AE" b="0" i="1" smtClean="0">
                        <a:latin typeface="Cambria Math" panose="02040503050406030204" pitchFamily="18" charset="0"/>
                      </a:rPr>
                      <m:t>,, ..</m:t>
                    </m:r>
                  </m:oMath>
                </a14:m>
                <a:endParaRPr lang="ar-AE" i="1" dirty="0"/>
              </a:p>
              <a:p>
                <a:r>
                  <a:rPr lang="es-ES" dirty="0" err="1"/>
                  <a:t>Función</a:t>
                </a:r>
                <a:r>
                  <a:rPr lang="es-ES" dirty="0"/>
                  <a:t> de masa de </a:t>
                </a:r>
                <a:r>
                  <a:rPr lang="es-ES" dirty="0" err="1"/>
                  <a:t>probabilidad</a:t>
                </a:r>
                <a:r>
                  <a:rPr lang="es-ES" dirty="0"/>
                  <a:t> (</a:t>
                </a:r>
                <a:r>
                  <a:rPr lang="es-ES" dirty="0" err="1"/>
                  <a:t>pmf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ar-AE" b="0" i="1" smtClean="0">
                                  <a:latin typeface="Cambria Math" panose="02040503050406030204" pitchFamily="18" charset="0"/>
                                </a:rPr>
                                <m:t>𝑥</m:t>
                              </m:r>
                              <m:r>
                                <a:rPr lang="ar-AE" b="0" i="1" smtClean="0">
                                  <a:latin typeface="Cambria Math" panose="02040503050406030204" pitchFamily="18" charset="0"/>
                                </a:rPr>
                                <m:t>−</m:t>
                              </m:r>
                              <m:r>
                                <a:rPr lang="ar-AE" b="0" i="1" smtClean="0">
                                  <a:latin typeface="Cambria Math" panose="02040503050406030204" pitchFamily="18" charset="0"/>
                                </a:rPr>
                                <m:t>1</m:t>
                              </m:r>
                            </m:e>
                          </m:mr>
                          <m:mr>
                            <m:e>
                              <m:r>
                                <a:rPr lang="ar-AE" b="0" i="1" smtClean="0">
                                  <a:latin typeface="Cambria Math" panose="02040503050406030204" pitchFamily="18" charset="0"/>
                                </a:rPr>
                                <m:t>𝑘</m:t>
                              </m:r>
                              <m:r>
                                <a:rPr lang="ar-AE" b="0" i="1" smtClean="0">
                                  <a:latin typeface="Cambria Math" panose="02040503050406030204" pitchFamily="18" charset="0"/>
                                </a:rPr>
                                <m:t>−</m:t>
                              </m:r>
                              <m:r>
                                <a:rPr lang="ar-AE" b="0" i="1" smtClean="0">
                                  <a:latin typeface="Cambria Math" panose="02040503050406030204" pitchFamily="18" charset="0"/>
                                </a:rPr>
                                <m:t>1</m:t>
                              </m:r>
                            </m:e>
                          </m:mr>
                        </m:m>
                      </m:e>
                    </m:d>
                    <m:sSup>
                      <m:sSupPr>
                        <m:ctrlPr>
                          <a:rPr lang="ar-AE" i="1">
                            <a:latin typeface="Cambria Math" panose="02040503050406030204" pitchFamily="18" charset="0"/>
                          </a:rPr>
                        </m:ctrlPr>
                      </m:sSupPr>
                      <m:e>
                        <m:r>
                          <a:rPr lang="ar-AE" i="1">
                            <a:latin typeface="Cambria Math" panose="02040503050406030204" pitchFamily="18" charset="0"/>
                          </a:rPr>
                          <m:t>𝑝</m:t>
                        </m:r>
                      </m:e>
                      <m:sup>
                        <m:r>
                          <a:rPr lang="ar-AE" b="0" i="1" smtClean="0">
                            <a:latin typeface="Cambria Math" panose="02040503050406030204" pitchFamily="18" charset="0"/>
                          </a:rPr>
                          <m:t>𝑘</m:t>
                        </m:r>
                      </m:sup>
                    </m:sSup>
                    <m:sSup>
                      <m:sSupPr>
                        <m:ctrlPr>
                          <a:rPr lang="ar-AE" i="1">
                            <a:latin typeface="Cambria Math" panose="02040503050406030204" pitchFamily="18" charset="0"/>
                          </a:rPr>
                        </m:ctrlPr>
                      </m:sSupPr>
                      <m:e>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𝑝</m:t>
                        </m:r>
                        <m:r>
                          <a:rPr lang="ar-AE" i="1">
                            <a:latin typeface="Cambria Math" panose="02040503050406030204" pitchFamily="18" charset="0"/>
                          </a:rPr>
                          <m:t>)</m:t>
                        </m:r>
                      </m:e>
                      <m:sup>
                        <m:r>
                          <a:rPr lang="ar-AE" b="0" i="1" smtClean="0">
                            <a:latin typeface="Cambria Math" panose="02040503050406030204" pitchFamily="18" charset="0"/>
                          </a:rPr>
                          <m:t>𝑥</m:t>
                        </m:r>
                        <m:r>
                          <a:rPr lang="ar-AE" i="1">
                            <a:latin typeface="Cambria Math" panose="02040503050406030204" pitchFamily="18" charset="0"/>
                          </a:rPr>
                          <m:t>−</m:t>
                        </m:r>
                        <m:r>
                          <a:rPr lang="ar-AE" b="0" i="1" smtClean="0">
                            <a:latin typeface="Cambria Math" panose="02040503050406030204" pitchFamily="18" charset="0"/>
                          </a:rPr>
                          <m:t>𝑘</m:t>
                        </m:r>
                      </m:sup>
                    </m:sSup>
                  </m:oMath>
                </a14:m>
                <a:r>
                  <a:rPr lang="ar-AE" dirty="0"/>
                  <a:t>	</a:t>
                </a:r>
              </a:p>
              <a:p>
                <a:pPr>
                  <a:tabLst>
                    <a:tab pos="2784475" algn="l"/>
                  </a:tabLst>
                </a:pPr>
                <a:r>
                  <a:rPr lang="es-ES" dirty="0" err="1"/>
                  <a:t>Función</a:t>
                </a:r>
                <a:r>
                  <a:rPr lang="es-ES" dirty="0"/>
                  <a:t> de </a:t>
                </a:r>
                <a:r>
                  <a:rPr lang="es-ES" dirty="0" err="1"/>
                  <a:t>distribución</a:t>
                </a:r>
                <a:r>
                  <a:rPr lang="es-ES" dirty="0"/>
                  <a:t> acumulada (</a:t>
                </a:r>
                <a:r>
                  <a:rPr lang="es-ES" dirty="0" err="1"/>
                  <a:t>cdf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𝑥</m:t>
                        </m:r>
                      </m:e>
                    </m:d>
                    <m:r>
                      <a:rPr lang="ar-AE" b="0" i="1" smtClean="0">
                        <a:latin typeface="Cambria Math" panose="02040503050406030204" pitchFamily="18" charset="0"/>
                        <a:ea typeface="Cambria Math" panose="02040503050406030204" pitchFamily="18" charset="0"/>
                      </a:rPr>
                      <m:t>=</m:t>
                    </m:r>
                    <m:nary>
                      <m:naryPr>
                        <m:chr m:val="∑"/>
                        <m:ctrlPr>
                          <a:rPr lang="ar-AE" b="0" i="1" smtClean="0">
                            <a:latin typeface="Cambria Math" panose="02040503050406030204" pitchFamily="18" charset="0"/>
                            <a:ea typeface="Cambria Math" panose="02040503050406030204" pitchFamily="18" charset="0"/>
                          </a:rPr>
                        </m:ctrlPr>
                      </m:naryPr>
                      <m:sub>
                        <m:r>
                          <m:rPr>
                            <m:brk m:alnAt="23"/>
                          </m:rPr>
                          <a:rPr lang="ar-AE" b="0" i="1" smtClean="0">
                            <a:latin typeface="Cambria Math" panose="02040503050406030204" pitchFamily="18" charset="0"/>
                            <a:ea typeface="Cambria Math" panose="02040503050406030204" pitchFamily="18" charset="0"/>
                          </a:rPr>
                          <m:t>𝑖</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𝑘</m:t>
                        </m:r>
                      </m:sub>
                      <m:sup>
                        <m:r>
                          <a:rPr lang="ar-AE" b="0" i="1" smtClean="0">
                            <a:latin typeface="Cambria Math" panose="02040503050406030204" pitchFamily="18" charset="0"/>
                            <a:ea typeface="Cambria Math" panose="02040503050406030204" pitchFamily="18" charset="0"/>
                          </a:rPr>
                          <m:t>𝑥</m:t>
                        </m:r>
                      </m:sup>
                      <m:e>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ar-AE" b="0" i="1" smtClean="0">
                                      <a:latin typeface="Cambria Math" panose="02040503050406030204" pitchFamily="18" charset="0"/>
                                    </a:rPr>
                                    <m:t>𝑖</m:t>
                                  </m:r>
                                  <m:r>
                                    <a:rPr lang="ar-AE" i="1">
                                      <a:latin typeface="Cambria Math" panose="02040503050406030204" pitchFamily="18" charset="0"/>
                                    </a:rPr>
                                    <m:t>−</m:t>
                                  </m:r>
                                  <m:r>
                                    <a:rPr lang="ar-AE" i="1">
                                      <a:latin typeface="Cambria Math" panose="02040503050406030204" pitchFamily="18" charset="0"/>
                                    </a:rPr>
                                    <m:t>1</m:t>
                                  </m:r>
                                </m:e>
                              </m:mr>
                              <m:mr>
                                <m:e>
                                  <m:r>
                                    <a:rPr lang="ar-AE" i="1">
                                      <a:latin typeface="Cambria Math" panose="02040503050406030204" pitchFamily="18" charset="0"/>
                                    </a:rPr>
                                    <m:t>𝑘</m:t>
                                  </m:r>
                                  <m:r>
                                    <a:rPr lang="ar-AE" i="1">
                                      <a:latin typeface="Cambria Math" panose="02040503050406030204" pitchFamily="18" charset="0"/>
                                    </a:rPr>
                                    <m:t>−</m:t>
                                  </m:r>
                                  <m:r>
                                    <a:rPr lang="ar-AE" i="1">
                                      <a:latin typeface="Cambria Math" panose="02040503050406030204" pitchFamily="18" charset="0"/>
                                    </a:rPr>
                                    <m:t>1</m:t>
                                  </m:r>
                                </m:e>
                              </m:mr>
                            </m:m>
                          </m:e>
                        </m:d>
                        <m:sSup>
                          <m:sSupPr>
                            <m:ctrlPr>
                              <a:rPr lang="ar-AE" i="1">
                                <a:latin typeface="Cambria Math" panose="02040503050406030204" pitchFamily="18" charset="0"/>
                              </a:rPr>
                            </m:ctrlPr>
                          </m:sSupPr>
                          <m:e>
                            <m:r>
                              <a:rPr lang="ar-AE" i="1">
                                <a:latin typeface="Cambria Math" panose="02040503050406030204" pitchFamily="18" charset="0"/>
                              </a:rPr>
                              <m:t>𝑝</m:t>
                            </m:r>
                          </m:e>
                          <m:sup>
                            <m:r>
                              <a:rPr lang="ar-AE" i="1">
                                <a:latin typeface="Cambria Math" panose="02040503050406030204" pitchFamily="18" charset="0"/>
                              </a:rPr>
                              <m:t>𝑘</m:t>
                            </m:r>
                          </m:sup>
                        </m:sSup>
                        <m:sSup>
                          <m:sSupPr>
                            <m:ctrlPr>
                              <a:rPr lang="ar-AE" i="1">
                                <a:latin typeface="Cambria Math" panose="02040503050406030204" pitchFamily="18" charset="0"/>
                              </a:rPr>
                            </m:ctrlPr>
                          </m:sSupPr>
                          <m:e>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𝑝</m:t>
                            </m:r>
                            <m:r>
                              <a:rPr lang="ar-AE" i="1">
                                <a:latin typeface="Cambria Math" panose="02040503050406030204" pitchFamily="18" charset="0"/>
                              </a:rPr>
                              <m:t>)</m:t>
                            </m:r>
                          </m:e>
                          <m:sup>
                            <m:r>
                              <a:rPr lang="es-ES" b="0" i="1" smtClean="0">
                                <a:latin typeface="Cambria Math" panose="02040503050406030204" pitchFamily="18" charset="0"/>
                              </a:rPr>
                              <m:t>𝑖</m:t>
                            </m:r>
                            <m:r>
                              <a:rPr lang="ar-AE" i="1">
                                <a:latin typeface="Cambria Math" panose="02040503050406030204" pitchFamily="18" charset="0"/>
                              </a:rPr>
                              <m:t>−</m:t>
                            </m:r>
                            <m:r>
                              <a:rPr lang="ar-AE" i="1">
                                <a:latin typeface="Cambria Math" panose="02040503050406030204" pitchFamily="18" charset="0"/>
                              </a:rPr>
                              <m:t>𝑘</m:t>
                            </m:r>
                          </m:sup>
                        </m:sSup>
                      </m:e>
                    </m:nary>
                  </m:oMath>
                </a14:m>
                <a:endParaRPr lang="ar-AE" dirty="0"/>
              </a:p>
              <a:p>
                <a:pPr>
                  <a:tabLst>
                    <a:tab pos="2784475" algn="l"/>
                  </a:tabLst>
                </a:pPr>
                <a:r>
                  <a:rPr lang="es-ES" dirty="0"/>
                  <a:t>Esperanza</a:t>
                </a:r>
              </a:p>
              <a:p>
                <a:pPr lvl="1">
                  <a:tabLst>
                    <a:tab pos="2784475" algn="l"/>
                  </a:tabLst>
                </a:pP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𝑘</m:t>
                        </m:r>
                      </m:num>
                      <m:den>
                        <m:r>
                          <a:rPr lang="ar-AE" b="0" i="1" smtClean="0">
                            <a:latin typeface="Cambria Math" panose="02040503050406030204" pitchFamily="18" charset="0"/>
                          </a:rPr>
                          <m:t>𝑝</m:t>
                        </m:r>
                      </m:den>
                    </m:f>
                  </m:oMath>
                </a14:m>
                <a:r>
                  <a:rPr lang="ar-AE" dirty="0"/>
                  <a:t> </a:t>
                </a:r>
              </a:p>
              <a:p>
                <a:pPr>
                  <a:tabLst>
                    <a:tab pos="2784475" algn="l"/>
                  </a:tabLst>
                </a:pPr>
                <a:r>
                  <a:rPr lang="es-ES" dirty="0" err="1"/>
                  <a:t>Varianza</a:t>
                </a:r>
                <a:endParaRPr lang="es-ES" dirty="0"/>
              </a:p>
              <a:p>
                <a:pPr lvl="1">
                  <a:tabLst>
                    <a:tab pos="2784475" algn="l"/>
                  </a:tabLst>
                </a:pPr>
                <a14:m>
                  <m:oMath xmlns:m="http://schemas.openxmlformats.org/officeDocument/2006/math">
                    <m:r>
                      <a:rPr lang="es-ES" b="0" i="1" smtClean="0">
                        <a:latin typeface="Cambria Math" panose="02040503050406030204" pitchFamily="18" charset="0"/>
                      </a:rPr>
                      <m:t>𝑉𝑎𝑟</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𝑘</m:t>
                        </m:r>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num>
                      <m:den>
                        <m:sSup>
                          <m:sSupPr>
                            <m:ctrlPr>
                              <a:rPr lang="ar-AE" b="0" i="1" smtClean="0">
                                <a:latin typeface="Cambria Math" panose="02040503050406030204" pitchFamily="18" charset="0"/>
                              </a:rPr>
                            </m:ctrlPr>
                          </m:sSupPr>
                          <m:e>
                            <m:r>
                              <a:rPr lang="ar-AE" b="0" i="1" smtClean="0">
                                <a:latin typeface="Cambria Math" panose="02040503050406030204" pitchFamily="18" charset="0"/>
                              </a:rPr>
                              <m:t>𝑝</m:t>
                            </m:r>
                          </m:e>
                          <m:sup>
                            <m:r>
                              <a:rPr lang="ar-AE" b="0" i="1" smtClean="0">
                                <a:latin typeface="Cambria Math" panose="02040503050406030204" pitchFamily="18" charset="0"/>
                              </a:rPr>
                              <m:t>2</m:t>
                            </m:r>
                          </m:sup>
                        </m:sSup>
                      </m:den>
                    </m:f>
                  </m:oMath>
                </a14:m>
                <a:endParaRPr lang="ar-AE" dirty="0"/>
              </a:p>
              <a:p>
                <a:pPr>
                  <a:tabLst>
                    <a:tab pos="2784475" algn="l"/>
                  </a:tabLst>
                </a:pPr>
                <a:r>
                  <a:rPr lang="es-ES" dirty="0"/>
                  <a:t>Relación con </a:t>
                </a:r>
                <a:r>
                  <a:rPr lang="es-ES" dirty="0" err="1"/>
                  <a:t>otras</a:t>
                </a:r>
                <a:r>
                  <a:rPr lang="es-ES" dirty="0"/>
                  <a:t> </a:t>
                </a:r>
                <a:r>
                  <a:rPr lang="es-ES" dirty="0" err="1"/>
                  <a:t>distribuciones</a:t>
                </a:r>
                <a:endParaRPr lang="es-ES" dirty="0"/>
              </a:p>
              <a:p>
                <a:pPr lvl="1">
                  <a:tabLst>
                    <a:tab pos="2784475" algn="l"/>
                  </a:tabLst>
                </a:pPr>
                <a:r>
                  <a:rPr lang="es-ES" dirty="0"/>
                  <a:t>Una variable </a:t>
                </a:r>
                <a14:m>
                  <m:oMath xmlns:m="http://schemas.openxmlformats.org/officeDocument/2006/math">
                    <m:r>
                      <a:rPr lang="es-ES" i="1" dirty="0">
                        <a:latin typeface="Cambria Math" panose="02040503050406030204" pitchFamily="18" charset="0"/>
                      </a:rPr>
                      <m:t>𝑁𝐵</m:t>
                    </m:r>
                    <m:r>
                      <a:rPr lang="es-ES" i="1" dirty="0">
                        <a:latin typeface="Cambria Math" panose="02040503050406030204" pitchFamily="18" charset="0"/>
                      </a:rPr>
                      <m:t>(</m:t>
                    </m:r>
                    <m:r>
                      <a:rPr lang="es-ES" i="1" dirty="0">
                        <a:latin typeface="Cambria Math" panose="02040503050406030204" pitchFamily="18" charset="0"/>
                      </a:rPr>
                      <m:t>𝑘</m:t>
                    </m:r>
                    <m:r>
                      <a:rPr lang="es-ES" i="1" dirty="0">
                        <a:latin typeface="Cambria Math" panose="02040503050406030204" pitchFamily="18" charset="0"/>
                      </a:rPr>
                      <m:t>, </m:t>
                    </m:r>
                    <m:r>
                      <a:rPr lang="es-ES" i="1" dirty="0">
                        <a:latin typeface="Cambria Math" panose="02040503050406030204" pitchFamily="18" charset="0"/>
                      </a:rPr>
                      <m:t>𝑝</m:t>
                    </m:r>
                    <m:r>
                      <a:rPr lang="es-ES" i="1" dirty="0">
                        <a:latin typeface="Cambria Math" panose="02040503050406030204" pitchFamily="18" charset="0"/>
                      </a:rPr>
                      <m:t>)</m:t>
                    </m:r>
                  </m:oMath>
                </a14:m>
                <a:r>
                  <a:rPr lang="es-ES" dirty="0"/>
                  <a:t> es una suma de k variables con distribución </a:t>
                </a:r>
                <a14:m>
                  <m:oMath xmlns:m="http://schemas.openxmlformats.org/officeDocument/2006/math">
                    <m:r>
                      <a:rPr lang="es-ES" i="1" dirty="0">
                        <a:latin typeface="Cambria Math" panose="02040503050406030204" pitchFamily="18" charset="0"/>
                      </a:rPr>
                      <m:t>𝐺𝑒𝑜𝑚𝑒𝑡𝑖𝑐</m:t>
                    </m:r>
                    <m:r>
                      <a:rPr lang="es-ES" i="1" dirty="0">
                        <a:latin typeface="Cambria Math" panose="02040503050406030204" pitchFamily="18" charset="0"/>
                      </a:rPr>
                      <m:t> (</m:t>
                    </m:r>
                    <m:r>
                      <a:rPr lang="es-ES" i="1" dirty="0">
                        <a:latin typeface="Cambria Math" panose="02040503050406030204" pitchFamily="18" charset="0"/>
                      </a:rPr>
                      <m:t>𝑝</m:t>
                    </m:r>
                    <m:r>
                      <a:rPr lang="es-ES" i="1" dirty="0">
                        <a:latin typeface="Cambria Math" panose="02040503050406030204" pitchFamily="18" charset="0"/>
                      </a:rPr>
                      <m:t>)</m:t>
                    </m:r>
                  </m:oMath>
                </a14:m>
                <a:endParaRPr lang="es-ES" dirty="0"/>
              </a:p>
              <a:p>
                <a:pPr lvl="1">
                  <a:tabLst>
                    <a:tab pos="2784475" algn="l"/>
                  </a:tabLst>
                </a:pPr>
                <a14:m>
                  <m:oMath xmlns:m="http://schemas.openxmlformats.org/officeDocument/2006/math">
                    <m:r>
                      <a:rPr lang="es-ES" i="1" dirty="0">
                        <a:latin typeface="Cambria Math" panose="02040503050406030204" pitchFamily="18" charset="0"/>
                      </a:rPr>
                      <m:t>𝐺𝑒𝑜𝑚𝑒𝑡𝑟𝑖𝑐</m:t>
                    </m:r>
                    <m:r>
                      <a:rPr lang="es-ES" i="1" dirty="0">
                        <a:latin typeface="Cambria Math" panose="02040503050406030204" pitchFamily="18" charset="0"/>
                      </a:rPr>
                      <m:t> (</m:t>
                    </m:r>
                    <m:r>
                      <a:rPr lang="es-ES" i="1" dirty="0">
                        <a:latin typeface="Cambria Math" panose="02040503050406030204" pitchFamily="18" charset="0"/>
                      </a:rPr>
                      <m:t>𝑝</m:t>
                    </m:r>
                    <m:r>
                      <a:rPr lang="es-ES" i="1" dirty="0">
                        <a:latin typeface="Cambria Math" panose="02040503050406030204" pitchFamily="18" charset="0"/>
                      </a:rPr>
                      <m:t>)</m:t>
                    </m:r>
                  </m:oMath>
                </a14:m>
                <a:r>
                  <a:rPr lang="es-ES" dirty="0"/>
                  <a:t> es un </a:t>
                </a:r>
                <a:r>
                  <a:rPr lang="es-ES" dirty="0" err="1"/>
                  <a:t>caso</a:t>
                </a:r>
                <a:r>
                  <a:rPr lang="es-ES" dirty="0"/>
                  <a:t> especial de </a:t>
                </a:r>
                <a14:m>
                  <m:oMath xmlns:m="http://schemas.openxmlformats.org/officeDocument/2006/math">
                    <m:r>
                      <a:rPr lang="es-ES" i="1" dirty="0">
                        <a:latin typeface="Cambria Math" panose="02040503050406030204" pitchFamily="18" charset="0"/>
                      </a:rPr>
                      <m:t>𝑁𝐵</m:t>
                    </m:r>
                    <m:r>
                      <a:rPr lang="es-ES" i="1" dirty="0">
                        <a:latin typeface="Cambria Math" panose="02040503050406030204" pitchFamily="18" charset="0"/>
                      </a:rPr>
                      <m:t>(</m:t>
                    </m:r>
                    <m:r>
                      <a:rPr lang="es-ES" i="1" dirty="0">
                        <a:latin typeface="Cambria Math" panose="02040503050406030204" pitchFamily="18" charset="0"/>
                      </a:rPr>
                      <m:t>𝑘</m:t>
                    </m:r>
                    <m:r>
                      <a:rPr lang="es-ES" i="1" dirty="0">
                        <a:latin typeface="Cambria Math" panose="02040503050406030204" pitchFamily="18" charset="0"/>
                      </a:rPr>
                      <m:t>, </m:t>
                    </m:r>
                    <m:r>
                      <a:rPr lang="es-ES" i="1" dirty="0">
                        <a:latin typeface="Cambria Math" panose="02040503050406030204" pitchFamily="18" charset="0"/>
                      </a:rPr>
                      <m:t>𝑝</m:t>
                    </m:r>
                    <m:r>
                      <a:rPr lang="es-ES" i="1" dirty="0">
                        <a:latin typeface="Cambria Math" panose="02040503050406030204" pitchFamily="18" charset="0"/>
                      </a:rPr>
                      <m:t>) </m:t>
                    </m:r>
                  </m:oMath>
                </a14:m>
                <a:r>
                  <a:rPr lang="es-ES" dirty="0" err="1"/>
                  <a:t>cuando</a:t>
                </a:r>
                <a:r>
                  <a:rPr lang="es-ES" dirty="0"/>
                  <a:t> </a:t>
                </a:r>
                <a14:m>
                  <m:oMath xmlns:m="http://schemas.openxmlformats.org/officeDocument/2006/math">
                    <m:r>
                      <a:rPr lang="es-ES" i="1" dirty="0">
                        <a:latin typeface="Cambria Math" panose="02040503050406030204" pitchFamily="18" charset="0"/>
                      </a:rPr>
                      <m:t>𝑘</m:t>
                    </m:r>
                    <m:r>
                      <a:rPr lang="es-ES" i="1" dirty="0">
                        <a:latin typeface="Cambria Math" panose="02040503050406030204" pitchFamily="18" charset="0"/>
                      </a:rPr>
                      <m:t>=</m:t>
                    </m:r>
                    <m:r>
                      <a:rPr lang="es-ES" i="1" dirty="0">
                        <a:latin typeface="Cambria Math" panose="02040503050406030204" pitchFamily="18" charset="0"/>
                      </a:rPr>
                      <m:t>1</m:t>
                    </m:r>
                  </m:oMath>
                </a14:m>
                <a:endParaRPr lang="es-ES"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74" t="-145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62</a:t>
            </a:fld>
            <a:endParaRPr lang="es-ES"/>
          </a:p>
        </p:txBody>
      </p:sp>
    </p:spTree>
    <p:extLst>
      <p:ext uri="{BB962C8B-B14F-4D97-AF65-F5344CB8AC3E}">
        <p14:creationId xmlns:p14="http://schemas.microsoft.com/office/powerpoint/2010/main" val="24723210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17192" y="2035162"/>
            <a:ext cx="5488950" cy="1949256"/>
          </a:xfrm>
          <a:prstGeom prst="rect">
            <a:avLst/>
          </a:prstGeom>
        </p:spPr>
      </p:pic>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11</a:t>
            </a:r>
            <a:r>
              <a:rPr dirty="0"/>
              <a:t>. </a:t>
            </a:r>
            <a:r>
              <a:rPr dirty="0" err="1"/>
              <a:t>Distribución</a:t>
            </a:r>
            <a:r>
              <a:rPr dirty="0"/>
              <a:t> </a:t>
            </a:r>
            <a:r>
              <a:rPr lang="es-ES" dirty="0"/>
              <a:t>Binomial</a:t>
            </a:r>
            <a:r>
              <a:rPr dirty="0"/>
              <a:t> </a:t>
            </a:r>
            <a:r>
              <a:rPr dirty="0" err="1"/>
              <a:t>negativa</a:t>
            </a:r>
            <a:br>
              <a:rPr lang="es-ES" dirty="0"/>
            </a:br>
            <a:r>
              <a:rPr dirty="0" err="1"/>
              <a:t>Ejemplo</a:t>
            </a:r>
            <a:r>
              <a:rPr dirty="0"/>
              <a:t> (</a:t>
            </a:r>
            <a:r>
              <a:rPr lang="es-ES" dirty="0"/>
              <a:t>Dado</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5257800" cy="4351338"/>
              </a:xfrm>
            </p:spPr>
            <p:txBody>
              <a:bodyPr>
                <a:normAutofit fontScale="70000" lnSpcReduction="20000"/>
              </a:bodyPr>
              <a:lstStyle/>
              <a:p>
                <a:r>
                  <a:rPr dirty="0"/>
                  <a:t>X: </a:t>
                </a:r>
                <a:r>
                  <a:rPr dirty="0" err="1"/>
                  <a:t>Número</a:t>
                </a:r>
                <a:r>
                  <a:rPr dirty="0"/>
                  <a:t> de </a:t>
                </a:r>
                <a:r>
                  <a:rPr dirty="0" err="1"/>
                  <a:t>ensayos</a:t>
                </a:r>
                <a:r>
                  <a:rPr dirty="0"/>
                  <a:t> para </a:t>
                </a:r>
                <a:r>
                  <a:rPr dirty="0" err="1"/>
                  <a:t>obtener</a:t>
                </a:r>
                <a:r>
                  <a:rPr dirty="0"/>
                  <a:t> 3 </a:t>
                </a:r>
                <a:r>
                  <a:rPr dirty="0" err="1"/>
                  <a:t>veces</a:t>
                </a:r>
                <a:r>
                  <a:rPr dirty="0"/>
                  <a:t> </a:t>
                </a:r>
                <a:r>
                  <a:rPr dirty="0" err="1"/>
                  <a:t>el</a:t>
                </a:r>
                <a:r>
                  <a:rPr dirty="0"/>
                  <a:t> </a:t>
                </a:r>
                <a:r>
                  <a:rPr dirty="0" err="1"/>
                  <a:t>lado</a:t>
                </a:r>
                <a:r>
                  <a:rPr dirty="0"/>
                  <a:t> con 5 puntos </a:t>
                </a:r>
              </a:p>
              <a:p>
                <a:pPr lvl="1"/>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err="1">
                        <a:latin typeface="Cambria Math" panose="02040503050406030204" pitchFamily="18" charset="0"/>
                      </a:rPr>
                      <m:t>𝑝𝑟𝑜𝑏𝑎𝑏𝑖𝑙𝑖𝑑𝑎𝑑</m:t>
                    </m:r>
                    <m:r>
                      <a:rPr lang="es-ES" i="1" dirty="0">
                        <a:latin typeface="Cambria Math" panose="02040503050406030204" pitchFamily="18" charset="0"/>
                      </a:rPr>
                      <m:t> </m:t>
                    </m:r>
                    <m:r>
                      <a:rPr lang="es-ES" i="1" dirty="0">
                        <a:latin typeface="Cambria Math" panose="02040503050406030204" pitchFamily="18" charset="0"/>
                      </a:rPr>
                      <m:t>𝑑𝑒</m:t>
                    </m:r>
                    <m:r>
                      <a:rPr lang="es-ES" i="1" dirty="0">
                        <a:latin typeface="Cambria Math" panose="02040503050406030204" pitchFamily="18" charset="0"/>
                      </a:rPr>
                      <m:t> é</m:t>
                    </m:r>
                    <m:r>
                      <a:rPr lang="es-ES" i="1" dirty="0" err="1">
                        <a:latin typeface="Cambria Math" panose="02040503050406030204" pitchFamily="18" charset="0"/>
                      </a:rPr>
                      <m:t>𝑥𝑖𝑡𝑜</m:t>
                    </m:r>
                    <m:r>
                      <a:rPr lang="es-ES" i="1" dirty="0">
                        <a:latin typeface="Cambria Math" panose="02040503050406030204" pitchFamily="18" charset="0"/>
                      </a:rPr>
                      <m:t> </m:t>
                    </m:r>
                    <m:r>
                      <a:rPr lang="es-ES" i="1" dirty="0">
                        <a:latin typeface="Cambria Math" panose="02040503050406030204" pitchFamily="18" charset="0"/>
                      </a:rPr>
                      <m:t>𝑒𝑛</m:t>
                    </m:r>
                    <m:r>
                      <a:rPr lang="es-ES" i="1" dirty="0">
                        <a:latin typeface="Cambria Math" panose="02040503050406030204" pitchFamily="18" charset="0"/>
                      </a:rPr>
                      <m:t> </m:t>
                    </m:r>
                    <m:r>
                      <a:rPr lang="es-ES" i="1" dirty="0">
                        <a:latin typeface="Cambria Math" panose="02040503050406030204" pitchFamily="18" charset="0"/>
                      </a:rPr>
                      <m:t>𝑢𝑛</m:t>
                    </m:r>
                    <m:r>
                      <a:rPr lang="es-ES" i="1" dirty="0">
                        <a:latin typeface="Cambria Math" panose="02040503050406030204" pitchFamily="18" charset="0"/>
                      </a:rPr>
                      <m:t> </m:t>
                    </m:r>
                    <m:r>
                      <a:rPr lang="es-ES" i="1" dirty="0" err="1">
                        <a:latin typeface="Cambria Math" panose="02040503050406030204" pitchFamily="18" charset="0"/>
                      </a:rPr>
                      <m:t>𝑒𝑛𝑠𝑎𝑦𝑜</m:t>
                    </m:r>
                    <m:r>
                      <a:rPr lang="es-ES" i="1" dirty="0">
                        <a:latin typeface="Cambria Math" panose="02040503050406030204" pitchFamily="18" charset="0"/>
                      </a:rPr>
                      <m:t> = </m:t>
                    </m:r>
                    <m:r>
                      <a:rPr lang="es-ES" i="1" dirty="0">
                        <a:latin typeface="Cambria Math" panose="02040503050406030204" pitchFamily="18" charset="0"/>
                      </a:rPr>
                      <m:t>1</m:t>
                    </m:r>
                    <m:r>
                      <a:rPr lang="es-ES" i="1" dirty="0">
                        <a:latin typeface="Cambria Math" panose="02040503050406030204" pitchFamily="18" charset="0"/>
                      </a:rPr>
                      <m:t>/</m:t>
                    </m:r>
                    <m:r>
                      <a:rPr lang="es-ES" i="1" dirty="0">
                        <a:latin typeface="Cambria Math" panose="02040503050406030204" pitchFamily="18" charset="0"/>
                      </a:rPr>
                      <m:t>6</m:t>
                    </m:r>
                    <m:r>
                      <a:rPr lang="es-ES" i="1" dirty="0">
                        <a:latin typeface="Cambria Math" panose="02040503050406030204" pitchFamily="18" charset="0"/>
                      </a:rPr>
                      <m:t> = </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17</m:t>
                    </m:r>
                  </m:oMath>
                </a14:m>
                <a:endParaRPr dirty="0"/>
              </a:p>
              <a:p>
                <a:pPr lvl="1"/>
                <a14:m>
                  <m:oMath xmlns:m="http://schemas.openxmlformats.org/officeDocument/2006/math">
                    <m:r>
                      <a:rPr lang="es-ES" i="1" dirty="0" smtClean="0">
                        <a:latin typeface="Cambria Math" panose="02040503050406030204" pitchFamily="18" charset="0"/>
                      </a:rPr>
                      <m:t>𝑘</m:t>
                    </m:r>
                    <m:r>
                      <a:rPr lang="es-ES" i="1" dirty="0" smtClean="0">
                        <a:latin typeface="Cambria Math" panose="02040503050406030204" pitchFamily="18" charset="0"/>
                      </a:rPr>
                      <m:t> = </m:t>
                    </m:r>
                    <m:r>
                      <a:rPr lang="es-ES" i="1" dirty="0" smtClean="0">
                        <a:latin typeface="Cambria Math" panose="02040503050406030204" pitchFamily="18" charset="0"/>
                      </a:rPr>
                      <m:t>3</m:t>
                    </m:r>
                  </m:oMath>
                </a14:m>
                <a:endParaRPr dirty="0"/>
              </a:p>
              <a:p>
                <a:r>
                  <a:rPr dirty="0" err="1"/>
                  <a:t>Función</a:t>
                </a:r>
                <a:r>
                  <a:rPr dirty="0"/>
                  <a:t> de masa de </a:t>
                </a:r>
                <a:r>
                  <a:rPr dirty="0" err="1"/>
                  <a:t>probabilidad</a:t>
                </a:r>
                <a:r>
                  <a:rPr dirty="0"/>
                  <a:t> (</a:t>
                </a:r>
                <a:r>
                  <a:rPr dirty="0" err="1"/>
                  <a:t>pmf</a:t>
                </a:r>
                <a:r>
                  <a:rPr dirty="0"/>
                  <a:t>)</a:t>
                </a:r>
                <a:endParaRPr b="0" i="1" dirty="0">
                  <a:latin typeface="Cambria Math" panose="02040503050406030204" pitchFamily="18" charset="0"/>
                </a:endParaRPr>
              </a:p>
              <a:p>
                <a:pPr lvl="1"/>
                <a14:m>
                  <m:oMath xmlns:m="http://schemas.openxmlformats.org/officeDocument/2006/math">
                    <m:r>
                      <a:rPr lang="es-ES" i="1">
                        <a:latin typeface="Cambria Math" panose="02040503050406030204" pitchFamily="18" charset="0"/>
                      </a:rPr>
                      <m:t>𝑃</m:t>
                    </m:r>
                    <m:d>
                      <m:dPr>
                        <m:ctrlPr>
                          <a:rPr lang="es-ES" i="1">
                            <a:latin typeface="Cambria Math" panose="02040503050406030204" pitchFamily="18" charset="0"/>
                          </a:rPr>
                        </m:ctrlPr>
                      </m:dPr>
                      <m:e>
                        <m:r>
                          <a:rPr lang="es-ES" i="1">
                            <a:latin typeface="Cambria Math" panose="02040503050406030204" pitchFamily="18" charset="0"/>
                          </a:rPr>
                          <m:t>𝑥</m:t>
                        </m:r>
                      </m:e>
                    </m:d>
                    <m:r>
                      <a:rPr lang="es-ES" b="0" i="1" smtClean="0">
                        <a:latin typeface="Cambria Math" panose="02040503050406030204" pitchFamily="18" charset="0"/>
                      </a:rPr>
                      <m:t>=</m:t>
                    </m:r>
                    <m:d>
                      <m:dPr>
                        <m:ctrlPr>
                          <a:rPr lang="es-ES" i="1">
                            <a:latin typeface="Cambria Math" panose="02040503050406030204" pitchFamily="18" charset="0"/>
                          </a:rPr>
                        </m:ctrlPr>
                      </m:dPr>
                      <m:e>
                        <m:m>
                          <m:mPr>
                            <m:mcs>
                              <m:mc>
                                <m:mcPr>
                                  <m:count m:val="1"/>
                                  <m:mcJc m:val="center"/>
                                </m:mcPr>
                              </m:mc>
                            </m:mcs>
                            <m:ctrlPr>
                              <a:rPr lang="es-ES" i="1">
                                <a:latin typeface="Cambria Math" panose="02040503050406030204" pitchFamily="18" charset="0"/>
                              </a:rPr>
                            </m:ctrlPr>
                          </m:mPr>
                          <m:mr>
                            <m:e>
                              <m:r>
                                <m:rPr>
                                  <m:brk m:alnAt="7"/>
                                </m:rP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1</m:t>
                              </m:r>
                            </m:e>
                          </m:mr>
                          <m:mr>
                            <m:e>
                              <m:r>
                                <a:rPr lang="es-ES" b="0" i="1" smtClean="0">
                                  <a:latin typeface="Cambria Math" panose="02040503050406030204" pitchFamily="18" charset="0"/>
                                </a:rPr>
                                <m:t>2</m:t>
                              </m:r>
                            </m:e>
                          </m:mr>
                        </m:m>
                      </m:e>
                    </m:d>
                    <m:sSup>
                      <m:sSupPr>
                        <m:ctrlPr>
                          <a:rPr lang="es-ES" i="1">
                            <a:latin typeface="Cambria Math" panose="02040503050406030204" pitchFamily="18" charset="0"/>
                          </a:rPr>
                        </m:ctrlPr>
                      </m:sSup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17</m:t>
                        </m:r>
                      </m:e>
                      <m:sup>
                        <m:r>
                          <a:rPr lang="es-ES" b="0" i="1" smtClean="0">
                            <a:latin typeface="Cambria Math" panose="02040503050406030204" pitchFamily="18" charset="0"/>
                          </a:rPr>
                          <m:t>3</m:t>
                        </m:r>
                      </m:sup>
                    </m:sSup>
                    <m:sSup>
                      <m:sSupPr>
                        <m:ctrlPr>
                          <a:rPr lang="es-ES" i="1">
                            <a:latin typeface="Cambria Math" panose="02040503050406030204" pitchFamily="18" charset="0"/>
                          </a:rPr>
                        </m:ctrlPr>
                      </m:sSup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83</m:t>
                        </m:r>
                      </m:e>
                      <m:sup>
                        <m:r>
                          <a:rPr lang="es-ES" i="1">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3</m:t>
                        </m:r>
                      </m:sup>
                    </m:sSup>
                  </m:oMath>
                </a14:m>
                <a:r>
                  <a:rPr dirty="0"/>
                  <a:t>	</a:t>
                </a:r>
              </a:p>
              <a:p>
                <a:pPr lvl="1"/>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0049</m:t>
                    </m:r>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4</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122</m:t>
                    </m:r>
                  </m:oMath>
                </a14:m>
                <a:r>
                  <a:rPr dirty="0"/>
                  <a:t> ...</a:t>
                </a:r>
              </a:p>
              <a:p>
                <a:pPr>
                  <a:tabLst>
                    <a:tab pos="2784475" algn="l"/>
                  </a:tabLst>
                </a:pPr>
                <a:r>
                  <a:rPr dirty="0" err="1"/>
                  <a:t>Función</a:t>
                </a:r>
                <a:r>
                  <a:rPr dirty="0"/>
                  <a:t> de </a:t>
                </a:r>
                <a:r>
                  <a:rPr dirty="0" err="1"/>
                  <a:t>distribución</a:t>
                </a:r>
                <a:r>
                  <a:rPr dirty="0"/>
                  <a:t> </a:t>
                </a:r>
                <a:r>
                  <a:rPr lang="es-ES" dirty="0"/>
                  <a:t>acumulada</a:t>
                </a:r>
                <a:r>
                  <a:rPr dirty="0"/>
                  <a:t> (</a:t>
                </a:r>
                <a:r>
                  <a:rPr dirty="0" err="1"/>
                  <a:t>cdf</a:t>
                </a:r>
                <a:r>
                  <a:rPr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nary>
                      <m:naryPr>
                        <m:chr m:val="∑"/>
                        <m:ctrlPr>
                          <a:rPr lang="es-ES" i="1">
                            <a:latin typeface="Cambria Math" panose="02040503050406030204" pitchFamily="18" charset="0"/>
                            <a:ea typeface="Cambria Math" panose="02040503050406030204" pitchFamily="18" charset="0"/>
                          </a:rPr>
                        </m:ctrlPr>
                      </m:naryPr>
                      <m:sub>
                        <m:r>
                          <m:rPr>
                            <m:brk m:alnAt="23"/>
                          </m:rPr>
                          <a:rPr lang="es-ES" i="1">
                            <a:latin typeface="Cambria Math" panose="02040503050406030204" pitchFamily="18" charset="0"/>
                            <a:ea typeface="Cambria Math" panose="02040503050406030204" pitchFamily="18" charset="0"/>
                          </a:rPr>
                          <m:t>𝑖</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3</m:t>
                        </m:r>
                      </m:sub>
                      <m:sup>
                        <m:r>
                          <a:rPr lang="es-ES" i="1">
                            <a:latin typeface="Cambria Math" panose="02040503050406030204" pitchFamily="18" charset="0"/>
                            <a:ea typeface="Cambria Math" panose="02040503050406030204" pitchFamily="18" charset="0"/>
                          </a:rPr>
                          <m:t>𝑥</m:t>
                        </m:r>
                      </m:sup>
                      <m:e>
                        <m:r>
                          <a:rPr lang="es-ES" i="1">
                            <a:latin typeface="Cambria Math" panose="02040503050406030204" pitchFamily="18" charset="0"/>
                            <a:ea typeface="Cambria Math" panose="02040503050406030204" pitchFamily="18" charset="0"/>
                          </a:rPr>
                          <m:t>𝑃</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𝑖</m:t>
                        </m:r>
                        <m:r>
                          <a:rPr lang="es-ES" i="1">
                            <a:latin typeface="Cambria Math" panose="02040503050406030204" pitchFamily="18" charset="0"/>
                            <a:ea typeface="Cambria Math" panose="02040503050406030204" pitchFamily="18" charset="0"/>
                          </a:rPr>
                          <m:t>)</m:t>
                        </m:r>
                      </m:e>
                    </m:nary>
                  </m:oMath>
                </a14:m>
                <a:endParaRPr dirty="0"/>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0049</m:t>
                    </m:r>
                    <m:r>
                      <a:rPr lang="es-ES" b="0" i="1" smtClean="0">
                        <a:latin typeface="Cambria Math" panose="02040503050406030204" pitchFamily="18" charset="0"/>
                      </a:rPr>
                      <m:t>;  </m:t>
                    </m:r>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0171</m:t>
                    </m:r>
                    <m:r>
                      <a:rPr lang="es-ES" b="0" i="1" smtClean="0">
                        <a:latin typeface="Cambria Math" panose="02040503050406030204" pitchFamily="18" charset="0"/>
                      </a:rPr>
                      <m:t>; … </m:t>
                    </m:r>
                  </m:oMath>
                </a14:m>
                <a:endParaRPr dirty="0"/>
              </a:p>
              <a:p>
                <a:pPr>
                  <a:tabLst>
                    <a:tab pos="2784475" algn="l"/>
                  </a:tabLst>
                </a:pPr>
                <a:r>
                  <a:rPr lang="es-ES" dirty="0"/>
                  <a:t>Esperanza</a:t>
                </a:r>
                <a:r>
                  <a:rPr dirty="0"/>
                  <a:t>: </a:t>
                </a:r>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𝑘</m:t>
                        </m:r>
                      </m:num>
                      <m:den>
                        <m:r>
                          <a:rPr lang="es-ES" b="0" i="1" smtClean="0">
                            <a:latin typeface="Cambria Math" panose="02040503050406030204" pitchFamily="18" charset="0"/>
                          </a:rPr>
                          <m:t>𝑝</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3</m:t>
                        </m:r>
                      </m:num>
                      <m:den>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den>
                    </m:f>
                    <m:r>
                      <a:rPr lang="es-ES" b="0" i="1" smtClean="0">
                        <a:latin typeface="Cambria Math" panose="02040503050406030204" pitchFamily="18" charset="0"/>
                      </a:rPr>
                      <m:t>=</m:t>
                    </m:r>
                    <m:r>
                      <a:rPr lang="es-ES" b="0" i="1" smtClean="0">
                        <a:latin typeface="Cambria Math" panose="02040503050406030204" pitchFamily="18" charset="0"/>
                      </a:rPr>
                      <m:t>17</m:t>
                    </m:r>
                    <m:r>
                      <a:rPr lang="es-ES" b="0" i="1" smtClean="0">
                        <a:latin typeface="Cambria Math" panose="02040503050406030204" pitchFamily="18" charset="0"/>
                      </a:rPr>
                      <m:t>.</m:t>
                    </m:r>
                    <m:r>
                      <a:rPr lang="es-ES" b="0" i="1" smtClean="0">
                        <a:latin typeface="Cambria Math" panose="02040503050406030204" pitchFamily="18" charset="0"/>
                      </a:rPr>
                      <m:t>65</m:t>
                    </m:r>
                  </m:oMath>
                </a14:m>
                <a:r>
                  <a:rPr dirty="0"/>
                  <a:t> </a:t>
                </a:r>
              </a:p>
              <a:p>
                <a:pPr>
                  <a:tabLst>
                    <a:tab pos="2784475" algn="l"/>
                  </a:tabLst>
                </a:pPr>
                <a:r>
                  <a:rPr dirty="0" err="1"/>
                  <a:t>Varianza</a:t>
                </a:r>
                <a:r>
                  <a:rPr dirty="0"/>
                  <a:t>: </a:t>
                </a:r>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i="1">
                            <a:latin typeface="Cambria Math" panose="02040503050406030204" pitchFamily="18" charset="0"/>
                          </a:rPr>
                        </m:ctrlPr>
                      </m:fPr>
                      <m:num>
                        <m:r>
                          <a:rPr lang="es-ES" b="0" i="1" smtClean="0">
                            <a:latin typeface="Cambria Math" panose="02040503050406030204" pitchFamily="18" charset="0"/>
                          </a:rPr>
                          <m:t>3</m:t>
                        </m:r>
                        <m:r>
                          <a:rPr lang="es-ES" b="0" i="1" smtClean="0">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r>
                          <a:rPr lang="es-ES" b="0" i="1" smtClean="0">
                            <a:latin typeface="Cambria Math" panose="02040503050406030204" pitchFamily="18" charset="0"/>
                          </a:rPr>
                          <m:t>)</m:t>
                        </m:r>
                      </m:num>
                      <m:den>
                        <m:sSup>
                          <m:sSupPr>
                            <m:ctrlPr>
                              <a:rPr lang="es-ES" i="1">
                                <a:latin typeface="Cambria Math" panose="02040503050406030204" pitchFamily="18" charset="0"/>
                              </a:rPr>
                            </m:ctrlPr>
                          </m:sSup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e>
                          <m:sup>
                            <m:r>
                              <a:rPr lang="es-ES" i="1">
                                <a:latin typeface="Cambria Math" panose="02040503050406030204" pitchFamily="18" charset="0"/>
                              </a:rPr>
                              <m:t>2</m:t>
                            </m:r>
                          </m:sup>
                        </m:sSup>
                      </m:den>
                    </m:f>
                    <m:r>
                      <a:rPr lang="es-ES" b="0" i="1" smtClean="0">
                        <a:latin typeface="Cambria Math" panose="02040503050406030204" pitchFamily="18" charset="0"/>
                      </a:rPr>
                      <m:t>=</m:t>
                    </m:r>
                    <m:r>
                      <a:rPr lang="es-ES" b="0" i="1" smtClean="0">
                        <a:latin typeface="Cambria Math" panose="02040503050406030204" pitchFamily="18" charset="0"/>
                      </a:rPr>
                      <m:t>86</m:t>
                    </m:r>
                    <m:r>
                      <a:rPr lang="es-ES" b="0" i="1" smtClean="0">
                        <a:latin typeface="Cambria Math" panose="02040503050406030204" pitchFamily="18" charset="0"/>
                      </a:rPr>
                      <m:t>.</m:t>
                    </m:r>
                    <m:r>
                      <a:rPr lang="es-ES" b="0" i="1" smtClean="0">
                        <a:latin typeface="Cambria Math" panose="02040503050406030204" pitchFamily="18" charset="0"/>
                      </a:rPr>
                      <m:t>16</m:t>
                    </m:r>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5"/>
                <a:ext cx="5257800" cy="4351338"/>
              </a:xfrm>
              <a:blipFill>
                <a:blip r:embed="rId3"/>
                <a:stretch>
                  <a:fillRect l="-1044" t="-252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63</a:t>
            </a:fld>
            <a:endParaRPr lang="es-ES"/>
          </a:p>
        </p:txBody>
      </p:sp>
      <p:pic>
        <p:nvPicPr>
          <p:cNvPr id="6" name="Imagen 5">
            <a:extLst>
              <a:ext uri="{FF2B5EF4-FFF2-40B4-BE49-F238E27FC236}">
                <a16:creationId xmlns:a16="http://schemas.microsoft.com/office/drawing/2014/main" id="{9AA8EED1-39BD-FD25-6D27-483C1CBA8961}"/>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030347" y="1772101"/>
            <a:ext cx="552499" cy="580305"/>
          </a:xfrm>
          <a:prstGeom prst="rect">
            <a:avLst/>
          </a:prstGeom>
        </p:spPr>
      </p:pic>
      <p:sp>
        <p:nvSpPr>
          <p:cNvPr id="5" name="CuadroTexto 4">
            <a:extLst>
              <a:ext uri="{FF2B5EF4-FFF2-40B4-BE49-F238E27FC236}">
                <a16:creationId xmlns:a16="http://schemas.microsoft.com/office/drawing/2014/main" id="{E865F8A9-7CE3-277A-67A3-0A8C2EB8948B}"/>
              </a:ext>
              <a:ext uri="{C183D7F6-B498-43B3-948B-1728B52AA6E4}">
                <adec:decorative xmlns:adec="http://schemas.microsoft.com/office/drawing/2017/decorative" val="1"/>
              </a:ext>
            </a:extLst>
          </p:cNvPr>
          <p:cNvSpPr txBox="1"/>
          <p:nvPr/>
        </p:nvSpPr>
        <p:spPr>
          <a:xfrm>
            <a:off x="8378670" y="3970480"/>
            <a:ext cx="929640" cy="276999"/>
          </a:xfrm>
          <a:prstGeom prst="rect">
            <a:avLst/>
          </a:prstGeom>
          <a:noFill/>
          <a:ln>
            <a:solidFill>
              <a:srgbClr val="C00000"/>
            </a:solidFill>
          </a:ln>
        </p:spPr>
        <p:txBody>
          <a:bodyPr wrap="square">
            <a:spAutoFit/>
          </a:bodyPr>
          <a:lstStyle/>
          <a:p>
            <a:pPr>
              <a:defRPr sz="1200" b="1">
                <a:solidFill>
                  <a:srgbClr val="C00000"/>
                </a:solidFill>
              </a:defRPr>
            </a:pPr>
            <a:r>
              <a:t>E(X)=17.65</a:t>
            </a:r>
          </a:p>
        </p:txBody>
      </p:sp>
      <p:sp>
        <p:nvSpPr>
          <p:cNvPr id="7" name="Flecha: hacia abajo 6">
            <a:extLst>
              <a:ext uri="{FF2B5EF4-FFF2-40B4-BE49-F238E27FC236}">
                <a16:creationId xmlns:a16="http://schemas.microsoft.com/office/drawing/2014/main" id="{0253F30A-A38B-7935-D44F-5FF57A2FF9D6}"/>
              </a:ext>
              <a:ext uri="{C183D7F6-B498-43B3-948B-1728B52AA6E4}">
                <adec:decorative xmlns:adec="http://schemas.microsoft.com/office/drawing/2017/decorative" val="1"/>
              </a:ext>
            </a:extLst>
          </p:cNvPr>
          <p:cNvSpPr/>
          <p:nvPr/>
        </p:nvSpPr>
        <p:spPr>
          <a:xfrm flipV="1">
            <a:off x="8737134" y="3626006"/>
            <a:ext cx="115921" cy="3332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p>
        </p:txBody>
      </p:sp>
      <p:pic>
        <p:nvPicPr>
          <p:cNvPr id="10" name="Imagen 9">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17192" y="4452925"/>
            <a:ext cx="5410200" cy="1933575"/>
          </a:xfrm>
          <a:prstGeom prst="rect">
            <a:avLst/>
          </a:prstGeom>
        </p:spPr>
      </p:pic>
    </p:spTree>
    <p:extLst>
      <p:ext uri="{BB962C8B-B14F-4D97-AF65-F5344CB8AC3E}">
        <p14:creationId xmlns:p14="http://schemas.microsoft.com/office/powerpoint/2010/main" val="5549760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11</a:t>
            </a:r>
            <a:r>
              <a:rPr dirty="0"/>
              <a:t>. </a:t>
            </a:r>
            <a:r>
              <a:rPr dirty="0" err="1"/>
              <a:t>Distribución</a:t>
            </a:r>
            <a:r>
              <a:rPr dirty="0"/>
              <a:t> </a:t>
            </a:r>
            <a:r>
              <a:rPr lang="es-ES" dirty="0"/>
              <a:t>Binomial</a:t>
            </a:r>
            <a:r>
              <a:rPr dirty="0"/>
              <a:t> </a:t>
            </a:r>
            <a:r>
              <a:rPr dirty="0" err="1"/>
              <a:t>negativa</a:t>
            </a:r>
            <a:br>
              <a:rPr lang="es-ES" dirty="0"/>
            </a:br>
            <a:r>
              <a:rPr dirty="0" err="1"/>
              <a:t>Ejemplo</a:t>
            </a:r>
            <a:r>
              <a:rPr dirty="0"/>
              <a:t> 3.21 (</a:t>
            </a:r>
            <a:r>
              <a:rPr dirty="0" err="1"/>
              <a:t>Ensayos</a:t>
            </a:r>
            <a:r>
              <a:rPr dirty="0"/>
              <a:t> </a:t>
            </a:r>
            <a:r>
              <a:rPr dirty="0" err="1"/>
              <a:t>secuenciales</a:t>
            </a:r>
            <a:r>
              <a:rPr dirty="0"/>
              <a:t>)</a:t>
            </a:r>
          </a:p>
        </p:txBody>
      </p:sp>
      <p:sp>
        <p:nvSpPr>
          <p:cNvPr id="3" name="Marcador de contenido 2"/>
          <p:cNvSpPr>
            <a:spLocks noGrp="1"/>
          </p:cNvSpPr>
          <p:nvPr>
            <p:ph idx="1"/>
          </p:nvPr>
        </p:nvSpPr>
        <p:spPr/>
        <p:txBody>
          <a:bodyPr/>
          <a:lstStyle/>
          <a:p>
            <a:r>
              <a:rPr dirty="0"/>
              <a:t>En </a:t>
            </a:r>
            <a:r>
              <a:rPr dirty="0" err="1"/>
              <a:t>una</a:t>
            </a:r>
            <a:r>
              <a:rPr dirty="0"/>
              <a:t> </a:t>
            </a:r>
            <a:r>
              <a:rPr dirty="0" err="1"/>
              <a:t>producción</a:t>
            </a:r>
            <a:r>
              <a:rPr dirty="0"/>
              <a:t> </a:t>
            </a:r>
            <a:r>
              <a:rPr dirty="0" err="1"/>
              <a:t>reciente</a:t>
            </a:r>
            <a:r>
              <a:rPr dirty="0"/>
              <a:t>, </a:t>
            </a:r>
            <a:r>
              <a:rPr dirty="0" err="1"/>
              <a:t>el</a:t>
            </a:r>
            <a:r>
              <a:rPr dirty="0"/>
              <a:t> 5 % de </a:t>
            </a:r>
            <a:r>
              <a:rPr dirty="0" err="1"/>
              <a:t>ciertos</a:t>
            </a:r>
            <a:r>
              <a:rPr dirty="0"/>
              <a:t> </a:t>
            </a:r>
            <a:r>
              <a:rPr dirty="0" err="1"/>
              <a:t>componentes</a:t>
            </a:r>
            <a:r>
              <a:rPr dirty="0"/>
              <a:t> </a:t>
            </a:r>
            <a:r>
              <a:rPr dirty="0" err="1"/>
              <a:t>electrónicos</a:t>
            </a:r>
            <a:r>
              <a:rPr dirty="0"/>
              <a:t> son </a:t>
            </a:r>
            <a:r>
              <a:rPr dirty="0" err="1"/>
              <a:t>defectuosos</a:t>
            </a:r>
            <a:r>
              <a:rPr dirty="0"/>
              <a:t>. </a:t>
            </a:r>
          </a:p>
          <a:p>
            <a:r>
              <a:rPr dirty="0" err="1"/>
              <a:t>Necesitamos</a:t>
            </a:r>
            <a:r>
              <a:rPr dirty="0"/>
              <a:t> </a:t>
            </a:r>
            <a:r>
              <a:rPr dirty="0" err="1"/>
              <a:t>encontrar</a:t>
            </a:r>
            <a:r>
              <a:rPr dirty="0"/>
              <a:t> 12 </a:t>
            </a:r>
            <a:r>
              <a:rPr dirty="0" err="1"/>
              <a:t>componentes</a:t>
            </a:r>
            <a:r>
              <a:rPr dirty="0"/>
              <a:t> no </a:t>
            </a:r>
            <a:r>
              <a:rPr dirty="0" err="1"/>
              <a:t>defectuosos</a:t>
            </a:r>
            <a:r>
              <a:rPr dirty="0"/>
              <a:t> para </a:t>
            </a:r>
            <a:r>
              <a:rPr dirty="0" err="1"/>
              <a:t>nuestros</a:t>
            </a:r>
            <a:r>
              <a:rPr dirty="0"/>
              <a:t> 12 </a:t>
            </a:r>
            <a:r>
              <a:rPr dirty="0" err="1"/>
              <a:t>nuevos</a:t>
            </a:r>
            <a:r>
              <a:rPr dirty="0"/>
              <a:t> </a:t>
            </a:r>
            <a:r>
              <a:rPr dirty="0" err="1"/>
              <a:t>ordenadores</a:t>
            </a:r>
            <a:r>
              <a:rPr dirty="0"/>
              <a:t>. </a:t>
            </a:r>
          </a:p>
          <a:p>
            <a:r>
              <a:rPr dirty="0"/>
              <a:t>Los </a:t>
            </a:r>
            <a:r>
              <a:rPr dirty="0" err="1"/>
              <a:t>componentes</a:t>
            </a:r>
            <a:r>
              <a:rPr dirty="0"/>
              <a:t> se </a:t>
            </a:r>
            <a:r>
              <a:rPr dirty="0" err="1"/>
              <a:t>prueban</a:t>
            </a:r>
            <a:r>
              <a:rPr dirty="0"/>
              <a:t> hasta que se </a:t>
            </a:r>
            <a:r>
              <a:rPr dirty="0" err="1"/>
              <a:t>encuentran</a:t>
            </a:r>
            <a:r>
              <a:rPr dirty="0"/>
              <a:t> 12 no </a:t>
            </a:r>
            <a:r>
              <a:rPr dirty="0" err="1"/>
              <a:t>defectuosos</a:t>
            </a:r>
            <a:r>
              <a:rPr dirty="0"/>
              <a:t>. </a:t>
            </a:r>
          </a:p>
          <a:p>
            <a:r>
              <a:rPr dirty="0"/>
              <a:t>¿</a:t>
            </a:r>
            <a:r>
              <a:rPr dirty="0" err="1"/>
              <a:t>Cuál</a:t>
            </a:r>
            <a:r>
              <a:rPr dirty="0"/>
              <a:t> es la </a:t>
            </a:r>
            <a:r>
              <a:rPr dirty="0" err="1"/>
              <a:t>probabilidad</a:t>
            </a:r>
            <a:r>
              <a:rPr dirty="0"/>
              <a:t> de </a:t>
            </a:r>
            <a:r>
              <a:rPr lang="es-ES" dirty="0"/>
              <a:t>tener que probar </a:t>
            </a:r>
            <a:r>
              <a:rPr dirty="0" err="1"/>
              <a:t>más</a:t>
            </a:r>
            <a:r>
              <a:rPr dirty="0"/>
              <a:t> de 15 </a:t>
            </a:r>
            <a:r>
              <a:rPr dirty="0" err="1"/>
              <a:t>componentes</a:t>
            </a:r>
            <a:r>
              <a:rPr dirty="0"/>
              <a:t>?</a:t>
            </a:r>
          </a:p>
        </p:txBody>
      </p:sp>
      <p:sp>
        <p:nvSpPr>
          <p:cNvPr id="4" name="Marcador de número de diapositiva 3"/>
          <p:cNvSpPr>
            <a:spLocks noGrp="1"/>
          </p:cNvSpPr>
          <p:nvPr>
            <p:ph type="sldNum" sz="quarter" idx="12"/>
          </p:nvPr>
        </p:nvSpPr>
        <p:spPr/>
        <p:txBody>
          <a:bodyPr/>
          <a:lstStyle/>
          <a:p>
            <a:fld id="{336CAFD0-1F6E-4E11-9822-836563A02839}" type="slidenum">
              <a:rPr lang="es-ES" smtClean="0"/>
              <a:t>64</a:t>
            </a:fld>
            <a:endParaRPr lang="es-ES"/>
          </a:p>
        </p:txBody>
      </p:sp>
    </p:spTree>
    <p:extLst>
      <p:ext uri="{BB962C8B-B14F-4D97-AF65-F5344CB8AC3E}">
        <p14:creationId xmlns:p14="http://schemas.microsoft.com/office/powerpoint/2010/main" val="10018813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11</a:t>
            </a:r>
            <a:r>
              <a:rPr dirty="0"/>
              <a:t>. </a:t>
            </a:r>
            <a:r>
              <a:rPr dirty="0" err="1"/>
              <a:t>Distribución</a:t>
            </a:r>
            <a:r>
              <a:rPr dirty="0"/>
              <a:t> </a:t>
            </a:r>
            <a:r>
              <a:rPr lang="es-ES" dirty="0"/>
              <a:t>Binomial</a:t>
            </a:r>
            <a:r>
              <a:rPr dirty="0"/>
              <a:t> </a:t>
            </a:r>
            <a:r>
              <a:rPr dirty="0" err="1"/>
              <a:t>negativa</a:t>
            </a:r>
            <a:br>
              <a:rPr lang="es-ES" dirty="0"/>
            </a:br>
            <a:r>
              <a:rPr dirty="0" err="1"/>
              <a:t>Ejemplo</a:t>
            </a:r>
            <a:r>
              <a:rPr dirty="0"/>
              <a:t> 3.21 (</a:t>
            </a:r>
            <a:r>
              <a:rPr dirty="0" err="1"/>
              <a:t>Solución</a:t>
            </a:r>
            <a:r>
              <a:rPr dirty="0"/>
              <a:t>)</a:t>
            </a: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normAutofit fontScale="92500" lnSpcReduction="10000"/>
              </a:bodyPr>
              <a:lstStyle/>
              <a:p>
                <a:r>
                  <a:rPr lang="es-ES" dirty="0"/>
                  <a:t>X: </a:t>
                </a:r>
                <a:r>
                  <a:rPr lang="es-ES" dirty="0" err="1"/>
                  <a:t>número</a:t>
                </a:r>
                <a:r>
                  <a:rPr lang="es-ES" dirty="0"/>
                  <a:t> de </a:t>
                </a:r>
                <a:r>
                  <a:rPr lang="es-ES" dirty="0" err="1"/>
                  <a:t>componentes</a:t>
                </a:r>
                <a:r>
                  <a:rPr lang="es-ES" dirty="0"/>
                  <a:t> </a:t>
                </a:r>
                <a:r>
                  <a:rPr lang="es-ES" dirty="0" err="1"/>
                  <a:t>probados</a:t>
                </a:r>
                <a:r>
                  <a:rPr lang="es-ES" dirty="0"/>
                  <a:t> hasta que se </a:t>
                </a:r>
                <a:r>
                  <a:rPr lang="es-ES" dirty="0" err="1"/>
                  <a:t>encuentren</a:t>
                </a:r>
                <a:r>
                  <a:rPr lang="es-ES" dirty="0"/>
                  <a:t> 12 no </a:t>
                </a:r>
                <a:r>
                  <a:rPr lang="es-ES" dirty="0" err="1"/>
                  <a:t>defectuosos</a:t>
                </a:r>
                <a:endParaRPr lang="es-ES" dirty="0"/>
              </a:p>
              <a:p>
                <a:pPr lvl="1"/>
                <a:r>
                  <a:rPr lang="es-ES" dirty="0"/>
                  <a:t>X </a:t>
                </a:r>
                <a:r>
                  <a:rPr lang="es-ES" dirty="0" err="1"/>
                  <a:t>tiene</a:t>
                </a:r>
                <a:r>
                  <a:rPr lang="es-ES" dirty="0"/>
                  <a:t> </a:t>
                </a:r>
                <a:r>
                  <a:rPr lang="es-ES" dirty="0" err="1"/>
                  <a:t>distribución</a:t>
                </a:r>
                <a:r>
                  <a:rPr lang="es-ES" dirty="0"/>
                  <a:t> Binomial </a:t>
                </a:r>
                <a:r>
                  <a:rPr lang="es-ES" dirty="0" err="1"/>
                  <a:t>negativa</a:t>
                </a:r>
                <a:r>
                  <a:rPr lang="es-ES" dirty="0"/>
                  <a:t> con </a:t>
                </a:r>
                <a:r>
                  <a:rPr lang="es-ES" dirty="0" err="1"/>
                  <a:t>parámetros</a:t>
                </a:r>
                <a:r>
                  <a:rPr lang="es-ES" dirty="0"/>
                  <a:t> </a:t>
                </a:r>
                <a14:m>
                  <m:oMath xmlns:m="http://schemas.openxmlformats.org/officeDocument/2006/math">
                    <m:r>
                      <a:rPr lang="es-ES" i="1" dirty="0" smtClean="0">
                        <a:latin typeface="Cambria Math" panose="02040503050406030204" pitchFamily="18" charset="0"/>
                      </a:rPr>
                      <m:t>𝑘</m:t>
                    </m:r>
                    <m:r>
                      <a:rPr lang="es-ES" i="1" dirty="0" smtClean="0">
                        <a:latin typeface="Cambria Math" panose="02040503050406030204" pitchFamily="18" charset="0"/>
                      </a:rPr>
                      <m:t> = </m:t>
                    </m:r>
                    <m:r>
                      <a:rPr lang="es-ES" i="1" dirty="0" smtClean="0">
                        <a:latin typeface="Cambria Math" panose="02040503050406030204" pitchFamily="18" charset="0"/>
                      </a:rPr>
                      <m:t>12</m:t>
                    </m:r>
                    <m:r>
                      <a:rPr lang="es-ES" i="1" dirty="0" smtClean="0">
                        <a:latin typeface="Cambria Math" panose="02040503050406030204" pitchFamily="18" charset="0"/>
                      </a:rPr>
                      <m:t> </m:t>
                    </m:r>
                  </m:oMath>
                </a14:m>
                <a:r>
                  <a:rPr lang="es-ES" dirty="0"/>
                  <a:t>y </a:t>
                </a:r>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95</m:t>
                    </m:r>
                  </m:oMath>
                </a14:m>
                <a:endParaRPr lang="es-ES" dirty="0"/>
              </a:p>
              <a:p>
                <a:r>
                  <a:rPr lang="es-ES" dirty="0" err="1"/>
                  <a:t>Necesitamos</a:t>
                </a:r>
                <a:r>
                  <a:rPr lang="es-ES" dirty="0"/>
                  <a:t> </a:t>
                </a:r>
                <a:r>
                  <a:rPr lang="es-ES" dirty="0" err="1"/>
                  <a:t>encontrar</a:t>
                </a:r>
                <a:r>
                  <a:rPr lang="es-ES" dirty="0"/>
                  <a:t> la </a:t>
                </a:r>
                <a:r>
                  <a:rPr lang="es-ES" dirty="0" err="1"/>
                  <a:t>probabilidad</a:t>
                </a:r>
                <a:r>
                  <a:rPr lang="es-ES" dirty="0"/>
                  <a:t> </a:t>
                </a:r>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 {</m:t>
                    </m:r>
                    <m:r>
                      <a:rPr lang="es-ES" i="1" dirty="0" smtClean="0">
                        <a:latin typeface="Cambria Math" panose="02040503050406030204" pitchFamily="18" charset="0"/>
                      </a:rPr>
                      <m:t>𝑋</m:t>
                    </m:r>
                    <m:r>
                      <a:rPr lang="es-ES" i="1" dirty="0" smtClean="0">
                        <a:latin typeface="Cambria Math" panose="02040503050406030204" pitchFamily="18" charset="0"/>
                      </a:rPr>
                      <m:t> &gt; </m:t>
                    </m:r>
                    <m:r>
                      <a:rPr lang="es-ES" i="1" dirty="0" smtClean="0">
                        <a:latin typeface="Cambria Math" panose="02040503050406030204" pitchFamily="18" charset="0"/>
                      </a:rPr>
                      <m:t>15</m:t>
                    </m:r>
                    <m:r>
                      <a:rPr lang="es-ES" i="1" dirty="0" smtClean="0">
                        <a:latin typeface="Cambria Math" panose="02040503050406030204" pitchFamily="18" charset="0"/>
                      </a:rPr>
                      <m:t>}</m:t>
                    </m:r>
                  </m:oMath>
                </a14:m>
                <a:endParaRPr lang="es-ES" dirty="0"/>
              </a:p>
              <a:p>
                <a14:m>
                  <m:oMath xmlns:m="http://schemas.openxmlformats.org/officeDocument/2006/math">
                    <m:r>
                      <a:rPr lang="es-ES" i="1">
                        <a:latin typeface="Cambria Math" panose="02040503050406030204" pitchFamily="18" charset="0"/>
                      </a:rPr>
                      <m:t>𝑃</m:t>
                    </m:r>
                    <m:d>
                      <m:dPr>
                        <m:begChr m:val="{"/>
                        <m:endChr m:val="}"/>
                        <m:ctrlPr>
                          <a:rPr lang="ar-AE" i="1">
                            <a:latin typeface="Cambria Math" panose="02040503050406030204" pitchFamily="18" charset="0"/>
                          </a:rPr>
                        </m:ctrlPr>
                      </m:dPr>
                      <m:e>
                        <m:r>
                          <a:rPr lang="ar-AE" i="1">
                            <a:latin typeface="Cambria Math" panose="02040503050406030204" pitchFamily="18" charset="0"/>
                          </a:rPr>
                          <m:t>𝑋</m:t>
                        </m:r>
                        <m:r>
                          <a:rPr lang="ar-AE" b="0" i="1" smtClean="0">
                            <a:latin typeface="Cambria Math" panose="02040503050406030204" pitchFamily="18" charset="0"/>
                          </a:rPr>
                          <m:t>&gt;</m:t>
                        </m:r>
                        <m:r>
                          <a:rPr lang="ar-AE" b="0" i="1" smtClean="0">
                            <a:latin typeface="Cambria Math" panose="02040503050406030204" pitchFamily="18" charset="0"/>
                          </a:rPr>
                          <m:t>15</m:t>
                        </m:r>
                      </m:e>
                    </m:d>
                    <m:r>
                      <a:rPr lang="ar-AE" i="1">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𝑃</m:t>
                    </m:r>
                    <m:d>
                      <m:dPr>
                        <m:begChr m:val="{"/>
                        <m:endChr m:val="}"/>
                        <m:ctrlPr>
                          <a:rPr lang="ar-AE" i="1">
                            <a:latin typeface="Cambria Math" panose="02040503050406030204" pitchFamily="18" charset="0"/>
                            <a:ea typeface="Cambria Math" panose="02040503050406030204" pitchFamily="18" charset="0"/>
                          </a:rPr>
                        </m:ctrlPr>
                      </m:dPr>
                      <m:e>
                        <m:r>
                          <a:rPr lang="ar-AE" i="1">
                            <a:latin typeface="Cambria Math" panose="02040503050406030204" pitchFamily="18" charset="0"/>
                            <a:ea typeface="Cambria Math" panose="02040503050406030204" pitchFamily="18" charset="0"/>
                          </a:rPr>
                          <m:t>𝑋</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15</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0055</m:t>
                    </m:r>
                  </m:oMath>
                </a14:m>
                <a:endParaRPr lang="ar-AE" dirty="0">
                  <a:ea typeface="Cambria Math" panose="02040503050406030204" pitchFamily="18" charset="0"/>
                </a:endParaRPr>
              </a:p>
              <a:p>
                <a:pPr lvl="1">
                  <a:defRPr>
                    <a:ea typeface="Cambria Math" panose="02040503050406030204" pitchFamily="18" charset="0"/>
                  </a:defRPr>
                </a:pPr>
                <a:r>
                  <a:rPr lang="es-ES" dirty="0" err="1"/>
                  <a:t>Opción</a:t>
                </a:r>
                <a:r>
                  <a:rPr lang="es-ES" dirty="0"/>
                  <a:t> 1: </a:t>
                </a:r>
                <a14:m>
                  <m:oMath xmlns:m="http://schemas.openxmlformats.org/officeDocument/2006/math">
                    <m:r>
                      <a:rPr lang="es-ES" i="1">
                        <a:latin typeface="Cambria Math" panose="02040503050406030204" pitchFamily="18" charset="0"/>
                      </a:rPr>
                      <m:t>𝑃</m:t>
                    </m:r>
                    <m:d>
                      <m:dPr>
                        <m:begChr m:val="{"/>
                        <m:endChr m:val="}"/>
                        <m:ctrlPr>
                          <a:rPr lang="ar-AE" i="1">
                            <a:latin typeface="Cambria Math" panose="02040503050406030204" pitchFamily="18" charset="0"/>
                          </a:rPr>
                        </m:ctrlPr>
                      </m:dPr>
                      <m:e>
                        <m:r>
                          <a:rPr lang="ar-AE" i="1">
                            <a:latin typeface="Cambria Math" panose="02040503050406030204" pitchFamily="18" charset="0"/>
                          </a:rPr>
                          <m:t>𝑋</m:t>
                        </m:r>
                        <m:r>
                          <a:rPr lang="ar-AE" b="0" i="1" smtClean="0">
                            <a:latin typeface="Cambria Math" panose="02040503050406030204" pitchFamily="18" charset="0"/>
                          </a:rPr>
                          <m:t>&gt;</m:t>
                        </m:r>
                        <m:r>
                          <a:rPr lang="ar-AE" b="0" i="1" smtClean="0">
                            <a:latin typeface="Cambria Math" panose="02040503050406030204" pitchFamily="18" charset="0"/>
                          </a:rPr>
                          <m:t>15</m:t>
                        </m:r>
                      </m:e>
                    </m:d>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1</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𝐹</m:t>
                    </m:r>
                    <m:d>
                      <m:dPr>
                        <m:ctrlPr>
                          <a:rPr lang="ar-AE" i="1">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15</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995</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005</m:t>
                    </m:r>
                  </m:oMath>
                </a14:m>
                <a:endParaRPr lang="ar-AE" dirty="0">
                  <a:ea typeface="Cambria Math" panose="02040503050406030204" pitchFamily="18" charset="0"/>
                </a:endParaRPr>
              </a:p>
              <a:p>
                <a:pPr lvl="2"/>
                <a:r>
                  <a:rPr lang="es-ES" dirty="0" err="1">
                    <a:ea typeface="Cambria Math" panose="02040503050406030204" pitchFamily="18" charset="0"/>
                  </a:rPr>
                  <a:t>Utilizando</a:t>
                </a:r>
                <a:r>
                  <a:rPr lang="es-ES" dirty="0">
                    <a:ea typeface="Cambria Math" panose="02040503050406030204" pitchFamily="18" charset="0"/>
                  </a:rPr>
                  <a:t> un </a:t>
                </a:r>
                <a:r>
                  <a:rPr lang="es-ES" dirty="0"/>
                  <a:t>software </a:t>
                </a:r>
                <a:r>
                  <a:rPr lang="es-ES" dirty="0" err="1"/>
                  <a:t>estadístico</a:t>
                </a:r>
                <a:r>
                  <a:rPr lang="es-ES" dirty="0"/>
                  <a:t> como R se obtiene: </a:t>
                </a: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15</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995</m:t>
                    </m:r>
                  </m:oMath>
                </a14:m>
                <a:endParaRPr lang="ar-AE" b="0" dirty="0">
                  <a:ea typeface="Cambria Math" panose="02040503050406030204" pitchFamily="18" charset="0"/>
                </a:endParaRPr>
              </a:p>
              <a:p>
                <a:pPr lvl="1"/>
                <a:r>
                  <a:rPr lang="es-ES" dirty="0" err="1"/>
                  <a:t>Opción</a:t>
                </a:r>
                <a:r>
                  <a:rPr lang="es-ES" dirty="0"/>
                  <a:t> 2: </a:t>
                </a:r>
                <a:r>
                  <a:rPr lang="es-ES" dirty="0" err="1"/>
                  <a:t>Transformar</a:t>
                </a:r>
                <a:r>
                  <a:rPr lang="es-ES" dirty="0"/>
                  <a:t> la variable Binomial </a:t>
                </a:r>
                <a:r>
                  <a:rPr lang="es-ES" dirty="0" err="1"/>
                  <a:t>negativa</a:t>
                </a:r>
                <a:r>
                  <a:rPr lang="es-ES" dirty="0"/>
                  <a:t> (X) en </a:t>
                </a:r>
                <a:r>
                  <a:rPr lang="es-ES" dirty="0" err="1"/>
                  <a:t>una</a:t>
                </a:r>
                <a:r>
                  <a:rPr lang="es-ES" dirty="0"/>
                  <a:t> variable Binomial (Y) </a:t>
                </a:r>
              </a:p>
              <a:p>
                <a:pPr lvl="2"/>
                <a:r>
                  <a:rPr lang="es-ES" dirty="0"/>
                  <a:t>X = </a:t>
                </a:r>
                <a:r>
                  <a:rPr lang="es-ES" dirty="0" err="1"/>
                  <a:t>ensayos</a:t>
                </a:r>
                <a:r>
                  <a:rPr lang="es-ES" dirty="0"/>
                  <a:t> hasta 12 </a:t>
                </a:r>
                <a:r>
                  <a:rPr lang="es-ES" dirty="0" err="1"/>
                  <a:t>éxitos</a:t>
                </a:r>
                <a:r>
                  <a:rPr lang="es-ES" dirty="0"/>
                  <a:t> = NB (12, 0.95)</a:t>
                </a:r>
              </a:p>
              <a:p>
                <a:pPr lvl="2"/>
                <a:r>
                  <a:rPr lang="es-ES" dirty="0"/>
                  <a:t>Y = </a:t>
                </a:r>
                <a:r>
                  <a:rPr lang="es-ES" dirty="0" err="1"/>
                  <a:t>éxitos</a:t>
                </a:r>
                <a:r>
                  <a:rPr lang="es-ES" dirty="0"/>
                  <a:t> en 15 </a:t>
                </a:r>
                <a:r>
                  <a:rPr lang="es-ES" dirty="0" err="1"/>
                  <a:t>ensayos</a:t>
                </a:r>
                <a:r>
                  <a:rPr lang="es-ES" dirty="0"/>
                  <a:t> = Binomial (15, 0.95)</a:t>
                </a:r>
              </a:p>
              <a:p>
                <a:pPr lvl="2"/>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𝑋</m:t>
                    </m:r>
                    <m:r>
                      <a:rPr lang="es-ES" i="1" dirty="0" smtClean="0">
                        <a:latin typeface="Cambria Math" panose="02040503050406030204" pitchFamily="18" charset="0"/>
                      </a:rPr>
                      <m:t>&gt; </m:t>
                    </m:r>
                    <m:r>
                      <a:rPr lang="es-ES" i="1" dirty="0" smtClean="0">
                        <a:latin typeface="Cambria Math" panose="02040503050406030204" pitchFamily="18" charset="0"/>
                      </a:rPr>
                      <m:t>15</m:t>
                    </m:r>
                    <m:r>
                      <a:rPr lang="es-ES" i="1" dirty="0" smtClean="0">
                        <a:latin typeface="Cambria Math" panose="02040503050406030204" pitchFamily="18" charset="0"/>
                      </a:rPr>
                      <m:t>} = </m:t>
                    </m:r>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𝑌</m:t>
                    </m:r>
                    <m:r>
                      <a:rPr lang="es-ES" i="1" dirty="0" smtClean="0">
                        <a:latin typeface="Cambria Math" panose="02040503050406030204" pitchFamily="18" charset="0"/>
                      </a:rPr>
                      <m:t>&lt;</m:t>
                    </m:r>
                    <m:r>
                      <a:rPr lang="es-ES" i="1" dirty="0" smtClean="0">
                        <a:latin typeface="Cambria Math" panose="02040503050406030204" pitchFamily="18" charset="0"/>
                      </a:rPr>
                      <m:t>12</m:t>
                    </m:r>
                    <m:r>
                      <a:rPr lang="es-ES" i="1" dirty="0" smtClean="0">
                        <a:latin typeface="Cambria Math" panose="02040503050406030204" pitchFamily="18" charset="0"/>
                      </a:rPr>
                      <m:t>} = </m:t>
                    </m:r>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𝑌</m:t>
                    </m:r>
                    <m:r>
                      <a:rPr lang="es-ES" i="1" dirty="0" smtClean="0">
                        <a:latin typeface="Cambria Math" panose="02040503050406030204" pitchFamily="18" charset="0"/>
                      </a:rPr>
                      <m:t>≤ </m:t>
                    </m:r>
                    <m:r>
                      <a:rPr lang="es-ES" i="1" dirty="0" smtClean="0">
                        <a:latin typeface="Cambria Math" panose="02040503050406030204" pitchFamily="18" charset="0"/>
                      </a:rPr>
                      <m:t>11</m:t>
                    </m:r>
                    <m:r>
                      <a:rPr lang="es-ES" i="1" dirty="0" smtClean="0">
                        <a:latin typeface="Cambria Math" panose="02040503050406030204" pitchFamily="18" charset="0"/>
                      </a:rPr>
                      <m:t>} =</m:t>
                    </m:r>
                    <m:sSub>
                      <m:sSubPr>
                        <m:ctrlPr>
                          <a:rPr lang="ar-AE" i="1" dirty="0">
                            <a:latin typeface="Cambria Math" panose="02040503050406030204" pitchFamily="18" charset="0"/>
                          </a:rPr>
                        </m:ctrlPr>
                      </m:sSubPr>
                      <m:e>
                        <m:r>
                          <a:rPr lang="ar-AE" i="1" dirty="0">
                            <a:latin typeface="Cambria Math" panose="02040503050406030204" pitchFamily="18" charset="0"/>
                          </a:rPr>
                          <m:t>𝐹</m:t>
                        </m:r>
                      </m:e>
                      <m:sub>
                        <m:r>
                          <a:rPr lang="ar-AE" i="1" dirty="0">
                            <a:latin typeface="Cambria Math" panose="02040503050406030204" pitchFamily="18" charset="0"/>
                          </a:rPr>
                          <m:t>𝑌</m:t>
                        </m:r>
                      </m:sub>
                    </m:sSub>
                    <m:r>
                      <a:rPr lang="ar-AE" i="1" dirty="0">
                        <a:latin typeface="Cambria Math" panose="02040503050406030204" pitchFamily="18" charset="0"/>
                      </a:rPr>
                      <m:t>(</m:t>
                    </m:r>
                    <m:r>
                      <a:rPr lang="ar-AE" i="1" dirty="0">
                        <a:latin typeface="Cambria Math" panose="02040503050406030204" pitchFamily="18" charset="0"/>
                      </a:rPr>
                      <m:t>11</m:t>
                    </m:r>
                    <m:r>
                      <a:rPr lang="ar-AE" i="1" dirty="0">
                        <a:latin typeface="Cambria Math" panose="02040503050406030204" pitchFamily="18" charset="0"/>
                      </a:rPr>
                      <m:t>)=</m:t>
                    </m:r>
                    <m:r>
                      <a:rPr lang="ar-AE" i="1" dirty="0">
                        <a:latin typeface="Cambria Math" panose="02040503050406030204" pitchFamily="18" charset="0"/>
                      </a:rPr>
                      <m:t>0</m:t>
                    </m:r>
                    <m:r>
                      <a:rPr lang="ar-AE" i="1" dirty="0">
                        <a:latin typeface="Cambria Math" panose="02040503050406030204" pitchFamily="18" charset="0"/>
                      </a:rPr>
                      <m:t>.</m:t>
                    </m:r>
                    <m:r>
                      <a:rPr lang="ar-AE" i="1" dirty="0">
                        <a:latin typeface="Cambria Math" panose="02040503050406030204" pitchFamily="18" charset="0"/>
                      </a:rPr>
                      <m:t>005</m:t>
                    </m:r>
                    <m:r>
                      <a:rPr lang="ar-AE" i="1" dirty="0">
                        <a:latin typeface="Cambria Math" panose="02040503050406030204" pitchFamily="18" charset="0"/>
                      </a:rPr>
                      <m:t> </m:t>
                    </m:r>
                  </m:oMath>
                </a14:m>
                <a:r>
                  <a:rPr lang="ar-AE" i="1" dirty="0"/>
                  <a:t> (</a:t>
                </a:r>
                <a:r>
                  <a:rPr lang="es-ES" i="1" dirty="0" err="1"/>
                  <a:t>Utilizando</a:t>
                </a:r>
                <a:r>
                  <a:rPr lang="es-ES" i="1" dirty="0"/>
                  <a:t> software </a:t>
                </a:r>
                <a:r>
                  <a:rPr lang="es-ES" i="1" dirty="0" err="1"/>
                  <a:t>como</a:t>
                </a:r>
                <a:r>
                  <a:rPr lang="es-ES" i="1" dirty="0"/>
                  <a:t> R, o la </a:t>
                </a:r>
                <a:r>
                  <a:rPr lang="es-ES" i="1" dirty="0" err="1"/>
                  <a:t>Tabla</a:t>
                </a:r>
                <a:r>
                  <a:rPr lang="es-ES" i="1" dirty="0"/>
                  <a:t> A2)</a:t>
                </a:r>
                <a:endParaRPr i="1"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a:blip r:embed="rId2"/>
                <a:stretch>
                  <a:fillRect l="-928" t="-2801" r="-290"/>
                </a:stretch>
              </a:blipFill>
            </p:spPr>
            <p:txBody>
              <a:bodyPr/>
              <a:lstStyle/>
              <a:p>
                <a:r>
                  <a:rPr lang="es-ES">
                    <a:noFill/>
                  </a:rPr>
                  <a:t> </a:t>
                </a:r>
              </a:p>
            </p:txBody>
          </p:sp>
        </mc:Fallback>
      </mc:AlternateContent>
      <p:sp>
        <p:nvSpPr>
          <p:cNvPr id="4" name="Marcador de número de diapositiva 3"/>
          <p:cNvSpPr>
            <a:spLocks noGrp="1"/>
          </p:cNvSpPr>
          <p:nvPr>
            <p:ph type="sldNum" sz="quarter" idx="12"/>
          </p:nvPr>
        </p:nvSpPr>
        <p:spPr/>
        <p:txBody>
          <a:bodyPr/>
          <a:lstStyle/>
          <a:p>
            <a:fld id="{336CAFD0-1F6E-4E11-9822-836563A02839}" type="slidenum">
              <a:rPr lang="es-ES" smtClean="0"/>
              <a:t>65</a:t>
            </a:fld>
            <a:endParaRPr lang="es-ES"/>
          </a:p>
        </p:txBody>
      </p:sp>
    </p:spTree>
    <p:extLst>
      <p:ext uri="{BB962C8B-B14F-4D97-AF65-F5344CB8AC3E}">
        <p14:creationId xmlns:p14="http://schemas.microsoft.com/office/powerpoint/2010/main" val="26533410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F8BC9B-2899-08CA-2297-097A3C2A0A28}"/>
              </a:ext>
            </a:extLst>
          </p:cNvPr>
          <p:cNvSpPr>
            <a:spLocks noGrp="1"/>
          </p:cNvSpPr>
          <p:nvPr>
            <p:ph type="title"/>
          </p:nvPr>
        </p:nvSpPr>
        <p:spPr/>
        <p:txBody>
          <a:bodyPr>
            <a:normAutofit/>
          </a:bodyPr>
          <a:lstStyle/>
          <a:p>
            <a:r>
              <a:rPr lang="es-ES" dirty="0"/>
              <a:t>11</a:t>
            </a:r>
            <a:r>
              <a:rPr dirty="0"/>
              <a:t>. </a:t>
            </a:r>
            <a:r>
              <a:rPr dirty="0" err="1"/>
              <a:t>Distribución</a:t>
            </a:r>
            <a:r>
              <a:rPr dirty="0"/>
              <a:t> </a:t>
            </a:r>
            <a:r>
              <a:rPr lang="es-ES" dirty="0"/>
              <a:t>Binomial</a:t>
            </a:r>
            <a:r>
              <a:rPr dirty="0"/>
              <a:t> </a:t>
            </a:r>
            <a:r>
              <a:rPr dirty="0" err="1"/>
              <a:t>negativa</a:t>
            </a:r>
            <a:br>
              <a:rPr lang="es-ES" dirty="0"/>
            </a:br>
            <a:r>
              <a:rPr dirty="0" err="1"/>
              <a:t>Ejemplo</a:t>
            </a:r>
            <a:r>
              <a:rPr dirty="0"/>
              <a:t> 3.21 (</a:t>
            </a:r>
            <a:r>
              <a:rPr dirty="0" err="1"/>
              <a:t>Solución</a:t>
            </a:r>
            <a:r>
              <a:rPr dirty="0"/>
              <a:t>) </a:t>
            </a:r>
            <a:r>
              <a:rPr dirty="0" err="1"/>
              <a:t>Interpretación</a:t>
            </a:r>
            <a:r>
              <a:rPr dirty="0"/>
              <a:t> </a:t>
            </a:r>
            <a:r>
              <a:rPr dirty="0" err="1"/>
              <a:t>gráfica</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7707946-EFEC-F456-1931-0828E9D17E21}"/>
                  </a:ext>
                </a:extLst>
              </p:cNvPr>
              <p:cNvSpPr>
                <a:spLocks noGrp="1"/>
              </p:cNvSpPr>
              <p:nvPr>
                <p:ph idx="1"/>
              </p:nvPr>
            </p:nvSpPr>
            <p:spPr/>
            <p:txBody>
              <a:bodyPr/>
              <a:lstStyle/>
              <a:p>
                <a:r>
                  <a:rPr dirty="0"/>
                  <a:t>Los </a:t>
                </a:r>
                <a:r>
                  <a:rPr dirty="0" err="1"/>
                  <a:t>valores</a:t>
                </a:r>
                <a:r>
                  <a:rPr dirty="0"/>
                  <a:t> de </a:t>
                </a:r>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16</m:t>
                    </m:r>
                    <m:r>
                      <a:rPr lang="es-ES" i="1" dirty="0" smtClean="0">
                        <a:latin typeface="Cambria Math" panose="02040503050406030204" pitchFamily="18" charset="0"/>
                      </a:rPr>
                      <m:t>), </m:t>
                    </m:r>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17</m:t>
                    </m:r>
                    <m:r>
                      <a:rPr lang="es-ES" i="1" dirty="0" smtClean="0">
                        <a:latin typeface="Cambria Math" panose="02040503050406030204" pitchFamily="18" charset="0"/>
                      </a:rPr>
                      <m:t>),… </m:t>
                    </m:r>
                  </m:oMath>
                </a14:m>
                <a:r>
                  <a:rPr dirty="0"/>
                  <a:t>son </a:t>
                </a:r>
                <a:r>
                  <a:rPr dirty="0" err="1"/>
                  <a:t>casi</a:t>
                </a:r>
                <a:r>
                  <a:rPr dirty="0"/>
                  <a:t> cero</a:t>
                </a:r>
              </a:p>
            </p:txBody>
          </p:sp>
        </mc:Choice>
        <mc:Fallback xmlns="">
          <p:sp>
            <p:nvSpPr>
              <p:cNvPr id="3" name="Marcador de contenido 2">
                <a:extLst>
                  <a:ext uri="{FF2B5EF4-FFF2-40B4-BE49-F238E27FC236}">
                    <a16:creationId xmlns:a16="http://schemas.microsoft.com/office/drawing/2014/main" id="{67707946-EFEC-F456-1931-0828E9D17E2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AA1984AA-D5E8-A2D3-05DE-BF032731D61D}"/>
              </a:ext>
            </a:extLst>
          </p:cNvPr>
          <p:cNvSpPr>
            <a:spLocks noGrp="1"/>
          </p:cNvSpPr>
          <p:nvPr>
            <p:ph type="sldNum" sz="quarter" idx="12"/>
          </p:nvPr>
        </p:nvSpPr>
        <p:spPr/>
        <p:txBody>
          <a:bodyPr/>
          <a:lstStyle/>
          <a:p>
            <a:fld id="{336CAFD0-1F6E-4E11-9822-836563A02839}" type="slidenum">
              <a:rPr lang="es-ES" smtClean="0"/>
              <a:t>66</a:t>
            </a:fld>
            <a:endParaRPr lang="es-ES"/>
          </a:p>
        </p:txBody>
      </p:sp>
      <p:pic>
        <p:nvPicPr>
          <p:cNvPr id="5" name="Imagen 4">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886648" y="2345457"/>
            <a:ext cx="7864522" cy="4442845"/>
          </a:xfrm>
          <a:prstGeom prst="rect">
            <a:avLst/>
          </a:prstGeom>
        </p:spPr>
      </p:pic>
      <p:sp>
        <p:nvSpPr>
          <p:cNvPr id="6" name="Elipse 5">
            <a:extLst>
              <a:ext uri="{C183D7F6-B498-43B3-948B-1728B52AA6E4}">
                <adec:decorative xmlns:adec="http://schemas.microsoft.com/office/drawing/2017/decorative" val="1"/>
              </a:ext>
            </a:extLst>
          </p:cNvPr>
          <p:cNvSpPr/>
          <p:nvPr/>
        </p:nvSpPr>
        <p:spPr>
          <a:xfrm>
            <a:off x="4779818" y="4862957"/>
            <a:ext cx="637309" cy="65116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 name="CuadroTexto 9">
            <a:extLst>
              <a:ext uri="{C183D7F6-B498-43B3-948B-1728B52AA6E4}">
                <adec:decorative xmlns:adec="http://schemas.microsoft.com/office/drawing/2017/decorative" val="1"/>
              </a:ext>
            </a:extLst>
          </p:cNvPr>
          <p:cNvSpPr txBox="1"/>
          <p:nvPr/>
        </p:nvSpPr>
        <p:spPr>
          <a:xfrm>
            <a:off x="3407466" y="4819206"/>
            <a:ext cx="1430200" cy="369332"/>
          </a:xfrm>
          <a:prstGeom prst="rect">
            <a:avLst/>
          </a:prstGeom>
          <a:noFill/>
        </p:spPr>
        <p:txBody>
          <a:bodyPr wrap="none">
            <a:spAutoFit/>
          </a:bodyPr>
          <a:lstStyle/>
          <a:p>
            <a:pPr>
              <a:defRPr b="1"/>
            </a:pPr>
            <a:r>
              <a:rPr dirty="0"/>
              <a:t>F(15) = 0.995</a:t>
            </a:r>
          </a:p>
        </p:txBody>
      </p:sp>
    </p:spTree>
    <p:extLst>
      <p:ext uri="{BB962C8B-B14F-4D97-AF65-F5344CB8AC3E}">
        <p14:creationId xmlns:p14="http://schemas.microsoft.com/office/powerpoint/2010/main" val="2190221342"/>
      </p:ext>
    </p:extLst>
  </p:cSld>
  <p:clrMapOvr>
    <a:masterClrMapping/>
  </p:clrMapOvr>
  <mc:AlternateContent xmlns:mc="http://schemas.openxmlformats.org/markup-compatibility/2006" xmlns:p14="http://schemas.microsoft.com/office/powerpoint/2010/main">
    <mc:Choice Requires="p14">
      <p:transition spd="slow" p14:dur="2000" advTm="143870"/>
    </mc:Choice>
    <mc:Fallback xmlns="">
      <p:transition spd="slow" advTm="143870"/>
    </mc:Fallback>
  </mc:AlternateContent>
  <p:extLst>
    <p:ext uri="{3A86A75C-4F4B-4683-9AE1-C65F6400EC91}">
      <p14:laserTraceLst xmlns:p14="http://schemas.microsoft.com/office/powerpoint/2010/main">
        <p14:tracePtLst>
          <p14:tracePt t="2205" x="2401888" y="3074988"/>
          <p14:tracePt t="2207" x="2384425" y="3067050"/>
          <p14:tracePt t="2213" x="2366963" y="3057525"/>
          <p14:tracePt t="2225" x="2349500" y="3057525"/>
          <p14:tracePt t="2242" x="2322513" y="3049588"/>
          <p14:tracePt t="2258" x="2287588" y="3049588"/>
          <p14:tracePt t="2275" x="2262188" y="3049588"/>
          <p14:tracePt t="2292" x="2209800" y="3067050"/>
          <p14:tracePt t="2309" x="2147888" y="3084513"/>
          <p14:tracePt t="2325" x="2112963" y="3119438"/>
          <p14:tracePt t="2341" x="2087563" y="3179763"/>
          <p14:tracePt t="2358" x="2070100" y="3214688"/>
          <p14:tracePt t="2375" x="2052638" y="3259138"/>
          <p14:tracePt t="2392" x="2035175" y="3311525"/>
          <p14:tracePt t="2408" x="2035175" y="3371850"/>
          <p14:tracePt t="2425" x="2035175" y="3416300"/>
          <p14:tracePt t="2442" x="2060575" y="3459163"/>
          <p14:tracePt t="2458" x="2070100" y="3486150"/>
          <p14:tracePt t="2475" x="2087563" y="3494088"/>
          <p14:tracePt t="2492" x="2087563" y="3521075"/>
          <p14:tracePt t="2494" x="2095500" y="3529013"/>
          <p14:tracePt t="2509" x="2095500" y="3563938"/>
          <p14:tracePt t="2525" x="2078038" y="3608388"/>
          <p14:tracePt t="2527" x="0" y="0"/>
        </p14:tracePtLst>
        <p14:tracePtLst>
          <p14:tracePt t="2937" x="1728788" y="5040313"/>
          <p14:tracePt t="2958" x="1738313" y="5057775"/>
          <p14:tracePt t="2965" x="1738313" y="5067300"/>
          <p14:tracePt t="2975" x="1738313" y="5084763"/>
          <p14:tracePt t="2991" x="1746250" y="5162550"/>
          <p14:tracePt t="3008" x="1746250" y="5276850"/>
          <p14:tracePt t="3025" x="1746250" y="5416550"/>
          <p14:tracePt t="3042" x="1746250" y="5600700"/>
          <p14:tracePt t="3058" x="1755775" y="5730875"/>
          <p14:tracePt t="3075" x="1781175" y="5862638"/>
          <p14:tracePt t="3091" x="1816100" y="5905500"/>
          <p14:tracePt t="3093" x="1833563" y="5922963"/>
          <p14:tracePt t="3109" x="1851025" y="5932488"/>
          <p14:tracePt t="3125" x="1860550" y="5940425"/>
          <p14:tracePt t="3149" x="1868488" y="5940425"/>
          <p14:tracePt t="3215" x="0" y="0"/>
        </p14:tracePtLst>
        <p14:tracePtLst>
          <p14:tracePt t="5994" x="1947863" y="5451475"/>
          <p14:tracePt t="5997" x="1938338" y="5459413"/>
          <p14:tracePt t="6008" x="1930400" y="5468938"/>
          <p14:tracePt t="6024" x="1903413" y="5486400"/>
          <p14:tracePt t="6041" x="1860550" y="5513388"/>
          <p14:tracePt t="6058" x="1833563" y="5538788"/>
          <p14:tracePt t="6074" x="1816100" y="5565775"/>
          <p14:tracePt t="6091" x="1816100" y="5643563"/>
          <p14:tracePt t="6108" x="1816100" y="5730875"/>
          <p14:tracePt t="6109" x="1816100" y="5757863"/>
          <p14:tracePt t="6125" x="1816100" y="5810250"/>
          <p14:tracePt t="6141" x="1843088" y="5853113"/>
          <p14:tracePt t="6158" x="1868488" y="5905500"/>
          <p14:tracePt t="6174" x="1903413" y="5922963"/>
          <p14:tracePt t="6191" x="1912938" y="5932488"/>
          <p14:tracePt t="6208" x="1930400" y="5932488"/>
          <p14:tracePt t="6229" x="1938338" y="5932488"/>
          <p14:tracePt t="6241" x="1947863" y="5922963"/>
          <p14:tracePt t="6258" x="1973263" y="5897563"/>
          <p14:tracePt t="6275" x="2000250" y="5870575"/>
          <p14:tracePt t="6291" x="2035175" y="5818188"/>
          <p14:tracePt t="6293" x="2035175" y="5792788"/>
          <p14:tracePt t="6308" x="2043113" y="5757863"/>
          <p14:tracePt t="6309" x="2043113" y="5713413"/>
          <p14:tracePt t="6325" x="2043113" y="5688013"/>
          <p14:tracePt t="6341" x="2043113" y="5678488"/>
          <p14:tracePt t="6358" x="2035175" y="5661025"/>
          <p14:tracePt t="6374" x="2025650" y="5661025"/>
          <p14:tracePt t="6391" x="2017713" y="5661025"/>
          <p14:tracePt t="6408" x="2008188" y="5661025"/>
          <p14:tracePt t="6424" x="1990725" y="5670550"/>
          <p14:tracePt t="6442" x="1973263" y="5670550"/>
          <p14:tracePt t="6458" x="1965325" y="5670550"/>
          <p14:tracePt t="6474" x="1955800" y="5670550"/>
          <p14:tracePt t="6726" x="0" y="0"/>
        </p14:tracePtLst>
        <p14:tracePtLst>
          <p14:tracePt t="18377" x="2881313" y="2787650"/>
          <p14:tracePt t="18405" x="2873375" y="2787650"/>
          <p14:tracePt t="18501" x="2873375" y="2778125"/>
          <p14:tracePt t="18517" x="2846388" y="2778125"/>
          <p14:tracePt t="18533" x="2811463" y="2778125"/>
          <p14:tracePt t="18541" x="2794000" y="2787650"/>
          <p14:tracePt t="18549" x="2768600" y="2787650"/>
          <p14:tracePt t="18557" x="2733675" y="2795588"/>
          <p14:tracePt t="18573" x="2654300" y="2795588"/>
          <p14:tracePt t="18589" x="2601913" y="2805113"/>
          <p14:tracePt t="18606" x="2566988" y="2805113"/>
          <p14:tracePt t="18622" x="2549525" y="2805113"/>
          <p14:tracePt t="18639" x="2541588" y="2813050"/>
          <p14:tracePt t="18656" x="2532063" y="2813050"/>
          <p14:tracePt t="18672" x="2532063" y="2830513"/>
          <p14:tracePt t="18689" x="2514600" y="2840038"/>
          <p14:tracePt t="18706" x="2506663" y="2857500"/>
          <p14:tracePt t="18722" x="2489200" y="2882900"/>
          <p14:tracePt t="18739" x="2471738" y="2909888"/>
          <p14:tracePt t="18756" x="2454275" y="2927350"/>
          <p14:tracePt t="18757" x="2444750" y="2952750"/>
          <p14:tracePt t="18773" x="2427288" y="2979738"/>
          <p14:tracePt t="18789" x="2419350" y="3005138"/>
          <p14:tracePt t="18806" x="2409825" y="3040063"/>
          <p14:tracePt t="18822" x="2401888" y="3067050"/>
          <p14:tracePt t="18839" x="2366963" y="3109913"/>
          <p14:tracePt t="18856" x="2357438" y="3144838"/>
          <p14:tracePt t="18872" x="2339975" y="3197225"/>
          <p14:tracePt t="18889" x="2339975" y="3249613"/>
          <p14:tracePt t="18906" x="2332038" y="3294063"/>
          <p14:tracePt t="18922" x="2314575" y="3346450"/>
          <p14:tracePt t="18939" x="2305050" y="3389313"/>
          <p14:tracePt t="18956" x="2297113" y="3424238"/>
          <p14:tracePt t="18957" x="2297113" y="3459163"/>
          <p14:tracePt t="18973" x="2279650" y="3494088"/>
          <p14:tracePt t="18989" x="2279650" y="3556000"/>
          <p14:tracePt t="19006" x="2279650" y="3608388"/>
          <p14:tracePt t="19022" x="2279650" y="3643313"/>
          <p14:tracePt t="19039" x="2287588" y="3703638"/>
          <p14:tracePt t="19056" x="2305050" y="3738563"/>
          <p14:tracePt t="19072" x="2322513" y="3790950"/>
          <p14:tracePt t="19089" x="2339975" y="3825875"/>
          <p14:tracePt t="19106" x="2357438" y="3860800"/>
          <p14:tracePt t="19122" x="2384425" y="3895725"/>
          <p14:tracePt t="19139" x="2444750" y="3957638"/>
          <p14:tracePt t="19141" x="2454275" y="3975100"/>
          <p14:tracePt t="19156" x="2479675" y="4010025"/>
          <p14:tracePt t="19157" x="2506663" y="4035425"/>
          <p14:tracePt t="19173" x="2611438" y="4097338"/>
          <p14:tracePt t="19189" x="2716213" y="4141788"/>
          <p14:tracePt t="19206" x="2759075" y="4159250"/>
          <p14:tracePt t="19222" x="2811463" y="4167188"/>
          <p14:tracePt t="19239" x="2838450" y="4176713"/>
          <p14:tracePt t="19256" x="2855913" y="4176713"/>
          <p14:tracePt t="19272" x="2873375" y="4176713"/>
          <p14:tracePt t="19289" x="2881313" y="4176713"/>
          <p14:tracePt t="19306" x="2890838" y="4176713"/>
          <p14:tracePt t="19322" x="2898775" y="4176713"/>
          <p14:tracePt t="19339" x="2908300" y="4167188"/>
          <p14:tracePt t="19356" x="2916238" y="4159250"/>
          <p14:tracePt t="19372" x="2925763" y="4159250"/>
          <p14:tracePt t="19389" x="2933700" y="4159250"/>
          <p14:tracePt t="19438" x="2943225" y="4159250"/>
          <p14:tracePt t="19469" x="2943225" y="4149725"/>
          <p14:tracePt t="19750" x="0" y="0"/>
        </p14:tracePtLst>
        <p14:tracePtLst>
          <p14:tracePt t="20946" x="2706688" y="3905250"/>
          <p14:tracePt t="21093" x="2698750" y="3905250"/>
          <p14:tracePt t="21101" x="2689225" y="3905250"/>
          <p14:tracePt t="21110" x="2671763" y="3913188"/>
          <p14:tracePt t="21122" x="2663825" y="3922713"/>
          <p14:tracePt t="21139" x="2636838" y="3930650"/>
          <p14:tracePt t="21155" x="2601913" y="3948113"/>
          <p14:tracePt t="21157" x="2601913" y="3957638"/>
          <p14:tracePt t="21172" x="2584450" y="3957638"/>
          <p14:tracePt t="21174" x="2576513" y="3965575"/>
          <p14:tracePt t="21189" x="2566988" y="3983038"/>
          <p14:tracePt t="21206" x="2559050" y="3992563"/>
          <p14:tracePt t="21222" x="2559050" y="4000500"/>
          <p14:tracePt t="21239" x="2559050" y="4017963"/>
          <p14:tracePt t="21255" x="2559050" y="4027488"/>
          <p14:tracePt t="21272" x="2549525" y="4044950"/>
          <p14:tracePt t="21289" x="2549525" y="4052888"/>
          <p14:tracePt t="21306" x="2549525" y="4070350"/>
          <p14:tracePt t="21322" x="2549525" y="4087813"/>
          <p14:tracePt t="21339" x="2559050" y="4105275"/>
          <p14:tracePt t="21355" x="2566988" y="4124325"/>
          <p14:tracePt t="21357" x="2576513" y="4132263"/>
          <p14:tracePt t="21372" x="2584450" y="4141788"/>
          <p14:tracePt t="21373" x="2584450" y="4149725"/>
          <p14:tracePt t="21389" x="2611438" y="4167188"/>
          <p14:tracePt t="21406" x="2619375" y="4176713"/>
          <p14:tracePt t="21422" x="2636838" y="4194175"/>
          <p14:tracePt t="21439" x="2646363" y="4202113"/>
          <p14:tracePt t="21456" x="2663825" y="4211638"/>
          <p14:tracePt t="21472" x="2671763" y="4219575"/>
          <p14:tracePt t="21489" x="2689225" y="4219575"/>
          <p14:tracePt t="21505" x="2698750" y="4219575"/>
          <p14:tracePt t="21522" x="2706688" y="4229100"/>
          <p14:tracePt t="21539" x="2716213" y="4229100"/>
          <p14:tracePt t="21555" x="2733675" y="4229100"/>
          <p14:tracePt t="21572" x="2741613" y="4229100"/>
          <p14:tracePt t="21574" x="2751138" y="4229100"/>
          <p14:tracePt t="21597" x="2759075" y="4229100"/>
          <p14:tracePt t="21605" x="2768600" y="4219575"/>
          <p14:tracePt t="21622" x="2776538" y="4202113"/>
          <p14:tracePt t="21639" x="2811463" y="4184650"/>
          <p14:tracePt t="21655" x="2811463" y="4167188"/>
          <p14:tracePt t="21672" x="2820988" y="4149725"/>
          <p14:tracePt t="21689" x="2838450" y="4141788"/>
          <p14:tracePt t="21705" x="2846388" y="4132263"/>
          <p14:tracePt t="21722" x="2855913" y="4114800"/>
          <p14:tracePt t="21739" x="2863850" y="4087813"/>
          <p14:tracePt t="21755" x="2863850" y="4062413"/>
          <p14:tracePt t="21757" x="2863850" y="4044950"/>
          <p14:tracePt t="21772" x="2863850" y="4035425"/>
          <p14:tracePt t="21773" x="2863850" y="4017963"/>
          <p14:tracePt t="21789" x="2863850" y="4000500"/>
          <p14:tracePt t="21805" x="2855913" y="3992563"/>
          <p14:tracePt t="21822" x="2846388" y="3965575"/>
          <p14:tracePt t="21846" x="2846388" y="3957638"/>
          <p14:tracePt t="21855" x="2838450" y="3940175"/>
          <p14:tracePt t="21872" x="2820988" y="3930650"/>
          <p14:tracePt t="21889" x="2803525" y="3922713"/>
          <p14:tracePt t="21905" x="2794000" y="3913188"/>
          <p14:tracePt t="21922" x="2786063" y="3913188"/>
          <p14:tracePt t="21939" x="2768600" y="3905250"/>
          <p14:tracePt t="21955" x="2759075" y="3905250"/>
          <p14:tracePt t="21957" x="2751138" y="3905250"/>
          <p14:tracePt t="21989" x="2741613" y="3905250"/>
          <p14:tracePt t="22005" x="2733675" y="3905250"/>
          <p14:tracePt t="22013" x="2724150" y="3905250"/>
          <p14:tracePt t="22022" x="2716213" y="3913188"/>
          <p14:tracePt t="22039" x="2681288" y="3940175"/>
          <p14:tracePt t="22055" x="2654300" y="3965575"/>
          <p14:tracePt t="22072" x="2619375" y="4000500"/>
          <p14:tracePt t="22089" x="2611438" y="4027488"/>
          <p14:tracePt t="22105" x="2601913" y="4052888"/>
          <p14:tracePt t="22122" x="2601913" y="4070350"/>
          <p14:tracePt t="22139" x="2601913" y="4079875"/>
          <p14:tracePt t="22155" x="2611438" y="4087813"/>
          <p14:tracePt t="22157" x="2619375" y="4097338"/>
          <p14:tracePt t="22197" x="2628900" y="4097338"/>
          <p14:tracePt t="22261" x="2646363" y="4097338"/>
          <p14:tracePt t="22285" x="2654300" y="4097338"/>
          <p14:tracePt t="22318" x="0" y="0"/>
        </p14:tracePtLst>
        <p14:tracePtLst>
          <p14:tracePt t="23281" x="2733675" y="3800475"/>
          <p14:tracePt t="23325" x="2733675" y="3790950"/>
          <p14:tracePt t="23333" x="2733675" y="3765550"/>
          <p14:tracePt t="23341" x="2733675" y="3756025"/>
          <p14:tracePt t="23355" x="2733675" y="3738563"/>
          <p14:tracePt t="23372" x="2733675" y="3695700"/>
          <p14:tracePt t="23373" x="2733675" y="3668713"/>
          <p14:tracePt t="23389" x="2733675" y="3616325"/>
          <p14:tracePt t="23405" x="2733675" y="3511550"/>
          <p14:tracePt t="23422" x="2733675" y="3416300"/>
          <p14:tracePt t="23438" x="2733675" y="3363913"/>
          <p14:tracePt t="23455" x="2733675" y="3328988"/>
          <p14:tracePt t="23472" x="2733675" y="3294063"/>
          <p14:tracePt t="23489" x="2733675" y="3267075"/>
          <p14:tracePt t="23505" x="2733675" y="3241675"/>
          <p14:tracePt t="23522" x="2733675" y="3206750"/>
          <p14:tracePt t="23538" x="2733675" y="3189288"/>
          <p14:tracePt t="23555" x="2724150" y="3171825"/>
          <p14:tracePt t="23572" x="2724150" y="3154363"/>
          <p14:tracePt t="23573" x="2724150" y="3144838"/>
          <p14:tracePt t="23588" x="2724150" y="3136900"/>
          <p14:tracePt t="23589" x="2724150" y="3127375"/>
          <p14:tracePt t="23605" x="2724150" y="3101975"/>
          <p14:tracePt t="23622" x="2724150" y="3084513"/>
          <p14:tracePt t="23638" x="2716213" y="3074988"/>
          <p14:tracePt t="23655" x="2716213" y="3057525"/>
          <p14:tracePt t="23677" x="2716213" y="3049588"/>
          <p14:tracePt t="23688" x="2716213" y="3040063"/>
          <p14:tracePt t="23705" x="2716213" y="3032125"/>
          <p14:tracePt t="23722" x="2716213" y="3014663"/>
          <p14:tracePt t="23738" x="2716213" y="3005138"/>
          <p14:tracePt t="23861" x="2716213" y="2997200"/>
          <p14:tracePt t="23877" x="2716213" y="2987675"/>
          <p14:tracePt t="23885" x="2716213" y="2979738"/>
          <p14:tracePt t="23893" x="2716213" y="2970213"/>
          <p14:tracePt t="24206" x="0" y="0"/>
        </p14:tracePtLst>
        <p14:tracePtLst>
          <p14:tracePt t="26417" x="3013075" y="3922713"/>
          <p14:tracePt t="26501" x="3013075" y="3913188"/>
          <p14:tracePt t="26510" x="3021013" y="3895725"/>
          <p14:tracePt t="26527" x="3030538" y="3895725"/>
          <p14:tracePt t="26533" x="3030538" y="3878263"/>
          <p14:tracePt t="26542" x="3030538" y="3852863"/>
          <p14:tracePt t="26555" x="3038475" y="3852863"/>
          <p14:tracePt t="26571" x="3057525" y="3825875"/>
          <p14:tracePt t="26588" x="3065463" y="3773488"/>
          <p14:tracePt t="26589" x="3074988" y="3748088"/>
          <p14:tracePt t="26605" x="3082925" y="3686175"/>
          <p14:tracePt t="26621" x="3092450" y="3643313"/>
          <p14:tracePt t="26638" x="3100388" y="3598863"/>
          <p14:tracePt t="26655" x="3109913" y="3563938"/>
          <p14:tracePt t="26671" x="3109913" y="3529013"/>
          <p14:tracePt t="26688" x="3109913" y="3503613"/>
          <p14:tracePt t="26705" x="3109913" y="3459163"/>
          <p14:tracePt t="26721" x="3109913" y="3424238"/>
          <p14:tracePt t="26738" x="3100388" y="3389313"/>
          <p14:tracePt t="26755" x="3100388" y="3346450"/>
          <p14:tracePt t="26771" x="3100388" y="3311525"/>
          <p14:tracePt t="26772" x="3100388" y="3294063"/>
          <p14:tracePt t="26788" x="3092450" y="3267075"/>
          <p14:tracePt t="26790" x="3092450" y="3259138"/>
          <p14:tracePt t="26805" x="3082925" y="3224213"/>
          <p14:tracePt t="26821" x="3082925" y="3189288"/>
          <p14:tracePt t="26838" x="3065463" y="3136900"/>
          <p14:tracePt t="26854" x="3048000" y="3109913"/>
          <p14:tracePt t="26871" x="3030538" y="3084513"/>
          <p14:tracePt t="26888" x="3021013" y="3049588"/>
          <p14:tracePt t="26905" x="3003550" y="3022600"/>
          <p14:tracePt t="26921" x="2995613" y="3005138"/>
          <p14:tracePt t="26938" x="2978150" y="2997200"/>
          <p14:tracePt t="26955" x="2943225" y="2962275"/>
          <p14:tracePt t="26971" x="2916238" y="2944813"/>
          <p14:tracePt t="26973" x="2898775" y="2927350"/>
          <p14:tracePt t="26988" x="2890838" y="2917825"/>
          <p14:tracePt t="26989" x="2890838" y="2909888"/>
          <p14:tracePt t="27005" x="2855913" y="2882900"/>
          <p14:tracePt t="27022" x="2846388" y="2865438"/>
          <p14:tracePt t="27038" x="2828925" y="2865438"/>
          <p14:tracePt t="27055" x="2811463" y="2857500"/>
          <p14:tracePt t="27071" x="2811463" y="2847975"/>
          <p14:tracePt t="27109" x="2803525" y="2847975"/>
          <p14:tracePt t="27133" x="2794000" y="2847975"/>
          <p14:tracePt t="27142" x="2776538" y="2847975"/>
          <p14:tracePt t="27149" x="2759075" y="2840038"/>
          <p14:tracePt t="27157" x="2751138" y="2840038"/>
          <p14:tracePt t="27171" x="2733675" y="2840038"/>
          <p14:tracePt t="27188" x="2646363" y="2840038"/>
          <p14:tracePt t="27189" x="2628900" y="2840038"/>
          <p14:tracePt t="27205" x="2593975" y="2840038"/>
          <p14:tracePt t="27221" x="2566988" y="2847975"/>
          <p14:tracePt t="27238" x="2559050" y="2857500"/>
          <p14:tracePt t="27255" x="2541588" y="2874963"/>
          <p14:tracePt t="27271" x="2514600" y="2882900"/>
          <p14:tracePt t="27288" x="2497138" y="2900363"/>
          <p14:tracePt t="27305" x="2444750" y="2927350"/>
          <p14:tracePt t="27321" x="2419350" y="2952750"/>
          <p14:tracePt t="27338" x="2392363" y="2987675"/>
          <p14:tracePt t="27354" x="2366963" y="3014663"/>
          <p14:tracePt t="27371" x="2349500" y="3049588"/>
          <p14:tracePt t="27388" x="2332038" y="3074988"/>
          <p14:tracePt t="27389" x="2322513" y="3101975"/>
          <p14:tracePt t="27405" x="2314575" y="3162300"/>
          <p14:tracePt t="27421" x="2305050" y="3197225"/>
          <p14:tracePt t="27438" x="2287588" y="3224213"/>
          <p14:tracePt t="27454" x="2279650" y="3267075"/>
          <p14:tracePt t="27471" x="2279650" y="3354388"/>
          <p14:tracePt t="27488" x="2279650" y="3424238"/>
          <p14:tracePt t="27504" x="2279650" y="3511550"/>
          <p14:tracePt t="27521" x="2279650" y="3573463"/>
          <p14:tracePt t="27538" x="2297113" y="3616325"/>
          <p14:tracePt t="27555" x="2305050" y="3660775"/>
          <p14:tracePt t="27571" x="2322513" y="3730625"/>
          <p14:tracePt t="27588" x="2349500" y="3800475"/>
          <p14:tracePt t="27589" x="2357438" y="3878263"/>
          <p14:tracePt t="27605" x="2384425" y="3940175"/>
          <p14:tracePt t="27621" x="2409825" y="4017963"/>
          <p14:tracePt t="27638" x="2436813" y="4097338"/>
          <p14:tracePt t="27655" x="2471738" y="4167188"/>
          <p14:tracePt t="27671" x="2506663" y="4264025"/>
          <p14:tracePt t="27688" x="2541588" y="4316413"/>
          <p14:tracePt t="27704" x="2576513" y="4333875"/>
          <p14:tracePt t="27721" x="2584450" y="4341813"/>
          <p14:tracePt t="27738" x="2611438" y="4351338"/>
          <p14:tracePt t="27754" x="2611438" y="4359275"/>
          <p14:tracePt t="27771" x="2628900" y="4359275"/>
          <p14:tracePt t="27788" x="2663825" y="4359275"/>
          <p14:tracePt t="27789" x="2671763" y="4359275"/>
          <p14:tracePt t="27804" x="2698750" y="4359275"/>
          <p14:tracePt t="27805" x="2733675" y="4359275"/>
          <p14:tracePt t="27821" x="2759075" y="4359275"/>
          <p14:tracePt t="27838" x="2803525" y="4324350"/>
          <p14:tracePt t="27854" x="2846388" y="4289425"/>
          <p14:tracePt t="27871" x="2881313" y="4229100"/>
          <p14:tracePt t="27888" x="2898775" y="4202113"/>
          <p14:tracePt t="27904" x="2933700" y="4159250"/>
          <p14:tracePt t="27921" x="2951163" y="4124325"/>
          <p14:tracePt t="27938" x="2960688" y="4070350"/>
          <p14:tracePt t="27954" x="2968625" y="4035425"/>
          <p14:tracePt t="27971" x="2978150" y="4000500"/>
          <p14:tracePt t="27973" x="2986088" y="3983038"/>
          <p14:tracePt t="27988" x="2995613" y="3948113"/>
          <p14:tracePt t="27989" x="3003550" y="3930650"/>
          <p14:tracePt t="28004" x="3021013" y="3913188"/>
          <p14:tracePt t="28005" x="3030538" y="3878263"/>
          <p14:tracePt t="28021" x="3048000" y="3800475"/>
          <p14:tracePt t="28038" x="3065463" y="3695700"/>
          <p14:tracePt t="28055" x="3074988" y="3608388"/>
          <p14:tracePt t="28071" x="3092450" y="3529013"/>
          <p14:tracePt t="28088" x="3092450" y="3406775"/>
          <p14:tracePt t="28104" x="3092450" y="3276600"/>
          <p14:tracePt t="28121" x="3074988" y="3127375"/>
          <p14:tracePt t="28138" x="3057525" y="2997200"/>
          <p14:tracePt t="28154" x="3038475" y="2944813"/>
          <p14:tracePt t="28171" x="3021013" y="2892425"/>
          <p14:tracePt t="28173" x="3013075" y="2865438"/>
          <p14:tracePt t="28188" x="3003550" y="2840038"/>
          <p14:tracePt t="28189" x="3003550" y="2822575"/>
          <p14:tracePt t="28204" x="2986088" y="2805113"/>
          <p14:tracePt t="28205" x="2978150" y="2795588"/>
          <p14:tracePt t="28221" x="2968625" y="2760663"/>
          <p14:tracePt t="28238" x="2960688" y="2760663"/>
          <p14:tracePt t="28398" x="2960688" y="2752725"/>
          <p14:tracePt t="28445" x="2951163" y="2752725"/>
          <p14:tracePt t="28454" x="0" y="0"/>
        </p14:tracePtLst>
        <p14:tracePtLst>
          <p14:tracePt t="34529" x="2933700" y="4070350"/>
          <p14:tracePt t="34541" x="2933700" y="4062413"/>
          <p14:tracePt t="34549" x="2943225" y="4062413"/>
          <p14:tracePt t="34565" x="2943225" y="4052888"/>
          <p14:tracePt t="34573" x="2943225" y="4035425"/>
          <p14:tracePt t="34587" x="2951163" y="4027488"/>
          <p14:tracePt t="34603" x="2951163" y="3992563"/>
          <p14:tracePt t="34620" x="2960688" y="3940175"/>
          <p14:tracePt t="34622" x="2968625" y="3913188"/>
          <p14:tracePt t="34638" x="2978150" y="3825875"/>
          <p14:tracePt t="34654" x="2978150" y="3773488"/>
          <p14:tracePt t="34670" x="2978150" y="3703638"/>
          <p14:tracePt t="34687" x="2978150" y="3651250"/>
          <p14:tracePt t="34703" x="2978150" y="3590925"/>
          <p14:tracePt t="34720" x="2978150" y="3494088"/>
          <p14:tracePt t="34737" x="2978150" y="3441700"/>
          <p14:tracePt t="34753" x="2986088" y="3406775"/>
          <p14:tracePt t="34770" x="2995613" y="3346450"/>
          <p14:tracePt t="34787" x="2995613" y="3294063"/>
          <p14:tracePt t="34803" x="2995613" y="3249613"/>
          <p14:tracePt t="34820" x="2995613" y="3197225"/>
          <p14:tracePt t="34821" x="2995613" y="3171825"/>
          <p14:tracePt t="34837" x="2995613" y="3136900"/>
          <p14:tracePt t="34853" x="2995613" y="3084513"/>
          <p14:tracePt t="34870" x="2995613" y="3049588"/>
          <p14:tracePt t="34887" x="2978150" y="3005138"/>
          <p14:tracePt t="34903" x="2978150" y="2944813"/>
          <p14:tracePt t="34920" x="2960688" y="2909888"/>
          <p14:tracePt t="34937" x="2951163" y="2882900"/>
          <p14:tracePt t="34953" x="2951163" y="2865438"/>
          <p14:tracePt t="34970" x="2925763" y="2840038"/>
          <p14:tracePt t="34987" x="2916238" y="2830513"/>
          <p14:tracePt t="35003" x="2898775" y="2813050"/>
          <p14:tracePt t="35020" x="2881313" y="2787650"/>
          <p14:tracePt t="35022" x="2863850" y="2770188"/>
          <p14:tracePt t="35037" x="2855913" y="2752725"/>
          <p14:tracePt t="35053" x="2828925" y="2725738"/>
          <p14:tracePt t="35071" x="2820988" y="2716213"/>
          <p14:tracePt t="35087" x="2811463" y="2716213"/>
          <p14:tracePt t="35103" x="2803525" y="2708275"/>
          <p14:tracePt t="35120" x="2786063" y="2708275"/>
          <p14:tracePt t="35137" x="2776538" y="2708275"/>
          <p14:tracePt t="35153" x="2751138" y="2716213"/>
          <p14:tracePt t="35171" x="2671763" y="2743200"/>
          <p14:tracePt t="35187" x="2619375" y="2760663"/>
          <p14:tracePt t="35203" x="2541588" y="2787650"/>
          <p14:tracePt t="35220" x="2409825" y="2805113"/>
          <p14:tracePt t="35222" x="2392363" y="2813050"/>
          <p14:tracePt t="35237" x="2349500" y="2847975"/>
          <p14:tracePt t="35253" x="2322513" y="2874963"/>
          <p14:tracePt t="35272" x="2287588" y="2909888"/>
          <p14:tracePt t="35287" x="2270125" y="2935288"/>
          <p14:tracePt t="35303" x="2235200" y="2997200"/>
          <p14:tracePt t="35320" x="2209800" y="3084513"/>
          <p14:tracePt t="35336" x="2182813" y="3162300"/>
          <p14:tracePt t="35354" x="2165350" y="3241675"/>
          <p14:tracePt t="35370" x="2130425" y="3381375"/>
          <p14:tracePt t="35387" x="2130425" y="3494088"/>
          <p14:tracePt t="35403" x="2130425" y="3616325"/>
          <p14:tracePt t="35405" x="2130425" y="3678238"/>
          <p14:tracePt t="35420" x="2130425" y="3748088"/>
          <p14:tracePt t="35421" x="2130425" y="3835400"/>
          <p14:tracePt t="35437" x="2130425" y="4010025"/>
          <p14:tracePt t="35453" x="2139950" y="4159250"/>
          <p14:tracePt t="35470" x="2174875" y="4289425"/>
          <p14:tracePt t="35486" x="2200275" y="4341813"/>
          <p14:tracePt t="35503" x="2227263" y="4394200"/>
          <p14:tracePt t="35520" x="2262188" y="4456113"/>
          <p14:tracePt t="35536" x="2305050" y="4508500"/>
          <p14:tracePt t="35553" x="2374900" y="4560888"/>
          <p14:tracePt t="35570" x="2436813" y="4586288"/>
          <p14:tracePt t="35586" x="2489200" y="4603750"/>
          <p14:tracePt t="35603" x="2532063" y="4613275"/>
          <p14:tracePt t="35605" x="2559050" y="4613275"/>
          <p14:tracePt t="35620" x="2576513" y="4613275"/>
          <p14:tracePt t="35637" x="2628900" y="4613275"/>
          <p14:tracePt t="35653" x="2689225" y="4613275"/>
          <p14:tracePt t="35670" x="2776538" y="4613275"/>
          <p14:tracePt t="35687" x="2846388" y="4586288"/>
          <p14:tracePt t="35703" x="2933700" y="4560888"/>
          <p14:tracePt t="35720" x="3038475" y="4508500"/>
          <p14:tracePt t="35736" x="3082925" y="4446588"/>
          <p14:tracePt t="35753" x="3135313" y="4403725"/>
          <p14:tracePt t="35770" x="3162300" y="4333875"/>
          <p14:tracePt t="35786" x="3170238" y="4271963"/>
          <p14:tracePt t="35803" x="3179763" y="4219575"/>
          <p14:tracePt t="35805" x="3179763" y="4167188"/>
          <p14:tracePt t="35820" x="3179763" y="4114800"/>
          <p14:tracePt t="35837" x="3179763" y="4010025"/>
          <p14:tracePt t="35853" x="3162300" y="3895725"/>
          <p14:tracePt t="35870" x="3162300" y="3835400"/>
          <p14:tracePt t="35887" x="3152775" y="3756025"/>
          <p14:tracePt t="35903" x="3152775" y="3660775"/>
          <p14:tracePt t="35920" x="3152775" y="3538538"/>
          <p14:tracePt t="35936" x="3144838" y="3451225"/>
          <p14:tracePt t="35953" x="3135313" y="3336925"/>
          <p14:tracePt t="35970" x="3127375" y="3241675"/>
          <p14:tracePt t="35987" x="3127375" y="3162300"/>
          <p14:tracePt t="36003" x="3127375" y="3109913"/>
          <p14:tracePt t="36004" x="3117850" y="3084513"/>
          <p14:tracePt t="36020" x="3117850" y="3067050"/>
          <p14:tracePt t="36021" x="3109913" y="3022600"/>
          <p14:tracePt t="36037" x="3100388" y="2970213"/>
          <p14:tracePt t="36053" x="3082925" y="2927350"/>
          <p14:tracePt t="36070" x="3065463" y="2882900"/>
          <p14:tracePt t="36087" x="3048000" y="2847975"/>
          <p14:tracePt t="36103" x="3021013" y="2830513"/>
          <p14:tracePt t="36120" x="2995613" y="2787650"/>
          <p14:tracePt t="36137" x="2978150" y="2752725"/>
          <p14:tracePt t="36153" x="2960688" y="2733675"/>
          <p14:tracePt t="36170" x="2933700" y="2716213"/>
          <p14:tracePt t="36186" x="2916238" y="2698750"/>
          <p14:tracePt t="36203" x="2898775" y="2690813"/>
          <p14:tracePt t="36221" x="2890838" y="2690813"/>
          <p14:tracePt t="36237" x="2881313" y="2681288"/>
          <p14:tracePt t="36253" x="2855913" y="2681288"/>
          <p14:tracePt t="36270" x="2751138" y="2708275"/>
          <p14:tracePt t="36287" x="2541588" y="2733675"/>
          <p14:tracePt t="36303" x="2192338" y="2787650"/>
          <p14:tracePt t="36320" x="1990725" y="2830513"/>
          <p14:tracePt t="36336" x="1843088" y="2892425"/>
          <p14:tracePt t="36353" x="1808163" y="2927350"/>
          <p14:tracePt t="36370" x="1781175" y="2952750"/>
          <p14:tracePt t="36387" x="1763713" y="2987675"/>
          <p14:tracePt t="36403" x="1746250" y="3014663"/>
          <p14:tracePt t="36405" x="1738313" y="3032125"/>
          <p14:tracePt t="36420" x="1728788" y="3040063"/>
          <p14:tracePt t="36421" x="1720850" y="3067050"/>
          <p14:tracePt t="36437" x="1711325" y="3119438"/>
          <p14:tracePt t="36453" x="1711325" y="3171825"/>
          <p14:tracePt t="36470" x="1711325" y="3241675"/>
          <p14:tracePt t="36486" x="1703388" y="3319463"/>
          <p14:tracePt t="36503" x="1711325" y="3398838"/>
          <p14:tracePt t="36520" x="1746250" y="3476625"/>
          <p14:tracePt t="36536" x="1781175" y="3556000"/>
          <p14:tracePt t="36553" x="1816100" y="3616325"/>
          <p14:tracePt t="36570" x="1851025" y="3686175"/>
          <p14:tracePt t="36586" x="1903413" y="3790950"/>
          <p14:tracePt t="36603" x="1973263" y="3835400"/>
          <p14:tracePt t="36620" x="2052638" y="3895725"/>
          <p14:tracePt t="36621" x="2105025" y="3930650"/>
          <p14:tracePt t="36637" x="2217738" y="4017963"/>
          <p14:tracePt t="36653" x="2339975" y="4132263"/>
          <p14:tracePt t="36669" x="2471738" y="4211638"/>
          <p14:tracePt t="36686" x="2646363" y="4254500"/>
          <p14:tracePt t="36703" x="2803525" y="4271963"/>
          <p14:tracePt t="36720" x="2898775" y="4271963"/>
          <p14:tracePt t="36736" x="3030538" y="4271963"/>
          <p14:tracePt t="36753" x="3065463" y="4254500"/>
          <p14:tracePt t="36770" x="3109913" y="4229100"/>
          <p14:tracePt t="36786" x="3162300" y="4194175"/>
          <p14:tracePt t="36803" x="3170238" y="4159250"/>
          <p14:tracePt t="36820" x="3187700" y="4132263"/>
          <p14:tracePt t="36822" x="3197225" y="4124325"/>
          <p14:tracePt t="36837" x="3197225" y="4114800"/>
          <p14:tracePt t="36853" x="3197225" y="4097338"/>
          <p14:tracePt t="36870" x="3205163" y="4087813"/>
          <p14:tracePt t="36886" x="3214688" y="4079875"/>
          <p14:tracePt t="36903" x="3222625" y="4062413"/>
          <p14:tracePt t="36920" x="3232150" y="4044950"/>
          <p14:tracePt t="36936" x="3232150" y="4017963"/>
          <p14:tracePt t="36953" x="3232150" y="3975100"/>
          <p14:tracePt t="36970" x="3214688" y="3930650"/>
          <p14:tracePt t="36987" x="3205163" y="3878263"/>
          <p14:tracePt t="37003" x="3197225" y="3808413"/>
          <p14:tracePt t="37020" x="3179763" y="3756025"/>
          <p14:tracePt t="37021" x="3170238" y="3730625"/>
          <p14:tracePt t="37036" x="3170238" y="3721100"/>
          <p14:tracePt t="37037" x="3170238" y="3703638"/>
          <p14:tracePt t="37053" x="3152775" y="3643313"/>
          <p14:tracePt t="37070" x="3152775" y="3608388"/>
          <p14:tracePt t="37086" x="3144838" y="3546475"/>
          <p14:tracePt t="37103" x="3144838" y="3494088"/>
          <p14:tracePt t="37120" x="3144838" y="3416300"/>
          <p14:tracePt t="37136" x="3144838" y="3336925"/>
          <p14:tracePt t="37153" x="3144838" y="3294063"/>
          <p14:tracePt t="37170" x="3135313" y="3259138"/>
          <p14:tracePt t="37186" x="3135313" y="3232150"/>
          <p14:tracePt t="37203" x="3135313" y="3189288"/>
          <p14:tracePt t="37220" x="3127375" y="3154363"/>
          <p14:tracePt t="37221" x="3117850" y="3144838"/>
          <p14:tracePt t="37236" x="3117850" y="3127375"/>
          <p14:tracePt t="37237" x="3117850" y="3119438"/>
          <p14:tracePt t="37253" x="3109913" y="3101975"/>
          <p14:tracePt t="37270" x="3092450" y="3084513"/>
          <p14:tracePt t="37287" x="3074988" y="3057525"/>
          <p14:tracePt t="37303" x="3057525" y="3040063"/>
          <p14:tracePt t="37320" x="3057525" y="3032125"/>
          <p14:tracePt t="37582" x="0" y="0"/>
        </p14:tracePtLst>
        <p14:tracePtLst>
          <p14:tracePt t="39217" x="2898775" y="4079875"/>
          <p14:tracePt t="39221" x="2898775" y="4070350"/>
          <p14:tracePt t="39236" x="2908300" y="4052888"/>
          <p14:tracePt t="39237" x="2916238" y="4035425"/>
          <p14:tracePt t="39254" x="2933700" y="3983038"/>
          <p14:tracePt t="39269" x="2968625" y="3860800"/>
          <p14:tracePt t="39286" x="2986088" y="3660775"/>
          <p14:tracePt t="39303" x="3013075" y="3433763"/>
          <p14:tracePt t="39319" x="3038475" y="3241675"/>
          <p14:tracePt t="39337" x="3057525" y="3154363"/>
          <p14:tracePt t="39353" x="3065463" y="3074988"/>
          <p14:tracePt t="39369" x="3065463" y="3032125"/>
          <p14:tracePt t="39386" x="3065463" y="2979738"/>
          <p14:tracePt t="39403" x="3065463" y="2927350"/>
          <p14:tracePt t="39419" x="3057525" y="2900363"/>
          <p14:tracePt t="39436" x="3048000" y="2857500"/>
          <p14:tracePt t="39438" x="3038475" y="2847975"/>
          <p14:tracePt t="39453" x="3013075" y="2822575"/>
          <p14:tracePt t="39469" x="3003550" y="2805113"/>
          <p14:tracePt t="39486" x="2978150" y="2778125"/>
          <p14:tracePt t="39503" x="2960688" y="2760663"/>
          <p14:tracePt t="39519" x="2943225" y="2743200"/>
          <p14:tracePt t="39536" x="2933700" y="2733675"/>
          <p14:tracePt t="39552" x="2925763" y="2733675"/>
          <p14:tracePt t="39569" x="2898775" y="2733675"/>
          <p14:tracePt t="39586" x="2890838" y="2743200"/>
          <p14:tracePt t="39603" x="2863850" y="2760663"/>
          <p14:tracePt t="39619" x="2776538" y="2795588"/>
          <p14:tracePt t="39636" x="2716213" y="2830513"/>
          <p14:tracePt t="39638" x="2698750" y="2847975"/>
          <p14:tracePt t="39653" x="2671763" y="2865438"/>
          <p14:tracePt t="39669" x="2646363" y="2900363"/>
          <p14:tracePt t="39686" x="2636838" y="2927350"/>
          <p14:tracePt t="39702" x="2619375" y="2970213"/>
          <p14:tracePt t="39719" x="2611438" y="3014663"/>
          <p14:tracePt t="39736" x="2611438" y="3057525"/>
          <p14:tracePt t="39752" x="2601913" y="3109913"/>
          <p14:tracePt t="39769" x="2601913" y="3189288"/>
          <p14:tracePt t="39787" x="2601913" y="3319463"/>
          <p14:tracePt t="39803" x="2593975" y="3424238"/>
          <p14:tracePt t="39819" x="2593975" y="3581400"/>
          <p14:tracePt t="39836" x="2593975" y="3843338"/>
          <p14:tracePt t="39837" x="2593975" y="3887788"/>
          <p14:tracePt t="39852" x="2611438" y="3992563"/>
          <p14:tracePt t="39853" x="2619375" y="4070350"/>
          <p14:tracePt t="39869" x="2619375" y="4176713"/>
          <p14:tracePt t="39886" x="2636838" y="4271963"/>
          <p14:tracePt t="39903" x="2654300" y="4333875"/>
          <p14:tracePt t="39919" x="2671763" y="4376738"/>
          <p14:tracePt t="39936" x="2698750" y="4429125"/>
          <p14:tracePt t="39952" x="2724150" y="4491038"/>
          <p14:tracePt t="39969" x="2759075" y="4533900"/>
          <p14:tracePt t="39986" x="2794000" y="4568825"/>
          <p14:tracePt t="40002" x="2811463" y="4586288"/>
          <p14:tracePt t="40019" x="2846388" y="4603750"/>
          <p14:tracePt t="40036" x="2855913" y="4613275"/>
          <p14:tracePt t="40037" x="2863850" y="4613275"/>
          <p14:tracePt t="40053" x="2873375" y="4613275"/>
          <p14:tracePt t="40069" x="2890838" y="4595813"/>
          <p14:tracePt t="40086" x="2898775" y="4560888"/>
          <p14:tracePt t="40103" x="2933700" y="4481513"/>
          <p14:tracePt t="40119" x="2960688" y="4341813"/>
          <p14:tracePt t="40136" x="2995613" y="4289425"/>
          <p14:tracePt t="40152" x="3013075" y="4237038"/>
          <p14:tracePt t="40170" x="3013075" y="4194175"/>
          <p14:tracePt t="40186" x="3021013" y="4159250"/>
          <p14:tracePt t="40203" x="3021013" y="4124325"/>
          <p14:tracePt t="40219" x="3013075" y="4097338"/>
          <p14:tracePt t="40236" x="2995613" y="4079875"/>
          <p14:tracePt t="40237" x="2986088" y="4062413"/>
          <p14:tracePt t="40253" x="2968625" y="4052888"/>
          <p14:tracePt t="40269" x="2968625" y="4035425"/>
          <p14:tracePt t="40286" x="2968625" y="4027488"/>
          <p14:tracePt t="40303" x="2968625" y="4000500"/>
          <p14:tracePt t="40319" x="2968625" y="3948113"/>
          <p14:tracePt t="40336" x="2968625" y="3922713"/>
          <p14:tracePt t="40352" x="2968625" y="3887788"/>
          <p14:tracePt t="40369" x="2978150" y="3825875"/>
          <p14:tracePt t="40386" x="3003550" y="3678238"/>
          <p14:tracePt t="40403" x="3030538" y="3556000"/>
          <p14:tracePt t="40419" x="3065463" y="3416300"/>
          <p14:tracePt t="40421" x="3082925" y="3363913"/>
          <p14:tracePt t="40436" x="3092450" y="3346450"/>
          <p14:tracePt t="40437" x="3092450" y="3311525"/>
          <p14:tracePt t="40453" x="3100388" y="3259138"/>
          <p14:tracePt t="40469" x="3100388" y="3224213"/>
          <p14:tracePt t="40486" x="3092450" y="3171825"/>
          <p14:tracePt t="40502" x="3082925" y="3136900"/>
          <p14:tracePt t="40519" x="3074988" y="3092450"/>
          <p14:tracePt t="40536" x="3065463" y="3057525"/>
          <p14:tracePt t="40552" x="3057525" y="3032125"/>
          <p14:tracePt t="40569" x="3048000" y="3014663"/>
          <p14:tracePt t="40586" x="3038475" y="2987675"/>
          <p14:tracePt t="40602" x="3021013" y="2952750"/>
          <p14:tracePt t="40619" x="2995613" y="2917825"/>
          <p14:tracePt t="40636" x="2978150" y="2892425"/>
          <p14:tracePt t="40637" x="2968625" y="2882900"/>
          <p14:tracePt t="40653" x="2960688" y="2865438"/>
          <p14:tracePt t="40669" x="2951163" y="2857500"/>
          <p14:tracePt t="40725" x="2943225" y="2857500"/>
          <p14:tracePt t="40734" x="2925763" y="2874963"/>
          <p14:tracePt t="40741" x="2916238" y="2874963"/>
          <p14:tracePt t="40752" x="2890838" y="2882900"/>
          <p14:tracePt t="40769" x="2838450" y="2900363"/>
          <p14:tracePt t="40786" x="2759075" y="2935288"/>
          <p14:tracePt t="40802" x="2724150" y="2962275"/>
          <p14:tracePt t="40819" x="2689225" y="2970213"/>
          <p14:tracePt t="40975" x="0" y="0"/>
        </p14:tracePtLst>
        <p14:tracePtLst>
          <p14:tracePt t="42394" x="3284538" y="3354388"/>
          <p14:tracePt t="42397" x="3292475" y="3371850"/>
          <p14:tracePt t="42405" x="3302000" y="3389313"/>
          <p14:tracePt t="42419" x="3302000" y="3398838"/>
          <p14:tracePt t="42435" x="3309938" y="3433763"/>
          <p14:tracePt t="42437" x="3319463" y="3459163"/>
          <p14:tracePt t="42452" x="3327400" y="3468688"/>
          <p14:tracePt t="42453" x="3327400" y="3503613"/>
          <p14:tracePt t="42469" x="3336925" y="3538538"/>
          <p14:tracePt t="42485" x="3344863" y="3598863"/>
          <p14:tracePt t="42502" x="3362325" y="3651250"/>
          <p14:tracePt t="42519" x="3379788" y="3730625"/>
          <p14:tracePt t="42536" x="3397250" y="3783013"/>
          <p14:tracePt t="42552" x="3424238" y="3878263"/>
          <p14:tracePt t="42569" x="3441700" y="3922713"/>
          <p14:tracePt t="42586" x="3459163" y="3948113"/>
          <p14:tracePt t="42602" x="3476625" y="3957638"/>
          <p14:tracePt t="42619" x="3494088" y="3975100"/>
          <p14:tracePt t="42635" x="3502025" y="3983038"/>
          <p14:tracePt t="42637" x="3519488" y="4000500"/>
          <p14:tracePt t="42652" x="3529013" y="4000500"/>
          <p14:tracePt t="42653" x="3536950" y="4010025"/>
          <p14:tracePt t="42669" x="3554413" y="4027488"/>
          <p14:tracePt t="42686" x="3581400" y="4035425"/>
          <p14:tracePt t="42702" x="3598863" y="4052888"/>
          <p14:tracePt t="42719" x="3616325" y="4062413"/>
          <p14:tracePt t="42735" x="3651250" y="4070350"/>
          <p14:tracePt t="42752" x="3686175" y="4070350"/>
          <p14:tracePt t="42769" x="3703638" y="4070350"/>
          <p14:tracePt t="42785" x="3729038" y="4052888"/>
          <p14:tracePt t="42802" x="3746500" y="4035425"/>
          <p14:tracePt t="42819" x="3773488" y="3965575"/>
          <p14:tracePt t="42835" x="3790950" y="3930650"/>
          <p14:tracePt t="42852" x="3790950" y="3895725"/>
          <p14:tracePt t="42853" x="3790950" y="3887788"/>
          <p14:tracePt t="42869" x="3790950" y="3860800"/>
          <p14:tracePt t="42885" x="3790950" y="3808413"/>
          <p14:tracePt t="42902" x="3790950" y="3765550"/>
          <p14:tracePt t="42919" x="3781425" y="3703638"/>
          <p14:tracePt t="42935" x="3721100" y="3573463"/>
          <p14:tracePt t="42952" x="3694113" y="3503613"/>
          <p14:tracePt t="42969" x="3676650" y="3459163"/>
          <p14:tracePt t="42985" x="3668713" y="3433763"/>
          <p14:tracePt t="43002" x="3651250" y="3406775"/>
          <p14:tracePt t="43019" x="3641725" y="3389313"/>
          <p14:tracePt t="43035" x="3633788" y="3371850"/>
          <p14:tracePt t="43052" x="3624263" y="3346450"/>
          <p14:tracePt t="43053" x="3606800" y="3336925"/>
          <p14:tracePt t="43069" x="3581400" y="3302000"/>
          <p14:tracePt t="43085" x="3563938" y="3284538"/>
          <p14:tracePt t="43102" x="3529013" y="3249613"/>
          <p14:tracePt t="43119" x="3502025" y="3232150"/>
          <p14:tracePt t="43135" x="3502025" y="3224213"/>
          <p14:tracePt t="43152" x="3494088" y="3224213"/>
          <p14:tracePt t="43294" x="0" y="0"/>
        </p14:tracePtLst>
        <p14:tracePtLst>
          <p14:tracePt t="47073" x="9170988" y="3633788"/>
          <p14:tracePt t="47205" x="9161463" y="3633788"/>
          <p14:tracePt t="47213" x="9153525" y="3633788"/>
          <p14:tracePt t="47221" x="9144000" y="3633788"/>
          <p14:tracePt t="47235" x="9134475" y="3643313"/>
          <p14:tracePt t="47251" x="9117013" y="3651250"/>
          <p14:tracePt t="47253" x="9099550" y="3651250"/>
          <p14:tracePt t="47269" x="9091613" y="3660775"/>
          <p14:tracePt t="47285" x="9074150" y="3678238"/>
          <p14:tracePt t="47301" x="9064625" y="3678238"/>
          <p14:tracePt t="47318" x="9056688" y="3686175"/>
          <p14:tracePt t="47335" x="9047163" y="3703638"/>
          <p14:tracePt t="47352" x="9047163" y="3713163"/>
          <p14:tracePt t="47368" x="9047163" y="3730625"/>
          <p14:tracePt t="47385" x="9029700" y="3783013"/>
          <p14:tracePt t="47401" x="9021763" y="3808413"/>
          <p14:tracePt t="47418" x="9012238" y="3835400"/>
          <p14:tracePt t="47435" x="9012238" y="3860800"/>
          <p14:tracePt t="47451" x="9012238" y="3895725"/>
          <p14:tracePt t="47453" x="9012238" y="3922713"/>
          <p14:tracePt t="47468" x="9012238" y="3940175"/>
          <p14:tracePt t="47469" x="9012238" y="3948113"/>
          <p14:tracePt t="47485" x="9021763" y="3992563"/>
          <p14:tracePt t="47501" x="9039225" y="4017963"/>
          <p14:tracePt t="47518" x="9047163" y="4052888"/>
          <p14:tracePt t="47535" x="9074150" y="4097338"/>
          <p14:tracePt t="47551" x="9091613" y="4141788"/>
          <p14:tracePt t="47569" x="9099550" y="4167188"/>
          <p14:tracePt t="47585" x="9117013" y="4184650"/>
          <p14:tracePt t="47601" x="9126538" y="4194175"/>
          <p14:tracePt t="47618" x="9144000" y="4202113"/>
          <p14:tracePt t="47635" x="9153525" y="4202113"/>
          <p14:tracePt t="47651" x="9170988" y="4202113"/>
          <p14:tracePt t="47653" x="9196388" y="4202113"/>
          <p14:tracePt t="47668" x="9213850" y="4202113"/>
          <p14:tracePt t="47685" x="9248775" y="4194175"/>
          <p14:tracePt t="47701" x="9283700" y="4167188"/>
          <p14:tracePt t="47718" x="9310688" y="4141788"/>
          <p14:tracePt t="47735" x="9328150" y="4105275"/>
          <p14:tracePt t="47751" x="9345613" y="4087813"/>
          <p14:tracePt t="47768" x="9345613" y="3992563"/>
          <p14:tracePt t="47785" x="9345613" y="3887788"/>
          <p14:tracePt t="47801" x="9345613" y="3817938"/>
          <p14:tracePt t="47818" x="9345613" y="3721100"/>
          <p14:tracePt t="47835" x="9345613" y="3643313"/>
          <p14:tracePt t="47851" x="9318625" y="3563938"/>
          <p14:tracePt t="47868" x="9301163" y="3529013"/>
          <p14:tracePt t="47869" x="9301163" y="3511550"/>
          <p14:tracePt t="47885" x="9275763" y="3468688"/>
          <p14:tracePt t="47901" x="9248775" y="3451225"/>
          <p14:tracePt t="47918" x="9240838" y="3433763"/>
          <p14:tracePt t="47935" x="9223375" y="3424238"/>
          <p14:tracePt t="47951" x="9223375" y="3416300"/>
          <p14:tracePt t="47968" x="9205913" y="3416300"/>
          <p14:tracePt t="47989" x="9196388" y="3416300"/>
          <p14:tracePt t="48001" x="9188450" y="3416300"/>
          <p14:tracePt t="48018" x="9188450" y="3424238"/>
          <p14:tracePt t="48036" x="9170988" y="3424238"/>
          <p14:tracePt t="48037" x="9153525" y="3424238"/>
          <p14:tracePt t="48051" x="9153525" y="3433763"/>
          <p14:tracePt t="48068" x="9126538" y="3441700"/>
          <p14:tracePt t="48069" x="9126538" y="3451225"/>
          <p14:tracePt t="48085" x="9109075" y="3451225"/>
          <p14:tracePt t="48101" x="9099550" y="3468688"/>
          <p14:tracePt t="48173" x="9091613" y="3468688"/>
          <p14:tracePt t="48191" x="0" y="0"/>
        </p14:tracePtLst>
        <p14:tracePtLst>
          <p14:tracePt t="49897" x="9170988" y="3651250"/>
          <p14:tracePt t="50238" x="0" y="0"/>
        </p14:tracePtLst>
        <p14:tracePtLst>
          <p14:tracePt t="51001" x="9126538" y="3598863"/>
          <p14:tracePt t="51110" x="9134475" y="3598863"/>
          <p14:tracePt t="51117" x="9126538" y="3598863"/>
          <p14:tracePt t="51125" x="9109075" y="3598863"/>
          <p14:tracePt t="51134" x="9109075" y="3608388"/>
          <p14:tracePt t="51151" x="9082088" y="3625850"/>
          <p14:tracePt t="51167" x="9056688" y="3651250"/>
          <p14:tracePt t="51184" x="9021763" y="3678238"/>
          <p14:tracePt t="51201" x="9004300" y="3713163"/>
          <p14:tracePt t="51217" x="8986838" y="3748088"/>
          <p14:tracePt t="51234" x="8969375" y="3783013"/>
          <p14:tracePt t="51251" x="8969375" y="3808413"/>
          <p14:tracePt t="51267" x="8959850" y="3852863"/>
          <p14:tracePt t="51284" x="8942388" y="3870325"/>
          <p14:tracePt t="51286" x="8942388" y="3887788"/>
          <p14:tracePt t="51301" x="8934450" y="3913188"/>
          <p14:tracePt t="51318" x="8934450" y="3930650"/>
          <p14:tracePt t="51334" x="8934450" y="3957638"/>
          <p14:tracePt t="51351" x="8934450" y="3983038"/>
          <p14:tracePt t="51367" x="8934450" y="4010025"/>
          <p14:tracePt t="51384" x="8934450" y="4035425"/>
          <p14:tracePt t="51401" x="8934450" y="4062413"/>
          <p14:tracePt t="51417" x="8942388" y="4105275"/>
          <p14:tracePt t="51434" x="8942388" y="4149725"/>
          <p14:tracePt t="51451" x="8951913" y="4176713"/>
          <p14:tracePt t="51467" x="8951913" y="4202113"/>
          <p14:tracePt t="51469" x="8959850" y="4211638"/>
          <p14:tracePt t="51484" x="8959850" y="4219575"/>
          <p14:tracePt t="51485" x="8959850" y="4237038"/>
          <p14:tracePt t="51501" x="8977313" y="4254500"/>
          <p14:tracePt t="51517" x="8994775" y="4264025"/>
          <p14:tracePt t="51534" x="9012238" y="4271963"/>
          <p14:tracePt t="51551" x="9021763" y="4281488"/>
          <p14:tracePt t="51569" x="9039225" y="4289425"/>
          <p14:tracePt t="51584" x="9047163" y="4298950"/>
          <p14:tracePt t="51601" x="9064625" y="4306888"/>
          <p14:tracePt t="51618" x="9091613" y="4306888"/>
          <p14:tracePt t="51634" x="9117013" y="4306888"/>
          <p14:tracePt t="51651" x="9153525" y="4306888"/>
          <p14:tracePt t="51667" x="9170988" y="4306888"/>
          <p14:tracePt t="51669" x="9178925" y="4306888"/>
          <p14:tracePt t="51685" x="9188450" y="4306888"/>
          <p14:tracePt t="51709" x="9196388" y="4306888"/>
          <p14:tracePt t="51717" x="9205913" y="4306888"/>
          <p14:tracePt t="51735" x="9223375" y="4289425"/>
          <p14:tracePt t="51751" x="9231313" y="4281488"/>
          <p14:tracePt t="51767" x="9248775" y="4264025"/>
          <p14:tracePt t="51784" x="9258300" y="4254500"/>
          <p14:tracePt t="51801" x="9275763" y="4229100"/>
          <p14:tracePt t="51817" x="9283700" y="4219575"/>
          <p14:tracePt t="51834" x="9293225" y="4211638"/>
          <p14:tracePt t="51851" x="9310688" y="4184650"/>
          <p14:tracePt t="51867" x="9310688" y="4132263"/>
          <p14:tracePt t="51884" x="9318625" y="4087813"/>
          <p14:tracePt t="51885" x="9328150" y="4070350"/>
          <p14:tracePt t="51901" x="9345613" y="4044950"/>
          <p14:tracePt t="51917" x="9345613" y="4017963"/>
          <p14:tracePt t="51934" x="9345613" y="3965575"/>
          <p14:tracePt t="51951" x="9345613" y="3913188"/>
          <p14:tracePt t="51967" x="9345613" y="3878263"/>
          <p14:tracePt t="51984" x="9345613" y="3835400"/>
          <p14:tracePt t="52001" x="9336088" y="3756025"/>
          <p14:tracePt t="52017" x="9328150" y="3713163"/>
          <p14:tracePt t="52034" x="9318625" y="3686175"/>
          <p14:tracePt t="52051" x="9310688" y="3643313"/>
          <p14:tracePt t="52067" x="9283700" y="3598863"/>
          <p14:tracePt t="52069" x="9275763" y="3590925"/>
          <p14:tracePt t="52084" x="9258300" y="3581400"/>
          <p14:tracePt t="52101" x="9205913" y="3529013"/>
          <p14:tracePt t="52117" x="9178925" y="3511550"/>
          <p14:tracePt t="52134" x="9161463" y="3486150"/>
          <p14:tracePt t="52151" x="9134475" y="3486150"/>
          <p14:tracePt t="52167" x="9117013" y="3468688"/>
          <p14:tracePt t="52184" x="9091613" y="3468688"/>
          <p14:tracePt t="52201" x="9074150" y="3468688"/>
          <p14:tracePt t="52217" x="9047163" y="3468688"/>
          <p14:tracePt t="52235" x="9021763" y="3468688"/>
          <p14:tracePt t="52251" x="9012238" y="3468688"/>
          <p14:tracePt t="52294" x="0" y="0"/>
        </p14:tracePtLst>
        <p14:tracePtLst>
          <p14:tracePt t="66993" x="9240838" y="3905250"/>
          <p14:tracePt t="67085" x="9231313" y="3895725"/>
          <p14:tracePt t="67093" x="9223375" y="3895725"/>
          <p14:tracePt t="67101" x="9213850" y="3887788"/>
          <p14:tracePt t="67115" x="9196388" y="3887788"/>
          <p14:tracePt t="67117" x="9188450" y="3887788"/>
          <p14:tracePt t="67132" x="9170988" y="3887788"/>
          <p14:tracePt t="67133" x="9153525" y="3878263"/>
          <p14:tracePt t="67148" x="9144000" y="3878263"/>
          <p14:tracePt t="67149" x="9126538" y="3878263"/>
          <p14:tracePt t="67165" x="9074150" y="3887788"/>
          <p14:tracePt t="67182" x="9039225" y="3887788"/>
          <p14:tracePt t="67198" x="9029700" y="3887788"/>
          <p14:tracePt t="67215" x="9012238" y="3895725"/>
          <p14:tracePt t="67232" x="8986838" y="3895725"/>
          <p14:tracePt t="67248" x="8969375" y="3913188"/>
          <p14:tracePt t="67265" x="8951913" y="3922713"/>
          <p14:tracePt t="67282" x="8924925" y="3940175"/>
          <p14:tracePt t="67298" x="8907463" y="3948113"/>
          <p14:tracePt t="67315" x="8890000" y="3957638"/>
          <p14:tracePt t="67332" x="8890000" y="3965575"/>
          <p14:tracePt t="67333" x="8872538" y="3965575"/>
          <p14:tracePt t="67349" x="8864600" y="3975100"/>
          <p14:tracePt t="67365" x="8864600" y="3983038"/>
          <p14:tracePt t="67381" x="8855075" y="4000500"/>
          <p14:tracePt t="67398" x="8847138" y="4017963"/>
          <p14:tracePt t="67415" x="8847138" y="4027488"/>
          <p14:tracePt t="67432" x="8847138" y="4044950"/>
          <p14:tracePt t="67448" x="8837613" y="4062413"/>
          <p14:tracePt t="67465" x="8837613" y="4079875"/>
          <p14:tracePt t="67482" x="8837613" y="4124325"/>
          <p14:tracePt t="67498" x="8847138" y="4149725"/>
          <p14:tracePt t="67515" x="8855075" y="4184650"/>
          <p14:tracePt t="67532" x="8864600" y="4211638"/>
          <p14:tracePt t="67533" x="8882063" y="4219575"/>
          <p14:tracePt t="67549" x="8907463" y="4246563"/>
          <p14:tracePt t="67565" x="8924925" y="4264025"/>
          <p14:tracePt t="67582" x="8942388" y="4271963"/>
          <p14:tracePt t="67598" x="8951913" y="4281488"/>
          <p14:tracePt t="67615" x="8977313" y="4281488"/>
          <p14:tracePt t="67631" x="8986838" y="4289425"/>
          <p14:tracePt t="67648" x="8994775" y="4298950"/>
          <p14:tracePt t="67665" x="9004300" y="4298950"/>
          <p14:tracePt t="67682" x="9012238" y="4306888"/>
          <p14:tracePt t="67698" x="9021763" y="4306888"/>
          <p14:tracePt t="67715" x="9039225" y="4306888"/>
          <p14:tracePt t="67732" x="9047163" y="4316413"/>
          <p14:tracePt t="67733" x="9064625" y="4316413"/>
          <p14:tracePt t="67749" x="9082088" y="4316413"/>
          <p14:tracePt t="67765" x="9109075" y="4316413"/>
          <p14:tracePt t="67782" x="9144000" y="4306888"/>
          <p14:tracePt t="67798" x="9178925" y="4306888"/>
          <p14:tracePt t="67815" x="9196388" y="4306888"/>
          <p14:tracePt t="67832" x="9213850" y="4306888"/>
          <p14:tracePt t="67848" x="9223375" y="4306888"/>
          <p14:tracePt t="67865" x="9231313" y="4298950"/>
          <p14:tracePt t="67881" x="9240838" y="4281488"/>
          <p14:tracePt t="67898" x="9266238" y="4281488"/>
          <p14:tracePt t="67915" x="9310688" y="4271963"/>
          <p14:tracePt t="67932" x="9363075" y="4264025"/>
          <p14:tracePt t="67948" x="9388475" y="4254500"/>
          <p14:tracePt t="67950" x="9398000" y="4246563"/>
          <p14:tracePt t="67965" x="9423400" y="4229100"/>
          <p14:tracePt t="67982" x="9440863" y="4202113"/>
          <p14:tracePt t="67998" x="9458325" y="4184650"/>
          <p14:tracePt t="68015" x="9467850" y="4159250"/>
          <p14:tracePt t="68032" x="9467850" y="4149725"/>
          <p14:tracePt t="68048" x="9467850" y="4132263"/>
          <p14:tracePt t="68065" x="9467850" y="4114800"/>
          <p14:tracePt t="68081" x="9458325" y="4105275"/>
          <p14:tracePt t="68098" x="9450388" y="4087813"/>
          <p14:tracePt t="68115" x="9423400" y="4079875"/>
          <p14:tracePt t="68131" x="9405938" y="4070350"/>
          <p14:tracePt t="68148" x="9398000" y="4052888"/>
          <p14:tracePt t="68150" x="9388475" y="4052888"/>
          <p14:tracePt t="68165" x="9380538" y="4044950"/>
          <p14:tracePt t="68181" x="9353550" y="4035425"/>
          <p14:tracePt t="68198" x="9328150" y="4027488"/>
          <p14:tracePt t="68215" x="9310688" y="4017963"/>
          <p14:tracePt t="68231" x="9283700" y="4010025"/>
          <p14:tracePt t="68248" x="9240838" y="3992563"/>
          <p14:tracePt t="68265" x="9178925" y="3965575"/>
          <p14:tracePt t="68282" x="9134475" y="3957638"/>
          <p14:tracePt t="68298" x="9126538" y="3948113"/>
          <p14:tracePt t="68315" x="9117013" y="3948113"/>
          <p14:tracePt t="68331" x="9109075" y="3940175"/>
          <p14:tracePt t="68348" x="9091613" y="3940175"/>
          <p14:tracePt t="68365" x="9082088" y="3940175"/>
          <p14:tracePt t="68382" x="9074150" y="3948113"/>
          <p14:tracePt t="68398" x="9056688" y="3948113"/>
          <p14:tracePt t="68415" x="9039225" y="3957638"/>
          <p14:tracePt t="68432" x="9021763" y="3975100"/>
          <p14:tracePt t="68448" x="8986838" y="3983038"/>
          <p14:tracePt t="68465" x="8959850" y="4010025"/>
          <p14:tracePt t="68481" x="8942388" y="4017963"/>
          <p14:tracePt t="68498" x="8924925" y="4035425"/>
          <p14:tracePt t="68515" x="8924925" y="4052888"/>
          <p14:tracePt t="68531" x="8916988" y="4070350"/>
          <p14:tracePt t="68533" x="8907463" y="4070350"/>
          <p14:tracePt t="68548" x="8907463" y="4087813"/>
          <p14:tracePt t="68549" x="8907463" y="4097338"/>
          <p14:tracePt t="68566" x="8916988" y="4141788"/>
          <p14:tracePt t="68582" x="8934450" y="4167188"/>
          <p14:tracePt t="68598" x="8959850" y="4194175"/>
          <p14:tracePt t="68615" x="8977313" y="4211638"/>
          <p14:tracePt t="68632" x="9004300" y="4246563"/>
          <p14:tracePt t="68648" x="9039225" y="4254500"/>
          <p14:tracePt t="68665" x="9074150" y="4271963"/>
          <p14:tracePt t="68681" x="9099550" y="4271963"/>
          <p14:tracePt t="68698" x="9117013" y="4271963"/>
          <p14:tracePt t="68715" x="9153525" y="4271963"/>
          <p14:tracePt t="68731" x="9188450" y="4271963"/>
          <p14:tracePt t="68733" x="9205913" y="4264025"/>
          <p14:tracePt t="68748" x="9213850" y="4254500"/>
          <p14:tracePt t="68765" x="9248775" y="4229100"/>
          <p14:tracePt t="68781" x="9275763" y="4219575"/>
          <p14:tracePt t="68798" x="9293225" y="4202113"/>
          <p14:tracePt t="68815" x="9310688" y="4184650"/>
          <p14:tracePt t="68832" x="9318625" y="4167188"/>
          <p14:tracePt t="68848" x="9328150" y="4159250"/>
          <p14:tracePt t="68865" x="9336088" y="4149725"/>
          <p14:tracePt t="68917" x="9336088" y="4141788"/>
          <p14:tracePt t="68927" x="0" y="0"/>
        </p14:tracePtLst>
        <p14:tracePtLst>
          <p14:tracePt t="82570" x="9240838" y="3686175"/>
          <p14:tracePt t="82573" x="9231313" y="3678238"/>
          <p14:tracePt t="82581" x="9223375" y="3678238"/>
          <p14:tracePt t="82596" x="9213850" y="3678238"/>
          <p14:tracePt t="82597" x="9205913" y="3678238"/>
          <p14:tracePt t="82613" x="9196388" y="3678238"/>
          <p14:tracePt t="82629" x="9178925" y="3678238"/>
          <p14:tracePt t="82646" x="9170988" y="3678238"/>
          <p14:tracePt t="82663" x="9161463" y="3686175"/>
          <p14:tracePt t="82685" x="9144000" y="3686175"/>
          <p14:tracePt t="82696" x="9074150" y="3695700"/>
          <p14:tracePt t="82713" x="9047163" y="3713163"/>
          <p14:tracePt t="82729" x="9012238" y="3721100"/>
          <p14:tracePt t="82746" x="8994775" y="3748088"/>
          <p14:tracePt t="82763" x="8977313" y="3773488"/>
          <p14:tracePt t="82779" x="8951913" y="3808413"/>
          <p14:tracePt t="82796" x="8951913" y="3835400"/>
          <p14:tracePt t="82797" x="8951913" y="3843338"/>
          <p14:tracePt t="82813" x="8942388" y="3878263"/>
          <p14:tracePt t="82829" x="8942388" y="3930650"/>
          <p14:tracePt t="82846" x="8951913" y="3965575"/>
          <p14:tracePt t="82863" x="8969375" y="3983038"/>
          <p14:tracePt t="82879" x="8986838" y="4010025"/>
          <p14:tracePt t="82896" x="9021763" y="4035425"/>
          <p14:tracePt t="82913" x="9047163" y="4052888"/>
          <p14:tracePt t="82929" x="9117013" y="4070350"/>
          <p14:tracePt t="82946" x="9178925" y="4087813"/>
          <p14:tracePt t="82963" x="9231313" y="4097338"/>
          <p14:tracePt t="82979" x="9310688" y="4097338"/>
          <p14:tracePt t="82996" x="9353550" y="4087813"/>
          <p14:tracePt t="82997" x="9380538" y="4070350"/>
          <p14:tracePt t="83013" x="9388475" y="4044950"/>
          <p14:tracePt t="83029" x="9398000" y="4010025"/>
          <p14:tracePt t="83046" x="9398000" y="3983038"/>
          <p14:tracePt t="83063" x="9380538" y="3922713"/>
          <p14:tracePt t="83079" x="9353550" y="3887788"/>
          <p14:tracePt t="83096" x="9336088" y="3835400"/>
          <p14:tracePt t="83113" x="9310688" y="3800475"/>
          <p14:tracePt t="83129" x="9293225" y="3773488"/>
          <p14:tracePt t="83146" x="9275763" y="3748088"/>
          <p14:tracePt t="83163" x="9266238" y="3730625"/>
          <p14:tracePt t="83179" x="9266238" y="3713163"/>
          <p14:tracePt t="83181" x="9258300" y="3713163"/>
          <p14:tracePt t="83269" x="9248775" y="3713163"/>
          <p14:tracePt t="83293" x="9240838" y="3713163"/>
          <p14:tracePt t="83310" x="9231313" y="3713163"/>
          <p14:tracePt t="83325" x="9223375" y="3713163"/>
          <p14:tracePt t="83334" x="9223375" y="3721100"/>
          <p14:tracePt t="83347" x="0" y="0"/>
        </p14:tracePtLst>
        <p14:tracePtLst>
          <p14:tracePt t="85322" x="9283700" y="3616325"/>
          <p14:tracePt t="85325" x="9275763" y="3616325"/>
          <p14:tracePt t="85350" x="9266238" y="3616325"/>
          <p14:tracePt t="85357" x="9258300" y="3608388"/>
          <p14:tracePt t="85454" x="9240838" y="3608388"/>
          <p14:tracePt t="85461" x="9213850" y="3608388"/>
          <p14:tracePt t="85469" x="9153525" y="3616325"/>
          <p14:tracePt t="85479" x="9126538" y="3625850"/>
          <p14:tracePt t="85495" x="8907463" y="3625850"/>
          <p14:tracePt t="85512" x="8759825" y="3643313"/>
          <p14:tracePt t="85529" x="8550275" y="3660775"/>
          <p14:tracePt t="85546" x="8462963" y="3678238"/>
          <p14:tracePt t="85562" x="8435975" y="3678238"/>
          <p14:tracePt t="85579" x="8428038" y="3686175"/>
          <p14:tracePt t="85595" x="8418513" y="3695700"/>
          <p14:tracePt t="85597" x="8410575" y="3695700"/>
          <p14:tracePt t="85612" x="8401050" y="3695700"/>
          <p14:tracePt t="85613" x="8393113" y="3703638"/>
          <p14:tracePt t="85629" x="8383588" y="3721100"/>
          <p14:tracePt t="85645" x="8375650" y="3765550"/>
          <p14:tracePt t="85662" x="8366125" y="3783013"/>
          <p14:tracePt t="85679" x="8366125" y="3808413"/>
          <p14:tracePt t="85695" x="8366125" y="3835400"/>
          <p14:tracePt t="85712" x="8383588" y="3870325"/>
          <p14:tracePt t="85729" x="8393113" y="3905250"/>
          <p14:tracePt t="85745" x="8418513" y="3940175"/>
          <p14:tracePt t="85762" x="8428038" y="3965575"/>
          <p14:tracePt t="85779" x="8453438" y="3992563"/>
          <p14:tracePt t="85795" x="8480425" y="4017963"/>
          <p14:tracePt t="85797" x="8497888" y="4035425"/>
          <p14:tracePt t="85812" x="8515350" y="4044950"/>
          <p14:tracePt t="85813" x="8523288" y="4052888"/>
          <p14:tracePt t="85830" x="8532813" y="4070350"/>
          <p14:tracePt t="85845" x="8558213" y="4105275"/>
          <p14:tracePt t="85862" x="8575675" y="4124325"/>
          <p14:tracePt t="85879" x="8610600" y="4149725"/>
          <p14:tracePt t="85895" x="8628063" y="4159250"/>
          <p14:tracePt t="85912" x="8655050" y="4184650"/>
          <p14:tracePt t="85929" x="8662988" y="4194175"/>
          <p14:tracePt t="85946" x="8672513" y="4194175"/>
          <p14:tracePt t="85962" x="8707438" y="4202113"/>
          <p14:tracePt t="85979" x="8724900" y="4219575"/>
          <p14:tracePt t="85995" x="8742363" y="4219575"/>
          <p14:tracePt t="85997" x="8759825" y="4219575"/>
          <p14:tracePt t="86013" x="8777288" y="4219575"/>
          <p14:tracePt t="86029" x="8802688" y="4219575"/>
          <p14:tracePt t="86045" x="8820150" y="4219575"/>
          <p14:tracePt t="86062" x="8847138" y="4211638"/>
          <p14:tracePt t="86079" x="8864600" y="4202113"/>
          <p14:tracePt t="86095" x="8882063" y="4184650"/>
          <p14:tracePt t="86112" x="8916988" y="4167188"/>
          <p14:tracePt t="86129" x="8942388" y="4141788"/>
          <p14:tracePt t="86145" x="8977313" y="4114800"/>
          <p14:tracePt t="86162" x="9004300" y="4097338"/>
          <p14:tracePt t="86179" x="9021763" y="4079875"/>
          <p14:tracePt t="86196" x="9029700" y="4062413"/>
          <p14:tracePt t="86197" x="9039225" y="4062413"/>
          <p14:tracePt t="86212" x="9047163" y="4044950"/>
          <p14:tracePt t="86229" x="9047163" y="4010025"/>
          <p14:tracePt t="86245" x="9056688" y="3992563"/>
          <p14:tracePt t="86262" x="9056688" y="3965575"/>
          <p14:tracePt t="86279" x="9064625" y="3930650"/>
          <p14:tracePt t="86295" x="9074150" y="3922713"/>
          <p14:tracePt t="86312" x="9074150" y="3913188"/>
          <p14:tracePt t="86329" x="9074150" y="3905250"/>
          <p14:tracePt t="86345" x="9074150" y="3895725"/>
          <p14:tracePt t="86362" x="9074150" y="3887788"/>
          <p14:tracePt t="86379" x="9074150" y="3860800"/>
          <p14:tracePt t="86395" x="9074150" y="3843338"/>
          <p14:tracePt t="86397" x="9074150" y="3825875"/>
          <p14:tracePt t="86412" x="9064625" y="3817938"/>
          <p14:tracePt t="86413" x="9056688" y="3808413"/>
          <p14:tracePt t="86430" x="9047163" y="3790950"/>
          <p14:tracePt t="86445" x="9039225" y="3765550"/>
          <p14:tracePt t="86462" x="9029700" y="3748088"/>
          <p14:tracePt t="86479" x="9029700" y="3730625"/>
          <p14:tracePt t="86495" x="9012238" y="3713163"/>
          <p14:tracePt t="86512" x="9004300" y="3695700"/>
          <p14:tracePt t="86529" x="8994775" y="3686175"/>
          <p14:tracePt t="86545" x="8977313" y="3686175"/>
          <p14:tracePt t="86565" x="8969375" y="3686175"/>
          <p14:tracePt t="86579" x="8959850" y="3686175"/>
          <p14:tracePt t="86595" x="8951913" y="3678238"/>
          <p14:tracePt t="86612" x="8934450" y="3668713"/>
          <p14:tracePt t="86630" x="8924925" y="3668713"/>
          <p14:tracePt t="86645" x="8916988" y="3668713"/>
          <p14:tracePt t="86662" x="8907463" y="3668713"/>
          <p14:tracePt t="86680" x="8890000" y="3668713"/>
          <p14:tracePt t="86695" x="8872538" y="3668713"/>
          <p14:tracePt t="86712" x="8864600" y="3668713"/>
          <p14:tracePt t="86729" x="8855075" y="3668713"/>
          <p14:tracePt t="86805" x="8847138" y="3668713"/>
          <p14:tracePt t="86821" x="8847138" y="3678238"/>
          <p14:tracePt t="86829" x="8837613" y="3678238"/>
          <p14:tracePt t="86837" x="8829675" y="3678238"/>
          <p14:tracePt t="86845" x="8820150" y="3686175"/>
          <p14:tracePt t="86862" x="8812213" y="3695700"/>
          <p14:tracePt t="86879" x="8794750" y="3713163"/>
          <p14:tracePt t="86895" x="8767763" y="3748088"/>
          <p14:tracePt t="86912" x="8767763" y="3773488"/>
          <p14:tracePt t="86929" x="8759825" y="3800475"/>
          <p14:tracePt t="86945" x="8750300" y="3825875"/>
          <p14:tracePt t="86962" x="8750300" y="3870325"/>
          <p14:tracePt t="86979" x="8750300" y="3913188"/>
          <p14:tracePt t="86995" x="8759825" y="3965575"/>
          <p14:tracePt t="87012" x="8777288" y="3983038"/>
          <p14:tracePt t="87013" x="8785225" y="4000500"/>
          <p14:tracePt t="87029" x="8802688" y="4027488"/>
          <p14:tracePt t="87045" x="8829675" y="4062413"/>
          <p14:tracePt t="87062" x="8847138" y="4079875"/>
          <p14:tracePt t="87079" x="8864600" y="4097338"/>
          <p14:tracePt t="87095" x="8890000" y="4124325"/>
          <p14:tracePt t="87112" x="8907463" y="4132263"/>
          <p14:tracePt t="87129" x="8934450" y="4149725"/>
          <p14:tracePt t="87145" x="8959850" y="4167188"/>
          <p14:tracePt t="87162" x="8994775" y="4167188"/>
          <p14:tracePt t="87179" x="9021763" y="4184650"/>
          <p14:tracePt t="87195" x="9039225" y="4211638"/>
          <p14:tracePt t="87212" x="9056688" y="4219575"/>
          <p14:tracePt t="87213" x="9074150" y="4229100"/>
          <p14:tracePt t="87229" x="9091613" y="4237038"/>
          <p14:tracePt t="87245" x="9109075" y="4237038"/>
          <p14:tracePt t="87262" x="9126538" y="4237038"/>
          <p14:tracePt t="87279" x="9144000" y="4237038"/>
          <p14:tracePt t="87295" x="9178925" y="4237038"/>
          <p14:tracePt t="87312" x="9196388" y="4237038"/>
          <p14:tracePt t="87329" x="9213850" y="4229100"/>
          <p14:tracePt t="87345" x="9231313" y="4211638"/>
          <p14:tracePt t="87362" x="9248775" y="4202113"/>
          <p14:tracePt t="87379" x="9266238" y="4176713"/>
          <p14:tracePt t="87395" x="9275763" y="4167188"/>
          <p14:tracePt t="87412" x="9283700" y="4141788"/>
          <p14:tracePt t="87413" x="9301163" y="4124325"/>
          <p14:tracePt t="87429" x="9310688" y="4070350"/>
          <p14:tracePt t="87445" x="9310688" y="4044950"/>
          <p14:tracePt t="87462" x="9336088" y="4017963"/>
          <p14:tracePt t="87478" x="9345613" y="3992563"/>
          <p14:tracePt t="87495" x="9345613" y="3983038"/>
          <p14:tracePt t="87512" x="9353550" y="3965575"/>
          <p14:tracePt t="87528" x="9353550" y="3940175"/>
          <p14:tracePt t="87545" x="9353550" y="3913188"/>
          <p14:tracePt t="87562" x="9353550" y="3887788"/>
          <p14:tracePt t="87580" x="9353550" y="3860800"/>
          <p14:tracePt t="87581" x="9353550" y="3852863"/>
          <p14:tracePt t="87595" x="9353550" y="3835400"/>
          <p14:tracePt t="87612" x="9353550" y="3817938"/>
          <p14:tracePt t="87613" x="9353550" y="3808413"/>
          <p14:tracePt t="87629" x="9345613" y="3790950"/>
          <p14:tracePt t="87645" x="9328150" y="3773488"/>
          <p14:tracePt t="87662" x="9318625" y="3748088"/>
          <p14:tracePt t="87679" x="9310688" y="3730625"/>
          <p14:tracePt t="87695" x="9293225" y="3721100"/>
          <p14:tracePt t="88949" x="9293225" y="3703638"/>
          <p14:tracePt t="88957" x="9283700" y="3686175"/>
          <p14:tracePt t="88973" x="9283700" y="3668713"/>
          <p14:tracePt t="88981" x="9283700" y="3660775"/>
          <p14:tracePt t="88995" x="9275763" y="3651250"/>
          <p14:tracePt t="89012" x="9266238" y="3633788"/>
          <p14:tracePt t="89029" x="9258300" y="3616325"/>
          <p14:tracePt t="89238" x="0" y="0"/>
        </p14:tracePtLst>
        <p14:tracePtLst>
          <p14:tracePt t="93177" x="9099550" y="3633788"/>
          <p14:tracePt t="93333" x="9082088" y="3643313"/>
          <p14:tracePt t="93350" x="9064625" y="3651250"/>
          <p14:tracePt t="93357" x="9047163" y="3660775"/>
          <p14:tracePt t="93366" x="9039225" y="3678238"/>
          <p14:tracePt t="93378" x="9029700" y="3686175"/>
          <p14:tracePt t="93394" x="9021763" y="3721100"/>
          <p14:tracePt t="93411" x="9004300" y="3738563"/>
          <p14:tracePt t="93428" x="9004300" y="3756025"/>
          <p14:tracePt t="93429" x="9004300" y="3765550"/>
          <p14:tracePt t="93444" x="8994775" y="3773488"/>
          <p14:tracePt t="93462" x="8994775" y="3790950"/>
          <p14:tracePt t="93478" x="8994775" y="3817938"/>
          <p14:tracePt t="93494" x="8994775" y="3835400"/>
          <p14:tracePt t="93511" x="9004300" y="3870325"/>
          <p14:tracePt t="93528" x="9012238" y="3913188"/>
          <p14:tracePt t="93544" x="9021763" y="3975100"/>
          <p14:tracePt t="93561" x="9029700" y="4010025"/>
          <p14:tracePt t="93578" x="9039225" y="4052888"/>
          <p14:tracePt t="93594" x="9056688" y="4087813"/>
          <p14:tracePt t="93611" x="9064625" y="4114800"/>
          <p14:tracePt t="93628" x="9099550" y="4141788"/>
          <p14:tracePt t="93629" x="9109075" y="4149725"/>
          <p14:tracePt t="93644" x="9126538" y="4184650"/>
          <p14:tracePt t="93645" x="9153525" y="4202113"/>
          <p14:tracePt t="93661" x="9205913" y="4229100"/>
          <p14:tracePt t="93678" x="9240838" y="4254500"/>
          <p14:tracePt t="93695" x="9283700" y="4254500"/>
          <p14:tracePt t="93711" x="9310688" y="4254500"/>
          <p14:tracePt t="93728" x="9336088" y="4254500"/>
          <p14:tracePt t="93744" x="9345613" y="4246563"/>
          <p14:tracePt t="93761" x="9353550" y="4219575"/>
          <p14:tracePt t="93778" x="9353550" y="4202113"/>
          <p14:tracePt t="93794" x="9363075" y="4184650"/>
          <p14:tracePt t="93811" x="9363075" y="4167188"/>
          <p14:tracePt t="93828" x="9371013" y="4141788"/>
          <p14:tracePt t="93829" x="9380538" y="4105275"/>
          <p14:tracePt t="93844" x="9388475" y="4087813"/>
          <p14:tracePt t="93845" x="9380538" y="4000500"/>
          <p14:tracePt t="93861" x="9388475" y="3940175"/>
          <p14:tracePt t="93877" x="9398000" y="3905250"/>
          <p14:tracePt t="93894" x="9398000" y="3860800"/>
          <p14:tracePt t="93911" x="9398000" y="3843338"/>
          <p14:tracePt t="93928" x="9388475" y="3817938"/>
          <p14:tracePt t="93944" x="9371013" y="3800475"/>
          <p14:tracePt t="93961" x="9353550" y="3773488"/>
          <p14:tracePt t="93978" x="9328150" y="3756025"/>
          <p14:tracePt t="93994" x="9310688" y="3748088"/>
          <p14:tracePt t="94011" x="9293225" y="3730625"/>
          <p14:tracePt t="94028" x="9266238" y="3721100"/>
          <p14:tracePt t="94044" x="9258300" y="3713163"/>
          <p14:tracePt t="94046" x="9248775" y="3713163"/>
          <p14:tracePt t="94061" x="9231313" y="3703638"/>
          <p14:tracePt t="94078" x="9223375" y="3703638"/>
          <p14:tracePt t="94094" x="9213850" y="3695700"/>
          <p14:tracePt t="94111" x="9196388" y="3686175"/>
          <p14:tracePt t="94128" x="9178925" y="3695700"/>
          <p14:tracePt t="94144" x="9161463" y="3703638"/>
          <p14:tracePt t="94161" x="9153525" y="3713163"/>
          <p14:tracePt t="94189" x="9144000" y="3713163"/>
          <p14:tracePt t="94222" x="9134475" y="3713163"/>
          <p14:tracePt t="94237" x="9126538" y="3721100"/>
          <p14:tracePt t="94253" x="9109075" y="3738563"/>
          <p14:tracePt t="94261" x="9099550" y="3738563"/>
          <p14:tracePt t="94269" x="9091613" y="3756025"/>
          <p14:tracePt t="94277" x="9091613" y="3765550"/>
          <p14:tracePt t="94294" x="9074150" y="3773488"/>
          <p14:tracePt t="94311" x="9074150" y="3790950"/>
          <p14:tracePt t="94327" x="9056688" y="3817938"/>
          <p14:tracePt t="94344" x="9039225" y="3843338"/>
          <p14:tracePt t="94361" x="9039225" y="3860800"/>
          <p14:tracePt t="94377" x="9039225" y="3878263"/>
          <p14:tracePt t="94394" x="9039225" y="3887788"/>
          <p14:tracePt t="94411" x="9039225" y="3905250"/>
          <p14:tracePt t="94437" x="9047163" y="3913188"/>
          <p14:tracePt t="94445" x="9047163" y="3930650"/>
          <p14:tracePt t="94461" x="9056688" y="3930650"/>
          <p14:tracePt t="94478" x="9064625" y="3940175"/>
          <p14:tracePt t="94494" x="9082088" y="3940175"/>
          <p14:tracePt t="94511" x="9091613" y="3948113"/>
          <p14:tracePt t="94527" x="9099550" y="3957638"/>
          <p14:tracePt t="94544" x="9117013" y="3975100"/>
          <p14:tracePt t="94561" x="9126538" y="3983038"/>
          <p14:tracePt t="94578" x="9134475" y="3992563"/>
          <p14:tracePt t="94594" x="9134475" y="4000500"/>
          <p14:tracePt t="94621" x="9144000" y="4000500"/>
          <p14:tracePt t="94629" x="9144000" y="4010025"/>
          <p14:tracePt t="94644" x="9153525" y="4010025"/>
          <p14:tracePt t="94646" x="9161463" y="4017963"/>
          <p14:tracePt t="94669" x="9161463" y="4027488"/>
          <p14:tracePt t="94677" x="9178925" y="4027488"/>
          <p14:tracePt t="94694" x="9188450" y="4027488"/>
          <p14:tracePt t="94712" x="9196388" y="4027488"/>
          <p14:tracePt t="94728" x="9205913" y="4027488"/>
          <p14:tracePt t="94744" x="9223375" y="4027488"/>
          <p14:tracePt t="94761" x="9231313" y="4027488"/>
          <p14:tracePt t="94777" x="9248775" y="4027488"/>
          <p14:tracePt t="94794" x="9258300" y="4027488"/>
          <p14:tracePt t="94811" x="9275763" y="4017963"/>
          <p14:tracePt t="94828" x="9293225" y="4000500"/>
          <p14:tracePt t="94829" x="9301163" y="3992563"/>
          <p14:tracePt t="94844" x="9310688" y="3992563"/>
          <p14:tracePt t="94846" x="9310688" y="3983038"/>
          <p14:tracePt t="94861" x="9318625" y="3975100"/>
          <p14:tracePt t="94901" x="9318625" y="3965575"/>
          <p14:tracePt t="94910" x="9318625" y="3957638"/>
          <p14:tracePt t="94917" x="9318625" y="3948113"/>
          <p14:tracePt t="94950" x="9318625" y="3940175"/>
          <p14:tracePt t="94957" x="9328150" y="3940175"/>
          <p14:tracePt t="94966" x="9328150" y="3930650"/>
          <p14:tracePt t="94981" x="9328150" y="3922713"/>
          <p14:tracePt t="94994" x="9336088" y="3913188"/>
          <p14:tracePt t="95011" x="9336088" y="3887788"/>
          <p14:tracePt t="95027" x="9345613" y="3878263"/>
          <p14:tracePt t="95044" x="9345613" y="3852863"/>
          <p14:tracePt t="95046" x="9345613" y="3843338"/>
          <p14:tracePt t="95061" x="9345613" y="3817938"/>
          <p14:tracePt t="95077" x="9336088" y="3773488"/>
          <p14:tracePt t="95094" x="9318625" y="3765550"/>
          <p14:tracePt t="95111" x="9301163" y="3730625"/>
          <p14:tracePt t="95127" x="9275763" y="3721100"/>
          <p14:tracePt t="95144" x="9266238" y="3703638"/>
          <p14:tracePt t="95161" x="9248775" y="3695700"/>
          <p14:tracePt t="95178" x="9248775" y="3678238"/>
          <p14:tracePt t="95194" x="9205913" y="3678238"/>
          <p14:tracePt t="95211" x="9178925" y="3678238"/>
          <p14:tracePt t="95227" x="9161463" y="3668713"/>
          <p14:tracePt t="95229" x="9153525" y="3668713"/>
          <p14:tracePt t="95244" x="9144000" y="3668713"/>
          <p14:tracePt t="95261" x="9117013" y="3668713"/>
          <p14:tracePt t="95277" x="9091613" y="3668713"/>
          <p14:tracePt t="95294" x="9021763" y="3695700"/>
          <p14:tracePt t="95311" x="8959850" y="3748088"/>
          <p14:tracePt t="95327" x="8924925" y="3765550"/>
          <p14:tracePt t="95344" x="8907463" y="3790950"/>
          <p14:tracePt t="95361" x="8899525" y="3790950"/>
          <p14:tracePt t="95377" x="8899525" y="3800475"/>
          <p14:tracePt t="95397" x="8899525" y="3808413"/>
          <p14:tracePt t="95413" x="8907463" y="3808413"/>
          <p14:tracePt t="95429" x="8916988" y="3808413"/>
          <p14:tracePt t="95445" x="8924925" y="3808413"/>
          <p14:tracePt t="95461" x="8942388" y="3817938"/>
          <p14:tracePt t="95486" x="8951913" y="3825875"/>
          <p14:tracePt t="95494" x="8959850" y="3825875"/>
          <p14:tracePt t="95551" x="0" y="0"/>
        </p14:tracePtLst>
        <p14:tracePtLst>
          <p14:tracePt t="98009" x="9240838" y="3808413"/>
          <p14:tracePt t="98069" x="9240838" y="3825875"/>
          <p14:tracePt t="98077" x="9240838" y="3835400"/>
          <p14:tracePt t="98085" x="9240838" y="3843338"/>
          <p14:tracePt t="98094" x="9240838" y="3860800"/>
          <p14:tracePt t="98110" x="9240838" y="3870325"/>
          <p14:tracePt t="98127" x="9248775" y="3887788"/>
          <p14:tracePt t="98144" x="9275763" y="3895725"/>
          <p14:tracePt t="98160" x="9301163" y="3895725"/>
          <p14:tracePt t="98177" x="9328150" y="3895725"/>
          <p14:tracePt t="98193" x="9345613" y="3870325"/>
          <p14:tracePt t="98211" x="9353550" y="3860800"/>
          <p14:tracePt t="98227" x="9353550" y="3825875"/>
          <p14:tracePt t="98243" x="9353550" y="3800475"/>
          <p14:tracePt t="98245" x="9336088" y="3790950"/>
          <p14:tracePt t="98277" x="9301163" y="3756025"/>
          <p14:tracePt t="98294" x="9301163" y="3748088"/>
          <p14:tracePt t="98310" x="9283700" y="3738563"/>
          <p14:tracePt t="98327" x="9258300" y="3730625"/>
          <p14:tracePt t="98344" x="9231313" y="3730625"/>
          <p14:tracePt t="98360" x="9196388" y="3730625"/>
          <p14:tracePt t="98377" x="9099550" y="3756025"/>
          <p14:tracePt t="98394" x="9064625" y="3800475"/>
          <p14:tracePt t="98410" x="9056688" y="3825875"/>
          <p14:tracePt t="98427" x="9047163" y="3860800"/>
          <p14:tracePt t="98444" x="9047163" y="3905250"/>
          <p14:tracePt t="98445" x="9047163" y="3940175"/>
          <p14:tracePt t="98460" x="9056688" y="3940175"/>
          <p14:tracePt t="98462" x="9074150" y="3965575"/>
          <p14:tracePt t="98478" x="9091613" y="3975100"/>
          <p14:tracePt t="98494" x="9117013" y="3975100"/>
          <p14:tracePt t="98510" x="9134475" y="3975100"/>
          <p14:tracePt t="98527" x="9161463" y="3940175"/>
          <p14:tracePt t="98544" x="9161463" y="3905250"/>
          <p14:tracePt t="98560" x="9161463" y="3878263"/>
          <p14:tracePt t="98577" x="9161463" y="3852863"/>
          <p14:tracePt t="98594" x="9161463" y="3843338"/>
          <p14:tracePt t="98805" x="9134475" y="3835400"/>
          <p14:tracePt t="98822" x="0" y="0"/>
        </p14:tracePtLst>
        <p14:tracePtLst>
          <p14:tracePt t="102690" x="5964238" y="3538538"/>
          <p14:tracePt t="102701" x="5956300" y="3538538"/>
          <p14:tracePt t="102709" x="5946775" y="3538538"/>
          <p14:tracePt t="102734" x="5938838" y="3538538"/>
          <p14:tracePt t="102765" x="5929313" y="3538538"/>
          <p14:tracePt t="102773" x="5921375" y="3538538"/>
          <p14:tracePt t="102781" x="5911850" y="3538538"/>
          <p14:tracePt t="102793" x="5903913" y="3556000"/>
          <p14:tracePt t="102810" x="5876925" y="3573463"/>
          <p14:tracePt t="102826" x="5842000" y="3608388"/>
          <p14:tracePt t="102843" x="5816600" y="3633788"/>
          <p14:tracePt t="102860" x="5781675" y="3668713"/>
          <p14:tracePt t="102861" x="5764213" y="3686175"/>
          <p14:tracePt t="102876" x="5754688" y="3686175"/>
          <p14:tracePt t="102877" x="5746750" y="3695700"/>
          <p14:tracePt t="102893" x="5737225" y="3713163"/>
          <p14:tracePt t="102910" x="5737225" y="3730625"/>
          <p14:tracePt t="102926" x="5746750" y="3738563"/>
          <p14:tracePt t="102943" x="5754688" y="3756025"/>
          <p14:tracePt t="102960" x="5781675" y="3773488"/>
          <p14:tracePt t="102976" x="5781675" y="3783013"/>
          <p14:tracePt t="102993" x="5789613" y="3800475"/>
          <p14:tracePt t="103010" x="5799138" y="3808413"/>
          <p14:tracePt t="103026" x="5799138" y="3825875"/>
          <p14:tracePt t="103043" x="5807075" y="3825875"/>
          <p14:tracePt t="103059" x="5807075" y="3843338"/>
          <p14:tracePt t="103061" x="5807075" y="3852863"/>
          <p14:tracePt t="103076" x="5807075" y="3870325"/>
          <p14:tracePt t="103077" x="5807075" y="3878263"/>
          <p14:tracePt t="103094" x="5807075" y="3895725"/>
          <p14:tracePt t="103110" x="5816600" y="3905250"/>
          <p14:tracePt t="103126" x="5824538" y="3922713"/>
          <p14:tracePt t="103143" x="5834063" y="3930650"/>
          <p14:tracePt t="103160" x="5851525" y="3948113"/>
          <p14:tracePt t="103176" x="5868988" y="3965575"/>
          <p14:tracePt t="103193" x="5886450" y="3983038"/>
          <p14:tracePt t="103209" x="5911850" y="3992563"/>
          <p14:tracePt t="103226" x="5938838" y="4010025"/>
          <p14:tracePt t="103243" x="5964238" y="4010025"/>
          <p14:tracePt t="103259" x="6008688" y="4010025"/>
          <p14:tracePt t="103276" x="6016625" y="4010025"/>
          <p14:tracePt t="103293" x="6026150" y="4010025"/>
          <p14:tracePt t="103310" x="6026150" y="4000500"/>
          <p14:tracePt t="103326" x="6034088" y="4000500"/>
          <p14:tracePt t="103343" x="6034088" y="3992563"/>
          <p14:tracePt t="103365" x="6043613" y="3983038"/>
          <p14:tracePt t="103383" x="6051550" y="3983038"/>
          <p14:tracePt t="103445" x="6051550" y="3975100"/>
          <p14:tracePt t="103485" x="6061075" y="3975100"/>
          <p14:tracePt t="103493" x="6078538" y="3975100"/>
          <p14:tracePt t="103501" x="6086475" y="3965575"/>
          <p14:tracePt t="103509" x="6105525" y="3965575"/>
          <p14:tracePt t="103512" x="0" y="0"/>
        </p14:tracePtLst>
        <p14:tracePtLst>
          <p14:tracePt t="109963" x="3913188" y="4795838"/>
          <p14:tracePt t="110029" x="3913188" y="4787900"/>
          <p14:tracePt t="110061" x="3913188" y="4778375"/>
          <p14:tracePt t="110069" x="3895725" y="4770438"/>
          <p14:tracePt t="110085" x="3886200" y="4770438"/>
          <p14:tracePt t="110093" x="3878263" y="4760913"/>
          <p14:tracePt t="110109" x="3833813" y="4743450"/>
          <p14:tracePt t="110125" x="3790950" y="4735513"/>
          <p14:tracePt t="110142" x="3756025" y="4725988"/>
          <p14:tracePt t="110158" x="3738563" y="4725988"/>
          <p14:tracePt t="110175" x="3729038" y="4725988"/>
          <p14:tracePt t="110197" x="3721100" y="4725988"/>
          <p14:tracePt t="110213" x="3711575" y="4725988"/>
          <p14:tracePt t="110225" x="3703638" y="4735513"/>
          <p14:tracePt t="110242" x="3676650" y="4752975"/>
          <p14:tracePt t="110258" x="3616325" y="4760913"/>
          <p14:tracePt t="110275" x="3536950" y="4778375"/>
          <p14:tracePt t="110292" x="3494088" y="4787900"/>
          <p14:tracePt t="110309" x="3441700" y="4813300"/>
          <p14:tracePt t="110325" x="3432175" y="4822825"/>
          <p14:tracePt t="110349" x="3424238" y="4830763"/>
          <p14:tracePt t="110373" x="3414713" y="4830763"/>
          <p14:tracePt t="110381" x="3414713" y="4840288"/>
          <p14:tracePt t="110392" x="3406775" y="4848225"/>
          <p14:tracePt t="110408" x="3389313" y="4875213"/>
          <p14:tracePt t="110425" x="3371850" y="4892675"/>
          <p14:tracePt t="110442" x="3344863" y="4918075"/>
          <p14:tracePt t="110458" x="3336925" y="4935538"/>
          <p14:tracePt t="110475" x="3319463" y="4953000"/>
          <p14:tracePt t="110492" x="3309938" y="4979988"/>
          <p14:tracePt t="110493" x="3302000" y="4987925"/>
          <p14:tracePt t="110508" x="3302000" y="5005388"/>
          <p14:tracePt t="110509" x="3302000" y="5014913"/>
          <p14:tracePt t="110525" x="3302000" y="5049838"/>
          <p14:tracePt t="110542" x="3302000" y="5075238"/>
          <p14:tracePt t="110558" x="3302000" y="5102225"/>
          <p14:tracePt t="110575" x="3302000" y="5127625"/>
          <p14:tracePt t="110592" x="3309938" y="5145088"/>
          <p14:tracePt t="110608" x="3327400" y="5197475"/>
          <p14:tracePt t="110625" x="3354388" y="5214938"/>
          <p14:tracePt t="110642" x="3379788" y="5232400"/>
          <p14:tracePt t="110659" x="3397250" y="5249863"/>
          <p14:tracePt t="110676" x="3424238" y="5249863"/>
          <p14:tracePt t="110677" x="3424238" y="5259388"/>
          <p14:tracePt t="110692" x="3441700" y="5267325"/>
          <p14:tracePt t="110693" x="3459163" y="5267325"/>
          <p14:tracePt t="110708" x="3476625" y="5267325"/>
          <p14:tracePt t="110709" x="3494088" y="5276850"/>
          <p14:tracePt t="110725" x="3529013" y="5276850"/>
          <p14:tracePt t="110742" x="3606800" y="5276850"/>
          <p14:tracePt t="110758" x="3659188" y="5276850"/>
          <p14:tracePt t="110776" x="3729038" y="5276850"/>
          <p14:tracePt t="110792" x="3790950" y="5276850"/>
          <p14:tracePt t="110808" x="3808413" y="5276850"/>
          <p14:tracePt t="110825" x="3825875" y="5276850"/>
          <p14:tracePt t="110842" x="3833813" y="5267325"/>
          <p14:tracePt t="110858" x="3860800" y="5267325"/>
          <p14:tracePt t="110875" x="3886200" y="5259388"/>
          <p14:tracePt t="110892" x="3913188" y="5259388"/>
          <p14:tracePt t="110893" x="3930650" y="5241925"/>
          <p14:tracePt t="110908" x="3938588" y="5241925"/>
          <p14:tracePt t="110910" x="3956050" y="5232400"/>
          <p14:tracePt t="110925" x="4008438" y="5214938"/>
          <p14:tracePt t="110942" x="4043363" y="5197475"/>
          <p14:tracePt t="110958" x="4087813" y="5180013"/>
          <p14:tracePt t="110975" x="4105275" y="5154613"/>
          <p14:tracePt t="110992" x="4122738" y="5119688"/>
          <p14:tracePt t="111008" x="4130675" y="5092700"/>
          <p14:tracePt t="111025" x="4140200" y="5084763"/>
          <p14:tracePt t="111041" x="4140200" y="5057775"/>
          <p14:tracePt t="111058" x="4140200" y="5032375"/>
          <p14:tracePt t="111075" x="4140200" y="4997450"/>
          <p14:tracePt t="111077" x="4140200" y="4962525"/>
          <p14:tracePt t="111093" x="4130675" y="4945063"/>
          <p14:tracePt t="111108" x="4122738" y="4910138"/>
          <p14:tracePt t="111110" x="4113213" y="4900613"/>
          <p14:tracePt t="111125" x="4095750" y="4865688"/>
          <p14:tracePt t="111142" x="4087813" y="4857750"/>
          <p14:tracePt t="111158" x="4070350" y="4840288"/>
          <p14:tracePt t="111175" x="4043363" y="4813300"/>
          <p14:tracePt t="111192" x="4025900" y="4795838"/>
          <p14:tracePt t="111208" x="4000500" y="4787900"/>
          <p14:tracePt t="111225" x="3983038" y="4770438"/>
          <p14:tracePt t="111242" x="3956050" y="4770438"/>
          <p14:tracePt t="111258" x="3913188" y="4770438"/>
          <p14:tracePt t="111275" x="3868738" y="4770438"/>
          <p14:tracePt t="111278" x="3860800" y="4770438"/>
          <p14:tracePt t="111291" x="3825875" y="4770438"/>
          <p14:tracePt t="111309" x="3781425" y="4770438"/>
          <p14:tracePt t="111325" x="3763963" y="4778375"/>
          <p14:tracePt t="111357" x="3763963" y="4787900"/>
          <p14:tracePt t="111390" x="3756025" y="4787900"/>
          <p14:tracePt t="111405" x="3746500" y="4787900"/>
          <p14:tracePt t="111422" x="0" y="0"/>
        </p14:tracePtLst>
        <p14:tracePtLst>
          <p14:tracePt t="112234" x="3624263" y="4725988"/>
          <p14:tracePt t="112237" x="3616325" y="4735513"/>
          <p14:tracePt t="112245" x="3598863" y="4735513"/>
          <p14:tracePt t="112258" x="3589338" y="4735513"/>
          <p14:tracePt t="112275" x="3554413" y="4760913"/>
          <p14:tracePt t="112277" x="3546475" y="4770438"/>
          <p14:tracePt t="112291" x="3519488" y="4787900"/>
          <p14:tracePt t="112308" x="3484563" y="4813300"/>
          <p14:tracePt t="112310" x="3476625" y="4830763"/>
          <p14:tracePt t="112325" x="3449638" y="4883150"/>
          <p14:tracePt t="112342" x="3441700" y="4910138"/>
          <p14:tracePt t="112358" x="3441700" y="4953000"/>
          <p14:tracePt t="112375" x="3449638" y="4997450"/>
          <p14:tracePt t="112392" x="3467100" y="5067300"/>
          <p14:tracePt t="112408" x="3476625" y="5110163"/>
          <p14:tracePt t="112425" x="3502025" y="5162550"/>
          <p14:tracePt t="112442" x="3546475" y="5197475"/>
          <p14:tracePt t="112458" x="3581400" y="5232400"/>
          <p14:tracePt t="112475" x="3606800" y="5267325"/>
          <p14:tracePt t="112491" x="3659188" y="5284788"/>
          <p14:tracePt t="112493" x="3668713" y="5294313"/>
          <p14:tracePt t="112508" x="3721100" y="5319713"/>
          <p14:tracePt t="112509" x="3756025" y="5319713"/>
          <p14:tracePt t="112525" x="3790950" y="5337175"/>
          <p14:tracePt t="112541" x="3833813" y="5337175"/>
          <p14:tracePt t="112558" x="3921125" y="5346700"/>
          <p14:tracePt t="112575" x="4000500" y="5329238"/>
          <p14:tracePt t="112591" x="4035425" y="5302250"/>
          <p14:tracePt t="112608" x="4060825" y="5276850"/>
          <p14:tracePt t="112625" x="4060825" y="5267325"/>
          <p14:tracePt t="112641" x="4070350" y="5232400"/>
          <p14:tracePt t="112658" x="4070350" y="5214938"/>
          <p14:tracePt t="112675" x="4070350" y="5197475"/>
          <p14:tracePt t="112691" x="4070350" y="5180013"/>
          <p14:tracePt t="112693" x="4070350" y="5162550"/>
          <p14:tracePt t="112708" x="4070350" y="5145088"/>
          <p14:tracePt t="112725" x="4070350" y="5127625"/>
          <p14:tracePt t="112741" x="4070350" y="5119688"/>
          <p14:tracePt t="112758" x="4060825" y="5110163"/>
          <p14:tracePt t="112910" x="0" y="0"/>
        </p14:tracePtLst>
        <p14:tracePtLst>
          <p14:tracePt t="114922" x="4140200" y="4805363"/>
          <p14:tracePt t="114925" x="4113213" y="4795838"/>
          <p14:tracePt t="114941" x="4070350" y="4778375"/>
          <p14:tracePt t="114957" x="4025900" y="4760913"/>
          <p14:tracePt t="114975" x="3973513" y="4760913"/>
          <p14:tracePt t="114991" x="3886200" y="4760913"/>
          <p14:tracePt t="115008" x="3843338" y="4760913"/>
          <p14:tracePt t="115024" x="3816350" y="4760913"/>
          <p14:tracePt t="115041" x="3763963" y="4778375"/>
          <p14:tracePt t="115058" x="3686175" y="4805363"/>
          <p14:tracePt t="115074" x="3624263" y="4830763"/>
          <p14:tracePt t="115091" x="3589338" y="4857750"/>
          <p14:tracePt t="115093" x="3536950" y="4875213"/>
          <p14:tracePt t="115108" x="3519488" y="4892675"/>
          <p14:tracePt t="115124" x="3494088" y="4918075"/>
          <p14:tracePt t="115125" x="3484563" y="4945063"/>
          <p14:tracePt t="115141" x="3459163" y="4970463"/>
          <p14:tracePt t="115158" x="3459163" y="4997450"/>
          <p14:tracePt t="115174" x="3459163" y="5014913"/>
          <p14:tracePt t="115191" x="3459163" y="5049838"/>
          <p14:tracePt t="115207" x="3476625" y="5075238"/>
          <p14:tracePt t="115224" x="3484563" y="5092700"/>
          <p14:tracePt t="115241" x="3511550" y="5102225"/>
          <p14:tracePt t="115258" x="3536950" y="5127625"/>
          <p14:tracePt t="115274" x="3606800" y="5154613"/>
          <p14:tracePt t="115292" x="3668713" y="5172075"/>
          <p14:tracePt t="115293" x="3721100" y="5180013"/>
          <p14:tracePt t="115307" x="3843338" y="5180013"/>
          <p14:tracePt t="115324" x="4070350" y="5180013"/>
          <p14:tracePt t="115325" x="4183063" y="5180013"/>
          <p14:tracePt t="115341" x="4462463" y="5180013"/>
          <p14:tracePt t="115358" x="4672013" y="5162550"/>
          <p14:tracePt t="115374" x="4846638" y="5119688"/>
          <p14:tracePt t="115392" x="4899025" y="5102225"/>
          <p14:tracePt t="115408" x="4916488" y="5092700"/>
          <p14:tracePt t="115424" x="4926013" y="5084763"/>
          <p14:tracePt t="115441" x="4926013" y="5075238"/>
          <p14:tracePt t="115581" x="4916488" y="5075238"/>
          <p14:tracePt t="115597" x="4908550" y="5075238"/>
          <p14:tracePt t="115600" x="0" y="0"/>
        </p14:tracePtLst>
        <p14:tracePtLst>
          <p14:tracePt t="128753" x="5003800" y="5389563"/>
          <p14:tracePt t="128821" x="4995863" y="5389563"/>
          <p14:tracePt t="128829" x="4986338" y="5381625"/>
          <p14:tracePt t="128839" x="4986338" y="5372100"/>
          <p14:tracePt t="128855" x="4978400" y="5354638"/>
          <p14:tracePt t="128872" x="4943475" y="5311775"/>
          <p14:tracePt t="128889" x="4916488" y="5249863"/>
          <p14:tracePt t="128906" x="4899025" y="5207000"/>
          <p14:tracePt t="128922" x="4881563" y="5145088"/>
          <p14:tracePt t="128939" x="4873625" y="5092700"/>
          <p14:tracePt t="128956" x="4864100" y="5049838"/>
          <p14:tracePt t="128957" x="4864100" y="5032375"/>
          <p14:tracePt t="128973" x="4864100" y="5014913"/>
          <p14:tracePt t="128989" x="4864100" y="4987925"/>
          <p14:tracePt t="129005" x="4873625" y="4970463"/>
          <p14:tracePt t="129022" x="4881563" y="4962525"/>
          <p14:tracePt t="129039" x="4908550" y="4945063"/>
          <p14:tracePt t="129055" x="4933950" y="4927600"/>
          <p14:tracePt t="129073" x="4978400" y="4892675"/>
          <p14:tracePt t="129089" x="5030788" y="4875213"/>
          <p14:tracePt t="129105" x="5048250" y="4865688"/>
          <p14:tracePt t="129122" x="5083175" y="4848225"/>
          <p14:tracePt t="129139" x="5108575" y="4840288"/>
          <p14:tracePt t="129155" x="5118100" y="4840288"/>
          <p14:tracePt t="129172" x="5126038" y="4840288"/>
          <p14:tracePt t="129174" x="5126038" y="4848225"/>
          <p14:tracePt t="129191" x="5143500" y="4865688"/>
          <p14:tracePt t="129205" x="5160963" y="4883150"/>
          <p14:tracePt t="129222" x="5195888" y="4945063"/>
          <p14:tracePt t="129239" x="5230813" y="4970463"/>
          <p14:tracePt t="129255" x="5265738" y="5014913"/>
          <p14:tracePt t="129272" x="5300663" y="5075238"/>
          <p14:tracePt t="129290" x="5335588" y="5137150"/>
          <p14:tracePt t="129305" x="5345113" y="5172075"/>
          <p14:tracePt t="129323" x="5362575" y="5197475"/>
          <p14:tracePt t="129339" x="5370513" y="5224463"/>
          <p14:tracePt t="129355" x="5380038" y="5259388"/>
          <p14:tracePt t="129358" x="5387975" y="5267325"/>
          <p14:tracePt t="129372" x="5405438" y="5294313"/>
          <p14:tracePt t="129373" x="5405438" y="5302250"/>
          <p14:tracePt t="129390" x="5414963" y="5329238"/>
          <p14:tracePt t="129406" x="5414963" y="5354638"/>
          <p14:tracePt t="129422" x="5414963" y="5372100"/>
          <p14:tracePt t="129439" x="5422900" y="5399088"/>
          <p14:tracePt t="129456" x="5422900" y="5416550"/>
          <p14:tracePt t="129472" x="5422900" y="5434013"/>
          <p14:tracePt t="129489" x="5422900" y="5451475"/>
          <p14:tracePt t="129506" x="5414963" y="5486400"/>
          <p14:tracePt t="129522" x="5405438" y="5495925"/>
          <p14:tracePt t="129539" x="5387975" y="5513388"/>
          <p14:tracePt t="129555" x="5380038" y="5530850"/>
          <p14:tracePt t="129557" x="5370513" y="5530850"/>
          <p14:tracePt t="129572" x="5370513" y="5538788"/>
          <p14:tracePt t="129590" x="5362575" y="5538788"/>
          <p14:tracePt t="129685" x="5353050" y="5538788"/>
          <p14:tracePt t="129773" x="5345113" y="5538788"/>
          <p14:tracePt t="129789" x="5335588" y="5538788"/>
          <p14:tracePt t="129813" x="5327650" y="5538788"/>
          <p14:tracePt t="129821" x="5318125" y="5538788"/>
          <p14:tracePt t="129830" x="5310188" y="5538788"/>
          <p14:tracePt t="129832" x="0" y="0"/>
        </p14:tracePtLst>
        <p14:tracePtLst>
          <p14:tracePt t="131058" x="5100638" y="6176963"/>
          <p14:tracePt t="131149" x="5108575" y="6176963"/>
          <p14:tracePt t="131157" x="5118100" y="6176963"/>
          <p14:tracePt t="131173" x="5118100" y="6167438"/>
          <p14:tracePt t="131181" x="5118100" y="6159500"/>
          <p14:tracePt t="131285" x="5126038" y="6159500"/>
          <p14:tracePt t="131301" x="5126038" y="6149975"/>
          <p14:tracePt t="131310" x="5135563" y="6149975"/>
          <p14:tracePt t="131317" x="5135563" y="6142038"/>
          <p14:tracePt t="131326" x="5135563" y="6132513"/>
          <p14:tracePt t="131338" x="5135563" y="6115050"/>
          <p14:tracePt t="131355" x="5135563" y="6097588"/>
          <p14:tracePt t="131372" x="5135563" y="6072188"/>
          <p14:tracePt t="131373" x="5135563" y="6054725"/>
          <p14:tracePt t="131389" x="5135563" y="6037263"/>
          <p14:tracePt t="131405" x="5135563" y="6019800"/>
          <p14:tracePt t="131422" x="5135563" y="6010275"/>
          <p14:tracePt t="131438" x="5135563" y="5992813"/>
          <p14:tracePt t="131455" x="5135563" y="5967413"/>
          <p14:tracePt t="131472" x="5135563" y="5949950"/>
          <p14:tracePt t="131488" x="5135563" y="5922963"/>
          <p14:tracePt t="131505" x="5135563" y="5897563"/>
          <p14:tracePt t="131522" x="5135563" y="5853113"/>
          <p14:tracePt t="131538" x="5135563" y="5827713"/>
          <p14:tracePt t="131555" x="5135563" y="5810250"/>
          <p14:tracePt t="131572" x="5135563" y="5783263"/>
          <p14:tracePt t="131573" x="5135563" y="5775325"/>
          <p14:tracePt t="131588" x="5135563" y="5765800"/>
          <p14:tracePt t="131589" x="5135563" y="5748338"/>
          <p14:tracePt t="131605" x="5135563" y="5730875"/>
          <p14:tracePt t="131622" x="5143500" y="5713413"/>
          <p14:tracePt t="131638" x="5153025" y="5695950"/>
          <p14:tracePt t="131655" x="5153025" y="5678488"/>
          <p14:tracePt t="131672" x="5153025" y="5653088"/>
          <p14:tracePt t="131688" x="5153025" y="5626100"/>
          <p14:tracePt t="131705" x="5153025" y="5600700"/>
          <p14:tracePt t="131722" x="5153025" y="5573713"/>
          <p14:tracePt t="131739" x="5153025" y="5556250"/>
          <p14:tracePt t="131755" x="5153025" y="5538788"/>
          <p14:tracePt t="131772" x="5153025" y="5521325"/>
          <p14:tracePt t="131773" x="5153025" y="5513388"/>
          <p14:tracePt t="131789" x="5153025" y="5503863"/>
          <p14:tracePt t="131805" x="5153025" y="5495925"/>
          <p14:tracePt t="131822" x="5153025" y="5476875"/>
          <p14:tracePt t="131838" x="5153025" y="5468938"/>
          <p14:tracePt t="131855" x="5153025" y="5441950"/>
          <p14:tracePt t="131872" x="5153025" y="5424488"/>
          <p14:tracePt t="131888" x="5153025" y="5416550"/>
          <p14:tracePt t="131905" x="5153025" y="5399088"/>
          <p14:tracePt t="131922" x="5153025" y="5381625"/>
          <p14:tracePt t="131938" x="5153025" y="5364163"/>
          <p14:tracePt t="131955" x="5153025" y="5346700"/>
          <p14:tracePt t="131972" x="5153025" y="5337175"/>
          <p14:tracePt t="131973" x="5153025" y="5319713"/>
          <p14:tracePt t="131989" x="5153025" y="5302250"/>
          <p14:tracePt t="132005" x="5153025" y="5284788"/>
          <p14:tracePt t="132022" x="5153025" y="5267325"/>
          <p14:tracePt t="132038" x="5153025" y="5249863"/>
          <p14:tracePt t="132055" x="5153025" y="5241925"/>
          <p14:tracePt t="132072" x="5153025" y="5214938"/>
          <p14:tracePt t="132088" x="5153025" y="5197475"/>
          <p14:tracePt t="132105" x="5153025" y="5189538"/>
          <p14:tracePt t="132122" x="5153025" y="5180013"/>
          <p14:tracePt t="132138" x="5143500" y="5172075"/>
          <p14:tracePt t="132155" x="5143500" y="5162550"/>
          <p14:tracePt t="132237" x="5143500" y="5172075"/>
          <p14:tracePt t="132246" x="5143500" y="5189538"/>
          <p14:tracePt t="132255" x="5143500" y="5207000"/>
          <p14:tracePt t="132272" x="5143500" y="5232400"/>
          <p14:tracePt t="132288" x="5143500" y="5276850"/>
          <p14:tracePt t="132305" x="5153025" y="5294313"/>
          <p14:tracePt t="132322" x="5153025" y="5302250"/>
          <p14:tracePt t="132430" x="5153025" y="5294313"/>
          <p14:tracePt t="132437" x="5153025" y="5276850"/>
          <p14:tracePt t="132445" x="5153025" y="5259388"/>
          <p14:tracePt t="132455" x="5153025" y="5249863"/>
          <p14:tracePt t="132472" x="5153025" y="5214938"/>
          <p14:tracePt t="132488" x="5153025" y="5189538"/>
          <p14:tracePt t="132605" x="5153025" y="5197475"/>
          <p14:tracePt t="132621" x="5153025" y="5214938"/>
          <p14:tracePt t="132629" x="5153025" y="5224463"/>
          <p14:tracePt t="132670" x="5160963" y="5224463"/>
          <p14:tracePt t="133078" x="0" y="0"/>
        </p14:tracePtLst>
        <p14:tracePtLst>
          <p14:tracePt t="136625" x="5021263" y="5241925"/>
          <p14:tracePt t="136677" x="5030788" y="5232400"/>
          <p14:tracePt t="136685" x="5056188" y="5232400"/>
          <p14:tracePt t="136693" x="5073650" y="5224463"/>
          <p14:tracePt t="136704" x="5091113" y="5224463"/>
          <p14:tracePt t="136721" x="5143500" y="5224463"/>
          <p14:tracePt t="136738" x="5275263" y="5224463"/>
          <p14:tracePt t="136754" x="5353050" y="5224463"/>
          <p14:tracePt t="136771" x="5432425" y="5224463"/>
          <p14:tracePt t="136788" x="5562600" y="5232400"/>
          <p14:tracePt t="136789" x="5607050" y="5232400"/>
          <p14:tracePt t="136805" x="5746750" y="5232400"/>
          <p14:tracePt t="136821" x="5781675" y="5232400"/>
          <p14:tracePt t="136838" x="5789613" y="5232400"/>
          <p14:tracePt t="137279" x="0" y="0"/>
        </p14:tracePtLst>
        <p14:tracePtLst>
          <p14:tracePt t="138337" x="5213350" y="5084763"/>
          <p14:tracePt t="138509" x="5205413" y="5084763"/>
          <p14:tracePt t="138517" x="5195888" y="5084763"/>
          <p14:tracePt t="138526" x="5178425" y="5084763"/>
          <p14:tracePt t="138538" x="5170488" y="5084763"/>
          <p14:tracePt t="138554" x="5143500" y="5084763"/>
          <p14:tracePt t="138571" x="5135563" y="5084763"/>
          <p14:tracePt t="138587" x="5126038" y="5084763"/>
          <p14:tracePt t="138629" x="5118100" y="5084763"/>
          <p14:tracePt t="138645" x="5108575" y="5084763"/>
          <p14:tracePt t="138653" x="5100638" y="5084763"/>
          <p14:tracePt t="138669" x="5091113" y="5084763"/>
          <p14:tracePt t="138677" x="5083175" y="5084763"/>
          <p14:tracePt t="138687" x="5073650" y="5092700"/>
          <p14:tracePt t="138704" x="5065713" y="5092700"/>
          <p14:tracePt t="138721" x="5056188" y="5092700"/>
          <p14:tracePt t="138737" x="5056188" y="5110163"/>
          <p14:tracePt t="138754" x="5038725" y="5110163"/>
          <p14:tracePt t="138771" x="5030788" y="5119688"/>
          <p14:tracePt t="138787" x="5021263" y="5127625"/>
          <p14:tracePt t="138804" x="5021263" y="5145088"/>
          <p14:tracePt t="138821" x="5013325" y="5162550"/>
          <p14:tracePt t="138837" x="5013325" y="5197475"/>
          <p14:tracePt t="138854" x="5021263" y="5214938"/>
          <p14:tracePt t="138871" x="5048250" y="5249863"/>
          <p14:tracePt t="138887" x="5065713" y="5267325"/>
          <p14:tracePt t="138904" x="5100638" y="5294313"/>
          <p14:tracePt t="138920" x="5118100" y="5311775"/>
          <p14:tracePt t="138937" x="5135563" y="5319713"/>
          <p14:tracePt t="138954" x="5153025" y="5329238"/>
          <p14:tracePt t="138970" x="5153025" y="5337175"/>
          <p14:tracePt t="138987" x="5160963" y="5337175"/>
          <p14:tracePt t="139004" x="5170488" y="5337175"/>
          <p14:tracePt t="139053" x="5187950" y="5337175"/>
          <p14:tracePt t="139062" x="5205413" y="5337175"/>
          <p14:tracePt t="139071" x="5213350" y="5337175"/>
          <p14:tracePt t="139087" x="5240338" y="5337175"/>
          <p14:tracePt t="139104" x="5248275" y="5337175"/>
          <p14:tracePt t="139121" x="5257800" y="5337175"/>
          <p14:tracePt t="139181" x="5265738" y="5337175"/>
          <p14:tracePt t="139934" x="0" y="0"/>
        </p14:tracePtLst>
        <p14:tracePtLst>
          <p14:tracePt t="140697" x="5153025" y="6054725"/>
          <p14:tracePt t="140765" x="5153025" y="6045200"/>
          <p14:tracePt t="140781" x="5153025" y="6037263"/>
          <p14:tracePt t="140789" x="5153025" y="6019800"/>
          <p14:tracePt t="140797" x="5153025" y="6010275"/>
          <p14:tracePt t="140805" x="5153025" y="5992813"/>
          <p14:tracePt t="140820" x="5153025" y="5984875"/>
          <p14:tracePt t="140821" x="5153025" y="5957888"/>
          <p14:tracePt t="140837" x="5153025" y="5922963"/>
          <p14:tracePt t="140854" x="5153025" y="5897563"/>
          <p14:tracePt t="140870" x="5153025" y="5862638"/>
          <p14:tracePt t="140887" x="5160963" y="5845175"/>
          <p14:tracePt t="140903" x="5160963" y="5818188"/>
          <p14:tracePt t="140920" x="5160963" y="5800725"/>
          <p14:tracePt t="140937" x="5160963" y="5765800"/>
          <p14:tracePt t="140954" x="5160963" y="5748338"/>
          <p14:tracePt t="140970" x="5160963" y="5722938"/>
          <p14:tracePt t="140987" x="5160963" y="5695950"/>
          <p14:tracePt t="141004" x="5160963" y="5678488"/>
          <p14:tracePt t="141005" x="5160963" y="5670550"/>
          <p14:tracePt t="141020" x="5160963" y="5653088"/>
          <p14:tracePt t="141021" x="5160963" y="5643563"/>
          <p14:tracePt t="141037" x="5160963" y="5626100"/>
          <p14:tracePt t="141054" x="5160963" y="5583238"/>
          <p14:tracePt t="141070" x="5160963" y="5538788"/>
          <p14:tracePt t="141087" x="5160963" y="5521325"/>
          <p14:tracePt t="141104" x="5160963" y="5495925"/>
          <p14:tracePt t="141120" x="5160963" y="5476875"/>
          <p14:tracePt t="141137" x="5153025" y="5468938"/>
          <p14:tracePt t="141154" x="5153025" y="5451475"/>
          <p14:tracePt t="141170" x="5153025" y="5441950"/>
          <p14:tracePt t="141187" x="5153025" y="5424488"/>
          <p14:tracePt t="141204" x="5153025" y="5416550"/>
          <p14:tracePt t="141205" x="5153025" y="5407025"/>
          <p14:tracePt t="141221" x="5153025" y="5389563"/>
          <p14:tracePt t="141237" x="5153025" y="5372100"/>
          <p14:tracePt t="141253" x="5153025" y="5354638"/>
          <p14:tracePt t="141270" x="5153025" y="5337175"/>
          <p14:tracePt t="141287" x="5153025" y="5319713"/>
          <p14:tracePt t="141304" x="5153025" y="5302250"/>
          <p14:tracePt t="141320" x="5153025" y="5284788"/>
          <p14:tracePt t="141337" x="5153025" y="5267325"/>
          <p14:tracePt t="141354" x="5153025" y="5249863"/>
          <p14:tracePt t="141371" x="5153025" y="5232400"/>
          <p14:tracePt t="141387" x="5153025" y="5224463"/>
          <p14:tracePt t="141404" x="5153025" y="5214938"/>
          <p14:tracePt t="141420" x="5153025" y="5207000"/>
          <p14:tracePt t="141437" x="5153025" y="5197475"/>
          <p14:tracePt t="141453" x="5153025" y="5189538"/>
          <p14:tracePt t="141703" x="0" y="0"/>
        </p14:tracePtLst>
      </p14:laserTraceLst>
    </p:ext>
  </p:extLs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11</a:t>
            </a:r>
            <a:r>
              <a:rPr dirty="0"/>
              <a:t>. </a:t>
            </a:r>
            <a:r>
              <a:rPr dirty="0" err="1"/>
              <a:t>Distribución</a:t>
            </a:r>
            <a:r>
              <a:rPr dirty="0"/>
              <a:t> </a:t>
            </a:r>
            <a:r>
              <a:rPr lang="es-ES" dirty="0"/>
              <a:t>Binomial</a:t>
            </a:r>
            <a:r>
              <a:rPr dirty="0"/>
              <a:t> </a:t>
            </a:r>
            <a:r>
              <a:rPr dirty="0" err="1"/>
              <a:t>negativa</a:t>
            </a:r>
            <a:br>
              <a:rPr lang="es-ES" dirty="0"/>
            </a:br>
            <a:r>
              <a:rPr dirty="0" err="1"/>
              <a:t>Ejercicio</a:t>
            </a:r>
            <a:r>
              <a:rPr dirty="0"/>
              <a:t> </a:t>
            </a:r>
            <a:r>
              <a:rPr dirty="0" err="1"/>
              <a:t>propuesto</a:t>
            </a:r>
            <a:endParaRPr dirty="0"/>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r>
              <a:rPr dirty="0" err="1"/>
              <a:t>Ejercicio</a:t>
            </a:r>
            <a:r>
              <a:rPr dirty="0"/>
              <a:t> 3.26 del </a:t>
            </a:r>
            <a:r>
              <a:rPr dirty="0" err="1"/>
              <a:t>libro</a:t>
            </a:r>
            <a:endParaRPr dirty="0"/>
          </a:p>
          <a:p>
            <a:pPr lvl="1"/>
            <a:r>
              <a:rPr dirty="0"/>
              <a:t>La </a:t>
            </a:r>
            <a:r>
              <a:rPr dirty="0" err="1"/>
              <a:t>respuesta</a:t>
            </a:r>
            <a:r>
              <a:rPr dirty="0"/>
              <a:t> </a:t>
            </a:r>
            <a:r>
              <a:rPr dirty="0" err="1"/>
              <a:t>está</a:t>
            </a:r>
            <a:r>
              <a:rPr dirty="0"/>
              <a:t> disponible en </a:t>
            </a:r>
            <a:r>
              <a:rPr lang="es-ES" sz="2400" b="0" strike="noStrike" spc="-1" dirty="0">
                <a:solidFill>
                  <a:srgbClr val="000000"/>
                </a:solidFill>
                <a:latin typeface="Calibri"/>
              </a:rPr>
              <a:t>el libro.</a:t>
            </a:r>
            <a:endParaRPr dirty="0"/>
          </a:p>
          <a:p>
            <a:endParaRPr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67</a:t>
            </a:fld>
            <a:endParaRPr lang="es-ES"/>
          </a:p>
        </p:txBody>
      </p:sp>
    </p:spTree>
    <p:extLst>
      <p:ext uri="{BB962C8B-B14F-4D97-AF65-F5344CB8AC3E}">
        <p14:creationId xmlns:p14="http://schemas.microsoft.com/office/powerpoint/2010/main" val="2320708416"/>
      </p:ext>
    </p:extLst>
  </p:cSld>
  <p:clrMapOvr>
    <a:masterClrMapping/>
  </p:clrMapOvr>
  <mc:AlternateContent xmlns:mc="http://schemas.openxmlformats.org/markup-compatibility/2006" xmlns:p14="http://schemas.microsoft.com/office/powerpoint/2010/main">
    <mc:Choice Requires="p14">
      <p:transition spd="slow" p14:dur="2000" advTm="7312"/>
    </mc:Choice>
    <mc:Fallback xmlns="">
      <p:transition spd="slow" advTm="7312"/>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9F075-03FA-44E9-696B-8320A52C548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FB4076B-D74B-3763-CCAD-F463F0620E79}"/>
              </a:ext>
            </a:extLst>
          </p:cNvPr>
          <p:cNvSpPr>
            <a:spLocks noGrp="1"/>
          </p:cNvSpPr>
          <p:nvPr>
            <p:ph type="title"/>
          </p:nvPr>
        </p:nvSpPr>
        <p:spPr/>
        <p:txBody>
          <a:bodyPr/>
          <a:lstStyle/>
          <a:p>
            <a:r>
              <a:rPr lang="es-ES" dirty="0"/>
              <a:t>12. D</a:t>
            </a:r>
            <a:r>
              <a:rPr dirty="0" err="1"/>
              <a:t>istribución</a:t>
            </a:r>
            <a:r>
              <a:rPr dirty="0"/>
              <a:t> </a:t>
            </a:r>
            <a:r>
              <a:rPr lang="es-ES" dirty="0"/>
              <a:t>Hipergeométrica</a:t>
            </a:r>
            <a:br>
              <a:rPr lang="es-ES" dirty="0"/>
            </a:br>
            <a:r>
              <a:rPr lang="es-ES" dirty="0"/>
              <a:t>(No está en el libro)</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40F9F26-5813-D17F-CB97-5B625C367D76}"/>
                  </a:ext>
                </a:extLst>
              </p:cNvPr>
              <p:cNvSpPr>
                <a:spLocks noGrp="1"/>
              </p:cNvSpPr>
              <p:nvPr>
                <p:ph idx="1"/>
              </p:nvPr>
            </p:nvSpPr>
            <p:spPr/>
            <p:txBody>
              <a:bodyPr>
                <a:normAutofit fontScale="85000" lnSpcReduction="20000"/>
              </a:bodyPr>
              <a:lstStyle/>
              <a:p>
                <a:r>
                  <a:rPr lang="es-ES" dirty="0"/>
                  <a:t>Una variable aleatoria descrita como “el número de éxitos (elementos que cumplen una condición) obtenidos en </a:t>
                </a:r>
                <a14:m>
                  <m:oMath xmlns:m="http://schemas.openxmlformats.org/officeDocument/2006/math">
                    <m:r>
                      <a:rPr lang="es-ES" i="1" dirty="0" smtClean="0">
                        <a:latin typeface="Cambria Math" panose="02040503050406030204" pitchFamily="18" charset="0"/>
                      </a:rPr>
                      <m:t>𝑛</m:t>
                    </m:r>
                  </m:oMath>
                </a14:m>
                <a:r>
                  <a:rPr lang="es-ES" dirty="0"/>
                  <a:t> ensayos de Bernoulli no independientes, donde cada ensayo consiste en extraer sin reposición un elemento de un conjunto inicial de </a:t>
                </a:r>
                <a14:m>
                  <m:oMath xmlns:m="http://schemas.openxmlformats.org/officeDocument/2006/math">
                    <m:r>
                      <a:rPr lang="es-ES" i="1" dirty="0" smtClean="0">
                        <a:latin typeface="Cambria Math" panose="02040503050406030204" pitchFamily="18" charset="0"/>
                      </a:rPr>
                      <m:t>𝑁</m:t>
                    </m:r>
                  </m:oMath>
                </a14:m>
                <a:r>
                  <a:rPr lang="es-ES" dirty="0"/>
                  <a:t> elementos, conociendo la probabilidad </a:t>
                </a:r>
                <a14:m>
                  <m:oMath xmlns:m="http://schemas.openxmlformats.org/officeDocument/2006/math">
                    <m:r>
                      <a:rPr lang="es-ES" i="1" dirty="0" smtClean="0">
                        <a:latin typeface="Cambria Math" panose="02040503050406030204" pitchFamily="18" charset="0"/>
                      </a:rPr>
                      <m:t>𝑝</m:t>
                    </m:r>
                  </m:oMath>
                </a14:m>
                <a:r>
                  <a:rPr lang="es-ES" dirty="0"/>
                  <a:t> del primer éxito, cuando están todos los elementos en el conjunto”, </a:t>
                </a:r>
                <a:r>
                  <a:rPr lang="es-ES" dirty="0" err="1"/>
                  <a:t>tiene</a:t>
                </a:r>
                <a:r>
                  <a:rPr lang="es-ES" dirty="0"/>
                  <a:t> una </a:t>
                </a:r>
                <a:r>
                  <a:rPr lang="es-ES" dirty="0" err="1"/>
                  <a:t>distribución</a:t>
                </a:r>
                <a:r>
                  <a:rPr lang="es-ES" dirty="0"/>
                  <a:t> de probabilidad Hipergeométrica. </a:t>
                </a:r>
              </a:p>
              <a:p>
                <a:r>
                  <a:rPr lang="es-ES" dirty="0"/>
                  <a:t>Sus </a:t>
                </a:r>
                <a:r>
                  <a:rPr lang="es-ES" dirty="0" err="1"/>
                  <a:t>parámetros</a:t>
                </a:r>
                <a:r>
                  <a:rPr lang="es-ES" dirty="0"/>
                  <a:t> son:</a:t>
                </a:r>
              </a:p>
              <a:p>
                <a:pPr lvl="1"/>
                <a14:m>
                  <m:oMath xmlns:m="http://schemas.openxmlformats.org/officeDocument/2006/math">
                    <m:r>
                      <a:rPr lang="es-ES" i="1" dirty="0">
                        <a:latin typeface="Cambria Math" panose="02040503050406030204" pitchFamily="18" charset="0"/>
                      </a:rPr>
                      <m:t>𝑁</m:t>
                    </m:r>
                    <m:r>
                      <m:rPr>
                        <m:nor/>
                      </m:rPr>
                      <a:rPr lang="es-ES" dirty="0"/>
                      <m:t>, </m:t>
                    </m:r>
                    <m:r>
                      <m:rPr>
                        <m:nor/>
                      </m:rPr>
                      <a:rPr lang="es-ES" dirty="0"/>
                      <m:t>n</m:t>
                    </m:r>
                    <m:r>
                      <m:rPr>
                        <m:nor/>
                      </m:rPr>
                      <a:rPr lang="es-ES" dirty="0"/>
                      <m:t>ú</m:t>
                    </m:r>
                    <m:r>
                      <m:rPr>
                        <m:nor/>
                      </m:rPr>
                      <a:rPr lang="es-ES" dirty="0"/>
                      <m:t>mero</m:t>
                    </m:r>
                    <m:r>
                      <m:rPr>
                        <m:nor/>
                      </m:rPr>
                      <a:rPr lang="es-ES" dirty="0"/>
                      <m:t> </m:t>
                    </m:r>
                    <m:r>
                      <m:rPr>
                        <m:nor/>
                      </m:rPr>
                      <a:rPr lang="es-ES" dirty="0"/>
                      <m:t>total</m:t>
                    </m:r>
                    <m:r>
                      <m:rPr>
                        <m:nor/>
                      </m:rPr>
                      <a:rPr lang="es-ES" dirty="0"/>
                      <m:t> </m:t>
                    </m:r>
                    <m:r>
                      <m:rPr>
                        <m:nor/>
                      </m:rPr>
                      <a:rPr lang="es-ES" dirty="0"/>
                      <m:t>de</m:t>
                    </m:r>
                    <m:r>
                      <m:rPr>
                        <m:nor/>
                      </m:rPr>
                      <a:rPr lang="es-ES" dirty="0"/>
                      <m:t> </m:t>
                    </m:r>
                    <m:r>
                      <m:rPr>
                        <m:nor/>
                      </m:rPr>
                      <a:rPr lang="es-ES" dirty="0"/>
                      <m:t>elementos</m:t>
                    </m:r>
                    <m:r>
                      <m:rPr>
                        <m:nor/>
                      </m:rPr>
                      <a:rPr lang="es-ES" dirty="0"/>
                      <m:t> </m:t>
                    </m:r>
                    <m:r>
                      <m:rPr>
                        <m:nor/>
                      </m:rPr>
                      <a:rPr lang="es-ES" dirty="0"/>
                      <m:t>en</m:t>
                    </m:r>
                    <m:r>
                      <m:rPr>
                        <m:nor/>
                      </m:rPr>
                      <a:rPr lang="es-ES" dirty="0"/>
                      <m:t> </m:t>
                    </m:r>
                    <m:r>
                      <m:rPr>
                        <m:nor/>
                      </m:rPr>
                      <a:rPr lang="es-ES" dirty="0"/>
                      <m:t>el</m:t>
                    </m:r>
                    <m:r>
                      <m:rPr>
                        <m:nor/>
                      </m:rPr>
                      <a:rPr lang="es-ES" dirty="0"/>
                      <m:t> </m:t>
                    </m:r>
                    <m:r>
                      <m:rPr>
                        <m:nor/>
                      </m:rPr>
                      <a:rPr lang="es-ES" dirty="0"/>
                      <m:t>conjunto</m:t>
                    </m:r>
                    <m:r>
                      <m:rPr>
                        <m:nor/>
                      </m:rPr>
                      <a:rPr lang="es-ES" dirty="0"/>
                      <m:t> </m:t>
                    </m:r>
                    <m:r>
                      <m:rPr>
                        <m:nor/>
                      </m:rPr>
                      <a:rPr lang="es-ES" dirty="0"/>
                      <m:t>inicial</m:t>
                    </m:r>
                  </m:oMath>
                </a14:m>
                <a:endParaRPr lang="es-ES" dirty="0"/>
              </a:p>
              <a:p>
                <a:pPr lvl="1"/>
                <a14:m>
                  <m:oMath xmlns:m="http://schemas.openxmlformats.org/officeDocument/2006/math">
                    <m:r>
                      <a:rPr lang="es-ES" i="1" dirty="0">
                        <a:latin typeface="Cambria Math" panose="02040503050406030204" pitchFamily="18" charset="0"/>
                      </a:rPr>
                      <m:t>𝑛</m:t>
                    </m:r>
                  </m:oMath>
                </a14:m>
                <a:r>
                  <a:rPr lang="es-ES" dirty="0"/>
                  <a:t>, número de ensayos (extracciones)</a:t>
                </a:r>
              </a:p>
              <a:p>
                <a:pPr lvl="1"/>
                <a14:m>
                  <m:oMath xmlns:m="http://schemas.openxmlformats.org/officeDocument/2006/math">
                    <m:r>
                      <a:rPr lang="es-ES" i="1" dirty="0">
                        <a:latin typeface="Cambria Math" panose="02040503050406030204" pitchFamily="18" charset="0"/>
                      </a:rPr>
                      <m:t>𝑝</m:t>
                    </m:r>
                  </m:oMath>
                </a14:m>
                <a:r>
                  <a:rPr lang="es-ES" dirty="0"/>
                  <a:t>, probabilidad de éxito del primer ensayo, es decir, proporción de elementos que cumplen la condición en el conjunto inicial</a:t>
                </a:r>
              </a:p>
              <a:p>
                <a:r>
                  <a:rPr lang="es-ES" dirty="0"/>
                  <a:t>Ejemplos:</a:t>
                </a:r>
              </a:p>
              <a:p>
                <a:pPr lvl="1"/>
                <a:r>
                  <a:rPr lang="es-ES" dirty="0"/>
                  <a:t>De un lote de 100 teléfonos móviles en el que hay 60 teléfonos Android y 40 teléfonos iOS, se extrae aleatoriamente una muestra de 50 teléfonos. El número de teléfonos Android que hay en la muestra es una variable aleatoria Hipergeométrica.</a:t>
                </a:r>
              </a:p>
              <a:p>
                <a:endParaRPr dirty="0"/>
              </a:p>
            </p:txBody>
          </p:sp>
        </mc:Choice>
        <mc:Fallback xmlns="">
          <p:sp>
            <p:nvSpPr>
              <p:cNvPr id="3" name="Marcador de contenido 2">
                <a:extLst>
                  <a:ext uri="{FF2B5EF4-FFF2-40B4-BE49-F238E27FC236}">
                    <a16:creationId xmlns:a16="http://schemas.microsoft.com/office/drawing/2014/main" id="{A40F9F26-5813-D17F-CB97-5B625C367D76}"/>
                  </a:ext>
                </a:extLst>
              </p:cNvPr>
              <p:cNvSpPr>
                <a:spLocks noGrp="1" noRot="1" noChangeAspect="1" noMove="1" noResize="1" noEditPoints="1" noAdjustHandles="1" noChangeArrowheads="1" noChangeShapeType="1" noTextEdit="1"/>
              </p:cNvSpPr>
              <p:nvPr>
                <p:ph idx="1"/>
              </p:nvPr>
            </p:nvSpPr>
            <p:spPr>
              <a:blipFill>
                <a:blip r:embed="rId2"/>
                <a:stretch>
                  <a:fillRect l="-812" t="-3221" r="-986"/>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C67392E0-AD40-7E7D-11F3-27713CCCABE3}"/>
              </a:ext>
            </a:extLst>
          </p:cNvPr>
          <p:cNvSpPr>
            <a:spLocks noGrp="1"/>
          </p:cNvSpPr>
          <p:nvPr>
            <p:ph type="sldNum" sz="quarter" idx="12"/>
          </p:nvPr>
        </p:nvSpPr>
        <p:spPr/>
        <p:txBody>
          <a:bodyPr/>
          <a:lstStyle/>
          <a:p>
            <a:fld id="{336CAFD0-1F6E-4E11-9822-836563A02839}" type="slidenum">
              <a:rPr lang="es-ES" smtClean="0"/>
              <a:t>68</a:t>
            </a:fld>
            <a:endParaRPr lang="es-ES"/>
          </a:p>
        </p:txBody>
      </p:sp>
    </p:spTree>
    <p:extLst>
      <p:ext uri="{BB962C8B-B14F-4D97-AF65-F5344CB8AC3E}">
        <p14:creationId xmlns:p14="http://schemas.microsoft.com/office/powerpoint/2010/main" val="26721740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8FF71-E18F-21F1-183E-96D14FB72F9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8203D2-413D-DEC2-2929-8EDD31A93F6A}"/>
              </a:ext>
            </a:extLst>
          </p:cNvPr>
          <p:cNvSpPr>
            <a:spLocks noGrp="1"/>
          </p:cNvSpPr>
          <p:nvPr>
            <p:ph type="title"/>
          </p:nvPr>
        </p:nvSpPr>
        <p:spPr/>
        <p:txBody>
          <a:bodyPr/>
          <a:lstStyle/>
          <a:p>
            <a:r>
              <a:rPr lang="es-ES" dirty="0"/>
              <a:t>12. D</a:t>
            </a:r>
            <a:r>
              <a:rPr dirty="0" err="1"/>
              <a:t>istribución</a:t>
            </a:r>
            <a:r>
              <a:rPr dirty="0"/>
              <a:t> </a:t>
            </a:r>
            <a:r>
              <a:rPr lang="es-ES" dirty="0"/>
              <a:t>Hipergeométrica</a:t>
            </a:r>
            <a:br>
              <a:rPr lang="es-ES" dirty="0"/>
            </a:br>
            <a:r>
              <a:rPr dirty="0" err="1"/>
              <a:t>Resumen</a:t>
            </a:r>
            <a:endParaRPr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452F7307-F4F7-85CF-6E41-747AFD5BB35A}"/>
                  </a:ext>
                </a:extLst>
              </p:cNvPr>
              <p:cNvSpPr>
                <a:spLocks noGrp="1"/>
              </p:cNvSpPr>
              <p:nvPr>
                <p:ph idx="1"/>
              </p:nvPr>
            </p:nvSpPr>
            <p:spPr>
              <a:xfrm>
                <a:off x="838200" y="1825624"/>
                <a:ext cx="10515600" cy="5032376"/>
              </a:xfrm>
            </p:spPr>
            <p:txBody>
              <a:bodyPr>
                <a:normAutofit fontScale="47500" lnSpcReduction="20000"/>
              </a:bodyPr>
              <a:lstStyle/>
              <a:p>
                <a:r>
                  <a:rPr lang="es-ES" dirty="0"/>
                  <a:t>X: Variable </a:t>
                </a:r>
                <a:r>
                  <a:rPr lang="es-ES" dirty="0" err="1"/>
                  <a:t>aleatoria</a:t>
                </a:r>
                <a:r>
                  <a:rPr lang="es-ES" dirty="0"/>
                  <a:t> con </a:t>
                </a:r>
                <a:r>
                  <a:rPr lang="es-ES" dirty="0" err="1"/>
                  <a:t>distribución</a:t>
                </a:r>
                <a:r>
                  <a:rPr lang="es-ES" dirty="0"/>
                  <a:t>  </a:t>
                </a:r>
                <a:r>
                  <a:rPr lang="es-ES" i="1" dirty="0"/>
                  <a:t>Hipergeométrica </a:t>
                </a:r>
                <a:r>
                  <a:rPr lang="es-ES" i="1" dirty="0">
                    <a:sym typeface="Wingdings" panose="05000000000000000000" pitchFamily="2" charset="2"/>
                  </a:rPr>
                  <a:t></a:t>
                </a:r>
                <a:r>
                  <a:rPr lang="es-ES" i="1" dirty="0"/>
                  <a:t>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m:t>
                    </m:r>
                    <m:r>
                      <a:rPr lang="es-ES" b="0" i="1" dirty="0" smtClean="0">
                        <a:latin typeface="Cambria Math" panose="02040503050406030204" pitchFamily="18" charset="0"/>
                      </a:rPr>
                      <m:t>𝐻</m:t>
                    </m:r>
                    <m:r>
                      <a:rPr lang="es-ES" i="1" dirty="0">
                        <a:latin typeface="Cambria Math" panose="02040503050406030204" pitchFamily="18" charset="0"/>
                      </a:rPr>
                      <m:t>(</m:t>
                    </m:r>
                    <m:r>
                      <a:rPr lang="es-ES" b="0" i="1" dirty="0" smtClean="0">
                        <a:latin typeface="Cambria Math" panose="02040503050406030204" pitchFamily="18" charset="0"/>
                      </a:rPr>
                      <m:t>𝑁</m:t>
                    </m:r>
                    <m:r>
                      <a:rPr lang="es-ES" b="0" i="1" dirty="0" smtClean="0">
                        <a:latin typeface="Cambria Math" panose="02040503050406030204" pitchFamily="18" charset="0"/>
                      </a:rPr>
                      <m:t>,</m:t>
                    </m:r>
                    <m:r>
                      <a:rPr lang="es-ES" b="0" i="1" dirty="0" smtClean="0">
                        <a:latin typeface="Cambria Math" panose="02040503050406030204" pitchFamily="18" charset="0"/>
                      </a:rPr>
                      <m:t>𝑛</m:t>
                    </m:r>
                    <m:r>
                      <a:rPr lang="es-ES" b="0" i="1" dirty="0" smtClean="0">
                        <a:latin typeface="Cambria Math" panose="02040503050406030204" pitchFamily="18" charset="0"/>
                      </a:rPr>
                      <m:t>,</m:t>
                    </m:r>
                    <m:r>
                      <a:rPr lang="es-ES" i="1" dirty="0">
                        <a:latin typeface="Cambria Math" panose="02040503050406030204" pitchFamily="18" charset="0"/>
                      </a:rPr>
                      <m:t>𝑝</m:t>
                    </m:r>
                    <m:r>
                      <a:rPr lang="es-ES" i="1" dirty="0">
                        <a:latin typeface="Cambria Math" panose="02040503050406030204" pitchFamily="18" charset="0"/>
                      </a:rPr>
                      <m:t>)</m:t>
                    </m:r>
                  </m:oMath>
                </a14:m>
                <a:endParaRPr lang="es-ES" i="1" dirty="0"/>
              </a:p>
              <a:p>
                <a:pPr lvl="1">
                  <a:defRPr i="1"/>
                </a:pPr>
                <a:r>
                  <a:rPr lang="es-ES" dirty="0"/>
                  <a:t>Número de éxitos (elementos que cumplen una condición) en n ensayos no independientes de Bernoulli, que consisten en extraer sin reposición n elementos de un conjunto inicial de </a:t>
                </a:r>
                <a14:m>
                  <m:oMath xmlns:m="http://schemas.openxmlformats.org/officeDocument/2006/math">
                    <m:r>
                      <a:rPr lang="es-ES" i="1" dirty="0">
                        <a:latin typeface="Cambria Math" panose="02040503050406030204" pitchFamily="18" charset="0"/>
                      </a:rPr>
                      <m:t>𝑁</m:t>
                    </m:r>
                  </m:oMath>
                </a14:m>
                <a:r>
                  <a:rPr lang="es-ES" dirty="0"/>
                  <a:t> elementos</a:t>
                </a:r>
                <a:endParaRPr lang="es-ES" i="1" dirty="0"/>
              </a:p>
              <a:p>
                <a:r>
                  <a:rPr lang="es-ES" dirty="0" err="1"/>
                  <a:t>Parámetros</a:t>
                </a:r>
                <a:endParaRPr lang="es-ES" dirty="0"/>
              </a:p>
              <a:p>
                <a:pPr lvl="1"/>
                <a14:m>
                  <m:oMath xmlns:m="http://schemas.openxmlformats.org/officeDocument/2006/math">
                    <m:r>
                      <a:rPr lang="es-ES" i="1" dirty="0" smtClean="0">
                        <a:latin typeface="Cambria Math" panose="02040503050406030204" pitchFamily="18" charset="0"/>
                      </a:rPr>
                      <m:t>𝑁</m:t>
                    </m:r>
                  </m:oMath>
                </a14:m>
                <a:r>
                  <a:rPr lang="es-ES" i="1" dirty="0"/>
                  <a:t> </a:t>
                </a:r>
                <a:r>
                  <a:rPr lang="es-ES" dirty="0"/>
                  <a:t>= número inicial de elementos en el conjunto</a:t>
                </a:r>
                <a:endParaRPr lang="es-ES" i="1" dirty="0"/>
              </a:p>
              <a:p>
                <a:pPr lvl="1"/>
                <a:r>
                  <a:rPr lang="es-ES" i="1" dirty="0"/>
                  <a:t>n </a:t>
                </a:r>
                <a:r>
                  <a:rPr lang="es-ES" dirty="0"/>
                  <a:t>= número de ensayos (extracciones) = </a:t>
                </a:r>
                <a14:m>
                  <m:oMath xmlns:m="http://schemas.openxmlformats.org/officeDocument/2006/math">
                    <m:r>
                      <a:rPr lang="es-ES" i="1" dirty="0" smtClean="0">
                        <a:latin typeface="Cambria Math" panose="02040503050406030204" pitchFamily="18" charset="0"/>
                      </a:rPr>
                      <m:t>1</m:t>
                    </m:r>
                    <m:r>
                      <a:rPr lang="es-ES" i="1" dirty="0" smtClean="0">
                        <a:latin typeface="Cambria Math" panose="02040503050406030204" pitchFamily="18" charset="0"/>
                      </a:rPr>
                      <m:t>, </m:t>
                    </m:r>
                    <m:r>
                      <a:rPr lang="es-ES" i="1" dirty="0" smtClean="0">
                        <a:latin typeface="Cambria Math" panose="02040503050406030204" pitchFamily="18" charset="0"/>
                      </a:rPr>
                      <m:t>2</m:t>
                    </m:r>
                    <m:r>
                      <a:rPr lang="es-ES" i="1" dirty="0" smtClean="0">
                        <a:latin typeface="Cambria Math" panose="02040503050406030204" pitchFamily="18" charset="0"/>
                      </a:rPr>
                      <m:t>, </m:t>
                    </m:r>
                    <m:r>
                      <a:rPr lang="es-ES" i="1" dirty="0" smtClean="0">
                        <a:latin typeface="Cambria Math" panose="02040503050406030204" pitchFamily="18" charset="0"/>
                      </a:rPr>
                      <m:t>3</m:t>
                    </m:r>
                    <m:r>
                      <a:rPr lang="es-ES" i="1" dirty="0" smtClean="0">
                        <a:latin typeface="Cambria Math" panose="02040503050406030204" pitchFamily="18" charset="0"/>
                      </a:rPr>
                      <m:t>,…, </m:t>
                    </m:r>
                    <m:r>
                      <a:rPr lang="es-ES" i="1" dirty="0" smtClean="0">
                        <a:latin typeface="Cambria Math" panose="02040503050406030204" pitchFamily="18" charset="0"/>
                      </a:rPr>
                      <m:t>𝑁</m:t>
                    </m:r>
                  </m:oMath>
                </a14:m>
                <a:endParaRPr lang="es-ES" i="1" dirty="0"/>
              </a:p>
              <a:p>
                <a:pPr lvl="1"/>
                <a:r>
                  <a:rPr lang="es-ES" i="1" dirty="0"/>
                  <a:t>p</a:t>
                </a:r>
                <a:r>
                  <a:rPr lang="es-ES" dirty="0"/>
                  <a:t> = probabilidad de éxito en el primer ensayo = proporción de elementos que cumplen la condición en el conjunto inicial</a:t>
                </a:r>
              </a:p>
              <a:p>
                <a:r>
                  <a:rPr lang="es-ES" dirty="0"/>
                  <a:t>Rango de </a:t>
                </a:r>
                <a:r>
                  <a:rPr lang="es-ES" dirty="0" err="1"/>
                  <a:t>valores</a:t>
                </a:r>
                <a:endParaRPr lang="es-ES" dirty="0"/>
              </a:p>
              <a:p>
                <a:pPr lvl="1"/>
                <a14:m>
                  <m:oMath xmlns:m="http://schemas.openxmlformats.org/officeDocument/2006/math">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 </m:t>
                    </m:r>
                    <m:r>
                      <a:rPr lang="es-ES" b="0" i="1" smtClean="0">
                        <a:latin typeface="Cambria Math" panose="02040503050406030204" pitchFamily="18" charset="0"/>
                      </a:rPr>
                      <m:t>1</m:t>
                    </m:r>
                    <m:r>
                      <a:rPr lang="es-ES" b="0" i="1" smtClean="0">
                        <a:latin typeface="Cambria Math" panose="02040503050406030204" pitchFamily="18" charset="0"/>
                      </a:rPr>
                      <m:t>, </m:t>
                    </m:r>
                    <m:r>
                      <a:rPr lang="es-ES" b="0" i="1" smtClean="0">
                        <a:latin typeface="Cambria Math" panose="02040503050406030204" pitchFamily="18" charset="0"/>
                      </a:rPr>
                      <m:t>2</m:t>
                    </m:r>
                    <m:r>
                      <a:rPr lang="es-ES" b="0" i="1" smtClean="0">
                        <a:latin typeface="Cambria Math" panose="02040503050406030204" pitchFamily="18" charset="0"/>
                      </a:rPr>
                      <m:t>, ..,</m:t>
                    </m:r>
                    <m:r>
                      <a:rPr lang="es-ES" b="0" i="1" smtClean="0">
                        <a:latin typeface="Cambria Math" panose="02040503050406030204" pitchFamily="18" charset="0"/>
                      </a:rPr>
                      <m:t>𝑛</m:t>
                    </m:r>
                  </m:oMath>
                </a14:m>
                <a:endParaRPr lang="es-ES" i="1" dirty="0"/>
              </a:p>
              <a:p>
                <a:r>
                  <a:rPr lang="es-ES" dirty="0"/>
                  <a:t>Función de masa de </a:t>
                </a:r>
                <a:r>
                  <a:rPr lang="es-ES" dirty="0" err="1"/>
                  <a:t>probabilidad</a:t>
                </a:r>
                <a:r>
                  <a:rPr lang="es-ES" dirty="0"/>
                  <a:t> (</a:t>
                </a:r>
                <a:r>
                  <a:rPr lang="es-ES" dirty="0" err="1"/>
                  <a:t>pmf</a:t>
                </a:r>
                <a:r>
                  <a:rPr lang="es-ES" dirty="0"/>
                  <a:t>)</a:t>
                </a:r>
              </a:p>
              <a:p>
                <a:pPr lvl="1">
                  <a:tabLst>
                    <a:tab pos="2784475" algn="l"/>
                  </a:tabLst>
                </a:pPr>
                <a14:m>
                  <m:oMath xmlns:m="http://schemas.openxmlformats.org/officeDocument/2006/math">
                    <m:r>
                      <a:rPr lang="es-ES"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𝑥</m:t>
                        </m:r>
                      </m:e>
                    </m:d>
                    <m:r>
                      <a:rPr lang="ar-AE" i="1">
                        <a:latin typeface="Cambria Math" panose="02040503050406030204" pitchFamily="18" charset="0"/>
                      </a:rPr>
                      <m:t>=</m:t>
                    </m:r>
                    <m:f>
                      <m:fPr>
                        <m:ctrlPr>
                          <a:rPr lang="ar-AE" i="1" smtClean="0">
                            <a:latin typeface="Cambria Math" panose="02040503050406030204" pitchFamily="18" charset="0"/>
                          </a:rPr>
                        </m:ctrlPr>
                      </m:fPr>
                      <m:num>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b="0" i="1" smtClean="0">
                                      <a:latin typeface="Cambria Math" panose="02040503050406030204" pitchFamily="18" charset="0"/>
                                    </a:rPr>
                                    <m:t>𝑁</m:t>
                                  </m:r>
                                  <m:r>
                                    <a:rPr lang="es-ES" b="0" i="1" smtClean="0">
                                      <a:latin typeface="Cambria Math" panose="02040503050406030204" pitchFamily="18" charset="0"/>
                                    </a:rPr>
                                    <m:t>𝑝</m:t>
                                  </m:r>
                                </m:e>
                              </m:mr>
                              <m:mr>
                                <m:e>
                                  <m:r>
                                    <a:rPr lang="ar-AE" i="1">
                                      <a:latin typeface="Cambria Math" panose="02040503050406030204" pitchFamily="18" charset="0"/>
                                    </a:rPr>
                                    <m:t>𝑥</m:t>
                                  </m:r>
                                </m:e>
                              </m:mr>
                            </m:m>
                          </m:e>
                        </m:d>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b="0" i="1" smtClean="0">
                                      <a:latin typeface="Cambria Math" panose="02040503050406030204" pitchFamily="18" charset="0"/>
                                    </a:rPr>
                                    <m:t>𝑁</m:t>
                                  </m:r>
                                  <m:r>
                                    <a:rPr lang="es-ES" b="0" i="1" smtClean="0">
                                      <a:latin typeface="Cambria Math" panose="02040503050406030204" pitchFamily="18" charset="0"/>
                                    </a:rPr>
                                    <m:t>(</m:t>
                                  </m:r>
                                  <m:r>
                                    <m:rPr>
                                      <m:brk m:alnAt="7"/>
                                    </m:rPr>
                                    <a:rPr lang="es-ES" b="0" i="1" smtClean="0">
                                      <a:latin typeface="Cambria Math" panose="02040503050406030204" pitchFamily="18" charset="0"/>
                                    </a:rPr>
                                    <m:t>1</m:t>
                                  </m:r>
                                  <m:r>
                                    <m:rPr>
                                      <m:brk m:alnAt="7"/>
                                    </m:rPr>
                                    <a:rPr lang="es-ES" b="0" i="1" smtClean="0">
                                      <a:latin typeface="Cambria Math" panose="02040503050406030204" pitchFamily="18" charset="0"/>
                                    </a:rPr>
                                    <m:t>−</m:t>
                                  </m:r>
                                  <m:r>
                                    <a:rPr lang="es-ES" b="0" i="1" smtClean="0">
                                      <a:latin typeface="Cambria Math" panose="02040503050406030204" pitchFamily="18" charset="0"/>
                                    </a:rPr>
                                    <m:t>𝑝</m:t>
                                  </m:r>
                                  <m:r>
                                    <a:rPr lang="es-ES" b="0" i="1" smtClean="0">
                                      <a:latin typeface="Cambria Math" panose="02040503050406030204" pitchFamily="18" charset="0"/>
                                    </a:rPr>
                                    <m:t>)</m:t>
                                  </m:r>
                                </m:e>
                              </m:mr>
                              <m:mr>
                                <m:e>
                                  <m:r>
                                    <a:rPr lang="es-ES" b="0" i="1" smtClean="0">
                                      <a:latin typeface="Cambria Math" panose="02040503050406030204" pitchFamily="18" charset="0"/>
                                    </a:rPr>
                                    <m:t>𝑛</m:t>
                                  </m:r>
                                  <m:r>
                                    <a:rPr lang="es-ES" b="0" i="1" smtClean="0">
                                      <a:latin typeface="Cambria Math" panose="02040503050406030204" pitchFamily="18" charset="0"/>
                                    </a:rPr>
                                    <m:t>−</m:t>
                                  </m:r>
                                  <m:r>
                                    <a:rPr lang="ar-AE" i="1">
                                      <a:latin typeface="Cambria Math" panose="02040503050406030204" pitchFamily="18" charset="0"/>
                                    </a:rPr>
                                    <m:t>𝑥</m:t>
                                  </m:r>
                                </m:e>
                              </m:mr>
                            </m:m>
                          </m:e>
                        </m:d>
                      </m:num>
                      <m:den>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b="0" i="1" smtClean="0">
                                      <a:latin typeface="Cambria Math" panose="02040503050406030204" pitchFamily="18" charset="0"/>
                                    </a:rPr>
                                    <m:t>𝑁</m:t>
                                  </m:r>
                                </m:e>
                              </m:mr>
                              <m:mr>
                                <m:e>
                                  <m:r>
                                    <a:rPr lang="es-ES" b="0" i="1" smtClean="0">
                                      <a:latin typeface="Cambria Math" panose="02040503050406030204" pitchFamily="18" charset="0"/>
                                    </a:rPr>
                                    <m:t>𝑛</m:t>
                                  </m:r>
                                </m:e>
                              </m:mr>
                            </m:m>
                          </m:e>
                        </m:d>
                      </m:den>
                    </m:f>
                  </m:oMath>
                </a14:m>
                <a:r>
                  <a:rPr lang="ar-AE" dirty="0"/>
                  <a:t>	</a:t>
                </a:r>
              </a:p>
              <a:p>
                <a:pPr>
                  <a:tabLst>
                    <a:tab pos="2784475" algn="l"/>
                  </a:tabLst>
                </a:pPr>
                <a:r>
                  <a:rPr lang="es-ES" dirty="0" err="1"/>
                  <a:t>Función</a:t>
                </a:r>
                <a:r>
                  <a:rPr lang="es-ES" dirty="0"/>
                  <a:t> de </a:t>
                </a:r>
                <a:r>
                  <a:rPr lang="es-ES" dirty="0" err="1"/>
                  <a:t>distribución</a:t>
                </a:r>
                <a:r>
                  <a:rPr lang="es-ES" dirty="0"/>
                  <a:t> acumulada (</a:t>
                </a:r>
                <a:r>
                  <a:rPr lang="es-ES" dirty="0" err="1"/>
                  <a:t>cdf</a:t>
                </a:r>
                <a:r>
                  <a:rPr lang="es-ES" dirty="0"/>
                  <a:t>)</a:t>
                </a:r>
              </a:p>
              <a:p>
                <a:pPr lvl="1">
                  <a:tabLst>
                    <a:tab pos="2784475" algn="l"/>
                  </a:tabLst>
                </a:pPr>
                <a14:m>
                  <m:oMath xmlns:m="http://schemas.openxmlformats.org/officeDocument/2006/math">
                    <m:r>
                      <a:rPr lang="es-ES" i="1">
                        <a:latin typeface="Cambria Math" panose="02040503050406030204" pitchFamily="18" charset="0"/>
                      </a:rPr>
                      <m:t>𝐹</m:t>
                    </m:r>
                    <m:d>
                      <m:dPr>
                        <m:ctrlPr>
                          <a:rPr lang="ar-AE" i="1">
                            <a:latin typeface="Cambria Math" panose="02040503050406030204" pitchFamily="18" charset="0"/>
                          </a:rPr>
                        </m:ctrlPr>
                      </m:dPr>
                      <m:e>
                        <m:r>
                          <a:rPr lang="ar-AE" i="1">
                            <a:latin typeface="Cambria Math" panose="02040503050406030204" pitchFamily="18" charset="0"/>
                          </a:rPr>
                          <m:t>𝑥</m:t>
                        </m:r>
                      </m:e>
                    </m:d>
                    <m:r>
                      <a:rPr lang="ar-AE" i="1">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𝑋</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𝑥</m:t>
                        </m:r>
                      </m:e>
                    </m:d>
                    <m:r>
                      <a:rPr lang="ar-AE" i="1">
                        <a:latin typeface="Cambria Math" panose="02040503050406030204" pitchFamily="18" charset="0"/>
                        <a:ea typeface="Cambria Math" panose="02040503050406030204" pitchFamily="18" charset="0"/>
                      </a:rPr>
                      <m:t>=</m:t>
                    </m:r>
                    <m:nary>
                      <m:naryPr>
                        <m:chr m:val="∑"/>
                        <m:ctrlPr>
                          <a:rPr lang="ar-AE" i="1">
                            <a:latin typeface="Cambria Math" panose="02040503050406030204" pitchFamily="18" charset="0"/>
                            <a:ea typeface="Cambria Math" panose="02040503050406030204" pitchFamily="18" charset="0"/>
                          </a:rPr>
                        </m:ctrlPr>
                      </m:naryPr>
                      <m:sub>
                        <m:r>
                          <m:rPr>
                            <m:brk m:alnAt="23"/>
                          </m:rPr>
                          <a:rPr lang="ar-AE" i="1">
                            <a:latin typeface="Cambria Math" panose="02040503050406030204" pitchFamily="18" charset="0"/>
                            <a:ea typeface="Cambria Math" panose="02040503050406030204" pitchFamily="18" charset="0"/>
                          </a:rPr>
                          <m:t>𝑖</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0</m:t>
                        </m:r>
                      </m:sub>
                      <m:sup>
                        <m:r>
                          <a:rPr lang="ar-AE" i="1">
                            <a:latin typeface="Cambria Math" panose="02040503050406030204" pitchFamily="18" charset="0"/>
                            <a:ea typeface="Cambria Math" panose="02040503050406030204" pitchFamily="18" charset="0"/>
                          </a:rPr>
                          <m:t>𝑥</m:t>
                        </m:r>
                      </m:sup>
                      <m:e>
                        <m:f>
                          <m:fPr>
                            <m:ctrlPr>
                              <a:rPr lang="ar-AE" i="1">
                                <a:latin typeface="Cambria Math" panose="02040503050406030204" pitchFamily="18" charset="0"/>
                              </a:rPr>
                            </m:ctrlPr>
                          </m:fPr>
                          <m:num>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𝑁</m:t>
                                      </m:r>
                                      <m:r>
                                        <a:rPr lang="es-ES" i="1">
                                          <a:latin typeface="Cambria Math" panose="02040503050406030204" pitchFamily="18" charset="0"/>
                                        </a:rPr>
                                        <m:t>𝑝</m:t>
                                      </m:r>
                                    </m:e>
                                  </m:mr>
                                  <m:mr>
                                    <m:e>
                                      <m:r>
                                        <a:rPr lang="es-ES" b="0" i="1" smtClean="0">
                                          <a:latin typeface="Cambria Math" panose="02040503050406030204" pitchFamily="18" charset="0"/>
                                        </a:rPr>
                                        <m:t>𝑖</m:t>
                                      </m:r>
                                    </m:e>
                                  </m:mr>
                                </m:m>
                              </m:e>
                            </m:d>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𝑁</m:t>
                                      </m:r>
                                      <m:r>
                                        <a:rPr lang="es-ES" i="1">
                                          <a:latin typeface="Cambria Math" panose="02040503050406030204" pitchFamily="18" charset="0"/>
                                        </a:rPr>
                                        <m:t>(</m:t>
                                      </m:r>
                                      <m:r>
                                        <m:rPr>
                                          <m:brk m:alnAt="7"/>
                                        </m:rPr>
                                        <a:rPr lang="es-ES" i="1">
                                          <a:latin typeface="Cambria Math" panose="02040503050406030204" pitchFamily="18" charset="0"/>
                                        </a:rPr>
                                        <m:t>1</m:t>
                                      </m:r>
                                      <m:r>
                                        <m:rPr>
                                          <m:brk m:alnAt="7"/>
                                        </m:rPr>
                                        <a:rPr lang="es-ES" i="1">
                                          <a:latin typeface="Cambria Math" panose="02040503050406030204" pitchFamily="18" charset="0"/>
                                        </a:rPr>
                                        <m:t>−</m:t>
                                      </m:r>
                                      <m:r>
                                        <a:rPr lang="es-ES" i="1">
                                          <a:latin typeface="Cambria Math" panose="02040503050406030204" pitchFamily="18" charset="0"/>
                                        </a:rPr>
                                        <m:t>𝑝</m:t>
                                      </m:r>
                                      <m:r>
                                        <a:rPr lang="es-ES" i="1">
                                          <a:latin typeface="Cambria Math" panose="02040503050406030204" pitchFamily="18" charset="0"/>
                                        </a:rPr>
                                        <m:t>)</m:t>
                                      </m:r>
                                    </m:e>
                                  </m:mr>
                                  <m:mr>
                                    <m:e>
                                      <m:r>
                                        <a:rPr lang="es-ES" i="1">
                                          <a:latin typeface="Cambria Math" panose="02040503050406030204" pitchFamily="18" charset="0"/>
                                        </a:rPr>
                                        <m:t>𝑛</m:t>
                                      </m:r>
                                      <m:r>
                                        <a:rPr lang="es-ES" i="1">
                                          <a:latin typeface="Cambria Math" panose="02040503050406030204" pitchFamily="18" charset="0"/>
                                        </a:rPr>
                                        <m:t>−</m:t>
                                      </m:r>
                                      <m:r>
                                        <a:rPr lang="es-ES" b="0" i="1" smtClean="0">
                                          <a:latin typeface="Cambria Math" panose="02040503050406030204" pitchFamily="18" charset="0"/>
                                        </a:rPr>
                                        <m:t>𝑖</m:t>
                                      </m:r>
                                    </m:e>
                                  </m:mr>
                                </m:m>
                              </m:e>
                            </m:d>
                          </m:num>
                          <m:den>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𝑁</m:t>
                                      </m:r>
                                    </m:e>
                                  </m:mr>
                                  <m:mr>
                                    <m:e>
                                      <m:r>
                                        <a:rPr lang="es-ES" i="1">
                                          <a:latin typeface="Cambria Math" panose="02040503050406030204" pitchFamily="18" charset="0"/>
                                        </a:rPr>
                                        <m:t>𝑛</m:t>
                                      </m:r>
                                    </m:e>
                                  </m:mr>
                                </m:m>
                              </m:e>
                            </m:d>
                          </m:den>
                        </m:f>
                      </m:e>
                    </m:nary>
                  </m:oMath>
                </a14:m>
                <a:endParaRPr lang="ar-AE" dirty="0"/>
              </a:p>
              <a:p>
                <a:pPr>
                  <a:tabLst>
                    <a:tab pos="2784475" algn="l"/>
                  </a:tabLst>
                </a:pPr>
                <a:r>
                  <a:rPr lang="es-ES" dirty="0"/>
                  <a:t>Esperanza</a:t>
                </a:r>
              </a:p>
              <a:p>
                <a:pPr lvl="1">
                  <a:tabLst>
                    <a:tab pos="2784475" algn="l"/>
                  </a:tabLst>
                </a:pPr>
                <a14:m>
                  <m:oMath xmlns:m="http://schemas.openxmlformats.org/officeDocument/2006/math">
                    <m:r>
                      <a:rPr lang="es-ES" i="1">
                        <a:latin typeface="Cambria Math" panose="02040503050406030204" pitchFamily="18" charset="0"/>
                      </a:rPr>
                      <m:t>𝐸</m:t>
                    </m:r>
                    <m:d>
                      <m:dPr>
                        <m:ctrlPr>
                          <a:rPr lang="ar-AE" i="1">
                            <a:latin typeface="Cambria Math" panose="02040503050406030204" pitchFamily="18" charset="0"/>
                          </a:rPr>
                        </m:ctrlPr>
                      </m:dPr>
                      <m:e>
                        <m:r>
                          <a:rPr lang="ar-AE" i="1">
                            <a:latin typeface="Cambria Math" panose="02040503050406030204" pitchFamily="18" charset="0"/>
                          </a:rPr>
                          <m:t>𝑋</m:t>
                        </m:r>
                      </m:e>
                    </m:d>
                    <m:r>
                      <a:rPr lang="ar-AE" i="1">
                        <a:latin typeface="Cambria Math" panose="02040503050406030204" pitchFamily="18" charset="0"/>
                      </a:rPr>
                      <m:t>=</m:t>
                    </m:r>
                    <m:r>
                      <a:rPr lang="ar-AE" i="1">
                        <a:latin typeface="Cambria Math" panose="02040503050406030204" pitchFamily="18" charset="0"/>
                      </a:rPr>
                      <m:t>𝑛𝑝</m:t>
                    </m:r>
                  </m:oMath>
                </a14:m>
                <a:r>
                  <a:rPr lang="ar-AE" dirty="0"/>
                  <a:t> </a:t>
                </a:r>
              </a:p>
              <a:p>
                <a:pPr>
                  <a:tabLst>
                    <a:tab pos="2784475" algn="l"/>
                  </a:tabLst>
                </a:pPr>
                <a:r>
                  <a:rPr lang="es-ES" dirty="0" err="1"/>
                  <a:t>Varianza</a:t>
                </a:r>
                <a:endParaRPr lang="es-ES" dirty="0"/>
              </a:p>
              <a:p>
                <a:pPr lvl="1">
                  <a:tabLst>
                    <a:tab pos="2784475" algn="l"/>
                  </a:tabLst>
                </a:pPr>
                <a14:m>
                  <m:oMath xmlns:m="http://schemas.openxmlformats.org/officeDocument/2006/math">
                    <m:r>
                      <a:rPr lang="es-ES" i="1">
                        <a:latin typeface="Cambria Math" panose="02040503050406030204" pitchFamily="18" charset="0"/>
                      </a:rPr>
                      <m:t>𝑉𝑎𝑟</m:t>
                    </m:r>
                    <m:d>
                      <m:dPr>
                        <m:ctrlPr>
                          <a:rPr lang="ar-AE" i="1">
                            <a:latin typeface="Cambria Math" panose="02040503050406030204" pitchFamily="18" charset="0"/>
                          </a:rPr>
                        </m:ctrlPr>
                      </m:dPr>
                      <m:e>
                        <m:r>
                          <a:rPr lang="ar-AE" i="1">
                            <a:latin typeface="Cambria Math" panose="02040503050406030204" pitchFamily="18" charset="0"/>
                          </a:rPr>
                          <m:t>𝑋</m:t>
                        </m:r>
                      </m:e>
                    </m:d>
                    <m:r>
                      <a:rPr lang="ar-AE" i="1">
                        <a:latin typeface="Cambria Math" panose="02040503050406030204" pitchFamily="18" charset="0"/>
                      </a:rPr>
                      <m:t>=</m:t>
                    </m:r>
                    <m:r>
                      <a:rPr lang="ar-AE" i="1">
                        <a:latin typeface="Cambria Math" panose="02040503050406030204" pitchFamily="18" charset="0"/>
                      </a:rPr>
                      <m:t>𝑛𝑝</m:t>
                    </m:r>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𝑝</m:t>
                    </m:r>
                    <m:r>
                      <a:rPr lang="ar-AE" i="1">
                        <a:latin typeface="Cambria Math" panose="02040503050406030204" pitchFamily="18" charset="0"/>
                      </a:rPr>
                      <m:t>)</m:t>
                    </m:r>
                    <m:f>
                      <m:fPr>
                        <m:ctrlPr>
                          <a:rPr lang="ar-AE" i="1" smtClean="0">
                            <a:latin typeface="Cambria Math" panose="02040503050406030204" pitchFamily="18" charset="0"/>
                          </a:rPr>
                        </m:ctrlPr>
                      </m:fPr>
                      <m:num>
                        <m:r>
                          <a:rPr lang="es-ES" b="0" i="1" smtClean="0">
                            <a:latin typeface="Cambria Math" panose="02040503050406030204" pitchFamily="18" charset="0"/>
                          </a:rPr>
                          <m:t>(</m:t>
                        </m:r>
                        <m:r>
                          <a:rPr lang="es-ES" b="0" i="1" smtClean="0">
                            <a:latin typeface="Cambria Math" panose="02040503050406030204" pitchFamily="18" charset="0"/>
                          </a:rPr>
                          <m:t>𝑁</m:t>
                        </m:r>
                        <m:r>
                          <a:rPr lang="es-ES" b="0" i="1" smtClean="0">
                            <a:latin typeface="Cambria Math" panose="02040503050406030204" pitchFamily="18" charset="0"/>
                          </a:rPr>
                          <m:t>−</m:t>
                        </m:r>
                        <m:r>
                          <a:rPr lang="es-ES" b="0" i="1" smtClean="0">
                            <a:latin typeface="Cambria Math" panose="02040503050406030204" pitchFamily="18" charset="0"/>
                          </a:rPr>
                          <m:t>𝑛</m:t>
                        </m:r>
                        <m:r>
                          <a:rPr lang="es-ES" b="0" i="1" smtClean="0">
                            <a:latin typeface="Cambria Math" panose="02040503050406030204" pitchFamily="18" charset="0"/>
                          </a:rPr>
                          <m:t>)</m:t>
                        </m:r>
                      </m:num>
                      <m:den>
                        <m:r>
                          <a:rPr lang="es-ES" b="0" i="1" smtClean="0">
                            <a:latin typeface="Cambria Math" panose="02040503050406030204" pitchFamily="18" charset="0"/>
                          </a:rPr>
                          <m:t>(</m:t>
                        </m:r>
                        <m:r>
                          <a:rPr lang="es-ES" b="0" i="1" smtClean="0">
                            <a:latin typeface="Cambria Math" panose="02040503050406030204" pitchFamily="18" charset="0"/>
                          </a:rPr>
                          <m:t>𝑁</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m:t>
                        </m:r>
                      </m:den>
                    </m:f>
                  </m:oMath>
                </a14:m>
                <a:endParaRPr lang="ar-AE" dirty="0"/>
              </a:p>
              <a:p>
                <a:pPr>
                  <a:tabLst>
                    <a:tab pos="2784475" algn="l"/>
                  </a:tabLst>
                </a:pPr>
                <a:r>
                  <a:rPr lang="es-ES" dirty="0"/>
                  <a:t>Relación con </a:t>
                </a:r>
                <a:r>
                  <a:rPr lang="es-ES" dirty="0" err="1"/>
                  <a:t>otras</a:t>
                </a:r>
                <a:r>
                  <a:rPr lang="es-ES" dirty="0"/>
                  <a:t> </a:t>
                </a:r>
                <a:r>
                  <a:rPr lang="es-ES" dirty="0" err="1"/>
                  <a:t>distribuciones</a:t>
                </a:r>
                <a:endParaRPr lang="es-ES" dirty="0"/>
              </a:p>
              <a:p>
                <a:pPr lvl="1">
                  <a:tabLst>
                    <a:tab pos="2784475" algn="l"/>
                  </a:tabLst>
                </a:pPr>
                <a14:m>
                  <m:oMath xmlns:m="http://schemas.openxmlformats.org/officeDocument/2006/math">
                    <m:r>
                      <a:rPr lang="es-ES" b="0" i="1" dirty="0" smtClean="0">
                        <a:latin typeface="Cambria Math" panose="02040503050406030204" pitchFamily="18" charset="0"/>
                      </a:rPr>
                      <m:t>𝐻</m:t>
                    </m:r>
                    <m:r>
                      <a:rPr lang="es-ES" i="1" dirty="0">
                        <a:latin typeface="Cambria Math" panose="02040503050406030204" pitchFamily="18" charset="0"/>
                      </a:rPr>
                      <m:t>(</m:t>
                    </m:r>
                    <m:r>
                      <a:rPr lang="es-ES" b="0" i="1" dirty="0" smtClean="0">
                        <a:latin typeface="Cambria Math" panose="02040503050406030204" pitchFamily="18" charset="0"/>
                      </a:rPr>
                      <m:t>𝑁</m:t>
                    </m:r>
                    <m:r>
                      <a:rPr lang="es-ES" b="0" i="1" dirty="0" smtClean="0">
                        <a:latin typeface="Cambria Math" panose="02040503050406030204" pitchFamily="18" charset="0"/>
                      </a:rPr>
                      <m:t>,</m:t>
                    </m:r>
                    <m:r>
                      <a:rPr lang="es-ES" b="0" i="1" dirty="0" smtClean="0">
                        <a:latin typeface="Cambria Math" panose="02040503050406030204" pitchFamily="18" charset="0"/>
                      </a:rPr>
                      <m:t>𝑛</m:t>
                    </m:r>
                    <m:r>
                      <a:rPr lang="es-ES" b="0" i="1" dirty="0" smtClean="0">
                        <a:latin typeface="Cambria Math" panose="02040503050406030204" pitchFamily="18" charset="0"/>
                      </a:rPr>
                      <m:t>,</m:t>
                    </m:r>
                    <m:r>
                      <a:rPr lang="es-ES" i="1" dirty="0">
                        <a:latin typeface="Cambria Math" panose="02040503050406030204" pitchFamily="18" charset="0"/>
                      </a:rPr>
                      <m:t>𝑝</m:t>
                    </m:r>
                    <m:r>
                      <a:rPr lang="es-ES" i="1" dirty="0">
                        <a:latin typeface="Cambria Math" panose="02040503050406030204" pitchFamily="18" charset="0"/>
                      </a:rPr>
                      <m:t>)</m:t>
                    </m:r>
                  </m:oMath>
                </a14:m>
                <a:r>
                  <a:rPr lang="es-ES" dirty="0"/>
                  <a:t> se aproxima a </a:t>
                </a:r>
                <a14:m>
                  <m:oMath xmlns:m="http://schemas.openxmlformats.org/officeDocument/2006/math">
                    <m:r>
                      <a:rPr lang="es-ES" i="1" dirty="0">
                        <a:latin typeface="Cambria Math" panose="02040503050406030204" pitchFamily="18" charset="0"/>
                      </a:rPr>
                      <m:t>𝐵𝑖𝑛𝑜𝑚𝑖𝑎𝑙</m:t>
                    </m:r>
                    <m:r>
                      <a:rPr lang="es-ES" i="1" dirty="0">
                        <a:latin typeface="Cambria Math" panose="02040503050406030204" pitchFamily="18" charset="0"/>
                      </a:rPr>
                      <m:t> (</m:t>
                    </m:r>
                    <m:r>
                      <a:rPr lang="es-ES" i="1" dirty="0">
                        <a:latin typeface="Cambria Math" panose="02040503050406030204" pitchFamily="18" charset="0"/>
                      </a:rPr>
                      <m:t>𝑛</m:t>
                    </m:r>
                    <m:r>
                      <a:rPr lang="es-ES" i="1" dirty="0">
                        <a:latin typeface="Cambria Math" panose="02040503050406030204" pitchFamily="18" charset="0"/>
                      </a:rPr>
                      <m:t>, </m:t>
                    </m:r>
                    <m:r>
                      <a:rPr lang="es-ES" i="1" dirty="0">
                        <a:latin typeface="Cambria Math" panose="02040503050406030204" pitchFamily="18" charset="0"/>
                      </a:rPr>
                      <m:t>𝑝</m:t>
                    </m:r>
                    <m:r>
                      <a:rPr lang="es-ES" i="1" dirty="0">
                        <a:latin typeface="Cambria Math" panose="02040503050406030204" pitchFamily="18" charset="0"/>
                      </a:rPr>
                      <m:t>)</m:t>
                    </m:r>
                  </m:oMath>
                </a14:m>
                <a:r>
                  <a:rPr lang="es-ES" dirty="0"/>
                  <a:t> cuando </a:t>
                </a:r>
                <a14:m>
                  <m:oMath xmlns:m="http://schemas.openxmlformats.org/officeDocument/2006/math">
                    <m:r>
                      <a:rPr lang="es-ES" i="1" dirty="0" smtClean="0">
                        <a:latin typeface="Cambria Math" panose="02040503050406030204" pitchFamily="18" charset="0"/>
                      </a:rPr>
                      <m:t>𝑁</m:t>
                    </m:r>
                    <m:r>
                      <a:rPr lang="es-ES" i="1" dirty="0" smtClean="0">
                        <a:latin typeface="Cambria Math" panose="02040503050406030204" pitchFamily="18" charset="0"/>
                      </a:rPr>
                      <m:t>&gt;&gt;</m:t>
                    </m:r>
                    <m:r>
                      <a:rPr lang="es-ES" i="1" dirty="0" smtClean="0">
                        <a:latin typeface="Cambria Math" panose="02040503050406030204" pitchFamily="18" charset="0"/>
                      </a:rPr>
                      <m:t>𝑛</m:t>
                    </m:r>
                  </m:oMath>
                </a14:m>
                <a:r>
                  <a:rPr lang="es-ES" dirty="0"/>
                  <a:t>.  Se puede aceptar cuando </a:t>
                </a:r>
                <a14:m>
                  <m:oMath xmlns:m="http://schemas.openxmlformats.org/officeDocument/2006/math">
                    <m:r>
                      <a:rPr lang="es-ES" i="1" dirty="0" smtClean="0">
                        <a:latin typeface="Cambria Math" panose="02040503050406030204" pitchFamily="18" charset="0"/>
                      </a:rPr>
                      <m:t>𝑁</m:t>
                    </m:r>
                    <m:r>
                      <a:rPr lang="es-ES" i="1" dirty="0" smtClean="0">
                        <a:latin typeface="Cambria Math" panose="02040503050406030204" pitchFamily="18" charset="0"/>
                      </a:rPr>
                      <m:t>&gt;</m:t>
                    </m:r>
                    <m:r>
                      <a:rPr lang="es-ES" i="1" dirty="0" smtClean="0">
                        <a:latin typeface="Cambria Math" panose="02040503050406030204" pitchFamily="18" charset="0"/>
                      </a:rPr>
                      <m:t>10</m:t>
                    </m:r>
                    <m:r>
                      <a:rPr lang="es-ES" i="1" dirty="0" smtClean="0">
                        <a:latin typeface="Cambria Math" panose="02040503050406030204" pitchFamily="18" charset="0"/>
                      </a:rPr>
                      <m:t>𝑛</m:t>
                    </m:r>
                  </m:oMath>
                </a14:m>
                <a:endParaRPr lang="es-ES" dirty="0"/>
              </a:p>
            </p:txBody>
          </p:sp>
        </mc:Choice>
        <mc:Fallback>
          <p:sp>
            <p:nvSpPr>
              <p:cNvPr id="3" name="Marcador de contenido 2">
                <a:extLst>
                  <a:ext uri="{FF2B5EF4-FFF2-40B4-BE49-F238E27FC236}">
                    <a16:creationId xmlns:a16="http://schemas.microsoft.com/office/drawing/2014/main" id="{452F7307-F4F7-85CF-6E41-747AFD5BB35A}"/>
                  </a:ext>
                </a:extLst>
              </p:cNvPr>
              <p:cNvSpPr>
                <a:spLocks noGrp="1" noRot="1" noChangeAspect="1" noMove="1" noResize="1" noEditPoints="1" noAdjustHandles="1" noChangeArrowheads="1" noChangeShapeType="1" noTextEdit="1"/>
              </p:cNvSpPr>
              <p:nvPr>
                <p:ph idx="1"/>
              </p:nvPr>
            </p:nvSpPr>
            <p:spPr>
              <a:xfrm>
                <a:off x="838200" y="1825624"/>
                <a:ext cx="10515600" cy="5032376"/>
              </a:xfrm>
              <a:blipFill>
                <a:blip r:embed="rId2"/>
                <a:stretch>
                  <a:fillRect l="-58" t="-1211" r="-58"/>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6031696D-506F-F9C3-FEE2-AB5DE2BCAB86}"/>
              </a:ext>
            </a:extLst>
          </p:cNvPr>
          <p:cNvSpPr>
            <a:spLocks noGrp="1"/>
          </p:cNvSpPr>
          <p:nvPr>
            <p:ph type="sldNum" sz="quarter" idx="12"/>
          </p:nvPr>
        </p:nvSpPr>
        <p:spPr/>
        <p:txBody>
          <a:bodyPr/>
          <a:lstStyle/>
          <a:p>
            <a:fld id="{336CAFD0-1F6E-4E11-9822-836563A02839}" type="slidenum">
              <a:rPr lang="es-ES" smtClean="0"/>
              <a:t>69</a:t>
            </a:fld>
            <a:endParaRPr lang="es-ES"/>
          </a:p>
        </p:txBody>
      </p:sp>
    </p:spTree>
    <p:extLst>
      <p:ext uri="{BB962C8B-B14F-4D97-AF65-F5344CB8AC3E}">
        <p14:creationId xmlns:p14="http://schemas.microsoft.com/office/powerpoint/2010/main" val="13992514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2A376EA0-B601-8125-BD76-12696819C23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03817" y="3145120"/>
            <a:ext cx="5788184" cy="3471568"/>
          </a:xfrm>
          <a:prstGeom prst="rect">
            <a:avLst/>
          </a:prstGeom>
        </p:spPr>
      </p:pic>
      <p:sp>
        <p:nvSpPr>
          <p:cNvPr id="2" name="Título 1">
            <a:extLst>
              <a:ext uri="{FF2B5EF4-FFF2-40B4-BE49-F238E27FC236}">
                <a16:creationId xmlns:a16="http://schemas.microsoft.com/office/drawing/2014/main" id="{D0B290D9-D379-075E-99EF-B03A7A0F3B64}"/>
              </a:ext>
            </a:extLst>
          </p:cNvPr>
          <p:cNvSpPr>
            <a:spLocks noGrp="1"/>
          </p:cNvSpPr>
          <p:nvPr>
            <p:ph type="title"/>
          </p:nvPr>
        </p:nvSpPr>
        <p:spPr/>
        <p:txBody>
          <a:bodyPr/>
          <a:lstStyle/>
          <a:p>
            <a:r>
              <a:rPr lang="es-ES" dirty="0"/>
              <a:t>12. Distribución Hipergeométrica</a:t>
            </a:r>
            <a:br>
              <a:rPr lang="es-ES" dirty="0"/>
            </a:br>
            <a:r>
              <a:rPr lang="es-ES" dirty="0"/>
              <a:t>Aproximación binomial</a:t>
            </a:r>
          </a:p>
        </p:txBody>
      </p:sp>
      <p:graphicFrame>
        <p:nvGraphicFramePr>
          <p:cNvPr id="5" name="Marcador de contenido 4">
            <a:extLst>
              <a:ext uri="{FF2B5EF4-FFF2-40B4-BE49-F238E27FC236}">
                <a16:creationId xmlns:a16="http://schemas.microsoft.com/office/drawing/2014/main" id="{F8BF98D3-E12D-2792-64D7-19469DB0B1AD}"/>
              </a:ext>
            </a:extLst>
          </p:cNvPr>
          <p:cNvGraphicFramePr>
            <a:graphicFrameLocks noGrp="1"/>
          </p:cNvGraphicFramePr>
          <p:nvPr>
            <p:ph idx="1"/>
            <p:extLst>
              <p:ext uri="{D42A27DB-BD31-4B8C-83A1-F6EECF244321}">
                <p14:modId xmlns:p14="http://schemas.microsoft.com/office/powerpoint/2010/main" val="2573895640"/>
              </p:ext>
            </p:extLst>
          </p:nvPr>
        </p:nvGraphicFramePr>
        <p:xfrm>
          <a:off x="875358" y="2514666"/>
          <a:ext cx="5412085" cy="4084320"/>
        </p:xfrm>
        <a:graphic>
          <a:graphicData uri="http://schemas.openxmlformats.org/drawingml/2006/table">
            <a:tbl>
              <a:tblPr firstRow="1" bandRow="1">
                <a:tableStyleId>{5940675A-B579-460E-94D1-54222C63F5DA}</a:tableStyleId>
              </a:tblPr>
              <a:tblGrid>
                <a:gridCol w="462367">
                  <a:extLst>
                    <a:ext uri="{9D8B030D-6E8A-4147-A177-3AD203B41FA5}">
                      <a16:colId xmlns:a16="http://schemas.microsoft.com/office/drawing/2014/main" val="3134644682"/>
                    </a:ext>
                  </a:extLst>
                </a:gridCol>
                <a:gridCol w="1186566">
                  <a:extLst>
                    <a:ext uri="{9D8B030D-6E8A-4147-A177-3AD203B41FA5}">
                      <a16:colId xmlns:a16="http://schemas.microsoft.com/office/drawing/2014/main" val="649134396"/>
                    </a:ext>
                  </a:extLst>
                </a:gridCol>
                <a:gridCol w="1263815">
                  <a:extLst>
                    <a:ext uri="{9D8B030D-6E8A-4147-A177-3AD203B41FA5}">
                      <a16:colId xmlns:a16="http://schemas.microsoft.com/office/drawing/2014/main" val="2080188868"/>
                    </a:ext>
                  </a:extLst>
                </a:gridCol>
                <a:gridCol w="1254384">
                  <a:extLst>
                    <a:ext uri="{9D8B030D-6E8A-4147-A177-3AD203B41FA5}">
                      <a16:colId xmlns:a16="http://schemas.microsoft.com/office/drawing/2014/main" val="1660031304"/>
                    </a:ext>
                  </a:extLst>
                </a:gridCol>
                <a:gridCol w="1244953">
                  <a:extLst>
                    <a:ext uri="{9D8B030D-6E8A-4147-A177-3AD203B41FA5}">
                      <a16:colId xmlns:a16="http://schemas.microsoft.com/office/drawing/2014/main" val="2361135882"/>
                    </a:ext>
                  </a:extLst>
                </a:gridCol>
              </a:tblGrid>
              <a:tr h="293262">
                <a:tc>
                  <a:txBody>
                    <a:bodyPr/>
                    <a:lstStyle/>
                    <a:p>
                      <a:pPr algn="ctr"/>
                      <a:r>
                        <a:rPr lang="es-ES" sz="1400" b="1" dirty="0"/>
                        <a:t>x</a:t>
                      </a:r>
                    </a:p>
                  </a:txBody>
                  <a:tcPr anchor="ctr">
                    <a:solidFill>
                      <a:schemeClr val="bg2">
                        <a:lumMod val="90000"/>
                      </a:schemeClr>
                    </a:solidFill>
                  </a:tcPr>
                </a:tc>
                <a:tc>
                  <a:txBody>
                    <a:bodyPr/>
                    <a:lstStyle/>
                    <a:p>
                      <a:pPr algn="ctr"/>
                      <a:r>
                        <a:rPr lang="es-ES" sz="1400" b="1" dirty="0"/>
                        <a:t>P(x)</a:t>
                      </a:r>
                    </a:p>
                    <a:p>
                      <a:pPr algn="ctr"/>
                      <a:r>
                        <a:rPr lang="es-ES" sz="1400" b="1" dirty="0"/>
                        <a:t>H(50,10,0.5)</a:t>
                      </a:r>
                    </a:p>
                    <a:p>
                      <a:pPr algn="ctr"/>
                      <a:r>
                        <a:rPr lang="es-ES" sz="1400" b="1" dirty="0"/>
                        <a:t>N=5n</a:t>
                      </a:r>
                    </a:p>
                  </a:txBody>
                  <a:tcPr>
                    <a:solidFill>
                      <a:schemeClr val="bg2">
                        <a:lumMod val="90000"/>
                      </a:schemeClr>
                    </a:solidFill>
                  </a:tcPr>
                </a:tc>
                <a:tc>
                  <a:txBody>
                    <a:bodyPr/>
                    <a:lstStyle/>
                    <a:p>
                      <a:pPr algn="ctr"/>
                      <a:r>
                        <a:rPr lang="es-ES" sz="1400" b="1" dirty="0"/>
                        <a:t>P(x)</a:t>
                      </a:r>
                    </a:p>
                    <a:p>
                      <a:pPr algn="ctr"/>
                      <a:r>
                        <a:rPr lang="es-ES" sz="1400" b="1" dirty="0"/>
                        <a:t>H(100,10,0.5)</a:t>
                      </a:r>
                    </a:p>
                    <a:p>
                      <a:pPr algn="ctr"/>
                      <a:r>
                        <a:rPr lang="es-ES" sz="1400" b="1" dirty="0"/>
                        <a:t>N=10n</a:t>
                      </a:r>
                    </a:p>
                  </a:txBody>
                  <a:tcPr>
                    <a:solidFill>
                      <a:schemeClr val="bg2">
                        <a:lumMod val="90000"/>
                      </a:schemeClr>
                    </a:solidFill>
                  </a:tcPr>
                </a:tc>
                <a:tc>
                  <a:txBody>
                    <a:bodyPr/>
                    <a:lstStyle/>
                    <a:p>
                      <a:pPr algn="ctr"/>
                      <a:r>
                        <a:rPr lang="es-ES" sz="1400" b="1" dirty="0"/>
                        <a:t>P(x)</a:t>
                      </a:r>
                    </a:p>
                    <a:p>
                      <a:pPr algn="ctr"/>
                      <a:r>
                        <a:rPr lang="es-ES" sz="1400" b="1" dirty="0"/>
                        <a:t>H(200,10,0.5)</a:t>
                      </a:r>
                    </a:p>
                    <a:p>
                      <a:pPr algn="ctr"/>
                      <a:r>
                        <a:rPr lang="es-ES" sz="1400" b="1" dirty="0"/>
                        <a:t>N=20n</a:t>
                      </a:r>
                    </a:p>
                  </a:txBody>
                  <a:tcPr>
                    <a:solidFill>
                      <a:schemeClr val="bg2">
                        <a:lumMod val="90000"/>
                      </a:schemeClr>
                    </a:solidFill>
                  </a:tcPr>
                </a:tc>
                <a:tc>
                  <a:txBody>
                    <a:bodyPr/>
                    <a:lstStyle/>
                    <a:p>
                      <a:pPr algn="ctr"/>
                      <a:r>
                        <a:rPr lang="es-ES" sz="1400" b="1" dirty="0"/>
                        <a:t>P(x)</a:t>
                      </a:r>
                    </a:p>
                    <a:p>
                      <a:pPr algn="ctr"/>
                      <a:r>
                        <a:rPr lang="es-ES" sz="1400" b="1" dirty="0"/>
                        <a:t>B(10,0.5)</a:t>
                      </a:r>
                    </a:p>
                  </a:txBody>
                  <a:tcPr>
                    <a:solidFill>
                      <a:schemeClr val="bg2">
                        <a:lumMod val="90000"/>
                      </a:schemeClr>
                    </a:solidFill>
                  </a:tcPr>
                </a:tc>
                <a:extLst>
                  <a:ext uri="{0D108BD9-81ED-4DB2-BD59-A6C34878D82A}">
                    <a16:rowId xmlns:a16="http://schemas.microsoft.com/office/drawing/2014/main" val="1002675100"/>
                  </a:ext>
                </a:extLst>
              </a:tr>
              <a:tr h="293262">
                <a:tc>
                  <a:txBody>
                    <a:bodyPr/>
                    <a:lstStyle/>
                    <a:p>
                      <a:pPr algn="ctr"/>
                      <a:r>
                        <a:rPr lang="es-ES" sz="1400" dirty="0"/>
                        <a:t>0</a:t>
                      </a:r>
                    </a:p>
                  </a:txBody>
                  <a:tcPr anchor="ctr"/>
                </a:tc>
                <a:tc>
                  <a:txBody>
                    <a:bodyPr/>
                    <a:lstStyle/>
                    <a:p>
                      <a:pPr algn="ctr"/>
                      <a:r>
                        <a:rPr lang="es-ES" sz="1400" dirty="0"/>
                        <a:t>0.00</a:t>
                      </a:r>
                    </a:p>
                  </a:txBody>
                  <a:tcPr/>
                </a:tc>
                <a:tc>
                  <a:txBody>
                    <a:bodyPr/>
                    <a:lstStyle/>
                    <a:p>
                      <a:pPr algn="ctr"/>
                      <a:r>
                        <a:rPr lang="es-ES" sz="1400" dirty="0"/>
                        <a:t>0.00</a:t>
                      </a:r>
                    </a:p>
                  </a:txBody>
                  <a:tcPr/>
                </a:tc>
                <a:tc>
                  <a:txBody>
                    <a:bodyPr/>
                    <a:lstStyle/>
                    <a:p>
                      <a:pPr algn="ctr"/>
                      <a:r>
                        <a:rPr lang="es-ES" sz="1400" dirty="0"/>
                        <a:t>0.00</a:t>
                      </a:r>
                    </a:p>
                  </a:txBody>
                  <a:tcPr/>
                </a:tc>
                <a:tc>
                  <a:txBody>
                    <a:bodyPr/>
                    <a:lstStyle/>
                    <a:p>
                      <a:pPr algn="ctr"/>
                      <a:r>
                        <a:rPr lang="es-ES" sz="1400" dirty="0"/>
                        <a:t>0.00</a:t>
                      </a:r>
                    </a:p>
                  </a:txBody>
                  <a:tcPr/>
                </a:tc>
                <a:extLst>
                  <a:ext uri="{0D108BD9-81ED-4DB2-BD59-A6C34878D82A}">
                    <a16:rowId xmlns:a16="http://schemas.microsoft.com/office/drawing/2014/main" val="52046189"/>
                  </a:ext>
                </a:extLst>
              </a:tr>
              <a:tr h="293262">
                <a:tc>
                  <a:txBody>
                    <a:bodyPr/>
                    <a:lstStyle/>
                    <a:p>
                      <a:pPr algn="ctr"/>
                      <a:r>
                        <a:rPr lang="es-ES" sz="1400" dirty="0"/>
                        <a:t>1</a:t>
                      </a:r>
                    </a:p>
                  </a:txBody>
                  <a:tcPr anchor="ctr"/>
                </a:tc>
                <a:tc>
                  <a:txBody>
                    <a:bodyPr/>
                    <a:lstStyle/>
                    <a:p>
                      <a:pPr algn="ctr"/>
                      <a:r>
                        <a:rPr lang="es-ES" sz="1400" dirty="0"/>
                        <a:t>0.00</a:t>
                      </a:r>
                    </a:p>
                  </a:txBody>
                  <a:tcPr>
                    <a:solidFill>
                      <a:srgbClr val="FFFF00"/>
                    </a:solidFill>
                  </a:tcPr>
                </a:tc>
                <a:tc>
                  <a:txBody>
                    <a:bodyPr/>
                    <a:lstStyle/>
                    <a:p>
                      <a:pPr algn="ctr"/>
                      <a:r>
                        <a:rPr lang="es-ES" sz="1400" dirty="0"/>
                        <a:t>0.01</a:t>
                      </a:r>
                    </a:p>
                  </a:txBody>
                  <a:tcPr/>
                </a:tc>
                <a:tc>
                  <a:txBody>
                    <a:bodyPr/>
                    <a:lstStyle/>
                    <a:p>
                      <a:pPr algn="ctr"/>
                      <a:r>
                        <a:rPr lang="es-ES" sz="1400" dirty="0"/>
                        <a:t>0.01</a:t>
                      </a:r>
                    </a:p>
                  </a:txBody>
                  <a:tcPr/>
                </a:tc>
                <a:tc>
                  <a:txBody>
                    <a:bodyPr/>
                    <a:lstStyle/>
                    <a:p>
                      <a:pPr algn="ctr"/>
                      <a:r>
                        <a:rPr lang="es-ES" sz="1400" dirty="0"/>
                        <a:t>0.01</a:t>
                      </a:r>
                    </a:p>
                  </a:txBody>
                  <a:tcPr/>
                </a:tc>
                <a:extLst>
                  <a:ext uri="{0D108BD9-81ED-4DB2-BD59-A6C34878D82A}">
                    <a16:rowId xmlns:a16="http://schemas.microsoft.com/office/drawing/2014/main" val="4180229155"/>
                  </a:ext>
                </a:extLst>
              </a:tr>
              <a:tr h="293262">
                <a:tc>
                  <a:txBody>
                    <a:bodyPr/>
                    <a:lstStyle/>
                    <a:p>
                      <a:pPr algn="ctr"/>
                      <a:r>
                        <a:rPr lang="es-ES" sz="1400" dirty="0"/>
                        <a:t>2</a:t>
                      </a:r>
                    </a:p>
                  </a:txBody>
                  <a:tcPr anchor="ctr"/>
                </a:tc>
                <a:tc>
                  <a:txBody>
                    <a:bodyPr/>
                    <a:lstStyle/>
                    <a:p>
                      <a:pPr algn="ctr"/>
                      <a:r>
                        <a:rPr lang="es-ES" sz="1400" dirty="0"/>
                        <a:t>0.03</a:t>
                      </a:r>
                    </a:p>
                  </a:txBody>
                  <a:tcPr>
                    <a:solidFill>
                      <a:srgbClr val="FFFF00"/>
                    </a:solidFill>
                  </a:tcPr>
                </a:tc>
                <a:tc>
                  <a:txBody>
                    <a:bodyPr/>
                    <a:lstStyle/>
                    <a:p>
                      <a:pPr algn="ctr"/>
                      <a:r>
                        <a:rPr lang="es-ES" sz="1400" dirty="0"/>
                        <a:t>0.04</a:t>
                      </a:r>
                    </a:p>
                  </a:txBody>
                  <a:tcPr/>
                </a:tc>
                <a:tc>
                  <a:txBody>
                    <a:bodyPr/>
                    <a:lstStyle/>
                    <a:p>
                      <a:pPr algn="ctr"/>
                      <a:r>
                        <a:rPr lang="es-ES" sz="1400" dirty="0"/>
                        <a:t>0.04</a:t>
                      </a:r>
                    </a:p>
                  </a:txBody>
                  <a:tcPr/>
                </a:tc>
                <a:tc>
                  <a:txBody>
                    <a:bodyPr/>
                    <a:lstStyle/>
                    <a:p>
                      <a:pPr algn="ctr"/>
                      <a:r>
                        <a:rPr lang="es-ES" sz="1400" dirty="0"/>
                        <a:t>0.04</a:t>
                      </a:r>
                    </a:p>
                  </a:txBody>
                  <a:tcPr/>
                </a:tc>
                <a:extLst>
                  <a:ext uri="{0D108BD9-81ED-4DB2-BD59-A6C34878D82A}">
                    <a16:rowId xmlns:a16="http://schemas.microsoft.com/office/drawing/2014/main" val="749750848"/>
                  </a:ext>
                </a:extLst>
              </a:tr>
              <a:tr h="293262">
                <a:tc>
                  <a:txBody>
                    <a:bodyPr/>
                    <a:lstStyle/>
                    <a:p>
                      <a:pPr algn="ctr"/>
                      <a:r>
                        <a:rPr lang="es-ES" sz="1400" dirty="0"/>
                        <a:t>3</a:t>
                      </a:r>
                    </a:p>
                  </a:txBody>
                  <a:tcPr anchor="ctr"/>
                </a:tc>
                <a:tc>
                  <a:txBody>
                    <a:bodyPr/>
                    <a:lstStyle/>
                    <a:p>
                      <a:pPr algn="ctr"/>
                      <a:r>
                        <a:rPr lang="es-ES" sz="1400" dirty="0"/>
                        <a:t>0.11</a:t>
                      </a:r>
                    </a:p>
                  </a:txBody>
                  <a:tcPr>
                    <a:solidFill>
                      <a:srgbClr val="FFFF00"/>
                    </a:solidFill>
                  </a:tcPr>
                </a:tc>
                <a:tc>
                  <a:txBody>
                    <a:bodyPr/>
                    <a:lstStyle/>
                    <a:p>
                      <a:pPr algn="ctr"/>
                      <a:r>
                        <a:rPr lang="es-ES" sz="1400" kern="1200" dirty="0">
                          <a:solidFill>
                            <a:schemeClr val="tx1"/>
                          </a:solidFill>
                          <a:latin typeface="+mn-lt"/>
                          <a:ea typeface="+mn-ea"/>
                          <a:cs typeface="+mn-cs"/>
                        </a:rPr>
                        <a:t>0.11</a:t>
                      </a:r>
                    </a:p>
                  </a:txBody>
                  <a:tcPr>
                    <a:solidFill>
                      <a:srgbClr val="FFFF00"/>
                    </a:solidFill>
                  </a:tcPr>
                </a:tc>
                <a:tc>
                  <a:txBody>
                    <a:bodyPr/>
                    <a:lstStyle/>
                    <a:p>
                      <a:pPr algn="ctr"/>
                      <a:r>
                        <a:rPr lang="es-ES" sz="1400" dirty="0"/>
                        <a:t>0.12</a:t>
                      </a:r>
                    </a:p>
                  </a:txBody>
                  <a:tcPr/>
                </a:tc>
                <a:tc>
                  <a:txBody>
                    <a:bodyPr/>
                    <a:lstStyle/>
                    <a:p>
                      <a:pPr algn="ctr"/>
                      <a:r>
                        <a:rPr lang="es-ES" sz="1400" dirty="0"/>
                        <a:t>0.12</a:t>
                      </a:r>
                    </a:p>
                  </a:txBody>
                  <a:tcPr/>
                </a:tc>
                <a:extLst>
                  <a:ext uri="{0D108BD9-81ED-4DB2-BD59-A6C34878D82A}">
                    <a16:rowId xmlns:a16="http://schemas.microsoft.com/office/drawing/2014/main" val="1949203668"/>
                  </a:ext>
                </a:extLst>
              </a:tr>
              <a:tr h="293262">
                <a:tc>
                  <a:txBody>
                    <a:bodyPr/>
                    <a:lstStyle/>
                    <a:p>
                      <a:pPr algn="ctr"/>
                      <a:r>
                        <a:rPr lang="es-ES" sz="1400" dirty="0"/>
                        <a:t>4</a:t>
                      </a:r>
                    </a:p>
                  </a:txBody>
                  <a:tcPr anchor="ctr"/>
                </a:tc>
                <a:tc>
                  <a:txBody>
                    <a:bodyPr/>
                    <a:lstStyle/>
                    <a:p>
                      <a:pPr algn="ctr"/>
                      <a:r>
                        <a:rPr lang="es-ES" sz="1400" dirty="0"/>
                        <a:t>0.22</a:t>
                      </a:r>
                    </a:p>
                  </a:txBody>
                  <a:tcPr>
                    <a:solidFill>
                      <a:srgbClr val="FFFF00"/>
                    </a:solidFill>
                  </a:tcPr>
                </a:tc>
                <a:tc>
                  <a:txBody>
                    <a:bodyPr/>
                    <a:lstStyle/>
                    <a:p>
                      <a:pPr algn="ctr"/>
                      <a:r>
                        <a:rPr lang="es-ES" sz="1400" dirty="0"/>
                        <a:t>0.21</a:t>
                      </a:r>
                    </a:p>
                  </a:txBody>
                  <a:tcPr/>
                </a:tc>
                <a:tc>
                  <a:txBody>
                    <a:bodyPr/>
                    <a:lstStyle/>
                    <a:p>
                      <a:pPr algn="ctr"/>
                      <a:r>
                        <a:rPr lang="es-ES" sz="1400" dirty="0"/>
                        <a:t>0.21</a:t>
                      </a:r>
                    </a:p>
                  </a:txBody>
                  <a:tcPr/>
                </a:tc>
                <a:tc>
                  <a:txBody>
                    <a:bodyPr/>
                    <a:lstStyle/>
                    <a:p>
                      <a:pPr algn="ctr"/>
                      <a:r>
                        <a:rPr lang="es-ES" sz="1400" dirty="0"/>
                        <a:t>0.21</a:t>
                      </a:r>
                    </a:p>
                  </a:txBody>
                  <a:tcPr/>
                </a:tc>
                <a:extLst>
                  <a:ext uri="{0D108BD9-81ED-4DB2-BD59-A6C34878D82A}">
                    <a16:rowId xmlns:a16="http://schemas.microsoft.com/office/drawing/2014/main" val="3296833907"/>
                  </a:ext>
                </a:extLst>
              </a:tr>
              <a:tr h="293262">
                <a:tc>
                  <a:txBody>
                    <a:bodyPr/>
                    <a:lstStyle/>
                    <a:p>
                      <a:pPr algn="ctr"/>
                      <a:r>
                        <a:rPr lang="es-ES" sz="1400" dirty="0"/>
                        <a:t>5</a:t>
                      </a:r>
                    </a:p>
                  </a:txBody>
                  <a:tcPr anchor="ctr"/>
                </a:tc>
                <a:tc>
                  <a:txBody>
                    <a:bodyPr/>
                    <a:lstStyle/>
                    <a:p>
                      <a:pPr algn="ctr"/>
                      <a:r>
                        <a:rPr lang="es-ES" sz="1400" dirty="0"/>
                        <a:t>0.27</a:t>
                      </a:r>
                    </a:p>
                  </a:txBody>
                  <a:tcPr>
                    <a:solidFill>
                      <a:srgbClr val="FFFF00"/>
                    </a:solidFill>
                  </a:tcPr>
                </a:tc>
                <a:tc>
                  <a:txBody>
                    <a:bodyPr/>
                    <a:lstStyle/>
                    <a:p>
                      <a:pPr algn="ctr"/>
                      <a:r>
                        <a:rPr lang="es-ES" sz="1400" dirty="0"/>
                        <a:t>0.26</a:t>
                      </a:r>
                    </a:p>
                  </a:txBody>
                  <a:tcPr>
                    <a:solidFill>
                      <a:srgbClr val="FFFF00"/>
                    </a:solidFill>
                  </a:tcPr>
                </a:tc>
                <a:tc>
                  <a:txBody>
                    <a:bodyPr/>
                    <a:lstStyle/>
                    <a:p>
                      <a:pPr algn="ctr"/>
                      <a:r>
                        <a:rPr lang="es-ES" sz="1400" dirty="0"/>
                        <a:t>0.24</a:t>
                      </a:r>
                    </a:p>
                  </a:txBody>
                  <a:tcPr>
                    <a:solidFill>
                      <a:srgbClr val="FFFF00"/>
                    </a:solidFill>
                  </a:tcPr>
                </a:tc>
                <a:tc>
                  <a:txBody>
                    <a:bodyPr/>
                    <a:lstStyle/>
                    <a:p>
                      <a:pPr algn="ctr"/>
                      <a:r>
                        <a:rPr lang="es-ES" sz="1400" dirty="0"/>
                        <a:t>0.25</a:t>
                      </a:r>
                    </a:p>
                  </a:txBody>
                  <a:tcPr/>
                </a:tc>
                <a:extLst>
                  <a:ext uri="{0D108BD9-81ED-4DB2-BD59-A6C34878D82A}">
                    <a16:rowId xmlns:a16="http://schemas.microsoft.com/office/drawing/2014/main" val="1187442317"/>
                  </a:ext>
                </a:extLst>
              </a:tr>
              <a:tr h="293262">
                <a:tc>
                  <a:txBody>
                    <a:bodyPr/>
                    <a:lstStyle/>
                    <a:p>
                      <a:pPr algn="ctr"/>
                      <a:r>
                        <a:rPr lang="es-ES" sz="1400" dirty="0"/>
                        <a:t>6</a:t>
                      </a:r>
                    </a:p>
                  </a:txBody>
                  <a:tcPr anchor="ctr"/>
                </a:tc>
                <a:tc>
                  <a:txBody>
                    <a:bodyPr/>
                    <a:lstStyle/>
                    <a:p>
                      <a:pPr algn="ctr"/>
                      <a:r>
                        <a:rPr lang="es-ES" sz="1400" dirty="0"/>
                        <a:t>0.22</a:t>
                      </a:r>
                    </a:p>
                  </a:txBody>
                  <a:tcPr>
                    <a:solidFill>
                      <a:srgbClr val="FFFF00"/>
                    </a:solidFill>
                  </a:tcPr>
                </a:tc>
                <a:tc>
                  <a:txBody>
                    <a:bodyPr/>
                    <a:lstStyle/>
                    <a:p>
                      <a:pPr algn="ctr"/>
                      <a:r>
                        <a:rPr lang="es-ES" sz="1400" dirty="0"/>
                        <a:t>0.21</a:t>
                      </a:r>
                    </a:p>
                  </a:txBody>
                  <a:tcPr/>
                </a:tc>
                <a:tc>
                  <a:txBody>
                    <a:bodyPr/>
                    <a:lstStyle/>
                    <a:p>
                      <a:pPr algn="ctr"/>
                      <a:r>
                        <a:rPr lang="es-ES" sz="1400" dirty="0"/>
                        <a:t>0.21</a:t>
                      </a:r>
                    </a:p>
                  </a:txBody>
                  <a:tcPr/>
                </a:tc>
                <a:tc>
                  <a:txBody>
                    <a:bodyPr/>
                    <a:lstStyle/>
                    <a:p>
                      <a:pPr algn="ctr"/>
                      <a:r>
                        <a:rPr lang="es-ES" sz="1400" dirty="0"/>
                        <a:t>0.21</a:t>
                      </a:r>
                    </a:p>
                  </a:txBody>
                  <a:tcPr/>
                </a:tc>
                <a:extLst>
                  <a:ext uri="{0D108BD9-81ED-4DB2-BD59-A6C34878D82A}">
                    <a16:rowId xmlns:a16="http://schemas.microsoft.com/office/drawing/2014/main" val="2940314451"/>
                  </a:ext>
                </a:extLst>
              </a:tr>
              <a:tr h="293262">
                <a:tc>
                  <a:txBody>
                    <a:bodyPr/>
                    <a:lstStyle/>
                    <a:p>
                      <a:pPr algn="ctr"/>
                      <a:r>
                        <a:rPr lang="es-ES" sz="1400" dirty="0"/>
                        <a:t>7</a:t>
                      </a:r>
                    </a:p>
                  </a:txBody>
                  <a:tcPr anchor="ctr"/>
                </a:tc>
                <a:tc>
                  <a:txBody>
                    <a:bodyPr/>
                    <a:lstStyle/>
                    <a:p>
                      <a:pPr algn="ctr"/>
                      <a:r>
                        <a:rPr lang="es-ES" sz="1400" dirty="0"/>
                        <a:t>0.11</a:t>
                      </a:r>
                    </a:p>
                  </a:txBody>
                  <a:tcPr>
                    <a:solidFill>
                      <a:srgbClr val="FFFF00"/>
                    </a:solidFill>
                  </a:tcPr>
                </a:tc>
                <a:tc>
                  <a:txBody>
                    <a:bodyPr/>
                    <a:lstStyle/>
                    <a:p>
                      <a:pPr algn="ctr"/>
                      <a:r>
                        <a:rPr lang="es-ES" sz="1400" kern="1200" dirty="0">
                          <a:solidFill>
                            <a:schemeClr val="tx1"/>
                          </a:solidFill>
                          <a:latin typeface="+mn-lt"/>
                          <a:ea typeface="+mn-ea"/>
                          <a:cs typeface="+mn-cs"/>
                        </a:rPr>
                        <a:t>0.11</a:t>
                      </a:r>
                    </a:p>
                  </a:txBody>
                  <a:tcPr>
                    <a:solidFill>
                      <a:srgbClr val="FFFF00"/>
                    </a:solidFill>
                  </a:tcPr>
                </a:tc>
                <a:tc>
                  <a:txBody>
                    <a:bodyPr/>
                    <a:lstStyle/>
                    <a:p>
                      <a:pPr algn="ctr"/>
                      <a:r>
                        <a:rPr lang="es-ES" sz="1400" dirty="0"/>
                        <a:t>0.12</a:t>
                      </a:r>
                    </a:p>
                  </a:txBody>
                  <a:tcPr/>
                </a:tc>
                <a:tc>
                  <a:txBody>
                    <a:bodyPr/>
                    <a:lstStyle/>
                    <a:p>
                      <a:pPr algn="ctr"/>
                      <a:r>
                        <a:rPr lang="es-ES" sz="1400" dirty="0"/>
                        <a:t>0.12</a:t>
                      </a:r>
                    </a:p>
                  </a:txBody>
                  <a:tcPr/>
                </a:tc>
                <a:extLst>
                  <a:ext uri="{0D108BD9-81ED-4DB2-BD59-A6C34878D82A}">
                    <a16:rowId xmlns:a16="http://schemas.microsoft.com/office/drawing/2014/main" val="2749040267"/>
                  </a:ext>
                </a:extLst>
              </a:tr>
              <a:tr h="293262">
                <a:tc>
                  <a:txBody>
                    <a:bodyPr/>
                    <a:lstStyle/>
                    <a:p>
                      <a:pPr algn="ctr"/>
                      <a:r>
                        <a:rPr lang="es-ES" sz="1400" dirty="0"/>
                        <a:t>8</a:t>
                      </a:r>
                    </a:p>
                  </a:txBody>
                  <a:tcPr anchor="ctr"/>
                </a:tc>
                <a:tc>
                  <a:txBody>
                    <a:bodyPr/>
                    <a:lstStyle/>
                    <a:p>
                      <a:pPr algn="ctr"/>
                      <a:r>
                        <a:rPr lang="es-ES" sz="1400" dirty="0"/>
                        <a:t>0.03</a:t>
                      </a:r>
                    </a:p>
                  </a:txBody>
                  <a:tcPr>
                    <a:solidFill>
                      <a:srgbClr val="FFFF00"/>
                    </a:solidFill>
                  </a:tcPr>
                </a:tc>
                <a:tc>
                  <a:txBody>
                    <a:bodyPr/>
                    <a:lstStyle/>
                    <a:p>
                      <a:pPr algn="ctr"/>
                      <a:r>
                        <a:rPr lang="es-ES" sz="1400" dirty="0"/>
                        <a:t>0.04</a:t>
                      </a:r>
                    </a:p>
                  </a:txBody>
                  <a:tcPr/>
                </a:tc>
                <a:tc>
                  <a:txBody>
                    <a:bodyPr/>
                    <a:lstStyle/>
                    <a:p>
                      <a:pPr algn="ctr"/>
                      <a:r>
                        <a:rPr lang="es-ES" sz="1400" dirty="0"/>
                        <a:t>0.04</a:t>
                      </a:r>
                    </a:p>
                  </a:txBody>
                  <a:tcPr/>
                </a:tc>
                <a:tc>
                  <a:txBody>
                    <a:bodyPr/>
                    <a:lstStyle/>
                    <a:p>
                      <a:pPr algn="ctr"/>
                      <a:r>
                        <a:rPr lang="es-ES" sz="1400" dirty="0"/>
                        <a:t>0.04</a:t>
                      </a:r>
                    </a:p>
                  </a:txBody>
                  <a:tcPr/>
                </a:tc>
                <a:extLst>
                  <a:ext uri="{0D108BD9-81ED-4DB2-BD59-A6C34878D82A}">
                    <a16:rowId xmlns:a16="http://schemas.microsoft.com/office/drawing/2014/main" val="1682313421"/>
                  </a:ext>
                </a:extLst>
              </a:tr>
              <a:tr h="293262">
                <a:tc>
                  <a:txBody>
                    <a:bodyPr/>
                    <a:lstStyle/>
                    <a:p>
                      <a:pPr algn="ctr"/>
                      <a:r>
                        <a:rPr lang="es-ES" sz="1400" dirty="0"/>
                        <a:t>9</a:t>
                      </a:r>
                    </a:p>
                  </a:txBody>
                  <a:tcPr anchor="ctr"/>
                </a:tc>
                <a:tc>
                  <a:txBody>
                    <a:bodyPr/>
                    <a:lstStyle/>
                    <a:p>
                      <a:pPr algn="ctr"/>
                      <a:r>
                        <a:rPr lang="es-ES" sz="1400" dirty="0"/>
                        <a:t>0.00</a:t>
                      </a:r>
                    </a:p>
                  </a:txBody>
                  <a:tcPr>
                    <a:solidFill>
                      <a:srgbClr val="FFFF00"/>
                    </a:solidFill>
                  </a:tcPr>
                </a:tc>
                <a:tc>
                  <a:txBody>
                    <a:bodyPr/>
                    <a:lstStyle/>
                    <a:p>
                      <a:pPr algn="ctr"/>
                      <a:r>
                        <a:rPr lang="es-ES" sz="1400" dirty="0"/>
                        <a:t>0.01</a:t>
                      </a:r>
                    </a:p>
                  </a:txBody>
                  <a:tcPr/>
                </a:tc>
                <a:tc>
                  <a:txBody>
                    <a:bodyPr/>
                    <a:lstStyle/>
                    <a:p>
                      <a:pPr algn="ctr"/>
                      <a:r>
                        <a:rPr lang="es-ES" sz="1400" dirty="0"/>
                        <a:t>0.01</a:t>
                      </a:r>
                    </a:p>
                  </a:txBody>
                  <a:tcPr/>
                </a:tc>
                <a:tc>
                  <a:txBody>
                    <a:bodyPr/>
                    <a:lstStyle/>
                    <a:p>
                      <a:pPr algn="ctr"/>
                      <a:r>
                        <a:rPr lang="es-ES" sz="1400" dirty="0"/>
                        <a:t>0.01</a:t>
                      </a:r>
                    </a:p>
                  </a:txBody>
                  <a:tcPr/>
                </a:tc>
                <a:extLst>
                  <a:ext uri="{0D108BD9-81ED-4DB2-BD59-A6C34878D82A}">
                    <a16:rowId xmlns:a16="http://schemas.microsoft.com/office/drawing/2014/main" val="1848306981"/>
                  </a:ext>
                </a:extLst>
              </a:tr>
              <a:tr h="293262">
                <a:tc>
                  <a:txBody>
                    <a:bodyPr/>
                    <a:lstStyle/>
                    <a:p>
                      <a:pPr algn="ctr"/>
                      <a:r>
                        <a:rPr lang="es-ES" sz="1400" dirty="0"/>
                        <a:t>10</a:t>
                      </a:r>
                    </a:p>
                  </a:txBody>
                  <a:tcPr anchor="ctr"/>
                </a:tc>
                <a:tc>
                  <a:txBody>
                    <a:bodyPr/>
                    <a:lstStyle/>
                    <a:p>
                      <a:pPr algn="ctr"/>
                      <a:r>
                        <a:rPr lang="es-ES" sz="1400" dirty="0"/>
                        <a:t>0.00</a:t>
                      </a:r>
                    </a:p>
                  </a:txBody>
                  <a:tcPr/>
                </a:tc>
                <a:tc>
                  <a:txBody>
                    <a:bodyPr/>
                    <a:lstStyle/>
                    <a:p>
                      <a:pPr algn="ctr"/>
                      <a:r>
                        <a:rPr lang="es-ES" sz="1400" dirty="0"/>
                        <a:t>0.00</a:t>
                      </a:r>
                    </a:p>
                  </a:txBody>
                  <a:tcPr/>
                </a:tc>
                <a:tc>
                  <a:txBody>
                    <a:bodyPr/>
                    <a:lstStyle/>
                    <a:p>
                      <a:pPr algn="ctr"/>
                      <a:r>
                        <a:rPr lang="es-ES" sz="1400" dirty="0"/>
                        <a:t>0.00</a:t>
                      </a:r>
                    </a:p>
                  </a:txBody>
                  <a:tcPr/>
                </a:tc>
                <a:tc>
                  <a:txBody>
                    <a:bodyPr/>
                    <a:lstStyle/>
                    <a:p>
                      <a:pPr algn="ctr"/>
                      <a:r>
                        <a:rPr lang="es-ES" sz="1400" dirty="0"/>
                        <a:t>0.00</a:t>
                      </a:r>
                    </a:p>
                  </a:txBody>
                  <a:tcPr/>
                </a:tc>
                <a:extLst>
                  <a:ext uri="{0D108BD9-81ED-4DB2-BD59-A6C34878D82A}">
                    <a16:rowId xmlns:a16="http://schemas.microsoft.com/office/drawing/2014/main" val="4181759244"/>
                  </a:ext>
                </a:extLst>
              </a:tr>
            </a:tbl>
          </a:graphicData>
        </a:graphic>
      </p:graphicFrame>
      <p:sp>
        <p:nvSpPr>
          <p:cNvPr id="4" name="Marcador de número de diapositiva 3">
            <a:extLst>
              <a:ext uri="{FF2B5EF4-FFF2-40B4-BE49-F238E27FC236}">
                <a16:creationId xmlns:a16="http://schemas.microsoft.com/office/drawing/2014/main" id="{A168EE3A-3D4C-4267-693C-5CB31CE62607}"/>
              </a:ext>
            </a:extLst>
          </p:cNvPr>
          <p:cNvSpPr>
            <a:spLocks noGrp="1"/>
          </p:cNvSpPr>
          <p:nvPr>
            <p:ph type="sldNum" sz="quarter" idx="12"/>
          </p:nvPr>
        </p:nvSpPr>
        <p:spPr/>
        <p:txBody>
          <a:bodyPr/>
          <a:lstStyle/>
          <a:p>
            <a:fld id="{336CAFD0-1F6E-4E11-9822-836563A02839}" type="slidenum">
              <a:rPr lang="es-ES" smtClean="0"/>
              <a:t>70</a:t>
            </a:fld>
            <a:endParaRPr lang="es-ES"/>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D5053047-43F9-BAB3-8C58-C947888B8F91}"/>
                  </a:ext>
                </a:extLst>
              </p:cNvPr>
              <p:cNvSpPr txBox="1"/>
              <p:nvPr/>
            </p:nvSpPr>
            <p:spPr>
              <a:xfrm>
                <a:off x="7649795" y="2654902"/>
                <a:ext cx="3300701" cy="369332"/>
              </a:xfrm>
              <a:prstGeom prst="rect">
                <a:avLst/>
              </a:prstGeom>
              <a:noFill/>
            </p:spPr>
            <p:txBody>
              <a:bodyPr wrap="square" rtlCol="0">
                <a:spAutoFit/>
              </a:bodyPr>
              <a:lstStyle/>
              <a:p>
                <a:r>
                  <a:rPr lang="es-ES" dirty="0"/>
                  <a:t>Ejemplo, con: </a:t>
                </a: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m:t>
                    </m:r>
                    <m:r>
                      <a:rPr lang="es-ES" i="1" dirty="0" smtClean="0">
                        <a:latin typeface="Cambria Math" panose="02040503050406030204" pitchFamily="18" charset="0"/>
                      </a:rPr>
                      <m:t>10</m:t>
                    </m:r>
                    <m:r>
                      <a:rPr lang="es-ES" b="0"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5</m:t>
                    </m:r>
                  </m:oMath>
                </a14:m>
                <a:endParaRPr lang="es-ES" dirty="0"/>
              </a:p>
            </p:txBody>
          </p:sp>
        </mc:Choice>
        <mc:Fallback xmlns="">
          <p:sp>
            <p:nvSpPr>
              <p:cNvPr id="7" name="CuadroTexto 6">
                <a:extLst>
                  <a:ext uri="{FF2B5EF4-FFF2-40B4-BE49-F238E27FC236}">
                    <a16:creationId xmlns:a16="http://schemas.microsoft.com/office/drawing/2014/main" id="{D5053047-43F9-BAB3-8C58-C947888B8F91}"/>
                  </a:ext>
                </a:extLst>
              </p:cNvPr>
              <p:cNvSpPr txBox="1">
                <a:spLocks noRot="1" noChangeAspect="1" noMove="1" noResize="1" noEditPoints="1" noAdjustHandles="1" noChangeArrowheads="1" noChangeShapeType="1" noTextEdit="1"/>
              </p:cNvSpPr>
              <p:nvPr/>
            </p:nvSpPr>
            <p:spPr>
              <a:xfrm>
                <a:off x="7649795" y="2654902"/>
                <a:ext cx="3300701" cy="369332"/>
              </a:xfrm>
              <a:prstGeom prst="rect">
                <a:avLst/>
              </a:prstGeom>
              <a:blipFill>
                <a:blip r:embed="rId3"/>
                <a:stretch>
                  <a:fillRect l="-1664" t="-10000" b="-266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D173E0D2-ACB4-E42E-4873-4F82C922E21A}"/>
                  </a:ext>
                </a:extLst>
              </p:cNvPr>
              <p:cNvSpPr txBox="1"/>
              <p:nvPr/>
            </p:nvSpPr>
            <p:spPr>
              <a:xfrm>
                <a:off x="838200" y="1918011"/>
                <a:ext cx="9662838" cy="369332"/>
              </a:xfrm>
              <a:prstGeom prst="rect">
                <a:avLst/>
              </a:prstGeom>
              <a:noFill/>
            </p:spPr>
            <p:txBody>
              <a:bodyPr wrap="none" rtlCol="0">
                <a:spAutoFit/>
              </a:bodyPr>
              <a:lstStyle/>
              <a:p>
                <a14:m>
                  <m:oMath xmlns:m="http://schemas.openxmlformats.org/officeDocument/2006/math">
                    <m:r>
                      <a:rPr lang="es-ES" b="0" i="1" dirty="0" smtClean="0">
                        <a:latin typeface="Cambria Math" panose="02040503050406030204" pitchFamily="18" charset="0"/>
                      </a:rPr>
                      <m:t>𝑋</m:t>
                    </m:r>
                    <m:r>
                      <a:rPr lang="es-ES" b="0" i="1" dirty="0" smtClean="0">
                        <a:latin typeface="Cambria Math" panose="02040503050406030204" pitchFamily="18" charset="0"/>
                      </a:rPr>
                      <m:t>:</m:t>
                    </m:r>
                    <m:r>
                      <a:rPr lang="es-ES" i="1" dirty="0">
                        <a:latin typeface="Cambria Math" panose="02040503050406030204" pitchFamily="18" charset="0"/>
                      </a:rPr>
                      <m:t>𝐻</m:t>
                    </m:r>
                    <m:r>
                      <a:rPr lang="es-ES" i="1" dirty="0">
                        <a:latin typeface="Cambria Math" panose="02040503050406030204" pitchFamily="18" charset="0"/>
                      </a:rPr>
                      <m:t>(</m:t>
                    </m:r>
                    <m:r>
                      <a:rPr lang="es-ES" i="1" dirty="0">
                        <a:latin typeface="Cambria Math" panose="02040503050406030204" pitchFamily="18" charset="0"/>
                      </a:rPr>
                      <m:t>𝑁</m:t>
                    </m:r>
                    <m:r>
                      <a:rPr lang="es-ES" i="1" dirty="0">
                        <a:latin typeface="Cambria Math" panose="02040503050406030204" pitchFamily="18" charset="0"/>
                      </a:rPr>
                      <m:t>,</m:t>
                    </m:r>
                    <m:r>
                      <a:rPr lang="es-ES" i="1" dirty="0">
                        <a:latin typeface="Cambria Math" panose="02040503050406030204" pitchFamily="18" charset="0"/>
                      </a:rPr>
                      <m:t>𝑛</m:t>
                    </m:r>
                    <m:r>
                      <a:rPr lang="es-ES" i="1" dirty="0">
                        <a:latin typeface="Cambria Math" panose="02040503050406030204" pitchFamily="18" charset="0"/>
                      </a:rPr>
                      <m:t>,</m:t>
                    </m:r>
                    <m:r>
                      <a:rPr lang="es-ES" i="1" dirty="0">
                        <a:latin typeface="Cambria Math" panose="02040503050406030204" pitchFamily="18" charset="0"/>
                      </a:rPr>
                      <m:t>𝑝</m:t>
                    </m:r>
                    <m:r>
                      <a:rPr lang="es-ES" i="1" dirty="0">
                        <a:latin typeface="Cambria Math" panose="02040503050406030204" pitchFamily="18" charset="0"/>
                      </a:rPr>
                      <m:t>)</m:t>
                    </m:r>
                  </m:oMath>
                </a14:m>
                <a:r>
                  <a:rPr lang="es-ES" dirty="0"/>
                  <a:t> se aproxima a </a:t>
                </a:r>
                <a14:m>
                  <m:oMath xmlns:m="http://schemas.openxmlformats.org/officeDocument/2006/math">
                    <m:r>
                      <m:rPr>
                        <m:sty m:val="p"/>
                      </m:rPr>
                      <a:rPr lang="es-ES" b="0" i="0" dirty="0" smtClean="0">
                        <a:latin typeface="Cambria Math" panose="02040503050406030204" pitchFamily="18" charset="0"/>
                      </a:rPr>
                      <m:t>X</m:t>
                    </m:r>
                    <m:r>
                      <a:rPr lang="es-ES" b="0" i="0" dirty="0" smtClean="0">
                        <a:latin typeface="Cambria Math" panose="02040503050406030204" pitchFamily="18" charset="0"/>
                      </a:rPr>
                      <m:t>:</m:t>
                    </m:r>
                    <m:r>
                      <a:rPr lang="es-ES" i="1" dirty="0">
                        <a:latin typeface="Cambria Math" panose="02040503050406030204" pitchFamily="18" charset="0"/>
                      </a:rPr>
                      <m:t>𝐵𝑖𝑛𝑜𝑚𝑖𝑎𝑙</m:t>
                    </m:r>
                    <m:r>
                      <a:rPr lang="es-ES" i="1" dirty="0">
                        <a:latin typeface="Cambria Math" panose="02040503050406030204" pitchFamily="18" charset="0"/>
                      </a:rPr>
                      <m:t> (</m:t>
                    </m:r>
                    <m:r>
                      <a:rPr lang="es-ES" i="1" dirty="0">
                        <a:latin typeface="Cambria Math" panose="02040503050406030204" pitchFamily="18" charset="0"/>
                      </a:rPr>
                      <m:t>𝑛</m:t>
                    </m:r>
                    <m:r>
                      <a:rPr lang="es-ES" i="1" dirty="0">
                        <a:latin typeface="Cambria Math" panose="02040503050406030204" pitchFamily="18" charset="0"/>
                      </a:rPr>
                      <m:t>, </m:t>
                    </m:r>
                    <m:r>
                      <a:rPr lang="es-ES" i="1" dirty="0">
                        <a:latin typeface="Cambria Math" panose="02040503050406030204" pitchFamily="18" charset="0"/>
                      </a:rPr>
                      <m:t>𝑝</m:t>
                    </m:r>
                    <m:r>
                      <a:rPr lang="es-ES" i="1" dirty="0">
                        <a:latin typeface="Cambria Math" panose="02040503050406030204" pitchFamily="18" charset="0"/>
                      </a:rPr>
                      <m:t>)</m:t>
                    </m:r>
                  </m:oMath>
                </a14:m>
                <a:r>
                  <a:rPr lang="es-ES" dirty="0"/>
                  <a:t> cuando </a:t>
                </a:r>
                <a14:m>
                  <m:oMath xmlns:m="http://schemas.openxmlformats.org/officeDocument/2006/math">
                    <m:r>
                      <a:rPr lang="es-ES" i="1" dirty="0">
                        <a:latin typeface="Cambria Math" panose="02040503050406030204" pitchFamily="18" charset="0"/>
                      </a:rPr>
                      <m:t>𝑁</m:t>
                    </m:r>
                    <m:r>
                      <a:rPr lang="es-ES" i="1" dirty="0">
                        <a:latin typeface="Cambria Math" panose="02040503050406030204" pitchFamily="18" charset="0"/>
                      </a:rPr>
                      <m:t>&gt;&gt;</m:t>
                    </m:r>
                    <m:r>
                      <a:rPr lang="es-ES" i="1" dirty="0">
                        <a:latin typeface="Cambria Math" panose="02040503050406030204" pitchFamily="18" charset="0"/>
                      </a:rPr>
                      <m:t>𝑛</m:t>
                    </m:r>
                  </m:oMath>
                </a14:m>
                <a:r>
                  <a:rPr lang="es-ES" dirty="0"/>
                  <a:t>.  Se puede aceptar cuando </a:t>
                </a:r>
                <a14:m>
                  <m:oMath xmlns:m="http://schemas.openxmlformats.org/officeDocument/2006/math">
                    <m:r>
                      <a:rPr lang="es-ES" i="1" dirty="0">
                        <a:latin typeface="Cambria Math" panose="02040503050406030204" pitchFamily="18" charset="0"/>
                      </a:rPr>
                      <m:t>𝑁</m:t>
                    </m:r>
                    <m:r>
                      <a:rPr lang="es-ES" i="1" dirty="0">
                        <a:latin typeface="Cambria Math" panose="02040503050406030204" pitchFamily="18" charset="0"/>
                      </a:rPr>
                      <m:t>&gt;</m:t>
                    </m:r>
                    <m:r>
                      <a:rPr lang="es-ES" i="1" dirty="0">
                        <a:latin typeface="Cambria Math" panose="02040503050406030204" pitchFamily="18" charset="0"/>
                      </a:rPr>
                      <m:t>10</m:t>
                    </m:r>
                    <m:r>
                      <a:rPr lang="es-ES" i="1" dirty="0">
                        <a:latin typeface="Cambria Math" panose="02040503050406030204" pitchFamily="18" charset="0"/>
                      </a:rPr>
                      <m:t>𝑛</m:t>
                    </m:r>
                  </m:oMath>
                </a14:m>
                <a:endParaRPr lang="es-ES" dirty="0"/>
              </a:p>
            </p:txBody>
          </p:sp>
        </mc:Choice>
        <mc:Fallback xmlns="">
          <p:sp>
            <p:nvSpPr>
              <p:cNvPr id="9" name="CuadroTexto 8">
                <a:extLst>
                  <a:ext uri="{FF2B5EF4-FFF2-40B4-BE49-F238E27FC236}">
                    <a16:creationId xmlns:a16="http://schemas.microsoft.com/office/drawing/2014/main" id="{D173E0D2-ACB4-E42E-4873-4F82C922E21A}"/>
                  </a:ext>
                </a:extLst>
              </p:cNvPr>
              <p:cNvSpPr txBox="1">
                <a:spLocks noRot="1" noChangeAspect="1" noMove="1" noResize="1" noEditPoints="1" noAdjustHandles="1" noChangeArrowheads="1" noChangeShapeType="1" noTextEdit="1"/>
              </p:cNvSpPr>
              <p:nvPr/>
            </p:nvSpPr>
            <p:spPr>
              <a:xfrm>
                <a:off x="838200" y="1918011"/>
                <a:ext cx="9662838" cy="369332"/>
              </a:xfrm>
              <a:prstGeom prst="rect">
                <a:avLst/>
              </a:prstGeom>
              <a:blipFill>
                <a:blip r:embed="rId4"/>
                <a:stretch>
                  <a:fillRect t="-10000" b="-26667"/>
                </a:stretch>
              </a:blipFill>
            </p:spPr>
            <p:txBody>
              <a:bodyPr/>
              <a:lstStyle/>
              <a:p>
                <a:r>
                  <a:rPr lang="es-ES">
                    <a:noFill/>
                  </a:rPr>
                  <a:t> </a:t>
                </a:r>
              </a:p>
            </p:txBody>
          </p:sp>
        </mc:Fallback>
      </mc:AlternateContent>
    </p:spTree>
    <p:extLst>
      <p:ext uri="{BB962C8B-B14F-4D97-AF65-F5344CB8AC3E}">
        <p14:creationId xmlns:p14="http://schemas.microsoft.com/office/powerpoint/2010/main" val="20816168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AC213-254D-4E68-8C5B-238D821F59B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00BA01-1F1F-8267-8552-9D3A5E186022}"/>
              </a:ext>
            </a:extLst>
          </p:cNvPr>
          <p:cNvSpPr>
            <a:spLocks noGrp="1"/>
          </p:cNvSpPr>
          <p:nvPr>
            <p:ph type="title"/>
          </p:nvPr>
        </p:nvSpPr>
        <p:spPr/>
        <p:txBody>
          <a:bodyPr>
            <a:normAutofit/>
          </a:bodyPr>
          <a:lstStyle/>
          <a:p>
            <a:r>
              <a:rPr lang="es-ES" dirty="0"/>
              <a:t>12. D</a:t>
            </a:r>
            <a:r>
              <a:rPr dirty="0" err="1"/>
              <a:t>istribución</a:t>
            </a:r>
            <a:r>
              <a:rPr dirty="0"/>
              <a:t> </a:t>
            </a:r>
            <a:r>
              <a:rPr lang="es-ES" dirty="0"/>
              <a:t>Hipergeométrica</a:t>
            </a:r>
            <a:br>
              <a:rPr lang="es-ES" dirty="0"/>
            </a:br>
            <a:r>
              <a:rPr dirty="0" err="1"/>
              <a:t>Ejemplo</a:t>
            </a:r>
            <a:r>
              <a:rPr dirty="0"/>
              <a:t> (</a:t>
            </a:r>
            <a:r>
              <a:rPr lang="es-ES" dirty="0"/>
              <a:t>Cartas</a:t>
            </a:r>
            <a:r>
              <a:rPr dirty="0"/>
              <a:t>)</a:t>
            </a:r>
          </a:p>
        </p:txBody>
      </p:sp>
      <p:sp>
        <p:nvSpPr>
          <p:cNvPr id="3" name="Marcador de contenido 2">
            <a:extLst>
              <a:ext uri="{FF2B5EF4-FFF2-40B4-BE49-F238E27FC236}">
                <a16:creationId xmlns:a16="http://schemas.microsoft.com/office/drawing/2014/main" id="{92202C92-2E66-94AD-5918-6CFAFD868CEE}"/>
              </a:ext>
            </a:extLst>
          </p:cNvPr>
          <p:cNvSpPr>
            <a:spLocks noGrp="1"/>
          </p:cNvSpPr>
          <p:nvPr>
            <p:ph idx="1"/>
          </p:nvPr>
        </p:nvSpPr>
        <p:spPr/>
        <p:txBody>
          <a:bodyPr>
            <a:normAutofit/>
          </a:bodyPr>
          <a:lstStyle/>
          <a:p>
            <a:r>
              <a:rPr lang="es-ES" dirty="0"/>
              <a:t>Una baraja francesa tiene 52 cartas: 26 rojas y 26 negras. </a:t>
            </a:r>
          </a:p>
          <a:p>
            <a:r>
              <a:rPr lang="es-ES" dirty="0"/>
              <a:t>Se extraen 4 cartas de la baraja</a:t>
            </a:r>
          </a:p>
          <a:p>
            <a:r>
              <a:rPr lang="es-ES" dirty="0"/>
              <a:t>¿Cuál es la probabilidad de que haya exactamente 2 cartas rojas?</a:t>
            </a:r>
          </a:p>
          <a:p>
            <a:pPr marL="914400" lvl="1" indent="-457200">
              <a:buFont typeface="+mj-lt"/>
              <a:buAutoNum type="alphaLcParenR"/>
            </a:pPr>
            <a:r>
              <a:rPr lang="es-ES" dirty="0"/>
              <a:t>Resolverlo como una variable Hipergeométrica</a:t>
            </a:r>
          </a:p>
          <a:p>
            <a:pPr marL="914400" lvl="1" indent="-457200">
              <a:buFont typeface="+mj-lt"/>
              <a:buAutoNum type="alphaLcParenR"/>
            </a:pPr>
            <a:r>
              <a:rPr lang="es-ES" dirty="0"/>
              <a:t>Resolverlo como una variable Binomial aplicando una aproximación</a:t>
            </a:r>
            <a:endParaRPr dirty="0"/>
          </a:p>
        </p:txBody>
      </p:sp>
      <p:sp>
        <p:nvSpPr>
          <p:cNvPr id="4" name="Marcador de número de diapositiva 3">
            <a:extLst>
              <a:ext uri="{FF2B5EF4-FFF2-40B4-BE49-F238E27FC236}">
                <a16:creationId xmlns:a16="http://schemas.microsoft.com/office/drawing/2014/main" id="{5020D153-1833-1DB2-4F62-FE8655DEBB1B}"/>
              </a:ext>
            </a:extLst>
          </p:cNvPr>
          <p:cNvSpPr>
            <a:spLocks noGrp="1"/>
          </p:cNvSpPr>
          <p:nvPr>
            <p:ph type="sldNum" sz="quarter" idx="12"/>
          </p:nvPr>
        </p:nvSpPr>
        <p:spPr/>
        <p:txBody>
          <a:bodyPr/>
          <a:lstStyle/>
          <a:p>
            <a:fld id="{336CAFD0-1F6E-4E11-9822-836563A02839}" type="slidenum">
              <a:rPr lang="es-ES" smtClean="0"/>
              <a:t>71</a:t>
            </a:fld>
            <a:endParaRPr lang="es-ES"/>
          </a:p>
        </p:txBody>
      </p:sp>
      <p:pic>
        <p:nvPicPr>
          <p:cNvPr id="6" name="Imagen 5">
            <a:extLst>
              <a:ext uri="{FF2B5EF4-FFF2-40B4-BE49-F238E27FC236}">
                <a16:creationId xmlns:a16="http://schemas.microsoft.com/office/drawing/2014/main" id="{A79DF4D2-F164-D385-0A5B-3AC7FA1C32A5}"/>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2493" y="3838888"/>
            <a:ext cx="2653987" cy="2653987"/>
          </a:xfrm>
          <a:prstGeom prst="rect">
            <a:avLst/>
          </a:prstGeom>
        </p:spPr>
      </p:pic>
      <p:sp>
        <p:nvSpPr>
          <p:cNvPr id="7" name="CuadroTexto 6">
            <a:extLst>
              <a:ext uri="{FF2B5EF4-FFF2-40B4-BE49-F238E27FC236}">
                <a16:creationId xmlns:a16="http://schemas.microsoft.com/office/drawing/2014/main" id="{18E97C8A-8747-B6E3-576B-6EDAAF14A059}"/>
              </a:ext>
              <a:ext uri="{C183D7F6-B498-43B3-948B-1728B52AA6E4}">
                <adec:decorative xmlns:adec="http://schemas.microsoft.com/office/drawing/2017/decorative" val="1"/>
              </a:ext>
            </a:extLst>
          </p:cNvPr>
          <p:cNvSpPr txBox="1"/>
          <p:nvPr/>
        </p:nvSpPr>
        <p:spPr>
          <a:xfrm>
            <a:off x="5158153" y="6005047"/>
            <a:ext cx="1244251" cy="261610"/>
          </a:xfrm>
          <a:prstGeom prst="rect">
            <a:avLst/>
          </a:prstGeom>
          <a:noFill/>
        </p:spPr>
        <p:txBody>
          <a:bodyPr wrap="none" rtlCol="0">
            <a:spAutoFit/>
          </a:bodyPr>
          <a:lstStyle/>
          <a:p>
            <a:r>
              <a:rPr lang="es-ES" sz="1100" dirty="0"/>
              <a:t>Imagen: freepik.es</a:t>
            </a:r>
          </a:p>
        </p:txBody>
      </p:sp>
    </p:spTree>
    <p:extLst>
      <p:ext uri="{BB962C8B-B14F-4D97-AF65-F5344CB8AC3E}">
        <p14:creationId xmlns:p14="http://schemas.microsoft.com/office/powerpoint/2010/main" val="17694877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24215-2B18-1A69-C607-7BE4E52427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BB4553-0473-0073-57EE-FA4CDFD7A927}"/>
              </a:ext>
            </a:extLst>
          </p:cNvPr>
          <p:cNvSpPr>
            <a:spLocks noGrp="1"/>
          </p:cNvSpPr>
          <p:nvPr>
            <p:ph type="title"/>
          </p:nvPr>
        </p:nvSpPr>
        <p:spPr/>
        <p:txBody>
          <a:bodyPr/>
          <a:lstStyle/>
          <a:p>
            <a:r>
              <a:rPr lang="es-ES" dirty="0"/>
              <a:t>12. Distribución Hipergeométrica</a:t>
            </a:r>
            <a:br>
              <a:rPr lang="es-ES" dirty="0"/>
            </a:br>
            <a:r>
              <a:rPr dirty="0" err="1"/>
              <a:t>Ejemplo</a:t>
            </a:r>
            <a:r>
              <a:rPr dirty="0"/>
              <a:t> </a:t>
            </a:r>
            <a:r>
              <a:rPr lang="es-ES" dirty="0"/>
              <a:t>(Cartas)</a:t>
            </a:r>
            <a:r>
              <a:rPr dirty="0"/>
              <a:t>(</a:t>
            </a:r>
            <a:r>
              <a:rPr dirty="0" err="1"/>
              <a:t>Solución</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283D7DD-86CD-F8D4-0574-F411D3ED1D89}"/>
                  </a:ext>
                </a:extLst>
              </p:cNvPr>
              <p:cNvSpPr>
                <a:spLocks noGrp="1"/>
              </p:cNvSpPr>
              <p:nvPr>
                <p:ph idx="1"/>
              </p:nvPr>
            </p:nvSpPr>
            <p:spPr/>
            <p:txBody>
              <a:bodyPr>
                <a:normAutofit/>
              </a:bodyPr>
              <a:lstStyle/>
              <a:p>
                <a:r>
                  <a:rPr lang="es-ES" dirty="0"/>
                  <a:t>X: número de cartas rojas (éxitos), en una muestra de 4 cartas extraídas (ensayos) de una baraja e 52 cartas, con 26 cartas rojas</a:t>
                </a:r>
              </a:p>
              <a:p>
                <a:pPr lvl="1"/>
                <a:r>
                  <a:rPr lang="es-ES" dirty="0"/>
                  <a:t>X tiene distribución Hipergeométrica con </a:t>
                </a:r>
                <a14:m>
                  <m:oMath xmlns:m="http://schemas.openxmlformats.org/officeDocument/2006/math">
                    <m:r>
                      <a:rPr lang="es-ES" i="1" dirty="0" smtClean="0">
                        <a:latin typeface="Cambria Math" panose="02040503050406030204" pitchFamily="18" charset="0"/>
                      </a:rPr>
                      <m:t>𝑁</m:t>
                    </m:r>
                    <m:r>
                      <a:rPr lang="es-ES" i="1" dirty="0" smtClean="0">
                        <a:latin typeface="Cambria Math" panose="02040503050406030204" pitchFamily="18" charset="0"/>
                      </a:rPr>
                      <m:t>=</m:t>
                    </m:r>
                    <m:r>
                      <a:rPr lang="es-ES" i="1" dirty="0" smtClean="0">
                        <a:latin typeface="Cambria Math" panose="02040503050406030204" pitchFamily="18" charset="0"/>
                      </a:rPr>
                      <m:t>52</m:t>
                    </m:r>
                  </m:oMath>
                </a14:m>
                <a:r>
                  <a:rPr lang="es-ES" dirty="0"/>
                  <a:t>, </a:t>
                </a: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 = </m:t>
                    </m:r>
                    <m:r>
                      <a:rPr lang="es-ES" i="1" dirty="0" smtClean="0">
                        <a:latin typeface="Cambria Math" panose="02040503050406030204" pitchFamily="18" charset="0"/>
                      </a:rPr>
                      <m:t>4</m:t>
                    </m:r>
                  </m:oMath>
                </a14:m>
                <a:r>
                  <a:rPr lang="es-ES" dirty="0"/>
                  <a:t>, </a:t>
                </a:r>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m:t>
                    </m:r>
                    <m:r>
                      <a:rPr lang="es-ES" i="1" dirty="0" smtClean="0">
                        <a:latin typeface="Cambria Math" panose="02040503050406030204" pitchFamily="18" charset="0"/>
                      </a:rPr>
                      <m:t>26</m:t>
                    </m:r>
                    <m:r>
                      <a:rPr lang="es-ES" i="1" dirty="0" smtClean="0">
                        <a:latin typeface="Cambria Math" panose="02040503050406030204" pitchFamily="18" charset="0"/>
                      </a:rPr>
                      <m:t>/</m:t>
                    </m:r>
                    <m:r>
                      <a:rPr lang="es-ES" i="1" dirty="0" smtClean="0">
                        <a:latin typeface="Cambria Math" panose="02040503050406030204" pitchFamily="18" charset="0"/>
                      </a:rPr>
                      <m:t>52</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5</m:t>
                    </m:r>
                  </m:oMath>
                </a14:m>
                <a:endParaRPr lang="es-ES" dirty="0"/>
              </a:p>
              <a:p>
                <a:r>
                  <a:rPr lang="es-ES" dirty="0"/>
                  <a:t>Solución</a:t>
                </a:r>
              </a:p>
              <a:p>
                <a:pPr lvl="1"/>
                <a:r>
                  <a:rPr lang="es-ES" dirty="0"/>
                  <a:t>a) </a:t>
                </a:r>
                <a14:m>
                  <m:oMath xmlns:m="http://schemas.openxmlformats.org/officeDocument/2006/math">
                    <m:r>
                      <a:rPr lang="es-ES" i="1">
                        <a:latin typeface="Cambria Math" panose="02040503050406030204" pitchFamily="18" charset="0"/>
                      </a:rPr>
                      <m:t>𝑃</m:t>
                    </m:r>
                    <m:d>
                      <m:dPr>
                        <m:ctrlPr>
                          <a:rPr lang="ar-AE"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2</m:t>
                        </m:r>
                      </m:e>
                    </m:d>
                    <m:r>
                      <a:rPr lang="es-ES" i="1">
                        <a:latin typeface="Cambria Math" panose="02040503050406030204" pitchFamily="18" charset="0"/>
                      </a:rPr>
                      <m:t>=</m:t>
                    </m:r>
                    <m:f>
                      <m:fPr>
                        <m:ctrlPr>
                          <a:rPr lang="ar-AE" i="1">
                            <a:latin typeface="Cambria Math" panose="02040503050406030204" pitchFamily="18" charset="0"/>
                          </a:rPr>
                        </m:ctrlPr>
                      </m:fPr>
                      <m:num>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5</m:t>
                                  </m:r>
                                  <m:r>
                                    <a:rPr lang="es-ES" i="1">
                                      <a:latin typeface="Cambria Math" panose="02040503050406030204" pitchFamily="18" charset="0"/>
                                    </a:rPr>
                                    <m:t>2</m:t>
                                  </m:r>
                                  <m:r>
                                    <m:rPr>
                                      <m:brk m:alnAt="7"/>
                                    </m:rPr>
                                    <a:rPr lang="es-ES" i="1">
                                      <a:latin typeface="Cambria Math" panose="02040503050406030204" pitchFamily="18" charset="0"/>
                                      <a:ea typeface="Cambria Math" panose="02040503050406030204" pitchFamily="18" charset="0"/>
                                    </a:rPr>
                                    <m:t>∙</m:t>
                                  </m:r>
                                  <m:r>
                                    <m:rPr>
                                      <m:brk m:alnAt="7"/>
                                    </m:rPr>
                                    <a:rPr lang="es-ES" i="1">
                                      <a:latin typeface="Cambria Math" panose="02040503050406030204" pitchFamily="18" charset="0"/>
                                      <a:ea typeface="Cambria Math" panose="02040503050406030204" pitchFamily="18" charset="0"/>
                                    </a:rPr>
                                    <m:t>0</m:t>
                                  </m:r>
                                  <m:r>
                                    <m:rPr>
                                      <m:brk m:alnAt="7"/>
                                    </m:rPr>
                                    <a:rPr lang="es-ES" i="1">
                                      <a:latin typeface="Cambria Math" panose="02040503050406030204" pitchFamily="18" charset="0"/>
                                      <a:ea typeface="Cambria Math" panose="02040503050406030204" pitchFamily="18" charset="0"/>
                                    </a:rPr>
                                    <m:t>.</m:t>
                                  </m:r>
                                  <m:r>
                                    <m:rPr>
                                      <m:brk m:alnAt="7"/>
                                    </m:rPr>
                                    <a:rPr lang="es-ES" i="1">
                                      <a:latin typeface="Cambria Math" panose="02040503050406030204" pitchFamily="18" charset="0"/>
                                      <a:ea typeface="Cambria Math" panose="02040503050406030204" pitchFamily="18" charset="0"/>
                                    </a:rPr>
                                    <m:t>5</m:t>
                                  </m:r>
                                </m:e>
                              </m:mr>
                              <m:mr>
                                <m:e>
                                  <m:r>
                                    <a:rPr lang="es-ES" i="1">
                                      <a:latin typeface="Cambria Math" panose="02040503050406030204" pitchFamily="18" charset="0"/>
                                    </a:rPr>
                                    <m:t>2</m:t>
                                  </m:r>
                                </m:e>
                              </m:mr>
                            </m:m>
                          </m:e>
                        </m:d>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5</m:t>
                                  </m:r>
                                  <m:r>
                                    <a:rPr lang="es-ES" i="1">
                                      <a:latin typeface="Cambria Math" panose="02040503050406030204" pitchFamily="18" charset="0"/>
                                    </a:rPr>
                                    <m:t>2</m:t>
                                  </m:r>
                                  <m:r>
                                    <a:rPr lang="es-ES" i="1">
                                      <a:latin typeface="Cambria Math" panose="02040503050406030204" pitchFamily="18" charset="0"/>
                                    </a:rPr>
                                    <m:t>(</m:t>
                                  </m:r>
                                  <m:r>
                                    <m:rPr>
                                      <m:brk m:alnAt="7"/>
                                    </m:rPr>
                                    <a:rPr lang="es-ES" i="1">
                                      <a:latin typeface="Cambria Math" panose="02040503050406030204" pitchFamily="18" charset="0"/>
                                    </a:rPr>
                                    <m:t>1</m:t>
                                  </m:r>
                                  <m:r>
                                    <m:rPr>
                                      <m:brk m:alnAt="7"/>
                                    </m:rPr>
                                    <a:rPr lang="es-ES" i="1">
                                      <a:latin typeface="Cambria Math" panose="02040503050406030204" pitchFamily="18" charset="0"/>
                                    </a:rPr>
                                    <m:t>−</m:t>
                                  </m:r>
                                  <m:r>
                                    <m:rPr>
                                      <m:brk m:alnAt="7"/>
                                    </m:rPr>
                                    <a:rPr lang="es-ES" i="1">
                                      <a:latin typeface="Cambria Math" panose="02040503050406030204" pitchFamily="18" charset="0"/>
                                    </a:rPr>
                                    <m:t>0</m:t>
                                  </m:r>
                                  <m:r>
                                    <m:rPr>
                                      <m:brk m:alnAt="7"/>
                                    </m:rPr>
                                    <a:rPr lang="es-ES" i="1">
                                      <a:latin typeface="Cambria Math" panose="02040503050406030204" pitchFamily="18" charset="0"/>
                                    </a:rPr>
                                    <m:t>.</m:t>
                                  </m:r>
                                  <m:r>
                                    <m:rPr>
                                      <m:brk m:alnAt="7"/>
                                    </m:rPr>
                                    <a:rPr lang="es-ES" i="1">
                                      <a:latin typeface="Cambria Math" panose="02040503050406030204" pitchFamily="18" charset="0"/>
                                    </a:rPr>
                                    <m:t>5</m:t>
                                  </m:r>
                                  <m:r>
                                    <a:rPr lang="es-ES" i="1">
                                      <a:latin typeface="Cambria Math" panose="02040503050406030204" pitchFamily="18" charset="0"/>
                                    </a:rPr>
                                    <m:t>)</m:t>
                                  </m:r>
                                </m:e>
                              </m:mr>
                              <m:mr>
                                <m:e>
                                  <m:r>
                                    <a:rPr lang="es-ES" i="1">
                                      <a:latin typeface="Cambria Math" panose="02040503050406030204" pitchFamily="18" charset="0"/>
                                    </a:rPr>
                                    <m:t>4</m:t>
                                  </m:r>
                                  <m:r>
                                    <a:rPr lang="es-ES" i="1">
                                      <a:latin typeface="Cambria Math" panose="02040503050406030204" pitchFamily="18" charset="0"/>
                                    </a:rPr>
                                    <m:t>−</m:t>
                                  </m:r>
                                  <m:r>
                                    <a:rPr lang="es-ES" i="1">
                                      <a:latin typeface="Cambria Math" panose="02040503050406030204" pitchFamily="18" charset="0"/>
                                    </a:rPr>
                                    <m:t>2</m:t>
                                  </m:r>
                                </m:e>
                              </m:mr>
                            </m:m>
                          </m:e>
                        </m:d>
                      </m:num>
                      <m:den>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5</m:t>
                                  </m:r>
                                  <m:r>
                                    <a:rPr lang="es-ES" i="1">
                                      <a:latin typeface="Cambria Math" panose="02040503050406030204" pitchFamily="18" charset="0"/>
                                    </a:rPr>
                                    <m:t>2</m:t>
                                  </m:r>
                                </m:e>
                              </m:mr>
                              <m:mr>
                                <m:e>
                                  <m:r>
                                    <a:rPr lang="es-ES" i="1">
                                      <a:latin typeface="Cambria Math" panose="02040503050406030204" pitchFamily="18" charset="0"/>
                                    </a:rPr>
                                    <m:t>4</m:t>
                                  </m:r>
                                </m:e>
                              </m:mr>
                            </m:m>
                          </m:e>
                        </m:d>
                      </m:den>
                    </m:f>
                    <m:r>
                      <a:rPr lang="es-ES" i="1">
                        <a:latin typeface="Cambria Math" panose="02040503050406030204" pitchFamily="18" charset="0"/>
                      </a:rPr>
                      <m:t>=</m:t>
                    </m:r>
                    <m:f>
                      <m:fPr>
                        <m:ctrlPr>
                          <a:rPr lang="ar-AE" i="1">
                            <a:latin typeface="Cambria Math" panose="02040503050406030204" pitchFamily="18" charset="0"/>
                          </a:rPr>
                        </m:ctrlPr>
                      </m:fPr>
                      <m:num>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2</m:t>
                                  </m:r>
                                  <m:r>
                                    <a:rPr lang="es-ES" i="1">
                                      <a:latin typeface="Cambria Math" panose="02040503050406030204" pitchFamily="18" charset="0"/>
                                    </a:rPr>
                                    <m:t>1</m:t>
                                  </m:r>
                                </m:e>
                              </m:mr>
                              <m:mr>
                                <m:e>
                                  <m:r>
                                    <a:rPr lang="es-ES" i="1">
                                      <a:latin typeface="Cambria Math" panose="02040503050406030204" pitchFamily="18" charset="0"/>
                                    </a:rPr>
                                    <m:t>2</m:t>
                                  </m:r>
                                </m:e>
                              </m:mr>
                            </m:m>
                          </m:e>
                        </m:d>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2</m:t>
                                  </m:r>
                                  <m:r>
                                    <a:rPr lang="es-ES" i="1">
                                      <a:latin typeface="Cambria Math" panose="02040503050406030204" pitchFamily="18" charset="0"/>
                                    </a:rPr>
                                    <m:t>1</m:t>
                                  </m:r>
                                </m:e>
                              </m:mr>
                              <m:mr>
                                <m:e>
                                  <m:r>
                                    <a:rPr lang="es-ES" i="1">
                                      <a:latin typeface="Cambria Math" panose="02040503050406030204" pitchFamily="18" charset="0"/>
                                    </a:rPr>
                                    <m:t>2</m:t>
                                  </m:r>
                                </m:e>
                              </m:mr>
                            </m:m>
                          </m:e>
                        </m:d>
                      </m:num>
                      <m:den>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5</m:t>
                                  </m:r>
                                  <m:r>
                                    <a:rPr lang="es-ES" i="1">
                                      <a:latin typeface="Cambria Math" panose="02040503050406030204" pitchFamily="18" charset="0"/>
                                    </a:rPr>
                                    <m:t>2</m:t>
                                  </m:r>
                                </m:e>
                              </m:mr>
                              <m:mr>
                                <m:e>
                                  <m:r>
                                    <a:rPr lang="es-ES" i="1">
                                      <a:latin typeface="Cambria Math" panose="02040503050406030204" pitchFamily="18" charset="0"/>
                                    </a:rPr>
                                    <m:t>4</m:t>
                                  </m:r>
                                </m:e>
                              </m:mr>
                            </m:m>
                          </m:e>
                        </m:d>
                      </m:den>
                    </m:f>
                    <m:r>
                      <a:rPr lang="es-ES" i="1">
                        <a:latin typeface="Cambria Math" panose="02040503050406030204" pitchFamily="18" charset="0"/>
                      </a:rPr>
                      <m:t>=</m:t>
                    </m:r>
                    <m:f>
                      <m:fPr>
                        <m:ctrlPr>
                          <a:rPr lang="es-ES" i="1">
                            <a:latin typeface="Cambria Math" panose="02040503050406030204" pitchFamily="18" charset="0"/>
                          </a:rPr>
                        </m:ctrlPr>
                      </m:fPr>
                      <m:num>
                        <m:f>
                          <m:fPr>
                            <m:ctrlPr>
                              <a:rPr lang="es-ES" i="1">
                                <a:latin typeface="Cambria Math" panose="02040503050406030204" pitchFamily="18" charset="0"/>
                              </a:rPr>
                            </m:ctrlPr>
                          </m:fPr>
                          <m:num>
                            <m:r>
                              <a:rPr lang="es-ES" i="1">
                                <a:latin typeface="Cambria Math" panose="02040503050406030204" pitchFamily="18" charset="0"/>
                              </a:rPr>
                              <m:t>21</m:t>
                            </m:r>
                            <m:r>
                              <a:rPr lang="es-ES" i="1">
                                <a:latin typeface="Cambria Math" panose="02040503050406030204" pitchFamily="18" charset="0"/>
                                <a:ea typeface="Cambria Math" panose="02040503050406030204" pitchFamily="18" charset="0"/>
                              </a:rPr>
                              <m:t>!</m:t>
                            </m:r>
                          </m:num>
                          <m:den>
                            <m:r>
                              <a:rPr lang="es-ES" i="1">
                                <a:latin typeface="Cambria Math" panose="02040503050406030204" pitchFamily="18" charset="0"/>
                              </a:rPr>
                              <m:t>2</m:t>
                            </m:r>
                            <m:r>
                              <a:rPr lang="es-ES" i="1">
                                <a:latin typeface="Cambria Math" panose="02040503050406030204" pitchFamily="18" charset="0"/>
                                <a:ea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21</m:t>
                                </m:r>
                                <m:r>
                                  <a:rPr lang="es-ES" i="1">
                                    <a:latin typeface="Cambria Math" panose="02040503050406030204" pitchFamily="18" charset="0"/>
                                  </a:rPr>
                                  <m:t>−</m:t>
                                </m:r>
                                <m:r>
                                  <a:rPr lang="es-ES" i="1">
                                    <a:latin typeface="Cambria Math" panose="02040503050406030204" pitchFamily="18" charset="0"/>
                                  </a:rPr>
                                  <m:t>2</m:t>
                                </m:r>
                              </m:e>
                            </m:d>
                            <m:r>
                              <a:rPr lang="es-ES" i="1">
                                <a:latin typeface="Cambria Math" panose="02040503050406030204" pitchFamily="18" charset="0"/>
                                <a:ea typeface="Cambria Math" panose="02040503050406030204" pitchFamily="18" charset="0"/>
                              </a:rPr>
                              <m:t>!</m:t>
                            </m:r>
                          </m:den>
                        </m:f>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21</m:t>
                            </m:r>
                            <m:r>
                              <a:rPr lang="es-ES" i="1">
                                <a:latin typeface="Cambria Math" panose="02040503050406030204" pitchFamily="18" charset="0"/>
                                <a:ea typeface="Cambria Math" panose="02040503050406030204" pitchFamily="18" charset="0"/>
                              </a:rPr>
                              <m:t>!</m:t>
                            </m:r>
                          </m:num>
                          <m:den>
                            <m:r>
                              <a:rPr lang="es-ES" i="1">
                                <a:latin typeface="Cambria Math" panose="02040503050406030204" pitchFamily="18" charset="0"/>
                                <a:ea typeface="Cambria Math" panose="02040503050406030204" pitchFamily="18" charset="0"/>
                              </a:rPr>
                              <m:t>2</m:t>
                            </m:r>
                            <m:r>
                              <a:rPr lang="es-ES" i="1">
                                <a:latin typeface="Cambria Math" panose="02040503050406030204" pitchFamily="18" charset="0"/>
                                <a:ea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21</m:t>
                                </m:r>
                                <m:r>
                                  <a:rPr lang="es-ES" i="1">
                                    <a:latin typeface="Cambria Math" panose="02040503050406030204" pitchFamily="18" charset="0"/>
                                  </a:rPr>
                                  <m:t>−</m:t>
                                </m:r>
                                <m:r>
                                  <a:rPr lang="es-ES" i="1">
                                    <a:latin typeface="Cambria Math" panose="02040503050406030204" pitchFamily="18" charset="0"/>
                                  </a:rPr>
                                  <m:t>2</m:t>
                                </m:r>
                              </m:e>
                            </m:d>
                            <m:r>
                              <a:rPr lang="es-ES" i="1">
                                <a:latin typeface="Cambria Math" panose="02040503050406030204" pitchFamily="18" charset="0"/>
                                <a:ea typeface="Cambria Math" panose="02040503050406030204" pitchFamily="18" charset="0"/>
                              </a:rPr>
                              <m:t>!</m:t>
                            </m:r>
                          </m:den>
                        </m:f>
                      </m:num>
                      <m:den>
                        <m:f>
                          <m:fPr>
                            <m:ctrlPr>
                              <a:rPr lang="es-ES" i="1">
                                <a:latin typeface="Cambria Math" panose="02040503050406030204" pitchFamily="18" charset="0"/>
                              </a:rPr>
                            </m:ctrlPr>
                          </m:fPr>
                          <m:num>
                            <m:r>
                              <a:rPr lang="es-ES" i="1">
                                <a:latin typeface="Cambria Math" panose="02040503050406030204" pitchFamily="18" charset="0"/>
                              </a:rPr>
                              <m:t>52</m:t>
                            </m:r>
                            <m:r>
                              <a:rPr lang="es-ES" i="1">
                                <a:latin typeface="Cambria Math" panose="02040503050406030204" pitchFamily="18" charset="0"/>
                                <a:ea typeface="Cambria Math" panose="02040503050406030204" pitchFamily="18" charset="0"/>
                              </a:rPr>
                              <m:t>!</m:t>
                            </m:r>
                          </m:num>
                          <m:den>
                            <m:r>
                              <a:rPr lang="es-ES" i="1">
                                <a:latin typeface="Cambria Math" panose="02040503050406030204" pitchFamily="18" charset="0"/>
                              </a:rPr>
                              <m:t>4</m:t>
                            </m:r>
                            <m:r>
                              <a:rPr lang="es-ES" i="1">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52</m:t>
                                </m:r>
                                <m:r>
                                  <a:rPr lang="es-ES" i="1">
                                    <a:latin typeface="Cambria Math" panose="02040503050406030204" pitchFamily="18" charset="0"/>
                                  </a:rPr>
                                  <m:t>−</m:t>
                                </m:r>
                                <m:r>
                                  <a:rPr lang="es-ES" i="1">
                                    <a:latin typeface="Cambria Math" panose="02040503050406030204" pitchFamily="18" charset="0"/>
                                  </a:rPr>
                                  <m:t>4</m:t>
                                </m:r>
                              </m:e>
                            </m:d>
                            <m:r>
                              <a:rPr lang="es-ES" i="1">
                                <a:latin typeface="Cambria Math" panose="02040503050406030204" pitchFamily="18" charset="0"/>
                                <a:ea typeface="Cambria Math" panose="02040503050406030204" pitchFamily="18" charset="0"/>
                              </a:rPr>
                              <m:t>!</m:t>
                            </m:r>
                          </m:den>
                        </m:f>
                      </m:den>
                    </m:f>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39</m:t>
                    </m:r>
                  </m:oMath>
                </a14:m>
                <a:endParaRPr lang="es-ES" dirty="0"/>
              </a:p>
              <a:p>
                <a:pPr lvl="1"/>
                <a:r>
                  <a:rPr lang="es-ES" dirty="0"/>
                  <a:t>b)  Como </a:t>
                </a:r>
                <a14:m>
                  <m:oMath xmlns:m="http://schemas.openxmlformats.org/officeDocument/2006/math">
                    <m:r>
                      <a:rPr lang="es-ES" i="1" dirty="0" smtClean="0">
                        <a:latin typeface="Cambria Math" panose="02040503050406030204" pitchFamily="18" charset="0"/>
                      </a:rPr>
                      <m:t>𝑁</m:t>
                    </m:r>
                    <m:r>
                      <a:rPr lang="es-ES" i="1" dirty="0" smtClean="0">
                        <a:latin typeface="Cambria Math" panose="02040503050406030204" pitchFamily="18" charset="0"/>
                      </a:rPr>
                      <m:t>&gt;</m:t>
                    </m:r>
                    <m:r>
                      <a:rPr lang="es-ES" i="1" dirty="0" smtClean="0">
                        <a:latin typeface="Cambria Math" panose="02040503050406030204" pitchFamily="18" charset="0"/>
                      </a:rPr>
                      <m:t>10</m:t>
                    </m:r>
                    <m:r>
                      <a:rPr lang="es-ES" i="1" dirty="0" smtClean="0">
                        <a:latin typeface="Cambria Math" panose="02040503050406030204" pitchFamily="18" charset="0"/>
                      </a:rPr>
                      <m:t>𝑛</m:t>
                    </m:r>
                  </m:oMath>
                </a14:m>
                <a:r>
                  <a:rPr lang="es-ES" dirty="0"/>
                  <a:t>,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m:t>
                    </m:r>
                    <m:r>
                      <a:rPr lang="es-ES" i="1" dirty="0" smtClean="0">
                        <a:latin typeface="Cambria Math" panose="02040503050406030204" pitchFamily="18" charset="0"/>
                      </a:rPr>
                      <m:t>𝐻</m:t>
                    </m:r>
                    <m:r>
                      <a:rPr lang="es-ES" i="1" dirty="0" smtClean="0">
                        <a:latin typeface="Cambria Math" panose="02040503050406030204" pitchFamily="18" charset="0"/>
                      </a:rPr>
                      <m:t>(</m:t>
                    </m:r>
                    <m:r>
                      <a:rPr lang="es-ES" i="1" dirty="0" smtClean="0">
                        <a:latin typeface="Cambria Math" panose="02040503050406030204" pitchFamily="18" charset="0"/>
                      </a:rPr>
                      <m:t>𝑁</m:t>
                    </m:r>
                    <m:r>
                      <a:rPr lang="es-ES" i="1" dirty="0" smtClean="0">
                        <a:latin typeface="Cambria Math" panose="02040503050406030204" pitchFamily="18" charset="0"/>
                      </a:rPr>
                      <m:t>,</m:t>
                    </m:r>
                    <m:r>
                      <a:rPr lang="es-ES" i="1" dirty="0" smtClean="0">
                        <a:latin typeface="Cambria Math" panose="02040503050406030204" pitchFamily="18" charset="0"/>
                      </a:rPr>
                      <m:t>𝑛</m:t>
                    </m:r>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m:t>
                    </m:r>
                    <m:r>
                      <a:rPr lang="es-ES" i="1" dirty="0" smtClean="0">
                        <a:latin typeface="Cambria Math" panose="02040503050406030204" pitchFamily="18" charset="0"/>
                      </a:rPr>
                      <m:t>𝐻</m:t>
                    </m:r>
                    <m:r>
                      <a:rPr lang="es-ES" i="1" dirty="0" smtClean="0">
                        <a:latin typeface="Cambria Math" panose="02040503050406030204" pitchFamily="18" charset="0"/>
                      </a:rPr>
                      <m:t>(</m:t>
                    </m:r>
                    <m:r>
                      <a:rPr lang="es-ES" i="1" dirty="0" smtClean="0">
                        <a:latin typeface="Cambria Math" panose="02040503050406030204" pitchFamily="18" charset="0"/>
                      </a:rPr>
                      <m:t>52</m:t>
                    </m:r>
                    <m:r>
                      <a:rPr lang="es-ES" i="1" dirty="0" smtClean="0">
                        <a:latin typeface="Cambria Math" panose="02040503050406030204" pitchFamily="18" charset="0"/>
                      </a:rPr>
                      <m:t>,</m:t>
                    </m:r>
                    <m:r>
                      <a:rPr lang="es-ES" i="1" dirty="0" smtClean="0">
                        <a:latin typeface="Cambria Math" panose="02040503050406030204" pitchFamily="18" charset="0"/>
                      </a:rPr>
                      <m:t>4</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5</m:t>
                    </m:r>
                    <m:r>
                      <a:rPr lang="es-ES" i="1" dirty="0" smtClean="0">
                        <a:latin typeface="Cambria Math" panose="02040503050406030204" pitchFamily="18" charset="0"/>
                      </a:rPr>
                      <m:t>) ≈ </m:t>
                    </m:r>
                    <m:r>
                      <a:rPr lang="es-ES" i="1" dirty="0" smtClean="0">
                        <a:latin typeface="Cambria Math" panose="02040503050406030204" pitchFamily="18" charset="0"/>
                      </a:rPr>
                      <m:t>𝑋</m:t>
                    </m:r>
                    <m:r>
                      <a:rPr lang="es-ES" i="1" dirty="0" smtClean="0">
                        <a:latin typeface="Cambria Math" panose="02040503050406030204" pitchFamily="18" charset="0"/>
                      </a:rPr>
                      <m:t>:</m:t>
                    </m:r>
                    <m:r>
                      <a:rPr lang="es-ES" i="1" dirty="0" smtClean="0">
                        <a:latin typeface="Cambria Math" panose="02040503050406030204" pitchFamily="18" charset="0"/>
                      </a:rPr>
                      <m:t>𝐵</m:t>
                    </m:r>
                    <m:r>
                      <a:rPr lang="es-ES" i="1" dirty="0" smtClean="0">
                        <a:latin typeface="Cambria Math" panose="02040503050406030204" pitchFamily="18" charset="0"/>
                      </a:rPr>
                      <m:t>(</m:t>
                    </m:r>
                    <m:r>
                      <a:rPr lang="es-ES" i="1" dirty="0" smtClean="0">
                        <a:latin typeface="Cambria Math" panose="02040503050406030204" pitchFamily="18" charset="0"/>
                      </a:rPr>
                      <m:t>𝑛</m:t>
                    </m:r>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m:t>
                    </m:r>
                    <m:r>
                      <a:rPr lang="es-ES" i="1" dirty="0" smtClean="0">
                        <a:latin typeface="Cambria Math" panose="02040503050406030204" pitchFamily="18" charset="0"/>
                      </a:rPr>
                      <m:t>𝐵</m:t>
                    </m:r>
                    <m:r>
                      <a:rPr lang="es-ES" i="1" dirty="0" smtClean="0">
                        <a:latin typeface="Cambria Math" panose="02040503050406030204" pitchFamily="18" charset="0"/>
                      </a:rPr>
                      <m:t>(</m:t>
                    </m:r>
                    <m:r>
                      <a:rPr lang="es-ES" i="1" dirty="0" smtClean="0">
                        <a:latin typeface="Cambria Math" panose="02040503050406030204" pitchFamily="18" charset="0"/>
                      </a:rPr>
                      <m:t>4</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5</m:t>
                    </m:r>
                    <m:r>
                      <a:rPr lang="es-ES" i="1" dirty="0" smtClean="0">
                        <a:latin typeface="Cambria Math" panose="02040503050406030204" pitchFamily="18" charset="0"/>
                      </a:rPr>
                      <m:t>)</m:t>
                    </m:r>
                  </m:oMath>
                </a14:m>
                <a:endParaRPr lang="es-ES" dirty="0"/>
              </a:p>
              <a:p>
                <a:pPr lvl="2"/>
                <a14:m>
                  <m:oMath xmlns:m="http://schemas.openxmlformats.org/officeDocument/2006/math">
                    <m:r>
                      <a:rPr lang="es-ES" i="1">
                        <a:latin typeface="Cambria Math" panose="02040503050406030204" pitchFamily="18" charset="0"/>
                      </a:rPr>
                      <m:t>𝑃</m:t>
                    </m:r>
                    <m:d>
                      <m:dPr>
                        <m:ctrlPr>
                          <a:rPr lang="ar-AE"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2</m:t>
                        </m:r>
                      </m:e>
                    </m:d>
                    <m:r>
                      <a:rPr lang="es-ES" b="0" i="1" smtClean="0">
                        <a:latin typeface="Cambria Math" panose="02040503050406030204" pitchFamily="18" charset="0"/>
                      </a:rPr>
                      <m:t>=</m:t>
                    </m:r>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b="0" i="1" smtClean="0">
                                  <a:latin typeface="Cambria Math" panose="02040503050406030204" pitchFamily="18" charset="0"/>
                                </a:rPr>
                                <m:t>4</m:t>
                              </m:r>
                            </m:e>
                          </m:mr>
                          <m:mr>
                            <m:e>
                              <m:r>
                                <a:rPr lang="es-ES" b="0" i="1" smtClean="0">
                                  <a:latin typeface="Cambria Math" panose="02040503050406030204" pitchFamily="18" charset="0"/>
                                </a:rPr>
                                <m:t>2</m:t>
                              </m:r>
                            </m:e>
                          </m:mr>
                        </m:m>
                      </m:e>
                    </m:d>
                    <m:sSup>
                      <m:sSupPr>
                        <m:ctrlPr>
                          <a:rPr lang="ar-AE" i="1">
                            <a:latin typeface="Cambria Math" panose="02040503050406030204" pitchFamily="18" charset="0"/>
                          </a:rPr>
                        </m:ctrlPr>
                      </m:sSup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5</m:t>
                        </m:r>
                      </m:e>
                      <m:sup>
                        <m:r>
                          <a:rPr lang="es-ES" b="0" i="1" smtClean="0">
                            <a:latin typeface="Cambria Math" panose="02040503050406030204" pitchFamily="18" charset="0"/>
                          </a:rPr>
                          <m:t>2</m:t>
                        </m:r>
                      </m:sup>
                    </m:sSup>
                    <m:sSup>
                      <m:sSupPr>
                        <m:ctrlPr>
                          <a:rPr lang="ar-AE" i="1">
                            <a:latin typeface="Cambria Math" panose="02040503050406030204" pitchFamily="18" charset="0"/>
                          </a:rPr>
                        </m:ctrlPr>
                      </m:sSupPr>
                      <m:e>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5</m:t>
                        </m:r>
                        <m:r>
                          <a:rPr lang="ar-AE" i="1">
                            <a:latin typeface="Cambria Math" panose="02040503050406030204" pitchFamily="18" charset="0"/>
                          </a:rPr>
                          <m:t>)</m:t>
                        </m:r>
                      </m:e>
                      <m:sup>
                        <m:r>
                          <a:rPr lang="es-ES" b="0" i="1" smtClean="0">
                            <a:latin typeface="Cambria Math" panose="02040503050406030204" pitchFamily="18" charset="0"/>
                          </a:rPr>
                          <m:t>4</m:t>
                        </m:r>
                        <m:r>
                          <a:rPr lang="ar-AE" i="1">
                            <a:latin typeface="Cambria Math" panose="02040503050406030204" pitchFamily="18" charset="0"/>
                          </a:rPr>
                          <m:t>−</m:t>
                        </m:r>
                        <m:r>
                          <a:rPr lang="es-ES" b="0" i="1" smtClean="0">
                            <a:latin typeface="Cambria Math" panose="02040503050406030204" pitchFamily="18" charset="0"/>
                          </a:rPr>
                          <m:t>2</m:t>
                        </m:r>
                      </m:sup>
                    </m:sSup>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38</m:t>
                    </m:r>
                  </m:oMath>
                </a14:m>
                <a:endParaRPr lang="es-ES" dirty="0"/>
              </a:p>
              <a:p>
                <a:pPr lvl="2"/>
                <a:r>
                  <a:rPr lang="es-ES" dirty="0"/>
                  <a:t>Usando tabla A2 del libro: </a:t>
                </a:r>
                <a14:m>
                  <m:oMath xmlns:m="http://schemas.openxmlformats.org/officeDocument/2006/math">
                    <m:r>
                      <a:rPr lang="es-ES" i="1" dirty="0" smtClean="0">
                        <a:latin typeface="Cambria Math" panose="02040503050406030204" pitchFamily="18" charset="0"/>
                      </a:rPr>
                      <m:t>𝑃</m:t>
                    </m:r>
                    <m:d>
                      <m:dPr>
                        <m:ctrlPr>
                          <a:rPr lang="es-ES" i="1" dirty="0" smtClean="0">
                            <a:latin typeface="Cambria Math" panose="02040503050406030204" pitchFamily="18" charset="0"/>
                          </a:rPr>
                        </m:ctrlPr>
                      </m:dPr>
                      <m:e>
                        <m:r>
                          <a:rPr lang="es-ES" i="1" dirty="0" smtClean="0">
                            <a:latin typeface="Cambria Math" panose="02040503050406030204" pitchFamily="18" charset="0"/>
                          </a:rPr>
                          <m:t>𝑋</m:t>
                        </m:r>
                        <m:r>
                          <a:rPr lang="es-ES" i="1" dirty="0" smtClean="0">
                            <a:latin typeface="Cambria Math" panose="02040503050406030204" pitchFamily="18" charset="0"/>
                          </a:rPr>
                          <m:t>=</m:t>
                        </m:r>
                        <m:r>
                          <a:rPr lang="es-ES" i="1" dirty="0" smtClean="0">
                            <a:latin typeface="Cambria Math" panose="02040503050406030204" pitchFamily="18" charset="0"/>
                          </a:rPr>
                          <m:t>2</m:t>
                        </m:r>
                      </m:e>
                    </m:d>
                    <m:r>
                      <a:rPr lang="es-ES" i="1" dirty="0" smtClean="0">
                        <a:latin typeface="Cambria Math" panose="02040503050406030204" pitchFamily="18" charset="0"/>
                      </a:rPr>
                      <m:t>=</m:t>
                    </m:r>
                    <m:r>
                      <a:rPr lang="es-ES" i="1" dirty="0" smtClean="0">
                        <a:latin typeface="Cambria Math" panose="02040503050406030204" pitchFamily="18" charset="0"/>
                      </a:rPr>
                      <m:t>𝑃</m:t>
                    </m:r>
                    <m:d>
                      <m:dPr>
                        <m:ctrlPr>
                          <a:rPr lang="es-ES" b="0" i="1" dirty="0" smtClean="0">
                            <a:latin typeface="Cambria Math" panose="02040503050406030204" pitchFamily="18" charset="0"/>
                          </a:rPr>
                        </m:ctrlPr>
                      </m:dPr>
                      <m:e>
                        <m:r>
                          <a:rPr lang="es-ES" i="1" dirty="0" smtClean="0">
                            <a:latin typeface="Cambria Math" panose="02040503050406030204" pitchFamily="18" charset="0"/>
                          </a:rPr>
                          <m:t>𝑋</m:t>
                        </m:r>
                        <m:r>
                          <a:rPr lang="es-ES"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2</m:t>
                        </m:r>
                      </m:e>
                    </m:d>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𝑃</m:t>
                    </m:r>
                    <m:d>
                      <m:dPr>
                        <m:ctrlPr>
                          <a:rPr lang="es-ES" b="0" i="1" dirty="0" smtClean="0">
                            <a:latin typeface="Cambria Math" panose="02040503050406030204" pitchFamily="18" charset="0"/>
                            <a:ea typeface="Cambria Math" panose="02040503050406030204" pitchFamily="18" charset="0"/>
                          </a:rPr>
                        </m:ctrlPr>
                      </m:dPr>
                      <m:e>
                        <m:r>
                          <a:rPr lang="es-ES" b="0" i="1" dirty="0" smtClean="0">
                            <a:latin typeface="Cambria Math" panose="02040503050406030204" pitchFamily="18" charset="0"/>
                            <a:ea typeface="Cambria Math" panose="02040503050406030204" pitchFamily="18" charset="0"/>
                          </a:rPr>
                          <m:t>𝑋</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1</m:t>
                        </m:r>
                      </m:e>
                    </m:d>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0</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69</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0</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31</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0</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38</m:t>
                    </m:r>
                  </m:oMath>
                </a14:m>
                <a:endParaRPr lang="es-ES" dirty="0"/>
              </a:p>
              <a:p>
                <a:pPr marL="914400" lvl="1" indent="-457200">
                  <a:buFont typeface="+mj-lt"/>
                  <a:buAutoNum type="alphaLcParenR"/>
                </a:pPr>
                <a:endParaRPr lang="es-ES" b="0" dirty="0"/>
              </a:p>
              <a:p>
                <a:pPr marL="914400" lvl="1" indent="-457200">
                  <a:buFont typeface="+mj-lt"/>
                  <a:buAutoNum type="alphaLcParenR"/>
                </a:pPr>
                <a:endParaRPr lang="ar-AE" b="0" dirty="0"/>
              </a:p>
            </p:txBody>
          </p:sp>
        </mc:Choice>
        <mc:Fallback xmlns="">
          <p:sp>
            <p:nvSpPr>
              <p:cNvPr id="3" name="Marcador de contenido 2">
                <a:extLst>
                  <a:ext uri="{FF2B5EF4-FFF2-40B4-BE49-F238E27FC236}">
                    <a16:creationId xmlns:a16="http://schemas.microsoft.com/office/drawing/2014/main" id="{D283D7DD-86CD-F8D4-0574-F411D3ED1D8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A1AD887D-CDBC-96BC-E9E8-EB54D5D6A50F}"/>
              </a:ext>
            </a:extLst>
          </p:cNvPr>
          <p:cNvSpPr>
            <a:spLocks noGrp="1"/>
          </p:cNvSpPr>
          <p:nvPr>
            <p:ph type="sldNum" sz="quarter" idx="12"/>
          </p:nvPr>
        </p:nvSpPr>
        <p:spPr/>
        <p:txBody>
          <a:bodyPr/>
          <a:lstStyle/>
          <a:p>
            <a:fld id="{336CAFD0-1F6E-4E11-9822-836563A02839}" type="slidenum">
              <a:rPr lang="es-ES" smtClean="0"/>
              <a:t>72</a:t>
            </a:fld>
            <a:endParaRPr lang="es-ES"/>
          </a:p>
        </p:txBody>
      </p:sp>
    </p:spTree>
    <p:extLst>
      <p:ext uri="{BB962C8B-B14F-4D97-AF65-F5344CB8AC3E}">
        <p14:creationId xmlns:p14="http://schemas.microsoft.com/office/powerpoint/2010/main" val="38699954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335B1-CAD1-B73D-1449-B805D66494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72E44D-FC4E-68F7-DEC6-3D4B3795D834}"/>
              </a:ext>
            </a:extLst>
          </p:cNvPr>
          <p:cNvSpPr>
            <a:spLocks noGrp="1"/>
          </p:cNvSpPr>
          <p:nvPr>
            <p:ph type="title"/>
          </p:nvPr>
        </p:nvSpPr>
        <p:spPr/>
        <p:txBody>
          <a:bodyPr>
            <a:normAutofit/>
          </a:bodyPr>
          <a:lstStyle/>
          <a:p>
            <a:r>
              <a:rPr lang="es-ES" dirty="0"/>
              <a:t>12. Distribución Hipergeométrica</a:t>
            </a:r>
            <a:br>
              <a:rPr lang="es-ES" dirty="0"/>
            </a:br>
            <a:r>
              <a:rPr dirty="0" err="1"/>
              <a:t>Ejercicio</a:t>
            </a:r>
            <a:r>
              <a:rPr lang="es-ES" dirty="0"/>
              <a:t>s</a:t>
            </a:r>
            <a:r>
              <a:rPr dirty="0"/>
              <a:t> </a:t>
            </a:r>
            <a:r>
              <a:rPr dirty="0" err="1"/>
              <a:t>propuesto</a:t>
            </a:r>
            <a:r>
              <a:rPr lang="es-ES" dirty="0"/>
              <a:t>s</a:t>
            </a:r>
            <a:endParaRPr dirty="0"/>
          </a:p>
        </p:txBody>
      </p:sp>
      <p:sp>
        <p:nvSpPr>
          <p:cNvPr id="3" name="Marcador de contenido 2">
            <a:extLst>
              <a:ext uri="{FF2B5EF4-FFF2-40B4-BE49-F238E27FC236}">
                <a16:creationId xmlns:a16="http://schemas.microsoft.com/office/drawing/2014/main" id="{6CFC2E7A-B56D-5004-176E-F068DC1A0DF5}"/>
              </a:ext>
            </a:extLst>
          </p:cNvPr>
          <p:cNvSpPr>
            <a:spLocks noGrp="1"/>
          </p:cNvSpPr>
          <p:nvPr>
            <p:ph idx="1"/>
          </p:nvPr>
        </p:nvSpPr>
        <p:spPr/>
        <p:txBody>
          <a:bodyPr>
            <a:normAutofit/>
          </a:bodyPr>
          <a:lstStyle/>
          <a:p>
            <a:r>
              <a:rPr dirty="0" err="1"/>
              <a:t>Ejercicio</a:t>
            </a:r>
            <a:r>
              <a:rPr lang="es-ES" dirty="0"/>
              <a:t>s</a:t>
            </a:r>
            <a:r>
              <a:rPr dirty="0"/>
              <a:t> del </a:t>
            </a:r>
            <a:r>
              <a:rPr dirty="0" err="1"/>
              <a:t>libro</a:t>
            </a:r>
            <a:r>
              <a:rPr lang="es-ES" dirty="0"/>
              <a:t> “</a:t>
            </a:r>
            <a:r>
              <a:rPr lang="en-US" dirty="0">
                <a:hlinkClick r:id="rId2"/>
              </a:rPr>
              <a:t>Applied statistics and probability for engineers</a:t>
            </a:r>
            <a:r>
              <a:rPr lang="en-US" dirty="0"/>
              <a:t>”</a:t>
            </a:r>
            <a:endParaRPr dirty="0"/>
          </a:p>
          <a:p>
            <a:pPr lvl="1"/>
            <a:r>
              <a:rPr lang="es-ES" dirty="0"/>
              <a:t>Ejercicios 3-120 a 3-126 </a:t>
            </a:r>
          </a:p>
          <a:p>
            <a:pPr lvl="1"/>
            <a:r>
              <a:rPr dirty="0"/>
              <a:t>La </a:t>
            </a:r>
            <a:r>
              <a:rPr dirty="0" err="1"/>
              <a:t>respuesta</a:t>
            </a:r>
            <a:r>
              <a:rPr dirty="0"/>
              <a:t> </a:t>
            </a:r>
            <a:r>
              <a:rPr lang="es-ES" dirty="0"/>
              <a:t>de 3-121, 3-123, 3-125, </a:t>
            </a:r>
            <a:r>
              <a:rPr dirty="0" err="1"/>
              <a:t>está</a:t>
            </a:r>
            <a:r>
              <a:rPr dirty="0"/>
              <a:t> disponible </a:t>
            </a:r>
            <a:r>
              <a:rPr lang="es-ES" dirty="0"/>
              <a:t>en </a:t>
            </a:r>
            <a:r>
              <a:rPr lang="es-ES" dirty="0">
                <a:hlinkClick r:id="rId3"/>
              </a:rPr>
              <a:t>“</a:t>
            </a:r>
            <a:r>
              <a:rPr lang="en-US" dirty="0">
                <a:hlinkClick r:id="rId3"/>
              </a:rPr>
              <a:t>Student Solutions Manual Applied Statistics and Probability for Engineers</a:t>
            </a:r>
            <a:r>
              <a:rPr lang="en-US" dirty="0"/>
              <a:t>”</a:t>
            </a:r>
            <a:r>
              <a:rPr lang="es-ES" sz="2400" b="0" strike="noStrike" spc="-1" dirty="0">
                <a:solidFill>
                  <a:srgbClr val="000000"/>
                </a:solidFill>
                <a:latin typeface="Calibri"/>
              </a:rPr>
              <a:t>.</a:t>
            </a:r>
            <a:endParaRPr dirty="0"/>
          </a:p>
          <a:p>
            <a:pPr marL="0" indent="0">
              <a:buNone/>
            </a:pPr>
            <a:endParaRPr lang="es-ES" dirty="0"/>
          </a:p>
        </p:txBody>
      </p:sp>
      <p:sp>
        <p:nvSpPr>
          <p:cNvPr id="4" name="Marcador de número de diapositiva 3">
            <a:extLst>
              <a:ext uri="{FF2B5EF4-FFF2-40B4-BE49-F238E27FC236}">
                <a16:creationId xmlns:a16="http://schemas.microsoft.com/office/drawing/2014/main" id="{EBC0183F-A1D3-9FB7-337C-A722657FB54C}"/>
              </a:ext>
            </a:extLst>
          </p:cNvPr>
          <p:cNvSpPr>
            <a:spLocks noGrp="1"/>
          </p:cNvSpPr>
          <p:nvPr>
            <p:ph type="sldNum" sz="quarter" idx="12"/>
          </p:nvPr>
        </p:nvSpPr>
        <p:spPr/>
        <p:txBody>
          <a:bodyPr/>
          <a:lstStyle/>
          <a:p>
            <a:fld id="{336CAFD0-1F6E-4E11-9822-836563A02839}" type="slidenum">
              <a:rPr lang="es-ES" smtClean="0"/>
              <a:t>73</a:t>
            </a:fld>
            <a:endParaRPr lang="es-ES"/>
          </a:p>
        </p:txBody>
      </p:sp>
    </p:spTree>
    <p:extLst>
      <p:ext uri="{BB962C8B-B14F-4D97-AF65-F5344CB8AC3E}">
        <p14:creationId xmlns:p14="http://schemas.microsoft.com/office/powerpoint/2010/main" val="2897949501"/>
      </p:ext>
    </p:extLst>
  </p:cSld>
  <p:clrMapOvr>
    <a:masterClrMapping/>
  </p:clrMapOvr>
  <mc:AlternateContent xmlns:mc="http://schemas.openxmlformats.org/markup-compatibility/2006" xmlns:p14="http://schemas.microsoft.com/office/powerpoint/2010/main">
    <mc:Choice Requires="p14">
      <p:transition spd="slow" p14:dur="2000" advTm="7312"/>
    </mc:Choice>
    <mc:Fallback xmlns="">
      <p:transition spd="slow" advTm="7312"/>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DCCD44-580C-2349-7CEE-F5FF8F4FBDC1}"/>
              </a:ext>
            </a:extLst>
          </p:cNvPr>
          <p:cNvSpPr>
            <a:spLocks noGrp="1"/>
          </p:cNvSpPr>
          <p:nvPr>
            <p:ph type="title"/>
          </p:nvPr>
        </p:nvSpPr>
        <p:spPr/>
        <p:txBody>
          <a:bodyPr/>
          <a:lstStyle/>
          <a:p>
            <a:r>
              <a:rPr lang="es-ES" dirty="0"/>
              <a:t>13</a:t>
            </a:r>
            <a:r>
              <a:rPr dirty="0"/>
              <a:t>. </a:t>
            </a:r>
            <a:r>
              <a:rPr dirty="0" err="1"/>
              <a:t>Distribución</a:t>
            </a:r>
            <a:r>
              <a:rPr dirty="0"/>
              <a:t> de Poisson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5AB056D-72CF-52F5-8FF5-B85155761FED}"/>
                  </a:ext>
                </a:extLst>
              </p:cNvPr>
              <p:cNvSpPr>
                <a:spLocks noGrp="1"/>
              </p:cNvSpPr>
              <p:nvPr>
                <p:ph idx="1"/>
              </p:nvPr>
            </p:nvSpPr>
            <p:spPr/>
            <p:txBody>
              <a:bodyPr>
                <a:normAutofit fontScale="92500" lnSpcReduction="20000"/>
              </a:bodyPr>
              <a:lstStyle/>
              <a:p>
                <a:r>
                  <a:rPr dirty="0"/>
                  <a:t>Una variable </a:t>
                </a:r>
                <a:r>
                  <a:rPr dirty="0" err="1"/>
                  <a:t>descrita</a:t>
                </a:r>
                <a:r>
                  <a:rPr dirty="0"/>
                  <a:t> </a:t>
                </a:r>
                <a:r>
                  <a:rPr dirty="0" err="1"/>
                  <a:t>como</a:t>
                </a:r>
                <a:r>
                  <a:rPr dirty="0"/>
                  <a:t> </a:t>
                </a:r>
                <a:r>
                  <a:rPr lang="es-ES" dirty="0"/>
                  <a:t>"</a:t>
                </a:r>
                <a:r>
                  <a:rPr dirty="0" err="1"/>
                  <a:t>el</a:t>
                </a:r>
                <a:r>
                  <a:rPr dirty="0"/>
                  <a:t> </a:t>
                </a:r>
                <a:r>
                  <a:rPr dirty="0" err="1"/>
                  <a:t>número</a:t>
                </a:r>
                <a:r>
                  <a:rPr dirty="0"/>
                  <a:t> de </a:t>
                </a:r>
                <a:r>
                  <a:rPr lang="es-ES" b="1" dirty="0"/>
                  <a:t>eventos</a:t>
                </a:r>
                <a:r>
                  <a:rPr b="1" dirty="0"/>
                  <a:t> </a:t>
                </a:r>
                <a:r>
                  <a:rPr b="1" dirty="0" err="1"/>
                  <a:t>raros</a:t>
                </a:r>
                <a:r>
                  <a:rPr b="1" dirty="0"/>
                  <a:t> </a:t>
                </a:r>
                <a:r>
                  <a:rPr dirty="0"/>
                  <a:t>que </a:t>
                </a:r>
                <a:r>
                  <a:rPr dirty="0" err="1"/>
                  <a:t>ocurren</a:t>
                </a:r>
                <a:r>
                  <a:rPr dirty="0"/>
                  <a:t> </a:t>
                </a:r>
                <a:r>
                  <a:rPr dirty="0" err="1"/>
                  <a:t>dentro</a:t>
                </a:r>
                <a:r>
                  <a:rPr dirty="0"/>
                  <a:t> de un </a:t>
                </a:r>
                <a:r>
                  <a:rPr dirty="0" err="1"/>
                  <a:t>período</a:t>
                </a:r>
                <a:r>
                  <a:rPr dirty="0"/>
                  <a:t> de </a:t>
                </a:r>
                <a:r>
                  <a:rPr dirty="0" err="1"/>
                  <a:t>tiempo</a:t>
                </a:r>
                <a:r>
                  <a:rPr lang="es-ES" dirty="0"/>
                  <a:t> (o espacio)</a:t>
                </a:r>
                <a:r>
                  <a:rPr dirty="0"/>
                  <a:t> </a:t>
                </a:r>
                <a:r>
                  <a:rPr dirty="0" err="1"/>
                  <a:t>fijo</a:t>
                </a:r>
                <a:r>
                  <a:rPr lang="es-ES" dirty="0"/>
                  <a:t>“,</a:t>
                </a:r>
                <a:r>
                  <a:rPr dirty="0"/>
                  <a:t> </a:t>
                </a:r>
                <a:r>
                  <a:rPr dirty="0" err="1"/>
                  <a:t>tiene</a:t>
                </a:r>
                <a:r>
                  <a:rPr dirty="0"/>
                  <a:t> </a:t>
                </a:r>
                <a:r>
                  <a:rPr dirty="0" err="1"/>
                  <a:t>distribución</a:t>
                </a:r>
                <a:r>
                  <a:rPr dirty="0"/>
                  <a:t> de </a:t>
                </a:r>
                <a:r>
                  <a:rPr lang="es-ES" dirty="0"/>
                  <a:t>probabilidad de </a:t>
                </a:r>
                <a:r>
                  <a:rPr dirty="0"/>
                  <a:t>Poisson</a:t>
                </a:r>
              </a:p>
              <a:p>
                <a:r>
                  <a:rPr lang="es-ES" dirty="0"/>
                  <a:t>Eventos</a:t>
                </a:r>
                <a:r>
                  <a:rPr dirty="0"/>
                  <a:t> </a:t>
                </a:r>
                <a:r>
                  <a:rPr dirty="0" err="1"/>
                  <a:t>raros</a:t>
                </a:r>
                <a:r>
                  <a:rPr dirty="0"/>
                  <a:t>, o </a:t>
                </a:r>
                <a:r>
                  <a:rPr lang="es-ES" dirty="0"/>
                  <a:t>eventos</a:t>
                </a:r>
                <a:r>
                  <a:rPr dirty="0"/>
                  <a:t> </a:t>
                </a:r>
                <a:r>
                  <a:rPr lang="es-ES" dirty="0"/>
                  <a:t>p</a:t>
                </a:r>
                <a:r>
                  <a:rPr dirty="0" err="1"/>
                  <a:t>oissonianos</a:t>
                </a:r>
                <a:r>
                  <a:rPr dirty="0"/>
                  <a:t>, son </a:t>
                </a:r>
                <a:r>
                  <a:rPr lang="es-ES" dirty="0"/>
                  <a:t>aquellos tales que es extremadamente improbable que dos de ellos ocurran </a:t>
                </a:r>
                <a:r>
                  <a:rPr dirty="0" err="1"/>
                  <a:t>simultáneamente</a:t>
                </a:r>
                <a:r>
                  <a:rPr dirty="0"/>
                  <a:t> o </a:t>
                </a:r>
                <a:r>
                  <a:rPr dirty="0" err="1"/>
                  <a:t>dentro</a:t>
                </a:r>
                <a:r>
                  <a:rPr dirty="0"/>
                  <a:t> de un </a:t>
                </a:r>
                <a:r>
                  <a:rPr dirty="0" err="1"/>
                  <a:t>período</a:t>
                </a:r>
                <a:r>
                  <a:rPr dirty="0"/>
                  <a:t> </a:t>
                </a:r>
                <a:r>
                  <a:rPr dirty="0" err="1"/>
                  <a:t>muy</a:t>
                </a:r>
                <a:r>
                  <a:rPr dirty="0"/>
                  <a:t> </a:t>
                </a:r>
                <a:r>
                  <a:rPr dirty="0" err="1"/>
                  <a:t>corto</a:t>
                </a:r>
                <a:r>
                  <a:rPr dirty="0"/>
                  <a:t> de </a:t>
                </a:r>
                <a:r>
                  <a:rPr dirty="0" err="1"/>
                  <a:t>tiempo</a:t>
                </a:r>
                <a:r>
                  <a:rPr lang="es-ES" dirty="0"/>
                  <a:t>, y además son independientes</a:t>
                </a:r>
              </a:p>
              <a:p>
                <a:r>
                  <a:rPr dirty="0" err="1"/>
                  <a:t>Ejemplos</a:t>
                </a:r>
                <a:r>
                  <a:rPr dirty="0"/>
                  <a:t> de </a:t>
                </a:r>
                <a:r>
                  <a:rPr lang="es-ES" dirty="0"/>
                  <a:t>eventos</a:t>
                </a:r>
                <a:r>
                  <a:rPr dirty="0"/>
                  <a:t> </a:t>
                </a:r>
                <a:r>
                  <a:rPr dirty="0" err="1"/>
                  <a:t>raros</a:t>
                </a:r>
                <a:endParaRPr dirty="0"/>
              </a:p>
              <a:p>
                <a:pPr lvl="1"/>
                <a:r>
                  <a:rPr lang="es-ES" dirty="0"/>
                  <a:t>L</a:t>
                </a:r>
                <a:r>
                  <a:rPr dirty="0" err="1"/>
                  <a:t>lamadas</a:t>
                </a:r>
                <a:r>
                  <a:rPr dirty="0"/>
                  <a:t> </a:t>
                </a:r>
                <a:r>
                  <a:rPr dirty="0" err="1"/>
                  <a:t>telefónicas</a:t>
                </a:r>
                <a:r>
                  <a:rPr dirty="0"/>
                  <a:t>, </a:t>
                </a:r>
                <a:r>
                  <a:rPr dirty="0" err="1"/>
                  <a:t>mensajes</a:t>
                </a:r>
                <a:r>
                  <a:rPr dirty="0"/>
                  <a:t> de correo </a:t>
                </a:r>
                <a:r>
                  <a:rPr dirty="0" err="1"/>
                  <a:t>electrónico</a:t>
                </a:r>
                <a:r>
                  <a:rPr dirty="0"/>
                  <a:t>, </a:t>
                </a:r>
                <a:r>
                  <a:rPr dirty="0" err="1"/>
                  <a:t>accidentes</a:t>
                </a:r>
                <a:r>
                  <a:rPr dirty="0"/>
                  <a:t> de </a:t>
                </a:r>
                <a:r>
                  <a:rPr dirty="0" err="1"/>
                  <a:t>tráfico</a:t>
                </a:r>
                <a:r>
                  <a:rPr dirty="0"/>
                  <a:t>, </a:t>
                </a:r>
                <a:r>
                  <a:rPr dirty="0" err="1"/>
                  <a:t>apagones</a:t>
                </a:r>
                <a:r>
                  <a:rPr dirty="0"/>
                  <a:t> de red, </a:t>
                </a:r>
                <a:r>
                  <a:rPr dirty="0" err="1"/>
                  <a:t>ataques</a:t>
                </a:r>
                <a:r>
                  <a:rPr dirty="0"/>
                  <a:t> de virus, </a:t>
                </a:r>
                <a:r>
                  <a:rPr dirty="0" err="1"/>
                  <a:t>errores</a:t>
                </a:r>
                <a:r>
                  <a:rPr dirty="0"/>
                  <a:t> en </a:t>
                </a:r>
                <a:r>
                  <a:rPr dirty="0" err="1"/>
                  <a:t>el</a:t>
                </a:r>
                <a:r>
                  <a:rPr dirty="0"/>
                  <a:t> software, </a:t>
                </a:r>
                <a:r>
                  <a:rPr dirty="0" err="1"/>
                  <a:t>inundaciones</a:t>
                </a:r>
                <a:r>
                  <a:rPr dirty="0"/>
                  <a:t> y </a:t>
                </a:r>
                <a:r>
                  <a:rPr dirty="0" err="1"/>
                  <a:t>terremotos</a:t>
                </a:r>
                <a:r>
                  <a:rPr lang="es-ES" dirty="0"/>
                  <a:t>, defectos en un cable, chicles pegados en el suelo de una calle</a:t>
                </a:r>
                <a:endParaRPr dirty="0"/>
              </a:p>
              <a:p>
                <a:r>
                  <a:rPr dirty="0" err="1"/>
                  <a:t>Su</a:t>
                </a:r>
                <a:r>
                  <a:rPr dirty="0"/>
                  <a:t> </a:t>
                </a:r>
                <a:r>
                  <a:rPr dirty="0" err="1"/>
                  <a:t>único</a:t>
                </a:r>
                <a:r>
                  <a:rPr dirty="0"/>
                  <a:t> </a:t>
                </a:r>
                <a:r>
                  <a:rPr dirty="0" err="1"/>
                  <a:t>parámetro</a:t>
                </a:r>
                <a:r>
                  <a:rPr dirty="0"/>
                  <a:t> es:</a:t>
                </a:r>
              </a:p>
              <a:p>
                <a:pPr lvl="1"/>
                <a14:m>
                  <m:oMath xmlns:m="http://schemas.openxmlformats.org/officeDocument/2006/math">
                    <m:r>
                      <a:rPr lang="el-GR" i="1" dirty="0" smtClean="0">
                        <a:latin typeface="Cambria Math" panose="02040503050406030204" pitchFamily="18" charset="0"/>
                      </a:rPr>
                      <m:t>𝜆</m:t>
                    </m:r>
                  </m:oMath>
                </a14:m>
                <a:r>
                  <a:rPr dirty="0"/>
                  <a:t>, la </a:t>
                </a:r>
                <a:r>
                  <a:rPr dirty="0" err="1"/>
                  <a:t>frecuencia</a:t>
                </a:r>
                <a:r>
                  <a:rPr dirty="0"/>
                  <a:t> o </a:t>
                </a:r>
                <a:r>
                  <a:rPr dirty="0" err="1"/>
                  <a:t>el</a:t>
                </a:r>
                <a:r>
                  <a:rPr dirty="0"/>
                  <a:t> </a:t>
                </a:r>
                <a:r>
                  <a:rPr dirty="0" err="1"/>
                  <a:t>número</a:t>
                </a:r>
                <a:r>
                  <a:rPr dirty="0"/>
                  <a:t> medio de </a:t>
                </a:r>
                <a:r>
                  <a:rPr lang="es-ES" dirty="0"/>
                  <a:t>eventos</a:t>
                </a:r>
                <a:endParaRPr dirty="0"/>
              </a:p>
              <a:p>
                <a:r>
                  <a:rPr dirty="0" err="1"/>
                  <a:t>Esta</a:t>
                </a:r>
                <a:r>
                  <a:rPr dirty="0"/>
                  <a:t> </a:t>
                </a:r>
                <a:r>
                  <a:rPr dirty="0" err="1"/>
                  <a:t>distribución</a:t>
                </a:r>
                <a:r>
                  <a:rPr dirty="0"/>
                  <a:t> </a:t>
                </a:r>
                <a:r>
                  <a:rPr lang="es-ES" dirty="0"/>
                  <a:t>tiene </a:t>
                </a:r>
                <a:r>
                  <a:rPr dirty="0" err="1"/>
                  <a:t>el</a:t>
                </a:r>
                <a:r>
                  <a:rPr dirty="0"/>
                  <a:t> </a:t>
                </a:r>
                <a:r>
                  <a:rPr dirty="0" err="1"/>
                  <a:t>nombre</a:t>
                </a:r>
                <a:r>
                  <a:rPr dirty="0"/>
                  <a:t> del </a:t>
                </a:r>
                <a:r>
                  <a:rPr dirty="0" err="1"/>
                  <a:t>matemático</a:t>
                </a:r>
                <a:r>
                  <a:rPr dirty="0"/>
                  <a:t> </a:t>
                </a:r>
                <a:r>
                  <a:rPr dirty="0" err="1">
                    <a:hlinkClick r:id="rId2"/>
                  </a:rPr>
                  <a:t>Siméon</a:t>
                </a:r>
                <a:r>
                  <a:rPr dirty="0">
                    <a:hlinkClick r:id="rId2"/>
                  </a:rPr>
                  <a:t>-Denis Poisson</a:t>
                </a:r>
              </a:p>
            </p:txBody>
          </p:sp>
        </mc:Choice>
        <mc:Fallback xmlns="">
          <p:sp>
            <p:nvSpPr>
              <p:cNvPr id="3" name="Marcador de contenido 2">
                <a:extLst>
                  <a:ext uri="{FF2B5EF4-FFF2-40B4-BE49-F238E27FC236}">
                    <a16:creationId xmlns:a16="http://schemas.microsoft.com/office/drawing/2014/main" id="{25AB056D-72CF-52F5-8FF5-B85155761FED}"/>
                  </a:ext>
                </a:extLst>
              </p:cNvPr>
              <p:cNvSpPr>
                <a:spLocks noGrp="1" noRot="1" noChangeAspect="1" noMove="1" noResize="1" noEditPoints="1" noAdjustHandles="1" noChangeArrowheads="1" noChangeShapeType="1" noTextEdit="1"/>
              </p:cNvSpPr>
              <p:nvPr>
                <p:ph idx="1"/>
              </p:nvPr>
            </p:nvSpPr>
            <p:spPr>
              <a:blipFill>
                <a:blip r:embed="rId3"/>
                <a:stretch>
                  <a:fillRect l="-928" t="-3501" r="-348"/>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2A3D8405-81F4-D68B-4EC1-54B535619CF5}"/>
              </a:ext>
            </a:extLst>
          </p:cNvPr>
          <p:cNvSpPr>
            <a:spLocks noGrp="1"/>
          </p:cNvSpPr>
          <p:nvPr>
            <p:ph type="sldNum" sz="quarter" idx="12"/>
          </p:nvPr>
        </p:nvSpPr>
        <p:spPr/>
        <p:txBody>
          <a:bodyPr/>
          <a:lstStyle/>
          <a:p>
            <a:fld id="{336CAFD0-1F6E-4E11-9822-836563A02839}" type="slidenum">
              <a:rPr lang="es-ES" smtClean="0"/>
              <a:t>74</a:t>
            </a:fld>
            <a:endParaRPr lang="es-ES"/>
          </a:p>
        </p:txBody>
      </p:sp>
    </p:spTree>
    <p:extLst>
      <p:ext uri="{BB962C8B-B14F-4D97-AF65-F5344CB8AC3E}">
        <p14:creationId xmlns:p14="http://schemas.microsoft.com/office/powerpoint/2010/main" val="1771132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13</a:t>
            </a:r>
            <a:r>
              <a:rPr dirty="0"/>
              <a:t>. </a:t>
            </a:r>
            <a:r>
              <a:rPr dirty="0" err="1"/>
              <a:t>Distribución</a:t>
            </a:r>
            <a:r>
              <a:rPr dirty="0"/>
              <a:t> de Poisson</a:t>
            </a:r>
            <a:br>
              <a:rPr lang="es-ES" dirty="0"/>
            </a:br>
            <a:r>
              <a:rPr dirty="0" err="1"/>
              <a:t>Resumen</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10515600" cy="4667250"/>
              </a:xfrm>
            </p:spPr>
            <p:txBody>
              <a:bodyPr>
                <a:normAutofit fontScale="55000" lnSpcReduction="20000"/>
              </a:bodyPr>
              <a:lstStyle/>
              <a:p>
                <a:r>
                  <a:rPr lang="es-ES" dirty="0"/>
                  <a:t>X: Variable </a:t>
                </a:r>
                <a:r>
                  <a:rPr lang="es-ES" dirty="0" err="1"/>
                  <a:t>aleatoria</a:t>
                </a:r>
                <a:r>
                  <a:rPr lang="es-ES" dirty="0"/>
                  <a:t> con </a:t>
                </a:r>
                <a:r>
                  <a:rPr lang="es-ES" dirty="0" err="1"/>
                  <a:t>distribución</a:t>
                </a:r>
                <a:r>
                  <a:rPr lang="es-ES" dirty="0"/>
                  <a:t> de  </a:t>
                </a:r>
                <a:r>
                  <a:rPr lang="es-ES" i="1" dirty="0"/>
                  <a:t>Poisson </a:t>
                </a:r>
                <a:r>
                  <a:rPr lang="es-ES" i="1" dirty="0">
                    <a:sym typeface="Wingdings" panose="05000000000000000000" pitchFamily="2" charset="2"/>
                  </a:rPr>
                  <a:t> </a:t>
                </a:r>
                <a14:m>
                  <m:oMath xmlns:m="http://schemas.openxmlformats.org/officeDocument/2006/math">
                    <m:r>
                      <a:rPr lang="es-ES" i="1" dirty="0" smtClean="0">
                        <a:latin typeface="Cambria Math" panose="02040503050406030204" pitchFamily="18" charset="0"/>
                        <a:sym typeface="Wingdings" panose="05000000000000000000" pitchFamily="2" charset="2"/>
                      </a:rPr>
                      <m:t>𝑋</m:t>
                    </m:r>
                    <m:r>
                      <a:rPr lang="es-ES" i="1" dirty="0" smtClean="0">
                        <a:latin typeface="Cambria Math" panose="02040503050406030204" pitchFamily="18" charset="0"/>
                        <a:sym typeface="Wingdings" panose="05000000000000000000" pitchFamily="2" charset="2"/>
                      </a:rPr>
                      <m:t>: </m:t>
                    </m:r>
                    <m:r>
                      <a:rPr lang="es-ES" i="1" dirty="0">
                        <a:latin typeface="Cambria Math" panose="02040503050406030204" pitchFamily="18" charset="0"/>
                      </a:rPr>
                      <m:t>𝑃𝑜𝑖𝑠𝑠𝑜𝑛</m:t>
                    </m:r>
                    <m:r>
                      <a:rPr lang="es-ES" i="1" dirty="0">
                        <a:latin typeface="Cambria Math" panose="02040503050406030204" pitchFamily="18" charset="0"/>
                      </a:rPr>
                      <m:t>(</m:t>
                    </m:r>
                    <m:r>
                      <a:rPr lang="el-GR" i="1" dirty="0">
                        <a:latin typeface="Cambria Math" panose="02040503050406030204" pitchFamily="18" charset="0"/>
                      </a:rPr>
                      <m:t>𝜆</m:t>
                    </m:r>
                    <m:r>
                      <a:rPr lang="el-GR" i="1" dirty="0">
                        <a:latin typeface="Cambria Math" panose="02040503050406030204" pitchFamily="18" charset="0"/>
                      </a:rPr>
                      <m:t>)</m:t>
                    </m:r>
                  </m:oMath>
                </a14:m>
                <a:endParaRPr lang="el-GR" i="1" dirty="0"/>
              </a:p>
              <a:p>
                <a:pPr lvl="1">
                  <a:defRPr i="1"/>
                </a:pPr>
                <a:r>
                  <a:rPr lang="es-ES" dirty="0"/>
                  <a:t>Número de "eventos raros" durante un intervalo de tiempo (o espacio) fijo</a:t>
                </a:r>
                <a:endParaRPr lang="es-ES" i="1" dirty="0"/>
              </a:p>
              <a:p>
                <a:r>
                  <a:rPr lang="es-ES" dirty="0" err="1"/>
                  <a:t>Parámetros</a:t>
                </a:r>
                <a:endParaRPr lang="es-ES" dirty="0"/>
              </a:p>
              <a:p>
                <a:pPr lvl="1">
                  <a:defRPr i="1"/>
                </a:pPr>
                <a:r>
                  <a:rPr lang="el-GR" dirty="0"/>
                  <a:t>λ = </a:t>
                </a:r>
                <a:r>
                  <a:rPr lang="es-ES" dirty="0" err="1"/>
                  <a:t>frecuencia</a:t>
                </a:r>
                <a:r>
                  <a:rPr lang="es-ES" dirty="0"/>
                  <a:t> de los “eventos </a:t>
                </a:r>
                <a:r>
                  <a:rPr lang="es-ES" dirty="0" err="1"/>
                  <a:t>raros</a:t>
                </a:r>
                <a:r>
                  <a:rPr lang="es-ES" dirty="0"/>
                  <a:t>" </a:t>
                </a:r>
                <a14:m>
                  <m:oMath xmlns:m="http://schemas.openxmlformats.org/officeDocument/2006/math">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m:t>
                    </m:r>
                  </m:oMath>
                </a14:m>
                <a:endParaRPr lang="es-ES" i="1" dirty="0"/>
              </a:p>
              <a:p>
                <a:r>
                  <a:rPr lang="es-ES" dirty="0"/>
                  <a:t>Rango de </a:t>
                </a:r>
                <a:r>
                  <a:rPr lang="es-ES" dirty="0" err="1"/>
                  <a:t>valores</a:t>
                </a:r>
                <a:endParaRPr lang="es-ES" dirty="0"/>
              </a:p>
              <a:p>
                <a:pPr lvl="1"/>
                <a14:m>
                  <m:oMath xmlns:m="http://schemas.openxmlformats.org/officeDocument/2006/math">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 </m:t>
                    </m:r>
                    <m:r>
                      <a:rPr lang="es-ES" b="0" i="1" smtClean="0">
                        <a:latin typeface="Cambria Math" panose="02040503050406030204" pitchFamily="18" charset="0"/>
                      </a:rPr>
                      <m:t>2</m:t>
                    </m:r>
                    <m:r>
                      <a:rPr lang="es-ES" b="0" i="1" smtClean="0">
                        <a:latin typeface="Cambria Math" panose="02040503050406030204" pitchFamily="18" charset="0"/>
                      </a:rPr>
                      <m:t>, </m:t>
                    </m:r>
                    <m:r>
                      <a:rPr lang="es-ES" b="0" i="1" smtClean="0">
                        <a:latin typeface="Cambria Math" panose="02040503050406030204" pitchFamily="18" charset="0"/>
                      </a:rPr>
                      <m:t>3</m:t>
                    </m:r>
                    <m:r>
                      <a:rPr lang="es-ES" b="0" i="1" smtClean="0">
                        <a:latin typeface="Cambria Math" panose="02040503050406030204" pitchFamily="18" charset="0"/>
                      </a:rPr>
                      <m:t>, …</m:t>
                    </m:r>
                  </m:oMath>
                </a14:m>
                <a:endParaRPr lang="es-ES" i="1" dirty="0"/>
              </a:p>
              <a:p>
                <a:r>
                  <a:rPr lang="es-ES" dirty="0" err="1"/>
                  <a:t>Función</a:t>
                </a:r>
                <a:r>
                  <a:rPr lang="es-ES" dirty="0"/>
                  <a:t> de masa de </a:t>
                </a:r>
                <a:r>
                  <a:rPr lang="es-ES" dirty="0" err="1"/>
                  <a:t>probabilidad</a:t>
                </a:r>
                <a:r>
                  <a:rPr lang="es-ES" dirty="0"/>
                  <a:t> (</a:t>
                </a:r>
                <a:r>
                  <a:rPr lang="es-ES" dirty="0" err="1"/>
                  <a:t>pmf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sSup>
                      <m:sSupPr>
                        <m:ctrlPr>
                          <a:rPr lang="ar-AE" i="1">
                            <a:latin typeface="Cambria Math" panose="02040503050406030204" pitchFamily="18" charset="0"/>
                          </a:rPr>
                        </m:ctrlPr>
                      </m:sSupPr>
                      <m:e>
                        <m:r>
                          <a:rPr lang="ar-AE" b="0" i="1" smtClean="0">
                            <a:latin typeface="Cambria Math" panose="02040503050406030204" pitchFamily="18" charset="0"/>
                          </a:rPr>
                          <m:t>𝑒</m:t>
                        </m:r>
                      </m:e>
                      <m:sup>
                        <m:r>
                          <a:rPr lang="ar-AE" b="0" i="1" smtClean="0">
                            <a:latin typeface="Cambria Math" panose="02040503050406030204" pitchFamily="18" charset="0"/>
                          </a:rPr>
                          <m:t>−</m:t>
                        </m:r>
                        <m:r>
                          <a:rPr lang="ar-AE" i="1">
                            <a:latin typeface="Cambria Math" panose="02040503050406030204" pitchFamily="18" charset="0"/>
                          </a:rPr>
                          <m:t>𝜆</m:t>
                        </m:r>
                      </m:sup>
                    </m:sSup>
                    <m:f>
                      <m:fPr>
                        <m:ctrlPr>
                          <a:rPr lang="ar-AE" b="0" i="1" smtClean="0">
                            <a:latin typeface="Cambria Math" panose="02040503050406030204" pitchFamily="18" charset="0"/>
                          </a:rPr>
                        </m:ctrlPr>
                      </m:fPr>
                      <m:num>
                        <m:sSup>
                          <m:sSupPr>
                            <m:ctrlPr>
                              <a:rPr lang="ar-AE" b="0" i="1" smtClean="0">
                                <a:latin typeface="Cambria Math" panose="02040503050406030204" pitchFamily="18" charset="0"/>
                              </a:rPr>
                            </m:ctrlPr>
                          </m:sSupPr>
                          <m:e>
                            <m:r>
                              <a:rPr lang="ar-AE" i="1">
                                <a:latin typeface="Cambria Math" panose="02040503050406030204" pitchFamily="18" charset="0"/>
                              </a:rPr>
                              <m:t>𝜆</m:t>
                            </m:r>
                          </m:e>
                          <m:sup>
                            <m:r>
                              <a:rPr lang="ar-AE" b="0" i="1" smtClean="0">
                                <a:latin typeface="Cambria Math" panose="02040503050406030204" pitchFamily="18" charset="0"/>
                              </a:rPr>
                              <m:t>𝑥</m:t>
                            </m:r>
                          </m:sup>
                        </m:sSup>
                      </m:num>
                      <m:den>
                        <m:r>
                          <a:rPr lang="ar-AE" b="0" i="1" smtClean="0">
                            <a:latin typeface="Cambria Math" panose="02040503050406030204" pitchFamily="18" charset="0"/>
                          </a:rPr>
                          <m:t>𝑥</m:t>
                        </m:r>
                        <m:r>
                          <a:rPr lang="ar-AE" b="0" i="1" smtClean="0">
                            <a:latin typeface="Cambria Math" panose="02040503050406030204" pitchFamily="18" charset="0"/>
                          </a:rPr>
                          <m:t>!</m:t>
                        </m:r>
                      </m:den>
                    </m:f>
                  </m:oMath>
                </a14:m>
                <a:r>
                  <a:rPr lang="ar-AE" dirty="0"/>
                  <a:t>	</a:t>
                </a:r>
              </a:p>
              <a:p>
                <a:pPr>
                  <a:tabLst>
                    <a:tab pos="2784475" algn="l"/>
                  </a:tabLst>
                </a:pPr>
                <a:r>
                  <a:rPr lang="es-ES" dirty="0" err="1"/>
                  <a:t>Función</a:t>
                </a:r>
                <a:r>
                  <a:rPr lang="es-ES" dirty="0"/>
                  <a:t> de </a:t>
                </a:r>
                <a:r>
                  <a:rPr lang="es-ES" dirty="0" err="1"/>
                  <a:t>distribución</a:t>
                </a:r>
                <a:r>
                  <a:rPr lang="es-ES" dirty="0"/>
                  <a:t> acumulada (</a:t>
                </a:r>
                <a:r>
                  <a:rPr lang="es-ES" dirty="0" err="1"/>
                  <a:t>cdf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𝑥</m:t>
                        </m:r>
                      </m:e>
                    </m:d>
                    <m:r>
                      <a:rPr lang="ar-AE" b="0" i="1" smtClean="0">
                        <a:latin typeface="Cambria Math" panose="02040503050406030204" pitchFamily="18" charset="0"/>
                        <a:ea typeface="Cambria Math" panose="02040503050406030204" pitchFamily="18" charset="0"/>
                      </a:rPr>
                      <m:t>=</m:t>
                    </m:r>
                    <m:nary>
                      <m:naryPr>
                        <m:chr m:val="∑"/>
                        <m:ctrlPr>
                          <a:rPr lang="ar-AE" b="0" i="1" smtClean="0">
                            <a:latin typeface="Cambria Math" panose="02040503050406030204" pitchFamily="18" charset="0"/>
                            <a:ea typeface="Cambria Math" panose="02040503050406030204" pitchFamily="18" charset="0"/>
                          </a:rPr>
                        </m:ctrlPr>
                      </m:naryPr>
                      <m:sub>
                        <m:r>
                          <m:rPr>
                            <m:brk m:alnAt="23"/>
                          </m:rPr>
                          <a:rPr lang="ar-AE" b="0" i="1" smtClean="0">
                            <a:latin typeface="Cambria Math" panose="02040503050406030204" pitchFamily="18" charset="0"/>
                            <a:ea typeface="Cambria Math" panose="02040503050406030204" pitchFamily="18" charset="0"/>
                          </a:rPr>
                          <m:t>𝑖</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sub>
                      <m:sup>
                        <m:r>
                          <a:rPr lang="ar-AE" b="0" i="1" smtClean="0">
                            <a:latin typeface="Cambria Math" panose="02040503050406030204" pitchFamily="18" charset="0"/>
                            <a:ea typeface="Cambria Math" panose="02040503050406030204" pitchFamily="18" charset="0"/>
                          </a:rPr>
                          <m:t>𝑥</m:t>
                        </m:r>
                      </m:sup>
                      <m:e>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i="1">
                                <a:latin typeface="Cambria Math" panose="02040503050406030204" pitchFamily="18" charset="0"/>
                              </a:rPr>
                              <m:t>−</m:t>
                            </m:r>
                            <m:r>
                              <a:rPr lang="ar-AE" i="1">
                                <a:latin typeface="Cambria Math" panose="02040503050406030204" pitchFamily="18" charset="0"/>
                              </a:rPr>
                              <m:t>𝜆</m:t>
                            </m:r>
                          </m:sup>
                        </m:sSup>
                        <m:f>
                          <m:fPr>
                            <m:ctrlPr>
                              <a:rPr lang="ar-AE" i="1">
                                <a:latin typeface="Cambria Math" panose="02040503050406030204" pitchFamily="18" charset="0"/>
                              </a:rPr>
                            </m:ctrlPr>
                          </m:fPr>
                          <m:num>
                            <m:sSup>
                              <m:sSupPr>
                                <m:ctrlPr>
                                  <a:rPr lang="ar-AE" i="1">
                                    <a:latin typeface="Cambria Math" panose="02040503050406030204" pitchFamily="18" charset="0"/>
                                  </a:rPr>
                                </m:ctrlPr>
                              </m:sSupPr>
                              <m:e>
                                <m:r>
                                  <a:rPr lang="ar-AE" i="1">
                                    <a:latin typeface="Cambria Math" panose="02040503050406030204" pitchFamily="18" charset="0"/>
                                  </a:rPr>
                                  <m:t>𝜆</m:t>
                                </m:r>
                              </m:e>
                              <m:sup>
                                <m:r>
                                  <a:rPr lang="ar-AE" b="0" i="1" smtClean="0">
                                    <a:latin typeface="Cambria Math" panose="02040503050406030204" pitchFamily="18" charset="0"/>
                                  </a:rPr>
                                  <m:t>𝑖</m:t>
                                </m:r>
                              </m:sup>
                            </m:sSup>
                          </m:num>
                          <m:den>
                            <m:r>
                              <a:rPr lang="es-ES" b="0" i="1" smtClean="0">
                                <a:latin typeface="Cambria Math" panose="02040503050406030204" pitchFamily="18" charset="0"/>
                              </a:rPr>
                              <m:t>𝑖</m:t>
                            </m:r>
                            <m:r>
                              <a:rPr lang="ar-AE" i="1">
                                <a:latin typeface="Cambria Math" panose="02040503050406030204" pitchFamily="18" charset="0"/>
                              </a:rPr>
                              <m:t>!</m:t>
                            </m:r>
                          </m:den>
                        </m:f>
                      </m:e>
                    </m:nary>
                  </m:oMath>
                </a14:m>
                <a:endParaRPr lang="ar-AE" dirty="0"/>
              </a:p>
              <a:p>
                <a:pPr>
                  <a:tabLst>
                    <a:tab pos="2784475" algn="l"/>
                  </a:tabLst>
                </a:pPr>
                <a:r>
                  <a:rPr lang="es-ES" dirty="0"/>
                  <a:t>Esperanza</a:t>
                </a:r>
              </a:p>
              <a:p>
                <a:pPr lvl="1">
                  <a:tabLst>
                    <a:tab pos="2784475" algn="l"/>
                  </a:tabLst>
                </a:pP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i="1">
                        <a:latin typeface="Cambria Math" panose="02040503050406030204" pitchFamily="18" charset="0"/>
                      </a:rPr>
                      <m:t>𝜆</m:t>
                    </m:r>
                  </m:oMath>
                </a14:m>
                <a:endParaRPr lang="ar-AE" dirty="0"/>
              </a:p>
              <a:p>
                <a:pPr>
                  <a:tabLst>
                    <a:tab pos="2784475" algn="l"/>
                  </a:tabLst>
                </a:pPr>
                <a:r>
                  <a:rPr lang="es-ES" dirty="0" err="1"/>
                  <a:t>Varianza</a:t>
                </a:r>
                <a:endParaRPr lang="es-ES" dirty="0"/>
              </a:p>
              <a:p>
                <a:pPr lvl="1">
                  <a:tabLst>
                    <a:tab pos="2784475" algn="l"/>
                  </a:tabLst>
                </a:pPr>
                <a14:m>
                  <m:oMath xmlns:m="http://schemas.openxmlformats.org/officeDocument/2006/math">
                    <m:r>
                      <a:rPr lang="es-ES" b="0" i="1" smtClean="0">
                        <a:latin typeface="Cambria Math" panose="02040503050406030204" pitchFamily="18" charset="0"/>
                      </a:rPr>
                      <m:t>𝑉𝑎𝑟</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i="1">
                        <a:latin typeface="Cambria Math" panose="02040503050406030204" pitchFamily="18" charset="0"/>
                      </a:rPr>
                      <m:t>𝜆</m:t>
                    </m:r>
                  </m:oMath>
                </a14:m>
                <a:endParaRPr lang="ar-AE" dirty="0"/>
              </a:p>
              <a:p>
                <a:pPr>
                  <a:tabLst>
                    <a:tab pos="2784475" algn="l"/>
                  </a:tabLst>
                </a:pPr>
                <a:r>
                  <a:rPr lang="es-ES" dirty="0"/>
                  <a:t>Relación con </a:t>
                </a:r>
                <a:r>
                  <a:rPr lang="es-ES" dirty="0" err="1"/>
                  <a:t>otras</a:t>
                </a:r>
                <a:r>
                  <a:rPr lang="es-ES" dirty="0"/>
                  <a:t> </a:t>
                </a:r>
                <a:r>
                  <a:rPr lang="es-ES" dirty="0" err="1"/>
                  <a:t>distribuciones</a:t>
                </a:r>
                <a:endParaRPr lang="es-ES" dirty="0"/>
              </a:p>
              <a:p>
                <a:pPr lvl="1">
                  <a:tabLst>
                    <a:tab pos="2784475" algn="l"/>
                  </a:tabLst>
                </a:pPr>
                <a:r>
                  <a:rPr lang="es-ES" dirty="0"/>
                  <a:t>Caso límite de </a:t>
                </a:r>
                <a14:m>
                  <m:oMath xmlns:m="http://schemas.openxmlformats.org/officeDocument/2006/math">
                    <m:r>
                      <a:rPr lang="es-ES" i="1" dirty="0" smtClean="0">
                        <a:latin typeface="Cambria Math" panose="02040503050406030204" pitchFamily="18" charset="0"/>
                      </a:rPr>
                      <m:t>𝐵𝑖𝑛𝑜𝑚𝑖𝑎𝑙</m:t>
                    </m:r>
                    <m:r>
                      <a:rPr lang="es-ES" i="1" dirty="0" smtClean="0">
                        <a:latin typeface="Cambria Math" panose="02040503050406030204" pitchFamily="18" charset="0"/>
                      </a:rPr>
                      <m:t>(</m:t>
                    </m:r>
                    <m:r>
                      <a:rPr lang="es-ES" i="1" dirty="0" smtClean="0">
                        <a:latin typeface="Cambria Math" panose="02040503050406030204" pitchFamily="18" charset="0"/>
                      </a:rPr>
                      <m:t>𝑛</m:t>
                    </m:r>
                    <m:r>
                      <a:rPr lang="es-ES"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 </m:t>
                    </m:r>
                  </m:oMath>
                </a14:m>
                <a:r>
                  <a:rPr lang="es-ES" dirty="0" err="1"/>
                  <a:t>cuando</a:t>
                </a:r>
                <a:r>
                  <a:rPr lang="es-ES" dirty="0"/>
                  <a:t> </a:t>
                </a: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 → </m:t>
                    </m:r>
                    <m:r>
                      <a:rPr lang="es-ES" i="1" dirty="0" smtClean="0">
                        <a:latin typeface="Cambria Math" panose="02040503050406030204" pitchFamily="18" charset="0"/>
                      </a:rPr>
                      <m:t>∞</m:t>
                    </m:r>
                    <m:r>
                      <a:rPr lang="es-ES"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i="1" dirty="0" smtClean="0">
                        <a:latin typeface="Cambria Math" panose="02040503050406030204" pitchFamily="18" charset="0"/>
                      </a:rPr>
                      <m:t>, </m:t>
                    </m:r>
                    <m:r>
                      <a:rPr lang="es-ES" i="1" dirty="0" smtClean="0">
                        <a:latin typeface="Cambria Math" panose="02040503050406030204" pitchFamily="18" charset="0"/>
                      </a:rPr>
                      <m:t>𝑛𝑝</m:t>
                    </m:r>
                    <m:r>
                      <a:rPr lang="es-ES" i="1" dirty="0" smtClean="0">
                        <a:latin typeface="Cambria Math" panose="02040503050406030204" pitchFamily="18" charset="0"/>
                      </a:rPr>
                      <m:t> → </m:t>
                    </m:r>
                    <m:r>
                      <a:rPr lang="el-GR" i="1" dirty="0">
                        <a:latin typeface="Cambria Math" panose="02040503050406030204" pitchFamily="18" charset="0"/>
                      </a:rPr>
                      <m:t>𝜆</m:t>
                    </m:r>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74" t="-1567"/>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75</a:t>
            </a:fld>
            <a:endParaRPr lang="es-ES"/>
          </a:p>
        </p:txBody>
      </p:sp>
    </p:spTree>
    <p:extLst>
      <p:ext uri="{BB962C8B-B14F-4D97-AF65-F5344CB8AC3E}">
        <p14:creationId xmlns:p14="http://schemas.microsoft.com/office/powerpoint/2010/main" val="5560856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97AFD-3573-3210-2A0D-73D7D00B2DA5}"/>
              </a:ext>
            </a:extLst>
          </p:cNvPr>
          <p:cNvSpPr>
            <a:spLocks noGrp="1"/>
          </p:cNvSpPr>
          <p:nvPr>
            <p:ph type="title"/>
          </p:nvPr>
        </p:nvSpPr>
        <p:spPr/>
        <p:txBody>
          <a:bodyPr/>
          <a:lstStyle/>
          <a:p>
            <a:r>
              <a:rPr lang="es-ES" dirty="0"/>
              <a:t>13</a:t>
            </a:r>
            <a:r>
              <a:rPr dirty="0"/>
              <a:t>. </a:t>
            </a:r>
            <a:r>
              <a:rPr dirty="0" err="1"/>
              <a:t>Distribución</a:t>
            </a:r>
            <a:r>
              <a:rPr dirty="0"/>
              <a:t> de Poisson</a:t>
            </a:r>
            <a:br>
              <a:rPr lang="es-ES" dirty="0"/>
            </a:br>
            <a:r>
              <a:rPr dirty="0" err="1"/>
              <a:t>Ejemplo</a:t>
            </a:r>
            <a:r>
              <a:rPr dirty="0"/>
              <a:t> 3.22 (</a:t>
            </a:r>
            <a:r>
              <a:rPr dirty="0" err="1"/>
              <a:t>Cuentas</a:t>
            </a:r>
            <a:r>
              <a:rPr dirty="0"/>
              <a:t> de Internet)</a:t>
            </a:r>
          </a:p>
        </p:txBody>
      </p:sp>
      <p:sp>
        <p:nvSpPr>
          <p:cNvPr id="3" name="Marcador de contenido 2">
            <a:extLst>
              <a:ext uri="{FF2B5EF4-FFF2-40B4-BE49-F238E27FC236}">
                <a16:creationId xmlns:a16="http://schemas.microsoft.com/office/drawing/2014/main" id="{9A10EEE6-791F-7FD3-5C3A-577AB8A4067F}"/>
              </a:ext>
            </a:extLst>
          </p:cNvPr>
          <p:cNvSpPr>
            <a:spLocks noGrp="1"/>
          </p:cNvSpPr>
          <p:nvPr>
            <p:ph idx="1"/>
          </p:nvPr>
        </p:nvSpPr>
        <p:spPr/>
        <p:txBody>
          <a:bodyPr/>
          <a:lstStyle/>
          <a:p>
            <a:r>
              <a:rPr dirty="0"/>
              <a:t>Los </a:t>
            </a:r>
            <a:r>
              <a:rPr dirty="0" err="1"/>
              <a:t>clientes</a:t>
            </a:r>
            <a:r>
              <a:rPr dirty="0"/>
              <a:t> de un </a:t>
            </a:r>
            <a:r>
              <a:rPr dirty="0" err="1"/>
              <a:t>proveedor</a:t>
            </a:r>
            <a:r>
              <a:rPr dirty="0"/>
              <a:t> de </a:t>
            </a:r>
            <a:r>
              <a:rPr dirty="0" err="1"/>
              <a:t>servicios</a:t>
            </a:r>
            <a:r>
              <a:rPr dirty="0"/>
              <a:t> de Internet </a:t>
            </a:r>
            <a:r>
              <a:rPr dirty="0" err="1"/>
              <a:t>inician</a:t>
            </a:r>
            <a:r>
              <a:rPr dirty="0"/>
              <a:t> </a:t>
            </a:r>
            <a:r>
              <a:rPr dirty="0" err="1"/>
              <a:t>nuevas</a:t>
            </a:r>
            <a:r>
              <a:rPr dirty="0"/>
              <a:t> </a:t>
            </a:r>
            <a:r>
              <a:rPr dirty="0" err="1"/>
              <a:t>cuentas</a:t>
            </a:r>
            <a:r>
              <a:rPr dirty="0"/>
              <a:t> </a:t>
            </a:r>
            <a:r>
              <a:rPr lang="es-ES" dirty="0"/>
              <a:t>con una </a:t>
            </a:r>
            <a:r>
              <a:rPr dirty="0" err="1"/>
              <a:t>tasa</a:t>
            </a:r>
            <a:r>
              <a:rPr dirty="0"/>
              <a:t> </a:t>
            </a:r>
            <a:r>
              <a:rPr dirty="0" err="1"/>
              <a:t>promedio</a:t>
            </a:r>
            <a:r>
              <a:rPr dirty="0"/>
              <a:t> de 10 </a:t>
            </a:r>
            <a:r>
              <a:rPr dirty="0" err="1"/>
              <a:t>cuentas</a:t>
            </a:r>
            <a:r>
              <a:rPr dirty="0"/>
              <a:t> </a:t>
            </a:r>
            <a:r>
              <a:rPr dirty="0" err="1"/>
              <a:t>por</a:t>
            </a:r>
            <a:r>
              <a:rPr dirty="0"/>
              <a:t> día.</a:t>
            </a:r>
          </a:p>
          <a:p>
            <a:pPr marL="914400" lvl="1" indent="-457200">
              <a:buFont typeface="+mj-lt"/>
              <a:buAutoNum type="alphaLcParenR"/>
            </a:pPr>
            <a:r>
              <a:rPr dirty="0"/>
              <a:t>¿</a:t>
            </a:r>
            <a:r>
              <a:rPr dirty="0" err="1"/>
              <a:t>Cuál</a:t>
            </a:r>
            <a:r>
              <a:rPr dirty="0"/>
              <a:t> es la </a:t>
            </a:r>
            <a:r>
              <a:rPr dirty="0" err="1"/>
              <a:t>probabilidad</a:t>
            </a:r>
            <a:r>
              <a:rPr dirty="0"/>
              <a:t> de que hoy se </a:t>
            </a:r>
            <a:r>
              <a:rPr dirty="0" err="1"/>
              <a:t>inicien</a:t>
            </a:r>
            <a:r>
              <a:rPr dirty="0"/>
              <a:t> </a:t>
            </a:r>
            <a:r>
              <a:rPr dirty="0" err="1"/>
              <a:t>más</a:t>
            </a:r>
            <a:r>
              <a:rPr dirty="0"/>
              <a:t> de 8 </a:t>
            </a:r>
            <a:r>
              <a:rPr dirty="0" err="1"/>
              <a:t>nuevas</a:t>
            </a:r>
            <a:r>
              <a:rPr dirty="0"/>
              <a:t> </a:t>
            </a:r>
            <a:r>
              <a:rPr dirty="0" err="1"/>
              <a:t>cuentas</a:t>
            </a:r>
            <a:r>
              <a:rPr dirty="0"/>
              <a:t>?</a:t>
            </a:r>
          </a:p>
          <a:p>
            <a:pPr marL="914400" lvl="1" indent="-457200">
              <a:buFont typeface="+mj-lt"/>
              <a:buAutoNum type="alphaLcParenR"/>
            </a:pPr>
            <a:r>
              <a:rPr dirty="0"/>
              <a:t>¿</a:t>
            </a:r>
            <a:r>
              <a:rPr dirty="0" err="1"/>
              <a:t>Cuál</a:t>
            </a:r>
            <a:r>
              <a:rPr dirty="0"/>
              <a:t> es la </a:t>
            </a:r>
            <a:r>
              <a:rPr dirty="0" err="1"/>
              <a:t>probabilidad</a:t>
            </a:r>
            <a:r>
              <a:rPr dirty="0"/>
              <a:t> de que se </a:t>
            </a:r>
            <a:r>
              <a:rPr dirty="0" err="1"/>
              <a:t>inicien</a:t>
            </a:r>
            <a:r>
              <a:rPr dirty="0"/>
              <a:t> </a:t>
            </a:r>
            <a:r>
              <a:rPr dirty="0" err="1"/>
              <a:t>más</a:t>
            </a:r>
            <a:r>
              <a:rPr dirty="0"/>
              <a:t> de 16 </a:t>
            </a:r>
            <a:r>
              <a:rPr dirty="0" err="1"/>
              <a:t>cuentas</a:t>
            </a:r>
            <a:r>
              <a:rPr dirty="0"/>
              <a:t> en un </a:t>
            </a:r>
            <a:r>
              <a:rPr dirty="0" err="1"/>
              <a:t>plazo</a:t>
            </a:r>
            <a:r>
              <a:rPr dirty="0"/>
              <a:t> de 2 días?</a:t>
            </a:r>
          </a:p>
        </p:txBody>
      </p:sp>
      <p:sp>
        <p:nvSpPr>
          <p:cNvPr id="4" name="Marcador de número de diapositiva 3">
            <a:extLst>
              <a:ext uri="{FF2B5EF4-FFF2-40B4-BE49-F238E27FC236}">
                <a16:creationId xmlns:a16="http://schemas.microsoft.com/office/drawing/2014/main" id="{8B32DBEA-A7C3-BB97-6B8D-83056208B354}"/>
              </a:ext>
            </a:extLst>
          </p:cNvPr>
          <p:cNvSpPr>
            <a:spLocks noGrp="1"/>
          </p:cNvSpPr>
          <p:nvPr>
            <p:ph type="sldNum" sz="quarter" idx="12"/>
          </p:nvPr>
        </p:nvSpPr>
        <p:spPr/>
        <p:txBody>
          <a:bodyPr/>
          <a:lstStyle/>
          <a:p>
            <a:fld id="{336CAFD0-1F6E-4E11-9822-836563A02839}" type="slidenum">
              <a:rPr lang="es-ES" smtClean="0"/>
              <a:t>76</a:t>
            </a:fld>
            <a:endParaRPr lang="es-ES"/>
          </a:p>
        </p:txBody>
      </p:sp>
    </p:spTree>
    <p:extLst>
      <p:ext uri="{BB962C8B-B14F-4D97-AF65-F5344CB8AC3E}">
        <p14:creationId xmlns:p14="http://schemas.microsoft.com/office/powerpoint/2010/main" val="15743908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97AFD-3573-3210-2A0D-73D7D00B2DA5}"/>
              </a:ext>
            </a:extLst>
          </p:cNvPr>
          <p:cNvSpPr>
            <a:spLocks noGrp="1"/>
          </p:cNvSpPr>
          <p:nvPr>
            <p:ph type="title"/>
          </p:nvPr>
        </p:nvSpPr>
        <p:spPr/>
        <p:txBody>
          <a:bodyPr/>
          <a:lstStyle/>
          <a:p>
            <a:r>
              <a:rPr lang="es-ES" dirty="0"/>
              <a:t>13</a:t>
            </a:r>
            <a:r>
              <a:rPr dirty="0"/>
              <a:t>. </a:t>
            </a:r>
            <a:r>
              <a:rPr dirty="0" err="1"/>
              <a:t>Distribución</a:t>
            </a:r>
            <a:r>
              <a:rPr dirty="0"/>
              <a:t> de Poisson</a:t>
            </a:r>
            <a:br>
              <a:rPr lang="es-ES" dirty="0"/>
            </a:br>
            <a:r>
              <a:rPr dirty="0" err="1"/>
              <a:t>Ejemplo</a:t>
            </a:r>
            <a:r>
              <a:rPr dirty="0"/>
              <a:t> 3.22 (</a:t>
            </a:r>
            <a:r>
              <a:rPr dirty="0" err="1"/>
              <a:t>Solución</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A10EEE6-791F-7FD3-5C3A-577AB8A4067F}"/>
                  </a:ext>
                </a:extLst>
              </p:cNvPr>
              <p:cNvSpPr>
                <a:spLocks noGrp="1"/>
              </p:cNvSpPr>
              <p:nvPr>
                <p:ph idx="1"/>
              </p:nvPr>
            </p:nvSpPr>
            <p:spPr/>
            <p:txBody>
              <a:bodyPr>
                <a:normAutofit/>
              </a:bodyPr>
              <a:lstStyle/>
              <a:p>
                <a:r>
                  <a:rPr dirty="0"/>
                  <a:t>Las </a:t>
                </a:r>
                <a:r>
                  <a:rPr dirty="0" err="1"/>
                  <a:t>nuevas</a:t>
                </a:r>
                <a:r>
                  <a:rPr dirty="0"/>
                  <a:t> </a:t>
                </a:r>
                <a:r>
                  <a:rPr dirty="0" err="1"/>
                  <a:t>iniciaciones</a:t>
                </a:r>
                <a:r>
                  <a:rPr dirty="0"/>
                  <a:t> de </a:t>
                </a:r>
                <a:r>
                  <a:rPr dirty="0" err="1"/>
                  <a:t>cuentas</a:t>
                </a:r>
                <a:r>
                  <a:rPr dirty="0"/>
                  <a:t> </a:t>
                </a:r>
                <a:r>
                  <a:rPr lang="es-ES" dirty="0"/>
                  <a:t>son </a:t>
                </a:r>
                <a:r>
                  <a:rPr dirty="0" err="1"/>
                  <a:t>eventos</a:t>
                </a:r>
                <a:r>
                  <a:rPr dirty="0"/>
                  <a:t> </a:t>
                </a:r>
                <a:r>
                  <a:rPr dirty="0" err="1"/>
                  <a:t>raros</a:t>
                </a:r>
                <a:r>
                  <a:rPr dirty="0"/>
                  <a:t> </a:t>
                </a:r>
                <a:r>
                  <a:rPr dirty="0" err="1"/>
                  <a:t>porque</a:t>
                </a:r>
                <a:r>
                  <a:rPr dirty="0"/>
                  <a:t> </a:t>
                </a:r>
                <a:r>
                  <a:rPr lang="es-ES" dirty="0"/>
                  <a:t>es muy  improbable que dos clientes </a:t>
                </a:r>
                <a:r>
                  <a:rPr dirty="0" err="1"/>
                  <a:t>abran</a:t>
                </a:r>
                <a:r>
                  <a:rPr dirty="0"/>
                  <a:t> </a:t>
                </a:r>
                <a:r>
                  <a:rPr dirty="0" err="1"/>
                  <a:t>cuentas</a:t>
                </a:r>
                <a:r>
                  <a:rPr dirty="0"/>
                  <a:t> </a:t>
                </a:r>
                <a:r>
                  <a:rPr dirty="0" err="1"/>
                  <a:t>simultáneamente</a:t>
                </a:r>
                <a:endParaRPr dirty="0"/>
              </a:p>
              <a:p>
                <a:r>
                  <a:rPr dirty="0"/>
                  <a:t>X: </a:t>
                </a:r>
                <a:r>
                  <a:rPr dirty="0" err="1"/>
                  <a:t>número</a:t>
                </a:r>
                <a:r>
                  <a:rPr dirty="0"/>
                  <a:t> de </a:t>
                </a:r>
                <a:r>
                  <a:rPr dirty="0" err="1"/>
                  <a:t>cuentas</a:t>
                </a:r>
                <a:r>
                  <a:rPr dirty="0"/>
                  <a:t> </a:t>
                </a:r>
                <a:r>
                  <a:rPr dirty="0" err="1"/>
                  <a:t>abiertas</a:t>
                </a:r>
                <a:r>
                  <a:rPr dirty="0"/>
                  <a:t> en un día</a:t>
                </a:r>
              </a:p>
              <a:p>
                <a:pPr lvl="1"/>
                <a:r>
                  <a:rPr dirty="0"/>
                  <a:t>X </a:t>
                </a:r>
                <a:r>
                  <a:rPr dirty="0" err="1"/>
                  <a:t>tiene</a:t>
                </a:r>
                <a:r>
                  <a:rPr dirty="0"/>
                  <a:t> </a:t>
                </a:r>
                <a:r>
                  <a:rPr dirty="0" err="1"/>
                  <a:t>distribución</a:t>
                </a:r>
                <a:r>
                  <a:rPr dirty="0"/>
                  <a:t> de Poisson con </a:t>
                </a:r>
                <a:r>
                  <a:rPr dirty="0" err="1"/>
                  <a:t>parámetro</a:t>
                </a:r>
                <a:r>
                  <a:rPr dirty="0"/>
                  <a:t> </a:t>
                </a:r>
                <a14:m>
                  <m:oMath xmlns:m="http://schemas.openxmlformats.org/officeDocument/2006/math">
                    <m:r>
                      <a:rPr lang="el-GR" i="1" smtClean="0">
                        <a:latin typeface="Cambria Math" panose="02040503050406030204" pitchFamily="18" charset="0"/>
                      </a:rPr>
                      <m:t>𝜆</m:t>
                    </m:r>
                    <m:r>
                      <a:rPr lang="es-ES" b="0" i="1" smtClean="0">
                        <a:latin typeface="Cambria Math" panose="02040503050406030204" pitchFamily="18" charset="0"/>
                      </a:rPr>
                      <m:t>=</m:t>
                    </m:r>
                    <m:r>
                      <a:rPr lang="es-ES" b="0" i="1" smtClean="0">
                        <a:latin typeface="Cambria Math" panose="02040503050406030204" pitchFamily="18" charset="0"/>
                      </a:rPr>
                      <m:t>10</m:t>
                    </m:r>
                  </m:oMath>
                </a14:m>
                <a:endParaRPr dirty="0"/>
              </a:p>
              <a:p>
                <a:pPr marL="914400" lvl="1" indent="-457200">
                  <a:buFont typeface="+mj-lt"/>
                  <a:buAutoNum type="alphaLcParenR"/>
                </a:pPr>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&gt;</m:t>
                        </m:r>
                        <m:r>
                          <a:rPr lang="es-ES" b="0" i="1" smtClean="0">
                            <a:latin typeface="Cambria Math" panose="02040503050406030204" pitchFamily="18" charset="0"/>
                          </a:rPr>
                          <m:t>8</m:t>
                        </m:r>
                      </m:e>
                    </m:d>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8</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𝐹</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8</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333</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667</m:t>
                    </m:r>
                  </m:oMath>
                </a14:m>
                <a:r>
                  <a:rPr dirty="0"/>
                  <a:t> </a:t>
                </a:r>
              </a:p>
              <a:p>
                <a:pPr lvl="2"/>
                <a:r>
                  <a:rPr dirty="0"/>
                  <a:t>F(8) se </a:t>
                </a:r>
                <a:r>
                  <a:rPr dirty="0" err="1"/>
                  <a:t>puede</a:t>
                </a:r>
                <a:r>
                  <a:rPr dirty="0"/>
                  <a:t> </a:t>
                </a:r>
                <a:r>
                  <a:rPr dirty="0" err="1"/>
                  <a:t>obtener</a:t>
                </a:r>
                <a:r>
                  <a:rPr dirty="0"/>
                  <a:t> </a:t>
                </a:r>
                <a:r>
                  <a:rPr dirty="0" err="1"/>
                  <a:t>usando</a:t>
                </a:r>
                <a:r>
                  <a:rPr dirty="0"/>
                  <a:t> software </a:t>
                </a:r>
                <a:r>
                  <a:rPr dirty="0" err="1"/>
                  <a:t>como</a:t>
                </a:r>
                <a:r>
                  <a:rPr dirty="0"/>
                  <a:t> R, o la </a:t>
                </a:r>
                <a:r>
                  <a:rPr dirty="0" err="1"/>
                  <a:t>Tabla</a:t>
                </a:r>
                <a:r>
                  <a:rPr dirty="0"/>
                  <a:t> A3 del </a:t>
                </a:r>
                <a:r>
                  <a:rPr dirty="0" err="1"/>
                  <a:t>libro</a:t>
                </a:r>
                <a:endParaRPr dirty="0"/>
              </a:p>
              <a:p>
                <a:r>
                  <a:rPr dirty="0"/>
                  <a:t>Y: </a:t>
                </a:r>
                <a:r>
                  <a:rPr dirty="0" err="1"/>
                  <a:t>número</a:t>
                </a:r>
                <a:r>
                  <a:rPr dirty="0"/>
                  <a:t> de </a:t>
                </a:r>
                <a:r>
                  <a:rPr dirty="0" err="1"/>
                  <a:t>cuentas</a:t>
                </a:r>
                <a:r>
                  <a:rPr dirty="0"/>
                  <a:t> </a:t>
                </a:r>
                <a:r>
                  <a:rPr dirty="0" err="1"/>
                  <a:t>abiertas</a:t>
                </a:r>
                <a:r>
                  <a:rPr dirty="0"/>
                  <a:t> en dos días</a:t>
                </a:r>
              </a:p>
              <a:p>
                <a:pPr lvl="1"/>
                <a:r>
                  <a:rPr dirty="0"/>
                  <a:t>Y </a:t>
                </a:r>
                <a:r>
                  <a:rPr dirty="0" err="1"/>
                  <a:t>tiene</a:t>
                </a:r>
                <a:r>
                  <a:rPr dirty="0"/>
                  <a:t> </a:t>
                </a:r>
                <a:r>
                  <a:rPr dirty="0" err="1"/>
                  <a:t>distribución</a:t>
                </a:r>
                <a:r>
                  <a:rPr dirty="0"/>
                  <a:t> de Poisson con </a:t>
                </a:r>
                <a:r>
                  <a:rPr dirty="0" err="1"/>
                  <a:t>parámetro</a:t>
                </a:r>
                <a:r>
                  <a:rPr dirty="0"/>
                  <a:t> </a:t>
                </a:r>
                <a14:m>
                  <m:oMath xmlns:m="http://schemas.openxmlformats.org/officeDocument/2006/math">
                    <m:r>
                      <a:rPr lang="el-GR" i="1">
                        <a:latin typeface="Cambria Math" panose="02040503050406030204" pitchFamily="18" charset="0"/>
                      </a:rPr>
                      <m:t>𝜆</m:t>
                    </m:r>
                    <m:r>
                      <a:rPr lang="es-ES" b="0" i="1" smtClean="0">
                        <a:latin typeface="Cambria Math" panose="02040503050406030204" pitchFamily="18" charset="0"/>
                      </a:rPr>
                      <m:t>=</m:t>
                    </m:r>
                    <m:r>
                      <a:rPr lang="es-ES" b="0" i="1" smtClean="0">
                        <a:latin typeface="Cambria Math" panose="02040503050406030204" pitchFamily="18" charset="0"/>
                      </a:rPr>
                      <m:t>10</m:t>
                    </m:r>
                    <m:r>
                      <a:rPr lang="es-ES" b="0" i="1" smtClean="0">
                        <a:latin typeface="Cambria Math" panose="02040503050406030204" pitchFamily="18" charset="0"/>
                      </a:rPr>
                      <m:t>∗</m:t>
                    </m:r>
                    <m:r>
                      <a:rPr lang="es-ES" b="0" i="1" smtClean="0">
                        <a:latin typeface="Cambria Math" panose="02040503050406030204" pitchFamily="18" charset="0"/>
                      </a:rPr>
                      <m:t>2</m:t>
                    </m:r>
                    <m:r>
                      <a:rPr lang="es-ES" b="0" i="1" smtClean="0">
                        <a:latin typeface="Cambria Math" panose="02040503050406030204" pitchFamily="18" charset="0"/>
                      </a:rPr>
                      <m:t>=</m:t>
                    </m:r>
                    <m:r>
                      <a:rPr lang="es-ES" b="0" i="1" smtClean="0">
                        <a:latin typeface="Cambria Math" panose="02040503050406030204" pitchFamily="18" charset="0"/>
                      </a:rPr>
                      <m:t>20</m:t>
                    </m:r>
                  </m:oMath>
                </a14:m>
                <a:endParaRPr dirty="0"/>
              </a:p>
              <a:p>
                <a:pPr marL="914400" lvl="1" indent="-457200">
                  <a:buFont typeface="+mj-lt"/>
                  <a:buAutoNum type="alphaLcParenR" startAt="2"/>
                </a:pPr>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𝑌</m:t>
                        </m:r>
                        <m:r>
                          <a:rPr lang="es-ES" b="0" i="1" smtClean="0">
                            <a:latin typeface="Cambria Math" panose="02040503050406030204" pitchFamily="18" charset="0"/>
                          </a:rPr>
                          <m:t>&gt;</m:t>
                        </m:r>
                        <m:r>
                          <a:rPr lang="es-ES" b="0" i="1" smtClean="0">
                            <a:latin typeface="Cambria Math" panose="02040503050406030204" pitchFamily="18" charset="0"/>
                          </a:rPr>
                          <m:t>16</m:t>
                        </m:r>
                      </m:e>
                    </m:d>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𝑌</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16</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𝐹</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16</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221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779</m:t>
                    </m:r>
                  </m:oMath>
                </a14:m>
                <a:r>
                  <a:rPr dirty="0"/>
                  <a:t> </a:t>
                </a:r>
              </a:p>
              <a:p>
                <a:pPr lvl="2"/>
                <a:r>
                  <a:rPr dirty="0"/>
                  <a:t>F(16) se </a:t>
                </a:r>
                <a:r>
                  <a:rPr dirty="0" err="1"/>
                  <a:t>puede</a:t>
                </a:r>
                <a:r>
                  <a:rPr dirty="0"/>
                  <a:t> </a:t>
                </a:r>
                <a:r>
                  <a:rPr dirty="0" err="1"/>
                  <a:t>obtener</a:t>
                </a:r>
                <a:r>
                  <a:rPr dirty="0"/>
                  <a:t> </a:t>
                </a:r>
                <a:r>
                  <a:rPr dirty="0" err="1"/>
                  <a:t>usando</a:t>
                </a:r>
                <a:r>
                  <a:rPr dirty="0"/>
                  <a:t> software </a:t>
                </a:r>
                <a:r>
                  <a:rPr dirty="0" err="1"/>
                  <a:t>como</a:t>
                </a:r>
                <a:r>
                  <a:rPr dirty="0"/>
                  <a:t> R, o la </a:t>
                </a:r>
                <a:r>
                  <a:rPr dirty="0" err="1"/>
                  <a:t>Tabla</a:t>
                </a:r>
                <a:r>
                  <a:rPr dirty="0"/>
                  <a:t> A3 del </a:t>
                </a:r>
                <a:r>
                  <a:rPr dirty="0" err="1"/>
                  <a:t>libro</a:t>
                </a:r>
                <a:endParaRPr dirty="0"/>
              </a:p>
              <a:p>
                <a:pPr marL="457200" lvl="1" indent="0">
                  <a:buNone/>
                </a:pPr>
                <a:endParaRPr dirty="0"/>
              </a:p>
              <a:p>
                <a:pPr marL="914400" lvl="1" indent="-457200">
                  <a:buFont typeface="+mj-lt"/>
                  <a:buAutoNum type="alphaLcParenR"/>
                </a:pPr>
                <a:endParaRPr dirty="0"/>
              </a:p>
            </p:txBody>
          </p:sp>
        </mc:Choice>
        <mc:Fallback xmlns="">
          <p:sp>
            <p:nvSpPr>
              <p:cNvPr id="3" name="Marcador de contenido 2">
                <a:extLst>
                  <a:ext uri="{FF2B5EF4-FFF2-40B4-BE49-F238E27FC236}">
                    <a16:creationId xmlns:a16="http://schemas.microsoft.com/office/drawing/2014/main" id="{9A10EEE6-791F-7FD3-5C3A-577AB8A4067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8B32DBEA-A7C3-BB97-6B8D-83056208B354}"/>
              </a:ext>
            </a:extLst>
          </p:cNvPr>
          <p:cNvSpPr>
            <a:spLocks noGrp="1"/>
          </p:cNvSpPr>
          <p:nvPr>
            <p:ph type="sldNum" sz="quarter" idx="12"/>
          </p:nvPr>
        </p:nvSpPr>
        <p:spPr/>
        <p:txBody>
          <a:bodyPr/>
          <a:lstStyle/>
          <a:p>
            <a:fld id="{336CAFD0-1F6E-4E11-9822-836563A02839}" type="slidenum">
              <a:rPr lang="es-ES" smtClean="0"/>
              <a:t>77</a:t>
            </a:fld>
            <a:endParaRPr lang="es-ES"/>
          </a:p>
        </p:txBody>
      </p:sp>
    </p:spTree>
    <p:extLst>
      <p:ext uri="{BB962C8B-B14F-4D97-AF65-F5344CB8AC3E}">
        <p14:creationId xmlns:p14="http://schemas.microsoft.com/office/powerpoint/2010/main" val="1697387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916F70E9-F148-75D8-EF03-FB4BDD29E57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20748" y="3691054"/>
            <a:ext cx="7807158" cy="2801821"/>
          </a:xfrm>
          <a:prstGeom prst="rect">
            <a:avLst/>
          </a:prstGeom>
        </p:spPr>
      </p:pic>
      <p:sp>
        <p:nvSpPr>
          <p:cNvPr id="2" name="Título 1">
            <a:extLst>
              <a:ext uri="{FF2B5EF4-FFF2-40B4-BE49-F238E27FC236}">
                <a16:creationId xmlns:a16="http://schemas.microsoft.com/office/drawing/2014/main" id="{65665C2A-2D45-7794-22E3-6EA892B834E2}"/>
              </a:ext>
            </a:extLst>
          </p:cNvPr>
          <p:cNvSpPr>
            <a:spLocks noGrp="1"/>
          </p:cNvSpPr>
          <p:nvPr>
            <p:ph type="title"/>
          </p:nvPr>
        </p:nvSpPr>
        <p:spPr/>
        <p:txBody>
          <a:bodyPr>
            <a:normAutofit/>
          </a:bodyPr>
          <a:lstStyle/>
          <a:p>
            <a:r>
              <a:rPr lang="es-ES" dirty="0"/>
              <a:t>13. Distribución de Poisson</a:t>
            </a:r>
            <a:br>
              <a:rPr lang="es-ES" dirty="0"/>
            </a:br>
            <a:r>
              <a:rPr lang="es-ES" dirty="0"/>
              <a:t>Ejemplo 3.22 (Solución) </a:t>
            </a:r>
            <a:r>
              <a:rPr dirty="0" err="1"/>
              <a:t>Utilizando</a:t>
            </a:r>
            <a:r>
              <a:rPr dirty="0"/>
              <a:t> la </a:t>
            </a:r>
            <a:r>
              <a:rPr dirty="0" err="1"/>
              <a:t>tabla</a:t>
            </a:r>
            <a:r>
              <a:rPr dirty="0"/>
              <a:t> A</a:t>
            </a:r>
            <a:r>
              <a:rPr lang="es-ES" dirty="0"/>
              <a:t>3</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11CA46C-8793-7F0A-3B46-8CBB27760382}"/>
                  </a:ext>
                </a:extLst>
              </p:cNvPr>
              <p:cNvSpPr>
                <a:spLocks noGrp="1"/>
              </p:cNvSpPr>
              <p:nvPr>
                <p:ph idx="1"/>
              </p:nvPr>
            </p:nvSpPr>
            <p:spPr/>
            <p:txBody>
              <a:bodyPr/>
              <a:lstStyle/>
              <a:p>
                <a:pPr>
                  <a:defRPr>
                    <a:ea typeface="Cambria Math" panose="02040503050406030204" pitchFamily="18" charset="0"/>
                  </a:defRPr>
                </a:pPr>
                <a:r>
                  <a:rPr lang="es-ES" dirty="0"/>
                  <a:t>F(8) </a:t>
                </a:r>
                <a:r>
                  <a:rPr lang="es-ES" dirty="0" err="1"/>
                  <a:t>puede</a:t>
                </a:r>
                <a:r>
                  <a:rPr lang="es-ES" dirty="0"/>
                  <a:t> </a:t>
                </a:r>
                <a:r>
                  <a:rPr lang="es-ES" dirty="0" err="1"/>
                  <a:t>obtenerse</a:t>
                </a:r>
                <a:r>
                  <a:rPr lang="es-ES" dirty="0"/>
                  <a:t> </a:t>
                </a:r>
                <a:r>
                  <a:rPr lang="es-ES" dirty="0" err="1"/>
                  <a:t>utilizando</a:t>
                </a:r>
                <a:r>
                  <a:rPr lang="es-ES" dirty="0"/>
                  <a:t> la </a:t>
                </a:r>
                <a:r>
                  <a:rPr lang="es-ES" dirty="0" err="1"/>
                  <a:t>Tabla</a:t>
                </a:r>
                <a:r>
                  <a:rPr lang="es-ES" dirty="0"/>
                  <a:t> A3 del </a:t>
                </a:r>
                <a:r>
                  <a:rPr lang="es-ES" dirty="0" err="1"/>
                  <a:t>libro</a:t>
                </a:r>
                <a:endParaRPr lang="es-ES" b="0" dirty="0">
                  <a:ea typeface="Cambria Math" panose="02040503050406030204" pitchFamily="18" charset="0"/>
                </a:endParaRPr>
              </a:p>
              <a:p>
                <a:pPr lvl="1">
                  <a:defRPr>
                    <a:ea typeface="Cambria Math" panose="02040503050406030204" pitchFamily="18" charset="0"/>
                  </a:defRPr>
                </a:pPr>
                <a14:m>
                  <m:oMath xmlns:m="http://schemas.openxmlformats.org/officeDocument/2006/math">
                    <m:r>
                      <a:rPr lang="es-ES" i="1">
                        <a:latin typeface="Cambria Math" panose="02040503050406030204" pitchFamily="18" charset="0"/>
                      </a:rPr>
                      <m:t>𝜆</m:t>
                    </m:r>
                    <m:r>
                      <a:rPr lang="es-ES" i="1">
                        <a:latin typeface="Cambria Math" panose="02040503050406030204" pitchFamily="18" charset="0"/>
                      </a:rPr>
                      <m:t> =</m:t>
                    </m:r>
                    <m:r>
                      <a:rPr lang="es-ES" i="1" dirty="0" smtClean="0">
                        <a:latin typeface="Cambria Math" panose="02040503050406030204" pitchFamily="18" charset="0"/>
                      </a:rPr>
                      <m:t>10</m:t>
                    </m:r>
                    <m:r>
                      <a:rPr lang="es-ES" i="1" dirty="0" smtClean="0">
                        <a:latin typeface="Cambria Math" panose="02040503050406030204" pitchFamily="18" charset="0"/>
                      </a:rPr>
                      <m:t>, </m:t>
                    </m:r>
                    <m:r>
                      <a:rPr lang="es-ES" i="1" dirty="0" smtClean="0">
                        <a:latin typeface="Cambria Math" panose="02040503050406030204" pitchFamily="18" charset="0"/>
                      </a:rPr>
                      <m:t>𝑥</m:t>
                    </m:r>
                    <m:r>
                      <a:rPr lang="es-ES" i="1" dirty="0" smtClean="0">
                        <a:latin typeface="Cambria Math" panose="02040503050406030204" pitchFamily="18" charset="0"/>
                      </a:rPr>
                      <m:t>=</m:t>
                    </m:r>
                    <m:r>
                      <a:rPr lang="es-ES" b="0" i="1" dirty="0" smtClean="0">
                        <a:latin typeface="Cambria Math" panose="02040503050406030204" pitchFamily="18" charset="0"/>
                      </a:rPr>
                      <m:t>8</m:t>
                    </m:r>
                  </m:oMath>
                </a14:m>
                <a:endParaRPr lang="es-ES" dirty="0"/>
              </a:p>
              <a:p>
                <a:pPr lvl="1">
                  <a:defRPr>
                    <a:ea typeface="Cambria Math" panose="02040503050406030204" pitchFamily="18" charset="0"/>
                  </a:defRPr>
                </a:pPr>
                <a14:m>
                  <m:oMath xmlns:m="http://schemas.openxmlformats.org/officeDocument/2006/math">
                    <m:r>
                      <a:rPr lang="es-ES" i="1" dirty="0" smtClean="0">
                        <a:latin typeface="Cambria Math" panose="02040503050406030204" pitchFamily="18" charset="0"/>
                      </a:rPr>
                      <m:t>𝐹</m:t>
                    </m:r>
                    <m:r>
                      <a:rPr lang="es-ES" i="1" dirty="0" smtClean="0">
                        <a:latin typeface="Cambria Math" panose="02040503050406030204" pitchFamily="18" charset="0"/>
                      </a:rPr>
                      <m:t>(</m:t>
                    </m:r>
                    <m:r>
                      <a:rPr lang="es-ES" b="0" i="1" dirty="0" smtClean="0">
                        <a:latin typeface="Cambria Math" panose="02040503050406030204" pitchFamily="18" charset="0"/>
                      </a:rPr>
                      <m:t>8</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b="0" i="1" dirty="0" smtClean="0">
                        <a:latin typeface="Cambria Math" panose="02040503050406030204" pitchFamily="18" charset="0"/>
                      </a:rPr>
                      <m:t>.</m:t>
                    </m:r>
                    <m:r>
                      <a:rPr lang="es-ES" b="0" i="1" dirty="0" smtClean="0">
                        <a:latin typeface="Cambria Math" panose="02040503050406030204" pitchFamily="18" charset="0"/>
                      </a:rPr>
                      <m:t>333</m:t>
                    </m:r>
                  </m:oMath>
                </a14:m>
                <a:endParaRPr dirty="0"/>
              </a:p>
            </p:txBody>
          </p:sp>
        </mc:Choice>
        <mc:Fallback xmlns="">
          <p:sp>
            <p:nvSpPr>
              <p:cNvPr id="3" name="Marcador de contenido 2">
                <a:extLst>
                  <a:ext uri="{FF2B5EF4-FFF2-40B4-BE49-F238E27FC236}">
                    <a16:creationId xmlns:a16="http://schemas.microsoft.com/office/drawing/2014/main" id="{111CA46C-8793-7F0A-3B46-8CBB27760382}"/>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17A2E-B3E3-E697-AB61-6FD8AE808DC6}"/>
              </a:ext>
            </a:extLst>
          </p:cNvPr>
          <p:cNvSpPr>
            <a:spLocks noGrp="1"/>
          </p:cNvSpPr>
          <p:nvPr>
            <p:ph type="sldNum" sz="quarter" idx="12"/>
          </p:nvPr>
        </p:nvSpPr>
        <p:spPr/>
        <p:txBody>
          <a:bodyPr/>
          <a:lstStyle/>
          <a:p>
            <a:fld id="{336CAFD0-1F6E-4E11-9822-836563A02839}" type="slidenum">
              <a:rPr lang="es-ES" smtClean="0"/>
              <a:t>78</a:t>
            </a:fld>
            <a:endParaRPr lang="es-ES"/>
          </a:p>
        </p:txBody>
      </p:sp>
      <p:sp>
        <p:nvSpPr>
          <p:cNvPr id="10" name="Rectángulo 9">
            <a:extLst>
              <a:ext uri="{FF2B5EF4-FFF2-40B4-BE49-F238E27FC236}">
                <a16:creationId xmlns:a16="http://schemas.microsoft.com/office/drawing/2014/main" id="{3E9394D1-A9AF-7121-7B98-D77D5A894131}"/>
              </a:ext>
              <a:ext uri="{C183D7F6-B498-43B3-948B-1728B52AA6E4}">
                <adec:decorative xmlns:adec="http://schemas.microsoft.com/office/drawing/2017/decorative" val="1"/>
              </a:ext>
            </a:extLst>
          </p:cNvPr>
          <p:cNvSpPr/>
          <p:nvPr/>
        </p:nvSpPr>
        <p:spPr>
          <a:xfrm>
            <a:off x="9292358" y="3956251"/>
            <a:ext cx="431505" cy="365125"/>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 name="Rectángulo 10">
            <a:extLst>
              <a:ext uri="{FF2B5EF4-FFF2-40B4-BE49-F238E27FC236}">
                <a16:creationId xmlns:a16="http://schemas.microsoft.com/office/drawing/2014/main" id="{51ABC636-3B3A-C23D-12EF-60684D2CF5F6}"/>
              </a:ext>
              <a:ext uri="{C183D7F6-B498-43B3-948B-1728B52AA6E4}">
                <adec:decorative xmlns:adec="http://schemas.microsoft.com/office/drawing/2017/decorative" val="1"/>
              </a:ext>
            </a:extLst>
          </p:cNvPr>
          <p:cNvSpPr/>
          <p:nvPr/>
        </p:nvSpPr>
        <p:spPr>
          <a:xfrm>
            <a:off x="2728850" y="5871483"/>
            <a:ext cx="345440" cy="23368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Elipse 12">
            <a:extLst>
              <a:ext uri="{FF2B5EF4-FFF2-40B4-BE49-F238E27FC236}">
                <a16:creationId xmlns:a16="http://schemas.microsoft.com/office/drawing/2014/main" id="{5149600E-9D79-CF7D-5668-7236564AF3C1}"/>
              </a:ext>
              <a:ext uri="{C183D7F6-B498-43B3-948B-1728B52AA6E4}">
                <adec:decorative xmlns:adec="http://schemas.microsoft.com/office/drawing/2017/decorative" val="1"/>
              </a:ext>
            </a:extLst>
          </p:cNvPr>
          <p:cNvSpPr/>
          <p:nvPr/>
        </p:nvSpPr>
        <p:spPr>
          <a:xfrm>
            <a:off x="9173468" y="5815347"/>
            <a:ext cx="601366" cy="36512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pic>
        <p:nvPicPr>
          <p:cNvPr id="7" name="Imagen 6">
            <a:extLst>
              <a:ext uri="{FF2B5EF4-FFF2-40B4-BE49-F238E27FC236}">
                <a16:creationId xmlns:a16="http://schemas.microsoft.com/office/drawing/2014/main" id="{452CEDE5-7C65-D11B-A36D-CA663C7ED80E}"/>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948237" y="2786179"/>
            <a:ext cx="2295525" cy="904875"/>
          </a:xfrm>
          <a:prstGeom prst="rect">
            <a:avLst/>
          </a:prstGeom>
        </p:spPr>
      </p:pic>
    </p:spTree>
    <p:extLst>
      <p:ext uri="{BB962C8B-B14F-4D97-AF65-F5344CB8AC3E}">
        <p14:creationId xmlns:p14="http://schemas.microsoft.com/office/powerpoint/2010/main" val="1840156341"/>
      </p:ext>
    </p:extLst>
  </p:cSld>
  <p:clrMapOvr>
    <a:masterClrMapping/>
  </p:clrMapOvr>
  <mc:AlternateContent xmlns:mc="http://schemas.openxmlformats.org/markup-compatibility/2006" xmlns:p14="http://schemas.microsoft.com/office/powerpoint/2010/main">
    <mc:Choice Requires="p14">
      <p:transition spd="slow" p14:dur="2000" advTm="47868"/>
    </mc:Choice>
    <mc:Fallback xmlns="">
      <p:transition spd="slow" advTm="47868"/>
    </mc:Fallback>
  </mc:AlternateContent>
  <p:extLst>
    <p:ext uri="{3A86A75C-4F4B-4683-9AE1-C65F6400EC91}">
      <p14:laserTraceLst xmlns:p14="http://schemas.microsoft.com/office/powerpoint/2010/main">
        <p14:tracePtLst>
          <p14:tracePt t="7920" x="5292725" y="3154363"/>
          <p14:tracePt t="7980" x="5283200" y="3154363"/>
          <p14:tracePt t="7988" x="5257800" y="3144838"/>
          <p14:tracePt t="7995" x="5248275" y="3144838"/>
          <p14:tracePt t="8012" x="5230813" y="3144838"/>
          <p14:tracePt t="8028" x="5205413" y="3144838"/>
          <p14:tracePt t="8045" x="5187950" y="3144838"/>
          <p14:tracePt t="8062" x="5170488" y="3144838"/>
          <p14:tracePt t="8078" x="5153025" y="3144838"/>
          <p14:tracePt t="8095" x="5135563" y="3144838"/>
          <p14:tracePt t="8111" x="5126038" y="3144838"/>
          <p14:tracePt t="8164" x="5118100" y="3144838"/>
          <p14:tracePt t="8172" x="5108575" y="3144838"/>
          <p14:tracePt t="8180" x="5100638" y="3144838"/>
          <p14:tracePt t="8195" x="5083175" y="3144838"/>
          <p14:tracePt t="8196" x="5065713" y="3144838"/>
          <p14:tracePt t="8212" x="5030788" y="3154363"/>
          <p14:tracePt t="8228" x="4986338" y="3162300"/>
          <p14:tracePt t="8245" x="4968875" y="3162300"/>
          <p14:tracePt t="8261" x="4968875" y="3171825"/>
          <p14:tracePt t="8308" x="4968875" y="3179763"/>
          <p14:tracePt t="8316" x="4951413" y="3189288"/>
          <p14:tracePt t="8324" x="4943475" y="3189288"/>
          <p14:tracePt t="8332" x="4933950" y="3197225"/>
          <p14:tracePt t="8345" x="4916488" y="3206750"/>
          <p14:tracePt t="8361" x="4864100" y="3224213"/>
          <p14:tracePt t="8378" x="4846638" y="3232150"/>
          <p14:tracePt t="8380" x="4838700" y="3232150"/>
          <p14:tracePt t="8395" x="4838700" y="3241675"/>
          <p14:tracePt t="8412" x="4829175" y="3241675"/>
          <p14:tracePt t="8428" x="4821238" y="3259138"/>
          <p14:tracePt t="8445" x="4803775" y="3276600"/>
          <p14:tracePt t="8461" x="4803775" y="3284538"/>
          <p14:tracePt t="8478" x="4803775" y="3311525"/>
          <p14:tracePt t="8495" x="4803775" y="3319463"/>
          <p14:tracePt t="8511" x="4803775" y="3328988"/>
          <p14:tracePt t="8528" x="4803775" y="3354388"/>
          <p14:tracePt t="8544" x="4811713" y="3381375"/>
          <p14:tracePt t="8561" x="4829175" y="3416300"/>
          <p14:tracePt t="8578" x="4838700" y="3441700"/>
          <p14:tracePt t="8580" x="4838700" y="3451225"/>
          <p14:tracePt t="8594" x="4838700" y="3486150"/>
          <p14:tracePt t="8596" x="4846638" y="3503613"/>
          <p14:tracePt t="8611" x="4856163" y="3529013"/>
          <p14:tracePt t="8628" x="4864100" y="3556000"/>
          <p14:tracePt t="8644" x="4873625" y="3581400"/>
          <p14:tracePt t="8661" x="4891088" y="3590925"/>
          <p14:tracePt t="8678" x="4899025" y="3608388"/>
          <p14:tracePt t="8694" x="4916488" y="3616325"/>
          <p14:tracePt t="8711" x="4933950" y="3633788"/>
          <p14:tracePt t="8728" x="4960938" y="3643313"/>
          <p14:tracePt t="8744" x="4986338" y="3668713"/>
          <p14:tracePt t="8761" x="5013325" y="3678238"/>
          <p14:tracePt t="8778" x="5038725" y="3686175"/>
          <p14:tracePt t="8794" x="5048250" y="3695700"/>
          <p14:tracePt t="8812" x="5065713" y="3695700"/>
          <p14:tracePt t="8828" x="5083175" y="3695700"/>
          <p14:tracePt t="8844" x="5108575" y="3703638"/>
          <p14:tracePt t="8861" x="5135563" y="3703638"/>
          <p14:tracePt t="8878" x="5160963" y="3703638"/>
          <p14:tracePt t="8894" x="5178425" y="3703638"/>
          <p14:tracePt t="8911" x="5195888" y="3703638"/>
          <p14:tracePt t="8928" x="5213350" y="3695700"/>
          <p14:tracePt t="8944" x="5230813" y="3686175"/>
          <p14:tracePt t="8961" x="5257800" y="3678238"/>
          <p14:tracePt t="8978" x="5283200" y="3660775"/>
          <p14:tracePt t="8979" x="5300663" y="3651250"/>
          <p14:tracePt t="8996" x="5318125" y="3643313"/>
          <p14:tracePt t="9012" x="5327650" y="3633788"/>
          <p14:tracePt t="9028" x="5335588" y="3633788"/>
          <p14:tracePt t="9044" x="5353050" y="3616325"/>
          <p14:tracePt t="9061" x="5370513" y="3598863"/>
          <p14:tracePt t="9078" x="5387975" y="3573463"/>
          <p14:tracePt t="9094" x="5405438" y="3546475"/>
          <p14:tracePt t="9111" x="5422900" y="3511550"/>
          <p14:tracePt t="9128" x="5432425" y="3486150"/>
          <p14:tracePt t="9144" x="5440363" y="3468688"/>
          <p14:tracePt t="9161" x="5449888" y="3441700"/>
          <p14:tracePt t="9178" x="5449888" y="3433763"/>
          <p14:tracePt t="9194" x="5449888" y="3424238"/>
          <p14:tracePt t="9196" x="5449888" y="3398838"/>
          <p14:tracePt t="9211" x="5449888" y="3381375"/>
          <p14:tracePt t="9212" x="5432425" y="3363913"/>
          <p14:tracePt t="9228" x="5414963" y="3319463"/>
          <p14:tracePt t="9245" x="5397500" y="3294063"/>
          <p14:tracePt t="9261" x="5380038" y="3276600"/>
          <p14:tracePt t="9278" x="5370513" y="3267075"/>
          <p14:tracePt t="9295" x="5353050" y="3249613"/>
          <p14:tracePt t="9311" x="5335588" y="3232150"/>
          <p14:tracePt t="9328" x="5310188" y="3214688"/>
          <p14:tracePt t="9344" x="5283200" y="3197225"/>
          <p14:tracePt t="9361" x="5265738" y="3189288"/>
          <p14:tracePt t="9378" x="5257800" y="3179763"/>
          <p14:tracePt t="9404" x="5248275" y="3179763"/>
          <p14:tracePt t="9452" x="5240338" y="3179763"/>
          <p14:tracePt t="9460" x="5170488" y="3189288"/>
          <p14:tracePt t="9468" x="5160963" y="3197225"/>
          <p14:tracePt t="9478" x="5143500" y="3197225"/>
          <p14:tracePt t="9494" x="5073650" y="3214688"/>
          <p14:tracePt t="9511" x="5013325" y="3232150"/>
          <p14:tracePt t="9528" x="4978400" y="3241675"/>
          <p14:tracePt t="9544" x="4978400" y="3249613"/>
          <p14:tracePt t="9758" x="0" y="0"/>
        </p14:tracePtLst>
        <p14:tracePtLst>
          <p14:tracePt t="10337" x="5003800" y="3441700"/>
          <p14:tracePt t="10348" x="5013325" y="3441700"/>
          <p14:tracePt t="10356" x="5021263" y="3441700"/>
          <p14:tracePt t="10372" x="5030788" y="3433763"/>
          <p14:tracePt t="10444" x="5038725" y="3433763"/>
          <p14:tracePt t="10452" x="5065713" y="3433763"/>
          <p14:tracePt t="10468" x="5073650" y="3433763"/>
          <p14:tracePt t="10478" x="5083175" y="3441700"/>
          <p14:tracePt t="10494" x="5091113" y="3451225"/>
          <p14:tracePt t="10512" x="5100638" y="3451225"/>
          <p14:tracePt t="10527" x="5100638" y="3459163"/>
          <p14:tracePt t="10708" x="5091113" y="3459163"/>
          <p14:tracePt t="10716" x="5073650" y="3459163"/>
          <p14:tracePt t="10732" x="5065713" y="3459163"/>
          <p14:tracePt t="10740" x="5056188" y="3459163"/>
          <p14:tracePt t="10772" x="5048250" y="3459163"/>
          <p14:tracePt t="11204" x="5038725" y="3459163"/>
          <p14:tracePt t="11211" x="5030788" y="3468688"/>
          <p14:tracePt t="11220" x="5021263" y="3468688"/>
          <p14:tracePt t="11228" x="5013325" y="3476625"/>
          <p14:tracePt t="11244" x="4995863" y="3476625"/>
          <p14:tracePt t="11261" x="4978400" y="3476625"/>
          <p14:tracePt t="11500" x="4986338" y="3476625"/>
          <p14:tracePt t="11508" x="4995863" y="3476625"/>
          <p14:tracePt t="11524" x="5003800" y="3476625"/>
          <p14:tracePt t="11533" x="5013325" y="3476625"/>
          <p14:tracePt t="11544" x="5021263" y="3476625"/>
          <p14:tracePt t="11652" x="5030788" y="3476625"/>
          <p14:tracePt t="11660" x="5038725" y="3476625"/>
          <p14:tracePt t="11868" x="5048250" y="3476625"/>
          <p14:tracePt t="12260" x="5056188" y="3476625"/>
          <p14:tracePt t="12300" x="5065713" y="3476625"/>
          <p14:tracePt t="12308" x="5083175" y="3486150"/>
          <p14:tracePt t="12348" x="5091113" y="3486150"/>
          <p14:tracePt t="12356" x="5091113" y="3494088"/>
          <p14:tracePt t="12652" x="5100638" y="3494088"/>
          <p14:tracePt t="12660" x="5108575" y="3494088"/>
          <p14:tracePt t="12668" x="5118100" y="3503613"/>
          <p14:tracePt t="12748" x="5126038" y="3503613"/>
          <p14:tracePt t="12756" x="5143500" y="3503613"/>
          <p14:tracePt t="12764" x="5153025" y="3511550"/>
          <p14:tracePt t="12777" x="5170488" y="3521075"/>
          <p14:tracePt t="12794" x="5205413" y="3529013"/>
          <p14:tracePt t="12810" x="5240338" y="3529013"/>
          <p14:tracePt t="12812" x="5248275" y="3538538"/>
          <p14:tracePt t="12828" x="5265738" y="3546475"/>
          <p14:tracePt t="12844" x="5265738" y="3556000"/>
          <p14:tracePt t="12908" x="5275263" y="3556000"/>
          <p14:tracePt t="12916" x="5292725" y="3556000"/>
          <p14:tracePt t="12927" x="5300663" y="3563938"/>
          <p14:tracePt t="12944" x="5353050" y="3573463"/>
          <p14:tracePt t="12961" x="5397500" y="3590925"/>
          <p14:tracePt t="12977" x="5457825" y="3590925"/>
          <p14:tracePt t="12994" x="5527675" y="3590925"/>
          <p14:tracePt t="12996" x="5545138" y="3590925"/>
          <p14:tracePt t="13011" x="5572125" y="3590925"/>
          <p14:tracePt t="13012" x="5607050" y="3581400"/>
          <p14:tracePt t="13028" x="5641975" y="3573463"/>
          <p14:tracePt t="13044" x="5676900" y="3563938"/>
          <p14:tracePt t="13060" x="5676900" y="3556000"/>
          <p14:tracePt t="13084" x="5684838" y="3546475"/>
          <p14:tracePt t="13094" x="5694363" y="3546475"/>
          <p14:tracePt t="13110" x="5711825" y="3529013"/>
          <p14:tracePt t="13127" x="5729288" y="3511550"/>
          <p14:tracePt t="13144" x="5754688" y="3476625"/>
          <p14:tracePt t="13160" x="5781675" y="3433763"/>
          <p14:tracePt t="13177" x="5799138" y="3371850"/>
          <p14:tracePt t="13194" x="5816600" y="3328988"/>
          <p14:tracePt t="13196" x="5816600" y="3319463"/>
          <p14:tracePt t="13210" x="5824538" y="3302000"/>
          <p14:tracePt t="13211" x="5834063" y="3284538"/>
          <p14:tracePt t="13228" x="5834063" y="3267075"/>
          <p14:tracePt t="13244" x="5834063" y="3249613"/>
          <p14:tracePt t="13260" x="5824538" y="3224213"/>
          <p14:tracePt t="13277" x="5807075" y="3189288"/>
          <p14:tracePt t="13294" x="5789613" y="3154363"/>
          <p14:tracePt t="13310" x="5781675" y="3119438"/>
          <p14:tracePt t="13327" x="5764213" y="3092450"/>
          <p14:tracePt t="13344" x="5746750" y="3067050"/>
          <p14:tracePt t="13360" x="5729288" y="3032125"/>
          <p14:tracePt t="13377" x="5694363" y="3014663"/>
          <p14:tracePt t="13394" x="5659438" y="2970213"/>
          <p14:tracePt t="13396" x="5614988" y="2944813"/>
          <p14:tracePt t="13411" x="5597525" y="2927350"/>
          <p14:tracePt t="13412" x="5580063" y="2909888"/>
          <p14:tracePt t="13427" x="5562600" y="2900363"/>
          <p14:tracePt t="13428" x="5545138" y="2882900"/>
          <p14:tracePt t="13444" x="5519738" y="2874963"/>
          <p14:tracePt t="13461" x="5510213" y="2874963"/>
          <p14:tracePt t="13532" x="5502275" y="2874963"/>
          <p14:tracePt t="13540" x="5475288" y="2874963"/>
          <p14:tracePt t="13548" x="5467350" y="2892425"/>
          <p14:tracePt t="13561" x="5457825" y="2900363"/>
          <p14:tracePt t="13577" x="5432425" y="2900363"/>
          <p14:tracePt t="13594" x="5405438" y="2917825"/>
          <p14:tracePt t="13596" x="5397500" y="2927350"/>
          <p14:tracePt t="13612" x="5397500" y="2935288"/>
          <p14:tracePt t="13644" x="5387975" y="2935288"/>
          <p14:tracePt t="13652" x="5387975" y="2944813"/>
          <p14:tracePt t="13660" x="5380038" y="2944813"/>
          <p14:tracePt t="13677" x="5362575" y="2962275"/>
          <p14:tracePt t="13694" x="5335588" y="2979738"/>
          <p14:tracePt t="13711" x="5318125" y="2987675"/>
          <p14:tracePt t="13727" x="5310188" y="2987675"/>
          <p14:tracePt t="13756" x="5310188" y="3005138"/>
          <p14:tracePt t="13764" x="5300663" y="3014663"/>
          <p14:tracePt t="13777" x="5292725" y="3014663"/>
          <p14:tracePt t="13794" x="5257800" y="3049588"/>
          <p14:tracePt t="13810" x="5205413" y="3084513"/>
          <p14:tracePt t="13812" x="5178425" y="3101975"/>
          <p14:tracePt t="13827" x="5160963" y="3101975"/>
          <p14:tracePt t="13828" x="5126038" y="3109913"/>
          <p14:tracePt t="13844" x="5108575" y="3127375"/>
          <p14:tracePt t="13860" x="5091113" y="3144838"/>
          <p14:tracePt t="13877" x="5083175" y="3144838"/>
          <p14:tracePt t="13894" x="5073650" y="3154363"/>
          <p14:tracePt t="13911" x="5073650" y="3162300"/>
          <p14:tracePt t="13927" x="5065713" y="3171825"/>
          <p14:tracePt t="13944" x="5048250" y="3189288"/>
          <p14:tracePt t="13960" x="5021263" y="3214688"/>
          <p14:tracePt t="13977" x="4995863" y="3241675"/>
          <p14:tracePt t="13994" x="4968875" y="3294063"/>
          <p14:tracePt t="13996" x="4968875" y="3302000"/>
          <p14:tracePt t="14010" x="4960938" y="3328988"/>
          <p14:tracePt t="14012" x="4951413" y="3346450"/>
          <p14:tracePt t="14027" x="4951413" y="3363913"/>
          <p14:tracePt t="14044" x="4951413" y="3381375"/>
          <p14:tracePt t="14060" x="4951413" y="3406775"/>
          <p14:tracePt t="14077" x="4960938" y="3424238"/>
          <p14:tracePt t="14094" x="4968875" y="3459163"/>
          <p14:tracePt t="14110" x="4986338" y="3503613"/>
          <p14:tracePt t="14127" x="5030788" y="3556000"/>
          <p14:tracePt t="14143" x="5048250" y="3573463"/>
          <p14:tracePt t="14160" x="5056188" y="3590925"/>
          <p14:tracePt t="14177" x="5065713" y="3590925"/>
          <p14:tracePt t="14194" x="5073650" y="3608388"/>
          <p14:tracePt t="14210" x="5091113" y="3608388"/>
          <p14:tracePt t="14212" x="5100638" y="3616325"/>
          <p14:tracePt t="14227" x="5160963" y="3616325"/>
          <p14:tracePt t="14244" x="5292725" y="3616325"/>
          <p14:tracePt t="14260" x="5484813" y="3590925"/>
          <p14:tracePt t="14277" x="5641975" y="3573463"/>
          <p14:tracePt t="14294" x="5702300" y="3556000"/>
          <p14:tracePt t="14310" x="5719763" y="3546475"/>
          <p14:tracePt t="14327" x="5719763" y="3538538"/>
          <p14:tracePt t="14344" x="5729288" y="3538538"/>
          <p14:tracePt t="14360" x="5746750" y="3521075"/>
          <p14:tracePt t="14377" x="5772150" y="3494088"/>
          <p14:tracePt t="14394" x="5789613" y="3476625"/>
          <p14:tracePt t="14410" x="5807075" y="3459163"/>
          <p14:tracePt t="14412" x="5816600" y="3451225"/>
          <p14:tracePt t="14427" x="5816600" y="3433763"/>
          <p14:tracePt t="14428" x="5824538" y="3433763"/>
          <p14:tracePt t="14443" x="5834063" y="3416300"/>
          <p14:tracePt t="14460" x="5842000" y="3406775"/>
          <p14:tracePt t="14477" x="5868988" y="3389313"/>
          <p14:tracePt t="14494" x="5894388" y="3371850"/>
          <p14:tracePt t="14510" x="5938838" y="3319463"/>
          <p14:tracePt t="14527" x="5991225" y="3276600"/>
          <p14:tracePt t="14544" x="6105525" y="3224213"/>
          <p14:tracePt t="14560" x="6157913" y="3189288"/>
          <p14:tracePt t="14577" x="6192838" y="3171825"/>
          <p14:tracePt t="14596" x="6200775" y="3162300"/>
          <p14:tracePt t="14611" x="6218238" y="3162300"/>
          <p14:tracePt t="14627" x="6235700" y="3162300"/>
          <p14:tracePt t="14644" x="6245225" y="3154363"/>
          <p14:tracePt t="14660" x="6262688" y="3144838"/>
          <p14:tracePt t="15109" x="0" y="0"/>
        </p14:tracePtLst>
        <p14:tracePtLst>
          <p14:tracePt t="15832" x="5222875" y="3441700"/>
          <p14:tracePt t="16020" x="5222875" y="3451225"/>
          <p14:tracePt t="16252" x="5222875" y="3468688"/>
          <p14:tracePt t="16260" x="5222875" y="3486150"/>
          <p14:tracePt t="16268" x="5222875" y="3494088"/>
          <p14:tracePt t="16276" x="5222875" y="3503613"/>
          <p14:tracePt t="16294" x="5222875" y="3511550"/>
          <p14:tracePt t="16311" x="5222875" y="3521075"/>
          <p14:tracePt t="16636" x="5222875" y="3511550"/>
          <p14:tracePt t="16644" x="5222875" y="3503613"/>
          <p14:tracePt t="16652" x="5222875" y="3486150"/>
          <p14:tracePt t="16660" x="5222875" y="3476625"/>
          <p14:tracePt t="16677" x="5222875" y="3441700"/>
          <p14:tracePt t="16693" x="5230813" y="3416300"/>
          <p14:tracePt t="16710" x="5230813" y="3398838"/>
          <p14:tracePt t="16727" x="5230813" y="3381375"/>
          <p14:tracePt t="16743" x="5230813" y="3363913"/>
          <p14:tracePt t="16760" x="5240338" y="3354388"/>
          <p14:tracePt t="16777" x="5248275" y="3346450"/>
          <p14:tracePt t="16793" x="5248275" y="3336925"/>
          <p14:tracePt t="16810" x="5248275" y="3328988"/>
          <p14:tracePt t="16827" x="5248275" y="3311525"/>
          <p14:tracePt t="16932" x="5248275" y="3319463"/>
          <p14:tracePt t="16940" x="5248275" y="3336925"/>
          <p14:tracePt t="16948" x="5248275" y="3354388"/>
          <p14:tracePt t="16960" x="5248275" y="3363913"/>
          <p14:tracePt t="16977" x="5257800" y="3381375"/>
          <p14:tracePt t="16993" x="5257800" y="3389313"/>
          <p14:tracePt t="17010" x="5257800" y="3398838"/>
          <p14:tracePt t="17026" x="5257800" y="3406775"/>
          <p14:tracePt t="17116" x="5248275" y="3416300"/>
          <p14:tracePt t="17124" x="5187950" y="3441700"/>
          <p14:tracePt t="17126" x="0" y="0"/>
        </p14:tracePtLst>
        <p14:tracePtLst>
          <p14:tracePt t="25016" x="2479675" y="2244725"/>
          <p14:tracePt t="25019" x="2462213" y="2236788"/>
          <p14:tracePt t="25028" x="2444750" y="2227263"/>
          <p14:tracePt t="25042" x="2427288" y="2219325"/>
          <p14:tracePt t="25058" x="2392363" y="2201863"/>
          <p14:tracePt t="25060" x="2374900" y="2192338"/>
          <p14:tracePt t="25076" x="2366963" y="2192338"/>
          <p14:tracePt t="25132" x="2357438" y="2192338"/>
          <p14:tracePt t="25140" x="2339975" y="2192338"/>
          <p14:tracePt t="25148" x="2322513" y="2192338"/>
          <p14:tracePt t="25159" x="2279650" y="2201863"/>
          <p14:tracePt t="25175" x="2105025" y="2227263"/>
          <p14:tracePt t="25192" x="2035175" y="2227263"/>
          <p14:tracePt t="25209" x="1947863" y="2227263"/>
          <p14:tracePt t="25260" x="1947863" y="2236788"/>
          <p14:tracePt t="25268" x="1938338" y="2236788"/>
          <p14:tracePt t="25276" x="1920875" y="2244725"/>
          <p14:tracePt t="25292" x="1903413" y="2262188"/>
          <p14:tracePt t="25309" x="1868488" y="2271713"/>
          <p14:tracePt t="25325" x="1833563" y="2289175"/>
          <p14:tracePt t="25342" x="1825625" y="2297113"/>
          <p14:tracePt t="25404" x="1816100" y="2297113"/>
          <p14:tracePt t="25412" x="1816100" y="2314575"/>
          <p14:tracePt t="25420" x="1808163" y="2324100"/>
          <p14:tracePt t="25436" x="1798638" y="2341563"/>
          <p14:tracePt t="25444" x="1790700" y="2359025"/>
          <p14:tracePt t="25459" x="1790700" y="2366963"/>
          <p14:tracePt t="25460" x="1790700" y="2376488"/>
          <p14:tracePt t="25476" x="1790700" y="2401888"/>
          <p14:tracePt t="25492" x="1808163" y="2446338"/>
          <p14:tracePt t="25509" x="1825625" y="2471738"/>
          <p14:tracePt t="25525" x="1860550" y="2506663"/>
          <p14:tracePt t="25542" x="1878013" y="2516188"/>
          <p14:tracePt t="25559" x="1895475" y="2541588"/>
          <p14:tracePt t="25575" x="1920875" y="2551113"/>
          <p14:tracePt t="25592" x="1947863" y="2586038"/>
          <p14:tracePt t="25608" x="2008188" y="2620963"/>
          <p14:tracePt t="25625" x="2035175" y="2638425"/>
          <p14:tracePt t="25642" x="2078038" y="2655888"/>
          <p14:tracePt t="25644" x="2087563" y="2655888"/>
          <p14:tracePt t="25659" x="2095500" y="2663825"/>
          <p14:tracePt t="25676" x="2122488" y="2663825"/>
          <p14:tracePt t="25692" x="2139950" y="2681288"/>
          <p14:tracePt t="25709" x="2174875" y="2681288"/>
          <p14:tracePt t="25725" x="2200275" y="2681288"/>
          <p14:tracePt t="25742" x="2279650" y="2681288"/>
          <p14:tracePt t="25758" x="2409825" y="2681288"/>
          <p14:tracePt t="25775" x="2454275" y="2681288"/>
          <p14:tracePt t="25792" x="2506663" y="2681288"/>
          <p14:tracePt t="25809" x="2532063" y="2681288"/>
          <p14:tracePt t="25825" x="2541588" y="2681288"/>
          <p14:tracePt t="25842" x="2559050" y="2673350"/>
          <p14:tracePt t="25844" x="2566988" y="2655888"/>
          <p14:tracePt t="25859" x="2566988" y="2646363"/>
          <p14:tracePt t="26060" x="2559050" y="2646363"/>
          <p14:tracePt t="26069" x="0" y="0"/>
        </p14:tracePtLst>
        <p14:tracePtLst>
          <p14:tracePt t="27239" x="6410325" y="3930650"/>
          <p14:tracePt t="27356" x="6427788" y="3940175"/>
          <p14:tracePt t="27364" x="6437313" y="3948113"/>
          <p14:tracePt t="27375" x="6454775" y="3948113"/>
          <p14:tracePt t="27392" x="6489700" y="3957638"/>
          <p14:tracePt t="27408" x="6524625" y="3965575"/>
          <p14:tracePt t="27425" x="6559550" y="3975100"/>
          <p14:tracePt t="27442" x="6577013" y="3975100"/>
          <p14:tracePt t="27468" x="6584950" y="3975100"/>
          <p14:tracePt t="27476" x="6594475" y="3983038"/>
          <p14:tracePt t="27492" x="6637338" y="3983038"/>
          <p14:tracePt t="27508" x="6786563" y="3983038"/>
          <p14:tracePt t="27525" x="7048500" y="3983038"/>
          <p14:tracePt t="27542" x="7240588" y="3983038"/>
          <p14:tracePt t="27558" x="7380288" y="3992563"/>
          <p14:tracePt t="27575" x="7405688" y="3992563"/>
          <p14:tracePt t="27773" x="0" y="0"/>
        </p14:tracePtLst>
        <p14:tracePtLst>
          <p14:tracePt t="28472" x="9520238" y="3895725"/>
          <p14:tracePt t="28628" x="9510713" y="3905250"/>
          <p14:tracePt t="28636" x="9502775" y="3905250"/>
          <p14:tracePt t="28652" x="9493250" y="3905250"/>
          <p14:tracePt t="28660" x="9493250" y="3913188"/>
          <p14:tracePt t="28675" x="9475788" y="3913188"/>
          <p14:tracePt t="28676" x="9475788" y="3922713"/>
          <p14:tracePt t="28692" x="9458325" y="3930650"/>
          <p14:tracePt t="28708" x="9450388" y="3930650"/>
          <p14:tracePt t="28725" x="9432925" y="3940175"/>
          <p14:tracePt t="28741" x="9398000" y="3948113"/>
          <p14:tracePt t="28758" x="9371013" y="3965575"/>
          <p14:tracePt t="28774" x="9328150" y="3975100"/>
          <p14:tracePt t="28791" x="9301163" y="3983038"/>
          <p14:tracePt t="28808" x="9293225" y="3992563"/>
          <p14:tracePt t="28825" x="9283700" y="3992563"/>
          <p14:tracePt t="28841" x="9275763" y="4000500"/>
          <p14:tracePt t="28858" x="9275763" y="4010025"/>
          <p14:tracePt t="28860" x="9266238" y="4017963"/>
          <p14:tracePt t="28875" x="9248775" y="4035425"/>
          <p14:tracePt t="28892" x="9231313" y="4052888"/>
          <p14:tracePt t="28908" x="9223375" y="4062413"/>
          <p14:tracePt t="28925" x="9196388" y="4079875"/>
          <p14:tracePt t="28941" x="9196388" y="4087813"/>
          <p14:tracePt t="28958" x="9178925" y="4097338"/>
          <p14:tracePt t="28975" x="9170988" y="4114800"/>
          <p14:tracePt t="28991" x="9161463" y="4124325"/>
          <p14:tracePt t="29008" x="9153525" y="4149725"/>
          <p14:tracePt t="29025" x="9153525" y="4159250"/>
          <p14:tracePt t="29041" x="9144000" y="4167188"/>
          <p14:tracePt t="29058" x="9134475" y="4176713"/>
          <p14:tracePt t="29060" x="9134475" y="4184650"/>
          <p14:tracePt t="29075" x="9134475" y="4194175"/>
          <p14:tracePt t="29076" x="9134475" y="4202113"/>
          <p14:tracePt t="29092" x="9134475" y="4211638"/>
          <p14:tracePt t="29108" x="9134475" y="4229100"/>
          <p14:tracePt t="29125" x="9134475" y="4237038"/>
          <p14:tracePt t="29141" x="9144000" y="4246563"/>
          <p14:tracePt t="29158" x="9144000" y="4264025"/>
          <p14:tracePt t="29180" x="9153525" y="4271963"/>
          <p14:tracePt t="29191" x="9153525" y="4281488"/>
          <p14:tracePt t="29208" x="9161463" y="4281488"/>
          <p14:tracePt t="29236" x="9170988" y="4289425"/>
          <p14:tracePt t="29244" x="9170988" y="4298950"/>
          <p14:tracePt t="29258" x="9178925" y="4306888"/>
          <p14:tracePt t="29259" x="9188450" y="4306888"/>
          <p14:tracePt t="29284" x="9188450" y="4316413"/>
          <p14:tracePt t="29292" x="9196388" y="4333875"/>
          <p14:tracePt t="29308" x="9213850" y="4333875"/>
          <p14:tracePt t="29324" x="9223375" y="4351338"/>
          <p14:tracePt t="29372" x="9231313" y="4351338"/>
          <p14:tracePt t="29524" x="9240838" y="4351338"/>
          <p14:tracePt t="29532" x="9283700" y="4351338"/>
          <p14:tracePt t="29541" x="9301163" y="4359275"/>
          <p14:tracePt t="29558" x="9353550" y="4368800"/>
          <p14:tracePt t="29574" x="9415463" y="4368800"/>
          <p14:tracePt t="29591" x="9450388" y="4376738"/>
          <p14:tracePt t="29608" x="9485313" y="4394200"/>
          <p14:tracePt t="29625" x="9493250" y="4394200"/>
          <p14:tracePt t="29676" x="9493250" y="4386263"/>
          <p14:tracePt t="29684" x="9502775" y="4386263"/>
          <p14:tracePt t="29692" x="9510713" y="4386263"/>
          <p14:tracePt t="29708" x="9510713" y="4376738"/>
          <p14:tracePt t="29732" x="9528175" y="4368800"/>
          <p14:tracePt t="29741" x="9537700" y="4359275"/>
          <p14:tracePt t="29760" x="9563100" y="4351338"/>
          <p14:tracePt t="29775" x="9590088" y="4333875"/>
          <p14:tracePt t="29792" x="9625013" y="4316413"/>
          <p14:tracePt t="29808" x="9650413" y="4306888"/>
          <p14:tracePt t="29824" x="9685338" y="4281488"/>
          <p14:tracePt t="29841" x="9712325" y="4254500"/>
          <p14:tracePt t="29858" x="9729788" y="4246563"/>
          <p14:tracePt t="29860" x="9737725" y="4237038"/>
          <p14:tracePt t="29876" x="9737725" y="4229100"/>
          <p14:tracePt t="29900" x="9747250" y="4219575"/>
          <p14:tracePt t="29908" x="9747250" y="4202113"/>
          <p14:tracePt t="29925" x="9747250" y="4194175"/>
          <p14:tracePt t="29941" x="9747250" y="4176713"/>
          <p14:tracePt t="29958" x="9747250" y="4159250"/>
          <p14:tracePt t="29975" x="9747250" y="4132263"/>
          <p14:tracePt t="29991" x="9747250" y="4114800"/>
          <p14:tracePt t="30008" x="9737725" y="4105275"/>
          <p14:tracePt t="30025" x="9737725" y="4097338"/>
          <p14:tracePt t="30041" x="9737725" y="4087813"/>
          <p14:tracePt t="30058" x="9729788" y="4070350"/>
          <p14:tracePt t="30060" x="9720263" y="4062413"/>
          <p14:tracePt t="30076" x="9712325" y="4044950"/>
          <p14:tracePt t="30092" x="9702800" y="4035425"/>
          <p14:tracePt t="30108" x="9694863" y="4027488"/>
          <p14:tracePt t="30125" x="9694863" y="4017963"/>
          <p14:tracePt t="30141" x="9685338" y="4017963"/>
          <p14:tracePt t="30158" x="9685338" y="4010025"/>
          <p14:tracePt t="30175" x="9677400" y="4000500"/>
          <p14:tracePt t="30300" x="9667875" y="4000500"/>
          <p14:tracePt t="30324" x="9659938" y="4010025"/>
          <p14:tracePt t="30332" x="9590088" y="4010025"/>
          <p14:tracePt t="30341" x="9580563" y="4010025"/>
          <p14:tracePt t="30358" x="9493250" y="4010025"/>
          <p14:tracePt t="30374" x="9450388" y="4017963"/>
          <p14:tracePt t="30391" x="9440863" y="4017963"/>
          <p14:tracePt t="30734" x="0" y="0"/>
        </p14:tracePtLst>
        <p14:tracePtLst>
          <p14:tracePt t="32991" x="2043113" y="3005138"/>
          <p14:tracePt t="33052" x="2043113" y="3014663"/>
          <p14:tracePt t="33068" x="2052638" y="3014663"/>
          <p14:tracePt t="33076" x="2060575" y="3014663"/>
          <p14:tracePt t="33084" x="2060575" y="3005138"/>
          <p14:tracePt t="33091" x="2070100" y="2997200"/>
          <p14:tracePt t="33108" x="2087563" y="2987675"/>
          <p14:tracePt t="33125" x="2087563" y="2970213"/>
          <p14:tracePt t="33141" x="2087563" y="2952750"/>
          <p14:tracePt t="33157" x="2095500" y="2927350"/>
          <p14:tracePt t="33174" x="2095500" y="2917825"/>
          <p14:tracePt t="33190" x="2095500" y="2909888"/>
          <p14:tracePt t="33207" x="2095500" y="2892425"/>
          <p14:tracePt t="33224" x="2095500" y="2882900"/>
          <p14:tracePt t="33241" x="2078038" y="2857500"/>
          <p14:tracePt t="33257" x="2060575" y="2830513"/>
          <p14:tracePt t="33274" x="2035175" y="2822575"/>
          <p14:tracePt t="33290" x="2035175" y="2813050"/>
          <p14:tracePt t="33372" x="2035175" y="2840038"/>
          <p14:tracePt t="33380" x="2025650" y="2874963"/>
          <p14:tracePt t="33391" x="2025650" y="2882900"/>
          <p14:tracePt t="33408" x="2025650" y="2917825"/>
          <p14:tracePt t="33424" x="2025650" y="2935288"/>
          <p14:tracePt t="33829" x="0" y="0"/>
        </p14:tracePtLst>
        <p14:tracePtLst>
          <p14:tracePt t="35902" x="2960688" y="4079875"/>
          <p14:tracePt t="35964" x="2960688" y="4097338"/>
          <p14:tracePt t="35972" x="2960688" y="4105275"/>
          <p14:tracePt t="35980" x="2960688" y="4124325"/>
          <p14:tracePt t="35991" x="2960688" y="4132263"/>
          <p14:tracePt t="36007" x="2960688" y="4176713"/>
          <p14:tracePt t="36024" x="2960688" y="4194175"/>
          <p14:tracePt t="36040" x="2960688" y="4211638"/>
          <p14:tracePt t="36057" x="2960688" y="4229100"/>
          <p14:tracePt t="36074" x="2960688" y="4246563"/>
          <p14:tracePt t="36090" x="2960688" y="4271963"/>
          <p14:tracePt t="36092" x="2960688" y="4289425"/>
          <p14:tracePt t="36107" x="2960688" y="4298950"/>
          <p14:tracePt t="36108" x="2960688" y="4306888"/>
          <p14:tracePt t="36124" x="2960688" y="4333875"/>
          <p14:tracePt t="36140" x="2960688" y="4351338"/>
          <p14:tracePt t="36157" x="2960688" y="4376738"/>
          <p14:tracePt t="36174" x="2960688" y="4386263"/>
          <p14:tracePt t="36190" x="2960688" y="4403725"/>
          <p14:tracePt t="36207" x="2960688" y="4421188"/>
          <p14:tracePt t="36224" x="2960688" y="4438650"/>
          <p14:tracePt t="36240" x="2960688" y="4481513"/>
          <p14:tracePt t="36257" x="2960688" y="4533900"/>
          <p14:tracePt t="36275" x="2960688" y="4578350"/>
          <p14:tracePt t="36276" x="2960688" y="4603750"/>
          <p14:tracePt t="36290" x="2951163" y="4630738"/>
          <p14:tracePt t="36292" x="2943225" y="4648200"/>
          <p14:tracePt t="36307" x="2943225" y="4683125"/>
          <p14:tracePt t="36308" x="2933700" y="4700588"/>
          <p14:tracePt t="36324" x="2925763" y="4752975"/>
          <p14:tracePt t="36340" x="2916238" y="4787900"/>
          <p14:tracePt t="36356" x="2916238" y="4813300"/>
          <p14:tracePt t="36373" x="2916238" y="4857750"/>
          <p14:tracePt t="36390" x="2916238" y="4892675"/>
          <p14:tracePt t="36407" x="2908300" y="4910138"/>
          <p14:tracePt t="36424" x="2908300" y="4935538"/>
          <p14:tracePt t="36440" x="2908300" y="4962525"/>
          <p14:tracePt t="36457" x="2908300" y="4987925"/>
          <p14:tracePt t="36473" x="2908300" y="5014913"/>
          <p14:tracePt t="36490" x="2908300" y="5057775"/>
          <p14:tracePt t="36491" x="2908300" y="5092700"/>
          <p14:tracePt t="36507" x="2908300" y="5127625"/>
          <p14:tracePt t="36524" x="2908300" y="5214938"/>
          <p14:tracePt t="36540" x="2908300" y="5302250"/>
          <p14:tracePt t="36557" x="2908300" y="5389563"/>
          <p14:tracePt t="36574" x="2908300" y="5521325"/>
          <p14:tracePt t="36590" x="2908300" y="5583238"/>
          <p14:tracePt t="36607" x="2908300" y="5618163"/>
          <p14:tracePt t="36624" x="2916238" y="5661025"/>
          <p14:tracePt t="36640" x="2925763" y="5678488"/>
          <p14:tracePt t="36657" x="2933700" y="5688013"/>
          <p14:tracePt t="36740" x="2925763" y="5688013"/>
          <p14:tracePt t="36748" x="2925763" y="5695950"/>
          <p14:tracePt t="36750" x="0" y="0"/>
        </p14:tracePtLst>
        <p14:tracePtLst>
          <p14:tracePt t="38056" x="2890838" y="5957888"/>
          <p14:tracePt t="38324" x="2898775" y="5957888"/>
          <p14:tracePt t="38331" x="2925763" y="5957888"/>
          <p14:tracePt t="38340" x="2933700" y="5957888"/>
          <p14:tracePt t="38357" x="2960688" y="5967413"/>
          <p14:tracePt t="38373" x="2995613" y="5967413"/>
          <p14:tracePt t="38390" x="3021013" y="5975350"/>
          <p14:tracePt t="38407" x="3065463" y="5975350"/>
          <p14:tracePt t="38423" x="3100388" y="5984875"/>
          <p14:tracePt t="38440" x="3187700" y="5992813"/>
          <p14:tracePt t="38457" x="3240088" y="6010275"/>
          <p14:tracePt t="38473" x="3284538" y="6019800"/>
          <p14:tracePt t="38490" x="3309938" y="6019800"/>
          <p14:tracePt t="38492" x="3319463" y="6019800"/>
          <p14:tracePt t="38507" x="3327400" y="6019800"/>
          <p14:tracePt t="38508" x="3336925" y="6019800"/>
          <p14:tracePt t="38524" x="3354388" y="6019800"/>
          <p14:tracePt t="38540" x="3379788" y="6019800"/>
          <p14:tracePt t="38556" x="3432175" y="6027738"/>
          <p14:tracePt t="38573" x="3563938" y="6037263"/>
          <p14:tracePt t="38590" x="3633788" y="6045200"/>
          <p14:tracePt t="38607" x="3746500" y="6054725"/>
          <p14:tracePt t="38623" x="3808413" y="6072188"/>
          <p14:tracePt t="38640" x="3886200" y="6080125"/>
          <p14:tracePt t="38656" x="4008438" y="6089650"/>
          <p14:tracePt t="38673" x="4140200" y="6107113"/>
          <p14:tracePt t="38690" x="4297363" y="6132513"/>
          <p14:tracePt t="38692" x="4322763" y="6132513"/>
          <p14:tracePt t="38706" x="4367213" y="6132513"/>
          <p14:tracePt t="38708" x="4427538" y="6132513"/>
          <p14:tracePt t="38723" x="4489450" y="6132513"/>
          <p14:tracePt t="38740" x="4576763" y="6132513"/>
          <p14:tracePt t="38756" x="4619625" y="6132513"/>
          <p14:tracePt t="38773" x="4681538" y="6132513"/>
          <p14:tracePt t="38790" x="4768850" y="6132513"/>
          <p14:tracePt t="38807" x="4838700" y="6132513"/>
          <p14:tracePt t="38823" x="5038725" y="6132513"/>
          <p14:tracePt t="38840" x="5300663" y="6132513"/>
          <p14:tracePt t="38857" x="5572125" y="6132513"/>
          <p14:tracePt t="38873" x="5729288" y="6132513"/>
          <p14:tracePt t="38890" x="5911850" y="6142038"/>
          <p14:tracePt t="38892" x="5956300" y="6142038"/>
          <p14:tracePt t="38907" x="5973763" y="6142038"/>
          <p14:tracePt t="38908" x="5999163" y="6142038"/>
          <p14:tracePt t="38923" x="6061075" y="6124575"/>
          <p14:tracePt t="38940" x="6122988" y="6115050"/>
          <p14:tracePt t="38957" x="6157913" y="6115050"/>
          <p14:tracePt t="38973" x="6183313" y="6115050"/>
          <p14:tracePt t="38990" x="6227763" y="6115050"/>
          <p14:tracePt t="39007" x="6280150" y="6115050"/>
          <p14:tracePt t="39023" x="6332538" y="6107113"/>
          <p14:tracePt t="39040" x="6419850" y="6107113"/>
          <p14:tracePt t="39057" x="6550025" y="6097588"/>
          <p14:tracePt t="39073" x="6619875" y="6097588"/>
          <p14:tracePt t="39090" x="6699250" y="6097588"/>
          <p14:tracePt t="39107" x="6734175" y="6097588"/>
          <p14:tracePt t="39108" x="6742113" y="6097588"/>
          <p14:tracePt t="39123" x="6759575" y="6089650"/>
          <p14:tracePt t="39140" x="6804025" y="6080125"/>
          <p14:tracePt t="39157" x="6864350" y="6072188"/>
          <p14:tracePt t="39173" x="6951663" y="6072188"/>
          <p14:tracePt t="39190" x="6986588" y="6072188"/>
          <p14:tracePt t="39207" x="7038975" y="6072188"/>
          <p14:tracePt t="39223" x="7100888" y="6072188"/>
          <p14:tracePt t="39240" x="7161213" y="6062663"/>
          <p14:tracePt t="39256" x="7310438" y="6062663"/>
          <p14:tracePt t="39273" x="7493000" y="6045200"/>
          <p14:tracePt t="39290" x="7597775" y="6045200"/>
          <p14:tracePt t="39307" x="7712075" y="6045200"/>
          <p14:tracePt t="39308" x="7737475" y="6037263"/>
          <p14:tracePt t="39324" x="7851775" y="6037263"/>
          <p14:tracePt t="39340" x="7947025" y="6045200"/>
          <p14:tracePt t="39356" x="8086725" y="6045200"/>
          <p14:tracePt t="39373" x="8296275" y="6045200"/>
          <p14:tracePt t="39390" x="8470900" y="6045200"/>
          <p14:tracePt t="39407" x="8575675" y="6054725"/>
          <p14:tracePt t="39423" x="8672513" y="6054725"/>
          <p14:tracePt t="39440" x="8759825" y="6054725"/>
          <p14:tracePt t="39456" x="8812213" y="6062663"/>
          <p14:tracePt t="39473" x="8847138" y="6062663"/>
          <p14:tracePt t="39490" x="8882063" y="6062663"/>
          <p14:tracePt t="39506" x="8951913" y="6072188"/>
          <p14:tracePt t="39508" x="9021763" y="6089650"/>
          <p14:tracePt t="39524" x="9126538" y="6089650"/>
          <p14:tracePt t="39540" x="9178925" y="6089650"/>
          <p14:tracePt t="39557" x="9196388" y="6089650"/>
          <p14:tracePt t="39780" x="9248775" y="6089650"/>
          <p14:tracePt t="39788" x="9283700" y="6089650"/>
          <p14:tracePt t="39796" x="9328150" y="6097588"/>
          <p14:tracePt t="39806" x="9353550" y="6097588"/>
          <p14:tracePt t="39823" x="9432925" y="6097588"/>
          <p14:tracePt t="39840" x="9458325" y="6097588"/>
          <p14:tracePt t="40100" x="9475788" y="6097588"/>
          <p14:tracePt t="40116" x="9485313" y="6080125"/>
          <p14:tracePt t="40125" x="0" y="0"/>
        </p14:tracePtLst>
        <p14:tracePtLst>
          <p14:tracePt t="40376" x="9590088" y="5922963"/>
          <p14:tracePt t="40468" x="9590088" y="5915025"/>
          <p14:tracePt t="40477" x="9580563" y="5905500"/>
          <p14:tracePt t="40484" x="9563100" y="5888038"/>
          <p14:tracePt t="40492" x="9545638" y="5870575"/>
          <p14:tracePt t="40506" x="9528175" y="5862638"/>
          <p14:tracePt t="40508" x="9502775" y="5853113"/>
          <p14:tracePt t="40523" x="9440863" y="5827713"/>
          <p14:tracePt t="40540" x="9423400" y="5827713"/>
          <p14:tracePt t="40556" x="9405938" y="5818188"/>
          <p14:tracePt t="40573" x="9398000" y="5818188"/>
          <p14:tracePt t="40590" x="9388475" y="5818188"/>
          <p14:tracePt t="40612" x="9380538" y="5827713"/>
          <p14:tracePt t="40623" x="9363075" y="5835650"/>
          <p14:tracePt t="40640" x="9318625" y="5862638"/>
          <p14:tracePt t="40656" x="9275763" y="5870575"/>
          <p14:tracePt t="40673" x="9248775" y="5888038"/>
          <p14:tracePt t="40690" x="9223375" y="5897563"/>
          <p14:tracePt t="40706" x="9205913" y="5915025"/>
          <p14:tracePt t="40724" x="9196388" y="5915025"/>
          <p14:tracePt t="40740" x="9196388" y="5922963"/>
          <p14:tracePt t="40756" x="9188450" y="5932488"/>
          <p14:tracePt t="40773" x="9178925" y="5957888"/>
          <p14:tracePt t="40790" x="9178925" y="5975350"/>
          <p14:tracePt t="40806" x="9178925" y="6002338"/>
          <p14:tracePt t="40823" x="9178925" y="6027738"/>
          <p14:tracePt t="40840" x="9178925" y="6045200"/>
          <p14:tracePt t="40856" x="9178925" y="6054725"/>
          <p14:tracePt t="40873" x="9188450" y="6072188"/>
          <p14:tracePt t="40890" x="9188450" y="6080125"/>
          <p14:tracePt t="40906" x="9205913" y="6097588"/>
          <p14:tracePt t="40923" x="9223375" y="6124575"/>
          <p14:tracePt t="40940" x="9248775" y="6132513"/>
          <p14:tracePt t="40956" x="9266238" y="6159500"/>
          <p14:tracePt t="40973" x="9283700" y="6167438"/>
          <p14:tracePt t="40989" x="9310688" y="6176963"/>
          <p14:tracePt t="41006" x="9318625" y="6176963"/>
          <p14:tracePt t="41023" x="9345613" y="6184900"/>
          <p14:tracePt t="41039" x="9363075" y="6184900"/>
          <p14:tracePt t="41056" x="9415463" y="6184900"/>
          <p14:tracePt t="41073" x="9440863" y="6194425"/>
          <p14:tracePt t="41089" x="9475788" y="6202363"/>
          <p14:tracePt t="41106" x="9502775" y="6202363"/>
          <p14:tracePt t="41123" x="9510713" y="6202363"/>
          <p14:tracePt t="41124" x="9520238" y="6202363"/>
          <p14:tracePt t="41172" x="9528175" y="6202363"/>
          <p14:tracePt t="41180" x="9537700" y="6202363"/>
          <p14:tracePt t="41190" x="9545638" y="6194425"/>
          <p14:tracePt t="41206" x="9555163" y="6184900"/>
          <p14:tracePt t="41223" x="9572625" y="6176963"/>
          <p14:tracePt t="41244" x="9580563" y="6167438"/>
          <p14:tracePt t="41256" x="9590088" y="6167438"/>
          <p14:tracePt t="41273" x="9598025" y="6167438"/>
          <p14:tracePt t="41289" x="9598025" y="6159500"/>
          <p14:tracePt t="41306" x="9615488" y="6142038"/>
          <p14:tracePt t="41308" x="9625013" y="6142038"/>
          <p14:tracePt t="41323" x="9625013" y="6124575"/>
          <p14:tracePt t="41324" x="9632950" y="6107113"/>
          <p14:tracePt t="41340" x="9659938" y="6097588"/>
          <p14:tracePt t="41356" x="9659938" y="6089650"/>
          <p14:tracePt t="41373" x="9667875" y="6080125"/>
          <p14:tracePt t="41396" x="9667875" y="6089650"/>
          <p14:tracePt t="41428" x="9667875" y="6080125"/>
          <p14:tracePt t="41444" x="9667875" y="6062663"/>
          <p14:tracePt t="41452" x="9667875" y="6054725"/>
          <p14:tracePt t="41460" x="9667875" y="6045200"/>
          <p14:tracePt t="41473" x="9667875" y="6027738"/>
          <p14:tracePt t="41489" x="9650413" y="6010275"/>
          <p14:tracePt t="41506" x="9650413" y="5984875"/>
          <p14:tracePt t="41507" x="9642475" y="5984875"/>
          <p14:tracePt t="41523" x="9642475" y="5975350"/>
          <p14:tracePt t="41524" x="9632950" y="5967413"/>
          <p14:tracePt t="41540" x="9632950" y="5957888"/>
          <p14:tracePt t="41556" x="9625013" y="5957888"/>
          <p14:tracePt t="41573" x="9615488" y="5949950"/>
          <p14:tracePt t="41590" x="9598025" y="5940425"/>
          <p14:tracePt t="41606" x="9572625" y="5932488"/>
          <p14:tracePt t="41623" x="9528175" y="5932488"/>
          <p14:tracePt t="41639" x="9510713" y="5922963"/>
          <p14:tracePt t="41656" x="9502775" y="5922963"/>
          <p14:tracePt t="41716" x="9493250" y="5922963"/>
          <p14:tracePt t="41732" x="9485313" y="5922963"/>
          <p14:tracePt t="41748" x="9475788" y="5922963"/>
          <p14:tracePt t="41772" x="9467850" y="5922963"/>
          <p14:tracePt t="41796" x="9458325" y="5922963"/>
          <p14:tracePt t="41804" x="9458325" y="5932488"/>
          <p14:tracePt t="41820" x="9458325" y="5940425"/>
          <p14:tracePt t="41828" x="9450388" y="5940425"/>
          <p14:tracePt t="41844" x="9450388" y="5949950"/>
          <p14:tracePt t="41856" x="9440863" y="5949950"/>
          <p14:tracePt t="41873" x="9423400" y="5967413"/>
          <p14:tracePt t="41889" x="9423400" y="5984875"/>
          <p14:tracePt t="41906" x="9415463" y="6002338"/>
          <p14:tracePt t="41907" x="9415463" y="6019800"/>
          <p14:tracePt t="41923" x="9415463" y="6027738"/>
          <p14:tracePt t="41939" x="9423400" y="6045200"/>
          <p14:tracePt t="41957" x="9432925" y="6054725"/>
          <p14:tracePt t="41973" x="9440863" y="6072188"/>
          <p14:tracePt t="41989" x="9467850" y="6072188"/>
          <p14:tracePt t="42006" x="9485313" y="6089650"/>
          <p14:tracePt t="42023" x="9510713" y="6097588"/>
          <p14:tracePt t="42040" x="9520238" y="6097588"/>
          <p14:tracePt t="42116" x="9528175" y="6097588"/>
          <p14:tracePt t="42132" x="9537700" y="6097588"/>
          <p14:tracePt t="42140" x="9555163" y="6089650"/>
          <p14:tracePt t="43341" x="0" y="0"/>
        </p14:tracePtLst>
      </p14:laserTraceLst>
    </p:ext>
  </p:extLs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1A8947DF-29AB-D5DD-1455-3AE09EBEC31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396564" y="1587319"/>
            <a:ext cx="8963052" cy="5292197"/>
          </a:xfrm>
          <a:prstGeom prst="rect">
            <a:avLst/>
          </a:prstGeom>
        </p:spPr>
      </p:pic>
      <p:sp>
        <p:nvSpPr>
          <p:cNvPr id="2" name="Título 1">
            <a:extLst>
              <a:ext uri="{FF2B5EF4-FFF2-40B4-BE49-F238E27FC236}">
                <a16:creationId xmlns:a16="http://schemas.microsoft.com/office/drawing/2014/main" id="{655982E2-6FB4-0339-54DA-4D8FF5FE0339}"/>
              </a:ext>
            </a:extLst>
          </p:cNvPr>
          <p:cNvSpPr>
            <a:spLocks noGrp="1"/>
          </p:cNvSpPr>
          <p:nvPr>
            <p:ph type="title"/>
          </p:nvPr>
        </p:nvSpPr>
        <p:spPr/>
        <p:txBody>
          <a:bodyPr/>
          <a:lstStyle/>
          <a:p>
            <a:r>
              <a:rPr lang="es-ES" dirty="0"/>
              <a:t>13</a:t>
            </a:r>
            <a:r>
              <a:rPr dirty="0"/>
              <a:t>. </a:t>
            </a:r>
            <a:r>
              <a:rPr dirty="0" err="1"/>
              <a:t>Distribución</a:t>
            </a:r>
            <a:r>
              <a:rPr dirty="0"/>
              <a:t> de Poisson</a:t>
            </a:r>
            <a:br>
              <a:rPr lang="es-ES" dirty="0"/>
            </a:br>
            <a:r>
              <a:rPr dirty="0" err="1"/>
              <a:t>Ejemplo</a:t>
            </a:r>
            <a:r>
              <a:rPr dirty="0"/>
              <a:t> 3.22 (</a:t>
            </a:r>
            <a:r>
              <a:rPr dirty="0" err="1"/>
              <a:t>Gráficos</a:t>
            </a:r>
            <a:r>
              <a:rPr dirty="0"/>
              <a:t>)</a:t>
            </a:r>
          </a:p>
        </p:txBody>
      </p:sp>
      <p:sp>
        <p:nvSpPr>
          <p:cNvPr id="4" name="Marcador de número de diapositiva 3">
            <a:extLst>
              <a:ext uri="{FF2B5EF4-FFF2-40B4-BE49-F238E27FC236}">
                <a16:creationId xmlns:a16="http://schemas.microsoft.com/office/drawing/2014/main" id="{E2F56EB3-5050-167E-0CB1-BC14CF6A490E}"/>
              </a:ext>
            </a:extLst>
          </p:cNvPr>
          <p:cNvSpPr>
            <a:spLocks noGrp="1"/>
          </p:cNvSpPr>
          <p:nvPr>
            <p:ph type="sldNum" sz="quarter" idx="12"/>
          </p:nvPr>
        </p:nvSpPr>
        <p:spPr/>
        <p:txBody>
          <a:bodyPr/>
          <a:lstStyle/>
          <a:p>
            <a:fld id="{336CAFD0-1F6E-4E11-9822-836563A02839}" type="slidenum">
              <a:rPr lang="es-ES" smtClean="0"/>
              <a:t>79</a:t>
            </a:fld>
            <a:endParaRPr lang="es-ES"/>
          </a:p>
        </p:txBody>
      </p:sp>
    </p:spTree>
    <p:extLst>
      <p:ext uri="{BB962C8B-B14F-4D97-AF65-F5344CB8AC3E}">
        <p14:creationId xmlns:p14="http://schemas.microsoft.com/office/powerpoint/2010/main" val="39140122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9E6C23-91A7-923B-83B2-E278930DFD5E}"/>
              </a:ext>
            </a:extLst>
          </p:cNvPr>
          <p:cNvSpPr>
            <a:spLocks noGrp="1"/>
          </p:cNvSpPr>
          <p:nvPr>
            <p:ph type="title"/>
          </p:nvPr>
        </p:nvSpPr>
        <p:spPr/>
        <p:txBody>
          <a:bodyPr>
            <a:normAutofit fontScale="90000"/>
          </a:bodyPr>
          <a:lstStyle/>
          <a:p>
            <a:r>
              <a:rPr lang="es-ES" dirty="0"/>
              <a:t>13</a:t>
            </a:r>
            <a:r>
              <a:rPr dirty="0"/>
              <a:t>. </a:t>
            </a:r>
            <a:r>
              <a:rPr dirty="0" err="1"/>
              <a:t>Distribución</a:t>
            </a:r>
            <a:r>
              <a:rPr dirty="0"/>
              <a:t> de Poisson</a:t>
            </a:r>
            <a:br>
              <a:rPr lang="es-ES" dirty="0"/>
            </a:br>
            <a:r>
              <a:rPr dirty="0" err="1"/>
              <a:t>Aproximación</a:t>
            </a:r>
            <a:r>
              <a:rPr dirty="0"/>
              <a:t> </a:t>
            </a:r>
            <a:r>
              <a:rPr lang="es-ES" dirty="0"/>
              <a:t>a </a:t>
            </a:r>
            <a:r>
              <a:rPr dirty="0"/>
              <a:t>Poisson de la </a:t>
            </a:r>
            <a:r>
              <a:rPr dirty="0" err="1"/>
              <a:t>distribución</a:t>
            </a:r>
            <a:r>
              <a:rPr dirty="0"/>
              <a:t> </a:t>
            </a:r>
            <a:r>
              <a:rPr lang="es-ES" dirty="0"/>
              <a:t>Binomial</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60A9F83-D3A2-6560-CBC9-6CB0F9A1AEE1}"/>
                  </a:ext>
                </a:extLst>
              </p:cNvPr>
              <p:cNvSpPr>
                <a:spLocks noGrp="1"/>
              </p:cNvSpPr>
              <p:nvPr>
                <p:ph idx="1"/>
              </p:nvPr>
            </p:nvSpPr>
            <p:spPr/>
            <p:txBody>
              <a:bodyPr/>
              <a:lstStyle/>
              <a:p>
                <a:r>
                  <a:rPr lang="es-ES" dirty="0"/>
                  <a:t>La distribución de Poisson se puede utilizar para aproximar las probabilidades Binomiales cuando el número de ensayos n es grande, y la probabilidad de éxito p es pequeña</a:t>
                </a:r>
              </a:p>
              <a:p>
                <a:pPr lvl="1"/>
                <a:r>
                  <a:rPr lang="es-ES" dirty="0"/>
                  <a:t>En </a:t>
                </a:r>
                <a:r>
                  <a:rPr lang="es-ES" dirty="0" err="1"/>
                  <a:t>el</a:t>
                </a:r>
                <a:r>
                  <a:rPr lang="es-ES" dirty="0"/>
                  <a:t> </a:t>
                </a:r>
                <a:r>
                  <a:rPr lang="es-ES" dirty="0" err="1"/>
                  <a:t>libro</a:t>
                </a:r>
                <a:r>
                  <a:rPr lang="es-ES" dirty="0"/>
                  <a:t> se </a:t>
                </a:r>
                <a:r>
                  <a:rPr lang="es-ES" dirty="0" err="1"/>
                  <a:t>afirma</a:t>
                </a:r>
                <a:r>
                  <a:rPr lang="es-ES" dirty="0"/>
                  <a:t> que </a:t>
                </a:r>
                <a:r>
                  <a:rPr lang="es-ES" dirty="0" err="1"/>
                  <a:t>tal</a:t>
                </a:r>
                <a:r>
                  <a:rPr lang="es-ES" dirty="0"/>
                  <a:t> </a:t>
                </a:r>
                <a:r>
                  <a:rPr lang="es-ES" dirty="0" err="1"/>
                  <a:t>aproximación</a:t>
                </a:r>
                <a:r>
                  <a:rPr lang="es-ES" dirty="0"/>
                  <a:t> es </a:t>
                </a:r>
                <a:r>
                  <a:rPr lang="es-ES" dirty="0" err="1"/>
                  <a:t>adecuada</a:t>
                </a:r>
                <a:r>
                  <a:rPr lang="es-ES" dirty="0"/>
                  <a:t>, para n ≥ 30 y p ≤ 0,05</a:t>
                </a:r>
              </a:p>
              <a:p>
                <a:pPr lvl="1"/>
                <a:r>
                  <a:rPr lang="es-ES" dirty="0"/>
                  <a:t>Pero realmente no hay </a:t>
                </a:r>
                <a:r>
                  <a:rPr lang="es-ES" dirty="0" err="1"/>
                  <a:t>unanimidad</a:t>
                </a:r>
                <a:r>
                  <a:rPr lang="es-ES" dirty="0"/>
                  <a:t> entre los </a:t>
                </a:r>
                <a:r>
                  <a:rPr lang="es-ES" dirty="0" err="1"/>
                  <a:t>expertos</a:t>
                </a:r>
                <a:r>
                  <a:rPr lang="es-ES" dirty="0"/>
                  <a:t> </a:t>
                </a:r>
                <a:r>
                  <a:rPr lang="es-ES" dirty="0" err="1"/>
                  <a:t>sobre</a:t>
                </a:r>
                <a:r>
                  <a:rPr lang="es-ES" dirty="0"/>
                  <a:t> los </a:t>
                </a:r>
                <a:r>
                  <a:rPr lang="es-ES" dirty="0" err="1"/>
                  <a:t>valores</a:t>
                </a:r>
                <a:r>
                  <a:rPr lang="es-ES" dirty="0"/>
                  <a:t> </a:t>
                </a:r>
                <a:r>
                  <a:rPr lang="es-ES" dirty="0" err="1"/>
                  <a:t>específicos</a:t>
                </a:r>
                <a:r>
                  <a:rPr lang="es-ES" dirty="0"/>
                  <a:t> para n y p</a:t>
                </a:r>
              </a:p>
              <a:p>
                <a:r>
                  <a:rPr lang="es-ES" dirty="0" err="1"/>
                  <a:t>Aproximación</a:t>
                </a:r>
                <a:endParaRPr lang="es-ES" dirty="0"/>
              </a:p>
              <a:p>
                <a:pPr lvl="1"/>
                <a14:m>
                  <m:oMath xmlns:m="http://schemas.openxmlformats.org/officeDocument/2006/math">
                    <m:r>
                      <a:rPr lang="es-ES" b="0" i="1" smtClean="0">
                        <a:latin typeface="Cambria Math" panose="02040503050406030204" pitchFamily="18" charset="0"/>
                      </a:rPr>
                      <m:t>𝐵𝑖𝑛𝑜𝑚𝑖𝑎𝑙</m:t>
                    </m:r>
                    <m:d>
                      <m:dPr>
                        <m:ctrlPr>
                          <a:rPr lang="ar-AE" b="0" i="1" smtClean="0">
                            <a:latin typeface="Cambria Math" panose="02040503050406030204" pitchFamily="18" charset="0"/>
                          </a:rPr>
                        </m:ctrlPr>
                      </m:dPr>
                      <m:e>
                        <m:r>
                          <a:rPr lang="ar-AE" b="0" i="1" smtClean="0">
                            <a:latin typeface="Cambria Math" panose="02040503050406030204" pitchFamily="18" charset="0"/>
                          </a:rPr>
                          <m:t>𝑛</m:t>
                        </m:r>
                        <m:r>
                          <a:rPr lang="ar-AE" b="0" i="1" smtClean="0">
                            <a:latin typeface="Cambria Math" panose="02040503050406030204" pitchFamily="18" charset="0"/>
                          </a:rPr>
                          <m:t>,</m:t>
                        </m:r>
                        <m:r>
                          <a:rPr lang="ar-AE" b="0" i="1" smtClean="0">
                            <a:latin typeface="Cambria Math" panose="02040503050406030204" pitchFamily="18" charset="0"/>
                          </a:rPr>
                          <m:t>𝑝</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𝑃𝑜𝑖𝑠𝑠𝑜𝑛</m:t>
                    </m:r>
                    <m:d>
                      <m:dPr>
                        <m:ctrlPr>
                          <a:rPr lang="ar-AE" b="0" i="1" smtClean="0">
                            <a:latin typeface="Cambria Math" panose="02040503050406030204" pitchFamily="18" charset="0"/>
                            <a:ea typeface="Cambria Math" panose="02040503050406030204" pitchFamily="18" charset="0"/>
                          </a:rPr>
                        </m:ctrlPr>
                      </m:dPr>
                      <m:e>
                        <m:r>
                          <a:rPr lang="ar-AE" i="1">
                            <a:latin typeface="Cambria Math" panose="02040503050406030204" pitchFamily="18" charset="0"/>
                          </a:rPr>
                          <m:t>𝜆</m:t>
                        </m:r>
                      </m:e>
                    </m:d>
                    <m:r>
                      <a:rPr lang="ar-AE" b="0" i="1" smtClean="0">
                        <a:latin typeface="Cambria Math" panose="02040503050406030204" pitchFamily="18" charset="0"/>
                      </a:rPr>
                      <m:t>, </m:t>
                    </m:r>
                    <m:r>
                      <a:rPr lang="es-ES" b="0" i="1" smtClean="0">
                        <a:latin typeface="Cambria Math" panose="02040503050406030204" pitchFamily="18" charset="0"/>
                      </a:rPr>
                      <m:t>  </m:t>
                    </m:r>
                    <m:r>
                      <a:rPr lang="ar-AE" b="0" i="1" smtClean="0">
                        <a:latin typeface="Cambria Math" panose="02040503050406030204" pitchFamily="18" charset="0"/>
                      </a:rPr>
                      <m:t>𝑑</m:t>
                    </m:r>
                    <m:r>
                      <a:rPr lang="es-ES" b="0" i="1" smtClean="0">
                        <a:latin typeface="Cambria Math" panose="02040503050406030204" pitchFamily="18" charset="0"/>
                      </a:rPr>
                      <m:t>𝑜𝑛𝑑𝑒</m:t>
                    </m:r>
                    <m:r>
                      <a:rPr lang="es-ES" b="0" i="1" smtClean="0">
                        <a:latin typeface="Cambria Math" panose="02040503050406030204" pitchFamily="18" charset="0"/>
                      </a:rPr>
                      <m:t> </m:t>
                    </m:r>
                    <m:r>
                      <a:rPr lang="ar-AE" b="0" i="1" smtClean="0">
                        <a:latin typeface="Cambria Math" panose="02040503050406030204" pitchFamily="18" charset="0"/>
                      </a:rPr>
                      <m:t>𝑛𝑝</m:t>
                    </m:r>
                    <m:r>
                      <a:rPr lang="ar-AE" b="0" i="1" smtClean="0">
                        <a:latin typeface="Cambria Math" panose="02040503050406030204" pitchFamily="18" charset="0"/>
                      </a:rPr>
                      <m:t>=</m:t>
                    </m:r>
                    <m:r>
                      <a:rPr lang="ar-AE" i="1">
                        <a:latin typeface="Cambria Math" panose="02040503050406030204" pitchFamily="18" charset="0"/>
                      </a:rPr>
                      <m:t>𝜆</m:t>
                    </m:r>
                    <m:r>
                      <a:rPr lang="ar-AE" b="0" i="0" smtClean="0">
                        <a:latin typeface="Cambria Math" panose="02040503050406030204" pitchFamily="18" charset="0"/>
                      </a:rPr>
                      <m:t>  </m:t>
                    </m:r>
                  </m:oMath>
                </a14:m>
                <a:endParaRPr dirty="0"/>
              </a:p>
            </p:txBody>
          </p:sp>
        </mc:Choice>
        <mc:Fallback xmlns="">
          <p:sp>
            <p:nvSpPr>
              <p:cNvPr id="3" name="Marcador de contenido 2">
                <a:extLst>
                  <a:ext uri="{FF2B5EF4-FFF2-40B4-BE49-F238E27FC236}">
                    <a16:creationId xmlns:a16="http://schemas.microsoft.com/office/drawing/2014/main" id="{160A9F83-D3A2-6560-CBC9-6CB0F9A1AEE1}"/>
                  </a:ext>
                </a:extLst>
              </p:cNvPr>
              <p:cNvSpPr>
                <a:spLocks noGrp="1" noRot="1" noChangeAspect="1" noMove="1" noResize="1" noEditPoints="1" noAdjustHandles="1" noChangeArrowheads="1" noChangeShapeType="1" noTextEdit="1"/>
              </p:cNvSpPr>
              <p:nvPr>
                <p:ph idx="1"/>
              </p:nvPr>
            </p:nvSpPr>
            <p:spPr>
              <a:blipFill>
                <a:blip r:embed="rId2"/>
                <a:stretch>
                  <a:fillRect l="-1043" t="-2241" r="-1217"/>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A9B3F21C-67FC-C095-2F24-80D1AA7E45BA}"/>
              </a:ext>
            </a:extLst>
          </p:cNvPr>
          <p:cNvSpPr>
            <a:spLocks noGrp="1"/>
          </p:cNvSpPr>
          <p:nvPr>
            <p:ph type="sldNum" sz="quarter" idx="12"/>
          </p:nvPr>
        </p:nvSpPr>
        <p:spPr/>
        <p:txBody>
          <a:bodyPr/>
          <a:lstStyle/>
          <a:p>
            <a:fld id="{336CAFD0-1F6E-4E11-9822-836563A02839}" type="slidenum">
              <a:rPr lang="es-ES" smtClean="0"/>
              <a:t>80</a:t>
            </a:fld>
            <a:endParaRPr lang="es-ES"/>
          </a:p>
        </p:txBody>
      </p:sp>
    </p:spTree>
    <p:extLst>
      <p:ext uri="{BB962C8B-B14F-4D97-AF65-F5344CB8AC3E}">
        <p14:creationId xmlns:p14="http://schemas.microsoft.com/office/powerpoint/2010/main" val="604627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A0A242-DD75-65BF-43AC-77EB595DEAB8}"/>
              </a:ext>
            </a:extLst>
          </p:cNvPr>
          <p:cNvSpPr>
            <a:spLocks noGrp="1"/>
          </p:cNvSpPr>
          <p:nvPr>
            <p:ph type="title"/>
          </p:nvPr>
        </p:nvSpPr>
        <p:spPr/>
        <p:txBody>
          <a:bodyPr>
            <a:normAutofit fontScale="90000"/>
          </a:bodyPr>
          <a:lstStyle/>
          <a:p>
            <a:r>
              <a:rPr lang="es-ES" dirty="0"/>
              <a:t>13</a:t>
            </a:r>
            <a:r>
              <a:rPr dirty="0"/>
              <a:t>. </a:t>
            </a:r>
            <a:r>
              <a:rPr dirty="0" err="1"/>
              <a:t>Distribución</a:t>
            </a:r>
            <a:r>
              <a:rPr dirty="0"/>
              <a:t> de Poisson</a:t>
            </a:r>
            <a:br>
              <a:rPr lang="es-ES" dirty="0"/>
            </a:br>
            <a:r>
              <a:rPr lang="es-ES" dirty="0"/>
              <a:t>A</a:t>
            </a:r>
            <a:r>
              <a:rPr dirty="0" err="1"/>
              <a:t>proximación</a:t>
            </a:r>
            <a:r>
              <a:rPr dirty="0"/>
              <a:t> </a:t>
            </a:r>
            <a:r>
              <a:rPr lang="es-ES" dirty="0"/>
              <a:t>a Poisson </a:t>
            </a:r>
            <a:r>
              <a:rPr dirty="0"/>
              <a:t>de Binomial (</a:t>
            </a:r>
            <a:r>
              <a:rPr dirty="0" err="1"/>
              <a:t>Gráficos</a:t>
            </a:r>
            <a:r>
              <a:rPr dirty="0"/>
              <a:t>)</a:t>
            </a:r>
          </a:p>
        </p:txBody>
      </p:sp>
      <p:sp>
        <p:nvSpPr>
          <p:cNvPr id="4" name="Marcador de número de diapositiva 3">
            <a:extLst>
              <a:ext uri="{FF2B5EF4-FFF2-40B4-BE49-F238E27FC236}">
                <a16:creationId xmlns:a16="http://schemas.microsoft.com/office/drawing/2014/main" id="{8174506B-C3EB-55A2-5E30-B28FAB3D395A}"/>
              </a:ext>
            </a:extLst>
          </p:cNvPr>
          <p:cNvSpPr>
            <a:spLocks noGrp="1"/>
          </p:cNvSpPr>
          <p:nvPr>
            <p:ph type="sldNum" sz="quarter" idx="12"/>
          </p:nvPr>
        </p:nvSpPr>
        <p:spPr/>
        <p:txBody>
          <a:bodyPr/>
          <a:lstStyle/>
          <a:p>
            <a:fld id="{336CAFD0-1F6E-4E11-9822-836563A02839}" type="slidenum">
              <a:rPr lang="es-ES" smtClean="0"/>
              <a:t>81</a:t>
            </a:fld>
            <a:endParaRPr lang="es-ES"/>
          </a:p>
        </p:txBody>
      </p:sp>
      <p:pic>
        <p:nvPicPr>
          <p:cNvPr id="3" name="Imagen 2">
            <a:extLst>
              <a:ext uri="{FF2B5EF4-FFF2-40B4-BE49-F238E27FC236}">
                <a16:creationId xmlns:a16="http://schemas.microsoft.com/office/drawing/2014/main" id="{5174F930-96F7-0E5C-881D-75D6FE079CF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352550" y="1891945"/>
            <a:ext cx="9486900" cy="4924425"/>
          </a:xfrm>
          <a:prstGeom prst="rect">
            <a:avLst/>
          </a:prstGeom>
        </p:spPr>
      </p:pic>
    </p:spTree>
    <p:extLst>
      <p:ext uri="{BB962C8B-B14F-4D97-AF65-F5344CB8AC3E}">
        <p14:creationId xmlns:p14="http://schemas.microsoft.com/office/powerpoint/2010/main" val="15953451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97AFD-3573-3210-2A0D-73D7D00B2DA5}"/>
              </a:ext>
            </a:extLst>
          </p:cNvPr>
          <p:cNvSpPr>
            <a:spLocks noGrp="1"/>
          </p:cNvSpPr>
          <p:nvPr>
            <p:ph type="title"/>
          </p:nvPr>
        </p:nvSpPr>
        <p:spPr/>
        <p:txBody>
          <a:bodyPr>
            <a:normAutofit/>
          </a:bodyPr>
          <a:lstStyle/>
          <a:p>
            <a:r>
              <a:rPr lang="es-ES" dirty="0"/>
              <a:t>13</a:t>
            </a:r>
            <a:r>
              <a:rPr dirty="0"/>
              <a:t>. </a:t>
            </a:r>
            <a:r>
              <a:rPr dirty="0" err="1"/>
              <a:t>Distribución</a:t>
            </a:r>
            <a:r>
              <a:rPr dirty="0"/>
              <a:t> de Poisson</a:t>
            </a:r>
            <a:br>
              <a:rPr lang="es-ES" dirty="0"/>
            </a:br>
            <a:r>
              <a:rPr dirty="0" err="1"/>
              <a:t>Ejemplo</a:t>
            </a:r>
            <a:r>
              <a:rPr dirty="0"/>
              <a:t> 3.23 (</a:t>
            </a:r>
            <a:r>
              <a:rPr dirty="0" err="1"/>
              <a:t>Aproximación</a:t>
            </a:r>
            <a:r>
              <a:rPr dirty="0"/>
              <a:t> </a:t>
            </a:r>
            <a:r>
              <a:rPr lang="es-ES" dirty="0"/>
              <a:t>Binomial</a:t>
            </a:r>
            <a:r>
              <a:rPr dirty="0"/>
              <a:t>)</a:t>
            </a:r>
          </a:p>
        </p:txBody>
      </p:sp>
      <p:sp>
        <p:nvSpPr>
          <p:cNvPr id="3" name="Marcador de contenido 2">
            <a:extLst>
              <a:ext uri="{FF2B5EF4-FFF2-40B4-BE49-F238E27FC236}">
                <a16:creationId xmlns:a16="http://schemas.microsoft.com/office/drawing/2014/main" id="{9A10EEE6-791F-7FD3-5C3A-577AB8A4067F}"/>
              </a:ext>
            </a:extLst>
          </p:cNvPr>
          <p:cNvSpPr>
            <a:spLocks noGrp="1"/>
          </p:cNvSpPr>
          <p:nvPr>
            <p:ph idx="1"/>
          </p:nvPr>
        </p:nvSpPr>
        <p:spPr/>
        <p:txBody>
          <a:bodyPr>
            <a:normAutofit/>
          </a:bodyPr>
          <a:lstStyle/>
          <a:p>
            <a:r>
              <a:t>Igual que el ejemplo 3.22</a:t>
            </a:r>
          </a:p>
          <a:p>
            <a:r>
              <a:t>Supongamos que hay 400000 usuarios potenciales de Internet en el área, y en cualquier día específico, cada uno de ellos abre una nueva cuenta con probabilidad 0.000025</a:t>
            </a:r>
          </a:p>
          <a:p>
            <a:pPr marL="914400" lvl="1" indent="-457200">
              <a:buFont typeface="+mj-lt"/>
              <a:buAutoNum type="alphaLcParenR"/>
            </a:pPr>
            <a:r>
              <a:t>¿Cuál es la probabilidad de que hoy se inicien más de 8 nuevas cuentas?</a:t>
            </a:r>
          </a:p>
          <a:p>
            <a:pPr marL="914400" lvl="1" indent="-457200">
              <a:buFont typeface="+mj-lt"/>
              <a:buAutoNum type="alphaLcParenR"/>
            </a:pPr>
            <a:r>
              <a:t>¿Cuál es la probabilidad de que se inicien más de 16 cuentas en un plazo de 2 días?</a:t>
            </a:r>
          </a:p>
        </p:txBody>
      </p:sp>
      <p:sp>
        <p:nvSpPr>
          <p:cNvPr id="4" name="Marcador de número de diapositiva 3">
            <a:extLst>
              <a:ext uri="{FF2B5EF4-FFF2-40B4-BE49-F238E27FC236}">
                <a16:creationId xmlns:a16="http://schemas.microsoft.com/office/drawing/2014/main" id="{8B32DBEA-A7C3-BB97-6B8D-83056208B354}"/>
              </a:ext>
            </a:extLst>
          </p:cNvPr>
          <p:cNvSpPr>
            <a:spLocks noGrp="1"/>
          </p:cNvSpPr>
          <p:nvPr>
            <p:ph type="sldNum" sz="quarter" idx="12"/>
          </p:nvPr>
        </p:nvSpPr>
        <p:spPr/>
        <p:txBody>
          <a:bodyPr/>
          <a:lstStyle/>
          <a:p>
            <a:fld id="{336CAFD0-1F6E-4E11-9822-836563A02839}" type="slidenum">
              <a:rPr lang="es-ES" smtClean="0"/>
              <a:t>82</a:t>
            </a:fld>
            <a:endParaRPr lang="es-ES"/>
          </a:p>
        </p:txBody>
      </p:sp>
    </p:spTree>
    <p:extLst>
      <p:ext uri="{BB962C8B-B14F-4D97-AF65-F5344CB8AC3E}">
        <p14:creationId xmlns:p14="http://schemas.microsoft.com/office/powerpoint/2010/main" val="24150862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97AFD-3573-3210-2A0D-73D7D00B2DA5}"/>
              </a:ext>
            </a:extLst>
          </p:cNvPr>
          <p:cNvSpPr>
            <a:spLocks noGrp="1"/>
          </p:cNvSpPr>
          <p:nvPr>
            <p:ph type="title"/>
          </p:nvPr>
        </p:nvSpPr>
        <p:spPr/>
        <p:txBody>
          <a:bodyPr/>
          <a:lstStyle/>
          <a:p>
            <a:r>
              <a:rPr lang="es-ES" dirty="0"/>
              <a:t>13</a:t>
            </a:r>
            <a:r>
              <a:rPr dirty="0"/>
              <a:t>. </a:t>
            </a:r>
            <a:r>
              <a:rPr dirty="0" err="1"/>
              <a:t>Distribución</a:t>
            </a:r>
            <a:r>
              <a:rPr dirty="0"/>
              <a:t> de Poisson</a:t>
            </a:r>
            <a:br>
              <a:rPr lang="es-ES" dirty="0"/>
            </a:br>
            <a:r>
              <a:rPr dirty="0" err="1"/>
              <a:t>Ejemplo</a:t>
            </a:r>
            <a:r>
              <a:rPr dirty="0"/>
              <a:t> 3.23 (</a:t>
            </a:r>
            <a:r>
              <a:rPr dirty="0" err="1"/>
              <a:t>Solución</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A10EEE6-791F-7FD3-5C3A-577AB8A4067F}"/>
                  </a:ext>
                </a:extLst>
              </p:cNvPr>
              <p:cNvSpPr>
                <a:spLocks noGrp="1"/>
              </p:cNvSpPr>
              <p:nvPr>
                <p:ph idx="1"/>
              </p:nvPr>
            </p:nvSpPr>
            <p:spPr/>
            <p:txBody>
              <a:bodyPr>
                <a:normAutofit/>
              </a:bodyPr>
              <a:lstStyle/>
              <a:p>
                <a:r>
                  <a:rPr dirty="0"/>
                  <a:t>X: </a:t>
                </a:r>
                <a:r>
                  <a:rPr dirty="0" err="1"/>
                  <a:t>número</a:t>
                </a:r>
                <a:r>
                  <a:rPr dirty="0"/>
                  <a:t> de </a:t>
                </a:r>
                <a:r>
                  <a:rPr dirty="0" err="1"/>
                  <a:t>cuentas</a:t>
                </a:r>
                <a:r>
                  <a:rPr dirty="0"/>
                  <a:t> </a:t>
                </a:r>
                <a:r>
                  <a:rPr dirty="0" err="1"/>
                  <a:t>abiertas</a:t>
                </a:r>
                <a:r>
                  <a:rPr dirty="0"/>
                  <a:t> en un día</a:t>
                </a:r>
              </a:p>
              <a:p>
                <a:r>
                  <a:rPr dirty="0"/>
                  <a:t>X </a:t>
                </a:r>
                <a:r>
                  <a:rPr dirty="0" err="1"/>
                  <a:t>tiene</a:t>
                </a:r>
                <a:r>
                  <a:rPr dirty="0"/>
                  <a:t> </a:t>
                </a:r>
                <a:r>
                  <a:rPr dirty="0" err="1"/>
                  <a:t>distribución</a:t>
                </a:r>
                <a:r>
                  <a:rPr dirty="0"/>
                  <a:t> </a:t>
                </a:r>
                <a:r>
                  <a:rPr lang="es-ES" dirty="0"/>
                  <a:t>Binomial</a:t>
                </a:r>
                <a:r>
                  <a:rPr dirty="0"/>
                  <a:t> con </a:t>
                </a:r>
                <a:r>
                  <a:rPr dirty="0" err="1"/>
                  <a:t>parámetros</a:t>
                </a:r>
                <a:r>
                  <a:rPr dirty="0"/>
                  <a:t> n=400000 y p=0.000025</a:t>
                </a:r>
              </a:p>
              <a:p>
                <a:r>
                  <a:rPr dirty="0"/>
                  <a:t>n es </a:t>
                </a:r>
                <a:r>
                  <a:rPr dirty="0" err="1"/>
                  <a:t>grande</a:t>
                </a:r>
                <a:r>
                  <a:rPr dirty="0"/>
                  <a:t> p es </a:t>
                </a:r>
                <a:r>
                  <a:rPr dirty="0" err="1"/>
                  <a:t>pequeño</a:t>
                </a:r>
                <a:r>
                  <a:rPr dirty="0"/>
                  <a:t>, </a:t>
                </a:r>
                <a:r>
                  <a:rPr dirty="0" err="1"/>
                  <a:t>por</a:t>
                </a:r>
                <a:r>
                  <a:rPr dirty="0"/>
                  <a:t> lo que se </a:t>
                </a:r>
                <a:r>
                  <a:rPr dirty="0" err="1"/>
                  <a:t>puede</a:t>
                </a:r>
                <a:r>
                  <a:rPr dirty="0"/>
                  <a:t> </a:t>
                </a:r>
                <a:r>
                  <a:rPr dirty="0" err="1"/>
                  <a:t>aproximar</a:t>
                </a:r>
                <a:r>
                  <a:rPr dirty="0"/>
                  <a:t> a un</a:t>
                </a:r>
                <a:r>
                  <a:rPr lang="es-ES" dirty="0"/>
                  <a:t>a distribución</a:t>
                </a:r>
                <a:r>
                  <a:rPr dirty="0"/>
                  <a:t> </a:t>
                </a:r>
                <a14:m>
                  <m:oMath xmlns:m="http://schemas.openxmlformats.org/officeDocument/2006/math">
                    <m:r>
                      <a:rPr lang="es-ES" i="1" dirty="0" smtClean="0">
                        <a:latin typeface="Cambria Math" panose="02040503050406030204" pitchFamily="18" charset="0"/>
                      </a:rPr>
                      <m:t>𝑃𝑜𝑖𝑠𝑠𝑜𝑛</m:t>
                    </m:r>
                    <m:r>
                      <a:rPr lang="es-ES" i="1" dirty="0" smtClean="0">
                        <a:latin typeface="Cambria Math" panose="02040503050406030204" pitchFamily="18" charset="0"/>
                      </a:rPr>
                      <m:t>(</m:t>
                    </m:r>
                    <m:r>
                      <a:rPr lang="es-ES" i="1" dirty="0" smtClean="0">
                        <a:latin typeface="Cambria Math" panose="02040503050406030204" pitchFamily="18" charset="0"/>
                      </a:rPr>
                      <m:t>𝜆</m:t>
                    </m:r>
                    <m:r>
                      <a:rPr lang="es-ES" i="1" dirty="0" smtClean="0">
                        <a:latin typeface="Cambria Math" panose="02040503050406030204" pitchFamily="18" charset="0"/>
                      </a:rPr>
                      <m:t>) </m:t>
                    </m:r>
                  </m:oMath>
                </a14:m>
                <a:r>
                  <a:rPr lang="es-ES" dirty="0"/>
                  <a:t>con </a:t>
                </a:r>
                <a14:m>
                  <m:oMath xmlns:m="http://schemas.openxmlformats.org/officeDocument/2006/math">
                    <m:r>
                      <a:rPr lang="el-GR" i="1" dirty="0" smtClean="0">
                        <a:latin typeface="Cambria Math" panose="02040503050406030204" pitchFamily="18" charset="0"/>
                      </a:rPr>
                      <m:t>𝜆</m:t>
                    </m:r>
                    <m:r>
                      <a:rPr lang="el-GR" i="1" dirty="0" smtClean="0">
                        <a:latin typeface="Cambria Math" panose="02040503050406030204" pitchFamily="18" charset="0"/>
                      </a:rPr>
                      <m:t>=</m:t>
                    </m:r>
                    <m:r>
                      <a:rPr lang="el-GR" i="1" dirty="0" smtClean="0">
                        <a:latin typeface="Cambria Math" panose="02040503050406030204" pitchFamily="18" charset="0"/>
                      </a:rPr>
                      <m:t>𝑛𝑝</m:t>
                    </m:r>
                    <m:r>
                      <a:rPr lang="el-GR" i="1" dirty="0" smtClean="0">
                        <a:latin typeface="Cambria Math" panose="02040503050406030204" pitchFamily="18" charset="0"/>
                      </a:rPr>
                      <m:t>=</m:t>
                    </m:r>
                    <m:r>
                      <a:rPr lang="el-GR" i="1" dirty="0" smtClean="0">
                        <a:latin typeface="Cambria Math" panose="02040503050406030204" pitchFamily="18" charset="0"/>
                      </a:rPr>
                      <m:t>10</m:t>
                    </m:r>
                  </m:oMath>
                </a14:m>
                <a:endParaRPr dirty="0"/>
              </a:p>
              <a:p>
                <a14:m>
                  <m:oMath xmlns:m="http://schemas.openxmlformats.org/officeDocument/2006/math">
                    <m:r>
                      <a:rPr lang="es-ES" b="0" i="1" smtClean="0">
                        <a:latin typeface="Cambria Math" panose="02040503050406030204" pitchFamily="18" charset="0"/>
                      </a:rPr>
                      <m:t>𝑃</m:t>
                    </m:r>
                    <m:r>
                      <a:rPr lang="es-ES" i="1">
                        <a:latin typeface="Cambria Math" panose="02040503050406030204" pitchFamily="18" charset="0"/>
                      </a:rPr>
                      <m:t>𝑃</m:t>
                    </m:r>
                    <m:d>
                      <m:dPr>
                        <m:begChr m:val="{"/>
                        <m:endChr m:val="}"/>
                        <m:ctrlPr>
                          <a:rPr lang="ar-AE" i="1">
                            <a:latin typeface="Cambria Math" panose="02040503050406030204" pitchFamily="18" charset="0"/>
                          </a:rPr>
                        </m:ctrlPr>
                      </m:dPr>
                      <m:e>
                        <m:r>
                          <a:rPr lang="ar-AE" i="1">
                            <a:latin typeface="Cambria Math" panose="02040503050406030204" pitchFamily="18" charset="0"/>
                          </a:rPr>
                          <m:t>𝑋</m:t>
                        </m:r>
                        <m:r>
                          <a:rPr lang="ar-AE" i="1">
                            <a:latin typeface="Cambria Math" panose="02040503050406030204" pitchFamily="18" charset="0"/>
                          </a:rPr>
                          <m:t>&gt;</m:t>
                        </m:r>
                        <m:r>
                          <a:rPr lang="ar-AE" i="1">
                            <a:latin typeface="Cambria Math" panose="02040503050406030204" pitchFamily="18" charset="0"/>
                          </a:rPr>
                          <m:t>8</m:t>
                        </m:r>
                      </m:e>
                    </m:d>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𝑃</m:t>
                    </m:r>
                    <m:d>
                      <m:dPr>
                        <m:begChr m:val="{"/>
                        <m:endChr m:val="}"/>
                        <m:ctrlPr>
                          <a:rPr lang="ar-AE" i="1">
                            <a:latin typeface="Cambria Math" panose="02040503050406030204" pitchFamily="18" charset="0"/>
                          </a:rPr>
                        </m:ctrlPr>
                      </m:dPr>
                      <m:e>
                        <m:r>
                          <a:rPr lang="ar-AE" i="1">
                            <a:latin typeface="Cambria Math" panose="02040503050406030204" pitchFamily="18" charset="0"/>
                          </a:rPr>
                          <m:t>𝑋</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8</m:t>
                        </m:r>
                      </m:e>
                    </m:d>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1</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𝐹</m:t>
                    </m:r>
                    <m:d>
                      <m:dPr>
                        <m:ctrlPr>
                          <a:rPr lang="ar-AE" i="1">
                            <a:latin typeface="Cambria Math" panose="02040503050406030204" pitchFamily="18" charset="0"/>
                            <a:ea typeface="Cambria Math" panose="02040503050406030204" pitchFamily="18" charset="0"/>
                          </a:rPr>
                        </m:ctrlPr>
                      </m:dPr>
                      <m:e>
                        <m:r>
                          <a:rPr lang="ar-AE" i="1">
                            <a:latin typeface="Cambria Math" panose="02040503050406030204" pitchFamily="18" charset="0"/>
                            <a:ea typeface="Cambria Math" panose="02040503050406030204" pitchFamily="18" charset="0"/>
                          </a:rPr>
                          <m:t>8</m:t>
                        </m:r>
                      </m:e>
                    </m:d>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333</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667</m:t>
                    </m:r>
                  </m:oMath>
                </a14:m>
                <a:endParaRPr lang="ar-AE" i="1" dirty="0">
                  <a:latin typeface="Cambria Math" panose="02040503050406030204" pitchFamily="18" charset="0"/>
                  <a:ea typeface="Cambria Math" panose="02040503050406030204" pitchFamily="18" charset="0"/>
                </a:endParaRPr>
              </a:p>
              <a:p>
                <a:pPr lvl="1">
                  <a:defRPr>
                    <a:ea typeface="Cambria Math" panose="02040503050406030204" pitchFamily="18" charset="0"/>
                  </a:defRPr>
                </a:pPr>
                <a14:m>
                  <m:oMath xmlns:m="http://schemas.openxmlformats.org/officeDocument/2006/math">
                    <m:r>
                      <m:rPr>
                        <m:nor/>
                      </m:rPr>
                      <a:rPr lang="es-ES" dirty="0" err="1"/>
                      <m:t>Usando</m:t>
                    </m:r>
                    <m:r>
                      <m:rPr>
                        <m:nor/>
                      </m:rPr>
                      <a:rPr lang="es-ES" dirty="0"/>
                      <m:t> </m:t>
                    </m:r>
                    <m:r>
                      <a:rPr lang="es-ES" i="1" dirty="0">
                        <a:latin typeface="Cambria Math" panose="02040503050406030204" pitchFamily="18" charset="0"/>
                      </a:rPr>
                      <m:t>𝑃</m:t>
                    </m:r>
                    <m:r>
                      <a:rPr lang="es-ES" i="1" dirty="0" err="1">
                        <a:latin typeface="Cambria Math" panose="02040503050406030204" pitchFamily="18" charset="0"/>
                      </a:rPr>
                      <m:t>𝑜𝑠𝑖𝑠𝑠𝑜𝑛</m:t>
                    </m:r>
                    <m:r>
                      <a:rPr lang="es-ES" i="1" dirty="0">
                        <a:latin typeface="Cambria Math" panose="02040503050406030204" pitchFamily="18" charset="0"/>
                      </a:rPr>
                      <m:t>(</m:t>
                    </m:r>
                    <m:r>
                      <a:rPr lang="es-ES" i="1" dirty="0">
                        <a:latin typeface="Cambria Math" panose="02040503050406030204" pitchFamily="18" charset="0"/>
                      </a:rPr>
                      <m:t>10</m:t>
                    </m:r>
                    <m:r>
                      <a:rPr lang="es-ES" i="1" dirty="0">
                        <a:latin typeface="Cambria Math" panose="02040503050406030204" pitchFamily="18" charset="0"/>
                      </a:rPr>
                      <m:t>) </m:t>
                    </m:r>
                    <m:r>
                      <m:rPr>
                        <m:nor/>
                      </m:rPr>
                      <a:rPr lang="es-ES" dirty="0">
                        <a:sym typeface="Wingdings" panose="05000000000000000000" pitchFamily="2" charset="2"/>
                      </a:rPr>
                      <m:t> </m:t>
                    </m:r>
                    <m:r>
                      <a:rPr lang="es-ES" i="1">
                        <a:latin typeface="Cambria Math" panose="02040503050406030204" pitchFamily="18" charset="0"/>
                        <a:ea typeface="Cambria Math" panose="02040503050406030204" pitchFamily="18" charset="0"/>
                      </a:rPr>
                      <m:t>𝐹</m:t>
                    </m:r>
                    <m:d>
                      <m:dPr>
                        <m:ctrlPr>
                          <a:rPr lang="ar-AE" i="1">
                            <a:latin typeface="Cambria Math" panose="02040503050406030204" pitchFamily="18" charset="0"/>
                            <a:ea typeface="Cambria Math" panose="02040503050406030204" pitchFamily="18" charset="0"/>
                          </a:rPr>
                        </m:ctrlPr>
                      </m:dPr>
                      <m:e>
                        <m:r>
                          <a:rPr lang="ar-AE" i="1">
                            <a:latin typeface="Cambria Math" panose="02040503050406030204" pitchFamily="18" charset="0"/>
                            <a:ea typeface="Cambria Math" panose="02040503050406030204" pitchFamily="18" charset="0"/>
                          </a:rPr>
                          <m:t>8</m:t>
                        </m:r>
                      </m:e>
                    </m:d>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0</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333</m:t>
                    </m:r>
                    <m:r>
                      <m:rPr>
                        <m:nor/>
                      </m:rPr>
                      <a:rPr lang="es-ES" dirty="0">
                        <a:ea typeface="Cambria Math" panose="02040503050406030204" pitchFamily="18" charset="0"/>
                      </a:rPr>
                      <m:t>  (</m:t>
                    </m:r>
                    <m:r>
                      <m:rPr>
                        <m:nor/>
                      </m:rPr>
                      <a:rPr lang="es-ES" dirty="0">
                        <a:ea typeface="Cambria Math" panose="02040503050406030204" pitchFamily="18" charset="0"/>
                      </a:rPr>
                      <m:t>Tabla</m:t>
                    </m:r>
                    <m:r>
                      <m:rPr>
                        <m:nor/>
                      </m:rPr>
                      <a:rPr lang="es-ES" dirty="0">
                        <a:ea typeface="Cambria Math" panose="02040503050406030204" pitchFamily="18" charset="0"/>
                      </a:rPr>
                      <m:t> </m:t>
                    </m:r>
                    <m:r>
                      <m:rPr>
                        <m:nor/>
                      </m:rPr>
                      <a:rPr lang="es-ES" dirty="0">
                        <a:ea typeface="Cambria Math" panose="02040503050406030204" pitchFamily="18" charset="0"/>
                      </a:rPr>
                      <m:t>A</m:t>
                    </m:r>
                    <m:r>
                      <m:rPr>
                        <m:nor/>
                      </m:rPr>
                      <a:rPr lang="es-ES" dirty="0">
                        <a:ea typeface="Cambria Math" panose="02040503050406030204" pitchFamily="18" charset="0"/>
                      </a:rPr>
                      <m:t>3</m:t>
                    </m:r>
                    <m:r>
                      <m:rPr>
                        <m:nor/>
                      </m:rPr>
                      <a:rPr lang="es-ES" dirty="0">
                        <a:ea typeface="Cambria Math" panose="02040503050406030204" pitchFamily="18" charset="0"/>
                      </a:rPr>
                      <m:t>)</m:t>
                    </m:r>
                  </m:oMath>
                </a14:m>
                <a:endParaRPr lang="ar-AE" dirty="0">
                  <a:ea typeface="Cambria Math" panose="02040503050406030204" pitchFamily="18" charset="0"/>
                </a:endParaRPr>
              </a:p>
              <a:p>
                <a:pPr lvl="1">
                  <a:defRPr>
                    <a:ea typeface="Cambria Math" panose="02040503050406030204" pitchFamily="18" charset="0"/>
                    <a:sym typeface="Wingdings" panose="05000000000000000000" pitchFamily="2" charset="2"/>
                  </a:defRPr>
                </a:pPr>
                <a14:m>
                  <m:oMath xmlns:m="http://schemas.openxmlformats.org/officeDocument/2006/math">
                    <m:r>
                      <m:rPr>
                        <m:nor/>
                      </m:rPr>
                      <a:rPr lang="es-ES" dirty="0" err="1"/>
                      <m:t>Usando</m:t>
                    </m:r>
                    <m:r>
                      <m:rPr>
                        <m:nor/>
                      </m:rPr>
                      <a:rPr lang="es-ES" dirty="0"/>
                      <m:t> </m:t>
                    </m:r>
                    <m:r>
                      <a:rPr lang="es-ES" i="1" dirty="0">
                        <a:latin typeface="Cambria Math" panose="02040503050406030204" pitchFamily="18" charset="0"/>
                      </a:rPr>
                      <m:t>𝐵𝑖𝑛𝑜𝑚𝑖𝑎𝑙</m:t>
                    </m:r>
                    <m:r>
                      <a:rPr lang="es-ES" i="1" dirty="0">
                        <a:latin typeface="Cambria Math" panose="02040503050406030204" pitchFamily="18" charset="0"/>
                      </a:rPr>
                      <m:t>(</m:t>
                    </m:r>
                    <m:r>
                      <a:rPr lang="es-ES" i="1" dirty="0">
                        <a:latin typeface="Cambria Math" panose="02040503050406030204" pitchFamily="18" charset="0"/>
                      </a:rPr>
                      <m:t>400000</m:t>
                    </m:r>
                    <m:r>
                      <a:rPr lang="es-ES" i="1" dirty="0">
                        <a:latin typeface="Cambria Math" panose="02040503050406030204" pitchFamily="18" charset="0"/>
                      </a:rPr>
                      <m:t>, </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000025</m:t>
                    </m:r>
                    <m:r>
                      <a:rPr lang="es-ES" i="1" dirty="0">
                        <a:latin typeface="Cambria Math" panose="02040503050406030204" pitchFamily="18" charset="0"/>
                      </a:rPr>
                      <m:t>) </m:t>
                    </m:r>
                    <m:r>
                      <m:rPr>
                        <m:nor/>
                      </m:rPr>
                      <a:rPr lang="es-ES" dirty="0">
                        <a:sym typeface="Wingdings" panose="05000000000000000000" pitchFamily="2" charset="2"/>
                      </a:rPr>
                      <m:t></m:t>
                    </m:r>
                    <m:r>
                      <m:rPr>
                        <m:nor/>
                      </m:rPr>
                      <a:rPr lang="es-ES" dirty="0"/>
                      <m:t> </m:t>
                    </m:r>
                    <m:r>
                      <a:rPr lang="es-ES" i="1">
                        <a:latin typeface="Cambria Math" panose="02040503050406030204" pitchFamily="18" charset="0"/>
                        <a:ea typeface="Cambria Math" panose="02040503050406030204" pitchFamily="18" charset="0"/>
                      </a:rPr>
                      <m:t>𝐹</m:t>
                    </m:r>
                    <m:d>
                      <m:dPr>
                        <m:ctrlPr>
                          <a:rPr lang="ar-AE" i="1">
                            <a:latin typeface="Cambria Math" panose="02040503050406030204" pitchFamily="18" charset="0"/>
                            <a:ea typeface="Cambria Math" panose="02040503050406030204" pitchFamily="18" charset="0"/>
                          </a:rPr>
                        </m:ctrlPr>
                      </m:dPr>
                      <m:e>
                        <m:r>
                          <a:rPr lang="ar-AE" i="1">
                            <a:latin typeface="Cambria Math" panose="02040503050406030204" pitchFamily="18" charset="0"/>
                            <a:ea typeface="Cambria Math" panose="02040503050406030204" pitchFamily="18" charset="0"/>
                          </a:rPr>
                          <m:t>8</m:t>
                        </m:r>
                      </m:e>
                    </m:d>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0</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3328169</m:t>
                    </m:r>
                    <m:r>
                      <m:rPr>
                        <m:nor/>
                      </m:rPr>
                      <a:rPr lang="es-ES" dirty="0">
                        <a:ea typeface="Cambria Math" panose="02040503050406030204" pitchFamily="18" charset="0"/>
                        <a:sym typeface="Wingdings" panose="05000000000000000000" pitchFamily="2" charset="2"/>
                      </a:rPr>
                      <m:t>  (</m:t>
                    </m:r>
                    <m:r>
                      <m:rPr>
                        <m:nor/>
                      </m:rPr>
                      <a:rPr lang="es-ES" dirty="0">
                        <a:ea typeface="Cambria Math" panose="02040503050406030204" pitchFamily="18" charset="0"/>
                        <a:sym typeface="Wingdings" panose="05000000000000000000" pitchFamily="2" charset="2"/>
                      </a:rPr>
                      <m:t>Software</m:t>
                    </m:r>
                    <m:r>
                      <m:rPr>
                        <m:nor/>
                      </m:rPr>
                      <a:rPr lang="es-ES" dirty="0">
                        <a:ea typeface="Cambria Math" panose="02040503050406030204" pitchFamily="18" charset="0"/>
                        <a:sym typeface="Wingdings" panose="05000000000000000000" pitchFamily="2" charset="2"/>
                      </a:rPr>
                      <m:t> </m:t>
                    </m:r>
                    <m:r>
                      <m:rPr>
                        <m:nor/>
                      </m:rPr>
                      <a:rPr lang="es-ES" dirty="0">
                        <a:ea typeface="Cambria Math" panose="02040503050406030204" pitchFamily="18" charset="0"/>
                        <a:sym typeface="Wingdings" panose="05000000000000000000" pitchFamily="2" charset="2"/>
                      </a:rPr>
                      <m:t>R</m:t>
                    </m:r>
                    <m:r>
                      <m:rPr>
                        <m:nor/>
                      </m:rPr>
                      <a:rPr lang="es-ES" dirty="0">
                        <a:ea typeface="Cambria Math" panose="02040503050406030204" pitchFamily="18" charset="0"/>
                        <a:sym typeface="Wingdings" panose="05000000000000000000" pitchFamily="2" charset="2"/>
                      </a:rPr>
                      <m:t>)</m:t>
                    </m:r>
                  </m:oMath>
                </a14:m>
                <a:endParaRPr lang="ar-AE" dirty="0">
                  <a:ea typeface="Cambria Math" panose="02040503050406030204" pitchFamily="18" charset="0"/>
                  <a:sym typeface="Wingdings" panose="05000000000000000000" pitchFamily="2" charset="2"/>
                </a:endParaRPr>
              </a:p>
              <a:p>
                <a:pPr lvl="1"/>
                <a14:m>
                  <m:oMath xmlns:m="http://schemas.openxmlformats.org/officeDocument/2006/math">
                    <m:r>
                      <m:rPr>
                        <m:nor/>
                      </m:rPr>
                      <a:rPr lang="es-ES" dirty="0"/>
                      <m:t>Es</m:t>
                    </m:r>
                    <m:r>
                      <m:rPr>
                        <m:nor/>
                      </m:rPr>
                      <a:rPr lang="es-ES" dirty="0"/>
                      <m:t> </m:t>
                    </m:r>
                    <m:r>
                      <m:rPr>
                        <m:nor/>
                      </m:rPr>
                      <a:rPr lang="es-ES" dirty="0" err="1"/>
                      <m:t>una</m:t>
                    </m:r>
                    <m:r>
                      <m:rPr>
                        <m:nor/>
                      </m:rPr>
                      <a:rPr lang="es-ES" dirty="0"/>
                      <m:t> </m:t>
                    </m:r>
                    <m:r>
                      <m:rPr>
                        <m:nor/>
                      </m:rPr>
                      <a:rPr lang="es-ES" dirty="0" err="1"/>
                      <m:t>muy</m:t>
                    </m:r>
                    <m:r>
                      <m:rPr>
                        <m:nor/>
                      </m:rPr>
                      <a:rPr lang="es-ES" dirty="0"/>
                      <m:t> </m:t>
                    </m:r>
                    <m:r>
                      <m:rPr>
                        <m:nor/>
                      </m:rPr>
                      <a:rPr lang="es-ES" dirty="0" err="1"/>
                      <m:t>buena</m:t>
                    </m:r>
                    <m:r>
                      <m:rPr>
                        <m:nor/>
                      </m:rPr>
                      <a:rPr lang="es-ES" dirty="0"/>
                      <m:t> </m:t>
                    </m:r>
                    <m:r>
                      <m:rPr>
                        <m:nor/>
                      </m:rPr>
                      <a:rPr lang="es-ES" dirty="0" err="1"/>
                      <m:t>aproximaci</m:t>
                    </m:r>
                    <m:r>
                      <m:rPr>
                        <m:nor/>
                      </m:rPr>
                      <a:rPr lang="es-ES" dirty="0" err="1"/>
                      <m:t>ó</m:t>
                    </m:r>
                    <m:r>
                      <m:rPr>
                        <m:nor/>
                      </m:rPr>
                      <a:rPr lang="es-ES" dirty="0" err="1"/>
                      <m:t>n</m:t>
                    </m:r>
                    <m:r>
                      <m:rPr>
                        <m:nor/>
                      </m:rPr>
                      <a:rPr lang="es-ES" dirty="0"/>
                      <m:t> </m:t>
                    </m:r>
                    <m:r>
                      <m:rPr>
                        <m:nor/>
                      </m:rPr>
                      <a:rPr lang="es-ES" dirty="0"/>
                      <m:t>en</m:t>
                    </m:r>
                    <m:r>
                      <m:rPr>
                        <m:nor/>
                      </m:rPr>
                      <a:rPr lang="es-ES" dirty="0"/>
                      <m:t> </m:t>
                    </m:r>
                    <m:r>
                      <m:rPr>
                        <m:nor/>
                      </m:rPr>
                      <a:rPr lang="es-ES" dirty="0" err="1"/>
                      <m:t>este</m:t>
                    </m:r>
                    <m:r>
                      <m:rPr>
                        <m:nor/>
                      </m:rPr>
                      <a:rPr lang="es-ES" dirty="0"/>
                      <m:t> </m:t>
                    </m:r>
                    <m:r>
                      <m:rPr>
                        <m:nor/>
                      </m:rPr>
                      <a:rPr lang="es-ES" dirty="0" err="1"/>
                      <m:t>caso</m:t>
                    </m:r>
                  </m:oMath>
                </a14:m>
                <a:endParaRPr lang="es-ES" dirty="0"/>
              </a:p>
              <a:p>
                <a:pPr marL="457200" lvl="1" indent="0">
                  <a:buNone/>
                </a:pPr>
                <a:endParaRPr dirty="0"/>
              </a:p>
              <a:p>
                <a:pPr marL="914400" lvl="1" indent="-457200">
                  <a:buFont typeface="+mj-lt"/>
                  <a:buAutoNum type="alphaLcParenR"/>
                </a:pPr>
                <a:endParaRPr dirty="0"/>
              </a:p>
            </p:txBody>
          </p:sp>
        </mc:Choice>
        <mc:Fallback xmlns="">
          <p:sp>
            <p:nvSpPr>
              <p:cNvPr id="3" name="Marcador de contenido 2">
                <a:extLst>
                  <a:ext uri="{FF2B5EF4-FFF2-40B4-BE49-F238E27FC236}">
                    <a16:creationId xmlns:a16="http://schemas.microsoft.com/office/drawing/2014/main" id="{9A10EEE6-791F-7FD3-5C3A-577AB8A4067F}"/>
                  </a:ext>
                </a:extLst>
              </p:cNvPr>
              <p:cNvSpPr>
                <a:spLocks noGrp="1" noRot="1" noChangeAspect="1" noMove="1" noResize="1" noEditPoints="1" noAdjustHandles="1" noChangeArrowheads="1" noChangeShapeType="1" noTextEdit="1"/>
              </p:cNvSpPr>
              <p:nvPr>
                <p:ph idx="1"/>
              </p:nvPr>
            </p:nvSpPr>
            <p:spPr>
              <a:blipFill>
                <a:blip r:embed="rId2"/>
                <a:stretch>
                  <a:fillRect l="-1043" t="-2241" r="-58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8B32DBEA-A7C3-BB97-6B8D-83056208B354}"/>
              </a:ext>
            </a:extLst>
          </p:cNvPr>
          <p:cNvSpPr>
            <a:spLocks noGrp="1"/>
          </p:cNvSpPr>
          <p:nvPr>
            <p:ph type="sldNum" sz="quarter" idx="12"/>
          </p:nvPr>
        </p:nvSpPr>
        <p:spPr/>
        <p:txBody>
          <a:bodyPr/>
          <a:lstStyle/>
          <a:p>
            <a:fld id="{336CAFD0-1F6E-4E11-9822-836563A02839}" type="slidenum">
              <a:rPr lang="es-ES" smtClean="0"/>
              <a:t>83</a:t>
            </a:fld>
            <a:endParaRPr lang="es-ES"/>
          </a:p>
        </p:txBody>
      </p:sp>
    </p:spTree>
    <p:extLst>
      <p:ext uri="{BB962C8B-B14F-4D97-AF65-F5344CB8AC3E}">
        <p14:creationId xmlns:p14="http://schemas.microsoft.com/office/powerpoint/2010/main" val="30621472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97AFD-3573-3210-2A0D-73D7D00B2DA5}"/>
              </a:ext>
            </a:extLst>
          </p:cNvPr>
          <p:cNvSpPr>
            <a:spLocks noGrp="1"/>
          </p:cNvSpPr>
          <p:nvPr>
            <p:ph type="title"/>
          </p:nvPr>
        </p:nvSpPr>
        <p:spPr/>
        <p:txBody>
          <a:bodyPr>
            <a:normAutofit/>
          </a:bodyPr>
          <a:lstStyle/>
          <a:p>
            <a:r>
              <a:rPr lang="es-ES" dirty="0"/>
              <a:t>13</a:t>
            </a:r>
            <a:r>
              <a:rPr dirty="0"/>
              <a:t>. </a:t>
            </a:r>
            <a:r>
              <a:rPr dirty="0" err="1"/>
              <a:t>Distribución</a:t>
            </a:r>
            <a:r>
              <a:rPr dirty="0"/>
              <a:t> de Poisson</a:t>
            </a:r>
            <a:br>
              <a:rPr lang="es-ES" dirty="0"/>
            </a:br>
            <a:r>
              <a:rPr dirty="0" err="1"/>
              <a:t>Ejemplo</a:t>
            </a:r>
            <a:r>
              <a:rPr dirty="0"/>
              <a:t> 3.24 (</a:t>
            </a:r>
            <a:r>
              <a:rPr dirty="0" err="1"/>
              <a:t>Mensajes</a:t>
            </a:r>
            <a:r>
              <a:rPr dirty="0"/>
              <a:t> </a:t>
            </a:r>
            <a:r>
              <a:rPr dirty="0" err="1"/>
              <a:t>electrónicos</a:t>
            </a:r>
            <a:r>
              <a:rPr dirty="0"/>
              <a:t>)</a:t>
            </a:r>
          </a:p>
        </p:txBody>
      </p:sp>
      <p:sp>
        <p:nvSpPr>
          <p:cNvPr id="3" name="Marcador de contenido 2">
            <a:extLst>
              <a:ext uri="{FF2B5EF4-FFF2-40B4-BE49-F238E27FC236}">
                <a16:creationId xmlns:a16="http://schemas.microsoft.com/office/drawing/2014/main" id="{9A10EEE6-791F-7FD3-5C3A-577AB8A4067F}"/>
              </a:ext>
            </a:extLst>
          </p:cNvPr>
          <p:cNvSpPr>
            <a:spLocks noGrp="1"/>
          </p:cNvSpPr>
          <p:nvPr>
            <p:ph idx="1"/>
          </p:nvPr>
        </p:nvSpPr>
        <p:spPr/>
        <p:txBody>
          <a:bodyPr>
            <a:normAutofit/>
          </a:bodyPr>
          <a:lstStyle/>
          <a:p>
            <a:r>
              <a:t>El 97 % de los mensajes electrónicos se transmiten sin error.</a:t>
            </a:r>
          </a:p>
          <a:p>
            <a:r>
              <a:t>¿Cuál es la probabilidad de que de 200 mensajes, al menos 195 se transmitan correctamente?</a:t>
            </a:r>
          </a:p>
        </p:txBody>
      </p:sp>
      <p:sp>
        <p:nvSpPr>
          <p:cNvPr id="4" name="Marcador de número de diapositiva 3">
            <a:extLst>
              <a:ext uri="{FF2B5EF4-FFF2-40B4-BE49-F238E27FC236}">
                <a16:creationId xmlns:a16="http://schemas.microsoft.com/office/drawing/2014/main" id="{8B32DBEA-A7C3-BB97-6B8D-83056208B354}"/>
              </a:ext>
            </a:extLst>
          </p:cNvPr>
          <p:cNvSpPr>
            <a:spLocks noGrp="1"/>
          </p:cNvSpPr>
          <p:nvPr>
            <p:ph type="sldNum" sz="quarter" idx="12"/>
          </p:nvPr>
        </p:nvSpPr>
        <p:spPr/>
        <p:txBody>
          <a:bodyPr/>
          <a:lstStyle/>
          <a:p>
            <a:fld id="{336CAFD0-1F6E-4E11-9822-836563A02839}" type="slidenum">
              <a:rPr lang="es-ES" smtClean="0"/>
              <a:t>84</a:t>
            </a:fld>
            <a:endParaRPr lang="es-ES"/>
          </a:p>
        </p:txBody>
      </p:sp>
    </p:spTree>
    <p:extLst>
      <p:ext uri="{BB962C8B-B14F-4D97-AF65-F5344CB8AC3E}">
        <p14:creationId xmlns:p14="http://schemas.microsoft.com/office/powerpoint/2010/main" val="6581912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97AFD-3573-3210-2A0D-73D7D00B2DA5}"/>
              </a:ext>
            </a:extLst>
          </p:cNvPr>
          <p:cNvSpPr>
            <a:spLocks noGrp="1"/>
          </p:cNvSpPr>
          <p:nvPr>
            <p:ph type="title"/>
          </p:nvPr>
        </p:nvSpPr>
        <p:spPr/>
        <p:txBody>
          <a:bodyPr>
            <a:normAutofit/>
          </a:bodyPr>
          <a:lstStyle/>
          <a:p>
            <a:r>
              <a:rPr lang="es-ES" dirty="0"/>
              <a:t>13</a:t>
            </a:r>
            <a:r>
              <a:rPr dirty="0"/>
              <a:t>. </a:t>
            </a:r>
            <a:r>
              <a:rPr dirty="0" err="1"/>
              <a:t>Distribución</a:t>
            </a:r>
            <a:r>
              <a:rPr dirty="0"/>
              <a:t> de Poisson</a:t>
            </a:r>
            <a:br>
              <a:rPr lang="es-ES" dirty="0"/>
            </a:br>
            <a:r>
              <a:rPr dirty="0" err="1"/>
              <a:t>Ejemplo</a:t>
            </a:r>
            <a:r>
              <a:rPr dirty="0"/>
              <a:t> 3.24 (</a:t>
            </a:r>
            <a:r>
              <a:rPr dirty="0" err="1"/>
              <a:t>Solución</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A10EEE6-791F-7FD3-5C3A-577AB8A4067F}"/>
                  </a:ext>
                </a:extLst>
              </p:cNvPr>
              <p:cNvSpPr>
                <a:spLocks noGrp="1"/>
              </p:cNvSpPr>
              <p:nvPr>
                <p:ph idx="1"/>
              </p:nvPr>
            </p:nvSpPr>
            <p:spPr/>
            <p:txBody>
              <a:bodyPr>
                <a:normAutofit fontScale="85000" lnSpcReduction="20000"/>
              </a:bodyPr>
              <a:lstStyle/>
              <a:p>
                <a:r>
                  <a:rPr lang="es-ES" dirty="0"/>
                  <a:t>X: </a:t>
                </a:r>
                <a:r>
                  <a:rPr lang="es-ES" dirty="0" err="1"/>
                  <a:t>número</a:t>
                </a:r>
                <a:r>
                  <a:rPr lang="es-ES" dirty="0"/>
                  <a:t> de </a:t>
                </a:r>
                <a:r>
                  <a:rPr lang="es-ES" dirty="0" err="1"/>
                  <a:t>mensajes</a:t>
                </a:r>
                <a:r>
                  <a:rPr lang="es-ES" dirty="0"/>
                  <a:t> </a:t>
                </a:r>
                <a:r>
                  <a:rPr lang="es-ES" dirty="0" err="1"/>
                  <a:t>transmitidos</a:t>
                </a:r>
                <a:r>
                  <a:rPr lang="es-ES" dirty="0"/>
                  <a:t> </a:t>
                </a:r>
                <a:r>
                  <a:rPr lang="es-ES" dirty="0" err="1"/>
                  <a:t>correctamente</a:t>
                </a:r>
                <a:r>
                  <a:rPr lang="es-ES" dirty="0"/>
                  <a:t>. </a:t>
                </a:r>
              </a:p>
              <a:p>
                <a:r>
                  <a:rPr lang="es-ES" dirty="0"/>
                  <a:t>X es Binomial con </a:t>
                </a: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 = </m:t>
                    </m:r>
                    <m:r>
                      <a:rPr lang="es-ES" i="1" dirty="0" smtClean="0">
                        <a:latin typeface="Cambria Math" panose="02040503050406030204" pitchFamily="18" charset="0"/>
                      </a:rPr>
                      <m:t>200</m:t>
                    </m:r>
                    <m:r>
                      <a:rPr lang="es-ES" i="1" dirty="0" smtClean="0">
                        <a:latin typeface="Cambria Math" panose="02040503050406030204" pitchFamily="18" charset="0"/>
                      </a:rPr>
                      <m:t> </m:t>
                    </m:r>
                  </m:oMath>
                </a14:m>
                <a:r>
                  <a:rPr lang="es-ES" dirty="0"/>
                  <a:t>y </a:t>
                </a:r>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97</m:t>
                    </m:r>
                  </m:oMath>
                </a14:m>
                <a:endParaRPr lang="es-ES" dirty="0"/>
              </a:p>
              <a:p>
                <a:r>
                  <a:rPr lang="es-ES" dirty="0"/>
                  <a:t>La </a:t>
                </a:r>
                <a:r>
                  <a:rPr lang="es-ES" dirty="0" err="1"/>
                  <a:t>aproximación</a:t>
                </a:r>
                <a:r>
                  <a:rPr lang="es-ES" dirty="0"/>
                  <a:t> de Poisson no se </a:t>
                </a:r>
                <a:r>
                  <a:rPr lang="es-ES" dirty="0" err="1"/>
                  <a:t>puede</a:t>
                </a:r>
                <a:r>
                  <a:rPr lang="es-ES" dirty="0"/>
                  <a:t> </a:t>
                </a:r>
                <a:r>
                  <a:rPr lang="es-ES" dirty="0" err="1"/>
                  <a:t>aplicar</a:t>
                </a:r>
                <a:r>
                  <a:rPr lang="es-ES" dirty="0"/>
                  <a:t> a X </a:t>
                </a:r>
                <a:r>
                  <a:rPr lang="es-ES" dirty="0" err="1"/>
                  <a:t>porque</a:t>
                </a:r>
                <a:r>
                  <a:rPr lang="es-ES" dirty="0"/>
                  <a:t> </a:t>
                </a:r>
                <a14:m>
                  <m:oMath xmlns:m="http://schemas.openxmlformats.org/officeDocument/2006/math">
                    <m:r>
                      <a:rPr lang="es-ES" i="1" dirty="0" smtClean="0">
                        <a:latin typeface="Cambria Math" panose="02040503050406030204" pitchFamily="18" charset="0"/>
                      </a:rPr>
                      <m:t>𝑝</m:t>
                    </m:r>
                  </m:oMath>
                </a14:m>
                <a:r>
                  <a:rPr lang="es-ES" dirty="0"/>
                  <a:t> es </a:t>
                </a:r>
                <a:r>
                  <a:rPr lang="es-ES" dirty="0" err="1"/>
                  <a:t>demasiado</a:t>
                </a:r>
                <a:r>
                  <a:rPr lang="es-ES" dirty="0"/>
                  <a:t> </a:t>
                </a:r>
                <a:r>
                  <a:rPr lang="es-ES" dirty="0" err="1"/>
                  <a:t>grande</a:t>
                </a:r>
                <a:r>
                  <a:rPr lang="es-ES" dirty="0"/>
                  <a:t> </a:t>
                </a:r>
                <a14:m>
                  <m:oMath xmlns:m="http://schemas.openxmlformats.org/officeDocument/2006/math">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&gt; </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05</m:t>
                    </m:r>
                    <m:r>
                      <a:rPr lang="es-ES" i="1" dirty="0" smtClean="0">
                        <a:latin typeface="Cambria Math" panose="02040503050406030204" pitchFamily="18" charset="0"/>
                      </a:rPr>
                      <m:t>)</m:t>
                    </m:r>
                  </m:oMath>
                </a14:m>
                <a:endParaRPr lang="es-ES" dirty="0"/>
              </a:p>
              <a:p>
                <a14:m>
                  <m:oMath xmlns:m="http://schemas.openxmlformats.org/officeDocument/2006/math">
                    <m:r>
                      <a:rPr lang="es-ES"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195</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begChr m:val="{"/>
                        <m:endChr m:val="}"/>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194</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sSub>
                      <m:sSubPr>
                        <m:ctrlPr>
                          <a:rPr lang="ar-AE" b="0" i="1" smtClean="0">
                            <a:latin typeface="Cambria Math" panose="02040503050406030204" pitchFamily="18" charset="0"/>
                            <a:ea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𝐹</m:t>
                        </m:r>
                      </m:e>
                      <m:sub>
                        <m:r>
                          <a:rPr lang="ar-AE" b="0" i="1" smtClean="0">
                            <a:latin typeface="Cambria Math" panose="02040503050406030204" pitchFamily="18" charset="0"/>
                            <a:ea typeface="Cambria Math" panose="02040503050406030204" pitchFamily="18" charset="0"/>
                          </a:rPr>
                          <m:t>𝑋</m:t>
                        </m:r>
                      </m:sub>
                    </m:sSub>
                    <m:d>
                      <m:dPr>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194</m:t>
                        </m:r>
                      </m:e>
                    </m:d>
                  </m:oMath>
                </a14:m>
                <a:endParaRPr lang="ar-AE" b="0" dirty="0">
                  <a:ea typeface="Cambria Math" panose="02040503050406030204" pitchFamily="18" charset="0"/>
                </a:endParaRPr>
              </a:p>
              <a:p>
                <a:pPr lvl="1"/>
                <a:r>
                  <a:rPr lang="es-ES" dirty="0"/>
                  <a:t>No es posible utilizar la Tabla A2</a:t>
                </a:r>
              </a:p>
              <a:p>
                <a:r>
                  <a:rPr lang="es-ES" dirty="0" err="1"/>
                  <a:t>Opción</a:t>
                </a:r>
                <a:r>
                  <a:rPr lang="es-ES" dirty="0"/>
                  <a:t> </a:t>
                </a:r>
                <a:r>
                  <a:rPr lang="es-ES" dirty="0" err="1"/>
                  <a:t>alternativa</a:t>
                </a:r>
                <a:r>
                  <a:rPr lang="es-ES" dirty="0"/>
                  <a:t>: </a:t>
                </a:r>
                <a:r>
                  <a:rPr lang="es-ES" dirty="0" err="1"/>
                  <a:t>Transformación</a:t>
                </a:r>
                <a:r>
                  <a:rPr lang="es-ES" dirty="0"/>
                  <a:t> de la variable aleatoria</a:t>
                </a:r>
              </a:p>
              <a:p>
                <a:pPr lvl="1"/>
                <a:r>
                  <a:rPr lang="es-ES" dirty="0"/>
                  <a:t>Y: </a:t>
                </a:r>
                <a:r>
                  <a:rPr lang="es-ES" dirty="0" err="1"/>
                  <a:t>número</a:t>
                </a:r>
                <a:r>
                  <a:rPr lang="es-ES" dirty="0"/>
                  <a:t> de </a:t>
                </a:r>
                <a:r>
                  <a:rPr lang="es-ES" dirty="0" err="1"/>
                  <a:t>mensajes</a:t>
                </a:r>
                <a:r>
                  <a:rPr lang="es-ES" dirty="0"/>
                  <a:t> </a:t>
                </a:r>
                <a:r>
                  <a:rPr lang="es-ES" dirty="0" err="1"/>
                  <a:t>transmitidos</a:t>
                </a:r>
                <a:r>
                  <a:rPr lang="es-ES" dirty="0"/>
                  <a:t> </a:t>
                </a:r>
                <a:r>
                  <a:rPr lang="es-ES" dirty="0" err="1"/>
                  <a:t>incorrectamente</a:t>
                </a:r>
                <a:endParaRPr lang="es-ES" dirty="0"/>
              </a:p>
              <a:p>
                <a:pPr lvl="1"/>
                <a:r>
                  <a:rPr lang="es-ES" dirty="0"/>
                  <a:t>Y es Binomial, con </a:t>
                </a: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 = </m:t>
                    </m:r>
                    <m:r>
                      <a:rPr lang="es-ES" i="1" dirty="0" smtClean="0">
                        <a:latin typeface="Cambria Math" panose="02040503050406030204" pitchFamily="18" charset="0"/>
                      </a:rPr>
                      <m:t>200</m:t>
                    </m:r>
                    <m:r>
                      <a:rPr lang="es-ES" i="1" dirty="0" smtClean="0">
                        <a:latin typeface="Cambria Math" panose="02040503050406030204" pitchFamily="18" charset="0"/>
                      </a:rPr>
                      <m:t> </m:t>
                    </m:r>
                  </m:oMath>
                </a14:m>
                <a:r>
                  <a:rPr lang="es-ES" dirty="0"/>
                  <a:t>y </a:t>
                </a:r>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b="0" i="1" dirty="0" smtClean="0">
                        <a:latin typeface="Cambria Math" panose="02040503050406030204" pitchFamily="18" charset="0"/>
                      </a:rPr>
                      <m:t>.</m:t>
                    </m:r>
                    <m:r>
                      <a:rPr lang="es-ES" i="1" dirty="0" smtClean="0">
                        <a:latin typeface="Cambria Math" panose="02040503050406030204" pitchFamily="18" charset="0"/>
                      </a:rPr>
                      <m:t>03</m:t>
                    </m:r>
                  </m:oMath>
                </a14:m>
                <a:endParaRPr lang="es-ES" dirty="0"/>
              </a:p>
              <a:p>
                <a:pPr lvl="1"/>
                <a:r>
                  <a:rPr lang="es-ES" dirty="0"/>
                  <a:t>La aproximación de Poisson se puede aplicar a Y porque </a:t>
                </a:r>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05</m:t>
                    </m:r>
                    <m:r>
                      <a:rPr lang="es-ES" i="1" dirty="0" smtClean="0">
                        <a:latin typeface="Cambria Math" panose="02040503050406030204" pitchFamily="18" charset="0"/>
                      </a:rPr>
                      <m:t> </m:t>
                    </m:r>
                  </m:oMath>
                </a14:m>
                <a:r>
                  <a:rPr lang="es-ES" dirty="0"/>
                  <a:t>y </a:t>
                </a: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 </m:t>
                    </m:r>
                    <m:r>
                      <a:rPr lang="es-ES" i="1" dirty="0" smtClean="0">
                        <a:latin typeface="Cambria Math" panose="02040503050406030204" pitchFamily="18" charset="0"/>
                      </a:rPr>
                      <m:t>30</m:t>
                    </m:r>
                  </m:oMath>
                </a14:m>
                <a:r>
                  <a:rPr lang="es-ES" dirty="0"/>
                  <a:t>, por lo que es aproximadamente Poisson con </a:t>
                </a:r>
                <a14:m>
                  <m:oMath xmlns:m="http://schemas.openxmlformats.org/officeDocument/2006/math">
                    <m:r>
                      <a:rPr lang="es-ES" i="1" dirty="0" smtClean="0">
                        <a:latin typeface="Cambria Math" panose="02040503050406030204" pitchFamily="18" charset="0"/>
                      </a:rPr>
                      <m:t>𝜆</m:t>
                    </m:r>
                    <m:r>
                      <a:rPr lang="es-ES" i="1" dirty="0" smtClean="0">
                        <a:latin typeface="Cambria Math" panose="02040503050406030204" pitchFamily="18" charset="0"/>
                      </a:rPr>
                      <m:t> = </m:t>
                    </m:r>
                    <m:r>
                      <a:rPr lang="es-ES" i="1" dirty="0">
                        <a:latin typeface="Cambria Math" panose="02040503050406030204" pitchFamily="18" charset="0"/>
                      </a:rPr>
                      <m:t>𝑛𝑝</m:t>
                    </m:r>
                    <m:r>
                      <a:rPr lang="es-ES" i="1" dirty="0">
                        <a:latin typeface="Cambria Math" panose="02040503050406030204" pitchFamily="18" charset="0"/>
                      </a:rPr>
                      <m:t> = (</m:t>
                    </m:r>
                    <m:r>
                      <a:rPr lang="es-ES" i="1" dirty="0">
                        <a:latin typeface="Cambria Math" panose="02040503050406030204" pitchFamily="18" charset="0"/>
                      </a:rPr>
                      <m:t>200</m:t>
                    </m:r>
                    <m:r>
                      <a:rPr lang="es-ES" i="1" dirty="0">
                        <a:latin typeface="Cambria Math" panose="02040503050406030204" pitchFamily="18" charset="0"/>
                      </a:rPr>
                      <m:t>)(</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03</m:t>
                    </m:r>
                    <m:r>
                      <a:rPr lang="es-ES" i="1" dirty="0">
                        <a:latin typeface="Cambria Math" panose="02040503050406030204" pitchFamily="18" charset="0"/>
                      </a:rPr>
                      <m:t>)=</m:t>
                    </m:r>
                    <m:r>
                      <a:rPr lang="es-ES" i="1" dirty="0">
                        <a:latin typeface="Cambria Math" panose="02040503050406030204" pitchFamily="18" charset="0"/>
                      </a:rPr>
                      <m:t>6</m:t>
                    </m:r>
                  </m:oMath>
                </a14:m>
                <a:endParaRPr lang="es-ES" dirty="0"/>
              </a:p>
              <a:p>
                <a:pPr lvl="1"/>
                <a14:m>
                  <m:oMath xmlns:m="http://schemas.openxmlformats.org/officeDocument/2006/math">
                    <m:r>
                      <a:rPr lang="es-ES"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195</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begChr m:val="{"/>
                        <m:endChr m:val="}"/>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𝑌</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5</m:t>
                        </m:r>
                      </m:e>
                    </m:d>
                    <m:r>
                      <a:rPr lang="ar-AE" b="0" i="1" smtClean="0">
                        <a:latin typeface="Cambria Math" panose="02040503050406030204" pitchFamily="18" charset="0"/>
                        <a:ea typeface="Cambria Math" panose="02040503050406030204" pitchFamily="18" charset="0"/>
                      </a:rPr>
                      <m:t>=</m:t>
                    </m:r>
                    <m:sSub>
                      <m:sSubPr>
                        <m:ctrlPr>
                          <a:rPr lang="ar-AE" b="0" i="1" smtClean="0">
                            <a:latin typeface="Cambria Math" panose="02040503050406030204" pitchFamily="18" charset="0"/>
                            <a:ea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𝐹</m:t>
                        </m:r>
                      </m:e>
                      <m:sub>
                        <m:r>
                          <a:rPr lang="ar-AE" b="0" i="1" smtClean="0">
                            <a:latin typeface="Cambria Math" panose="02040503050406030204" pitchFamily="18" charset="0"/>
                            <a:ea typeface="Cambria Math" panose="02040503050406030204" pitchFamily="18" charset="0"/>
                          </a:rPr>
                          <m:t>𝑌</m:t>
                        </m:r>
                      </m:sub>
                    </m:sSub>
                    <m:d>
                      <m:dPr>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5</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446</m:t>
                    </m:r>
                  </m:oMath>
                </a14:m>
                <a:r>
                  <a:rPr lang="ar-AE" i="1" dirty="0"/>
                  <a:t> </a:t>
                </a:r>
              </a:p>
              <a:p>
                <a:pPr lvl="2"/>
                <a:r>
                  <a:rPr lang="es-ES" dirty="0"/>
                  <a:t>Se puede obtener usando la Tabla A3</a:t>
                </a:r>
              </a:p>
            </p:txBody>
          </p:sp>
        </mc:Choice>
        <mc:Fallback xmlns="">
          <p:sp>
            <p:nvSpPr>
              <p:cNvPr id="3" name="Marcador de contenido 2">
                <a:extLst>
                  <a:ext uri="{FF2B5EF4-FFF2-40B4-BE49-F238E27FC236}">
                    <a16:creationId xmlns:a16="http://schemas.microsoft.com/office/drawing/2014/main" id="{9A10EEE6-791F-7FD3-5C3A-577AB8A4067F}"/>
                  </a:ext>
                </a:extLst>
              </p:cNvPr>
              <p:cNvSpPr>
                <a:spLocks noGrp="1" noRot="1" noChangeAspect="1" noMove="1" noResize="1" noEditPoints="1" noAdjustHandles="1" noChangeArrowheads="1" noChangeShapeType="1" noTextEdit="1"/>
              </p:cNvSpPr>
              <p:nvPr>
                <p:ph idx="1"/>
              </p:nvPr>
            </p:nvSpPr>
            <p:spPr>
              <a:blipFill>
                <a:blip r:embed="rId2"/>
                <a:stretch>
                  <a:fillRect l="-812" t="-322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8B32DBEA-A7C3-BB97-6B8D-83056208B354}"/>
              </a:ext>
            </a:extLst>
          </p:cNvPr>
          <p:cNvSpPr>
            <a:spLocks noGrp="1"/>
          </p:cNvSpPr>
          <p:nvPr>
            <p:ph type="sldNum" sz="quarter" idx="12"/>
          </p:nvPr>
        </p:nvSpPr>
        <p:spPr/>
        <p:txBody>
          <a:bodyPr/>
          <a:lstStyle/>
          <a:p>
            <a:fld id="{336CAFD0-1F6E-4E11-9822-836563A02839}" type="slidenum">
              <a:rPr lang="es-ES" smtClean="0"/>
              <a:t>85</a:t>
            </a:fld>
            <a:endParaRPr lang="es-ES"/>
          </a:p>
        </p:txBody>
      </p:sp>
    </p:spTree>
    <p:extLst>
      <p:ext uri="{BB962C8B-B14F-4D97-AF65-F5344CB8AC3E}">
        <p14:creationId xmlns:p14="http://schemas.microsoft.com/office/powerpoint/2010/main" val="237375175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13</a:t>
            </a:r>
            <a:r>
              <a:rPr dirty="0"/>
              <a:t>. </a:t>
            </a:r>
            <a:r>
              <a:rPr dirty="0" err="1"/>
              <a:t>Distribución</a:t>
            </a:r>
            <a:r>
              <a:rPr dirty="0"/>
              <a:t> de Poisson</a:t>
            </a:r>
            <a:br>
              <a:rPr lang="es-ES" dirty="0"/>
            </a:br>
            <a:r>
              <a:rPr dirty="0" err="1"/>
              <a:t>Ejercicios</a:t>
            </a:r>
            <a:r>
              <a:rPr dirty="0"/>
              <a:t> </a:t>
            </a:r>
            <a:r>
              <a:rPr dirty="0" err="1"/>
              <a:t>propuestos</a:t>
            </a:r>
            <a:endParaRPr dirty="0"/>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r>
              <a:rPr dirty="0" err="1"/>
              <a:t>Ejercicios</a:t>
            </a:r>
            <a:r>
              <a:rPr dirty="0"/>
              <a:t> 3.27</a:t>
            </a:r>
            <a:r>
              <a:rPr lang="es-ES" dirty="0"/>
              <a:t>, </a:t>
            </a:r>
            <a:r>
              <a:rPr dirty="0"/>
              <a:t>3.32 a 3.3</a:t>
            </a:r>
            <a:r>
              <a:rPr lang="es-ES" dirty="0"/>
              <a:t>4</a:t>
            </a:r>
            <a:r>
              <a:rPr dirty="0"/>
              <a:t>, y 3.37 del </a:t>
            </a:r>
            <a:r>
              <a:rPr dirty="0" err="1"/>
              <a:t>libro</a:t>
            </a:r>
            <a:endParaRPr dirty="0"/>
          </a:p>
          <a:p>
            <a:pPr lvl="1"/>
            <a:r>
              <a:rPr dirty="0"/>
              <a:t>Las </a:t>
            </a:r>
            <a:r>
              <a:rPr dirty="0" err="1"/>
              <a:t>respuestas</a:t>
            </a:r>
            <a:r>
              <a:rPr dirty="0"/>
              <a:t> de 3.27, 3.32 y 3.37 </a:t>
            </a:r>
            <a:r>
              <a:rPr dirty="0" err="1"/>
              <a:t>están</a:t>
            </a:r>
            <a:r>
              <a:rPr dirty="0"/>
              <a:t> </a:t>
            </a:r>
            <a:r>
              <a:rPr dirty="0" err="1"/>
              <a:t>disponibles</a:t>
            </a:r>
            <a:r>
              <a:rPr dirty="0"/>
              <a:t> en </a:t>
            </a:r>
            <a:r>
              <a:rPr lang="es-ES" dirty="0"/>
              <a:t>el libro</a:t>
            </a:r>
            <a:r>
              <a:rPr dirty="0"/>
              <a:t>.</a:t>
            </a:r>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86</a:t>
            </a:fld>
            <a:endParaRPr lang="es-ES"/>
          </a:p>
        </p:txBody>
      </p:sp>
    </p:spTree>
    <p:extLst>
      <p:ext uri="{BB962C8B-B14F-4D97-AF65-F5344CB8AC3E}">
        <p14:creationId xmlns:p14="http://schemas.microsoft.com/office/powerpoint/2010/main" val="32891482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C31602-0173-86DB-1B87-31E0298D1528}"/>
              </a:ext>
            </a:extLst>
          </p:cNvPr>
          <p:cNvSpPr>
            <a:spLocks noGrp="1"/>
          </p:cNvSpPr>
          <p:nvPr>
            <p:ph type="title"/>
          </p:nvPr>
        </p:nvSpPr>
        <p:spPr/>
        <p:txBody>
          <a:bodyPr/>
          <a:lstStyle/>
          <a:p>
            <a:r>
              <a:rPr lang="es-ES" dirty="0"/>
              <a:t>14</a:t>
            </a:r>
            <a:r>
              <a:rPr dirty="0"/>
              <a:t>. </a:t>
            </a:r>
            <a:r>
              <a:rPr dirty="0" err="1"/>
              <a:t>Resumen</a:t>
            </a:r>
            <a:endParaRPr dirty="0"/>
          </a:p>
        </p:txBody>
      </p:sp>
      <p:sp>
        <p:nvSpPr>
          <p:cNvPr id="3" name="Marcador de contenido 2">
            <a:extLst>
              <a:ext uri="{FF2B5EF4-FFF2-40B4-BE49-F238E27FC236}">
                <a16:creationId xmlns:a16="http://schemas.microsoft.com/office/drawing/2014/main" id="{C7C24067-56F0-60D2-7DCF-60718F0077D8}"/>
              </a:ext>
            </a:extLst>
          </p:cNvPr>
          <p:cNvSpPr>
            <a:spLocks noGrp="1"/>
          </p:cNvSpPr>
          <p:nvPr>
            <p:ph idx="1"/>
          </p:nvPr>
        </p:nvSpPr>
        <p:spPr>
          <a:xfrm>
            <a:off x="838200" y="1825624"/>
            <a:ext cx="10515600" cy="4895851"/>
          </a:xfrm>
        </p:spPr>
        <p:txBody>
          <a:bodyPr>
            <a:normAutofit fontScale="77500" lnSpcReduction="2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Las variables aleatorias discretas pueden tomar un número finito o contable de valores aislados con diferentes probabilidades</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colección de todas estas probabilidades es una distribución de probabilidad, que describe el comportamiento de una variable aleatoria</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El valor promedio de una variable aleatoria es su esperanza</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variabilidad en torno a la esperanza se mide por la varianza y la desviación estándar</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Con la desigualdad de </a:t>
            </a:r>
            <a:r>
              <a:rPr lang="es-ES" sz="2800" b="0" strike="noStrike" spc="-1" dirty="0" err="1">
                <a:solidFill>
                  <a:srgbClr val="000000"/>
                </a:solidFill>
                <a:latin typeface="Calibri"/>
              </a:rPr>
              <a:t>Chebyshev</a:t>
            </a:r>
            <a:r>
              <a:rPr lang="es-ES" sz="2800" b="0" strike="noStrike" spc="-1" dirty="0">
                <a:solidFill>
                  <a:srgbClr val="000000"/>
                </a:solidFill>
                <a:latin typeface="Calibri"/>
              </a:rPr>
              <a:t> se puede calcular el límite de la probabilidad de que una variable aleatoria se aleje de su valor medio o esperanza</a:t>
            </a:r>
          </a:p>
          <a:p>
            <a:pPr>
              <a:spcBef>
                <a:spcPts val="1001"/>
              </a:spcBef>
              <a:buClr>
                <a:srgbClr val="000000"/>
              </a:buClr>
              <a:buFont typeface="Arial"/>
              <a:buChar char="•"/>
            </a:pPr>
            <a:r>
              <a:rPr lang="es-ES" spc="-1" dirty="0">
                <a:solidFill>
                  <a:srgbClr val="000000"/>
                </a:solidFill>
              </a:rPr>
              <a:t>Los vectores aleatorios son conjuntos de variables aleatorias, y su comportamiento se describe por la distribución conjunta</a:t>
            </a:r>
          </a:p>
          <a:p>
            <a:r>
              <a:rPr lang="es-ES" dirty="0"/>
              <a:t>Las variables aleatorias discretas más utilizadas son las que tienen una distribución de probabilidad de Bernoulli, Binomial, Geométrica, Binomial Negativa, Hipergeométrica o Poisson </a:t>
            </a:r>
          </a:p>
          <a:p>
            <a:r>
              <a:rPr lang="es-ES" dirty="0"/>
              <a:t>Cada distribución se utiliza para un determinado tipo de situaciones, tiene sus parámetros y una fórmula clara o una tabla de probabilidades</a:t>
            </a:r>
          </a:p>
          <a:p>
            <a:r>
              <a:rPr lang="es-ES" dirty="0"/>
              <a:t>Las variables aleatorias se pueden transformar para facilitar el cálculo de probabilidades</a:t>
            </a:r>
          </a:p>
        </p:txBody>
      </p:sp>
      <p:sp>
        <p:nvSpPr>
          <p:cNvPr id="4" name="Marcador de número de diapositiva 3">
            <a:extLst>
              <a:ext uri="{FF2B5EF4-FFF2-40B4-BE49-F238E27FC236}">
                <a16:creationId xmlns:a16="http://schemas.microsoft.com/office/drawing/2014/main" id="{F88EA456-A29C-8A97-B441-9F7D407B7C25}"/>
              </a:ext>
            </a:extLst>
          </p:cNvPr>
          <p:cNvSpPr>
            <a:spLocks noGrp="1"/>
          </p:cNvSpPr>
          <p:nvPr>
            <p:ph type="sldNum" sz="quarter" idx="12"/>
          </p:nvPr>
        </p:nvSpPr>
        <p:spPr/>
        <p:txBody>
          <a:bodyPr/>
          <a:lstStyle/>
          <a:p>
            <a:fld id="{336CAFD0-1F6E-4E11-9822-836563A02839}" type="slidenum">
              <a:rPr lang="es-ES" smtClean="0"/>
              <a:t>87</a:t>
            </a:fld>
            <a:endParaRPr lang="es-ES"/>
          </a:p>
        </p:txBody>
      </p:sp>
    </p:spTree>
    <p:extLst>
      <p:ext uri="{BB962C8B-B14F-4D97-AF65-F5344CB8AC3E}">
        <p14:creationId xmlns:p14="http://schemas.microsoft.com/office/powerpoint/2010/main" val="2747003370"/>
      </p:ext>
    </p:extLst>
  </p:cSld>
  <p:clrMapOvr>
    <a:masterClrMapping/>
  </p:clrMapOvr>
</p:sld>
</file>

<file path=ppt/theme/theme1.xml><?xml version="1.0" encoding="utf-8"?>
<a:theme xmlns:a="http://schemas.openxmlformats.org/drawingml/2006/main" name="Tema de Office">
  <a:themeElements>
    <a:clrScheme name="Personalizado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6816</TotalTime>
  <Words>8738</Words>
  <Application>Microsoft Office PowerPoint</Application>
  <PresentationFormat>Panorámica</PresentationFormat>
  <Paragraphs>921</Paragraphs>
  <Slides>87</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87</vt:i4>
      </vt:variant>
    </vt:vector>
  </HeadingPairs>
  <TitlesOfParts>
    <vt:vector size="93" baseType="lpstr">
      <vt:lpstr>Arial</vt:lpstr>
      <vt:lpstr>Calibri</vt:lpstr>
      <vt:lpstr>Calibri Light</vt:lpstr>
      <vt:lpstr>Cambria Math</vt:lpstr>
      <vt:lpstr>Wingdings</vt:lpstr>
      <vt:lpstr>Tema de Office</vt:lpstr>
      <vt:lpstr>Variables aleatorias discretas y sus distribuciones de probabilidad</vt:lpstr>
      <vt:lpstr>Contenidos</vt:lpstr>
      <vt:lpstr>1. Objetivos</vt:lpstr>
      <vt:lpstr>2. Conceptos previos Espacio muestral y suceso</vt:lpstr>
      <vt:lpstr>3. Definición de variable aleatoria</vt:lpstr>
      <vt:lpstr>3. Definición de variable aleatoria Tipos de variables aleatorias (Discretas)</vt:lpstr>
      <vt:lpstr>3. Definición de variable aleatoria Tipos de variables aleatorias (Continuas)</vt:lpstr>
      <vt:lpstr>4. Distribución de probabilidad de una variable aleatoria discreta</vt:lpstr>
      <vt:lpstr>4. Distribución de probabilidad de una variable aleatoria discreta (pmf y cdf)</vt:lpstr>
      <vt:lpstr>4. Distribución de una variable aleatoria discreta Ejemplo 3.1 (Tirar 3 monedas)</vt:lpstr>
      <vt:lpstr>4. Distribución de una variable aleatoria discreta Propiedades</vt:lpstr>
      <vt:lpstr>4. Distribución de una variable aleatoria discreta Propiedades (intervalos) (I)</vt:lpstr>
      <vt:lpstr>4. Distribución de una variable aleatoria discreta Propiedades (intervalos) (II)</vt:lpstr>
      <vt:lpstr>4. Distribución de una variable aleatoria discreta Ejemplo 3.3 (Errores en un programa)</vt:lpstr>
      <vt:lpstr>4. Distribución de una variable aleatoria discreta Ejemplo 3.3 (Solución) (I)</vt:lpstr>
      <vt:lpstr>4. Distribución de una variable aleatoria discreta Ejemplo 3.3 (Solución) (II)</vt:lpstr>
      <vt:lpstr>4. Distribución de una variable aleatoria discreta Ejemplo 3.3 (Solución) (III)</vt:lpstr>
      <vt:lpstr>5. Características de una variable aleatoria</vt:lpstr>
      <vt:lpstr>5. Características de una variable aleatoria Esperanza</vt:lpstr>
      <vt:lpstr>5. Características de una variable aleatoria Esperanza. Ejemplo 3.1 (Tres monedas)</vt:lpstr>
      <vt:lpstr>5. Características de una variable aleatoria Esperanza de una función</vt:lpstr>
      <vt:lpstr>5. Características de una variable aleatoria Varianza</vt:lpstr>
      <vt:lpstr>5. Características de una variable aleatoria Varianza. Ejemplo 3.10 (correo electrónico)</vt:lpstr>
      <vt:lpstr>5. Características de una variable aleatoria Varianza. Ejemplo 3.10 (solución)</vt:lpstr>
      <vt:lpstr>5. Características de una variable aleatoria Desviación estándar</vt:lpstr>
      <vt:lpstr>5. Características de una variable aleatoria Desviación estándar. Ejemplo 3.10</vt:lpstr>
      <vt:lpstr>5. Características de una variable aleatoria La desigualdad de Chebyshev</vt:lpstr>
      <vt:lpstr>5. Características de una variable aleatoria La desigualdad de Chebyshev. Ejemplo 3.12</vt:lpstr>
      <vt:lpstr>5. Características de una variable aleatoria Ejercicios propuestos</vt:lpstr>
      <vt:lpstr>6. Distribución de un vector aleatorio discreto</vt:lpstr>
      <vt:lpstr>6. Distribución de un vector aleatorio discreto  Regla de adición</vt:lpstr>
      <vt:lpstr>6. Distribución de un vector aleatorio discreto Independencia de variables aleatorias</vt:lpstr>
      <vt:lpstr>6. Distribución de un vector aleatorio discreto Ejemplo 3.6 (Errores en un programa)</vt:lpstr>
      <vt:lpstr>6. Distribución de un vector aleatorio discreto Ejemplo 3.6 (Solución) (I)</vt:lpstr>
      <vt:lpstr>6. Distribución de un vector aleatorio discreto Ejemplo 3.6 (Solución) (II)</vt:lpstr>
      <vt:lpstr>6. Distribución de un vector aleatorio discreto Ejemplo 3.6 (Solución) (III)</vt:lpstr>
      <vt:lpstr>6. Distribución de un vector aleatorio discreto Ejercicios propuestos</vt:lpstr>
      <vt:lpstr>7. Esperanza de funciones de más de una variable</vt:lpstr>
      <vt:lpstr>7. Esperanza de funciones de más de una variable Ejemplo 3.9 (Errores en un programa)</vt:lpstr>
      <vt:lpstr>7. Esperanza de funciones de más de una variable Ejemplo 3.9 (Solución)</vt:lpstr>
      <vt:lpstr>7. Esperanza de funciones de más de una variable. Ejercicios propuestos</vt:lpstr>
      <vt:lpstr>8. Distribución de Bernoulli</vt:lpstr>
      <vt:lpstr>8. Distribución de Bernoulli Resumen</vt:lpstr>
      <vt:lpstr>8. Distribución de Bernoulli Ejemplo (Lanzar un dado)</vt:lpstr>
      <vt:lpstr>9. Distribución Binomial</vt:lpstr>
      <vt:lpstr>9. Distribución Binomial Resumen</vt:lpstr>
      <vt:lpstr>9. Distribución Binomial Función de probabilidad para diferentes n y p</vt:lpstr>
      <vt:lpstr>9. Distribución Binomial Ejemplo (Lanzar un dado)</vt:lpstr>
      <vt:lpstr>9. Distribución Binomial Ejemplo 3.16 (Suscripción de conexión a Internet)</vt:lpstr>
      <vt:lpstr>9. Distribución Binomial Ejemplo 3.16 (Solución)</vt:lpstr>
      <vt:lpstr>9. Distribución Binomial Ejemplo 3.16 (Solución) Utilizando la tabla A2</vt:lpstr>
      <vt:lpstr>9. Distribución Binomial Ejemplo 3.16 (Solución) Interpretación gráfica</vt:lpstr>
      <vt:lpstr>9. Distribución Binomial Ejemplo 3.17 (Videojuego)</vt:lpstr>
      <vt:lpstr>9. Distribución Binomial Ejemplo 3.17 (Solución)</vt:lpstr>
      <vt:lpstr>9. Distribución Binomial Ejemplo 3.17 (Solución) Interpretación gráfica</vt:lpstr>
      <vt:lpstr>9. Distribución Binomial Ejercicios propuestos</vt:lpstr>
      <vt:lpstr>10. Distribución Geométrica</vt:lpstr>
      <vt:lpstr>10. Distribución Geométrica Resumen</vt:lpstr>
      <vt:lpstr>10. Distribución Geométrica Ejemplo (Dado)</vt:lpstr>
      <vt:lpstr>10. Distribución Geométrica Ejercicios propuestos</vt:lpstr>
      <vt:lpstr>11. Distribución Binomial negativa</vt:lpstr>
      <vt:lpstr>11. Distribución Binomial negativa Resumen</vt:lpstr>
      <vt:lpstr>11. Distribución Binomial negativa Ejemplo (Dado)</vt:lpstr>
      <vt:lpstr>11. Distribución Binomial negativa Ejemplo 3.21 (Ensayos secuenciales)</vt:lpstr>
      <vt:lpstr>11. Distribución Binomial negativa Ejemplo 3.21 (Solución)</vt:lpstr>
      <vt:lpstr>11. Distribución Binomial negativa Ejemplo 3.21 (Solución) Interpretación gráfica</vt:lpstr>
      <vt:lpstr>11. Distribución Binomial negativa Ejercicio propuesto</vt:lpstr>
      <vt:lpstr>12. Distribución Hipergeométrica (No está en el libro)</vt:lpstr>
      <vt:lpstr>12. Distribución Hipergeométrica Resumen</vt:lpstr>
      <vt:lpstr>12. Distribución Hipergeométrica Aproximación binomial</vt:lpstr>
      <vt:lpstr>12. Distribución Hipergeométrica Ejemplo (Cartas)</vt:lpstr>
      <vt:lpstr>12. Distribución Hipergeométrica Ejemplo (Cartas)(Solución)</vt:lpstr>
      <vt:lpstr>12. Distribución Hipergeométrica Ejercicios propuestos</vt:lpstr>
      <vt:lpstr>13. Distribución de Poisson</vt:lpstr>
      <vt:lpstr>13. Distribución de Poisson Resumen</vt:lpstr>
      <vt:lpstr>13. Distribución de Poisson Ejemplo 3.22 (Cuentas de Internet)</vt:lpstr>
      <vt:lpstr>13. Distribución de Poisson Ejemplo 3.22 (Solución)</vt:lpstr>
      <vt:lpstr>13. Distribución de Poisson Ejemplo 3.22 (Solución) Utilizando la tabla A3</vt:lpstr>
      <vt:lpstr>13. Distribución de Poisson Ejemplo 3.22 (Gráficos)</vt:lpstr>
      <vt:lpstr>13. Distribución de Poisson Aproximación a Poisson de la distribución Binomial</vt:lpstr>
      <vt:lpstr>13. Distribución de Poisson Aproximación a Poisson de Binomial (Gráficos)</vt:lpstr>
      <vt:lpstr>13. Distribución de Poisson Ejemplo 3.23 (Aproximación Binomial)</vt:lpstr>
      <vt:lpstr>13. Distribución de Poisson Ejemplo 3.23 (Solución)</vt:lpstr>
      <vt:lpstr>13. Distribución de Poisson Ejemplo 3.24 (Mensajes electrónicos)</vt:lpstr>
      <vt:lpstr>13. Distribución de Poisson Ejemplo 3.24 (Solución)</vt:lpstr>
      <vt:lpstr>13. Distribución de Poisson Ejercicios propuestos</vt:lpstr>
      <vt:lpstr>14. Resumen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Variables y distribuciones discretas</dc:title>
  <dc:creator/>
  <cp:lastModifiedBy>jose hilera</cp:lastModifiedBy>
  <cp:revision>187</cp:revision>
  <dcterms:created xsi:type="dcterms:W3CDTF">2022-12-26T19:51:11Z</dcterms:created>
  <dcterms:modified xsi:type="dcterms:W3CDTF">2025-07-29T07:32:11Z</dcterms:modified>
</cp:coreProperties>
</file>