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445" r:id="rId4"/>
    <p:sldId id="453" r:id="rId5"/>
    <p:sldId id="454" r:id="rId6"/>
    <p:sldId id="451" r:id="rId7"/>
    <p:sldId id="492" r:id="rId8"/>
    <p:sldId id="461" r:id="rId9"/>
    <p:sldId id="462" r:id="rId10"/>
    <p:sldId id="463" r:id="rId11"/>
    <p:sldId id="459" r:id="rId12"/>
    <p:sldId id="460" r:id="rId13"/>
    <p:sldId id="464" r:id="rId14"/>
    <p:sldId id="465" r:id="rId15"/>
    <p:sldId id="468" r:id="rId16"/>
    <p:sldId id="466" r:id="rId17"/>
    <p:sldId id="467" r:id="rId18"/>
    <p:sldId id="469" r:id="rId19"/>
    <p:sldId id="470" r:id="rId20"/>
    <p:sldId id="471" r:id="rId21"/>
    <p:sldId id="434" r:id="rId22"/>
    <p:sldId id="473" r:id="rId23"/>
    <p:sldId id="475" r:id="rId24"/>
    <p:sldId id="474" r:id="rId25"/>
    <p:sldId id="476" r:id="rId26"/>
    <p:sldId id="477" r:id="rId27"/>
    <p:sldId id="478" r:id="rId28"/>
    <p:sldId id="479" r:id="rId29"/>
    <p:sldId id="490" r:id="rId30"/>
    <p:sldId id="491" r:id="rId31"/>
    <p:sldId id="480" r:id="rId32"/>
    <p:sldId id="481" r:id="rId33"/>
    <p:sldId id="482" r:id="rId34"/>
    <p:sldId id="483" r:id="rId35"/>
    <p:sldId id="484" r:id="rId36"/>
    <p:sldId id="487" r:id="rId37"/>
    <p:sldId id="488" r:id="rId38"/>
    <p:sldId id="485" r:id="rId39"/>
    <p:sldId id="486" r:id="rId40"/>
    <p:sldId id="489" r:id="rId41"/>
    <p:sldId id="327" r:id="rId42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809" autoAdjust="0"/>
  </p:normalViewPr>
  <p:slideViewPr>
    <p:cSldViewPr snapToGrid="0">
      <p:cViewPr varScale="1">
        <p:scale>
          <a:sx n="69" d="100"/>
          <a:sy n="69" d="100"/>
        </p:scale>
        <p:origin x="78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276993FA-F4EB-4F5C-AC0E-D19D76C7FE18}" type="datetimeFigureOut">
              <a:rPr lang="es-ES" smtClean="0"/>
              <a:t>24/09/2024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endParaRPr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/>
            <a:r>
              <a:t>Haga clic para modificar los estilos de texto del patrón</a:t>
            </a:r>
          </a:p>
          <a:p>
            <a:pPr lvl="1"/>
            <a:r>
              <a:t>Segundo nivel</a:t>
            </a:r>
          </a:p>
          <a:p>
            <a:pPr lvl="2"/>
            <a:r>
              <a:t>Tercer nivel</a:t>
            </a:r>
          </a:p>
          <a:p>
            <a:pPr lvl="3"/>
            <a:r>
              <a:t>Cuarto nivel</a:t>
            </a:r>
          </a:p>
          <a:p>
            <a:pPr lvl="4"/>
            <a:r>
              <a:t>Nivel de Quinto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fld id="{93B7C101-15E4-4D70-A114-C89E83A709C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435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B7C101-15E4-4D70-A114-C89E83A709C8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280144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B7C101-15E4-4D70-A114-C89E83A709C8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933928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B7C101-15E4-4D70-A114-C89E83A709C8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07379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70737A-30E0-41A2-B461-25A548C913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EBE166C-5633-4873-B852-3A4F5546FE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39014F-1DFE-4927-921F-4E53CB687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85FDD-93E9-4DED-94FB-E13CBFB13D77}" type="datetime1">
              <a:rPr lang="es-ES" smtClean="0"/>
              <a:t>24/09/2024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03D05DA-9B6F-44F8-A333-ABA84FFE4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41CCAC-F1C7-439D-A1C6-148B192BE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829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E16EB7-D1A7-4CEF-B7B0-D69F5E52A25D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2099EC-4D79-4FBE-A0F3-85058A8B9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Haga clic para modificar los estilos de texto del patrón</a:t>
            </a:r>
          </a:p>
          <a:p>
            <a:pPr lvl="1"/>
            <a:r>
              <a:t>Segundo nivel</a:t>
            </a:r>
          </a:p>
          <a:p>
            <a:pPr lvl="2"/>
            <a:r>
              <a:t>Tercer nivel</a:t>
            </a:r>
          </a:p>
          <a:p>
            <a:pPr lvl="3"/>
            <a:r>
              <a:t>Cuarto nivel</a:t>
            </a:r>
          </a:p>
          <a:p>
            <a:pPr lvl="4"/>
            <a:r>
              <a:t>Nivel de Quinto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19089A4-937F-4BD1-809E-44AE307B1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0566B-D29A-48B5-AE66-02FE67909A5D}" type="datetime1">
              <a:rPr lang="es-ES" smtClean="0"/>
              <a:t>24/09/2024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A626FFB-669E-4FEF-AAF4-FCBE8D204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B3302B3-AB25-45B7-A138-5DD3F6FD0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/>
            </a:lvl1pPr>
          </a:lstStyle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32818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DBB67B-96F2-4E3B-AD4B-986D490B9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CA24320-D7DC-4240-B4DF-339532FE9C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2E11C2-AD04-4ED6-82A4-3FD71B6FB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E50F2-204D-422E-A62C-8A2A95FE0EA0}" type="datetime1">
              <a:rPr lang="es-ES" smtClean="0"/>
              <a:t>24/09/2024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0448CB-E41F-4F50-8E08-202E8756D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04FAE15-CF45-4AED-8356-CE6C9EE83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80938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0246AD-7BE6-483F-96A3-541DAD4B8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3C3E4F-C907-4C22-B083-DDF5EDF27F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5065CB-41D1-4202-A34D-7BB99EB785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FAE56AF-AE89-4D7B-A003-4931E6EA8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0192F-D937-48F6-B938-D4FF2285D339}" type="datetime1">
              <a:rPr lang="es-ES" smtClean="0"/>
              <a:t>24/09/2024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AF7D8F9-491C-4103-A8F2-5F9F0FA5D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F04D832-55CC-4538-B057-CA9881D9A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3882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8EF558-0175-4BD0-979F-D483F1A0D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974E40B-3DF7-44C5-860B-A36DE85FED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106F954-C6D4-4723-8E03-55A1E79F00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C871A73-8828-4197-ADC1-0C21128F61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33081A4-0280-4B19-9B06-BA7D807693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9340A08-2899-40F7-B8EE-A496CBD88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58F57-2DA1-4DBA-AA33-8D93DD9494F9}" type="datetime1">
              <a:rPr lang="es-ES" smtClean="0"/>
              <a:t>24/09/2024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75E94AC-0958-41A7-A416-28A3791B2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7A743E3-167E-4DC6-AF9F-963C2A2C8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11594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0C0657-7B1A-442F-A5A8-F68C547D6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20B9629-5B37-4C68-BCAF-4F204AD59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FAA46-ADD9-4633-900E-54294B546C39}" type="datetime1">
              <a:rPr lang="es-ES" smtClean="0"/>
              <a:t>24/09/2024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F496A21-694B-4235-9BDF-7FA776CD6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FC769F2-5C78-4519-AE94-E67F0F38E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5255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3476251-88E2-4CBD-95F9-95E8112B5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AD164-930E-44E1-8AD6-DA81FFB2E87B}" type="datetime1">
              <a:rPr lang="es-ES" smtClean="0"/>
              <a:t>24/09/2024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49AE1B3-12A0-41E5-8708-38E7CDE67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D8E5739-F16D-4ED7-934D-15DD6F3FD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1494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05BC6A-6581-45ED-97B2-665F6CC3E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6E2A75-C11D-4D21-973A-6BD6B12AB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C2970D4-7A79-4101-849B-C528055754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24EC5D-1BA5-4E28-9CF2-850714ED1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19943-A7E6-4D67-A3E5-3CC6ADA523F1}" type="datetime1">
              <a:rPr lang="es-ES" smtClean="0"/>
              <a:t>24/09/2024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B84FBFE-5582-479B-A6E8-8BD08A0B9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F81D782-F740-4365-8C21-A299A8B5F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506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935E2E-4483-4902-9BE4-8F6FA962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E9D67D1-94DE-4CC9-85D5-7FFF881182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544DCF8-D22F-4389-B4E4-9670563345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762798B-5681-4C69-BB09-2388DA3C2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12756-8293-4ED7-8C53-E15A36E0B819}" type="datetime1">
              <a:rPr lang="es-ES" smtClean="0"/>
              <a:t>24/09/2024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4B9532C-97BB-441B-B506-C25F8CF28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8D157D7-9A5A-414D-A0CA-96FAE873A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48935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67A50E-F7F5-4C4D-8B77-79BAEF2E5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AFBB6D-17BE-4C49-BCCF-B5C5CFE9F9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9176D5-891E-44BA-B401-E3A04EAFA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88EC-7283-4406-9DFD-E99FA692D75C}" type="datetime1">
              <a:rPr lang="es-ES" smtClean="0"/>
              <a:t>24/09/2024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934A99-FA15-4D15-97E2-3E17E0383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A8D24B-343C-4B37-A9F6-33CE51FE3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1468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FF92B8F-BB2D-45E5-A81C-009359D306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49973B1-2492-45DB-BA9B-BD3B59B4B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7A9D75-FCEC-47C9-AA6E-4D2F6CFF6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9286-D927-4095-B743-3451D71D767F}" type="datetime1">
              <a:rPr lang="es-ES" smtClean="0"/>
              <a:t>24/09/2024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20CC3E-8F0C-4A5B-B192-6F292AE46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5C7BE2D-24E9-4481-AEB9-697A2447A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13171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23CBADE-FD33-4AF1-9F6F-A44E4356A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674D713-AFC9-4141-B355-05ABF7893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/>
            <a:r>
              <a:t>Haga clic para modificar los estilos de texto del patrón</a:t>
            </a:r>
          </a:p>
          <a:p>
            <a:pPr lvl="1"/>
            <a:r>
              <a:t>Segundo nivel</a:t>
            </a:r>
          </a:p>
          <a:p>
            <a:pPr lvl="2"/>
            <a:r>
              <a:t>Tercer nivel</a:t>
            </a:r>
          </a:p>
          <a:p>
            <a:pPr lvl="3"/>
            <a:r>
              <a:t>Cuarto nivel</a:t>
            </a:r>
          </a:p>
          <a:p>
            <a:pPr lvl="4"/>
            <a:r>
              <a:t>Nivel de Quinto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1666BF8-72F7-4108-81B8-D74BF52FE0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AEDC6-F719-4D5C-BB7F-D599F6A812F4}" type="datetime1">
              <a:rPr lang="es-ES" smtClean="0"/>
              <a:t>24/09/2024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F725B7-4457-4323-8704-24025C4934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1E65A2-2681-4AF8-8875-39AE9558A1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16707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oreilly.com/library-access/?next=/library/view/Probability-and-statistics/9781439875919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proyectodescartes.org/iCartesiLibri/materiales_didacticos/IntroduccionEstadisticaProbabilidad/3ESO/8ExperimentoAleatorioEspacioMuestral.htm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proyectodescartes.org/iCartesiLibri/materiales_didacticos/IntroduccionEstadisticaProbabilidad/4ESO/Probabilidad/2EspacioMuestral.html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proyectodescartes.org/iCartesiLibri/materiales_didacticos/IntroduccionEstadisticaProbabilidad/4ESO/Probabilidad/5_1ProbabilidadBernouilli.ht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hyperlink" Target="https://footystats.org/es/spain/real-madrid-cf-vs-rayo-vallecano-h2h-stats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footystats.org/es/spain/real-madrid-cf-vs-rayo-vallecano-h2h-stats" TargetMode="Externa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hyperlink" Target="https://proyectodescartes.org/iCartesiLibri/materiales_didacticos/IntroduccionEstadisticaProbabilidad/4ESO/Probabilidad/7IndependenciaSucesos.html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proyectodescartes.org/iCartesiLibri/materiales_didacticos/IntroduccionEstadisticaProbabilidad/4ESO/Combinatoria/8ProblemasResueltos.html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soyvisual.org/" TargetMode="External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oyvisual.org/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proyectodescartes.org/iCartesiLibri/materiales_didacticos/IntroduccionEstadisticaProbabilidad/4ESO/Probabilidad/12ProblemasResueltos.html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wpd.ugr.es/~bioestad/bioestadistica/tema-4/" TargetMode="External"/><Relationship Id="rId2" Type="http://schemas.openxmlformats.org/officeDocument/2006/relationships/hyperlink" Target="https://proyectodescartes.org/iCartesiLibri/materiales_didacticos/IntroduccionEstadisticaProbabilidad/4ESO/Probabilidad/12ProblemasResueltos.html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05024B-BC8C-4A3E-B772-46F3159760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Probabilidad y combinatoria</a:t>
            </a:r>
            <a:endParaRPr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6AD6E3-038F-4B94-A53F-314F158509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10833"/>
            <a:ext cx="9144000" cy="1655762"/>
          </a:xfrm>
        </p:spPr>
        <p:txBody>
          <a:bodyPr/>
          <a:lstStyle/>
          <a:p>
            <a:r>
              <a:rPr dirty="0" err="1"/>
              <a:t>Contenidos</a:t>
            </a:r>
            <a:r>
              <a:rPr dirty="0"/>
              <a:t> </a:t>
            </a:r>
            <a:r>
              <a:rPr dirty="0" err="1"/>
              <a:t>adaptados</a:t>
            </a:r>
            <a:r>
              <a:rPr dirty="0"/>
              <a:t> del </a:t>
            </a:r>
            <a:r>
              <a:rPr dirty="0" err="1"/>
              <a:t>libro</a:t>
            </a:r>
            <a:r>
              <a:rPr dirty="0"/>
              <a:t> </a:t>
            </a:r>
            <a:r>
              <a:rPr lang="es-ES" dirty="0"/>
              <a:t>"</a:t>
            </a:r>
            <a:r>
              <a:rPr lang="en-US" dirty="0">
                <a:hlinkClick r:id="rId2"/>
              </a:rPr>
              <a:t>Probability and statistics for computer scientists, Second edition, M. Baron</a:t>
            </a:r>
            <a:r>
              <a:rPr lang="es-ES" dirty="0"/>
              <a:t>" </a:t>
            </a:r>
            <a:r>
              <a:rPr dirty="0"/>
              <a:t>(</a:t>
            </a:r>
            <a:r>
              <a:rPr dirty="0" err="1"/>
              <a:t>Capítulo</a:t>
            </a:r>
            <a:r>
              <a:rPr dirty="0"/>
              <a:t> </a:t>
            </a:r>
            <a:r>
              <a:rPr lang="es-ES" dirty="0"/>
              <a:t>2</a:t>
            </a:r>
            <a:r>
              <a:rPr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37515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20BF6A-4F76-40F2-AADF-4A9781E2B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Contenido</a:t>
            </a:r>
            <a:r>
              <a:rPr lang="es-ES" dirty="0"/>
              <a:t>s</a:t>
            </a:r>
            <a:endParaRPr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D641DE-CE43-4099-914E-C8A920DB30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184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s-ES" dirty="0"/>
              <a:t>Objetivos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Conceptos previos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Combinatoria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Reglas de probabilidad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Probabilidad condicional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Resumen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5184F0A-2B41-D9D8-BF21-77971EAEB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17064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18D74D-BDDF-1C25-911B-86A5190A6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1. Objetivos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2C495E-D52C-8834-4B07-A00D5887F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Recordar conceptos previos del ámbito de la probabilidad, como experimento aleatorio, resultado de un experimento, espacio muestral, suceso y probabilidad de un suceso</a:t>
            </a:r>
          </a:p>
          <a:p>
            <a:r>
              <a:rPr lang="es-ES" dirty="0"/>
              <a:t>Diferenciar entre sucesos dependientes </a:t>
            </a:r>
            <a:r>
              <a:rPr lang="es-ES"/>
              <a:t>e independientes</a:t>
            </a:r>
            <a:endParaRPr lang="es-ES" dirty="0"/>
          </a:p>
          <a:p>
            <a:r>
              <a:rPr lang="es-ES" dirty="0"/>
              <a:t>Calcular la probabilidad de sucesos</a:t>
            </a:r>
          </a:p>
          <a:p>
            <a:r>
              <a:rPr lang="es-ES" dirty="0"/>
              <a:t>Aplicar la combinatoria para el cálculo de probabilidades</a:t>
            </a:r>
          </a:p>
          <a:p>
            <a:pPr marL="457200" lvl="1" indent="0">
              <a:buNone/>
            </a:pPr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3451FA0-398C-1AA8-C03C-622472FA6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65945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75E914-D6E9-9684-D002-361E56068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2. Conceptos previos</a:t>
            </a:r>
            <a:br>
              <a:rPr lang="es-ES" dirty="0"/>
            </a:br>
            <a:r>
              <a:rPr lang="es-ES" dirty="0"/>
              <a:t>Experimento aleatorio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551818-2401-D48B-F108-C9E88AB7A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La Teoría de la Probabilidad es la rama de las Matemáticas que estudia los experimentos o fenómenos aleatorios.</a:t>
            </a:r>
          </a:p>
          <a:p>
            <a:pPr lvl="1"/>
            <a:r>
              <a:rPr lang="es-ES" dirty="0">
                <a:hlinkClick r:id="rId2"/>
              </a:rPr>
              <a:t>Experimento aleatorio</a:t>
            </a:r>
            <a:r>
              <a:rPr lang="es-ES" dirty="0"/>
              <a:t> es aquel en el que existe incertidumbre sobre el resultado que se obtendrá. </a:t>
            </a:r>
          </a:p>
          <a:p>
            <a:pPr lvl="2"/>
            <a:r>
              <a:rPr lang="es-ES" dirty="0"/>
              <a:t>Si lo repetimos con las mismas condiciones iniciales no garantiza los mismos resultados.</a:t>
            </a:r>
          </a:p>
          <a:p>
            <a:pPr lvl="2"/>
            <a:r>
              <a:rPr lang="es-ES" dirty="0"/>
              <a:t>Ejemplos: Lanzamiento de un dado, lanzamiento de una moneda, extracción de una carta de una baraja, partido de fútbol.</a:t>
            </a:r>
          </a:p>
          <a:p>
            <a:pPr lvl="1"/>
            <a:r>
              <a:rPr lang="es-ES" dirty="0">
                <a:hlinkClick r:id="rId2"/>
              </a:rPr>
              <a:t>Experimento determinista</a:t>
            </a:r>
            <a:r>
              <a:rPr lang="es-ES" dirty="0"/>
              <a:t> es aquel en el que si se repiten las mismas condiciones iniciales se garantiza el mismo resultado.</a:t>
            </a:r>
          </a:p>
          <a:p>
            <a:pPr lvl="2"/>
            <a:r>
              <a:rPr lang="es-ES" dirty="0"/>
              <a:t>Ejemplos:  Calcular el espacio que recorre un objeto que circula a una velocidad constante durante un determinado tiempo, calcular la puntuación de un examen con ninguna respuesta correcta.</a:t>
            </a:r>
          </a:p>
          <a:p>
            <a:pPr marL="0" indent="0">
              <a:buNone/>
            </a:pP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6589389-3978-D0CF-687F-8F7865DC0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7652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s-ES" spc="-1" dirty="0">
                <a:solidFill>
                  <a:srgbClr val="000000"/>
                </a:solidFill>
                <a:latin typeface="Calibri Light"/>
              </a:rPr>
              <a:t>2</a:t>
            </a:r>
            <a:r>
              <a:rPr lang="es-ES" sz="4400" b="0" strike="noStrike" spc="-1" dirty="0">
                <a:solidFill>
                  <a:srgbClr val="000000"/>
                </a:solidFill>
                <a:latin typeface="Calibri Light"/>
              </a:rPr>
              <a:t>. Conceptos previos</a:t>
            </a:r>
            <a:br>
              <a:rPr lang="es-ES" sz="4400" b="0" strike="noStrike" spc="-1" dirty="0">
                <a:solidFill>
                  <a:srgbClr val="000000"/>
                </a:solidFill>
                <a:latin typeface="Calibri Light"/>
              </a:rPr>
            </a:br>
            <a:r>
              <a:rPr lang="es-ES" sz="4400" b="0" strike="noStrike" spc="-1" dirty="0">
                <a:solidFill>
                  <a:srgbClr val="000000"/>
                </a:solidFill>
                <a:latin typeface="Calibri Light"/>
              </a:rPr>
              <a:t>Espacio muestral y suceso</a:t>
            </a:r>
            <a:endParaRPr lang="es-ES" b="0" strike="noStrike" spc="-1" dirty="0">
              <a:solidFill>
                <a:srgbClr val="000000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PlaceHolder 2"/>
              <p:cNvSpPr>
                <a:spLocks noGrp="1"/>
              </p:cNvSpPr>
              <p:nvPr>
                <p:ph/>
              </p:nvPr>
            </p:nvSpPr>
            <p:spPr>
              <a:xfrm>
                <a:off x="838080" y="1825560"/>
                <a:ext cx="10515240" cy="46674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anchor="t">
                <a:normAutofit fontScale="85000" lnSpcReduction="20000"/>
              </a:bodyPr>
              <a:lstStyle/>
              <a:p>
                <a:pPr marL="228600" indent="-228600">
                  <a:lnSpc>
                    <a:spcPct val="90000"/>
                  </a:lnSpc>
                  <a:spcBef>
                    <a:spcPts val="1001"/>
                  </a:spcBef>
                  <a:buClr>
                    <a:srgbClr val="000000"/>
                  </a:buClr>
                  <a:buFont typeface="Arial"/>
                  <a:buChar char="•"/>
                </a:pPr>
                <a:r>
                  <a:rPr lang="es-ES" spc="-1" dirty="0">
                    <a:solidFill>
                      <a:srgbClr val="000000"/>
                    </a:solidFill>
                    <a:latin typeface="Calibri"/>
                  </a:rPr>
                  <a:t>El conjunto de </a:t>
                </a:r>
                <a:r>
                  <a:rPr lang="es-ES" sz="2800" b="0" strike="noStrike" spc="-1" dirty="0">
                    <a:solidFill>
                      <a:srgbClr val="000000"/>
                    </a:solidFill>
                    <a:latin typeface="Calibri"/>
                  </a:rPr>
                  <a:t>todos los posibles </a:t>
                </a:r>
                <a:r>
                  <a:rPr lang="es-ES" sz="2800" b="1" strike="noStrike" spc="-1" dirty="0">
                    <a:solidFill>
                      <a:srgbClr val="000000"/>
                    </a:solidFill>
                    <a:latin typeface="Calibri"/>
                  </a:rPr>
                  <a:t>resultados</a:t>
                </a:r>
                <a:r>
                  <a:rPr lang="es-ES" sz="2800" b="0" strike="noStrike" spc="-1" dirty="0">
                    <a:solidFill>
                      <a:srgbClr val="000000"/>
                    </a:solidFill>
                    <a:latin typeface="Calibri"/>
                  </a:rPr>
                  <a:t> elementales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800" b="0" i="1" strike="noStrike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800" b="0" i="1" strike="noStrike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s-ES" sz="2800" b="0" i="1" strike="noStrike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" sz="2800" b="0" strike="noStrike" spc="-1" dirty="0">
                    <a:solidFill>
                      <a:srgbClr val="000000"/>
                    </a:solidFill>
                    <a:latin typeface="Calibri"/>
                  </a:rPr>
                  <a:t>) de un </a:t>
                </a:r>
                <a:r>
                  <a:rPr lang="es-ES" sz="2800" b="1" strike="noStrike" spc="-1" dirty="0">
                    <a:solidFill>
                      <a:srgbClr val="000000"/>
                    </a:solidFill>
                    <a:latin typeface="Calibri"/>
                  </a:rPr>
                  <a:t>experimento aleatorio</a:t>
                </a:r>
                <a:r>
                  <a:rPr lang="es-ES" sz="2800" b="0" strike="noStrike" spc="-1" dirty="0">
                    <a:solidFill>
                      <a:srgbClr val="000000"/>
                    </a:solidFill>
                    <a:latin typeface="Calibri"/>
                  </a:rPr>
                  <a:t>, se llama </a:t>
                </a:r>
                <a:r>
                  <a:rPr lang="es-ES" sz="2800" b="1" u="sng" strike="noStrike" spc="-1" dirty="0">
                    <a:solidFill>
                      <a:srgbClr val="000000"/>
                    </a:solidFill>
                    <a:uFillTx/>
                    <a:latin typeface="Calibri"/>
                    <a:hlinkClick r:id="rId2"/>
                  </a:rPr>
                  <a:t>espacio muestra</a:t>
                </a:r>
                <a:r>
                  <a:rPr lang="es-ES" sz="2800" b="1" u="sng" strike="noStrike" spc="-1" dirty="0">
                    <a:solidFill>
                      <a:srgbClr val="000000"/>
                    </a:solidFill>
                    <a:uFillTx/>
                    <a:latin typeface="Calibri"/>
                  </a:rPr>
                  <a:t>l</a:t>
                </a:r>
                <a:r>
                  <a:rPr lang="es-ES" sz="2800" b="0" u="sng" strike="noStrike" spc="-1" dirty="0">
                    <a:solidFill>
                      <a:srgbClr val="000000"/>
                    </a:solidFill>
                    <a:latin typeface="Calibri"/>
                  </a:rPr>
                  <a:t> </a:t>
                </a:r>
                <a:r>
                  <a:rPr lang="es-ES" sz="2800" b="0" strike="noStrike" spc="-1" dirty="0">
                    <a:solidFill>
                      <a:srgbClr val="000000"/>
                    </a:solidFill>
                    <a:latin typeface="Calibri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0" dirty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s-ES" dirty="0"/>
                  <a:t>)</a:t>
                </a:r>
                <a:r>
                  <a:rPr lang="es-ES" sz="2800" b="1" strike="noStrike" spc="-1" dirty="0">
                    <a:solidFill>
                      <a:srgbClr val="000000"/>
                    </a:solidFill>
                    <a:latin typeface="Calibri"/>
                  </a:rPr>
                  <a:t> </a:t>
                </a:r>
                <a:endParaRPr lang="es-ES" sz="2800" b="0" strike="noStrike" spc="-1" dirty="0">
                  <a:solidFill>
                    <a:srgbClr val="000000"/>
                  </a:solidFill>
                  <a:latin typeface="Calibri"/>
                </a:endParaRPr>
              </a:p>
              <a:p>
                <a:pPr marL="685800" lvl="1" indent="-228600">
                  <a:lnSpc>
                    <a:spcPct val="90000"/>
                  </a:lnSpc>
                  <a:spcBef>
                    <a:spcPts val="499"/>
                  </a:spcBef>
                  <a:buClr>
                    <a:srgbClr val="000000"/>
                  </a:buClr>
                  <a:buFont typeface="Arial"/>
                  <a:buChar char="•"/>
                </a:pPr>
                <a:r>
                  <a:rPr lang="es-ES" sz="2400" b="0" strike="noStrike" spc="-1" dirty="0">
                    <a:solidFill>
                      <a:srgbClr val="000000"/>
                    </a:solidFill>
                    <a:latin typeface="Calibri"/>
                  </a:rPr>
                  <a:t>Ejemplo: Un experimento puede ser ”</a:t>
                </a:r>
                <a:r>
                  <a:rPr lang="es-ES" sz="2400" b="0" i="1" strike="noStrike" spc="-1" dirty="0">
                    <a:solidFill>
                      <a:srgbClr val="000000"/>
                    </a:solidFill>
                    <a:latin typeface="Calibri"/>
                  </a:rPr>
                  <a:t>lanzar tres monedas</a:t>
                </a:r>
                <a:r>
                  <a:rPr lang="es-ES" i="1" spc="-1" dirty="0">
                    <a:solidFill>
                      <a:srgbClr val="000000"/>
                    </a:solidFill>
                    <a:latin typeface="Calibri"/>
                  </a:rPr>
                  <a:t>”</a:t>
                </a:r>
                <a:r>
                  <a:rPr lang="es-ES" sz="2400" b="0" strike="noStrike" spc="-1" dirty="0">
                    <a:solidFill>
                      <a:srgbClr val="000000"/>
                    </a:solidFill>
                    <a:latin typeface="Calibri"/>
                  </a:rPr>
                  <a:t>, el espacio muestral incluye 8 posibles resultados</a:t>
                </a:r>
              </a:p>
              <a:p>
                <a:pPr lvl="2">
                  <a:spcBef>
                    <a:spcPts val="499"/>
                  </a:spcBef>
                  <a:buClr>
                    <a:srgbClr val="000000"/>
                  </a:buClr>
                  <a:buFont typeface="Arial"/>
                  <a:buChar char="•"/>
                </a:pPr>
                <a:r>
                  <a:rPr lang="es-ES" b="0" i="1" strike="noStrike" spc="-1" dirty="0">
                    <a:solidFill>
                      <a:srgbClr val="000000"/>
                    </a:solidFill>
                    <a:latin typeface="Calibri"/>
                  </a:rPr>
                  <a:t>Nota: Cara = C, Cruz = X</a:t>
                </a:r>
              </a:p>
              <a:p>
                <a:pPr lvl="2"/>
                <a:r>
                  <a:rPr lang="es-ES" b="0" dirty="0">
                    <a:ea typeface="Cambria Math" panose="02040503050406030204" pitchFamily="18" charset="0"/>
                  </a:rPr>
                  <a:t>Espacio muestral: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𝐶𝐶𝐶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𝐶𝐶𝑋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𝐶𝑋𝐶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𝐶𝑋𝑋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𝑋𝐶𝐶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𝑋𝐶𝑋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𝑋𝑋𝐶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𝑋𝑋𝑋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 lvl="2"/>
                <a:r>
                  <a:rPr lang="es-ES" dirty="0"/>
                  <a:t>Resultados: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𝐶𝐶𝐶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𝑋𝑋𝑋</m:t>
                    </m:r>
                  </m:oMath>
                </a14:m>
                <a:endParaRPr lang="en-US" dirty="0"/>
              </a:p>
              <a:p>
                <a:pPr marL="228600" indent="-228600">
                  <a:lnSpc>
                    <a:spcPct val="90000"/>
                  </a:lnSpc>
                  <a:spcBef>
                    <a:spcPts val="1001"/>
                  </a:spcBef>
                  <a:buClr>
                    <a:srgbClr val="000000"/>
                  </a:buClr>
                  <a:buFont typeface="Arial"/>
                  <a:buChar char="•"/>
                </a:pPr>
                <a:r>
                  <a:rPr lang="es-ES" sz="2800" b="0" strike="noStrike" spc="-1" dirty="0">
                    <a:solidFill>
                      <a:srgbClr val="000000"/>
                    </a:solidFill>
                    <a:latin typeface="Calibri"/>
                  </a:rPr>
                  <a:t>Cualquier conjunto de resultados es un </a:t>
                </a:r>
                <a:r>
                  <a:rPr lang="es-ES" sz="2800" b="1" u="sng" strike="noStrike" spc="-1" dirty="0">
                    <a:solidFill>
                      <a:srgbClr val="000000"/>
                    </a:solidFill>
                    <a:uFillTx/>
                    <a:latin typeface="Calibri"/>
                    <a:hlinkClick r:id="rId2"/>
                  </a:rPr>
                  <a:t>suceso</a:t>
                </a:r>
                <a:r>
                  <a:rPr lang="es-ES" sz="2800" b="1" u="sng" strike="noStrike" spc="-1" dirty="0">
                    <a:solidFill>
                      <a:srgbClr val="000000"/>
                    </a:solidFill>
                    <a:uFillTx/>
                    <a:latin typeface="Calibri"/>
                  </a:rPr>
                  <a:t> </a:t>
                </a:r>
                <a:r>
                  <a:rPr lang="es-ES" b="1" u="sng" spc="-1" dirty="0">
                    <a:solidFill>
                      <a:srgbClr val="000000"/>
                    </a:solidFill>
                    <a:latin typeface="Calibri"/>
                  </a:rPr>
                  <a:t>(</a:t>
                </a:r>
                <a:r>
                  <a:rPr lang="es-ES" sz="2800" b="1" u="sng" strike="noStrike" spc="-1" dirty="0">
                    <a:solidFill>
                      <a:srgbClr val="000000"/>
                    </a:solidFill>
                    <a:uFillTx/>
                    <a:latin typeface="Calibri"/>
                  </a:rPr>
                  <a:t>evento)</a:t>
                </a:r>
                <a:r>
                  <a:rPr lang="es-ES" sz="2800" b="0" strike="noStrike" spc="-1" dirty="0">
                    <a:solidFill>
                      <a:srgbClr val="000000"/>
                    </a:solidFill>
                    <a:latin typeface="Calibri"/>
                  </a:rPr>
                  <a:t>. Por lo tanto, los sucesos son subconjuntos del espacio muestral.</a:t>
                </a:r>
              </a:p>
              <a:p>
                <a:pPr marL="685800" lvl="1" indent="-228600">
                  <a:lnSpc>
                    <a:spcPct val="90000"/>
                  </a:lnSpc>
                  <a:spcBef>
                    <a:spcPts val="499"/>
                  </a:spcBef>
                  <a:buClr>
                    <a:srgbClr val="000000"/>
                  </a:buClr>
                  <a:buFont typeface="Arial"/>
                  <a:buChar char="•"/>
                </a:pPr>
                <a:r>
                  <a:rPr lang="es-ES" sz="2400" b="0" strike="noStrike" spc="-1" dirty="0">
                    <a:solidFill>
                      <a:srgbClr val="000000"/>
                    </a:solidFill>
                    <a:latin typeface="Calibri"/>
                  </a:rPr>
                  <a:t>Ejemplos de sucesos: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𝑂𝑏𝑡𝑒𝑛𝑒𝑟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𝑡𝑟𝑒𝑠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𝑐𝑎𝑟𝑎𝑠</m:t>
                    </m:r>
                    <m:r>
                      <a:rPr lang="es-E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𝐶𝐶𝐶</m:t>
                    </m:r>
                    <m:r>
                      <a:rPr lang="es-E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𝑂𝑏𝑡𝑒𝑛𝑒𝑟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ó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𝑙𝑜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𝑢𝑛𝑎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𝑐𝑟𝑢𝑧</m:t>
                    </m:r>
                    <m:r>
                      <a:rPr lang="es-E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𝐶𝐶𝑋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𝐶𝑋𝐶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𝑋𝐶𝐶</m:t>
                    </m:r>
                    <m:r>
                      <a:rPr lang="es-E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𝑂𝑏𝑡𝑒𝑛𝑒𝑟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𝑚𝑖𝑠𝑚𝑜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𝑙𝑎𝑑𝑜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𝑒𝑛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𝑡𝑜𝑑𝑎𝑠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𝑙𝑎𝑠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𝑚𝑜𝑛𝑒𝑑𝑎𝑠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𝐶𝐶𝐶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𝑋𝑋𝑋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… </a:t>
                </a:r>
              </a:p>
              <a:p>
                <a:pPr lvl="2"/>
                <a:r>
                  <a:rPr lang="en-US" dirty="0" err="1"/>
                  <a:t>Pueden</a:t>
                </a:r>
                <a:r>
                  <a:rPr lang="en-US" dirty="0"/>
                  <a:t> </a:t>
                </a:r>
                <a:r>
                  <a:rPr lang="en-US" dirty="0" err="1"/>
                  <a:t>formarse</a:t>
                </a:r>
                <a:r>
                  <a:rPr lang="en-US" dirty="0"/>
                  <a:t> hasta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sucesos</a:t>
                </a:r>
                <a:r>
                  <a:rPr lang="en-US" dirty="0"/>
                  <a:t>, </a:t>
                </a:r>
                <a:r>
                  <a:rPr lang="en-US" dirty="0" err="1"/>
                  <a:t>siendo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el</a:t>
                </a:r>
                <a:r>
                  <a:rPr lang="en-US" dirty="0"/>
                  <a:t> </a:t>
                </a:r>
                <a:r>
                  <a:rPr lang="en-US" dirty="0" err="1"/>
                  <a:t>tamaño</a:t>
                </a:r>
                <a:r>
                  <a:rPr lang="en-US" dirty="0"/>
                  <a:t> total del </a:t>
                </a:r>
                <a:r>
                  <a:rPr lang="en-US" dirty="0" err="1"/>
                  <a:t>espacio</a:t>
                </a:r>
                <a:r>
                  <a:rPr lang="en-US" dirty="0"/>
                  <a:t> </a:t>
                </a:r>
                <a:r>
                  <a:rPr lang="en-US" dirty="0" err="1"/>
                  <a:t>muestral</a:t>
                </a:r>
                <a:r>
                  <a:rPr lang="en-US" dirty="0"/>
                  <a:t> (</a:t>
                </a:r>
                <a:r>
                  <a:rPr lang="en-US" dirty="0" err="1"/>
                  <a:t>ej</a:t>
                </a:r>
                <a:r>
                  <a:rPr lang="en-US" dirty="0"/>
                  <a:t>. 256 </a:t>
                </a:r>
                <a:r>
                  <a:rPr lang="en-US" dirty="0" err="1"/>
                  <a:t>si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lang="en-US" dirty="0"/>
                  <a:t>)</a:t>
                </a:r>
              </a:p>
              <a:p>
                <a:pPr>
                  <a:tabLst>
                    <a:tab pos="2063750" algn="l"/>
                  </a:tabLst>
                </a:pPr>
                <a:r>
                  <a:rPr lang="en-US" dirty="0"/>
                  <a:t>Lo </a:t>
                </a:r>
                <a:r>
                  <a:rPr lang="en-US" b="1" dirty="0" err="1"/>
                  <a:t>resultados</a:t>
                </a:r>
                <a:r>
                  <a:rPr lang="en-US" dirty="0"/>
                  <a:t> </a:t>
                </a:r>
                <a:r>
                  <a:rPr lang="en-US" dirty="0" err="1"/>
                  <a:t>pueden</a:t>
                </a:r>
                <a:r>
                  <a:rPr lang="en-US" dirty="0"/>
                  <a:t> </a:t>
                </a:r>
                <a:r>
                  <a:rPr lang="en-US" dirty="0" err="1"/>
                  <a:t>denominarse</a:t>
                </a:r>
                <a:r>
                  <a:rPr lang="en-US" dirty="0"/>
                  <a:t> </a:t>
                </a:r>
                <a:r>
                  <a:rPr lang="en-US" dirty="0" err="1"/>
                  <a:t>también</a:t>
                </a:r>
                <a:r>
                  <a:rPr lang="en-US" dirty="0"/>
                  <a:t> </a:t>
                </a:r>
                <a:r>
                  <a:rPr lang="en-US" b="1" dirty="0" err="1"/>
                  <a:t>sucesos</a:t>
                </a:r>
                <a:r>
                  <a:rPr lang="en-US" b="1" dirty="0"/>
                  <a:t> </a:t>
                </a:r>
                <a:r>
                  <a:rPr lang="en-US" b="1" dirty="0" err="1"/>
                  <a:t>elementales</a:t>
                </a:r>
                <a:endParaRPr lang="en-US" b="1" dirty="0"/>
              </a:p>
              <a:p>
                <a:pPr marL="685800" lvl="1" indent="-228600">
                  <a:lnSpc>
                    <a:spcPct val="90000"/>
                  </a:lnSpc>
                  <a:spcBef>
                    <a:spcPts val="499"/>
                  </a:spcBef>
                  <a:buClr>
                    <a:srgbClr val="000000"/>
                  </a:buClr>
                  <a:buFont typeface="Arial"/>
                  <a:buChar char="•"/>
                </a:pPr>
                <a:endParaRPr lang="es-ES" sz="2400" b="0" strike="noStrike" spc="-1" dirty="0">
                  <a:solidFill>
                    <a:srgbClr val="000000"/>
                  </a:solidFill>
                  <a:latin typeface="Calibri"/>
                </a:endParaRPr>
              </a:p>
              <a:p>
                <a:pPr>
                  <a:lnSpc>
                    <a:spcPct val="90000"/>
                  </a:lnSpc>
                  <a:spcBef>
                    <a:spcPts val="1417"/>
                  </a:spcBef>
                  <a:buNone/>
                </a:pPr>
                <a:endParaRPr lang="es-ES" sz="2000" b="0" strike="noStrike" spc="-1" dirty="0">
                  <a:solidFill>
                    <a:srgbClr val="000000"/>
                  </a:solidFill>
                  <a:latin typeface="Calibri"/>
                </a:endParaRPr>
              </a:p>
              <a:p>
                <a:pPr>
                  <a:lnSpc>
                    <a:spcPct val="90000"/>
                  </a:lnSpc>
                  <a:spcBef>
                    <a:spcPts val="1417"/>
                  </a:spcBef>
                  <a:buNone/>
                </a:pPr>
                <a:endParaRPr lang="es-ES" sz="2000" b="0" strike="noStrike" spc="-1" dirty="0">
                  <a:solidFill>
                    <a:srgbClr val="000000"/>
                  </a:solidFill>
                  <a:latin typeface="Calibri"/>
                </a:endParaRPr>
              </a:p>
              <a:p>
                <a:pPr>
                  <a:lnSpc>
                    <a:spcPct val="90000"/>
                  </a:lnSpc>
                  <a:spcBef>
                    <a:spcPts val="1417"/>
                  </a:spcBef>
                  <a:buNone/>
                </a:pPr>
                <a:endParaRPr lang="es-ES" sz="2400" b="0" strike="noStrike" spc="-1" dirty="0">
                  <a:solidFill>
                    <a:srgbClr val="000000"/>
                  </a:solidFill>
                  <a:latin typeface="Calibri"/>
                </a:endParaRPr>
              </a:p>
              <a:p>
                <a:pPr>
                  <a:lnSpc>
                    <a:spcPct val="90000"/>
                  </a:lnSpc>
                  <a:spcBef>
                    <a:spcPts val="1417"/>
                  </a:spcBef>
                  <a:buNone/>
                </a:pPr>
                <a:endParaRPr lang="es-ES" sz="2400" b="0" strike="noStrike" spc="-1" dirty="0">
                  <a:solidFill>
                    <a:srgbClr val="000000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87" name="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838080" y="1825560"/>
                <a:ext cx="10515240" cy="4667400"/>
              </a:xfrm>
              <a:prstGeom prst="rect">
                <a:avLst/>
              </a:prstGeom>
              <a:blipFill>
                <a:blip r:embed="rId3"/>
                <a:stretch>
                  <a:fillRect l="-754" t="-3003" r="-75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ceHolder 3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lang="es-ES"/>
            </a:defPPr>
            <a:lvl1pPr marL="0" algn="r" defTabSz="914400" rtl="0" eaLnBrk="1" latinLnBrk="0" hangingPunct="1">
              <a:lnSpc>
                <a:spcPct val="100000"/>
              </a:lnSpc>
              <a:buNone/>
              <a:defRPr lang="es-ES" sz="1600" b="0" strike="noStrike" kern="1200" spc="-1">
                <a:solidFill>
                  <a:srgbClr val="8B8B8B"/>
                </a:solidFill>
                <a:latin typeface="Calibri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5E37DA7-36E1-4515-B339-87188BC9F86E}" type="slidenum">
              <a:rPr lang="es-ES" smtClean="0"/>
              <a:pPr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1F3B04-9C67-7F3D-9A72-86A0C0584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pc="-1" dirty="0">
                <a:solidFill>
                  <a:srgbClr val="000000"/>
                </a:solidFill>
                <a:latin typeface="Calibri Light"/>
              </a:rPr>
              <a:t>2</a:t>
            </a:r>
            <a:r>
              <a:rPr lang="es-ES" sz="4400" b="0" strike="noStrike" spc="-1" dirty="0">
                <a:solidFill>
                  <a:srgbClr val="000000"/>
                </a:solidFill>
                <a:latin typeface="Calibri Light"/>
              </a:rPr>
              <a:t>. Conceptos previos</a:t>
            </a:r>
            <a:br>
              <a:rPr lang="es-ES" dirty="0"/>
            </a:br>
            <a:r>
              <a:rPr lang="es-ES" dirty="0"/>
              <a:t>Probabilidad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5405715-08D2-3843-82D6-2626F5F133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La probabilidad es una medida de la certidumbre de que ocurra un suceso en un experimento aleatorio. </a:t>
            </a:r>
          </a:p>
          <a:p>
            <a:pPr lvl="1"/>
            <a:r>
              <a:rPr lang="es-ES" dirty="0"/>
              <a:t>Su valor es un número entre 0 y 1</a:t>
            </a:r>
          </a:p>
          <a:p>
            <a:pPr lvl="2"/>
            <a:r>
              <a:rPr lang="es-ES" dirty="0"/>
              <a:t>Si es 0 se trata de un suceso imposible</a:t>
            </a:r>
          </a:p>
          <a:p>
            <a:pPr lvl="2"/>
            <a:r>
              <a:rPr lang="es-ES" dirty="0"/>
              <a:t>Si es 1 se trata de un suceso seguro</a:t>
            </a:r>
          </a:p>
          <a:p>
            <a:pPr lvl="1"/>
            <a:r>
              <a:rPr lang="es-ES" dirty="0"/>
              <a:t>Ejemplo: si la probabilidad de un suceso es 0.25, quiere decir que:</a:t>
            </a:r>
          </a:p>
          <a:p>
            <a:pPr lvl="2"/>
            <a:r>
              <a:rPr lang="es-ES" dirty="0"/>
              <a:t>si se repite el experimento muchas veces, lo normal es que 25% de las veces ocurra ese suceso</a:t>
            </a:r>
          </a:p>
          <a:p>
            <a:pPr lvl="2"/>
            <a:r>
              <a:rPr lang="es-ES" dirty="0"/>
              <a:t>es decir, de cada 100 veces que se repita el experimento, lo normal es que el suceso ocurra 25 veces </a:t>
            </a:r>
          </a:p>
          <a:p>
            <a:pPr lvl="1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A63DF0B-09C7-9A74-9E51-0E52F90DC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97674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70F6E2-647A-321C-BE9F-A817EADB5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pc="-1" dirty="0">
                <a:solidFill>
                  <a:srgbClr val="000000"/>
                </a:solidFill>
                <a:latin typeface="Calibri Light"/>
              </a:rPr>
              <a:t>2</a:t>
            </a:r>
            <a:r>
              <a:rPr lang="es-ES" sz="4400" b="0" strike="noStrike" spc="-1" dirty="0">
                <a:solidFill>
                  <a:srgbClr val="000000"/>
                </a:solidFill>
                <a:latin typeface="Calibri Light"/>
              </a:rPr>
              <a:t>. Conceptos previos</a:t>
            </a:r>
            <a:br>
              <a:rPr lang="es-ES" sz="4400" b="0" strike="noStrike" spc="-1" dirty="0">
                <a:solidFill>
                  <a:srgbClr val="000000"/>
                </a:solidFill>
                <a:latin typeface="Calibri Light"/>
              </a:rPr>
            </a:br>
            <a:r>
              <a:rPr lang="es-ES" sz="4400" b="0" strike="noStrike" spc="-1" dirty="0">
                <a:solidFill>
                  <a:srgbClr val="000000"/>
                </a:solidFill>
                <a:latin typeface="Calibri Light"/>
              </a:rPr>
              <a:t>Propiedades de un espacio muestral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2140A60D-51D4-A059-B88D-59D806ADC8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ES" dirty="0"/>
                  <a:t>En un espacio muestral con un total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s-ES" dirty="0"/>
                  <a:t> resultados posibles: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…,</m:t>
                        </m:r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sSub>
                              <m:sSubPr>
                                <m:ctrlP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</m:sub>
                        </m:sSub>
                      </m:e>
                    </m:d>
                  </m:oMath>
                </a14:m>
                <a:endParaRPr lang="es-ES" dirty="0"/>
              </a:p>
              <a:p>
                <a:r>
                  <a:rPr lang="es-ES" dirty="0"/>
                  <a:t>Se cumple:</a:t>
                </a:r>
              </a:p>
              <a:p>
                <a:pPr lvl="1"/>
                <a:r>
                  <a:rPr lang="es-ES" dirty="0"/>
                  <a:t>Es exhaustivo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E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sSub>
                          <m:sSubPr>
                            <m:ctrlPr>
                              <a:rPr lang="es-E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sup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s-E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s-ES" dirty="0"/>
              </a:p>
              <a:p>
                <a:pPr lvl="1"/>
                <a:r>
                  <a:rPr lang="es-ES" b="0" dirty="0"/>
                  <a:t>Los resultados son mutuamente excluyentes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s-ES" dirty="0"/>
                  <a:t> para cada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endParaRPr lang="es-ES" dirty="0"/>
              </a:p>
              <a:p>
                <a:pPr lvl="1"/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2140A60D-51D4-A059-B88D-59D806ADC8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779C074-952F-E74E-3BB1-ABDC04474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57154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1F3B04-9C67-7F3D-9A72-86A0C0584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14824" cy="1325563"/>
          </a:xfrm>
        </p:spPr>
        <p:txBody>
          <a:bodyPr>
            <a:normAutofit/>
          </a:bodyPr>
          <a:lstStyle/>
          <a:p>
            <a:r>
              <a:rPr lang="es-ES" spc="-1" dirty="0">
                <a:solidFill>
                  <a:srgbClr val="000000"/>
                </a:solidFill>
                <a:latin typeface="Calibri Light"/>
              </a:rPr>
              <a:t>2</a:t>
            </a:r>
            <a:r>
              <a:rPr lang="es-ES" sz="4400" b="0" strike="noStrike" spc="-1" dirty="0">
                <a:solidFill>
                  <a:srgbClr val="000000"/>
                </a:solidFill>
                <a:latin typeface="Calibri Light"/>
              </a:rPr>
              <a:t>. Conceptos previos</a:t>
            </a:r>
            <a:br>
              <a:rPr lang="es-ES" dirty="0"/>
            </a:br>
            <a:r>
              <a:rPr lang="es-ES" dirty="0"/>
              <a:t>Probabilidad (con resultados equiprobables)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5405715-08D2-3843-82D6-2626F5F133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s-ES" dirty="0"/>
                  <a:t>Cuando todos los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s-ES" dirty="0"/>
                  <a:t> posibles resultados</a:t>
                </a:r>
                <a14:m>
                  <m:oMath xmlns:m="http://schemas.openxmlformats.org/officeDocument/2006/math">
                    <m: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s-ES" dirty="0"/>
                  <a:t> del espacio muestral tienen la misma probabilidad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s-E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dirty="0"/>
                  <a:t>de que ocurran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s-ES" sz="2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s-ES" sz="2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𝑝𝑎𝑟𝑎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𝑐𝑢𝑎𝑙𝑞𝑢𝑖𝑒𝑟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s-ES" dirty="0"/>
              </a:p>
              <a:p>
                <a:pPr lvl="1"/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E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sSub>
                          <m:sSubPr>
                            <m:ctrlPr>
                              <a:rPr lang="es-E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sup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s-E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s-ES" dirty="0"/>
              </a:p>
              <a:p>
                <a:r>
                  <a:rPr lang="es-ES" dirty="0"/>
                  <a:t>Regla de Laplace: probabilidad de que ocurra un suceso o evento 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ú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𝑚𝑒𝑟𝑜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𝑑𝑒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𝑟𝑒𝑠𝑢𝑙𝑡𝑎𝑑𝑜𝑠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𝑓𝑎𝑣𝑜𝑟𝑎𝑏𝑙𝑒𝑠</m:t>
                            </m:r>
                          </m:e>
                        </m:d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𝑒𝑛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𝑒𝑙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𝑠𝑢𝑐𝑒𝑠𝑜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ú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𝑚𝑒𝑟𝑜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𝑑𝑒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𝑟𝑒𝑠𝑢𝑙𝑡𝑎𝑑𝑜𝑠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𝑒𝑛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𝑒𝑙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𝑒𝑠𝑝𝑎𝑐𝑖𝑜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𝑚𝑢𝑒𝑠𝑡𝑟𝑎𝑙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den>
                    </m:f>
                  </m:oMath>
                </a14:m>
                <a:endParaRPr lang="es-ES" dirty="0"/>
              </a:p>
              <a:p>
                <a:r>
                  <a:rPr lang="es-ES" dirty="0"/>
                  <a:t>Ejemplo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𝑂𝑏𝑡𝑒𝑛𝑒𝑟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𝑚𝑖𝑠𝑚𝑜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𝑙𝑎𝑑𝑜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𝑒𝑛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𝑡𝑜𝑑𝑎𝑠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𝑙𝑎𝑠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𝑚𝑜𝑛𝑒𝑑𝑎𝑠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𝑎𝑙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𝑙𝑎𝑛𝑧𝑎𝑟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3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𝑚𝑜𝑛𝑒𝑑𝑎𝑠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𝑙𝑎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𝑣𝑒𝑧</m:t>
                    </m:r>
                  </m:oMath>
                </a14:m>
                <a:endParaRPr lang="es-ES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𝐶𝐶𝐶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𝐶𝐶𝑋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𝐶𝑋𝐶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𝐶𝑋𝑋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𝑋𝐶𝐶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𝑋𝐶𝑋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𝑋𝑋𝐶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𝑋𝑋𝑋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𝐶𝐶𝐶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𝑋𝑋𝑋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s-ES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endParaRPr lang="es-ES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=0.25</m:t>
                    </m:r>
                  </m:oMath>
                </a14:m>
                <a:endParaRPr lang="es-ES" dirty="0"/>
              </a:p>
              <a:p>
                <a:pPr lvl="1"/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5405715-08D2-3843-82D6-2626F5F133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  <a:blipFill>
                <a:blip r:embed="rId3"/>
                <a:stretch>
                  <a:fillRect l="-696" t="-248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A63DF0B-09C7-9A74-9E51-0E52F90DC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98915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1F3B04-9C67-7F3D-9A72-86A0C0584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03673" cy="1325563"/>
          </a:xfrm>
        </p:spPr>
        <p:txBody>
          <a:bodyPr>
            <a:normAutofit/>
          </a:bodyPr>
          <a:lstStyle/>
          <a:p>
            <a:r>
              <a:rPr lang="es-ES" spc="-1" dirty="0">
                <a:solidFill>
                  <a:srgbClr val="000000"/>
                </a:solidFill>
                <a:latin typeface="Calibri Light"/>
              </a:rPr>
              <a:t>2</a:t>
            </a:r>
            <a:r>
              <a:rPr lang="es-ES" sz="4400" b="0" strike="noStrike" spc="-1" dirty="0">
                <a:solidFill>
                  <a:srgbClr val="000000"/>
                </a:solidFill>
                <a:latin typeface="Calibri Light"/>
              </a:rPr>
              <a:t>. Conceptos previos</a:t>
            </a:r>
            <a:br>
              <a:rPr lang="es-ES" dirty="0"/>
            </a:br>
            <a:r>
              <a:rPr lang="es-ES" dirty="0"/>
              <a:t>Probabilidad (con resultados no equiprobables)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5405715-08D2-3843-82D6-2626F5F133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993244" cy="4895850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s-ES" dirty="0"/>
                  <a:t>Cuando no todos los resultados del espacio muestral tienen la misma probabilidad de que ocurran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s-ES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s-ES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𝑝𝑎𝑟𝑎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𝑐𝑢𝑎𝑙𝑞𝑢𝑖𝑒𝑟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s-ES" dirty="0"/>
              </a:p>
              <a:p>
                <a:pPr lvl="1"/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E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sSub>
                          <m:sSubPr>
                            <m:ctrlPr>
                              <a:rPr lang="es-E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sup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s-E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s-ES" dirty="0"/>
              </a:p>
              <a:p>
                <a:r>
                  <a:rPr lang="es-ES" dirty="0"/>
                  <a:t>Hay que repetir el experimento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" dirty="0"/>
                  <a:t> veces y apuntar la </a:t>
                </a:r>
                <a:r>
                  <a:rPr lang="es-ES" dirty="0">
                    <a:hlinkClick r:id="rId3"/>
                  </a:rPr>
                  <a:t>frecuencia</a:t>
                </a:r>
                <a:r>
                  <a:rPr lang="es-ES" dirty="0"/>
                  <a:t> o número de veces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s-ES" dirty="0"/>
                  <a:t> que ocurre el suceso E</a:t>
                </a:r>
              </a:p>
              <a:p>
                <a:pPr lvl="1"/>
                <a:r>
                  <a:rPr lang="es-ES" dirty="0"/>
                  <a:t>Cuando se repite el experimento muchas veces la probabilidad coincide con la frecuencia relativa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s-ES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d>
                          <m:d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s-ES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s-E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sSub>
                              <m:sSubPr>
                                <m:ctrlPr>
                                  <a:rPr lang="es-E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sub>
                            </m:sSub>
                          </m:sub>
                        </m:sSub>
                      </m:e>
                    </m:func>
                  </m:oMath>
                </a14:m>
                <a:endParaRPr lang="es-ES" dirty="0"/>
              </a:p>
              <a:p>
                <a:r>
                  <a:rPr lang="es-ES" dirty="0"/>
                  <a:t>Ejemplo (datos reales de </a:t>
                </a:r>
                <a:r>
                  <a:rPr lang="es-ES" dirty="0">
                    <a:hlinkClick r:id="rId4"/>
                  </a:rPr>
                  <a:t>footystats</a:t>
                </a:r>
                <a:r>
                  <a:rPr lang="es-ES" dirty="0"/>
                  <a:t>):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𝐸𝑙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𝑅𝑎𝑦𝑜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𝑉𝑎𝑙𝑙𝑒𝑐𝑎𝑛𝑜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𝑔𝑎𝑛𝑎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𝑎𝑙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𝑅𝑒𝑎𝑙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𝑀𝑎𝑑𝑟𝑖𝑑</m:t>
                    </m:r>
                  </m:oMath>
                </a14:m>
                <a:endParaRPr lang="es-ES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=18</m:t>
                    </m:r>
                  </m:oMath>
                </a14:m>
                <a:endParaRPr lang="es-ES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s-ES" b="0" i="1" dirty="0">
                    <a:latin typeface="Cambria Math" panose="02040503050406030204" pitchFamily="18" charset="0"/>
                  </a:rPr>
                  <a:t> </a:t>
                </a:r>
                <a:r>
                  <a:rPr lang="es-ES" b="0" i="1" dirty="0"/>
                  <a:t>(El Rayo ha ganado 2 de los últimos 18 partidos)</a:t>
                </a:r>
                <a:endParaRPr lang="es-ES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=0.11</m:t>
                    </m:r>
                  </m:oMath>
                </a14:m>
                <a:endParaRPr lang="es-ES" dirty="0"/>
              </a:p>
              <a:p>
                <a:pPr lvl="1"/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5405715-08D2-3843-82D6-2626F5F133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993244" cy="4895850"/>
              </a:xfrm>
              <a:blipFill>
                <a:blip r:embed="rId5"/>
                <a:stretch>
                  <a:fillRect l="-776" t="-2861" r="-116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A63DF0B-09C7-9A74-9E51-0E52F90DC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9</a:t>
            </a:fld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099F194-D3FE-B32B-A21D-DBA286A51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5416" y="4614766"/>
            <a:ext cx="4485409" cy="1027906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476F9D7-B329-7F61-29A0-C8E5E0FD0AA9}"/>
              </a:ext>
            </a:extLst>
          </p:cNvPr>
          <p:cNvSpPr txBox="1"/>
          <p:nvPr/>
        </p:nvSpPr>
        <p:spPr>
          <a:xfrm>
            <a:off x="8996141" y="5703965"/>
            <a:ext cx="13439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Imagen: </a:t>
            </a:r>
            <a:r>
              <a:rPr lang="es-ES" sz="1200" dirty="0">
                <a:hlinkClick r:id="rId4"/>
              </a:rPr>
              <a:t>footystats</a:t>
            </a: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680898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1F3B04-9C67-7F3D-9A72-86A0C0584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pc="-1" dirty="0">
                <a:solidFill>
                  <a:srgbClr val="000000"/>
                </a:solidFill>
                <a:latin typeface="Calibri Light"/>
              </a:rPr>
              <a:t>2</a:t>
            </a:r>
            <a:r>
              <a:rPr lang="es-ES" sz="4400" b="0" strike="noStrike" spc="-1" dirty="0">
                <a:solidFill>
                  <a:srgbClr val="000000"/>
                </a:solidFill>
                <a:latin typeface="Calibri Light"/>
              </a:rPr>
              <a:t>. Conceptos previos</a:t>
            </a:r>
            <a:br>
              <a:rPr lang="es-ES" dirty="0"/>
            </a:br>
            <a:r>
              <a:rPr lang="es-ES" dirty="0"/>
              <a:t>Probabilidad. Ejemplo fútbol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5405715-08D2-3843-82D6-2626F5F133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3969554"/>
              </a:xfrm>
            </p:spPr>
            <p:txBody>
              <a:bodyPr>
                <a:normAutofit fontScale="62500" lnSpcReduction="20000"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𝑅𝑎𝑦𝑜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𝑔𝑎𝑛𝑎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𝑅𝑎𝑦𝑜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𝑝𝑖𝑒𝑟𝑑𝑒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𝑒𝑚𝑝𝑎𝑡𝑒</m:t>
                    </m:r>
                    <m:r>
                      <a:rPr lang="es-E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𝑅𝑎𝑦𝑜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𝑔𝑎𝑛𝑎</m:t>
                    </m:r>
                  </m:oMath>
                </a14:m>
                <a:endParaRPr lang="es-ES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𝑅𝑎𝑦𝑜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𝑝𝑖𝑒𝑟𝑑𝑒</m:t>
                    </m:r>
                  </m:oMath>
                </a14:m>
                <a:endParaRPr lang="es-ES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𝐸𝑚𝑝𝑎𝑡𝑒</m:t>
                    </m:r>
                  </m:oMath>
                </a14:m>
                <a:endParaRPr lang="es-ES" b="0" dirty="0"/>
              </a:p>
              <a:p>
                <a:r>
                  <a:rPr lang="es-ES" b="0" dirty="0"/>
                  <a:t>Si fueran resultados equiprobables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s-ES" b="0" dirty="0"/>
                  <a:t>Pero no lo son, dependen del presupuesto de cada equipo, calidad de los jugadores, etc.., por lo que se calcula utilizando la historia anterior conocida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=0.11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=0.78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=0.11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Pero </a:t>
                </a:r>
                <a:r>
                  <a:rPr lang="en-US" dirty="0" err="1"/>
                  <a:t>siempre</a:t>
                </a:r>
                <a:r>
                  <a:rPr lang="en-US" dirty="0"/>
                  <a:t> se </a:t>
                </a:r>
                <a:r>
                  <a:rPr lang="en-US" dirty="0" err="1"/>
                  <a:t>cumple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5405715-08D2-3843-82D6-2626F5F133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3969554"/>
              </a:xfrm>
              <a:blipFill>
                <a:blip r:embed="rId3"/>
                <a:stretch>
                  <a:fillRect l="-406" t="-92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A63DF0B-09C7-9A74-9E51-0E52F90DC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10</a:t>
            </a:fld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099F194-D3FE-B32B-A21D-DBA286A51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411" y="5561811"/>
            <a:ext cx="4485409" cy="1027906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476F9D7-B329-7F61-29A0-C8E5E0FD0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317763" y="5795178"/>
            <a:ext cx="13439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Imagen: </a:t>
            </a:r>
            <a:r>
              <a:rPr lang="es-ES" sz="1200" dirty="0">
                <a:hlinkClick r:id="rId5"/>
              </a:rPr>
              <a:t>footystats</a:t>
            </a: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962116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1F3B04-9C67-7F3D-9A72-86A0C0584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2. Conceptos previos</a:t>
            </a:r>
            <a:br>
              <a:rPr lang="es-ES" dirty="0"/>
            </a:br>
            <a:r>
              <a:rPr lang="es-ES" dirty="0"/>
              <a:t>Sucesos dependientes e independientes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5405715-08D2-3843-82D6-2626F5F133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s-ES" dirty="0"/>
                  <a:t>Dos sucesos son independientes cuando la ocurrencia de uno de ellos no influye en la ocurrencia o no de otro</a:t>
                </a:r>
              </a:p>
              <a:p>
                <a:pPr lvl="1"/>
                <a:r>
                  <a:rPr lang="es-ES" dirty="0">
                    <a:hlinkClick r:id="rId2"/>
                  </a:rPr>
                  <a:t>Ejemplo</a:t>
                </a:r>
                <a:r>
                  <a:rPr lang="es-ES" dirty="0"/>
                  <a:t>: Urna con 3 bolas negras y 1 bola verde. Primero se extra una bola, se devuelve a la urna, y luego se extrae otra bola. </a:t>
                </a:r>
              </a:p>
              <a:p>
                <a:pPr lvl="2"/>
                <a:r>
                  <a:rPr lang="es-ES" dirty="0"/>
                  <a:t>Los sucesos “Primera bola verde” y “Segunda bola verde” son independientes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𝑆𝑒𝑔𝑢𝑛𝑑𝑎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𝑏𝑜𝑙𝑎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𝑣𝑒𝑟𝑑𝑒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=0.25</m:t>
                    </m:r>
                  </m:oMath>
                </a14:m>
                <a:r>
                  <a:rPr lang="es-ES" dirty="0"/>
                  <a:t>   En cualquier caso</a:t>
                </a:r>
              </a:p>
              <a:p>
                <a:r>
                  <a:rPr lang="es-ES" dirty="0"/>
                  <a:t>Dos sucesos son dependientes cuando la ocurrencia de uno de ellos influye en la ocurrencia del otro</a:t>
                </a:r>
              </a:p>
              <a:p>
                <a:pPr lvl="1"/>
                <a:r>
                  <a:rPr lang="es-ES" dirty="0">
                    <a:hlinkClick r:id="rId2"/>
                  </a:rPr>
                  <a:t>Ejemplo</a:t>
                </a:r>
                <a:r>
                  <a:rPr lang="es-ES" dirty="0"/>
                  <a:t>: Urna con 3 bolas negras y 1 bola verde. Primero se extra una bola, NO se devuelve a la urna, y luego se extrae otra bola. </a:t>
                </a:r>
              </a:p>
              <a:p>
                <a:pPr lvl="2"/>
                <a:r>
                  <a:rPr lang="es-ES" dirty="0"/>
                  <a:t>Los sucesos “Primera bola verde” y “Segunda bola verde” son dependientes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𝑆𝑒𝑔𝑢𝑛𝑑𝑎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𝑏𝑜𝑙𝑎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𝑣𝑒𝑟𝑑𝑒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s-ES" dirty="0"/>
                  <a:t>         Si ocurrió el suceso “Primera bola verde”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𝑆𝑒𝑔𝑢𝑛𝑑𝑎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𝑏𝑜𝑙𝑎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𝑣𝑒𝑟𝑑𝑒</m:t>
                        </m:r>
                      </m:e>
                    </m:d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.34</m:t>
                    </m:r>
                    <m:r>
                      <m:rPr>
                        <m:nor/>
                      </m:rPr>
                      <a:rPr lang="es-ES" dirty="0"/>
                      <m:t>   </m:t>
                    </m:r>
                    <m:r>
                      <m:rPr>
                        <m:nor/>
                      </m:rPr>
                      <a:rPr lang="es-ES" dirty="0"/>
                      <m:t>Si</m:t>
                    </m:r>
                    <m:r>
                      <m:rPr>
                        <m:nor/>
                      </m:rPr>
                      <a:rPr lang="es-ES" dirty="0"/>
                      <m:t> </m:t>
                    </m:r>
                    <m:r>
                      <m:rPr>
                        <m:nor/>
                      </m:rPr>
                      <a:rPr lang="es-ES" b="0" i="0" dirty="0" smtClean="0"/>
                      <m:t>no</m:t>
                    </m:r>
                    <m:r>
                      <m:rPr>
                        <m:nor/>
                      </m:rPr>
                      <a:rPr lang="es-ES" b="0" i="0" dirty="0" smtClean="0"/>
                      <m:t> </m:t>
                    </m:r>
                    <m:r>
                      <m:rPr>
                        <m:nor/>
                      </m:rPr>
                      <a:rPr lang="es-ES" dirty="0"/>
                      <m:t>ocurri</m:t>
                    </m:r>
                    <m:r>
                      <m:rPr>
                        <m:nor/>
                      </m:rPr>
                      <a:rPr lang="es-ES" dirty="0"/>
                      <m:t>ó </m:t>
                    </m:r>
                    <m:r>
                      <m:rPr>
                        <m:nor/>
                      </m:rPr>
                      <a:rPr lang="es-ES" dirty="0"/>
                      <m:t>el</m:t>
                    </m:r>
                    <m:r>
                      <m:rPr>
                        <m:nor/>
                      </m:rPr>
                      <a:rPr lang="es-ES" dirty="0"/>
                      <m:t> </m:t>
                    </m:r>
                    <m:r>
                      <m:rPr>
                        <m:nor/>
                      </m:rPr>
                      <a:rPr lang="es-ES" dirty="0"/>
                      <m:t>suceso</m:t>
                    </m:r>
                    <m:r>
                      <m:rPr>
                        <m:nor/>
                      </m:rPr>
                      <a:rPr lang="es-ES" dirty="0"/>
                      <m:t> “</m:t>
                    </m:r>
                    <m:r>
                      <m:rPr>
                        <m:nor/>
                      </m:rPr>
                      <a:rPr lang="es-ES" dirty="0"/>
                      <m:t>Primera</m:t>
                    </m:r>
                    <m:r>
                      <m:rPr>
                        <m:nor/>
                      </m:rPr>
                      <a:rPr lang="es-ES" dirty="0"/>
                      <m:t> </m:t>
                    </m:r>
                    <m:r>
                      <m:rPr>
                        <m:nor/>
                      </m:rPr>
                      <a:rPr lang="es-ES" dirty="0"/>
                      <m:t>bola</m:t>
                    </m:r>
                    <m:r>
                      <m:rPr>
                        <m:nor/>
                      </m:rPr>
                      <a:rPr lang="es-ES" dirty="0"/>
                      <m:t> </m:t>
                    </m:r>
                    <m:r>
                      <m:rPr>
                        <m:nor/>
                      </m:rPr>
                      <a:rPr lang="es-ES" dirty="0"/>
                      <m:t>verde</m:t>
                    </m:r>
                    <m:r>
                      <m:rPr>
                        <m:nor/>
                      </m:rPr>
                      <a:rPr lang="es-ES" dirty="0"/>
                      <m:t>”</m:t>
                    </m:r>
                  </m:oMath>
                </a14:m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5405715-08D2-3843-82D6-2626F5F133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  <a:blipFill>
                <a:blip r:embed="rId3"/>
                <a:stretch>
                  <a:fillRect l="-928" t="-2488" r="-110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A63DF0B-09C7-9A74-9E51-0E52F90DC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43271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89EC7A-6449-147F-E344-BD93ED426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 Combinatoria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D596D89-685B-9850-DAFA-02F0AD2687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" dirty="0"/>
                  <a:t>Regla de Laplace: probabilidad de que ocurra un suceso o evento E en un experimento con resultados equiprobables: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ú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𝑚𝑒𝑟𝑜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𝑑𝑒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𝑟𝑒𝑠𝑢𝑙𝑡𝑎𝑑𝑜𝑠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𝑓𝑎𝑣𝑜𝑟𝑎𝑏𝑙𝑒𝑠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ú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𝑚𝑒𝑟𝑜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𝑑𝑒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𝑟𝑒𝑠𝑢𝑙𝑡𝑎𝑑𝑜𝑠</m:t>
                        </m:r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den>
                    </m:f>
                  </m:oMath>
                </a14:m>
                <a:endParaRPr lang="es-ES" dirty="0"/>
              </a:p>
              <a:p>
                <a:r>
                  <a:rPr lang="es-ES" dirty="0"/>
                  <a:t>Cuando el número de resultados totales o favorables es grande, hay que aplicar combinatoria para contabilizar las posibles combinaciones</a:t>
                </a:r>
              </a:p>
              <a:p>
                <a:r>
                  <a:rPr lang="es-ES" dirty="0"/>
                  <a:t>Ejemplo:  </a:t>
                </a:r>
              </a:p>
              <a:p>
                <a:pPr lvl="1"/>
                <a:r>
                  <a:rPr lang="es-ES" dirty="0"/>
                  <a:t>Probabilidad de que al comprar un billete de lotería de 5 cifras elegido al azar no tenga ninguna cifra repetida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ú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𝑚𝑒𝑟𝑜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𝑑𝑒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𝑏𝑖𝑙𝑙𝑒𝑡𝑒𝑠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𝑑𝑒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𝑙𝑜𝑡𝑒𝑟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í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𝑑𝑒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5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𝑐𝑖𝑓𝑟𝑎𝑠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𝑐𝑜𝑛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𝑛𝑖𝑛𝑔𝑢𝑛𝑎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𝑟𝑒𝑝𝑒𝑡𝑖𝑑𝑎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ú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𝑚𝑒𝑟𝑜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𝑑𝑒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𝑏𝑖𝑙𝑙𝑒𝑡𝑒𝑠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𝑑𝑒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𝑙𝑜𝑡𝑒𝑟𝑖𝑎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𝑐𝑜𝑛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5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𝑐𝑖𝑓𝑟𝑎𝑠</m:t>
                        </m:r>
                      </m:den>
                    </m:f>
                  </m:oMath>
                </a14:m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D596D89-685B-9850-DAFA-02F0AD2687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39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21CB91B-540B-F48E-577B-FCD9D89D4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04614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358841-E9A7-DA30-E69B-EBA394CE0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3. Combinatoria</a:t>
            </a:r>
            <a:br>
              <a:rPr lang="es-ES" dirty="0"/>
            </a:br>
            <a:r>
              <a:rPr lang="es-ES" sz="3600" dirty="0"/>
              <a:t>Operaciones de conteo: permutaciones y combinaciones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13C376-F0F7-A41C-494D-F26E10890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5850"/>
          </a:xfrm>
        </p:spPr>
        <p:txBody>
          <a:bodyPr>
            <a:normAutofit fontScale="85000" lnSpcReduction="20000"/>
          </a:bodyPr>
          <a:lstStyle/>
          <a:p>
            <a:r>
              <a:rPr lang="es-ES" dirty="0"/>
              <a:t>Se trata de contar el número de grupos de k elementos que se pueden formar, a partir de un conjunto de n posibles elementos</a:t>
            </a:r>
          </a:p>
          <a:p>
            <a:r>
              <a:rPr lang="es-ES" dirty="0"/>
              <a:t>Ejemplo: Se dispone de n=3 letras A, B, C y se quieren formar grupos de k=2 letras</a:t>
            </a:r>
          </a:p>
          <a:p>
            <a:r>
              <a:rPr lang="es-ES" b="1" dirty="0"/>
              <a:t>Permutaciones (o variaciones)</a:t>
            </a:r>
            <a:r>
              <a:rPr lang="es-ES" dirty="0"/>
              <a:t>: El orden de los elementos sí importa</a:t>
            </a:r>
          </a:p>
          <a:p>
            <a:pPr lvl="1"/>
            <a:r>
              <a:rPr lang="es-ES" dirty="0"/>
              <a:t>Ejemplo: No es igual “AB” que “BA” y se cuentan como 2 grupos diferentes</a:t>
            </a:r>
          </a:p>
          <a:p>
            <a:pPr lvl="1"/>
            <a:r>
              <a:rPr lang="es-ES" dirty="0"/>
              <a:t>Permutaciones con repetición (o reposición): se pueden repetir elementos iguales en cada grupo</a:t>
            </a:r>
          </a:p>
          <a:p>
            <a:pPr lvl="2"/>
            <a:r>
              <a:rPr lang="es-ES" dirty="0"/>
              <a:t>Ejemplo: El número de permutaciones con repetición es 9 </a:t>
            </a:r>
            <a:r>
              <a:rPr lang="es-ES" dirty="0">
                <a:sym typeface="Wingdings" panose="05000000000000000000" pitchFamily="2" charset="2"/>
              </a:rPr>
              <a:t> </a:t>
            </a:r>
            <a:r>
              <a:rPr lang="es-ES" dirty="0"/>
              <a:t>AA, AB, AC, BA, BB, BC, CA, CB, CC</a:t>
            </a:r>
          </a:p>
          <a:p>
            <a:pPr lvl="1"/>
            <a:r>
              <a:rPr lang="es-ES" dirty="0"/>
              <a:t>Permutaciones sin repetición (o reposición): no se pueden repetir elementos</a:t>
            </a:r>
          </a:p>
          <a:p>
            <a:pPr lvl="2"/>
            <a:r>
              <a:rPr lang="es-ES" dirty="0"/>
              <a:t>Ejemplo: El número de permutaciones sin repetición es 6 </a:t>
            </a:r>
            <a:r>
              <a:rPr lang="es-ES" dirty="0">
                <a:sym typeface="Wingdings" panose="05000000000000000000" pitchFamily="2" charset="2"/>
              </a:rPr>
              <a:t> </a:t>
            </a:r>
            <a:r>
              <a:rPr lang="es-ES" dirty="0"/>
              <a:t>AB, AC, BA, BC, CB</a:t>
            </a:r>
          </a:p>
          <a:p>
            <a:r>
              <a:rPr lang="es-ES" b="1" dirty="0"/>
              <a:t>Combinaciones</a:t>
            </a:r>
            <a:r>
              <a:rPr lang="es-ES" dirty="0"/>
              <a:t>: El orden de los elementos no importa</a:t>
            </a:r>
          </a:p>
          <a:p>
            <a:pPr lvl="1"/>
            <a:r>
              <a:rPr lang="es-ES" dirty="0"/>
              <a:t>Ejemplo: Es igual “AB” que “BA” y se cuenta como 1 grupo</a:t>
            </a:r>
          </a:p>
          <a:p>
            <a:pPr lvl="1"/>
            <a:r>
              <a:rPr lang="es-ES" dirty="0"/>
              <a:t>Combinaciones con repetición (o reposición)</a:t>
            </a:r>
          </a:p>
          <a:p>
            <a:pPr lvl="2"/>
            <a:r>
              <a:rPr lang="es-ES" dirty="0"/>
              <a:t>Ejemplo: El número de combinaciones con repetición es 6 </a:t>
            </a:r>
            <a:r>
              <a:rPr lang="es-ES" dirty="0">
                <a:sym typeface="Wingdings" panose="05000000000000000000" pitchFamily="2" charset="2"/>
              </a:rPr>
              <a:t> </a:t>
            </a:r>
            <a:r>
              <a:rPr lang="es-ES" dirty="0"/>
              <a:t>AA, AB, AC, BB, BC, CC</a:t>
            </a:r>
          </a:p>
          <a:p>
            <a:pPr lvl="1"/>
            <a:r>
              <a:rPr lang="es-ES" dirty="0"/>
              <a:t>Combinaciones sin repetición (o reposición)</a:t>
            </a:r>
          </a:p>
          <a:p>
            <a:pPr lvl="2"/>
            <a:r>
              <a:rPr lang="es-ES" dirty="0"/>
              <a:t>Ejemplo: El número de combinaciones sin repetición es 3 </a:t>
            </a:r>
            <a:r>
              <a:rPr lang="es-ES" dirty="0">
                <a:sym typeface="Wingdings" panose="05000000000000000000" pitchFamily="2" charset="2"/>
              </a:rPr>
              <a:t> </a:t>
            </a:r>
            <a:r>
              <a:rPr lang="es-ES" dirty="0"/>
              <a:t>AB, AC, BC</a:t>
            </a:r>
          </a:p>
          <a:p>
            <a:pPr lvl="2"/>
            <a:endParaRPr lang="es-ES" dirty="0"/>
          </a:p>
          <a:p>
            <a:pPr lvl="2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D816834-DF07-C219-C158-6D16813B7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900785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358841-E9A7-DA30-E69B-EBA394CE0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 Combinatoria</a:t>
            </a:r>
            <a:br>
              <a:rPr lang="es-ES" dirty="0"/>
            </a:br>
            <a:r>
              <a:rPr lang="es-ES" dirty="0"/>
              <a:t>Operaciones de conteo: Fórmulas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D816834-DF07-C219-C158-6D16813B7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14</a:t>
            </a:fld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4526064E-3C6D-3781-1E35-F35E4F0499F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6598804"/>
                  </p:ext>
                </p:extLst>
              </p:nvPr>
            </p:nvGraphicFramePr>
            <p:xfrm>
              <a:off x="838200" y="1952811"/>
              <a:ext cx="10515600" cy="338277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005361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1639229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  <a:gridCol w="1204332">
                      <a:extLst>
                        <a:ext uri="{9D8B030D-6E8A-4147-A177-3AD203B41FA5}">
                          <a16:colId xmlns:a16="http://schemas.microsoft.com/office/drawing/2014/main" val="2261216985"/>
                        </a:ext>
                      </a:extLst>
                    </a:gridCol>
                    <a:gridCol w="5666678">
                      <a:extLst>
                        <a:ext uri="{9D8B030D-6E8A-4147-A177-3AD203B41FA5}">
                          <a16:colId xmlns:a16="http://schemas.microsoft.com/office/drawing/2014/main" val="197560335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/>
                            <a:t>Operación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/>
                            <a:t>Importa el orden de los elementos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/>
                            <a:t>Se pueden repetir los elementos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/>
                            <a:t>Fórmula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370840">
                    <a:tc rowSpan="2">
                      <a:txBody>
                        <a:bodyPr/>
                        <a:lstStyle/>
                        <a:p>
                          <a:r>
                            <a:rPr lang="es-ES" dirty="0"/>
                            <a:t>PERMUTACIONES o VARIACIONES</a:t>
                          </a:r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dirty="0"/>
                            <a:t>Si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dirty="0"/>
                            <a:t>Si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E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68006004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s-E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dirty="0"/>
                            <a:t>No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s-E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d>
                                  <m:dPr>
                                    <m:ctrlP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d>
                                  <m:dPr>
                                    <m:ctrlP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e>
                                </m:d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  <m:d>
                                  <m:dPr>
                                    <m:ctrlP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e>
                                </m:d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!</m:t>
                                    </m:r>
                                  </m:num>
                                  <m:den>
                                    <m:d>
                                      <m:dPr>
                                        <m:ctrlPr>
                                          <a:rPr lang="es-E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s-ES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s-ES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</m:d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!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E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90849356"/>
                      </a:ext>
                    </a:extLst>
                  </a:tr>
                  <a:tr h="370840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dirty="0"/>
                            <a:t>COMBINACIONES</a:t>
                          </a:r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80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No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80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Si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8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8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s-ES" sz="18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𝑟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s-ES" sz="18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8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  <m:r>
                                      <a:rPr lang="es-ES" sz="18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,</m:t>
                                    </m:r>
                                    <m:r>
                                      <a:rPr lang="es-ES" sz="18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s-ES" sz="18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s-ES" sz="18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s-ES" sz="18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s-ES" sz="18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es-ES" sz="18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s-ES" sz="18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s-ES" sz="18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−1</m:t>
                                        </m:r>
                                      </m:num>
                                      <m:den>
                                        <m:r>
                                          <a:rPr lang="es-ES" sz="18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𝑘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s-ES" sz="18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8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ctrlPr>
                                          <a:rPr lang="es-ES" sz="18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sz="18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es-ES" sz="18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s-ES" sz="18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s-ES" sz="18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  <m:r>
                                      <a:rPr lang="es-ES" sz="18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!</m:t>
                                    </m:r>
                                  </m:num>
                                  <m:den>
                                    <m:r>
                                      <a:rPr lang="es-ES" sz="18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𝑘</m:t>
                                    </m:r>
                                    <m:r>
                                      <a:rPr lang="es-ES" sz="18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!</m:t>
                                    </m:r>
                                    <m:d>
                                      <m:dPr>
                                        <m:ctrlPr>
                                          <a:rPr lang="es-ES" sz="18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sz="18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s-ES" sz="18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  <m:r>
                                      <a:rPr lang="es-ES" sz="18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!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ES" sz="18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32647725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endParaRPr lang="es-ES" sz="18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80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No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80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𝐶</m:t>
                                </m:r>
                                <m:d>
                                  <m:dPr>
                                    <m:ctrlPr>
                                      <a:rPr lang="es-ES" sz="18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8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  <m:r>
                                      <a:rPr lang="es-ES" sz="18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,</m:t>
                                    </m:r>
                                    <m:r>
                                      <a:rPr lang="es-ES" sz="18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s-ES" sz="18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s-ES" sz="18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s-ES" sz="18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s-ES" sz="18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𝑛</m:t>
                                        </m:r>
                                      </m:num>
                                      <m:den>
                                        <m:r>
                                          <a:rPr lang="es-ES" sz="18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𝑘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s-ES" sz="18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8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ES" sz="18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  <m:r>
                                      <a:rPr lang="es-ES" sz="18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!</m:t>
                                    </m:r>
                                  </m:num>
                                  <m:den>
                                    <m:r>
                                      <a:rPr lang="es-ES" sz="18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𝑘</m:t>
                                    </m:r>
                                    <m:r>
                                      <a:rPr lang="es-ES" sz="18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!</m:t>
                                    </m:r>
                                    <m:d>
                                      <m:dPr>
                                        <m:ctrlPr>
                                          <a:rPr lang="es-ES" sz="18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sz="18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s-ES" sz="18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s-ES" sz="18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𝑘</m:t>
                                        </m:r>
                                      </m:e>
                                    </m:d>
                                    <m:r>
                                      <a:rPr lang="es-ES" sz="18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!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ES" sz="18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5486227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4526064E-3C6D-3781-1E35-F35E4F0499F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6598804"/>
                  </p:ext>
                </p:extLst>
              </p:nvPr>
            </p:nvGraphicFramePr>
            <p:xfrm>
              <a:off x="838200" y="1952811"/>
              <a:ext cx="10515600" cy="338277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005361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1639229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  <a:gridCol w="1204332">
                      <a:extLst>
                        <a:ext uri="{9D8B030D-6E8A-4147-A177-3AD203B41FA5}">
                          <a16:colId xmlns:a16="http://schemas.microsoft.com/office/drawing/2014/main" val="2261216985"/>
                        </a:ext>
                      </a:extLst>
                    </a:gridCol>
                    <a:gridCol w="5666678">
                      <a:extLst>
                        <a:ext uri="{9D8B030D-6E8A-4147-A177-3AD203B41FA5}">
                          <a16:colId xmlns:a16="http://schemas.microsoft.com/office/drawing/2014/main" val="1975603357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/>
                            <a:t>Operación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/>
                            <a:t>Importa el orden de los elementos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/>
                            <a:t>Se pueden repetir los elementos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/>
                            <a:t>Fórmula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370840">
                    <a:tc rowSpan="2">
                      <a:txBody>
                        <a:bodyPr/>
                        <a:lstStyle/>
                        <a:p>
                          <a:r>
                            <a:rPr lang="es-ES" dirty="0"/>
                            <a:t>PERMUTACIONES o VARIACIONES</a:t>
                          </a:r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dirty="0"/>
                            <a:t>Si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dirty="0"/>
                            <a:t>Si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5699" t="-254098" r="-215" b="-5688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8006004"/>
                      </a:ext>
                    </a:extLst>
                  </a:tr>
                  <a:tr h="643827">
                    <a:tc vMerge="1">
                      <a:txBody>
                        <a:bodyPr/>
                        <a:lstStyle/>
                        <a:p>
                          <a:endParaRPr lang="es-E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dirty="0"/>
                            <a:t>No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5699" t="-203774" r="-215" b="-2273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0849356"/>
                      </a:ext>
                    </a:extLst>
                  </a:tr>
                  <a:tr h="761048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dirty="0"/>
                            <a:t>COMBINACIONES</a:t>
                          </a:r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80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No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80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Si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85699" t="-257600" r="-215" b="-928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2647725"/>
                      </a:ext>
                    </a:extLst>
                  </a:tr>
                  <a:tr h="692658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endParaRPr lang="es-ES" sz="18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80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No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85699" t="-392105" r="-215" b="-1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862271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6F57A438-75D0-8E39-E704-4E2EFFD1DD3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/>
              <p:nvPr/>
            </p:nvSpPr>
            <p:spPr>
              <a:xfrm>
                <a:off x="849351" y="5597708"/>
                <a:ext cx="773121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dirty="0"/>
                  <a:t>NOTA: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!=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𝑓𝑎𝑐𝑡𝑜𝑟𝑖𝑎𝑙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𝑑𝑒𝑙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ú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𝑚𝑒𝑟𝑜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𝑒𝑛𝑡𝑒𝑟𝑜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=1∙2∙3∙4⋯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" dirty="0"/>
                  <a:t>, siendo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0!=1</m:t>
                    </m:r>
                  </m:oMath>
                </a14:m>
                <a:endParaRPr lang="es-ES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6F57A438-75D0-8E39-E704-4E2EFFD1DD3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351" y="5597708"/>
                <a:ext cx="7731219" cy="369332"/>
              </a:xfrm>
              <a:prstGeom prst="rect">
                <a:avLst/>
              </a:prstGeom>
              <a:blipFill>
                <a:blip r:embed="rId3"/>
                <a:stretch>
                  <a:fillRect l="-630" t="-8197" b="-2459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5749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539B9E-E8DB-7ACC-A2C7-8B44AAD52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3. Combinatoria</a:t>
            </a:r>
            <a:br>
              <a:rPr lang="es-ES" dirty="0"/>
            </a:br>
            <a:r>
              <a:rPr lang="es-ES" dirty="0"/>
              <a:t>Ejemplo 2.28 (Permutaciones sin repetición)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06647EA-3834-2AB9-5AE3-73AAFB383A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993240" cy="4667250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¿De </a:t>
                </a:r>
                <a:r>
                  <a:rPr lang="en-US" dirty="0" err="1"/>
                  <a:t>cuantas</a:t>
                </a:r>
                <a:r>
                  <a:rPr lang="en-US" dirty="0"/>
                  <a:t> </a:t>
                </a:r>
                <a:r>
                  <a:rPr lang="en-US" dirty="0" err="1"/>
                  <a:t>formas</a:t>
                </a:r>
                <a:r>
                  <a:rPr lang="en-US" dirty="0"/>
                  <a:t> se </a:t>
                </a:r>
                <a:r>
                  <a:rPr lang="en-US" dirty="0" err="1"/>
                  <a:t>pueden</a:t>
                </a:r>
                <a:r>
                  <a:rPr lang="en-US" dirty="0"/>
                  <a:t> </a:t>
                </a:r>
                <a:r>
                  <a:rPr lang="en-US" dirty="0" err="1"/>
                  <a:t>sentar</a:t>
                </a:r>
                <a:r>
                  <a:rPr lang="en-US" dirty="0"/>
                  <a:t> 10 </a:t>
                </a:r>
                <a:r>
                  <a:rPr lang="en-US" dirty="0" err="1"/>
                  <a:t>estudiantes</a:t>
                </a:r>
                <a:r>
                  <a:rPr lang="en-US" dirty="0"/>
                  <a:t> en </a:t>
                </a:r>
                <a:r>
                  <a:rPr lang="en-US" dirty="0" err="1"/>
                  <a:t>una</a:t>
                </a:r>
                <a:r>
                  <a:rPr lang="en-US" dirty="0"/>
                  <a:t> </a:t>
                </a:r>
                <a:r>
                  <a:rPr lang="en-US" dirty="0" err="1"/>
                  <a:t>clase</a:t>
                </a:r>
                <a:r>
                  <a:rPr lang="en-US" dirty="0"/>
                  <a:t> con 15 </a:t>
                </a:r>
                <a:r>
                  <a:rPr lang="en-US" dirty="0" err="1"/>
                  <a:t>sillas</a:t>
                </a:r>
                <a:r>
                  <a:rPr lang="en-US" dirty="0"/>
                  <a:t>?</a:t>
                </a:r>
              </a:p>
              <a:p>
                <a:r>
                  <a:rPr lang="en-US" dirty="0" err="1"/>
                  <a:t>Solución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=15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𝑠𝑖𝑙𝑙𝑎𝑠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=10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𝑒𝑠𝑡𝑢𝑑𝑖𝑎𝑛𝑡𝑒𝑠</m:t>
                    </m:r>
                  </m:oMath>
                </a14:m>
                <a:r>
                  <a:rPr lang="en-US" dirty="0"/>
                  <a:t> </a:t>
                </a:r>
                <a:endParaRPr lang="en-US" dirty="0">
                  <a:sym typeface="Wingdings" panose="05000000000000000000" pitchFamily="2" charset="2"/>
                </a:endParaRPr>
              </a:p>
              <a:p>
                <a:pPr lvl="1"/>
                <a:r>
                  <a:rPr lang="en-US" dirty="0"/>
                  <a:t>Las 15 </a:t>
                </a:r>
                <a:r>
                  <a:rPr lang="en-US" dirty="0" err="1"/>
                  <a:t>sillas</a:t>
                </a:r>
                <a:r>
                  <a:rPr lang="en-US" dirty="0"/>
                  <a:t> </a:t>
                </a:r>
                <a:r>
                  <a:rPr lang="en-US" dirty="0" err="1"/>
                  <a:t>pueden</a:t>
                </a:r>
                <a:r>
                  <a:rPr lang="en-US" dirty="0"/>
                  <a:t> </a:t>
                </a:r>
                <a:r>
                  <a:rPr lang="en-US" dirty="0" err="1"/>
                  <a:t>asimilarse</a:t>
                </a:r>
                <a:r>
                  <a:rPr lang="en-US" dirty="0"/>
                  <a:t> a </a:t>
                </a:r>
                <a:r>
                  <a:rPr lang="en-US" dirty="0" err="1"/>
                  <a:t>letras</a:t>
                </a:r>
                <a:r>
                  <a:rPr lang="en-US" dirty="0"/>
                  <a:t>: </a:t>
                </a:r>
              </a:p>
              <a:p>
                <a:pPr lvl="2"/>
                <a:r>
                  <a:rPr lang="en-US" dirty="0">
                    <a:sym typeface="Wingdings" panose="05000000000000000000" pitchFamily="2" charset="2"/>
                  </a:rPr>
                  <a:t>A, B, C, D, E, F, G, H, I, J, K, L, M, N, O</a:t>
                </a:r>
                <a:endParaRPr lang="en-US" dirty="0"/>
              </a:p>
              <a:p>
                <a:pPr lvl="2"/>
                <a:r>
                  <a:rPr lang="en-US" dirty="0"/>
                  <a:t>Hay que </a:t>
                </a:r>
                <a:r>
                  <a:rPr lang="en-US" dirty="0" err="1"/>
                  <a:t>formar</a:t>
                </a:r>
                <a:r>
                  <a:rPr lang="en-US" dirty="0"/>
                  <a:t> </a:t>
                </a:r>
                <a:r>
                  <a:rPr lang="en-US" dirty="0" err="1"/>
                  <a:t>grupos</a:t>
                </a:r>
                <a:r>
                  <a:rPr lang="en-US" dirty="0"/>
                  <a:t> de 10 </a:t>
                </a:r>
                <a:r>
                  <a:rPr lang="en-US" dirty="0" err="1"/>
                  <a:t>letras</a:t>
                </a:r>
                <a:endParaRPr lang="en-US" dirty="0"/>
              </a:p>
              <a:p>
                <a:pPr lvl="1"/>
                <a:r>
                  <a:rPr lang="en-US" dirty="0" err="1"/>
                  <a:t>Sí</a:t>
                </a:r>
                <a:r>
                  <a:rPr lang="en-US" dirty="0"/>
                  <a:t> </a:t>
                </a:r>
                <a:r>
                  <a:rPr lang="en-US" dirty="0" err="1"/>
                  <a:t>importa</a:t>
                </a:r>
                <a:r>
                  <a:rPr lang="en-US" dirty="0"/>
                  <a:t> </a:t>
                </a:r>
                <a:r>
                  <a:rPr lang="en-US" dirty="0" err="1"/>
                  <a:t>el</a:t>
                </a:r>
                <a:r>
                  <a:rPr lang="en-US" dirty="0"/>
                  <a:t> </a:t>
                </a:r>
                <a:r>
                  <a:rPr lang="en-US" dirty="0" err="1"/>
                  <a:t>orden</a:t>
                </a:r>
                <a:endParaRPr lang="en-US" dirty="0"/>
              </a:p>
              <a:p>
                <a:pPr lvl="1"/>
                <a:r>
                  <a:rPr lang="en-US" dirty="0"/>
                  <a:t>No </a:t>
                </a:r>
                <a:r>
                  <a:rPr lang="en-US" dirty="0" err="1"/>
                  <a:t>puede</a:t>
                </a:r>
                <a:r>
                  <a:rPr lang="en-US" dirty="0"/>
                  <a:t> </a:t>
                </a:r>
                <a:r>
                  <a:rPr lang="en-US" dirty="0" err="1"/>
                  <a:t>haber</a:t>
                </a:r>
                <a:r>
                  <a:rPr lang="en-US" dirty="0"/>
                  <a:t> </a:t>
                </a:r>
                <a:r>
                  <a:rPr lang="en-US" dirty="0" err="1"/>
                  <a:t>repetición</a:t>
                </a:r>
                <a:endParaRPr lang="en-US" dirty="0"/>
              </a:p>
              <a:p>
                <a:pPr lvl="1"/>
                <a:r>
                  <a:rPr lang="en-US" dirty="0"/>
                  <a:t>Por tanto, son PERMUTACIONES SIN REPETICIÓN</a:t>
                </a:r>
              </a:p>
              <a:p>
                <a:pPr lvl="1"/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d>
                          <m:d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15!</m:t>
                        </m:r>
                      </m:num>
                      <m:den>
                        <m:d>
                          <m:d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15−10</m:t>
                            </m:r>
                          </m:e>
                        </m:d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∙2∙3∙4∙5∙6∙7∙8∙9∙10∙11∙12∙13∙14∙15</m:t>
                        </m:r>
                      </m:num>
                      <m:den>
                        <m:r>
                          <a:rPr lang="es-ES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∙2∙3∙4∙5</m:t>
                        </m:r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br>
                  <a:rPr lang="es-ES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=6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∙7∙8∙9∙10∙11∙12∙13∙14∙15=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10897286400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𝑓𝑜𝑟𝑚𝑎𝑠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𝑑𝑖𝑓𝑒𝑟𝑒𝑛𝑡𝑒𝑠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06647EA-3834-2AB9-5AE3-73AAFB383A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993240" cy="4667250"/>
              </a:xfrm>
              <a:blipFill>
                <a:blip r:embed="rId2"/>
                <a:stretch>
                  <a:fillRect l="-887" t="-326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096E7AA-4B1F-3111-F6F0-BC2BB393D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15</a:t>
            </a:fld>
            <a:endParaRPr lang="es-ES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9DC52BB6-79AF-3209-D4EE-8229028C1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4812193"/>
              </p:ext>
            </p:extLst>
          </p:nvPr>
        </p:nvGraphicFramePr>
        <p:xfrm>
          <a:off x="7460164" y="2693426"/>
          <a:ext cx="422631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2631">
                  <a:extLst>
                    <a:ext uri="{9D8B030D-6E8A-4147-A177-3AD203B41FA5}">
                      <a16:colId xmlns:a16="http://schemas.microsoft.com/office/drawing/2014/main" val="2199762950"/>
                    </a:ext>
                  </a:extLst>
                </a:gridCol>
                <a:gridCol w="422631">
                  <a:extLst>
                    <a:ext uri="{9D8B030D-6E8A-4147-A177-3AD203B41FA5}">
                      <a16:colId xmlns:a16="http://schemas.microsoft.com/office/drawing/2014/main" val="1560092833"/>
                    </a:ext>
                  </a:extLst>
                </a:gridCol>
                <a:gridCol w="422631">
                  <a:extLst>
                    <a:ext uri="{9D8B030D-6E8A-4147-A177-3AD203B41FA5}">
                      <a16:colId xmlns:a16="http://schemas.microsoft.com/office/drawing/2014/main" val="200497864"/>
                    </a:ext>
                  </a:extLst>
                </a:gridCol>
                <a:gridCol w="422631">
                  <a:extLst>
                    <a:ext uri="{9D8B030D-6E8A-4147-A177-3AD203B41FA5}">
                      <a16:colId xmlns:a16="http://schemas.microsoft.com/office/drawing/2014/main" val="3766136002"/>
                    </a:ext>
                  </a:extLst>
                </a:gridCol>
                <a:gridCol w="422631">
                  <a:extLst>
                    <a:ext uri="{9D8B030D-6E8A-4147-A177-3AD203B41FA5}">
                      <a16:colId xmlns:a16="http://schemas.microsoft.com/office/drawing/2014/main" val="173787834"/>
                    </a:ext>
                  </a:extLst>
                </a:gridCol>
                <a:gridCol w="422631">
                  <a:extLst>
                    <a:ext uri="{9D8B030D-6E8A-4147-A177-3AD203B41FA5}">
                      <a16:colId xmlns:a16="http://schemas.microsoft.com/office/drawing/2014/main" val="2330176193"/>
                    </a:ext>
                  </a:extLst>
                </a:gridCol>
                <a:gridCol w="422631">
                  <a:extLst>
                    <a:ext uri="{9D8B030D-6E8A-4147-A177-3AD203B41FA5}">
                      <a16:colId xmlns:a16="http://schemas.microsoft.com/office/drawing/2014/main" val="4250892369"/>
                    </a:ext>
                  </a:extLst>
                </a:gridCol>
                <a:gridCol w="422631">
                  <a:extLst>
                    <a:ext uri="{9D8B030D-6E8A-4147-A177-3AD203B41FA5}">
                      <a16:colId xmlns:a16="http://schemas.microsoft.com/office/drawing/2014/main" val="2789478759"/>
                    </a:ext>
                  </a:extLst>
                </a:gridCol>
                <a:gridCol w="422631">
                  <a:extLst>
                    <a:ext uri="{9D8B030D-6E8A-4147-A177-3AD203B41FA5}">
                      <a16:colId xmlns:a16="http://schemas.microsoft.com/office/drawing/2014/main" val="2881092168"/>
                    </a:ext>
                  </a:extLst>
                </a:gridCol>
                <a:gridCol w="422631">
                  <a:extLst>
                    <a:ext uri="{9D8B030D-6E8A-4147-A177-3AD203B41FA5}">
                      <a16:colId xmlns:a16="http://schemas.microsoft.com/office/drawing/2014/main" val="19506943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3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4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5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6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7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8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9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3547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J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259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J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851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4995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53818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16663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539B9E-E8DB-7ACC-A2C7-8B44AAD52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 Combinatoria</a:t>
            </a:r>
            <a:br>
              <a:rPr lang="es-ES" dirty="0"/>
            </a:br>
            <a:r>
              <a:rPr lang="es-ES" dirty="0"/>
              <a:t>Ejemplo 2.27 (Permutaciones con repetición)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06647EA-3834-2AB9-5AE3-73AAFB383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En un sitio web se </a:t>
            </a:r>
            <a:r>
              <a:rPr lang="en-US" dirty="0" err="1"/>
              <a:t>exige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password de 8 </a:t>
            </a:r>
            <a:r>
              <a:rPr lang="en-US" dirty="0" err="1"/>
              <a:t>caracteres</a:t>
            </a:r>
            <a:endParaRPr lang="en-US" dirty="0"/>
          </a:p>
          <a:p>
            <a:r>
              <a:rPr lang="en-US" dirty="0"/>
              <a:t>Se </a:t>
            </a:r>
            <a:r>
              <a:rPr lang="en-US" dirty="0" err="1"/>
              <a:t>pueden</a:t>
            </a:r>
            <a:r>
              <a:rPr lang="en-US" dirty="0"/>
              <a:t> usar </a:t>
            </a:r>
            <a:r>
              <a:rPr lang="en-US" dirty="0" err="1"/>
              <a:t>dígitos</a:t>
            </a:r>
            <a:r>
              <a:rPr lang="en-US" dirty="0"/>
              <a:t> de 0 a 9, y </a:t>
            </a:r>
            <a:r>
              <a:rPr lang="en-US" dirty="0" err="1"/>
              <a:t>letras</a:t>
            </a:r>
            <a:r>
              <a:rPr lang="en-US" dirty="0"/>
              <a:t> </a:t>
            </a:r>
            <a:r>
              <a:rPr lang="en-US" dirty="0" err="1"/>
              <a:t>mayúsculas</a:t>
            </a:r>
            <a:r>
              <a:rPr lang="en-US" dirty="0"/>
              <a:t> y </a:t>
            </a:r>
            <a:r>
              <a:rPr lang="en-US" dirty="0" err="1"/>
              <a:t>minúsculas</a:t>
            </a:r>
            <a:r>
              <a:rPr lang="en-US" dirty="0"/>
              <a:t>, </a:t>
            </a:r>
            <a:r>
              <a:rPr lang="en-US" dirty="0" err="1"/>
              <a:t>teniendo</a:t>
            </a:r>
            <a:r>
              <a:rPr lang="en-US" dirty="0"/>
              <a:t> en </a:t>
            </a:r>
            <a:r>
              <a:rPr lang="en-US" dirty="0" err="1"/>
              <a:t>cuenta</a:t>
            </a:r>
            <a:r>
              <a:rPr lang="en-US" dirty="0"/>
              <a:t> un </a:t>
            </a:r>
            <a:r>
              <a:rPr lang="en-US" dirty="0" err="1"/>
              <a:t>alfabeto</a:t>
            </a:r>
            <a:r>
              <a:rPr lang="en-US" dirty="0"/>
              <a:t> de 26 </a:t>
            </a:r>
            <a:r>
              <a:rPr lang="en-US" dirty="0" err="1"/>
              <a:t>letras</a:t>
            </a:r>
            <a:endParaRPr lang="en-US" dirty="0"/>
          </a:p>
          <a:p>
            <a:r>
              <a:rPr lang="en-US" dirty="0"/>
              <a:t>Un </a:t>
            </a:r>
            <a:r>
              <a:rPr lang="en-US" dirty="0" err="1"/>
              <a:t>programa</a:t>
            </a:r>
            <a:r>
              <a:rPr lang="en-US" dirty="0"/>
              <a:t> </a:t>
            </a:r>
            <a:r>
              <a:rPr lang="en-US" dirty="0" err="1"/>
              <a:t>espía</a:t>
            </a:r>
            <a:r>
              <a:rPr lang="en-US" dirty="0"/>
              <a:t> 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probar</a:t>
            </a:r>
            <a:r>
              <a:rPr lang="en-US" dirty="0"/>
              <a:t> 1 </a:t>
            </a:r>
            <a:r>
              <a:rPr lang="en-US" dirty="0" err="1"/>
              <a:t>millón</a:t>
            </a:r>
            <a:r>
              <a:rPr lang="en-US" dirty="0"/>
              <a:t> de passwords en 1 </a:t>
            </a:r>
            <a:r>
              <a:rPr lang="en-US" dirty="0" err="1"/>
              <a:t>segundo</a:t>
            </a:r>
            <a:endParaRPr lang="en-US" dirty="0"/>
          </a:p>
          <a:p>
            <a:pPr lvl="1"/>
            <a:r>
              <a:rPr lang="en-US" dirty="0"/>
              <a:t>a) ¿</a:t>
            </a:r>
            <a:r>
              <a:rPr lang="en-US" dirty="0" err="1"/>
              <a:t>Cuál</a:t>
            </a:r>
            <a:r>
              <a:rPr lang="en-US" dirty="0"/>
              <a:t> es la </a:t>
            </a:r>
            <a:r>
              <a:rPr lang="en-US" dirty="0" err="1"/>
              <a:t>probabilidad</a:t>
            </a:r>
            <a:r>
              <a:rPr lang="en-US" dirty="0"/>
              <a:t> de que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programa</a:t>
            </a:r>
            <a:r>
              <a:rPr lang="en-US" dirty="0"/>
              <a:t> </a:t>
            </a:r>
            <a:r>
              <a:rPr lang="en-US" dirty="0" err="1"/>
              <a:t>adivine</a:t>
            </a:r>
            <a:r>
              <a:rPr lang="en-US" dirty="0"/>
              <a:t> la password en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semana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b) ¿</a:t>
            </a:r>
            <a:r>
              <a:rPr lang="en-US" dirty="0" err="1"/>
              <a:t>Cuánto</a:t>
            </a:r>
            <a:r>
              <a:rPr lang="en-US" dirty="0"/>
              <a:t> </a:t>
            </a:r>
            <a:r>
              <a:rPr lang="en-US" dirty="0" err="1"/>
              <a:t>tardará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máximo</a:t>
            </a:r>
            <a:r>
              <a:rPr lang="en-US" dirty="0"/>
              <a:t> en </a:t>
            </a:r>
            <a:r>
              <a:rPr lang="en-US" dirty="0" err="1"/>
              <a:t>adivinar</a:t>
            </a:r>
            <a:r>
              <a:rPr lang="en-US" dirty="0"/>
              <a:t> la password? </a:t>
            </a:r>
            <a:r>
              <a:rPr lang="en-US" dirty="0" err="1"/>
              <a:t>Calcularlo</a:t>
            </a:r>
            <a:r>
              <a:rPr lang="en-US" dirty="0"/>
              <a:t> </a:t>
            </a:r>
            <a:r>
              <a:rPr lang="en-US" dirty="0" err="1"/>
              <a:t>usando</a:t>
            </a:r>
            <a:r>
              <a:rPr lang="en-US" dirty="0"/>
              <a:t> la </a:t>
            </a:r>
            <a:r>
              <a:rPr lang="en-US" dirty="0" err="1"/>
              <a:t>la</a:t>
            </a:r>
            <a:r>
              <a:rPr lang="en-US" dirty="0"/>
              <a:t> </a:t>
            </a:r>
            <a:r>
              <a:rPr lang="en-US" dirty="0" err="1"/>
              <a:t>probabilidad</a:t>
            </a:r>
            <a:r>
              <a:rPr lang="en-US" dirty="0"/>
              <a:t> </a:t>
            </a:r>
            <a:r>
              <a:rPr lang="en-US" dirty="0" err="1"/>
              <a:t>obtenida</a:t>
            </a:r>
            <a:r>
              <a:rPr lang="en-US" dirty="0"/>
              <a:t> en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apartado</a:t>
            </a:r>
            <a:r>
              <a:rPr lang="en-US" dirty="0"/>
              <a:t> anterior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096E7AA-4B1F-3111-F6F0-BC2BB393D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242932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3B96C0-743E-B087-735A-0E7B0F62B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3. Combinatoria</a:t>
            </a:r>
            <a:br>
              <a:rPr lang="es-ES" dirty="0"/>
            </a:br>
            <a:r>
              <a:rPr lang="es-ES" dirty="0"/>
              <a:t>Ejemplo 2.27 (Solución)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1375AFD-09E3-E1A5-BD47-EC4D6CCF06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</p:spPr>
            <p:txBody>
              <a:bodyPr>
                <a:normAutofit fontScale="92500"/>
              </a:bodyPr>
              <a:lstStyle/>
              <a:p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=10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í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𝑔𝑖𝑡𝑜𝑠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+26 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𝑙𝑒𝑡𝑟𝑎𝑠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𝑚𝑎𝑦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.+ 26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𝑙𝑒𝑡𝑟𝑎𝑠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𝑚𝑖𝑛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.=62</m:t>
                    </m:r>
                  </m:oMath>
                </a14:m>
                <a:endParaRPr lang="es-ES" dirty="0"/>
              </a:p>
              <a:p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=8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𝑐𝑎𝑟𝑎𝑐𝑡𝑒𝑟𝑒𝑠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𝑑𝑒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𝑙𝑎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𝑝𝑎𝑠𝑠𝑤𝑜𝑟𝑑</m:t>
                    </m:r>
                  </m:oMath>
                </a14:m>
                <a:endParaRPr lang="es-ES" dirty="0"/>
              </a:p>
              <a:p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𝐴𝑑𝑖𝑣𝑖𝑛𝑎𝑟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𝑙𝑎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 dirty="0" err="1">
                        <a:latin typeface="Cambria Math" panose="02040503050406030204" pitchFamily="18" charset="0"/>
                      </a:rPr>
                      <m:t>𝑝𝑎𝑠𝑠𝑤𝑜𝑟𝑑</m:t>
                    </m:r>
                    <m:r>
                      <a:rPr lang="es-E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 dirty="0">
                        <a:latin typeface="Cambria Math" panose="02040503050406030204" pitchFamily="18" charset="0"/>
                      </a:rPr>
                      <m:t>𝑒𝑛</m:t>
                    </m:r>
                    <m:r>
                      <a:rPr lang="es-E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 dirty="0">
                        <a:latin typeface="Cambria Math" panose="02040503050406030204" pitchFamily="18" charset="0"/>
                      </a:rPr>
                      <m:t>𝑢𝑛</m:t>
                    </m:r>
                    <m:r>
                      <a:rPr lang="es-E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 dirty="0">
                        <a:latin typeface="Cambria Math" panose="02040503050406030204" pitchFamily="18" charset="0"/>
                      </a:rPr>
                      <m:t>𝑖𝑛𝑡𝑒𝑛𝑡𝑜</m:t>
                    </m:r>
                  </m:oMath>
                </a14:m>
                <a:endParaRPr lang="es-ES" dirty="0"/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d>
                          <m:d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62</m:t>
                            </m:r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</m:d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62</m:t>
                            </m:r>
                          </m:e>
                          <m:sup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i="1">
                            <a:latin typeface="Cambria Math" panose="02040503050406030204" pitchFamily="18" charset="0"/>
                          </a:rPr>
                          <m:t>218340105584896</m:t>
                        </m:r>
                      </m:den>
                    </m:f>
                  </m:oMath>
                </a14:m>
                <a:endParaRPr lang="es-ES" dirty="0"/>
              </a:p>
              <a:p>
                <a:r>
                  <a:rPr lang="es-ES" dirty="0"/>
                  <a:t>a) Al ritmo de 1M intentos por segundo, en una semana se realizan: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000000 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𝑖𝑛𝑡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60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𝑚𝑖𝑛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∗60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𝑚𝑖𝑛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∗24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∗7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s-ES" i="1" dirty="0" err="1" smtClean="0">
                        <a:latin typeface="Cambria Math" panose="02040503050406030204" pitchFamily="18" charset="0"/>
                      </a:rPr>
                      <m:t>𝑠𝑒𝑚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=604800000000 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𝑖𝑛𝑡𝑒𝑛𝑡𝑜𝑠</m:t>
                    </m:r>
                  </m:oMath>
                </a14:m>
                <a:endParaRPr lang="es-ES" dirty="0"/>
              </a:p>
              <a:p>
                <a:pPr lvl="1"/>
                <a14:m>
                  <m:oMath xmlns:m="http://schemas.openxmlformats.org/officeDocument/2006/math">
                    <m:r>
                      <a:rPr lang="es-ES" sz="19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sz="19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1900" b="0" i="1" smtClean="0">
                            <a:latin typeface="Cambria Math" panose="02040503050406030204" pitchFamily="18" charset="0"/>
                          </a:rPr>
                          <m:t>𝐴𝑑𝑖𝑣𝑖𝑛𝑎𝑟</m:t>
                        </m:r>
                        <m:r>
                          <a:rPr lang="es-ES" sz="19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sz="1900" b="0" i="1" smtClean="0">
                            <a:latin typeface="Cambria Math" panose="02040503050406030204" pitchFamily="18" charset="0"/>
                          </a:rPr>
                          <m:t>𝑒𝑛</m:t>
                        </m:r>
                        <m:r>
                          <a:rPr lang="es-ES" sz="1900" b="0" i="1" smtClean="0">
                            <a:latin typeface="Cambria Math" panose="02040503050406030204" pitchFamily="18" charset="0"/>
                          </a:rPr>
                          <m:t> 1 </m:t>
                        </m:r>
                        <m:r>
                          <a:rPr lang="es-ES" sz="1900" b="0" i="1" smtClean="0">
                            <a:latin typeface="Cambria Math" panose="02040503050406030204" pitchFamily="18" charset="0"/>
                          </a:rPr>
                          <m:t>𝑠𝑒𝑚𝑎𝑛𝑎</m:t>
                        </m:r>
                      </m:e>
                    </m:d>
                    <m:r>
                      <a:rPr lang="es-ES" sz="1900" b="0" i="1" smtClean="0">
                        <a:latin typeface="Cambria Math" panose="02040503050406030204" pitchFamily="18" charset="0"/>
                      </a:rPr>
                      <m:t>=604800000000</m:t>
                    </m:r>
                    <m:r>
                      <a:rPr lang="es-ES" sz="19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sz="19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sz="1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1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s-ES" sz="19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sz="19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604800000000∙</m:t>
                    </m:r>
                    <m:f>
                      <m:fPr>
                        <m:ctrlPr>
                          <a:rPr lang="es-ES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sz="1900" i="1">
                            <a:latin typeface="Cambria Math" panose="02040503050406030204" pitchFamily="18" charset="0"/>
                          </a:rPr>
                          <m:t>218</m:t>
                        </m:r>
                        <m:r>
                          <a:rPr lang="es-ES" sz="1900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s-ES" sz="1900" i="1">
                            <a:latin typeface="Cambria Math" panose="02040503050406030204" pitchFamily="18" charset="0"/>
                          </a:rPr>
                          <m:t>40105584896</m:t>
                        </m:r>
                      </m:den>
                    </m:f>
                    <m:r>
                      <a:rPr lang="es-ES" sz="19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=0.00277</m:t>
                    </m:r>
                  </m:oMath>
                </a14:m>
                <a:endParaRPr lang="es-ES" sz="1900" dirty="0"/>
              </a:p>
              <a:p>
                <a:r>
                  <a:rPr lang="es-ES" dirty="0"/>
                  <a:t>b) Se trata de conseguir un suceso seguro, con probabilidad 1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𝑎𝑐𝑒𝑟𝑡𝑎𝑟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𝑠𝑒𝑔𝑢𝑟𝑜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=1=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º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𝑑𝑒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𝑠𝑒𝑚𝑎𝑛𝑎𝑠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𝐴𝑑𝑖𝑣𝑖𝑛𝑎𝑟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𝑒𝑛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1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𝑠𝑒𝑚𝑎𝑛𝑎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lang="es-ES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º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𝑑𝑒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𝑠𝑒𝑚𝑎𝑛𝑎𝑠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{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𝐴𝑑𝑖𝑣𝑖𝑛𝑎𝑟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𝑒𝑛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1 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𝑠𝑒𝑚𝑎𝑛𝑎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}</m:t>
                        </m:r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0.00277</m:t>
                        </m:r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361 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𝑠𝑒𝑚𝑎𝑛𝑎𝑠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≈7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ñ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𝑜𝑠</m:t>
                    </m:r>
                  </m:oMath>
                </a14:m>
                <a:endParaRPr lang="es-ES" b="0" dirty="0">
                  <a:ea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endParaRPr lang="es-ES" dirty="0"/>
              </a:p>
              <a:p>
                <a:endParaRPr lang="es-ES" dirty="0"/>
              </a:p>
              <a:p>
                <a:endParaRPr lang="es-ES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1375AFD-09E3-E1A5-BD47-EC4D6CCF06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  <a:blipFill>
                <a:blip r:embed="rId2"/>
                <a:stretch>
                  <a:fillRect l="-92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4DD9DFB-3658-EF2C-B020-6D7084EDC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19006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2C21A7-7751-A4EE-BCE5-FA3C184DC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3. Combinatoria</a:t>
            </a:r>
            <a:br>
              <a:rPr lang="es-ES" dirty="0"/>
            </a:br>
            <a:r>
              <a:rPr lang="es-ES" dirty="0"/>
              <a:t>Ejemplo 2.29 (Combinaciones sin repetición)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CD17D9-4990-1C38-F4D6-6FA7770B84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 </a:t>
            </a:r>
            <a:r>
              <a:rPr lang="en-US" dirty="0" err="1"/>
              <a:t>programa</a:t>
            </a:r>
            <a:r>
              <a:rPr lang="en-US" dirty="0"/>
              <a:t> antivirus </a:t>
            </a:r>
            <a:r>
              <a:rPr lang="en-US" dirty="0" err="1"/>
              <a:t>detecta</a:t>
            </a:r>
            <a:r>
              <a:rPr lang="en-US" dirty="0"/>
              <a:t> que 3 </a:t>
            </a:r>
            <a:r>
              <a:rPr lang="en-US" dirty="0" err="1"/>
              <a:t>carpetas</a:t>
            </a:r>
            <a:r>
              <a:rPr lang="en-US" dirty="0"/>
              <a:t> en un </a:t>
            </a:r>
            <a:r>
              <a:rPr lang="en-US" dirty="0" err="1"/>
              <a:t>ordenador</a:t>
            </a:r>
            <a:r>
              <a:rPr lang="en-US" dirty="0"/>
              <a:t>, de un total de 10, </a:t>
            </a:r>
            <a:r>
              <a:rPr lang="en-US" dirty="0" err="1"/>
              <a:t>están</a:t>
            </a:r>
            <a:r>
              <a:rPr lang="en-US" dirty="0"/>
              <a:t> </a:t>
            </a:r>
            <a:r>
              <a:rPr lang="en-US" dirty="0" err="1"/>
              <a:t>infectadas</a:t>
            </a:r>
            <a:r>
              <a:rPr lang="en-US" dirty="0"/>
              <a:t>. </a:t>
            </a:r>
          </a:p>
          <a:p>
            <a:r>
              <a:rPr lang="en-US" dirty="0"/>
              <a:t>Las 10 </a:t>
            </a:r>
            <a:r>
              <a:rPr lang="en-US" dirty="0" err="1"/>
              <a:t>carpetas</a:t>
            </a:r>
            <a:r>
              <a:rPr lang="en-US" dirty="0"/>
              <a:t> se </a:t>
            </a:r>
            <a:r>
              <a:rPr lang="en-US" dirty="0" err="1"/>
              <a:t>denominan</a:t>
            </a:r>
            <a:r>
              <a:rPr lang="en-US" dirty="0"/>
              <a:t> A, B, C, D, E, F, G, H, I, J</a:t>
            </a:r>
          </a:p>
          <a:p>
            <a:r>
              <a:rPr lang="en-US" dirty="0"/>
              <a:t>¿</a:t>
            </a:r>
            <a:r>
              <a:rPr lang="en-US" dirty="0" err="1"/>
              <a:t>Cuál</a:t>
            </a:r>
            <a:r>
              <a:rPr lang="en-US" dirty="0"/>
              <a:t> es la </a:t>
            </a:r>
            <a:r>
              <a:rPr lang="en-US" dirty="0" err="1"/>
              <a:t>probabilidad</a:t>
            </a:r>
            <a:r>
              <a:rPr lang="en-US" dirty="0"/>
              <a:t> de que </a:t>
            </a:r>
            <a:r>
              <a:rPr lang="en-US" dirty="0" err="1"/>
              <a:t>estén</a:t>
            </a:r>
            <a:r>
              <a:rPr lang="en-US" dirty="0"/>
              <a:t> </a:t>
            </a:r>
            <a:r>
              <a:rPr lang="en-US" dirty="0" err="1"/>
              <a:t>infectadas</a:t>
            </a:r>
            <a:r>
              <a:rPr lang="en-US" dirty="0"/>
              <a:t> las </a:t>
            </a:r>
            <a:r>
              <a:rPr lang="en-US" dirty="0" err="1"/>
              <a:t>carpetas</a:t>
            </a:r>
            <a:r>
              <a:rPr lang="en-US" dirty="0"/>
              <a:t> C, F y G?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0318592-4DAB-DE5D-0598-CFEA9899E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9349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2C21A7-7751-A4EE-BCE5-FA3C184DC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3. Combinatoria</a:t>
            </a:r>
            <a:br>
              <a:rPr lang="es-ES" dirty="0"/>
            </a:br>
            <a:r>
              <a:rPr lang="es-ES" dirty="0"/>
              <a:t>Ejemplo 2.29 (Solución)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6CD17D9-4990-1C38-F4D6-6FA7770B84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𝐶𝑎𝑟𝑝𝑒𝑡𝑎𝑠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=10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𝑐𝑎𝑟𝑝𝑒𝑡𝑎𝑠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𝑒𝑛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𝑒𝑙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𝑜𝑟𝑑𝑒𝑛𝑎𝑑𝑜𝑟</m:t>
                    </m:r>
                  </m:oMath>
                </a14:m>
                <a:r>
                  <a:rPr lang="en-US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=3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𝑐𝑎𝑟𝑝𝑒𝑡𝑎𝑠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𝑖𝑛𝑓𝑒𝑐𝑡𝑎𝑑𝑎𝑠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𝐼𝑛𝑓𝑒𝑐𝑡𝑎𝑑𝑎𝑠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10,3</m:t>
                            </m:r>
                          </m:e>
                        </m:d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120</m:t>
                        </m:r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=0.0083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s-ES" i="1" kern="100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  <m:d>
                      <m:dPr>
                        <m:ctrlPr>
                          <a:rPr lang="es-ES" b="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ES" b="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s-ES" b="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s-ES" b="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</m:d>
                    <m:r>
                      <a:rPr lang="es-ES" b="0" i="1" kern="100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s-ES" b="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s-ES" b="0" i="1" kern="10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s-ES" b="0" i="1" kern="10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s-ES" b="0" i="1" kern="10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r>
                      <a:rPr lang="es-ES" b="0" i="1" kern="100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s-ES" b="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b="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s-ES" b="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!</m:t>
                        </m:r>
                      </m:num>
                      <m:den>
                        <m:r>
                          <a:rPr lang="es-ES" b="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s-ES" b="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!</m:t>
                        </m:r>
                        <m:d>
                          <m:dPr>
                            <m:ctrlPr>
                              <a:rPr lang="es-ES" b="0" i="1" kern="10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s-ES" b="0" i="1" kern="10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s-ES" b="0" i="1" kern="10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s-ES" b="0" i="1" kern="10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s-ES" b="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!</m:t>
                        </m:r>
                      </m:den>
                    </m:f>
                    <m:r>
                      <a:rPr lang="es-ES" b="0" i="1" kern="100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s-ES" b="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b="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10!</m:t>
                        </m:r>
                      </m:num>
                      <m:den>
                        <m:r>
                          <a:rPr lang="es-ES" b="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3!</m:t>
                        </m:r>
                        <m:r>
                          <a:rPr lang="es-ES" b="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∙7!</m:t>
                        </m:r>
                      </m:den>
                    </m:f>
                    <m:r>
                      <a:rPr lang="es-ES" b="0" i="1" kern="100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s-ES" b="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b="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s-ES" b="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∙2∙3∙4∙5∙6∙7∙8∙9∙10</m:t>
                        </m:r>
                      </m:num>
                      <m:den>
                        <m:r>
                          <a:rPr lang="es-ES" b="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s-ES" b="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∙2∙3∙1∙2∙3∙4∙5∙6∙7</m:t>
                        </m:r>
                      </m:den>
                    </m:f>
                    <m:r>
                      <a:rPr lang="es-ES" b="0" i="1" kern="100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s-ES" b="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b="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  <m:r>
                          <a:rPr lang="es-ES" b="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∙9∙10</m:t>
                        </m:r>
                      </m:num>
                      <m:den>
                        <m:r>
                          <a:rPr lang="es-ES" b="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s-ES" b="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∙2∙3</m:t>
                        </m:r>
                      </m:den>
                    </m:f>
                    <m:r>
                      <a:rPr lang="es-ES" b="0" i="1" kern="100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s-ES" b="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b="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720</m:t>
                        </m:r>
                      </m:num>
                      <m:den>
                        <m:r>
                          <a:rPr lang="es-ES" b="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</m:den>
                    </m:f>
                    <m:r>
                      <a:rPr lang="es-ES" b="0" i="1" kern="100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=120</m:t>
                    </m:r>
                  </m:oMath>
                </a14:m>
                <a:endParaRPr lang="en-US" dirty="0"/>
              </a:p>
              <a:p>
                <a:r>
                  <a:rPr lang="es-ES" dirty="0"/>
                  <a:t>NOTA: </a:t>
                </a:r>
              </a:p>
              <a:p>
                <a:pPr lvl="1"/>
                <a:r>
                  <a:rPr lang="es-ES" dirty="0"/>
                  <a:t>No son permutaciones porque el orden no importa: ABC=ACB=BAC=BCA=CAB=CBA</a:t>
                </a:r>
              </a:p>
              <a:p>
                <a:pPr lvl="1"/>
                <a:r>
                  <a:rPr lang="es-ES" dirty="0"/>
                  <a:t>Se usan combinaciones sin repetición porque no se pueden repetir las carpetas, es decir, no puede ocurrir AAB, AAA, ABB, …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6CD17D9-4990-1C38-F4D6-6FA7770B84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0318592-4DAB-DE5D-0598-CFEA9899E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251501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2C21A7-7751-A4EE-BCE5-FA3C184DC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3. Combinatoria</a:t>
            </a:r>
            <a:br>
              <a:rPr lang="es-ES" dirty="0"/>
            </a:br>
            <a:r>
              <a:rPr lang="es-ES" dirty="0"/>
              <a:t>Ejemplo (Combinaciones con repetición)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6CD17D9-4990-1C38-F4D6-6FA7770B84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" dirty="0"/>
                  <a:t>¿Cuál es la probabilidad de que al lanzar simultáneamente tres monedas iguales se obtenga una cara y dos cruces?</a:t>
                </a:r>
              </a:p>
              <a:p>
                <a:r>
                  <a:rPr lang="es-ES" dirty="0"/>
                  <a:t>Solución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𝑐𝑎𝑟𝑎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2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𝑐𝑟𝑢𝑐𝑒𝑠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d>
                          <m:d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2,3</m:t>
                            </m:r>
                          </m:e>
                        </m:d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=0.25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s-ES" sz="200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ES" sz="2000" b="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s-ES" sz="2000" b="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es-ES" sz="2000" b="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ES" sz="2000" b="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s-ES" sz="2000" b="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s-ES" sz="2000" b="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</m:d>
                    <m:r>
                      <a:rPr lang="es-ES" sz="2000" b="0" i="1" kern="100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s-ES" sz="2000" b="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s-ES" sz="2000" b="0" i="1" kern="10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s-ES" sz="2000" b="0" i="1" kern="10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  <m:r>
                              <a:rPr lang="es-ES" sz="2000" b="0" i="1" kern="10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s-ES" sz="2000" b="0" i="1" kern="10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s-ES" sz="2000" b="0" i="1" kern="10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s-ES" sz="2000" b="0" i="1" kern="10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r>
                      <a:rPr lang="es-ES" sz="2000" b="0" i="1" kern="100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s-ES" sz="2000" b="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s-ES" sz="2000" b="0" i="1" kern="10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s-ES" sz="2000" b="0" i="1" kern="10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  <m:r>
                              <a:rPr lang="es-ES" sz="2000" b="0" i="1" kern="10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s-ES" sz="2000" b="0" i="1" kern="10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s-ES" sz="2000" b="0" i="1" kern="10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s-ES" sz="2000" b="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!</m:t>
                        </m:r>
                      </m:num>
                      <m:den>
                        <m:r>
                          <a:rPr lang="es-ES" sz="2000" b="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s-ES" sz="2000" b="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!</m:t>
                        </m:r>
                        <m:d>
                          <m:dPr>
                            <m:ctrlPr>
                              <a:rPr lang="es-ES" sz="2000" b="0" i="1" kern="10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s-ES" sz="2000" b="0" i="1" kern="10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s-ES" sz="2000" b="0" i="1" kern="10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s-ES" sz="2000" b="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!</m:t>
                        </m:r>
                      </m:den>
                    </m:f>
                    <m:r>
                      <a:rPr lang="es-ES" sz="2000" b="0" i="1" kern="100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s-ES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s-ES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s-ES" b="0" i="1" kern="1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  <m:r>
                              <a:rPr lang="es-ES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s-ES" b="0" i="1" kern="1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a:rPr lang="es-ES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s-ES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!</m:t>
                        </m:r>
                      </m:num>
                      <m:den>
                        <m:r>
                          <a:rPr lang="es-ES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  <m:r>
                          <a:rPr lang="es-ES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!</m:t>
                        </m:r>
                        <m:d>
                          <m:dPr>
                            <m:ctrlPr>
                              <a:rPr lang="es-ES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s-ES" b="0" i="1" kern="1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a:rPr lang="es-ES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s-ES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!</m:t>
                        </m:r>
                      </m:den>
                    </m:f>
                    <m:r>
                      <a:rPr lang="es-ES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s-ES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a:rPr lang="es-ES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!</m:t>
                        </m:r>
                      </m:num>
                      <m:den>
                        <m:r>
                          <a:rPr lang="es-ES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3!</m:t>
                        </m:r>
                        <m:r>
                          <a:rPr lang="es-ES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∙</m:t>
                        </m:r>
                        <m:r>
                          <a:rPr lang="es-ES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s-ES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!</m:t>
                        </m:r>
                      </m:den>
                    </m:f>
                    <m:r>
                      <a:rPr lang="es-ES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s-ES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s-ES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∙2∙3∙4</m:t>
                        </m:r>
                      </m:num>
                      <m:den>
                        <m:r>
                          <a:rPr lang="es-ES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s-ES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∙2∙3∙1</m:t>
                        </m:r>
                      </m:den>
                    </m:f>
                    <m:r>
                      <a:rPr lang="es-ES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s-ES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num>
                      <m:den>
                        <m:r>
                          <a:rPr lang="es-ES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  <m:r>
                      <a:rPr lang="es-ES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=4</m:t>
                    </m:r>
                  </m:oMath>
                </a14:m>
                <a:endParaRPr lang="es-ES" dirty="0"/>
              </a:p>
              <a:p>
                <a:pPr lvl="1"/>
                <a:r>
                  <a:rPr lang="es-ES" dirty="0"/>
                  <a:t>Interpretación:</a:t>
                </a:r>
              </a:p>
              <a:p>
                <a:pPr lvl="2"/>
                <a:r>
                  <a:rPr lang="es-ES" dirty="0"/>
                  <a:t>Hay 4 casos posibles: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3 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𝑐𝑎𝑟𝑎𝑠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2 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𝑐𝑎𝑟𝑎𝑠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1 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𝑐𝑟𝑢𝑧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1 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𝑐𝑎𝑟𝑎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2 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𝑐𝑟𝑢𝑐𝑒𝑠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3 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𝑐𝑟𝑢𝑐𝑒𝑠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Son </a:t>
                </a:r>
                <a:r>
                  <a:rPr lang="en-US" dirty="0" err="1"/>
                  <a:t>combinaciones</a:t>
                </a:r>
                <a:r>
                  <a:rPr lang="en-US" dirty="0"/>
                  <a:t> </a:t>
                </a:r>
                <a:r>
                  <a:rPr lang="en-US" dirty="0" err="1"/>
                  <a:t>porque</a:t>
                </a:r>
                <a:r>
                  <a:rPr lang="en-US" dirty="0"/>
                  <a:t> no </a:t>
                </a:r>
                <a:r>
                  <a:rPr lang="en-US" dirty="0" err="1"/>
                  <a:t>importa</a:t>
                </a:r>
                <a:r>
                  <a:rPr lang="en-US" dirty="0"/>
                  <a:t> </a:t>
                </a:r>
                <a:r>
                  <a:rPr lang="en-US" dirty="0" err="1"/>
                  <a:t>el</a:t>
                </a:r>
                <a:r>
                  <a:rPr lang="en-US" dirty="0"/>
                  <a:t> </a:t>
                </a:r>
                <a:r>
                  <a:rPr lang="en-US" dirty="0" err="1"/>
                  <a:t>orden</a:t>
                </a:r>
                <a:r>
                  <a:rPr lang="en-US" dirty="0"/>
                  <a:t> de las </a:t>
                </a:r>
                <a:r>
                  <a:rPr lang="en-US" dirty="0" err="1"/>
                  <a:t>caras</a:t>
                </a:r>
                <a:r>
                  <a:rPr lang="en-US" dirty="0"/>
                  <a:t> y cruces, al </a:t>
                </a:r>
                <a:r>
                  <a:rPr lang="en-US" dirty="0" err="1"/>
                  <a:t>lanzar</a:t>
                </a:r>
                <a:r>
                  <a:rPr lang="en-US" dirty="0"/>
                  <a:t> las </a:t>
                </a:r>
                <a:r>
                  <a:rPr lang="en-US" dirty="0" err="1"/>
                  <a:t>monedas</a:t>
                </a:r>
                <a:r>
                  <a:rPr lang="en-US" dirty="0"/>
                  <a:t> a la </a:t>
                </a:r>
                <a:r>
                  <a:rPr lang="en-US" dirty="0" err="1"/>
                  <a:t>vez</a:t>
                </a:r>
                <a:endParaRPr lang="en-US" dirty="0"/>
              </a:p>
              <a:p>
                <a:pPr lvl="2"/>
                <a:r>
                  <a:rPr lang="en-US" dirty="0"/>
                  <a:t>Hay </a:t>
                </a:r>
                <a:r>
                  <a:rPr lang="en-US" dirty="0" err="1"/>
                  <a:t>repetición</a:t>
                </a:r>
                <a:r>
                  <a:rPr lang="en-US" dirty="0"/>
                  <a:t> </a:t>
                </a:r>
                <a:r>
                  <a:rPr lang="en-US" dirty="0" err="1"/>
                  <a:t>porque</a:t>
                </a:r>
                <a:r>
                  <a:rPr lang="en-US" dirty="0"/>
                  <a:t> </a:t>
                </a:r>
                <a:r>
                  <a:rPr lang="en-US" dirty="0" err="1"/>
                  <a:t>puede</a:t>
                </a:r>
                <a:r>
                  <a:rPr lang="en-US" dirty="0"/>
                  <a:t> </a:t>
                </a:r>
                <a:r>
                  <a:rPr lang="en-US" dirty="0" err="1"/>
                  <a:t>haber</a:t>
                </a:r>
                <a:r>
                  <a:rPr lang="en-US" dirty="0"/>
                  <a:t> </a:t>
                </a:r>
                <a:r>
                  <a:rPr lang="en-US" dirty="0" err="1"/>
                  <a:t>más</a:t>
                </a:r>
                <a:r>
                  <a:rPr lang="en-US" dirty="0"/>
                  <a:t> de </a:t>
                </a:r>
                <a:r>
                  <a:rPr lang="en-US" dirty="0" err="1"/>
                  <a:t>una</a:t>
                </a:r>
                <a:r>
                  <a:rPr lang="en-US" dirty="0"/>
                  <a:t> </a:t>
                </a:r>
                <a:r>
                  <a:rPr lang="en-US" dirty="0" err="1"/>
                  <a:t>cara</a:t>
                </a:r>
                <a:r>
                  <a:rPr lang="en-US" dirty="0"/>
                  <a:t> o de </a:t>
                </a:r>
                <a:r>
                  <a:rPr lang="en-US" dirty="0" err="1"/>
                  <a:t>una</a:t>
                </a:r>
                <a:r>
                  <a:rPr lang="en-US" dirty="0"/>
                  <a:t> cruz</a:t>
                </a:r>
              </a:p>
              <a:p>
                <a:pPr marL="914400" lvl="2" indent="0">
                  <a:buNone/>
                </a:pPr>
                <a:endParaRPr lang="es-ES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6CD17D9-4990-1C38-F4D6-6FA7770B84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0318592-4DAB-DE5D-0598-CFEA9899E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20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943174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761FE9-C3AE-6FC7-C4A9-C1FF0B2C6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3. Combinatoria</a:t>
            </a:r>
            <a:br>
              <a:rPr lang="es-ES" dirty="0"/>
            </a:br>
            <a:r>
              <a:rPr dirty="0" err="1"/>
              <a:t>Ejercicios</a:t>
            </a:r>
            <a:r>
              <a:rPr dirty="0"/>
              <a:t> </a:t>
            </a:r>
            <a:r>
              <a:rPr dirty="0" err="1"/>
              <a:t>propuestos</a:t>
            </a:r>
            <a:endParaRPr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D761F8-90FE-5A56-8924-772DAE4E6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 err="1"/>
              <a:t>Ejercicio</a:t>
            </a:r>
            <a:r>
              <a:rPr lang="es-ES" dirty="0"/>
              <a:t>s</a:t>
            </a:r>
            <a:r>
              <a:rPr dirty="0"/>
              <a:t> </a:t>
            </a:r>
            <a:r>
              <a:rPr lang="es-ES" dirty="0"/>
              <a:t>2</a:t>
            </a:r>
            <a:r>
              <a:rPr dirty="0"/>
              <a:t>.</a:t>
            </a:r>
            <a:r>
              <a:rPr lang="es-ES" dirty="0"/>
              <a:t>14, 2.25 a 2.29</a:t>
            </a:r>
            <a:r>
              <a:rPr dirty="0"/>
              <a:t> del </a:t>
            </a:r>
            <a:r>
              <a:rPr dirty="0" err="1"/>
              <a:t>libro</a:t>
            </a:r>
            <a:endParaRPr lang="es-ES" dirty="0"/>
          </a:p>
          <a:p>
            <a:pPr lvl="1"/>
            <a:r>
              <a:rPr lang="es-ES" sz="2400" b="0" strike="noStrike" spc="-1" dirty="0">
                <a:solidFill>
                  <a:srgbClr val="000000"/>
                </a:solidFill>
                <a:latin typeface="Calibri"/>
              </a:rPr>
              <a:t>Las respuestas de 2.26 y 2.28 están disponibles en</a:t>
            </a:r>
            <a:r>
              <a:rPr lang="es-ES" spc="-1" dirty="0">
                <a:solidFill>
                  <a:srgbClr val="000000"/>
                </a:solidFill>
                <a:latin typeface="Calibri"/>
              </a:rPr>
              <a:t> el libro</a:t>
            </a:r>
            <a:endParaRPr lang="es-ES" dirty="0"/>
          </a:p>
          <a:p>
            <a:pPr marL="457200" lvl="1" indent="0">
              <a:buNone/>
            </a:pPr>
            <a:endParaRPr lang="es-ES" dirty="0"/>
          </a:p>
          <a:p>
            <a:r>
              <a:rPr lang="es-ES" dirty="0"/>
              <a:t>Otros ejercicios resueltos:</a:t>
            </a:r>
          </a:p>
          <a:p>
            <a:pPr lvl="1"/>
            <a:r>
              <a:rPr lang="es-ES" dirty="0">
                <a:hlinkClick r:id="rId2"/>
              </a:rPr>
              <a:t>Proyecto Descartes</a:t>
            </a:r>
            <a:endParaRPr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EA86158-512B-60EF-6886-59F4BFB08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21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91482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341AC4-46AB-5C14-E271-048D660D3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4. Reglas de probabilidad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0DBE4BF-E1A8-4EEC-FB3F-C09A7F8B47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384180" cy="4351338"/>
              </a:xfrm>
            </p:spPr>
            <p:txBody>
              <a:bodyPr>
                <a:normAutofit/>
              </a:bodyPr>
              <a:lstStyle/>
              <a:p>
                <a:r>
                  <a:rPr lang="es-ES" dirty="0"/>
                  <a:t>Un suceso es un conjunto de resultados</a:t>
                </a:r>
              </a:p>
              <a:p>
                <a:pPr lvl="1"/>
                <a:r>
                  <a:rPr lang="es-ES" b="0" dirty="0"/>
                  <a:t>Ejemplo: suceso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,…</m:t>
                        </m:r>
                      </m:e>
                    </m:d>
                  </m:oMath>
                </a14:m>
                <a:endParaRPr lang="es-ES" dirty="0"/>
              </a:p>
              <a:p>
                <a:r>
                  <a:rPr lang="es-ES" dirty="0"/>
                  <a:t>Por lo que se pueden aplicar operaciones con conjuntos</a:t>
                </a:r>
              </a:p>
              <a:p>
                <a:pPr lvl="1"/>
                <a:r>
                  <a:rPr lang="es-ES" dirty="0"/>
                  <a:t>Ejemplo: sucesos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s-ES" dirty="0"/>
                  <a:t> y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s-ES" dirty="0"/>
              </a:p>
              <a:p>
                <a:pPr lvl="1"/>
                <a:r>
                  <a:rPr lang="es-ES" dirty="0"/>
                  <a:t>Unión de sucesos: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endParaRPr lang="es-ES" dirty="0"/>
              </a:p>
              <a:p>
                <a:pPr lvl="1"/>
                <a:r>
                  <a:rPr lang="es-ES" dirty="0"/>
                  <a:t>Intersección de sucesos: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endParaRPr lang="es-ES" dirty="0"/>
              </a:p>
              <a:p>
                <a:pPr lvl="1"/>
                <a:r>
                  <a:rPr lang="es-ES" dirty="0"/>
                  <a:t>Complemento de un suceso: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endParaRPr lang="es-ES" dirty="0"/>
              </a:p>
              <a:p>
                <a:pPr lvl="1"/>
                <a:r>
                  <a:rPr lang="es-ES" dirty="0"/>
                  <a:t>Diferencia de sucesos: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\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" dirty="0"/>
                  <a:t> </a:t>
                </a:r>
                <a:r>
                  <a:rPr lang="es-ES" dirty="0" err="1"/>
                  <a:t>ó</a:t>
                </a:r>
                <a:r>
                  <a:rPr lang="es-ES" dirty="0"/>
                  <a:t>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s-ES" dirty="0"/>
              </a:p>
              <a:p>
                <a:pPr lvl="1"/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0DBE4BF-E1A8-4EEC-FB3F-C09A7F8B47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384180" cy="4351338"/>
              </a:xfrm>
              <a:blipFill>
                <a:blip r:embed="rId2"/>
                <a:stretch>
                  <a:fillRect l="-2039" t="-224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369A25-F3B8-E77A-DB42-CF3BAFD91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22</a:t>
            </a:fld>
            <a:endParaRPr lang="es-E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9C260DA-F408-1A37-E0F9-3803F8812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2807" y="1795108"/>
            <a:ext cx="6088566" cy="4628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6781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5EE5AC-6839-E23B-3774-1111A0FEC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4. Reglas de probabilidad</a:t>
            </a:r>
            <a:br>
              <a:rPr lang="es-ES" dirty="0"/>
            </a:br>
            <a:r>
              <a:rPr lang="es-ES" dirty="0"/>
              <a:t>Probabilidad de la intersección de sucesos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C088539-884D-071D-FC3F-D616EC8B60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</p:spPr>
            <p:txBody>
              <a:bodyPr>
                <a:normAutofit fontScale="850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𝑃𝑟𝑜𝑏𝑎𝑏𝑖𝑙𝑖𝑑𝑎𝑑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𝑑𝑒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𝑞𝑢𝑒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𝑜𝑐𝑢𝑟𝑟𝑎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𝑒𝑙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𝑠𝑢𝑐𝑒𝑠𝑜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𝒚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𝑒𝑙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𝑠𝑢𝑐𝑒𝑠𝑜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endParaRPr lang="es-ES" dirty="0"/>
              </a:p>
              <a:p>
                <a:r>
                  <a:rPr lang="es-ES" dirty="0"/>
                  <a:t>Si los sucesos son </a:t>
                </a:r>
                <a:r>
                  <a:rPr lang="es-ES" dirty="0" err="1"/>
                  <a:t>mutuamentre</a:t>
                </a:r>
                <a:r>
                  <a:rPr lang="es-ES" dirty="0"/>
                  <a:t> excluyentes (incompatibles o disjuntos)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endParaRPr lang="es-ES" dirty="0"/>
              </a:p>
              <a:p>
                <a:pPr lvl="1"/>
                <a:r>
                  <a:rPr lang="es-ES" dirty="0"/>
                  <a:t>Ejemplo: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𝑂𝑏𝑡𝑒𝑛𝑒𝑟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𝑐𝑟𝑢𝑧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𝑎𝑙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𝑙𝑎𝑛𝑧𝑎𝑟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𝑢𝑛𝑎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𝑚𝑜𝑛𝑒𝑑𝑎</m:t>
                    </m:r>
                  </m:oMath>
                </a14:m>
                <a:endParaRPr lang="es-ES" dirty="0"/>
              </a:p>
              <a:p>
                <a:pPr lvl="2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𝑂𝑏𝑡𝑒𝑛𝑒𝑟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𝑐𝑎𝑟𝑎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𝑎𝑙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𝑙𝑎𝑛𝑧𝑎𝑟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𝑢𝑛𝑎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𝑚𝑜𝑛𝑒𝑑𝑎</m:t>
                    </m:r>
                  </m:oMath>
                </a14:m>
                <a:endParaRPr lang="es-ES" dirty="0"/>
              </a:p>
              <a:p>
                <a:r>
                  <a:rPr lang="es-ES" dirty="0"/>
                  <a:t>Si los sucesos A y B son independientes (la ocurrencia de uno de ellos no influye en la ocurrencia o no del otro)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endParaRPr lang="es-ES" dirty="0"/>
              </a:p>
              <a:p>
                <a:pPr lvl="1"/>
                <a:r>
                  <a:rPr lang="es-ES" dirty="0"/>
                  <a:t>Ejemplo: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𝑂𝑏𝑡𝑒𝑛𝑒𝑟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𝑐𝑟𝑢𝑧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𝑎𝑙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𝑙𝑎𝑛𝑧𝑎𝑟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𝑢𝑛𝑎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𝑚𝑜𝑛𝑒𝑑𝑎</m:t>
                    </m:r>
                  </m:oMath>
                </a14:m>
                <a:endParaRPr lang="es-ES" dirty="0"/>
              </a:p>
              <a:p>
                <a:pPr lvl="2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𝑂𝑏𝑡𝑒𝑛𝑒𝑟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4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𝑝𝑢𝑛𝑡𝑜𝑠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𝑎𝑙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𝑙𝑎𝑛𝑧𝑎𝑟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𝑢𝑛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𝑑𝑎𝑑𝑜</m:t>
                    </m:r>
                  </m:oMath>
                </a14:m>
                <a:r>
                  <a:rPr lang="es-ES" dirty="0"/>
                  <a:t> </a:t>
                </a:r>
              </a:p>
              <a:p>
                <a:pPr lvl="2"/>
                <a:r>
                  <a:rPr lang="es-ES" dirty="0"/>
                  <a:t>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s-ES" b="0" dirty="0"/>
              </a:p>
              <a:p>
                <a:pPr lvl="2"/>
                <a:r>
                  <a:rPr lang="es-ES" dirty="0"/>
                  <a:t>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=0.17</m:t>
                    </m:r>
                  </m:oMath>
                </a14:m>
                <a:endParaRPr lang="es-ES" b="0" dirty="0"/>
              </a:p>
              <a:p>
                <a:pPr lvl="2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0.5</m:t>
                        </m:r>
                      </m:e>
                    </m:d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0.17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=0.085</m:t>
                    </m:r>
                  </m:oMath>
                </a14:m>
                <a:endParaRPr lang="es-ES" b="0" dirty="0"/>
              </a:p>
              <a:p>
                <a:pPr lvl="2"/>
                <a:endParaRPr lang="es-ES" b="0" dirty="0"/>
              </a:p>
              <a:p>
                <a:pPr lvl="2"/>
                <a:endParaRPr lang="es-ES" dirty="0"/>
              </a:p>
              <a:p>
                <a:pPr lvl="2"/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C088539-884D-071D-FC3F-D616EC8B60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  <a:blipFill>
                <a:blip r:embed="rId2"/>
                <a:stretch>
                  <a:fillRect l="-812" t="-136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1EB7229-7657-78DF-7761-274D25C55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23</a:t>
            </a:fld>
            <a:endParaRPr lang="es-E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E2A981D2-F7B2-8713-FBEE-F734956A5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0385" y="4598652"/>
            <a:ext cx="991743" cy="110352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D26921C-6A1F-EC86-823F-EAA1DA44A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2263" y="4750643"/>
            <a:ext cx="991743" cy="951538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5D890223-0FB2-C6BA-EC4E-DF49CE1086A1}"/>
              </a:ext>
            </a:extLst>
          </p:cNvPr>
          <p:cNvSpPr txBox="1"/>
          <p:nvPr/>
        </p:nvSpPr>
        <p:spPr>
          <a:xfrm>
            <a:off x="8310075" y="5944414"/>
            <a:ext cx="16721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Imágenes: </a:t>
            </a:r>
            <a:r>
              <a:rPr lang="es-ES" sz="1200" dirty="0">
                <a:hlinkClick r:id="rId5"/>
              </a:rPr>
              <a:t>soyvisual.org</a:t>
            </a: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7755922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5EE5AC-6839-E23B-3774-1111A0FEC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4. Reglas de probabilidad</a:t>
            </a:r>
            <a:br>
              <a:rPr lang="es-ES" dirty="0"/>
            </a:br>
            <a:r>
              <a:rPr lang="es-ES" dirty="0"/>
              <a:t>Probabilidad de la unión de sucesos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C088539-884D-071D-FC3F-D616EC8B60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s-ES" sz="260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6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s-ES" sz="2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s-E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s-E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𝑃𝑟𝑜𝑏𝑎𝑏𝑖𝑙𝑖𝑑𝑎𝑑</m:t>
                    </m:r>
                    <m:r>
                      <a:rPr lang="es-E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𝑑𝑒</m:t>
                    </m:r>
                    <m:r>
                      <a:rPr lang="es-E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𝑞𝑢𝑒</m:t>
                    </m:r>
                    <m:r>
                      <a:rPr lang="es-E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𝑜𝑐𝑢𝑟𝑟𝑎</m:t>
                    </m:r>
                    <m:r>
                      <a:rPr lang="es-E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𝑒𝑙</m:t>
                    </m:r>
                    <m:r>
                      <a:rPr lang="es-E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𝑠𝑢𝑐𝑒𝑠𝑜</m:t>
                    </m:r>
                    <m:r>
                      <a:rPr lang="es-E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s-E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𝒐</m:t>
                    </m:r>
                    <m:r>
                      <a:rPr lang="es-E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𝑒𝑙</m:t>
                    </m:r>
                    <m:r>
                      <a:rPr lang="es-E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𝑠𝑢𝑐𝑒𝑠𝑜</m:t>
                    </m:r>
                    <m:r>
                      <a:rPr lang="es-E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endParaRPr lang="es-ES" sz="2600" dirty="0"/>
              </a:p>
              <a:p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endParaRPr lang="es-ES" dirty="0"/>
              </a:p>
              <a:p>
                <a:r>
                  <a:rPr lang="es-ES" dirty="0"/>
                  <a:t>Ejemplo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𝑂𝑏𝑡𝑒𝑛𝑒𝑟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𝑐𝑟𝑢𝑧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𝑎𝑙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𝑙𝑎𝑛𝑧𝑎𝑟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𝑢𝑛𝑎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𝑚𝑜𝑛𝑒𝑑𝑎</m:t>
                    </m:r>
                  </m:oMath>
                </a14:m>
                <a:endParaRPr lang="es-ES" b="0" dirty="0"/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𝑂𝑏𝑡𝑒𝑛𝑒𝑟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𝑐𝑎𝑟𝑎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𝑎𝑙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𝑙𝑎𝑛𝑧𝑎𝑟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𝑢𝑛𝑎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𝑚𝑜𝑛𝑒𝑑𝑎</m:t>
                    </m:r>
                  </m:oMath>
                </a14:m>
                <a:endParaRPr lang="es-ES" dirty="0"/>
              </a:p>
              <a:p>
                <a:pPr lvl="1"/>
                <a:r>
                  <a:rPr lang="es-ES" dirty="0"/>
                  <a:t>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s-ES" b="0" dirty="0"/>
              </a:p>
              <a:p>
                <a:pPr lvl="1"/>
                <a:r>
                  <a:rPr lang="es-ES" dirty="0"/>
                  <a:t>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s-ES" b="0" dirty="0"/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s-ES" b="0" dirty="0"/>
                  <a:t> por ser mutuamente excluyentes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=0.5+0.5+0=1</m:t>
                    </m:r>
                  </m:oMath>
                </a14:m>
                <a:endParaRPr lang="es-ES" b="0" dirty="0"/>
              </a:p>
              <a:p>
                <a:pPr lvl="1"/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C088539-884D-071D-FC3F-D616EC8B60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1EB7229-7657-78DF-7761-274D25C55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24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71626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5EE5AC-6839-E23B-3774-1111A0FEC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4. Reglas de probabilidad</a:t>
            </a:r>
            <a:br>
              <a:rPr lang="es-ES" dirty="0"/>
            </a:br>
            <a:r>
              <a:rPr lang="es-ES" dirty="0" err="1"/>
              <a:t>Probabilidad</a:t>
            </a:r>
            <a:r>
              <a:rPr lang="es-ES" dirty="0"/>
              <a:t> del complemento de un suceso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C088539-884D-071D-FC3F-D616EC8B60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s-E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𝑃𝑟𝑜𝑏𝑎𝑏𝑖𝑙𝑖𝑑𝑎𝑑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𝑑𝑒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𝑞𝑢𝑒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𝑛𝑜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𝑜𝑐𝑢𝑟𝑟𝑎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𝑒𝑙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𝑠𝑢𝑐𝑒𝑠𝑜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endParaRPr lang="es-ES" dirty="0"/>
              </a:p>
              <a:p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s-E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</m:d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1−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endParaRPr lang="es-ES" dirty="0"/>
              </a:p>
              <a:p>
                <a:r>
                  <a:rPr lang="es-ES" dirty="0"/>
                  <a:t>Ejemplo: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𝑂𝑏𝑡𝑒𝑛𝑒𝑟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 4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𝑝𝑢𝑛𝑡𝑜𝑠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𝑎𝑙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𝑙𝑎𝑛𝑧𝑎𝑟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𝑢𝑛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𝑑𝑎𝑑𝑜</m:t>
                    </m:r>
                  </m:oMath>
                </a14:m>
                <a:endParaRPr lang="es-ES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𝑁𝑜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𝑜𝑏𝑡𝑒𝑛𝑒𝑟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4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𝑝𝑢𝑛𝑡𝑜𝑠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𝑎𝑙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𝑙𝑎𝑛𝑧𝑎𝑟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𝑢𝑛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𝑑𝑎𝑑𝑜</m:t>
                    </m:r>
                  </m:oMath>
                </a14:m>
                <a:endParaRPr lang="es-ES" dirty="0"/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=0.17</m:t>
                    </m:r>
                  </m:oMath>
                </a14:m>
                <a:endParaRPr lang="es-ES" dirty="0"/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=1−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=1−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=0.83</m:t>
                    </m:r>
                  </m:oMath>
                </a14:m>
                <a:endParaRPr lang="es-ES" b="0" dirty="0"/>
              </a:p>
              <a:p>
                <a:pPr lvl="2"/>
                <a:endParaRPr lang="es-ES" dirty="0"/>
              </a:p>
              <a:p>
                <a:pPr lvl="2"/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C088539-884D-071D-FC3F-D616EC8B60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1EB7229-7657-78DF-7761-274D25C55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25</a:t>
            </a:fld>
            <a:endParaRPr lang="es-E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E2A981D2-F7B2-8713-FBEE-F734956A5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4058" y="4001294"/>
            <a:ext cx="991743" cy="1103529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5D890223-0FB2-C6BA-EC4E-DF49CE1086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700089" y="5225394"/>
            <a:ext cx="15951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/>
              <a:t>Imágen</a:t>
            </a:r>
            <a:r>
              <a:rPr lang="es-ES" sz="1200" dirty="0"/>
              <a:t>: </a:t>
            </a:r>
            <a:r>
              <a:rPr lang="es-ES" sz="1200" dirty="0">
                <a:hlinkClick r:id="rId4"/>
              </a:rPr>
              <a:t>soyvisual.org</a:t>
            </a: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4653766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5EE5AC-6839-E23B-3774-1111A0FEC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4. Reglas de probabilidad</a:t>
            </a:r>
            <a:br>
              <a:rPr lang="es-ES" dirty="0"/>
            </a:br>
            <a:r>
              <a:rPr lang="es-ES" dirty="0"/>
              <a:t>Probabilidad de la diferencia de sucesos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C088539-884D-071D-FC3F-D616EC8B60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\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𝑃𝑟𝑜𝑏𝑎𝑏𝑖𝑙𝑖𝑑𝑎𝑑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𝑑𝑒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𝑞𝑢𝑒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𝑜𝑐𝑢𝑟𝑟𝑎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𝑒𝑙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𝑠𝑢𝑐𝑒𝑠𝑜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𝑝𝑒𝑟𝑜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𝑛𝑜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𝑒𝑙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𝑠𝑢𝑐𝑒𝑠𝑜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endParaRPr lang="es-ES" dirty="0"/>
              </a:p>
              <a:p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endParaRPr lang="es-ES" dirty="0"/>
              </a:p>
              <a:p>
                <a:r>
                  <a:rPr lang="es-ES" dirty="0"/>
                  <a:t>Ejemplo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𝑂𝑏𝑡𝑒𝑛𝑒𝑟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𝑐𝑟𝑢𝑧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𝑎𝑙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𝑙𝑎𝑛𝑧𝑎𝑟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𝑢𝑛𝑎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𝑚𝑜𝑛𝑒𝑑𝑎</m:t>
                    </m:r>
                  </m:oMath>
                </a14:m>
                <a:endParaRPr lang="es-ES" b="0" dirty="0"/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𝑂𝑏𝑡𝑒𝑛𝑒𝑟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𝑐𝑎𝑟𝑎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𝑎𝑙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𝑙𝑎𝑛𝑧𝑎𝑟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𝑢𝑛𝑎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𝑚𝑜𝑛𝑒𝑑𝑎</m:t>
                    </m:r>
                  </m:oMath>
                </a14:m>
                <a:endParaRPr lang="es-ES" dirty="0"/>
              </a:p>
              <a:p>
                <a:pPr lvl="1"/>
                <a:r>
                  <a:rPr lang="es-ES" dirty="0"/>
                  <a:t>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s-ES" b="0" dirty="0"/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s-ES" b="0" dirty="0"/>
                  <a:t> por ser mutuamente excluyentes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=0.5−0=0.5</m:t>
                    </m:r>
                  </m:oMath>
                </a14:m>
                <a:endParaRPr lang="es-ES" b="0" dirty="0"/>
              </a:p>
              <a:p>
                <a:pPr lvl="1"/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C088539-884D-071D-FC3F-D616EC8B60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1EB7229-7657-78DF-7761-274D25C55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26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784808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EF597-2C43-E7C2-974C-B14D68CEE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4. Reglas de probabilidad</a:t>
            </a:r>
            <a:br>
              <a:rPr lang="es-ES" dirty="0"/>
            </a:br>
            <a:r>
              <a:rPr lang="es-ES" dirty="0"/>
              <a:t>Ejemplo 2.18 (Disco duro)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86B286-28C0-319F-964D-D6D51976F6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Hay un 1 % de probabilidad de que un disco duro de una empresa se bloquee. </a:t>
            </a:r>
          </a:p>
          <a:p>
            <a:r>
              <a:rPr lang="es-ES" dirty="0"/>
              <a:t>La empresa guarda dos copias de seguridad, cada una con una probabilidad del 2 % de bloqueo.</a:t>
            </a:r>
          </a:p>
          <a:p>
            <a:r>
              <a:rPr lang="es-ES" dirty="0"/>
              <a:t>Los tres componentes son independientes entre sí. </a:t>
            </a:r>
          </a:p>
          <a:p>
            <a:r>
              <a:rPr lang="es-ES" dirty="0"/>
              <a:t>La información almacenada se pierde sólo cuando los tres dispositivos se bloquean a la vez. </a:t>
            </a:r>
          </a:p>
          <a:p>
            <a:r>
              <a:rPr lang="es-ES" dirty="0"/>
              <a:t>¿Cuál es la probabilidad de que no se pierda la información?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66B376F-AE6E-6660-4B4F-695D7D5E7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27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59995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7E961A-7192-B1D2-C30F-33EC90747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4. Reglas de probabilidad</a:t>
            </a:r>
            <a:br>
              <a:rPr lang="es-ES" dirty="0"/>
            </a:br>
            <a:r>
              <a:rPr lang="es-ES" dirty="0"/>
              <a:t>Ejemplo 2.18 (Disco duro) (solución)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3DE7739-A474-6823-4275-4CB5D54967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𝐸𝑙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𝑑𝑖𝑠𝑐𝑜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𝑑𝑢𝑟𝑜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𝑠𝑒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𝑏𝑙𝑜𝑞𝑢𝑒𝑎</m:t>
                    </m:r>
                  </m:oMath>
                </a14:m>
                <a:endParaRPr lang="es-ES" dirty="0"/>
              </a:p>
              <a:p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𝐿𝑎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𝑝𝑟𝑖𝑚𝑒𝑟𝑎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𝑐𝑜𝑝𝑖𝑎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𝑑𝑒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𝑠𝑒𝑔𝑢𝑟𝑖𝑑𝑎𝑑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𝑠𝑒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𝑏𝑙𝑜𝑞𝑢𝑒𝑎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s-ES" dirty="0"/>
              </a:p>
              <a:p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𝐿𝑎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𝑠𝑒𝑔𝑢𝑛𝑑𝑎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𝑐𝑜𝑝𝑖𝑎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𝑑𝑒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𝑠𝑒𝑔𝑢𝑟𝑖𝑑𝑎𝑑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𝑠𝑒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𝑏𝑙𝑜𝑞𝑢𝑒𝑎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s-ES" dirty="0"/>
              </a:p>
              <a:p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𝑆𝑒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𝑝𝑖𝑒𝑟𝑑𝑒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𝑙𝑎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𝑖𝑛𝑓𝑜𝑟𝑚𝑎𝑐𝑖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ó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𝑏𝑙𝑜𝑞𝑢𝑒𝑜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𝑑𝑒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𝑑𝑖𝑠𝑐𝑜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𝑐𝑜𝑝𝑖𝑎𝑠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ES" dirty="0"/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𝑁𝑜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𝑠𝑒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𝑝𝑖𝑒𝑟𝑑𝑒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𝑙𝑎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𝑖𝑛𝑓𝑜𝑟𝑚𝑎𝑐𝑖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ó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s-ES" dirty="0"/>
              </a:p>
              <a:p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s-ES" i="1">
                        <a:latin typeface="Cambria Math" panose="02040503050406030204" pitchFamily="18" charset="0"/>
                      </a:rPr>
                      <m:t>=0.01,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s-ES" i="1">
                        <a:latin typeface="Cambria Math" panose="02040503050406030204" pitchFamily="18" charset="0"/>
                      </a:rPr>
                      <m:t>=0.0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s-ES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s-ES" i="1">
                        <a:latin typeface="Cambria Math" panose="02040503050406030204" pitchFamily="18" charset="0"/>
                      </a:rPr>
                      <m:t>=0.0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s-ES" dirty="0"/>
              </a:p>
              <a:p>
                <a:r>
                  <a:rPr lang="es-ES" dirty="0"/>
                  <a:t>El enunciado indica que son sucesos independientes </a:t>
                </a:r>
              </a:p>
              <a:p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s-ES" dirty="0"/>
                  <a:t>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s-E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0.01</m:t>
                        </m:r>
                      </m:e>
                    </m:d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0.02</m:t>
                        </m:r>
                      </m:e>
                    </m:d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0.02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=0.000004</m:t>
                    </m:r>
                  </m:oMath>
                </a14:m>
                <a:endParaRPr lang="es-ES" dirty="0"/>
              </a:p>
              <a:p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=1−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=1−0.000004=</m:t>
                    </m:r>
                    <m:r>
                      <a:rPr lang="es-ES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s-ES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s-ES" b="1" i="1" smtClean="0">
                        <a:latin typeface="Cambria Math" panose="02040503050406030204" pitchFamily="18" charset="0"/>
                      </a:rPr>
                      <m:t>𝟗𝟗𝟗𝟗𝟗𝟔</m:t>
                    </m:r>
                  </m:oMath>
                </a14:m>
                <a:endParaRPr lang="es-ES" b="1" dirty="0"/>
              </a:p>
              <a:p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3DE7739-A474-6823-4275-4CB5D54967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54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431176D-F7E2-5651-D1D0-CD27B1B8F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28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35200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EF597-2C43-E7C2-974C-B14D68CEE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4. Reglas de probabilidad</a:t>
            </a:r>
            <a:br>
              <a:rPr lang="es-ES" dirty="0"/>
            </a:br>
            <a:r>
              <a:rPr lang="es-ES" dirty="0"/>
              <a:t>Ejemplo 2.20 (Fiabilidad)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86B286-28C0-319F-964D-D6D51976F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00024" cy="4351338"/>
          </a:xfrm>
        </p:spPr>
        <p:txBody>
          <a:bodyPr>
            <a:normAutofit fontScale="85000" lnSpcReduction="10000"/>
          </a:bodyPr>
          <a:lstStyle/>
          <a:p>
            <a:r>
              <a:rPr lang="es-ES" dirty="0"/>
              <a:t>Calcular la fiabilidad del sistema de la figura 2.3 si cada componente funciona correctamente con probabilidad 0.92 independientemente de los otros componentes.</a:t>
            </a:r>
          </a:p>
          <a:p>
            <a:r>
              <a:rPr lang="es-ES" dirty="0"/>
              <a:t>La fiabilidad de un sistema es la probabilidad de que funcione correctamente</a:t>
            </a:r>
          </a:p>
          <a:p>
            <a:pPr lvl="1"/>
            <a:r>
              <a:rPr lang="es-ES" dirty="0"/>
              <a:t>Cuando los componentes del sistema están conectados en paralelo, es suficiente que al menos un componente funcione para que todo el sistema funcione. Ejemplo: sistema de copias de seguridad en una empresa.</a:t>
            </a:r>
          </a:p>
          <a:p>
            <a:pPr lvl="1"/>
            <a:r>
              <a:rPr lang="es-ES" dirty="0"/>
              <a:t>Cuando los componentes del sistema están conectados en serie, es suficiente que al menos un componente falle para que todo el sistema falle. Ejemplo: el procesador y la memoria interna de un teléfono móvil. </a:t>
            </a:r>
          </a:p>
          <a:p>
            <a:pPr lvl="1"/>
            <a:endParaRPr lang="es-ES" dirty="0"/>
          </a:p>
          <a:p>
            <a:pPr lvl="1"/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66B376F-AE6E-6660-4B4F-695D7D5E7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29</a:t>
            </a:fld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B3507F1-B1F3-1F8E-8918-352D7C6C9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743" y="3014179"/>
            <a:ext cx="4390739" cy="1974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0357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7E961A-7192-B1D2-C30F-33EC90747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4. Reglas de probabilidad</a:t>
            </a:r>
            <a:br>
              <a:rPr lang="es-ES" dirty="0"/>
            </a:br>
            <a:r>
              <a:rPr lang="es-ES" dirty="0"/>
              <a:t>Ejemplo 2.20 (Fiabilidad) (solución)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3DE7739-A474-6823-4275-4CB5D54967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0.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92</m:t>
                    </m:r>
                  </m:oMath>
                </a14:m>
                <a:endParaRPr lang="es-ES" dirty="0"/>
              </a:p>
              <a:p>
                <a:r>
                  <a:rPr lang="es-ES" dirty="0"/>
                  <a:t>El sistema funciona si funcionan (A y B) o (C y (D o E))</a:t>
                </a:r>
              </a:p>
              <a:p>
                <a:r>
                  <a:rPr lang="es-ES" dirty="0"/>
                  <a:t>Fiabilidad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𝐹𝑖𝑎𝑏𝑖𝑙𝑖𝑑𝑎𝑑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∩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∩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lang="es-E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∪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br>
                  <a:rPr lang="es-ES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∪</m:t>
                            </m:r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</m:d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∩</m:t>
                            </m:r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∩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∪</m:t>
                                </m:r>
                                <m: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br>
                  <a:rPr lang="es-ES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E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s-E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endParaRPr lang="es-ES" dirty="0"/>
              </a:p>
              <a:p>
                <a:pPr lvl="1"/>
                <a:r>
                  <a:rPr lang="es-ES" dirty="0"/>
                  <a:t>Como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s-E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s-E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s-E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=0.92+0.92−0.92∙0.92=0.9936</m:t>
                    </m:r>
                  </m:oMath>
                </a14:m>
                <a:endParaRPr lang="es-ES" dirty="0"/>
              </a:p>
              <a:p>
                <a:pPr lvl="1"/>
                <a:r>
                  <a:rPr lang="es-ES" dirty="0"/>
                  <a:t>Entonces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𝐹𝑖𝑎𝑏𝑖𝑙𝑖𝑑𝑎𝑑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=0.92∙</m:t>
                    </m:r>
                    <m:r>
                      <a:rPr lang="es-E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0.92+0.92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0.9936−0.92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0.92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0.92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09936=</m:t>
                    </m:r>
                    <m:r>
                      <a:rPr lang="es-E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s-E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s-E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𝟗𝟖𝟔𝟖</m:t>
                    </m:r>
                  </m:oMath>
                </a14:m>
                <a:endParaRPr lang="es-ES" b="1" dirty="0"/>
              </a:p>
              <a:p>
                <a:pPr marL="457200" lvl="1" indent="0">
                  <a:buNone/>
                </a:pPr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3DE7739-A474-6823-4275-4CB5D54967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b="-84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431176D-F7E2-5651-D1D0-CD27B1B8F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30</a:t>
            </a:fld>
            <a:endParaRPr lang="es-E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EC16743-050A-74E7-33A9-50CAB3310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6395" y="2389024"/>
            <a:ext cx="2097405" cy="1255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0808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761FE9-C3AE-6FC7-C4A9-C1FF0B2C6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4. Reglas de probabilidad</a:t>
            </a:r>
            <a:br>
              <a:rPr lang="es-ES" dirty="0"/>
            </a:br>
            <a:r>
              <a:rPr dirty="0" err="1"/>
              <a:t>Ejercicios</a:t>
            </a:r>
            <a:r>
              <a:rPr dirty="0"/>
              <a:t> </a:t>
            </a:r>
            <a:r>
              <a:rPr dirty="0" err="1"/>
              <a:t>propuestos</a:t>
            </a:r>
            <a:endParaRPr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D761F8-90FE-5A56-8924-772DAE4E6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 err="1"/>
              <a:t>Ejercicio</a:t>
            </a:r>
            <a:r>
              <a:rPr lang="es-ES" dirty="0"/>
              <a:t>s 2.2, 2</a:t>
            </a:r>
            <a:r>
              <a:rPr dirty="0"/>
              <a:t>.</a:t>
            </a:r>
            <a:r>
              <a:rPr lang="es-ES" dirty="0"/>
              <a:t>3, 2.4(</a:t>
            </a:r>
            <a:r>
              <a:rPr lang="es-ES" dirty="0" err="1"/>
              <a:t>a,b,c,d</a:t>
            </a:r>
            <a:r>
              <a:rPr lang="es-ES" dirty="0"/>
              <a:t>), 2.5, 2.8 a 2.13</a:t>
            </a:r>
            <a:r>
              <a:rPr dirty="0"/>
              <a:t> del </a:t>
            </a:r>
            <a:r>
              <a:rPr dirty="0" err="1"/>
              <a:t>libro</a:t>
            </a:r>
            <a:endParaRPr lang="es-ES" dirty="0"/>
          </a:p>
          <a:p>
            <a:pPr lvl="1"/>
            <a:r>
              <a:rPr lang="es-ES" sz="2400" b="0" strike="noStrike" spc="-1" dirty="0">
                <a:solidFill>
                  <a:srgbClr val="000000"/>
                </a:solidFill>
                <a:latin typeface="Calibri"/>
              </a:rPr>
              <a:t>Las respuestas de 2.3, 2.8, 2.9, 2.12, 2.13 están disponibles en</a:t>
            </a:r>
            <a:r>
              <a:rPr lang="es-ES" spc="-1" dirty="0">
                <a:solidFill>
                  <a:srgbClr val="000000"/>
                </a:solidFill>
                <a:latin typeface="Calibri"/>
              </a:rPr>
              <a:t> el libro</a:t>
            </a:r>
            <a:endParaRPr lang="es-ES" dirty="0"/>
          </a:p>
          <a:p>
            <a:endParaRPr lang="es-ES" dirty="0"/>
          </a:p>
          <a:p>
            <a:r>
              <a:rPr lang="es-ES" dirty="0"/>
              <a:t>Otros ejercicios resueltos:</a:t>
            </a:r>
          </a:p>
          <a:p>
            <a:pPr lvl="1"/>
            <a:r>
              <a:rPr lang="es-ES" dirty="0">
                <a:hlinkClick r:id="rId2"/>
              </a:rPr>
              <a:t>Proyecto Descartes</a:t>
            </a:r>
            <a:endParaRPr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EA86158-512B-60EF-6886-59F4BFB08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31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549012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C2647-0DE4-D697-3852-25463EF6F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5. Probabilidad condicional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678B0BC-3391-2350-AD6D-D92C23E928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s-ES" dirty="0"/>
                  <a:t>La probabilidad condicional de un suceso A respecto de un suceso B es la probabilidad de que ocurra el suceso A si ya ha ocurrido el suceso B</a:t>
                </a:r>
              </a:p>
              <a:p>
                <a:r>
                  <a:rPr lang="es-ES" dirty="0"/>
                  <a:t>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∩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den>
                    </m:f>
                  </m:oMath>
                </a14:m>
                <a:endParaRPr lang="es-ES" dirty="0"/>
              </a:p>
              <a:p>
                <a:r>
                  <a:rPr lang="es-ES" dirty="0"/>
                  <a:t>Ejemplo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s-E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i="1" smtClean="0">
                        <a:latin typeface="Cambria Math" panose="02040503050406030204" pitchFamily="18" charset="0"/>
                      </a:rPr>
                      <m:t>𝑂𝑏𝑡𝑒𝑛𝑒𝑟</m:t>
                    </m:r>
                    <m:r>
                      <a:rPr lang="es-ES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 smtClean="0">
                        <a:latin typeface="Cambria Math" panose="02040503050406030204" pitchFamily="18" charset="0"/>
                      </a:rPr>
                      <m:t>𝑐𝑟𝑢𝑧</m:t>
                    </m:r>
                    <m:r>
                      <a:rPr lang="es-ES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 smtClean="0">
                        <a:latin typeface="Cambria Math" panose="02040503050406030204" pitchFamily="18" charset="0"/>
                      </a:rPr>
                      <m:t>𝑎𝑙</m:t>
                    </m:r>
                    <m:r>
                      <a:rPr lang="es-ES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 smtClean="0">
                        <a:latin typeface="Cambria Math" panose="02040503050406030204" pitchFamily="18" charset="0"/>
                      </a:rPr>
                      <m:t>𝑙𝑎𝑛𝑧𝑎𝑟</m:t>
                    </m:r>
                    <m:r>
                      <a:rPr lang="es-ES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 smtClean="0">
                        <a:latin typeface="Cambria Math" panose="02040503050406030204" pitchFamily="18" charset="0"/>
                      </a:rPr>
                      <m:t>𝑢𝑛𝑎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𝑚𝑜𝑛𝑒𝑑𝑎</m:t>
                    </m:r>
                  </m:oMath>
                </a14:m>
                <a:endParaRPr lang="es-ES" dirty="0"/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𝑂𝑏𝑡𝑒𝑛𝑒𝑟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𝑐𝑎𝑟𝑎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𝑎𝑙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𝑙𝑎𝑛𝑧𝑎𝑟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𝑢𝑛𝑎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𝑚𝑜𝑛𝑒𝑑𝑎</m:t>
                    </m:r>
                  </m:oMath>
                </a14:m>
                <a:endParaRPr lang="es-ES" dirty="0"/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s-ES" dirty="0"/>
                  <a:t>  por ser sucesos mutuamente excluyentes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s-ES" dirty="0"/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∩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0.5</m:t>
                        </m:r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s-ES" dirty="0"/>
              </a:p>
              <a:p>
                <a:pPr lvl="1"/>
                <a:r>
                  <a:rPr lang="es-ES" dirty="0"/>
                  <a:t>Si ya ha salido cara en la tirada, no es posible que salga cruz en la misma tirada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678B0BC-3391-2350-AD6D-D92C23E928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 b="-28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8B4F6D2-7601-5578-220A-3E8CE202A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32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19601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423293-C1C7-B55E-7659-296A0904D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5. Probabilidad condicional</a:t>
            </a:r>
            <a:br>
              <a:rPr lang="es-ES" dirty="0"/>
            </a:br>
            <a:r>
              <a:rPr lang="es-ES" dirty="0"/>
              <a:t>Ejemplo 2.31 (Vuelos)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056A3FE-2B00-970C-29E7-1903FC632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En un aeropuerto el 90% de los vuelos salen a tiempo. </a:t>
            </a:r>
          </a:p>
          <a:p>
            <a:r>
              <a:rPr lang="es-ES" dirty="0"/>
              <a:t>El 80% de los vuelos llegan a tiempo. </a:t>
            </a:r>
          </a:p>
          <a:p>
            <a:r>
              <a:rPr lang="es-ES" dirty="0"/>
              <a:t>El 75% de los vuelos salen a tiempo y llegan a tiempo.</a:t>
            </a:r>
          </a:p>
          <a:p>
            <a:r>
              <a:rPr lang="es-ES" dirty="0"/>
              <a:t>a) Si un vuelo ha salido a tiempo, ¿Cuál es la probabilidad de que llegue a tiempo?</a:t>
            </a:r>
          </a:p>
          <a:p>
            <a:r>
              <a:rPr lang="es-ES" dirty="0"/>
              <a:t>b) Si un vuelo ha llegado a tiempo, ¿Cuál es la probabilidad de que saliera a tiempo?</a:t>
            </a:r>
          </a:p>
          <a:p>
            <a:r>
              <a:rPr lang="es-ES" dirty="0"/>
              <a:t>c) ¿Son los sucesos “salir a tiempo” y “llegar a tiempo” independientes?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F1DB955-1AF4-7819-10B7-57B096559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33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135997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7CFCB9-9659-6BDF-084D-29A560798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5. Probabilidad condicional</a:t>
            </a:r>
            <a:br>
              <a:rPr lang="es-ES" dirty="0"/>
            </a:br>
            <a:r>
              <a:rPr lang="es-ES" dirty="0"/>
              <a:t>Ejemplo 2.31 (Vuelos) (solución)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44F711A5-A7F4-96C3-5805-EB94EF94E2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s-E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𝑈𝑛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𝑣𝑢𝑒𝑙𝑜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𝑠𝑎𝑙𝑒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𝑡𝑖𝑒𝑚𝑝𝑜</m:t>
                    </m:r>
                  </m:oMath>
                </a14:m>
                <a:endParaRPr lang="es-ES" dirty="0"/>
              </a:p>
              <a:p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𝑈𝑛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𝑣𝑢𝑒𝑙𝑜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𝑙𝑙𝑒𝑔𝑎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𝑡𝑖𝑒𝑚𝑝𝑜</m:t>
                    </m:r>
                  </m:oMath>
                </a14:m>
                <a:endParaRPr lang="es-ES" dirty="0"/>
              </a:p>
              <a:p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=0.9</m:t>
                    </m:r>
                  </m:oMath>
                </a14:m>
                <a:r>
                  <a:rPr lang="es-ES" b="0" i="1" dirty="0">
                    <a:latin typeface="Cambria Math" panose="02040503050406030204" pitchFamily="18" charset="0"/>
                  </a:rPr>
                  <a:t>, 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s-ES" i="1">
                        <a:latin typeface="Cambria Math" panose="02040503050406030204" pitchFamily="18" charset="0"/>
                      </a:rPr>
                      <m:t>=0.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s-ES" dirty="0"/>
                  <a:t>,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0.75</m:t>
                    </m:r>
                  </m:oMath>
                </a14:m>
                <a:endParaRPr lang="es-ES" dirty="0"/>
              </a:p>
              <a:p>
                <a:r>
                  <a:rPr lang="es-ES" dirty="0"/>
                  <a:t>a)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𝑙𝑙𝑒𝑔𝑎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𝑡𝑖𝑒𝑚𝑝𝑜</m:t>
                        </m:r>
                      </m:e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𝑠𝑎𝑙𝑒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𝑡𝑖𝑒𝑚𝑝𝑜</m:t>
                        </m:r>
                      </m:e>
                    </m:d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∩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num>
                      <m:den>
                        <m:r>
                          <a:rPr lang="es-ES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0.75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0.9</m:t>
                        </m:r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=0.8333</m:t>
                    </m:r>
                  </m:oMath>
                </a14:m>
                <a:endParaRPr lang="es-ES" dirty="0"/>
              </a:p>
              <a:p>
                <a:r>
                  <a:rPr lang="es-ES" dirty="0"/>
                  <a:t>b)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𝑠𝑎𝑙𝑒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𝑡𝑖𝑒𝑚𝑝𝑜</m:t>
                        </m:r>
                      </m:e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𝑙𝑙𝑒𝑔𝑎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𝑡𝑖𝑒𝑚𝑝𝑜</m:t>
                        </m:r>
                      </m:e>
                    </m:d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∩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num>
                      <m:den>
                        <m:r>
                          <a:rPr lang="es-ES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0.75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0.8</m:t>
                        </m:r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=0.9</m:t>
                    </m:r>
                    <m:r>
                      <a:rPr lang="es-ES" b="0" i="0" smtClean="0">
                        <a:latin typeface="Cambria Math" panose="02040503050406030204" pitchFamily="18" charset="0"/>
                      </a:rPr>
                      <m:t>375</m:t>
                    </m:r>
                  </m:oMath>
                </a14:m>
                <a:endParaRPr lang="es-ES" dirty="0"/>
              </a:p>
              <a:p>
                <a:r>
                  <a:rPr lang="es-ES" dirty="0"/>
                  <a:t>c) ¿Son A y B independientes?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0.75</m:t>
                    </m:r>
                  </m:oMath>
                </a14:m>
                <a:endParaRPr lang="es-ES" dirty="0"/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s-ES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0.9</m:t>
                        </m:r>
                      </m:e>
                    </m:d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0.8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=0.72</m:t>
                    </m:r>
                  </m:oMath>
                </a14:m>
                <a:endParaRPr lang="es-ES" b="0" dirty="0"/>
              </a:p>
              <a:p>
                <a:pPr lvl="1"/>
                <a:r>
                  <a:rPr lang="es-ES" dirty="0"/>
                  <a:t>No son </a:t>
                </a:r>
                <a:r>
                  <a:rPr lang="es-ES" dirty="0" err="1"/>
                  <a:t>idependientes</a:t>
                </a:r>
                <a:r>
                  <a:rPr lang="es-ES" dirty="0"/>
                  <a:t> porque </a:t>
                </a:r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s-E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s-ES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44F711A5-A7F4-96C3-5805-EB94EF94E2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8AAD170-CE09-3C58-271E-CC2E1A84C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34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669718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FC3621-BAD3-17B8-782F-AB95631D5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5. Probabilidad condicional</a:t>
            </a:r>
            <a:br>
              <a:rPr lang="es-ES" dirty="0"/>
            </a:br>
            <a:r>
              <a:rPr lang="es-ES" dirty="0"/>
              <a:t>Regla de Bayes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3978899-A0D8-2848-6F2E-F5D41D5844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es-ES" dirty="0"/>
                  <a:t>Regla de Bayes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den>
                    </m:f>
                  </m:oMath>
                </a14:m>
                <a:endParaRPr lang="es-ES" dirty="0"/>
              </a:p>
              <a:p>
                <a:r>
                  <a:rPr lang="es-ES" dirty="0"/>
                  <a:t>Ejemplo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s-E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i="1" smtClean="0">
                        <a:latin typeface="Cambria Math" panose="02040503050406030204" pitchFamily="18" charset="0"/>
                      </a:rPr>
                      <m:t>𝑂𝑏𝑡𝑒𝑛𝑒𝑟</m:t>
                    </m:r>
                    <m:r>
                      <a:rPr lang="es-ES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 smtClean="0">
                        <a:latin typeface="Cambria Math" panose="02040503050406030204" pitchFamily="18" charset="0"/>
                      </a:rPr>
                      <m:t>𝑐𝑟𝑢𝑧</m:t>
                    </m:r>
                    <m:r>
                      <a:rPr lang="es-ES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 smtClean="0">
                        <a:latin typeface="Cambria Math" panose="02040503050406030204" pitchFamily="18" charset="0"/>
                      </a:rPr>
                      <m:t>𝑎𝑙</m:t>
                    </m:r>
                    <m:r>
                      <a:rPr lang="es-ES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 smtClean="0">
                        <a:latin typeface="Cambria Math" panose="02040503050406030204" pitchFamily="18" charset="0"/>
                      </a:rPr>
                      <m:t>𝑙𝑎𝑛𝑧𝑎𝑟</m:t>
                    </m:r>
                    <m:r>
                      <a:rPr lang="es-ES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 smtClean="0">
                        <a:latin typeface="Cambria Math" panose="02040503050406030204" pitchFamily="18" charset="0"/>
                      </a:rPr>
                      <m:t>𝑢𝑛𝑎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𝑚𝑜𝑛𝑒𝑑𝑎</m:t>
                    </m:r>
                  </m:oMath>
                </a14:m>
                <a:endParaRPr lang="es-ES" dirty="0"/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𝑂𝑏𝑡𝑒𝑛𝑒𝑟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𝑐𝑎𝑟𝑎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𝑎𝑙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𝑙𝑎𝑛𝑧𝑎𝑟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𝑢𝑛𝑎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𝑚𝑜𝑛𝑒𝑑𝑎</m:t>
                    </m:r>
                  </m:oMath>
                </a14:m>
                <a:endParaRPr lang="es-ES" dirty="0"/>
              </a:p>
              <a:p>
                <a:pPr lvl="1"/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s-ES" i="1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s-ES" dirty="0"/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s-ES" dirty="0"/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∩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0.5</m:t>
                        </m:r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s-ES" dirty="0"/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∙0.5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0.5</m:t>
                        </m:r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s-ES" dirty="0"/>
              </a:p>
              <a:p>
                <a:pPr lvl="1"/>
                <a:r>
                  <a:rPr lang="es-ES" dirty="0"/>
                  <a:t>Si ya ha salido cruz en la tirada, no es posible que salga cara en la misma tirada</a:t>
                </a:r>
              </a:p>
              <a:p>
                <a:endParaRPr lang="es-ES" dirty="0"/>
              </a:p>
              <a:p>
                <a:pPr lvl="1"/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3978899-A0D8-2848-6F2E-F5D41D5844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2661" b="-56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3B861B7-52C1-B802-44DF-747917AA5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35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427918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FC3621-BAD3-17B8-782F-AB95631D5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5. Probabilidad condicional</a:t>
            </a:r>
            <a:br>
              <a:rPr lang="es-ES" dirty="0"/>
            </a:br>
            <a:r>
              <a:rPr lang="es-ES" dirty="0"/>
              <a:t>Ley de la probabilidad total (dos sucesos)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3978899-A0D8-2848-6F2E-F5D41D5844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" dirty="0"/>
                  <a:t>Ley de la probabilidad total para dos sucesos A y B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acc>
                          <m:accPr>
                            <m:chr m:val="̅"/>
                            <m:ctrlP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e>
                        <m:acc>
                          <m:accPr>
                            <m:chr m:val="̅"/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e>
                    </m:d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e>
                    </m:d>
                  </m:oMath>
                </a14:m>
                <a:endParaRPr lang="es-ES" dirty="0"/>
              </a:p>
              <a:p>
                <a:r>
                  <a:rPr lang="es-ES" dirty="0"/>
                  <a:t>Regla de Bayes aplicando la ley de la probabilidad total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num>
                      <m:den>
                        <m:r>
                          <a:rPr lang="es-ES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e>
                            <m:acc>
                              <m:accPr>
                                <m:chr m:val="̅"/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acc>
                          </m:e>
                        </m:d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acc>
                          </m:e>
                        </m:d>
                      </m:den>
                    </m:f>
                  </m:oMath>
                </a14:m>
                <a:endParaRPr lang="es-ES" dirty="0"/>
              </a:p>
              <a:p>
                <a:pPr marL="457200" lvl="1" indent="0">
                  <a:buNone/>
                </a:pPr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3978899-A0D8-2848-6F2E-F5D41D5844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3B861B7-52C1-B802-44DF-747917AA5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36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93204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FC3621-BAD3-17B8-782F-AB95631D5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5. Probabilidad condicional</a:t>
            </a:r>
            <a:br>
              <a:rPr lang="es-ES" dirty="0"/>
            </a:br>
            <a:r>
              <a:rPr lang="es-ES" dirty="0"/>
              <a:t>Ley de la probabilidad total (general)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3978899-A0D8-2848-6F2E-F5D41D5844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2222268"/>
              </a:xfrm>
            </p:spPr>
            <p:txBody>
              <a:bodyPr>
                <a:normAutofit fontScale="92500"/>
              </a:bodyPr>
              <a:lstStyle/>
              <a:p>
                <a:r>
                  <a:rPr lang="es-ES" dirty="0"/>
                  <a:t>En el caso de tener más de un suceso en la condición: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s-ES" b="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s-ES" dirty="0"/>
                  <a:t>Si los sucesos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dirty="0"/>
                  <a:t>forman un espacio muestral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E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s-ES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es-ES" dirty="0"/>
              </a:p>
              <a:p>
                <a:pPr lvl="1"/>
                <a:r>
                  <a:rPr lang="es-ES" dirty="0"/>
                  <a:t>Si son mutuamente excluyentes entre sí: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=0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𝑝𝑎𝑟𝑎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𝑐𝑢𝑎𝑙𝑞𝑢𝑖𝑒𝑟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s-ES" dirty="0"/>
              </a:p>
              <a:p>
                <a:pPr lvl="1"/>
                <a:r>
                  <a:rPr lang="es-ES" dirty="0"/>
                  <a:t>Si son exhaustivos: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E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E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endParaRPr lang="es-ES" dirty="0"/>
              </a:p>
              <a:p>
                <a:pPr lvl="1"/>
                <a:r>
                  <a:rPr lang="es-ES" b="0" dirty="0"/>
                  <a:t>Entonces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E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ES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∩</m:t>
                            </m:r>
                            <m:sSub>
                              <m:sSubPr>
                                <m:ctrlP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E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e>
                            <m:sSub>
                              <m:sSubPr>
                                <m:ctrlPr>
                                  <a:rPr lang="es-E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E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s-ES" dirty="0"/>
              </a:p>
              <a:p>
                <a:pPr lvl="1"/>
                <a:endParaRPr lang="es-ES" dirty="0"/>
              </a:p>
              <a:p>
                <a:pPr lvl="1"/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3978899-A0D8-2848-6F2E-F5D41D5844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2222268"/>
              </a:xfrm>
              <a:blipFill>
                <a:blip r:embed="rId2"/>
                <a:stretch>
                  <a:fillRect l="-928" t="-3836" b="-2904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3B861B7-52C1-B802-44DF-747917AA5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37</a:t>
            </a:fld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D844B60-60FE-D642-B62D-A8399C9EBF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2603" y="4047893"/>
            <a:ext cx="5566481" cy="2673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1700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9BC5FA-AE78-67B6-BCD4-F4277DD33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5. Probabilidad condicional</a:t>
            </a:r>
            <a:br>
              <a:rPr lang="es-ES" dirty="0"/>
            </a:br>
            <a:r>
              <a:rPr lang="es-ES" dirty="0"/>
              <a:t>Ejemplo 2.34 (Virus)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A10AA7-4A6F-A274-6210-A8D5A0DC6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Se sabe que el 4% de los pacientes de una región tiene un virus.</a:t>
            </a:r>
          </a:p>
          <a:p>
            <a:r>
              <a:rPr lang="es-ES" dirty="0"/>
              <a:t>Una prueba para detectar el virus en  los pacientes es 95% confiable para pacientes infectados y 99% confiable para los sanos. </a:t>
            </a:r>
          </a:p>
          <a:p>
            <a:r>
              <a:rPr lang="es-ES" dirty="0"/>
              <a:t>Un paciente se realiza la prueba y es positiva. </a:t>
            </a:r>
          </a:p>
          <a:p>
            <a:r>
              <a:rPr lang="es-ES" dirty="0"/>
              <a:t>¿Cuál es la probabilidad de que el paciente tenga el virus?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D03237D-C7A7-06BE-193D-F41E25801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38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641866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526F5C-E365-C62A-0614-2B0F40EC7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5. Probabilidad condicional</a:t>
            </a:r>
            <a:br>
              <a:rPr lang="es-ES" dirty="0"/>
            </a:br>
            <a:r>
              <a:rPr lang="es-ES" dirty="0"/>
              <a:t>Ejemplo 2.34 (Virus) (solución)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FBA81C6F-24DD-C8AD-9C68-8EC2938783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s-E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𝑇𝑒𝑠𝑡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𝑖𝑛𝑑𝑖𝑐𝑎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𝑞𝑢𝑒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h𝑎𝑦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𝑣𝑖𝑟𝑢𝑠</m:t>
                    </m:r>
                  </m:oMath>
                </a14:m>
                <a:endParaRPr lang="es-ES" dirty="0"/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𝑇𝑒𝑠𝑡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𝑖𝑛𝑑𝑖𝑐𝑎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𝑞𝑢𝑒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𝑛𝑜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h𝑎𝑦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𝑣𝑖𝑟𝑢𝑠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s-ES" dirty="0"/>
              </a:p>
              <a:p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𝑃𝑎𝑐𝑖𝑒𝑛𝑡𝑒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𝑡𝑖𝑒𝑛𝑒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𝑒𝑙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𝑣𝑖𝑟𝑢𝑠</m:t>
                    </m:r>
                  </m:oMath>
                </a14:m>
                <a:endParaRPr lang="es-ES" b="0" dirty="0"/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𝑃𝑎𝑐𝑖𝑒𝑛𝑡𝑒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𝑛𝑜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𝑡𝑖𝑒𝑛𝑒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𝑒𝑙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𝑣𝑖𝑟𝑢𝑠</m:t>
                    </m:r>
                  </m:oMath>
                </a14:m>
                <a:endParaRPr lang="es-ES" b="0" dirty="0"/>
              </a:p>
              <a:p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=0.95</m:t>
                    </m:r>
                  </m:oMath>
                </a14:m>
                <a:endParaRPr lang="es-ES" b="0" dirty="0"/>
              </a:p>
              <a:p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e>
                        <m:acc>
                          <m:accPr>
                            <m:chr m:val="̅"/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=0.99</m:t>
                    </m:r>
                  </m:oMath>
                </a14:m>
                <a:endParaRPr lang="es-ES" b="0" dirty="0"/>
              </a:p>
              <a:p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=0.04</m:t>
                    </m:r>
                  </m:oMath>
                </a14:m>
                <a:endParaRPr lang="es-ES" b="0" dirty="0"/>
              </a:p>
              <a:p>
                <a:r>
                  <a:rPr lang="es-ES" b="0" dirty="0"/>
                  <a:t>Se pide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e>
                        <m:acc>
                          <m:accPr>
                            <m:chr m:val="̅"/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</m:d>
                  </m:oMath>
                </a14:m>
                <a:endParaRPr lang="es-ES" b="0" dirty="0"/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=1−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=1−0.04=0.96</m:t>
                    </m:r>
                  </m:oMath>
                </a14:m>
                <a:endParaRPr lang="es-ES" b="0" dirty="0"/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e>
                        <m:acc>
                          <m:accPr>
                            <m:chr m:val="̅"/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1−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e>
                        <m:acc>
                          <m:accPr>
                            <m:chr m:val="̅"/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e>
                    </m:d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1−0.99=0.01</m:t>
                    </m:r>
                  </m:oMath>
                </a14:m>
                <a:endParaRPr lang="es-ES" b="0" dirty="0"/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e>
                        <m:acc>
                          <m:accPr>
                            <m:chr m:val="̅"/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num>
                      <m:den>
                        <m:r>
                          <a:rPr lang="es-ES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e>
                            <m:acc>
                              <m:accPr>
                                <m:chr m:val="̅"/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acc>
                          </m:e>
                        </m:d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acc>
                          </m:e>
                        </m:d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(0.95)(0.04)</m:t>
                        </m:r>
                      </m:num>
                      <m:den>
                        <m:d>
                          <m:dPr>
                            <m:ctrlP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0.95</m:t>
                            </m:r>
                          </m:e>
                        </m:d>
                        <m:d>
                          <m:dPr>
                            <m:ctrlP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0.04</m:t>
                            </m:r>
                          </m:e>
                        </m:d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+(0.01)(0.96)</m:t>
                        </m:r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=0.7983</m:t>
                    </m:r>
                  </m:oMath>
                </a14:m>
                <a:endParaRPr lang="es-ES" b="0" dirty="0"/>
              </a:p>
              <a:p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FBA81C6F-24DD-C8AD-9C68-8EC2938783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12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080E12A-F844-C292-CE09-0EAB03DE7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39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240820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761FE9-C3AE-6FC7-C4A9-C1FF0B2C6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5. Probabilidad condicional</a:t>
            </a:r>
            <a:br>
              <a:rPr lang="es-ES" dirty="0"/>
            </a:br>
            <a:r>
              <a:rPr dirty="0" err="1"/>
              <a:t>Ejercicios</a:t>
            </a:r>
            <a:r>
              <a:rPr dirty="0"/>
              <a:t> </a:t>
            </a:r>
            <a:r>
              <a:rPr dirty="0" err="1"/>
              <a:t>propuestos</a:t>
            </a:r>
            <a:endParaRPr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D761F8-90FE-5A56-8924-772DAE4E6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 err="1"/>
              <a:t>Ejercicio</a:t>
            </a:r>
            <a:r>
              <a:rPr lang="es-ES" dirty="0"/>
              <a:t>s 2.4(</a:t>
            </a:r>
            <a:r>
              <a:rPr lang="es-ES" dirty="0" err="1"/>
              <a:t>e,f</a:t>
            </a:r>
            <a:r>
              <a:rPr lang="es-ES" dirty="0"/>
              <a:t>), 2</a:t>
            </a:r>
            <a:r>
              <a:rPr dirty="0"/>
              <a:t>.</a:t>
            </a:r>
            <a:r>
              <a:rPr lang="es-ES" dirty="0"/>
              <a:t>6, 2.7, 2.15 a 2.24</a:t>
            </a:r>
            <a:r>
              <a:rPr dirty="0"/>
              <a:t> del </a:t>
            </a:r>
            <a:r>
              <a:rPr dirty="0" err="1"/>
              <a:t>libro</a:t>
            </a:r>
            <a:endParaRPr lang="es-ES" dirty="0"/>
          </a:p>
          <a:p>
            <a:pPr lvl="1"/>
            <a:r>
              <a:rPr lang="es-ES" sz="2400" b="0" strike="noStrike" spc="-1" dirty="0">
                <a:solidFill>
                  <a:srgbClr val="000000"/>
                </a:solidFill>
                <a:latin typeface="Calibri"/>
              </a:rPr>
              <a:t>Las respuestas de 2.7, 2.15, 2.16, 2.18</a:t>
            </a:r>
            <a:r>
              <a:rPr lang="es-ES" spc="-1" dirty="0">
                <a:solidFill>
                  <a:srgbClr val="000000"/>
                </a:solidFill>
                <a:latin typeface="Calibri"/>
              </a:rPr>
              <a:t>, </a:t>
            </a:r>
            <a:r>
              <a:rPr lang="es-ES" sz="2400" b="0" strike="noStrike" spc="-1" dirty="0">
                <a:solidFill>
                  <a:srgbClr val="000000"/>
                </a:solidFill>
                <a:latin typeface="Calibri"/>
              </a:rPr>
              <a:t>2.20, 2.21 y 2.24 están disponibles en</a:t>
            </a:r>
            <a:r>
              <a:rPr lang="es-ES" spc="-1" dirty="0">
                <a:solidFill>
                  <a:srgbClr val="000000"/>
                </a:solidFill>
                <a:latin typeface="Calibri"/>
              </a:rPr>
              <a:t> el libro</a:t>
            </a:r>
            <a:endParaRPr lang="es-ES" dirty="0"/>
          </a:p>
          <a:p>
            <a:endParaRPr lang="es-ES" dirty="0"/>
          </a:p>
          <a:p>
            <a:r>
              <a:rPr lang="es-ES" dirty="0"/>
              <a:t>Otros ejercicios resueltos:</a:t>
            </a:r>
          </a:p>
          <a:p>
            <a:pPr lvl="1"/>
            <a:r>
              <a:rPr lang="es-ES" dirty="0">
                <a:hlinkClick r:id="rId2"/>
              </a:rPr>
              <a:t>Proyecto Descartes</a:t>
            </a:r>
            <a:endParaRPr lang="es-ES" dirty="0"/>
          </a:p>
          <a:p>
            <a:pPr lvl="1"/>
            <a:r>
              <a:rPr lang="es-ES" dirty="0">
                <a:hlinkClick r:id="rId3"/>
              </a:rPr>
              <a:t>wpd.ugr.es</a:t>
            </a:r>
            <a:endParaRPr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EA86158-512B-60EF-6886-59F4BFB08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40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380767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C31602-0173-86DB-1B87-31E0298D1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6</a:t>
            </a:r>
            <a:r>
              <a:rPr dirty="0"/>
              <a:t>. </a:t>
            </a:r>
            <a:r>
              <a:rPr dirty="0" err="1"/>
              <a:t>Resumen</a:t>
            </a:r>
            <a:endParaRPr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C24067-56F0-60D2-7DCF-60718F007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95851"/>
          </a:xfrm>
        </p:spPr>
        <p:txBody>
          <a:bodyPr>
            <a:normAutofit fontScale="77500" lnSpcReduction="20000"/>
          </a:bodyPr>
          <a:lstStyle/>
          <a:p>
            <a:r>
              <a:rPr lang="es-ES" dirty="0"/>
              <a:t>La probabilidad es una medida entre 0 y 1 de la certidumbre de que ocurra un suceso (evento) en un experimento aleatorio, siendo un suceso un conjunto de posibles resultados del experimento aleatorio </a:t>
            </a:r>
          </a:p>
          <a:p>
            <a:r>
              <a:rPr lang="es-ES" dirty="0"/>
              <a:t>La combinatoria consiste en operaciones de conteo, como permutaciones (variaciones) o combinaciones, que se pueden utilizar para el cálculo de probabilidades contando resultados equiprobables de un experimento aleatorio</a:t>
            </a:r>
          </a:p>
          <a:p>
            <a:r>
              <a:rPr lang="es-ES" dirty="0"/>
              <a:t>Los sucesos son conjuntos y se puede calcular la probabilidad de sucesos que se forman con la unión, intersección, complemento y diferencia de otros sucesos</a:t>
            </a:r>
          </a:p>
          <a:p>
            <a:r>
              <a:rPr lang="es-ES" dirty="0"/>
              <a:t>Dos sucesos son independientes cuando la ocurrencia de uno de ellos no influye en la ocurrencia o no de otro</a:t>
            </a:r>
          </a:p>
          <a:p>
            <a:r>
              <a:rPr lang="es-ES" dirty="0"/>
              <a:t>La probabilidad condicional de un suceso (posterior) respecto a otro suceso (anterior), es la probabilidad de que ocurra el suceso posterior si ya ha ocurrido el suceso anterior</a:t>
            </a:r>
          </a:p>
          <a:p>
            <a:r>
              <a:rPr lang="es-ES" dirty="0"/>
              <a:t>La Regla o Teorema de Bayes establece cómo calcular la probabilidad de un suceso anterior, conociendo la probabilidad de un suceso posterior  </a:t>
            </a:r>
          </a:p>
          <a:p>
            <a:r>
              <a:rPr lang="es-ES" dirty="0"/>
              <a:t>La Ley o Teorema de la Probabilidad Total establece que la probabilidad de un suceso puede calcularse en función de sus probabilidades condicionales respecto a un conjunto de otros sucesos que sean exhaustivos y mutuamente excluyentes </a:t>
            </a:r>
          </a:p>
          <a:p>
            <a:endParaRPr lang="es-ES" dirty="0"/>
          </a:p>
          <a:p>
            <a:endParaRPr lang="es-ES" dirty="0"/>
          </a:p>
          <a:p>
            <a:endParaRPr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88EA456-A29C-8A97-B441-9F7D407B7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41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470033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Personalizado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00"/>
      </a:hlink>
      <a:folHlink>
        <a:srgbClr val="0000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7013</TotalTime>
  <Words>4206</Words>
  <Application>Microsoft Office PowerPoint</Application>
  <PresentationFormat>Panorámica</PresentationFormat>
  <Paragraphs>459</Paragraphs>
  <Slides>41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41</vt:i4>
      </vt:variant>
    </vt:vector>
  </HeadingPairs>
  <TitlesOfParts>
    <vt:vector size="47" baseType="lpstr">
      <vt:lpstr>Arial</vt:lpstr>
      <vt:lpstr>Calibri</vt:lpstr>
      <vt:lpstr>Calibri Light</vt:lpstr>
      <vt:lpstr>Cambria Math</vt:lpstr>
      <vt:lpstr>Wingdings</vt:lpstr>
      <vt:lpstr>Tema de Office</vt:lpstr>
      <vt:lpstr>Probabilidad y combinatoria</vt:lpstr>
      <vt:lpstr>Contenidos</vt:lpstr>
      <vt:lpstr>1. Objetivos</vt:lpstr>
      <vt:lpstr>2. Conceptos previos Experimento aleatorio</vt:lpstr>
      <vt:lpstr>2. Conceptos previos Espacio muestral y suceso</vt:lpstr>
      <vt:lpstr>2. Conceptos previos Probabilidad</vt:lpstr>
      <vt:lpstr>2. Conceptos previos Propiedades de un espacio muestral</vt:lpstr>
      <vt:lpstr>2. Conceptos previos Probabilidad (con resultados equiprobables)</vt:lpstr>
      <vt:lpstr>2. Conceptos previos Probabilidad (con resultados no equiprobables)</vt:lpstr>
      <vt:lpstr>2. Conceptos previos Probabilidad. Ejemplo fútbol</vt:lpstr>
      <vt:lpstr>2. Conceptos previos Sucesos dependientes e independientes</vt:lpstr>
      <vt:lpstr>3. Combinatoria</vt:lpstr>
      <vt:lpstr>3. Combinatoria Operaciones de conteo: permutaciones y combinaciones</vt:lpstr>
      <vt:lpstr>3. Combinatoria Operaciones de conteo: Fórmulas</vt:lpstr>
      <vt:lpstr>3. Combinatoria Ejemplo 2.28 (Permutaciones sin repetición)</vt:lpstr>
      <vt:lpstr>3. Combinatoria Ejemplo 2.27 (Permutaciones con repetición)</vt:lpstr>
      <vt:lpstr>3. Combinatoria Ejemplo 2.27 (Solución)</vt:lpstr>
      <vt:lpstr>3. Combinatoria Ejemplo 2.29 (Combinaciones sin repetición)</vt:lpstr>
      <vt:lpstr>3. Combinatoria Ejemplo 2.29 (Solución)</vt:lpstr>
      <vt:lpstr>3. Combinatoria Ejemplo (Combinaciones con repetición)</vt:lpstr>
      <vt:lpstr>3. Combinatoria Ejercicios propuestos</vt:lpstr>
      <vt:lpstr>4. Reglas de probabilidad</vt:lpstr>
      <vt:lpstr>4. Reglas de probabilidad Probabilidad de la intersección de sucesos</vt:lpstr>
      <vt:lpstr>4. Reglas de probabilidad Probabilidad de la unión de sucesos</vt:lpstr>
      <vt:lpstr>4. Reglas de probabilidad Probabilidad del complemento de un suceso</vt:lpstr>
      <vt:lpstr>4. Reglas de probabilidad Probabilidad de la diferencia de sucesos</vt:lpstr>
      <vt:lpstr>4. Reglas de probabilidad Ejemplo 2.18 (Disco duro)</vt:lpstr>
      <vt:lpstr>4. Reglas de probabilidad Ejemplo 2.18 (Disco duro) (solución)</vt:lpstr>
      <vt:lpstr>4. Reglas de probabilidad Ejemplo 2.20 (Fiabilidad)</vt:lpstr>
      <vt:lpstr>4. Reglas de probabilidad Ejemplo 2.20 (Fiabilidad) (solución)</vt:lpstr>
      <vt:lpstr>4. Reglas de probabilidad Ejercicios propuestos</vt:lpstr>
      <vt:lpstr>5. Probabilidad condicional</vt:lpstr>
      <vt:lpstr>5. Probabilidad condicional Ejemplo 2.31 (Vuelos)</vt:lpstr>
      <vt:lpstr>5. Probabilidad condicional Ejemplo 2.31 (Vuelos) (solución)</vt:lpstr>
      <vt:lpstr>5. Probabilidad condicional Regla de Bayes</vt:lpstr>
      <vt:lpstr>5. Probabilidad condicional Ley de la probabilidad total (dos sucesos)</vt:lpstr>
      <vt:lpstr>5. Probabilidad condicional Ley de la probabilidad total (general)</vt:lpstr>
      <vt:lpstr>5. Probabilidad condicional Ejemplo 2.34 (Virus) </vt:lpstr>
      <vt:lpstr>5. Probabilidad condicional Ejemplo 2.34 (Virus) (solución)</vt:lpstr>
      <vt:lpstr>5. Probabilidad condicional Ejercicios propuestos</vt:lpstr>
      <vt:lpstr>6. Resumen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Probabilidad y combinatoria</dc:title>
  <dc:creator/>
  <cp:lastModifiedBy>jose hilera</cp:lastModifiedBy>
  <cp:revision>196</cp:revision>
  <dcterms:created xsi:type="dcterms:W3CDTF">2022-12-26T19:51:11Z</dcterms:created>
  <dcterms:modified xsi:type="dcterms:W3CDTF">2024-09-24T09:53:04Z</dcterms:modified>
</cp:coreProperties>
</file>