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662" r:id="rId2"/>
  </p:sldMasterIdLst>
  <p:notesMasterIdLst>
    <p:notesMasterId r:id="rId40"/>
  </p:notesMasterIdLst>
  <p:sldIdLst>
    <p:sldId id="461" r:id="rId3"/>
    <p:sldId id="462" r:id="rId4"/>
    <p:sldId id="483" r:id="rId5"/>
    <p:sldId id="484" r:id="rId6"/>
    <p:sldId id="501" r:id="rId7"/>
    <p:sldId id="489" r:id="rId8"/>
    <p:sldId id="503" r:id="rId9"/>
    <p:sldId id="525" r:id="rId10"/>
    <p:sldId id="490" r:id="rId11"/>
    <p:sldId id="526" r:id="rId12"/>
    <p:sldId id="502" r:id="rId13"/>
    <p:sldId id="504" r:id="rId14"/>
    <p:sldId id="527" r:id="rId15"/>
    <p:sldId id="494" r:id="rId16"/>
    <p:sldId id="496" r:id="rId17"/>
    <p:sldId id="505" r:id="rId18"/>
    <p:sldId id="486" r:id="rId19"/>
    <p:sldId id="488" r:id="rId20"/>
    <p:sldId id="487" r:id="rId21"/>
    <p:sldId id="499" r:id="rId22"/>
    <p:sldId id="510" r:id="rId23"/>
    <p:sldId id="511" r:id="rId24"/>
    <p:sldId id="509" r:id="rId25"/>
    <p:sldId id="528" r:id="rId26"/>
    <p:sldId id="529" r:id="rId27"/>
    <p:sldId id="506" r:id="rId28"/>
    <p:sldId id="508" r:id="rId29"/>
    <p:sldId id="532" r:id="rId30"/>
    <p:sldId id="533" r:id="rId31"/>
    <p:sldId id="498" r:id="rId32"/>
    <p:sldId id="515" r:id="rId33"/>
    <p:sldId id="517" r:id="rId34"/>
    <p:sldId id="534" r:id="rId35"/>
    <p:sldId id="535" r:id="rId36"/>
    <p:sldId id="519" r:id="rId37"/>
    <p:sldId id="536" r:id="rId38"/>
    <p:sldId id="524" r:id="rId39"/>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651" autoAdjust="0"/>
    <p:restoredTop sz="93716" autoAdjust="0"/>
  </p:normalViewPr>
  <p:slideViewPr>
    <p:cSldViewPr snapToGrid="0">
      <p:cViewPr varScale="1">
        <p:scale>
          <a:sx n="68" d="100"/>
          <a:sy n="68" d="100"/>
        </p:scale>
        <p:origin x="1330" y="58"/>
      </p:cViewPr>
      <p:guideLst>
        <p:guide orient="horz" pos="2160"/>
        <p:guide pos="3840"/>
      </p:guideLst>
    </p:cSldViewPr>
  </p:slideViewPr>
  <p:notesTextViewPr>
    <p:cViewPr>
      <p:scale>
        <a:sx n="75" d="100"/>
        <a:sy n="75" d="100"/>
      </p:scale>
      <p:origin x="0" y="0"/>
    </p:cViewPr>
  </p:notesTextViewPr>
  <p:notesViewPr>
    <p:cSldViewPr snapToGrid="0">
      <p:cViewPr varScale="1">
        <p:scale>
          <a:sx n="52" d="100"/>
          <a:sy n="52" d="100"/>
        </p:scale>
        <p:origin x="2608" y="5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dirty="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6FEF4D-0142-46B4-AC7F-5B868160AD8E}" type="datetimeFigureOut">
              <a:rPr lang="es-ES" smtClean="0"/>
              <a:t>04/12/2025</a:t>
            </a:fld>
            <a:endParaRPr lang="es-ES" dirty="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dirty="0"/>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dirty="0"/>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B8CBC7-3B2B-4C22-92A9-AEE2213136AA}" type="slidenum">
              <a:rPr lang="es-ES" smtClean="0"/>
              <a:t>‹Nº›</a:t>
            </a:fld>
            <a:endParaRPr lang="es-ES" dirty="0"/>
          </a:p>
        </p:txBody>
      </p:sp>
    </p:spTree>
    <p:extLst>
      <p:ext uri="{BB962C8B-B14F-4D97-AF65-F5344CB8AC3E}">
        <p14:creationId xmlns:p14="http://schemas.microsoft.com/office/powerpoint/2010/main" val="3161097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lvl="0"/>
            <a:endParaRPr lang="es-ES" dirty="0"/>
          </a:p>
        </p:txBody>
      </p:sp>
      <p:sp>
        <p:nvSpPr>
          <p:cNvPr id="4" name="Marcador de número de diapositiva 3"/>
          <p:cNvSpPr>
            <a:spLocks noGrp="1"/>
          </p:cNvSpPr>
          <p:nvPr>
            <p:ph type="sldNum" sz="quarter" idx="10"/>
          </p:nvPr>
        </p:nvSpPr>
        <p:spPr/>
        <p:txBody>
          <a:bodyPr/>
          <a:lstStyle/>
          <a:p>
            <a:fld id="{09B8CBC7-3B2B-4C22-92A9-AEE2213136AA}" type="slidenum">
              <a:rPr lang="es-ES" smtClean="0"/>
              <a:t>1</a:t>
            </a:fld>
            <a:endParaRPr lang="es-ES"/>
          </a:p>
        </p:txBody>
      </p:sp>
    </p:spTree>
    <p:extLst>
      <p:ext uri="{BB962C8B-B14F-4D97-AF65-F5344CB8AC3E}">
        <p14:creationId xmlns:p14="http://schemas.microsoft.com/office/powerpoint/2010/main" val="20338122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09B8CBC7-3B2B-4C22-92A9-AEE2213136AA}" type="slidenum">
              <a:rPr lang="es-ES" smtClean="0"/>
              <a:t>2</a:t>
            </a:fld>
            <a:endParaRPr lang="es-ES" dirty="0"/>
          </a:p>
        </p:txBody>
      </p:sp>
    </p:spTree>
    <p:extLst>
      <p:ext uri="{BB962C8B-B14F-4D97-AF65-F5344CB8AC3E}">
        <p14:creationId xmlns:p14="http://schemas.microsoft.com/office/powerpoint/2010/main" val="16068103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0" y="0"/>
            <a:ext cx="12192000" cy="2387600"/>
          </a:xfrm>
          <a:solidFill>
            <a:schemeClr val="accent1">
              <a:lumMod val="40000"/>
              <a:lumOff val="60000"/>
            </a:schemeClr>
          </a:solidFill>
        </p:spPr>
        <p:txBody>
          <a:bodyPr anchor="ctr"/>
          <a:lstStyle>
            <a:lvl1pPr algn="r">
              <a:defRPr sz="6000"/>
            </a:lvl1pPr>
          </a:lstStyle>
          <a:p>
            <a:r>
              <a:rPr lang="es-ES" dirty="0"/>
              <a:t>Haga clic para modificar el estilo de título del patrón</a:t>
            </a:r>
          </a:p>
        </p:txBody>
      </p:sp>
      <p:sp>
        <p:nvSpPr>
          <p:cNvPr id="3" name="Subtítulo 2"/>
          <p:cNvSpPr>
            <a:spLocks noGrp="1"/>
          </p:cNvSpPr>
          <p:nvPr>
            <p:ph type="subTitle" idx="1"/>
          </p:nvPr>
        </p:nvSpPr>
        <p:spPr>
          <a:xfrm>
            <a:off x="240323" y="2854692"/>
            <a:ext cx="9144000" cy="1655762"/>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Tree>
    <p:extLst>
      <p:ext uri="{BB962C8B-B14F-4D97-AF65-F5344CB8AC3E}">
        <p14:creationId xmlns:p14="http://schemas.microsoft.com/office/powerpoint/2010/main" val="13113193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Indice">
    <p:spTree>
      <p:nvGrpSpPr>
        <p:cNvPr id="1" name=""/>
        <p:cNvGrpSpPr/>
        <p:nvPr/>
      </p:nvGrpSpPr>
      <p:grpSpPr>
        <a:xfrm>
          <a:off x="0" y="0"/>
          <a:ext cx="0" cy="0"/>
          <a:chOff x="0" y="0"/>
          <a:chExt cx="0" cy="0"/>
        </a:xfrm>
      </p:grpSpPr>
      <p:sp>
        <p:nvSpPr>
          <p:cNvPr id="2" name="Título 1"/>
          <p:cNvSpPr>
            <a:spLocks noGrp="1"/>
          </p:cNvSpPr>
          <p:nvPr>
            <p:ph type="title"/>
          </p:nvPr>
        </p:nvSpPr>
        <p:spPr>
          <a:xfrm>
            <a:off x="0" y="0"/>
            <a:ext cx="12192000" cy="1325563"/>
          </a:xfrm>
          <a:solidFill>
            <a:schemeClr val="accent1">
              <a:lumMod val="40000"/>
              <a:lumOff val="60000"/>
            </a:schemeClr>
          </a:solidFill>
        </p:spPr>
        <p:txBody>
          <a:bodyPr/>
          <a:lstStyle>
            <a:lvl1pPr algn="ctr">
              <a:defRPr/>
            </a:lvl1pPr>
          </a:lstStyle>
          <a:p>
            <a:r>
              <a:rPr lang="es-ES" dirty="0"/>
              <a:t>Haga clic para modificar el estilo de título del patrón</a:t>
            </a:r>
          </a:p>
        </p:txBody>
      </p:sp>
      <p:sp>
        <p:nvSpPr>
          <p:cNvPr id="3" name="Marcador de contenido 2"/>
          <p:cNvSpPr>
            <a:spLocks noGrp="1"/>
          </p:cNvSpPr>
          <p:nvPr>
            <p:ph idx="1"/>
          </p:nvPr>
        </p:nvSpPr>
        <p:spPr>
          <a:xfrm>
            <a:off x="1345223" y="1491517"/>
            <a:ext cx="9161585" cy="4698268"/>
          </a:xfrm>
        </p:spPr>
        <p:txBody>
          <a:bodyPr/>
          <a:lstStyle>
            <a:lvl1pPr marL="228600" indent="-228600">
              <a:lnSpc>
                <a:spcPct val="120000"/>
              </a:lnSpc>
              <a:buFont typeface="Wingdings" panose="05000000000000000000" pitchFamily="2" charset="2"/>
              <a:buChar char="§"/>
              <a:defRPr/>
            </a:lvl1pPr>
            <a:lvl2pPr marL="685800" indent="-228600">
              <a:spcBef>
                <a:spcPts val="1200"/>
              </a:spcBef>
              <a:buFont typeface="Courier New" panose="02070309020205020404" pitchFamily="49" charset="0"/>
              <a:buChar char="o"/>
              <a:defRPr/>
            </a:lvl2pPr>
            <a:lvl3pPr>
              <a:spcBef>
                <a:spcPts val="1200"/>
              </a:spcBef>
              <a:defRPr/>
            </a:lvl3pPr>
          </a:lstStyle>
          <a:p>
            <a:pPr lvl="0"/>
            <a:r>
              <a:rPr lang="es-ES" dirty="0"/>
              <a:t>Haga clic para modificar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p>
        </p:txBody>
      </p:sp>
      <p:sp>
        <p:nvSpPr>
          <p:cNvPr id="4" name="Marcador de fecha 3"/>
          <p:cNvSpPr>
            <a:spLocks noGrp="1"/>
          </p:cNvSpPr>
          <p:nvPr>
            <p:ph type="dt" sz="half" idx="10"/>
          </p:nvPr>
        </p:nvSpPr>
        <p:spPr/>
        <p:txBody>
          <a:bodyPr/>
          <a:lstStyle/>
          <a:p>
            <a:fld id="{29A70EA5-8E19-4BC4-934C-2C82A50D6490}" type="datetime1">
              <a:rPr lang="es-ES" smtClean="0"/>
              <a:t>04/12/2025</a:t>
            </a:fld>
            <a:endParaRPr lang="es-ES" dirty="0"/>
          </a:p>
        </p:txBody>
      </p:sp>
      <p:sp>
        <p:nvSpPr>
          <p:cNvPr id="5" name="Marcador de pie de página 4"/>
          <p:cNvSpPr>
            <a:spLocks noGrp="1"/>
          </p:cNvSpPr>
          <p:nvPr>
            <p:ph type="ftr" sz="quarter" idx="11"/>
          </p:nvPr>
        </p:nvSpPr>
        <p:spPr/>
        <p:txBody>
          <a:bodyPr/>
          <a:lstStyle/>
          <a:p>
            <a:endParaRPr lang="es-ES" dirty="0"/>
          </a:p>
        </p:txBody>
      </p:sp>
      <p:sp>
        <p:nvSpPr>
          <p:cNvPr id="6" name="Marcador de número de diapositiva 5"/>
          <p:cNvSpPr>
            <a:spLocks noGrp="1"/>
          </p:cNvSpPr>
          <p:nvPr>
            <p:ph type="sldNum" sz="quarter" idx="12"/>
          </p:nvPr>
        </p:nvSpPr>
        <p:spPr>
          <a:xfrm>
            <a:off x="9226061" y="6356350"/>
            <a:ext cx="2743200" cy="365125"/>
          </a:xfrm>
        </p:spPr>
        <p:txBody>
          <a:bodyPr/>
          <a:lstStyle/>
          <a:p>
            <a:fld id="{C9400CC4-AA0F-4E2E-A7D9-25BF1D2A8A65}" type="slidenum">
              <a:rPr lang="es-ES" smtClean="0"/>
              <a:t>‹Nº›</a:t>
            </a:fld>
            <a:endParaRPr lang="es-ES" dirty="0"/>
          </a:p>
        </p:txBody>
      </p:sp>
    </p:spTree>
    <p:extLst>
      <p:ext uri="{BB962C8B-B14F-4D97-AF65-F5344CB8AC3E}">
        <p14:creationId xmlns:p14="http://schemas.microsoft.com/office/powerpoint/2010/main" val="41843167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ítulo y objetos">
    <p:spTree>
      <p:nvGrpSpPr>
        <p:cNvPr id="1" name=""/>
        <p:cNvGrpSpPr/>
        <p:nvPr/>
      </p:nvGrpSpPr>
      <p:grpSpPr>
        <a:xfrm>
          <a:off x="0" y="0"/>
          <a:ext cx="0" cy="0"/>
          <a:chOff x="0" y="0"/>
          <a:chExt cx="0" cy="0"/>
        </a:xfrm>
      </p:grpSpPr>
      <p:sp>
        <p:nvSpPr>
          <p:cNvPr id="2" name="Título 1"/>
          <p:cNvSpPr>
            <a:spLocks noGrp="1"/>
          </p:cNvSpPr>
          <p:nvPr>
            <p:ph type="title"/>
          </p:nvPr>
        </p:nvSpPr>
        <p:spPr>
          <a:xfrm>
            <a:off x="0" y="0"/>
            <a:ext cx="12192000" cy="1325563"/>
          </a:xfrm>
          <a:solidFill>
            <a:schemeClr val="accent1">
              <a:lumMod val="40000"/>
              <a:lumOff val="60000"/>
            </a:schemeClr>
          </a:solidFill>
        </p:spPr>
        <p:txBody>
          <a:bodyPr/>
          <a:lstStyle>
            <a:lvl1pPr marL="354013" indent="0">
              <a:defRPr/>
            </a:lvl1pPr>
          </a:lstStyle>
          <a:p>
            <a:r>
              <a:rPr lang="es-ES" dirty="0"/>
              <a:t>Haga clic para modificar el estilo de título del patrón</a:t>
            </a:r>
          </a:p>
        </p:txBody>
      </p:sp>
      <p:sp>
        <p:nvSpPr>
          <p:cNvPr id="3" name="Marcador de contenido 2"/>
          <p:cNvSpPr>
            <a:spLocks noGrp="1"/>
          </p:cNvSpPr>
          <p:nvPr>
            <p:ph idx="1"/>
          </p:nvPr>
        </p:nvSpPr>
        <p:spPr>
          <a:xfrm>
            <a:off x="527538" y="1491517"/>
            <a:ext cx="11025553" cy="4698268"/>
          </a:xfrm>
        </p:spPr>
        <p:txBody>
          <a:bodyPr/>
          <a:lstStyle>
            <a:lvl1pPr marL="228600" indent="-228600">
              <a:lnSpc>
                <a:spcPct val="120000"/>
              </a:lnSpc>
              <a:buFont typeface="Wingdings" panose="05000000000000000000" pitchFamily="2" charset="2"/>
              <a:buChar char="§"/>
              <a:defRPr/>
            </a:lvl1pPr>
            <a:lvl2pPr marL="685800" indent="-228600">
              <a:spcBef>
                <a:spcPts val="1200"/>
              </a:spcBef>
              <a:buFont typeface="Courier New" panose="02070309020205020404" pitchFamily="49" charset="0"/>
              <a:buChar char="o"/>
              <a:defRPr/>
            </a:lvl2pPr>
            <a:lvl3pPr>
              <a:spcBef>
                <a:spcPts val="1200"/>
              </a:spcBef>
              <a:defRPr/>
            </a:lvl3pPr>
          </a:lstStyle>
          <a:p>
            <a:pPr lvl="0"/>
            <a:r>
              <a:rPr lang="es-ES" dirty="0"/>
              <a:t>Haga clic para modificar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p>
        </p:txBody>
      </p:sp>
      <p:sp>
        <p:nvSpPr>
          <p:cNvPr id="4" name="Marcador de fecha 3"/>
          <p:cNvSpPr>
            <a:spLocks noGrp="1"/>
          </p:cNvSpPr>
          <p:nvPr>
            <p:ph type="dt" sz="half" idx="10"/>
          </p:nvPr>
        </p:nvSpPr>
        <p:spPr/>
        <p:txBody>
          <a:bodyPr/>
          <a:lstStyle/>
          <a:p>
            <a:fld id="{29A70EA5-8E19-4BC4-934C-2C82A50D6490}" type="datetime1">
              <a:rPr lang="es-ES" smtClean="0"/>
              <a:t>04/12/2025</a:t>
            </a:fld>
            <a:endParaRPr lang="es-ES" dirty="0"/>
          </a:p>
        </p:txBody>
      </p:sp>
      <p:sp>
        <p:nvSpPr>
          <p:cNvPr id="5" name="Marcador de pie de página 4"/>
          <p:cNvSpPr>
            <a:spLocks noGrp="1"/>
          </p:cNvSpPr>
          <p:nvPr>
            <p:ph type="ftr" sz="quarter" idx="11"/>
          </p:nvPr>
        </p:nvSpPr>
        <p:spPr/>
        <p:txBody>
          <a:bodyPr/>
          <a:lstStyle/>
          <a:p>
            <a:endParaRPr lang="es-ES" dirty="0"/>
          </a:p>
        </p:txBody>
      </p:sp>
      <p:sp>
        <p:nvSpPr>
          <p:cNvPr id="6" name="Marcador de número de diapositiva 5"/>
          <p:cNvSpPr>
            <a:spLocks noGrp="1"/>
          </p:cNvSpPr>
          <p:nvPr>
            <p:ph type="sldNum" sz="quarter" idx="12"/>
          </p:nvPr>
        </p:nvSpPr>
        <p:spPr>
          <a:xfrm>
            <a:off x="9226061" y="6356350"/>
            <a:ext cx="2743200" cy="365125"/>
          </a:xfrm>
        </p:spPr>
        <p:txBody>
          <a:bodyPr/>
          <a:lstStyle/>
          <a:p>
            <a:fld id="{C9400CC4-AA0F-4E2E-A7D9-25BF1D2A8A65}" type="slidenum">
              <a:rPr lang="es-ES" smtClean="0"/>
              <a:t>‹Nº›</a:t>
            </a:fld>
            <a:endParaRPr lang="es-ES" dirty="0"/>
          </a:p>
        </p:txBody>
      </p:sp>
    </p:spTree>
    <p:extLst>
      <p:ext uri="{BB962C8B-B14F-4D97-AF65-F5344CB8AC3E}">
        <p14:creationId xmlns:p14="http://schemas.microsoft.com/office/powerpoint/2010/main" val="21715196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sz="half" idx="1"/>
          </p:nvPr>
        </p:nvSpPr>
        <p:spPr>
          <a:xfrm>
            <a:off x="838200" y="1825625"/>
            <a:ext cx="51816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p:cNvSpPr>
            <a:spLocks noGrp="1"/>
          </p:cNvSpPr>
          <p:nvPr>
            <p:ph sz="half" idx="2"/>
          </p:nvPr>
        </p:nvSpPr>
        <p:spPr>
          <a:xfrm>
            <a:off x="6172200" y="1825625"/>
            <a:ext cx="51816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p:cNvSpPr>
            <a:spLocks noGrp="1"/>
          </p:cNvSpPr>
          <p:nvPr>
            <p:ph type="dt" sz="half" idx="10"/>
          </p:nvPr>
        </p:nvSpPr>
        <p:spPr/>
        <p:txBody>
          <a:bodyPr/>
          <a:lstStyle/>
          <a:p>
            <a:fld id="{A36C9D08-3C16-416B-B8F9-4D4A629F38C9}" type="datetime1">
              <a:rPr lang="es-ES" smtClean="0"/>
              <a:t>04/12/2025</a:t>
            </a:fld>
            <a:endParaRPr lang="es-ES" dirty="0"/>
          </a:p>
        </p:txBody>
      </p:sp>
      <p:sp>
        <p:nvSpPr>
          <p:cNvPr id="6" name="Marcador de pie de página 5"/>
          <p:cNvSpPr>
            <a:spLocks noGrp="1"/>
          </p:cNvSpPr>
          <p:nvPr>
            <p:ph type="ftr" sz="quarter" idx="11"/>
          </p:nvPr>
        </p:nvSpPr>
        <p:spPr/>
        <p:txBody>
          <a:bodyPr/>
          <a:lstStyle/>
          <a:p>
            <a:endParaRPr lang="es-ES" dirty="0"/>
          </a:p>
        </p:txBody>
      </p:sp>
      <p:sp>
        <p:nvSpPr>
          <p:cNvPr id="7" name="Marcador de número de diapositiva 6"/>
          <p:cNvSpPr>
            <a:spLocks noGrp="1"/>
          </p:cNvSpPr>
          <p:nvPr>
            <p:ph type="sldNum" sz="quarter" idx="12"/>
          </p:nvPr>
        </p:nvSpPr>
        <p:spPr/>
        <p:txBody>
          <a:bodyPr/>
          <a:lstStyle/>
          <a:p>
            <a:fld id="{C9400CC4-AA0F-4E2E-A7D9-25BF1D2A8A65}" type="slidenum">
              <a:rPr lang="es-ES" smtClean="0"/>
              <a:t>‹Nº›</a:t>
            </a:fld>
            <a:endParaRPr lang="es-ES" dirty="0"/>
          </a:p>
        </p:txBody>
      </p:sp>
    </p:spTree>
    <p:extLst>
      <p:ext uri="{BB962C8B-B14F-4D97-AF65-F5344CB8AC3E}">
        <p14:creationId xmlns:p14="http://schemas.microsoft.com/office/powerpoint/2010/main" val="20219499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p:cNvSpPr>
            <a:spLocks noGrp="1"/>
          </p:cNvSpPr>
          <p:nvPr>
            <p:ph type="dt" sz="half" idx="10"/>
          </p:nvPr>
        </p:nvSpPr>
        <p:spPr/>
        <p:txBody>
          <a:bodyPr/>
          <a:lstStyle/>
          <a:p>
            <a:fld id="{69E1E605-5CBB-40FE-87B4-05B62A5CAB7C}" type="datetime1">
              <a:rPr lang="es-ES" smtClean="0"/>
              <a:t>04/12/2025</a:t>
            </a:fld>
            <a:endParaRPr lang="es-ES" dirty="0"/>
          </a:p>
        </p:txBody>
      </p:sp>
      <p:sp>
        <p:nvSpPr>
          <p:cNvPr id="8" name="Marcador de pie de página 7"/>
          <p:cNvSpPr>
            <a:spLocks noGrp="1"/>
          </p:cNvSpPr>
          <p:nvPr>
            <p:ph type="ftr" sz="quarter" idx="11"/>
          </p:nvPr>
        </p:nvSpPr>
        <p:spPr/>
        <p:txBody>
          <a:bodyPr/>
          <a:lstStyle/>
          <a:p>
            <a:endParaRPr lang="es-ES" dirty="0"/>
          </a:p>
        </p:txBody>
      </p:sp>
      <p:sp>
        <p:nvSpPr>
          <p:cNvPr id="9" name="Marcador de número de diapositiva 8"/>
          <p:cNvSpPr>
            <a:spLocks noGrp="1"/>
          </p:cNvSpPr>
          <p:nvPr>
            <p:ph type="sldNum" sz="quarter" idx="12"/>
          </p:nvPr>
        </p:nvSpPr>
        <p:spPr/>
        <p:txBody>
          <a:bodyPr/>
          <a:lstStyle/>
          <a:p>
            <a:fld id="{C9400CC4-AA0F-4E2E-A7D9-25BF1D2A8A65}" type="slidenum">
              <a:rPr lang="es-ES" smtClean="0"/>
              <a:t>‹Nº›</a:t>
            </a:fld>
            <a:endParaRPr lang="es-ES" dirty="0"/>
          </a:p>
        </p:txBody>
      </p:sp>
    </p:spTree>
    <p:extLst>
      <p:ext uri="{BB962C8B-B14F-4D97-AF65-F5344CB8AC3E}">
        <p14:creationId xmlns:p14="http://schemas.microsoft.com/office/powerpoint/2010/main" val="14881404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fecha 2"/>
          <p:cNvSpPr>
            <a:spLocks noGrp="1"/>
          </p:cNvSpPr>
          <p:nvPr>
            <p:ph type="dt" sz="half" idx="10"/>
          </p:nvPr>
        </p:nvSpPr>
        <p:spPr/>
        <p:txBody>
          <a:bodyPr/>
          <a:lstStyle/>
          <a:p>
            <a:fld id="{5EC06281-1CDF-413F-B502-D8EF9109D251}" type="datetime1">
              <a:rPr lang="es-ES" smtClean="0"/>
              <a:t>04/12/2025</a:t>
            </a:fld>
            <a:endParaRPr lang="es-ES" dirty="0"/>
          </a:p>
        </p:txBody>
      </p:sp>
      <p:sp>
        <p:nvSpPr>
          <p:cNvPr id="4" name="Marcador de pie de página 3"/>
          <p:cNvSpPr>
            <a:spLocks noGrp="1"/>
          </p:cNvSpPr>
          <p:nvPr>
            <p:ph type="ftr" sz="quarter" idx="11"/>
          </p:nvPr>
        </p:nvSpPr>
        <p:spPr/>
        <p:txBody>
          <a:bodyPr/>
          <a:lstStyle/>
          <a:p>
            <a:endParaRPr lang="es-ES" dirty="0"/>
          </a:p>
        </p:txBody>
      </p:sp>
      <p:sp>
        <p:nvSpPr>
          <p:cNvPr id="5" name="Marcador de número de diapositiva 4"/>
          <p:cNvSpPr>
            <a:spLocks noGrp="1"/>
          </p:cNvSpPr>
          <p:nvPr>
            <p:ph type="sldNum" sz="quarter" idx="12"/>
          </p:nvPr>
        </p:nvSpPr>
        <p:spPr/>
        <p:txBody>
          <a:bodyPr/>
          <a:lstStyle/>
          <a:p>
            <a:fld id="{C9400CC4-AA0F-4E2E-A7D9-25BF1D2A8A65}" type="slidenum">
              <a:rPr lang="es-ES" smtClean="0"/>
              <a:t>‹Nº›</a:t>
            </a:fld>
            <a:endParaRPr lang="es-ES" dirty="0"/>
          </a:p>
        </p:txBody>
      </p:sp>
    </p:spTree>
    <p:extLst>
      <p:ext uri="{BB962C8B-B14F-4D97-AF65-F5344CB8AC3E}">
        <p14:creationId xmlns:p14="http://schemas.microsoft.com/office/powerpoint/2010/main" val="416658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seño personaliza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fecha 2"/>
          <p:cNvSpPr>
            <a:spLocks noGrp="1"/>
          </p:cNvSpPr>
          <p:nvPr>
            <p:ph type="dt" sz="half" idx="10"/>
          </p:nvPr>
        </p:nvSpPr>
        <p:spPr/>
        <p:txBody>
          <a:bodyPr/>
          <a:lstStyle/>
          <a:p>
            <a:fld id="{82C46C39-2265-4ECA-84D0-AFE501AC4C1C}" type="datetime1">
              <a:rPr lang="es-ES" smtClean="0"/>
              <a:t>04/12/2025</a:t>
            </a:fld>
            <a:endParaRPr lang="es-ES" dirty="0"/>
          </a:p>
        </p:txBody>
      </p:sp>
      <p:sp>
        <p:nvSpPr>
          <p:cNvPr id="4" name="Marcador de pie de página 3"/>
          <p:cNvSpPr>
            <a:spLocks noGrp="1"/>
          </p:cNvSpPr>
          <p:nvPr>
            <p:ph type="ftr" sz="quarter" idx="11"/>
          </p:nvPr>
        </p:nvSpPr>
        <p:spPr/>
        <p:txBody>
          <a:bodyPr/>
          <a:lstStyle/>
          <a:p>
            <a:endParaRPr lang="es-ES" dirty="0"/>
          </a:p>
        </p:txBody>
      </p:sp>
      <p:sp>
        <p:nvSpPr>
          <p:cNvPr id="5" name="Marcador de número de diapositiva 4"/>
          <p:cNvSpPr>
            <a:spLocks noGrp="1"/>
          </p:cNvSpPr>
          <p:nvPr>
            <p:ph type="sldNum" sz="quarter" idx="12"/>
          </p:nvPr>
        </p:nvSpPr>
        <p:spPr/>
        <p:txBody>
          <a:bodyPr/>
          <a:lstStyle/>
          <a:p>
            <a:fld id="{C9400CC4-AA0F-4E2E-A7D9-25BF1D2A8A65}" type="slidenum">
              <a:rPr lang="es-ES" smtClean="0"/>
              <a:t>‹Nº›</a:t>
            </a:fld>
            <a:endParaRPr lang="es-ES" dirty="0"/>
          </a:p>
        </p:txBody>
      </p:sp>
    </p:spTree>
    <p:extLst>
      <p:ext uri="{BB962C8B-B14F-4D97-AF65-F5344CB8AC3E}">
        <p14:creationId xmlns:p14="http://schemas.microsoft.com/office/powerpoint/2010/main" val="13403533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350D3683-7933-4D92-B730-4B8490CCDF4B}" type="datetime1">
              <a:rPr lang="es-ES" smtClean="0"/>
              <a:t>04/12/2025</a:t>
            </a:fld>
            <a:endParaRPr lang="es-ES" dirty="0"/>
          </a:p>
        </p:txBody>
      </p:sp>
      <p:sp>
        <p:nvSpPr>
          <p:cNvPr id="3" name="Marcador de pie de página 2"/>
          <p:cNvSpPr>
            <a:spLocks noGrp="1"/>
          </p:cNvSpPr>
          <p:nvPr>
            <p:ph type="ftr" sz="quarter" idx="11"/>
          </p:nvPr>
        </p:nvSpPr>
        <p:spPr/>
        <p:txBody>
          <a:bodyPr/>
          <a:lstStyle/>
          <a:p>
            <a:endParaRPr lang="es-ES" dirty="0"/>
          </a:p>
        </p:txBody>
      </p:sp>
      <p:sp>
        <p:nvSpPr>
          <p:cNvPr id="4" name="Marcador de número de diapositiva 3"/>
          <p:cNvSpPr>
            <a:spLocks noGrp="1"/>
          </p:cNvSpPr>
          <p:nvPr>
            <p:ph type="sldNum" sz="quarter" idx="12"/>
          </p:nvPr>
        </p:nvSpPr>
        <p:spPr/>
        <p:txBody>
          <a:bodyPr/>
          <a:lstStyle/>
          <a:p>
            <a:fld id="{C9400CC4-AA0F-4E2E-A7D9-25BF1D2A8A65}" type="slidenum">
              <a:rPr lang="es-ES" smtClean="0"/>
              <a:t>‹Nº›</a:t>
            </a:fld>
            <a:endParaRPr lang="es-ES" dirty="0"/>
          </a:p>
        </p:txBody>
      </p:sp>
    </p:spTree>
    <p:extLst>
      <p:ext uri="{BB962C8B-B14F-4D97-AF65-F5344CB8AC3E}">
        <p14:creationId xmlns:p14="http://schemas.microsoft.com/office/powerpoint/2010/main" val="5451397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Marcador de fecha 4"/>
          <p:cNvSpPr>
            <a:spLocks noGrp="1"/>
          </p:cNvSpPr>
          <p:nvPr>
            <p:ph type="dt" sz="half" idx="10"/>
          </p:nvPr>
        </p:nvSpPr>
        <p:spPr/>
        <p:txBody>
          <a:bodyPr/>
          <a:lstStyle/>
          <a:p>
            <a:fld id="{5C35D45B-6432-4BD4-BB2B-6E8E1493A879}" type="datetime1">
              <a:rPr lang="es-ES" smtClean="0"/>
              <a:t>04/12/2025</a:t>
            </a:fld>
            <a:endParaRPr lang="es-ES" dirty="0"/>
          </a:p>
        </p:txBody>
      </p:sp>
      <p:sp>
        <p:nvSpPr>
          <p:cNvPr id="6" name="Marcador de pie de página 5"/>
          <p:cNvSpPr>
            <a:spLocks noGrp="1"/>
          </p:cNvSpPr>
          <p:nvPr>
            <p:ph type="ftr" sz="quarter" idx="11"/>
          </p:nvPr>
        </p:nvSpPr>
        <p:spPr/>
        <p:txBody>
          <a:bodyPr/>
          <a:lstStyle/>
          <a:p>
            <a:endParaRPr lang="es-ES" dirty="0"/>
          </a:p>
        </p:txBody>
      </p:sp>
      <p:sp>
        <p:nvSpPr>
          <p:cNvPr id="7" name="Marcador de número de diapositiva 6"/>
          <p:cNvSpPr>
            <a:spLocks noGrp="1"/>
          </p:cNvSpPr>
          <p:nvPr>
            <p:ph type="sldNum" sz="quarter" idx="12"/>
          </p:nvPr>
        </p:nvSpPr>
        <p:spPr/>
        <p:txBody>
          <a:bodyPr/>
          <a:lstStyle/>
          <a:p>
            <a:fld id="{C9400CC4-AA0F-4E2E-A7D9-25BF1D2A8A65}" type="slidenum">
              <a:rPr lang="es-ES" smtClean="0"/>
              <a:t>‹Nº›</a:t>
            </a:fld>
            <a:endParaRPr lang="es-ES" dirty="0"/>
          </a:p>
        </p:txBody>
      </p:sp>
    </p:spTree>
    <p:extLst>
      <p:ext uri="{BB962C8B-B14F-4D97-AF65-F5344CB8AC3E}">
        <p14:creationId xmlns:p14="http://schemas.microsoft.com/office/powerpoint/2010/main" val="3789244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dirty="0"/>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Marcador de fecha 4"/>
          <p:cNvSpPr>
            <a:spLocks noGrp="1"/>
          </p:cNvSpPr>
          <p:nvPr>
            <p:ph type="dt" sz="half" idx="10"/>
          </p:nvPr>
        </p:nvSpPr>
        <p:spPr/>
        <p:txBody>
          <a:bodyPr/>
          <a:lstStyle/>
          <a:p>
            <a:fld id="{9290BFDE-1D6E-4E03-A53A-F1B29D2D0A86}" type="datetime1">
              <a:rPr lang="es-ES" smtClean="0"/>
              <a:t>04/12/2025</a:t>
            </a:fld>
            <a:endParaRPr lang="es-ES" dirty="0"/>
          </a:p>
        </p:txBody>
      </p:sp>
      <p:sp>
        <p:nvSpPr>
          <p:cNvPr id="6" name="Marcador de pie de página 5"/>
          <p:cNvSpPr>
            <a:spLocks noGrp="1"/>
          </p:cNvSpPr>
          <p:nvPr>
            <p:ph type="ftr" sz="quarter" idx="11"/>
          </p:nvPr>
        </p:nvSpPr>
        <p:spPr/>
        <p:txBody>
          <a:bodyPr/>
          <a:lstStyle/>
          <a:p>
            <a:endParaRPr lang="es-ES" dirty="0"/>
          </a:p>
        </p:txBody>
      </p:sp>
      <p:sp>
        <p:nvSpPr>
          <p:cNvPr id="7" name="Marcador de número de diapositiva 6"/>
          <p:cNvSpPr>
            <a:spLocks noGrp="1"/>
          </p:cNvSpPr>
          <p:nvPr>
            <p:ph type="sldNum" sz="quarter" idx="12"/>
          </p:nvPr>
        </p:nvSpPr>
        <p:spPr/>
        <p:txBody>
          <a:bodyPr/>
          <a:lstStyle/>
          <a:p>
            <a:fld id="{C9400CC4-AA0F-4E2E-A7D9-25BF1D2A8A65}" type="slidenum">
              <a:rPr lang="es-ES" smtClean="0"/>
              <a:t>‹Nº›</a:t>
            </a:fld>
            <a:endParaRPr lang="es-ES" dirty="0"/>
          </a:p>
        </p:txBody>
      </p:sp>
    </p:spTree>
    <p:extLst>
      <p:ext uri="{BB962C8B-B14F-4D97-AF65-F5344CB8AC3E}">
        <p14:creationId xmlns:p14="http://schemas.microsoft.com/office/powerpoint/2010/main" val="42873486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texto vertical 2"/>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A02143F0-BAC6-4443-92A3-9EA2CC19B9B7}" type="datetime1">
              <a:rPr lang="es-ES" smtClean="0"/>
              <a:t>04/12/2025</a:t>
            </a:fld>
            <a:endParaRPr lang="es-ES" dirty="0"/>
          </a:p>
        </p:txBody>
      </p:sp>
      <p:sp>
        <p:nvSpPr>
          <p:cNvPr id="5" name="Marcador de pie de página 4"/>
          <p:cNvSpPr>
            <a:spLocks noGrp="1"/>
          </p:cNvSpPr>
          <p:nvPr>
            <p:ph type="ftr" sz="quarter" idx="11"/>
          </p:nvPr>
        </p:nvSpPr>
        <p:spPr/>
        <p:txBody>
          <a:bodyPr/>
          <a:lstStyle/>
          <a:p>
            <a:endParaRPr lang="es-ES" dirty="0"/>
          </a:p>
        </p:txBody>
      </p:sp>
      <p:sp>
        <p:nvSpPr>
          <p:cNvPr id="6" name="Marcador de número de diapositiva 5"/>
          <p:cNvSpPr>
            <a:spLocks noGrp="1"/>
          </p:cNvSpPr>
          <p:nvPr>
            <p:ph type="sldNum" sz="quarter" idx="12"/>
          </p:nvPr>
        </p:nvSpPr>
        <p:spPr/>
        <p:txBody>
          <a:bodyPr/>
          <a:lstStyle/>
          <a:p>
            <a:fld id="{C9400CC4-AA0F-4E2E-A7D9-25BF1D2A8A65}" type="slidenum">
              <a:rPr lang="es-ES" smtClean="0"/>
              <a:t>‹Nº›</a:t>
            </a:fld>
            <a:endParaRPr lang="es-ES" dirty="0"/>
          </a:p>
        </p:txBody>
      </p:sp>
    </p:spTree>
    <p:extLst>
      <p:ext uri="{BB962C8B-B14F-4D97-AF65-F5344CB8AC3E}">
        <p14:creationId xmlns:p14="http://schemas.microsoft.com/office/powerpoint/2010/main" val="23593880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9A67633C-AB28-4AC7-B7B0-41DFBCF1B247}" type="datetime1">
              <a:rPr lang="es-ES" smtClean="0"/>
              <a:t>04/12/2025</a:t>
            </a:fld>
            <a:endParaRPr lang="es-ES" dirty="0"/>
          </a:p>
        </p:txBody>
      </p:sp>
      <p:sp>
        <p:nvSpPr>
          <p:cNvPr id="5" name="Marcador de pie de página 4"/>
          <p:cNvSpPr>
            <a:spLocks noGrp="1"/>
          </p:cNvSpPr>
          <p:nvPr>
            <p:ph type="ftr" sz="quarter" idx="11"/>
          </p:nvPr>
        </p:nvSpPr>
        <p:spPr/>
        <p:txBody>
          <a:bodyPr/>
          <a:lstStyle/>
          <a:p>
            <a:endParaRPr lang="es-ES" dirty="0"/>
          </a:p>
        </p:txBody>
      </p:sp>
      <p:sp>
        <p:nvSpPr>
          <p:cNvPr id="6" name="Marcador de número de diapositiva 5"/>
          <p:cNvSpPr>
            <a:spLocks noGrp="1"/>
          </p:cNvSpPr>
          <p:nvPr>
            <p:ph type="sldNum" sz="quarter" idx="12"/>
          </p:nvPr>
        </p:nvSpPr>
        <p:spPr/>
        <p:txBody>
          <a:bodyPr/>
          <a:lstStyle/>
          <a:p>
            <a:fld id="{C9400CC4-AA0F-4E2E-A7D9-25BF1D2A8A65}" type="slidenum">
              <a:rPr lang="es-ES" smtClean="0"/>
              <a:t>‹Nº›</a:t>
            </a:fld>
            <a:endParaRPr lang="es-ES" dirty="0"/>
          </a:p>
        </p:txBody>
      </p:sp>
    </p:spTree>
    <p:extLst>
      <p:ext uri="{BB962C8B-B14F-4D97-AF65-F5344CB8AC3E}">
        <p14:creationId xmlns:p14="http://schemas.microsoft.com/office/powerpoint/2010/main" val="24113803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p:cNvSpPr>
            <a:spLocks noGrp="1"/>
          </p:cNvSpPr>
          <p:nvPr>
            <p:ph type="dt" sz="half" idx="10"/>
          </p:nvPr>
        </p:nvSpPr>
        <p:spPr/>
        <p:txBody>
          <a:bodyPr/>
          <a:lstStyle/>
          <a:p>
            <a:fld id="{960B338E-2CA8-4990-93F8-04B6F142715C}" type="datetimeFigureOut">
              <a:rPr lang="es-ES" smtClean="0"/>
              <a:t>04/12/2025</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62C9350B-99D0-4E5C-997D-9130554D6298}" type="slidenum">
              <a:rPr lang="es-ES" smtClean="0"/>
              <a:t>‹Nº›</a:t>
            </a:fld>
            <a:endParaRPr lang="es-ES"/>
          </a:p>
        </p:txBody>
      </p:sp>
    </p:spTree>
    <p:extLst>
      <p:ext uri="{BB962C8B-B14F-4D97-AF65-F5344CB8AC3E}">
        <p14:creationId xmlns:p14="http://schemas.microsoft.com/office/powerpoint/2010/main" val="12633489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960B338E-2CA8-4990-93F8-04B6F142715C}" type="datetimeFigureOut">
              <a:rPr lang="es-ES" smtClean="0"/>
              <a:t>04/12/2025</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62C9350B-99D0-4E5C-997D-9130554D6298}" type="slidenum">
              <a:rPr lang="es-ES" smtClean="0"/>
              <a:t>‹Nº›</a:t>
            </a:fld>
            <a:endParaRPr lang="es-ES"/>
          </a:p>
        </p:txBody>
      </p:sp>
    </p:spTree>
    <p:extLst>
      <p:ext uri="{BB962C8B-B14F-4D97-AF65-F5344CB8AC3E}">
        <p14:creationId xmlns:p14="http://schemas.microsoft.com/office/powerpoint/2010/main" val="33092295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el estilo de texto del patrón</a:t>
            </a:r>
          </a:p>
        </p:txBody>
      </p:sp>
      <p:sp>
        <p:nvSpPr>
          <p:cNvPr id="4" name="Marcador de fecha 3"/>
          <p:cNvSpPr>
            <a:spLocks noGrp="1"/>
          </p:cNvSpPr>
          <p:nvPr>
            <p:ph type="dt" sz="half" idx="10"/>
          </p:nvPr>
        </p:nvSpPr>
        <p:spPr/>
        <p:txBody>
          <a:bodyPr/>
          <a:lstStyle/>
          <a:p>
            <a:fld id="{960B338E-2CA8-4990-93F8-04B6F142715C}" type="datetimeFigureOut">
              <a:rPr lang="es-ES" smtClean="0"/>
              <a:t>04/12/2025</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62C9350B-99D0-4E5C-997D-9130554D6298}" type="slidenum">
              <a:rPr lang="es-ES" smtClean="0"/>
              <a:t>‹Nº›</a:t>
            </a:fld>
            <a:endParaRPr lang="es-ES"/>
          </a:p>
        </p:txBody>
      </p:sp>
    </p:spTree>
    <p:extLst>
      <p:ext uri="{BB962C8B-B14F-4D97-AF65-F5344CB8AC3E}">
        <p14:creationId xmlns:p14="http://schemas.microsoft.com/office/powerpoint/2010/main" val="19183556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sz="half" idx="1"/>
          </p:nvPr>
        </p:nvSpPr>
        <p:spPr>
          <a:xfrm>
            <a:off x="838200" y="1825625"/>
            <a:ext cx="51816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p:cNvSpPr>
            <a:spLocks noGrp="1"/>
          </p:cNvSpPr>
          <p:nvPr>
            <p:ph sz="half" idx="2"/>
          </p:nvPr>
        </p:nvSpPr>
        <p:spPr>
          <a:xfrm>
            <a:off x="6172200" y="1825625"/>
            <a:ext cx="51816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p:cNvSpPr>
            <a:spLocks noGrp="1"/>
          </p:cNvSpPr>
          <p:nvPr>
            <p:ph type="dt" sz="half" idx="10"/>
          </p:nvPr>
        </p:nvSpPr>
        <p:spPr/>
        <p:txBody>
          <a:bodyPr/>
          <a:lstStyle/>
          <a:p>
            <a:fld id="{960B338E-2CA8-4990-93F8-04B6F142715C}" type="datetimeFigureOut">
              <a:rPr lang="es-ES" smtClean="0"/>
              <a:t>04/12/2025</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62C9350B-99D0-4E5C-997D-9130554D6298}" type="slidenum">
              <a:rPr lang="es-ES" smtClean="0"/>
              <a:t>‹Nº›</a:t>
            </a:fld>
            <a:endParaRPr lang="es-ES"/>
          </a:p>
        </p:txBody>
      </p:sp>
    </p:spTree>
    <p:extLst>
      <p:ext uri="{BB962C8B-B14F-4D97-AF65-F5344CB8AC3E}">
        <p14:creationId xmlns:p14="http://schemas.microsoft.com/office/powerpoint/2010/main" val="328858641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p:cNvSpPr>
            <a:spLocks noGrp="1"/>
          </p:cNvSpPr>
          <p:nvPr>
            <p:ph type="dt" sz="half" idx="10"/>
          </p:nvPr>
        </p:nvSpPr>
        <p:spPr/>
        <p:txBody>
          <a:bodyPr/>
          <a:lstStyle/>
          <a:p>
            <a:fld id="{960B338E-2CA8-4990-93F8-04B6F142715C}" type="datetimeFigureOut">
              <a:rPr lang="es-ES" smtClean="0"/>
              <a:t>04/12/2025</a:t>
            </a:fld>
            <a:endParaRPr lang="es-ES"/>
          </a:p>
        </p:txBody>
      </p:sp>
      <p:sp>
        <p:nvSpPr>
          <p:cNvPr id="8" name="Marcador de pie de página 7"/>
          <p:cNvSpPr>
            <a:spLocks noGrp="1"/>
          </p:cNvSpPr>
          <p:nvPr>
            <p:ph type="ftr" sz="quarter" idx="11"/>
          </p:nvPr>
        </p:nvSpPr>
        <p:spPr/>
        <p:txBody>
          <a:bodyPr/>
          <a:lstStyle/>
          <a:p>
            <a:endParaRPr lang="es-ES"/>
          </a:p>
        </p:txBody>
      </p:sp>
      <p:sp>
        <p:nvSpPr>
          <p:cNvPr id="9" name="Marcador de número de diapositiva 8"/>
          <p:cNvSpPr>
            <a:spLocks noGrp="1"/>
          </p:cNvSpPr>
          <p:nvPr>
            <p:ph type="sldNum" sz="quarter" idx="12"/>
          </p:nvPr>
        </p:nvSpPr>
        <p:spPr/>
        <p:txBody>
          <a:bodyPr/>
          <a:lstStyle/>
          <a:p>
            <a:fld id="{62C9350B-99D0-4E5C-997D-9130554D6298}" type="slidenum">
              <a:rPr lang="es-ES" smtClean="0"/>
              <a:t>‹Nº›</a:t>
            </a:fld>
            <a:endParaRPr lang="es-ES"/>
          </a:p>
        </p:txBody>
      </p:sp>
    </p:spTree>
    <p:extLst>
      <p:ext uri="{BB962C8B-B14F-4D97-AF65-F5344CB8AC3E}">
        <p14:creationId xmlns:p14="http://schemas.microsoft.com/office/powerpoint/2010/main" val="222976605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fecha 2"/>
          <p:cNvSpPr>
            <a:spLocks noGrp="1"/>
          </p:cNvSpPr>
          <p:nvPr>
            <p:ph type="dt" sz="half" idx="10"/>
          </p:nvPr>
        </p:nvSpPr>
        <p:spPr/>
        <p:txBody>
          <a:bodyPr/>
          <a:lstStyle/>
          <a:p>
            <a:fld id="{960B338E-2CA8-4990-93F8-04B6F142715C}" type="datetimeFigureOut">
              <a:rPr lang="es-ES" smtClean="0"/>
              <a:t>04/12/2025</a:t>
            </a:fld>
            <a:endParaRPr lang="es-ES"/>
          </a:p>
        </p:txBody>
      </p:sp>
      <p:sp>
        <p:nvSpPr>
          <p:cNvPr id="4" name="Marcador de pie de página 3"/>
          <p:cNvSpPr>
            <a:spLocks noGrp="1"/>
          </p:cNvSpPr>
          <p:nvPr>
            <p:ph type="ftr" sz="quarter" idx="11"/>
          </p:nvPr>
        </p:nvSpPr>
        <p:spPr/>
        <p:txBody>
          <a:bodyPr/>
          <a:lstStyle/>
          <a:p>
            <a:endParaRPr lang="es-ES"/>
          </a:p>
        </p:txBody>
      </p:sp>
      <p:sp>
        <p:nvSpPr>
          <p:cNvPr id="5" name="Marcador de número de diapositiva 4"/>
          <p:cNvSpPr>
            <a:spLocks noGrp="1"/>
          </p:cNvSpPr>
          <p:nvPr>
            <p:ph type="sldNum" sz="quarter" idx="12"/>
          </p:nvPr>
        </p:nvSpPr>
        <p:spPr/>
        <p:txBody>
          <a:bodyPr/>
          <a:lstStyle/>
          <a:p>
            <a:fld id="{62C9350B-99D0-4E5C-997D-9130554D6298}" type="slidenum">
              <a:rPr lang="es-ES" smtClean="0"/>
              <a:t>‹Nº›</a:t>
            </a:fld>
            <a:endParaRPr lang="es-ES"/>
          </a:p>
        </p:txBody>
      </p:sp>
    </p:spTree>
    <p:extLst>
      <p:ext uri="{BB962C8B-B14F-4D97-AF65-F5344CB8AC3E}">
        <p14:creationId xmlns:p14="http://schemas.microsoft.com/office/powerpoint/2010/main" val="269899820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960B338E-2CA8-4990-93F8-04B6F142715C}" type="datetimeFigureOut">
              <a:rPr lang="es-ES" smtClean="0"/>
              <a:t>04/12/2025</a:t>
            </a:fld>
            <a:endParaRPr lang="es-ES"/>
          </a:p>
        </p:txBody>
      </p:sp>
      <p:sp>
        <p:nvSpPr>
          <p:cNvPr id="3" name="Marcador de pie de página 2"/>
          <p:cNvSpPr>
            <a:spLocks noGrp="1"/>
          </p:cNvSpPr>
          <p:nvPr>
            <p:ph type="ftr" sz="quarter" idx="11"/>
          </p:nvPr>
        </p:nvSpPr>
        <p:spPr/>
        <p:txBody>
          <a:bodyPr/>
          <a:lstStyle/>
          <a:p>
            <a:endParaRPr lang="es-ES"/>
          </a:p>
        </p:txBody>
      </p:sp>
      <p:sp>
        <p:nvSpPr>
          <p:cNvPr id="4" name="Marcador de número de diapositiva 3"/>
          <p:cNvSpPr>
            <a:spLocks noGrp="1"/>
          </p:cNvSpPr>
          <p:nvPr>
            <p:ph type="sldNum" sz="quarter" idx="12"/>
          </p:nvPr>
        </p:nvSpPr>
        <p:spPr/>
        <p:txBody>
          <a:bodyPr/>
          <a:lstStyle/>
          <a:p>
            <a:fld id="{62C9350B-99D0-4E5C-997D-9130554D6298}" type="slidenum">
              <a:rPr lang="es-ES" smtClean="0"/>
              <a:t>‹Nº›</a:t>
            </a:fld>
            <a:endParaRPr lang="es-ES"/>
          </a:p>
        </p:txBody>
      </p:sp>
    </p:spTree>
    <p:extLst>
      <p:ext uri="{BB962C8B-B14F-4D97-AF65-F5344CB8AC3E}">
        <p14:creationId xmlns:p14="http://schemas.microsoft.com/office/powerpoint/2010/main" val="232970376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Marcador de fecha 4"/>
          <p:cNvSpPr>
            <a:spLocks noGrp="1"/>
          </p:cNvSpPr>
          <p:nvPr>
            <p:ph type="dt" sz="half" idx="10"/>
          </p:nvPr>
        </p:nvSpPr>
        <p:spPr/>
        <p:txBody>
          <a:bodyPr/>
          <a:lstStyle/>
          <a:p>
            <a:fld id="{960B338E-2CA8-4990-93F8-04B6F142715C}" type="datetimeFigureOut">
              <a:rPr lang="es-ES" smtClean="0"/>
              <a:t>04/12/2025</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62C9350B-99D0-4E5C-997D-9130554D6298}" type="slidenum">
              <a:rPr lang="es-ES" smtClean="0"/>
              <a:t>‹Nº›</a:t>
            </a:fld>
            <a:endParaRPr lang="es-ES"/>
          </a:p>
        </p:txBody>
      </p:sp>
    </p:spTree>
    <p:extLst>
      <p:ext uri="{BB962C8B-B14F-4D97-AF65-F5344CB8AC3E}">
        <p14:creationId xmlns:p14="http://schemas.microsoft.com/office/powerpoint/2010/main" val="253987972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Marcador de fecha 4"/>
          <p:cNvSpPr>
            <a:spLocks noGrp="1"/>
          </p:cNvSpPr>
          <p:nvPr>
            <p:ph type="dt" sz="half" idx="10"/>
          </p:nvPr>
        </p:nvSpPr>
        <p:spPr/>
        <p:txBody>
          <a:bodyPr/>
          <a:lstStyle/>
          <a:p>
            <a:fld id="{960B338E-2CA8-4990-93F8-04B6F142715C}" type="datetimeFigureOut">
              <a:rPr lang="es-ES" smtClean="0"/>
              <a:t>04/12/2025</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62C9350B-99D0-4E5C-997D-9130554D6298}" type="slidenum">
              <a:rPr lang="es-ES" smtClean="0"/>
              <a:t>‹Nº›</a:t>
            </a:fld>
            <a:endParaRPr lang="es-ES"/>
          </a:p>
        </p:txBody>
      </p:sp>
    </p:spTree>
    <p:extLst>
      <p:ext uri="{BB962C8B-B14F-4D97-AF65-F5344CB8AC3E}">
        <p14:creationId xmlns:p14="http://schemas.microsoft.com/office/powerpoint/2010/main" val="143084889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texto vertical 2"/>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960B338E-2CA8-4990-93F8-04B6F142715C}" type="datetimeFigureOut">
              <a:rPr lang="es-ES" smtClean="0"/>
              <a:t>04/12/2025</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62C9350B-99D0-4E5C-997D-9130554D6298}" type="slidenum">
              <a:rPr lang="es-ES" smtClean="0"/>
              <a:t>‹Nº›</a:t>
            </a:fld>
            <a:endParaRPr lang="es-ES"/>
          </a:p>
        </p:txBody>
      </p:sp>
    </p:spTree>
    <p:extLst>
      <p:ext uri="{BB962C8B-B14F-4D97-AF65-F5344CB8AC3E}">
        <p14:creationId xmlns:p14="http://schemas.microsoft.com/office/powerpoint/2010/main" val="243848805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960B338E-2CA8-4990-93F8-04B6F142715C}" type="datetimeFigureOut">
              <a:rPr lang="es-ES" smtClean="0"/>
              <a:t>04/12/2025</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62C9350B-99D0-4E5C-997D-9130554D6298}" type="slidenum">
              <a:rPr lang="es-ES" smtClean="0"/>
              <a:t>‹Nº›</a:t>
            </a:fld>
            <a:endParaRPr lang="es-ES"/>
          </a:p>
        </p:txBody>
      </p:sp>
    </p:spTree>
    <p:extLst>
      <p:ext uri="{BB962C8B-B14F-4D97-AF65-F5344CB8AC3E}">
        <p14:creationId xmlns:p14="http://schemas.microsoft.com/office/powerpoint/2010/main" val="33513105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C46C39-2265-4ECA-84D0-AFE501AC4C1C}" type="datetime1">
              <a:rPr lang="es-ES" smtClean="0"/>
              <a:t>04/12/2025</a:t>
            </a:fld>
            <a:endParaRPr lang="es-ES" dirty="0"/>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dirty="0"/>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9400CC4-AA0F-4E2E-A7D9-25BF1D2A8A65}" type="slidenum">
              <a:rPr lang="es-ES" smtClean="0"/>
              <a:t>‹Nº›</a:t>
            </a:fld>
            <a:endParaRPr lang="es-ES" dirty="0"/>
          </a:p>
        </p:txBody>
      </p:sp>
    </p:spTree>
    <p:extLst>
      <p:ext uri="{BB962C8B-B14F-4D97-AF65-F5344CB8AC3E}">
        <p14:creationId xmlns:p14="http://schemas.microsoft.com/office/powerpoint/2010/main" val="40755781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2" r:id="rId4"/>
    <p:sldLayoutId id="2147483653" r:id="rId5"/>
    <p:sldLayoutId id="2147483654" r:id="rId6"/>
    <p:sldLayoutId id="2147483661" r:id="rId7"/>
    <p:sldLayoutId id="2147483655" r:id="rId8"/>
    <p:sldLayoutId id="2147483656" r:id="rId9"/>
    <p:sldLayoutId id="2147483657" r:id="rId10"/>
    <p:sldLayoutId id="2147483658" r:id="rId11"/>
    <p:sldLayoutId id="2147483659"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60B338E-2CA8-4990-93F8-04B6F142715C}" type="datetimeFigureOut">
              <a:rPr lang="es-ES" smtClean="0"/>
              <a:t>04/12/2025</a:t>
            </a:fld>
            <a:endParaRPr lang="es-ES"/>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2C9350B-99D0-4E5C-997D-9130554D6298}" type="slidenum">
              <a:rPr lang="es-ES" smtClean="0"/>
              <a:t>‹Nº›</a:t>
            </a:fld>
            <a:endParaRPr lang="es-ES"/>
          </a:p>
        </p:txBody>
      </p:sp>
    </p:spTree>
    <p:extLst>
      <p:ext uri="{BB962C8B-B14F-4D97-AF65-F5344CB8AC3E}">
        <p14:creationId xmlns:p14="http://schemas.microsoft.com/office/powerpoint/2010/main" val="922111991"/>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creativecommons.org/licenses/by-sa/4.0/"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www.clouddefense.ai/how-to-implement-effective-ci-cd-pipeline/" TargetMode="Externa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dzone.com/articles/learn-how-to-setup-a-cicd-pipeline-from-scratch" TargetMode="Externa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hyperlink" Target="https://docs.github.com/" TargetMode="Externa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hyperlink" Target="https://docs.github.com/es/get-started/learning-about-github/githubs-plans" TargetMode="External"/><Relationship Id="rId2" Type="http://schemas.openxmlformats.org/officeDocument/2006/relationships/hyperlink" Target="https://github.com/" TargetMode="Externa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docs.github.com/es/repositories/creating-and-managing-repositories/about-repositories" TargetMode="Externa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hyperlink" Target="https://git-scm.com/doc" TargetMode="Externa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s://docs.github.com/es/issues/planning-and-tracking-with-projects" TargetMode="Externa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hyperlink" Target="https://docs.github.com/es/actions" TargetMode="Externa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hyperlink" Target="https://github.com/josehilera/baloncesto" TargetMode="External"/><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hyperlink" Target="https://docs.github.com/es/actions/using-workflows/workflow-syntax-for-github-actions#about-yaml-syntax-for-workflows" TargetMode="Externa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hyperlink" Target="https://github.com/marketplace?category=&amp;query=&amp;type=actions&amp;verification=" TargetMode="External"/><Relationship Id="rId2" Type="http://schemas.openxmlformats.org/officeDocument/2006/relationships/hyperlink" Target="https://docs.github.com/en/actions/learn-github-actions/understanding-github-actions" TargetMode="External"/><Relationship Id="rId1" Type="http://schemas.openxmlformats.org/officeDocument/2006/relationships/slideLayout" Target="../slideLayouts/slideLayout3.xml"/><Relationship Id="rId4" Type="http://schemas.openxmlformats.org/officeDocument/2006/relationships/image" Target="../media/image20.png"/></Relationships>
</file>

<file path=ppt/slides/_rels/slide29.xml.rels><?xml version="1.0" encoding="UTF-8" standalone="yes"?>
<Relationships xmlns="http://schemas.openxmlformats.org/package/2006/relationships"><Relationship Id="rId2" Type="http://schemas.openxmlformats.org/officeDocument/2006/relationships/hyperlink" Target="https://github.com/actions/checkout" TargetMode="Externa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hyperlink" Target="https://docs.github.com/es/actions/hosting-your-own-runners/managing-self-hosted-runners/about-self-hosted-runners" TargetMode="External"/><Relationship Id="rId2" Type="http://schemas.openxmlformats.org/officeDocument/2006/relationships/hyperlink" Target="https://docs.github.com/es/actions/using-github-hosted-runners/about-github-hosted-runners/about-github-hosted-runners" TargetMode="Externa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3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hyperlink" Target="https://docs.github.com/es/actions/hosting-your-own-runners/managing-self-hosted-runners/adding-self-hosted-runners" TargetMode="Externa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p:cNvSpPr>
            <a:spLocks noGrp="1"/>
          </p:cNvSpPr>
          <p:nvPr>
            <p:ph type="ctrTitle"/>
          </p:nvPr>
        </p:nvSpPr>
        <p:spPr/>
        <p:txBody>
          <a:bodyPr>
            <a:normAutofit/>
          </a:bodyPr>
          <a:lstStyle/>
          <a:p>
            <a:r>
              <a:rPr lang="es-ES" dirty="0"/>
              <a:t>Diseño de flujos de trabajo para la</a:t>
            </a:r>
            <a:br>
              <a:rPr lang="es-ES" dirty="0"/>
            </a:br>
            <a:r>
              <a:rPr lang="es-ES" dirty="0"/>
              <a:t>Integración Continua</a:t>
            </a:r>
          </a:p>
        </p:txBody>
      </p:sp>
      <p:sp>
        <p:nvSpPr>
          <p:cNvPr id="6" name="Subtítulo 5"/>
          <p:cNvSpPr>
            <a:spLocks noGrp="1"/>
          </p:cNvSpPr>
          <p:nvPr>
            <p:ph type="subTitle" idx="1"/>
          </p:nvPr>
        </p:nvSpPr>
        <p:spPr>
          <a:xfrm>
            <a:off x="703385" y="4210492"/>
            <a:ext cx="11087100" cy="1908953"/>
          </a:xfrm>
        </p:spPr>
        <p:txBody>
          <a:bodyPr>
            <a:normAutofit/>
          </a:bodyPr>
          <a:lstStyle/>
          <a:p>
            <a:pPr algn="r"/>
            <a:r>
              <a:rPr lang="en-US" b="1" dirty="0"/>
              <a:t>				</a:t>
            </a:r>
            <a:r>
              <a:rPr lang="en-US" b="1" dirty="0" err="1"/>
              <a:t>Asignatura</a:t>
            </a:r>
            <a:r>
              <a:rPr lang="en-US" b="1" dirty="0"/>
              <a:t>: Integración Continua </a:t>
            </a:r>
            <a:r>
              <a:rPr lang="en-US" b="1" dirty="0" err="1"/>
              <a:t>en</a:t>
            </a:r>
            <a:r>
              <a:rPr lang="en-US" b="1" dirty="0"/>
              <a:t> el Desarrollo </a:t>
            </a:r>
            <a:r>
              <a:rPr lang="en-US" b="1" dirty="0" err="1"/>
              <a:t>Ágil</a:t>
            </a:r>
            <a:endParaRPr lang="en-US" b="1" dirty="0"/>
          </a:p>
          <a:p>
            <a:pPr algn="r"/>
            <a:r>
              <a:rPr lang="en-US" b="1" dirty="0" err="1"/>
              <a:t>Máster</a:t>
            </a:r>
            <a:r>
              <a:rPr lang="en-US" b="1" dirty="0"/>
              <a:t> </a:t>
            </a:r>
            <a:r>
              <a:rPr lang="en-US" b="1" dirty="0" err="1"/>
              <a:t>Universitario</a:t>
            </a:r>
            <a:r>
              <a:rPr lang="en-US" b="1" dirty="0"/>
              <a:t> </a:t>
            </a:r>
            <a:r>
              <a:rPr lang="en-US" b="1" dirty="0" err="1"/>
              <a:t>en</a:t>
            </a:r>
            <a:r>
              <a:rPr lang="en-US" b="1" dirty="0"/>
              <a:t> Desarrollo </a:t>
            </a:r>
            <a:r>
              <a:rPr lang="en-US" b="1" dirty="0" err="1"/>
              <a:t>Ágil</a:t>
            </a:r>
            <a:r>
              <a:rPr lang="en-US" b="1" dirty="0"/>
              <a:t> de Software para la Web</a:t>
            </a:r>
          </a:p>
          <a:p>
            <a:pPr algn="r"/>
            <a:r>
              <a:rPr lang="en-US" b="1" dirty="0"/>
              <a:t>José Ramón </a:t>
            </a:r>
            <a:r>
              <a:rPr lang="en-US" b="1" dirty="0" err="1"/>
              <a:t>Hilera</a:t>
            </a:r>
            <a:r>
              <a:rPr lang="en-US" b="1" dirty="0"/>
              <a:t> González </a:t>
            </a:r>
            <a:endParaRPr lang="es-ES" dirty="0"/>
          </a:p>
        </p:txBody>
      </p:sp>
      <p:pic>
        <p:nvPicPr>
          <p:cNvPr id="7" name="Imagen 6" title="Licencia CC BY-SA">
            <a:hlinkClick r:id="rId3"/>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8917" y="5972364"/>
            <a:ext cx="1658180" cy="584132"/>
          </a:xfrm>
          <a:prstGeom prst="rect">
            <a:avLst/>
          </a:prstGeom>
        </p:spPr>
      </p:pic>
      <p:sp>
        <p:nvSpPr>
          <p:cNvPr id="4" name="Marcador de número de diapositiva 3"/>
          <p:cNvSpPr>
            <a:spLocks noGrp="1"/>
          </p:cNvSpPr>
          <p:nvPr>
            <p:ph type="sldNum" sz="quarter" idx="4294967295"/>
          </p:nvPr>
        </p:nvSpPr>
        <p:spPr>
          <a:xfrm>
            <a:off x="9173309" y="6373934"/>
            <a:ext cx="2743200" cy="365125"/>
          </a:xfrm>
        </p:spPr>
        <p:txBody>
          <a:bodyPr/>
          <a:lstStyle/>
          <a:p>
            <a:fld id="{C9400CC4-AA0F-4E2E-A7D9-25BF1D2A8A65}" type="slidenum">
              <a:rPr lang="es-ES" smtClean="0"/>
              <a:t>1</a:t>
            </a:fld>
            <a:endParaRPr lang="es-ES"/>
          </a:p>
        </p:txBody>
      </p:sp>
    </p:spTree>
    <p:extLst>
      <p:ext uri="{BB962C8B-B14F-4D97-AF65-F5344CB8AC3E}">
        <p14:creationId xmlns:p14="http://schemas.microsoft.com/office/powerpoint/2010/main" val="39832138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p:cNvSpPr>
            <a:spLocks noGrp="1"/>
          </p:cNvSpPr>
          <p:nvPr>
            <p:ph type="title"/>
          </p:nvPr>
        </p:nvSpPr>
        <p:spPr/>
        <p:txBody>
          <a:bodyPr/>
          <a:lstStyle/>
          <a:p>
            <a:r>
              <a:rPr lang="es-ES" dirty="0"/>
              <a:t>Contenido</a:t>
            </a:r>
          </a:p>
        </p:txBody>
      </p:sp>
      <p:sp>
        <p:nvSpPr>
          <p:cNvPr id="6" name="Marcador de contenido 5"/>
          <p:cNvSpPr>
            <a:spLocks noGrp="1"/>
          </p:cNvSpPr>
          <p:nvPr>
            <p:ph idx="1"/>
          </p:nvPr>
        </p:nvSpPr>
        <p:spPr/>
        <p:txBody>
          <a:bodyPr>
            <a:normAutofit/>
          </a:bodyPr>
          <a:lstStyle/>
          <a:p>
            <a:pPr marL="514350" indent="-514350">
              <a:buFont typeface="+mj-lt"/>
              <a:buAutoNum type="arabicPeriod"/>
            </a:pPr>
            <a:r>
              <a:rPr lang="es-ES" dirty="0"/>
              <a:t>Concepto de </a:t>
            </a:r>
            <a:r>
              <a:rPr lang="es-ES" dirty="0" err="1"/>
              <a:t>workflow</a:t>
            </a:r>
            <a:r>
              <a:rPr lang="es-ES" dirty="0"/>
              <a:t> o pipeline</a:t>
            </a:r>
          </a:p>
          <a:p>
            <a:pPr marL="514350" indent="-514350">
              <a:buFont typeface="+mj-lt"/>
              <a:buAutoNum type="arabicPeriod"/>
            </a:pPr>
            <a:r>
              <a:rPr lang="es-ES" dirty="0"/>
              <a:t>Introducción a GitHub Actions</a:t>
            </a:r>
          </a:p>
          <a:p>
            <a:pPr marL="514350" indent="-514350">
              <a:buFont typeface="+mj-lt"/>
              <a:buAutoNum type="arabicPeriod"/>
            </a:pPr>
            <a:r>
              <a:rPr lang="es-ES" dirty="0"/>
              <a:t>Definición de </a:t>
            </a:r>
            <a:r>
              <a:rPr lang="es-ES" dirty="0" err="1"/>
              <a:t>workflows</a:t>
            </a:r>
            <a:endParaRPr lang="es-ES" dirty="0"/>
          </a:p>
          <a:p>
            <a:pPr marL="514350" indent="-514350">
              <a:buFont typeface="+mj-lt"/>
              <a:buAutoNum type="arabicPeriod"/>
            </a:pPr>
            <a:r>
              <a:rPr lang="es-ES" dirty="0"/>
              <a:t>GitHub Actions Runner</a:t>
            </a:r>
          </a:p>
          <a:p>
            <a:pPr marL="514350" indent="-514350">
              <a:buFont typeface="+mj-lt"/>
              <a:buAutoNum type="arabicPeriod"/>
            </a:pPr>
            <a:r>
              <a:rPr lang="es-ES" dirty="0"/>
              <a:t>Conclusiones</a:t>
            </a:r>
          </a:p>
          <a:p>
            <a:pPr marL="514350" indent="-514350">
              <a:buFont typeface="+mj-lt"/>
              <a:buAutoNum type="arabicPeriod"/>
            </a:pPr>
            <a:endParaRPr lang="es-ES" dirty="0"/>
          </a:p>
        </p:txBody>
      </p:sp>
      <p:sp>
        <p:nvSpPr>
          <p:cNvPr id="4" name="Marcador de número de diapositiva 3"/>
          <p:cNvSpPr>
            <a:spLocks noGrp="1"/>
          </p:cNvSpPr>
          <p:nvPr>
            <p:ph type="sldNum" sz="quarter" idx="12"/>
          </p:nvPr>
        </p:nvSpPr>
        <p:spPr/>
        <p:txBody>
          <a:bodyPr/>
          <a:lstStyle/>
          <a:p>
            <a:fld id="{C9400CC4-AA0F-4E2E-A7D9-25BF1D2A8A65}" type="slidenum">
              <a:rPr lang="es-ES" smtClean="0"/>
              <a:t>2</a:t>
            </a:fld>
            <a:endParaRPr lang="es-ES" dirty="0"/>
          </a:p>
        </p:txBody>
      </p:sp>
    </p:spTree>
    <p:extLst>
      <p:ext uri="{BB962C8B-B14F-4D97-AF65-F5344CB8AC3E}">
        <p14:creationId xmlns:p14="http://schemas.microsoft.com/office/powerpoint/2010/main" val="15083312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1. Concepto de </a:t>
            </a:r>
            <a:r>
              <a:rPr lang="es-ES" dirty="0" err="1"/>
              <a:t>workflow</a:t>
            </a:r>
            <a:r>
              <a:rPr lang="es-ES" dirty="0"/>
              <a:t> o pipeline</a:t>
            </a:r>
          </a:p>
        </p:txBody>
      </p:sp>
      <p:sp>
        <p:nvSpPr>
          <p:cNvPr id="3" name="Marcador de contenido 2"/>
          <p:cNvSpPr>
            <a:spLocks noGrp="1"/>
          </p:cNvSpPr>
          <p:nvPr>
            <p:ph idx="1"/>
          </p:nvPr>
        </p:nvSpPr>
        <p:spPr>
          <a:xfrm>
            <a:off x="527538" y="1491517"/>
            <a:ext cx="11025553" cy="2525679"/>
          </a:xfrm>
        </p:spPr>
        <p:txBody>
          <a:bodyPr>
            <a:normAutofit fontScale="85000" lnSpcReduction="20000"/>
          </a:bodyPr>
          <a:lstStyle/>
          <a:p>
            <a:r>
              <a:rPr lang="en-US" dirty="0"/>
              <a:t>El </a:t>
            </a:r>
            <a:r>
              <a:rPr lang="en-US" dirty="0" err="1"/>
              <a:t>flujo</a:t>
            </a:r>
            <a:r>
              <a:rPr lang="en-US" dirty="0"/>
              <a:t> de </a:t>
            </a:r>
            <a:r>
              <a:rPr lang="en-US" dirty="0" err="1"/>
              <a:t>trabajo</a:t>
            </a:r>
            <a:r>
              <a:rPr lang="en-US" dirty="0"/>
              <a:t> (workflow </a:t>
            </a:r>
            <a:r>
              <a:rPr lang="en-US" dirty="0" err="1"/>
              <a:t>según</a:t>
            </a:r>
            <a:r>
              <a:rPr lang="en-US" dirty="0"/>
              <a:t> GitHub, o pipeline </a:t>
            </a:r>
            <a:r>
              <a:rPr lang="en-US" dirty="0" err="1"/>
              <a:t>según</a:t>
            </a:r>
            <a:r>
              <a:rPr lang="en-US" dirty="0"/>
              <a:t> GitLab) de un </a:t>
            </a:r>
            <a:r>
              <a:rPr lang="en-US" dirty="0" err="1"/>
              <a:t>proyecto</a:t>
            </a:r>
            <a:r>
              <a:rPr lang="en-US" dirty="0"/>
              <a:t> de </a:t>
            </a:r>
            <a:r>
              <a:rPr lang="en-US" dirty="0" err="1"/>
              <a:t>desarrollo</a:t>
            </a:r>
            <a:r>
              <a:rPr lang="en-US" dirty="0"/>
              <a:t> es la </a:t>
            </a:r>
            <a:r>
              <a:rPr lang="en-US" dirty="0" err="1"/>
              <a:t>secuencia</a:t>
            </a:r>
            <a:r>
              <a:rPr lang="en-US" dirty="0"/>
              <a:t> de pasos </a:t>
            </a:r>
            <a:r>
              <a:rPr lang="en-US" dirty="0" err="1"/>
              <a:t>automatizados</a:t>
            </a:r>
            <a:r>
              <a:rPr lang="en-US" dirty="0"/>
              <a:t> </a:t>
            </a:r>
            <a:r>
              <a:rPr lang="en-US" dirty="0" err="1"/>
              <a:t>establecidos</a:t>
            </a:r>
            <a:r>
              <a:rPr lang="en-US" dirty="0"/>
              <a:t> para </a:t>
            </a:r>
            <a:r>
              <a:rPr lang="en-US" dirty="0" err="1"/>
              <a:t>conseguir</a:t>
            </a:r>
            <a:r>
              <a:rPr lang="en-US" dirty="0"/>
              <a:t> </a:t>
            </a:r>
            <a:r>
              <a:rPr lang="en-US" dirty="0" err="1"/>
              <a:t>obtener</a:t>
            </a:r>
            <a:r>
              <a:rPr lang="en-US" dirty="0"/>
              <a:t> el </a:t>
            </a:r>
            <a:r>
              <a:rPr lang="en-US" dirty="0" err="1"/>
              <a:t>producto</a:t>
            </a:r>
            <a:r>
              <a:rPr lang="en-US" dirty="0"/>
              <a:t> software </a:t>
            </a:r>
            <a:r>
              <a:rPr lang="en-US" dirty="0" err="1"/>
              <a:t>aplicando</a:t>
            </a:r>
            <a:r>
              <a:rPr lang="en-US" dirty="0"/>
              <a:t> </a:t>
            </a:r>
            <a:r>
              <a:rPr lang="en-US" dirty="0" err="1"/>
              <a:t>integración</a:t>
            </a:r>
            <a:r>
              <a:rPr lang="en-US" dirty="0"/>
              <a:t>, </a:t>
            </a:r>
            <a:r>
              <a:rPr lang="en-US" dirty="0" err="1"/>
              <a:t>entrega</a:t>
            </a:r>
            <a:r>
              <a:rPr lang="en-US" dirty="0"/>
              <a:t> y/o </a:t>
            </a:r>
            <a:r>
              <a:rPr lang="en-US" dirty="0" err="1"/>
              <a:t>despliegue</a:t>
            </a:r>
            <a:r>
              <a:rPr lang="en-US" dirty="0"/>
              <a:t> continuo.</a:t>
            </a:r>
          </a:p>
          <a:p>
            <a:r>
              <a:rPr lang="en-US" dirty="0"/>
              <a:t>Un </a:t>
            </a:r>
            <a:r>
              <a:rPr lang="en-US" dirty="0" err="1"/>
              <a:t>servidor</a:t>
            </a:r>
            <a:r>
              <a:rPr lang="en-US" dirty="0"/>
              <a:t> de </a:t>
            </a:r>
            <a:r>
              <a:rPr lang="en-US" dirty="0" err="1"/>
              <a:t>integración</a:t>
            </a:r>
            <a:r>
              <a:rPr lang="en-US" dirty="0"/>
              <a:t> continua se </a:t>
            </a:r>
            <a:r>
              <a:rPr lang="en-US" dirty="0" err="1"/>
              <a:t>encarga</a:t>
            </a:r>
            <a:r>
              <a:rPr lang="en-US" dirty="0"/>
              <a:t> de </a:t>
            </a:r>
            <a:r>
              <a:rPr lang="en-US" dirty="0" err="1"/>
              <a:t>ordenar</a:t>
            </a:r>
            <a:r>
              <a:rPr lang="en-US" dirty="0"/>
              <a:t> la </a:t>
            </a:r>
            <a:r>
              <a:rPr lang="en-US" dirty="0" err="1"/>
              <a:t>ejecución</a:t>
            </a:r>
            <a:r>
              <a:rPr lang="en-US" dirty="0"/>
              <a:t> de los pasos del workflow del </a:t>
            </a:r>
            <a:r>
              <a:rPr lang="en-US" dirty="0" err="1"/>
              <a:t>repositorio</a:t>
            </a:r>
            <a:r>
              <a:rPr lang="en-US" dirty="0"/>
              <a:t> del </a:t>
            </a:r>
            <a:r>
              <a:rPr lang="en-US" dirty="0" err="1"/>
              <a:t>proyecto</a:t>
            </a:r>
            <a:r>
              <a:rPr lang="en-US" dirty="0"/>
              <a:t> </a:t>
            </a:r>
            <a:r>
              <a:rPr lang="en-US" dirty="0" err="1"/>
              <a:t>cada</a:t>
            </a:r>
            <a:r>
              <a:rPr lang="en-US" dirty="0"/>
              <a:t> </a:t>
            </a:r>
            <a:r>
              <a:rPr lang="en-US" dirty="0" err="1"/>
              <a:t>vez</a:t>
            </a:r>
            <a:r>
              <a:rPr lang="en-US" dirty="0"/>
              <a:t> que se </a:t>
            </a:r>
            <a:r>
              <a:rPr lang="en-US" dirty="0" err="1"/>
              <a:t>sube</a:t>
            </a:r>
            <a:r>
              <a:rPr lang="en-US" dirty="0"/>
              <a:t> un </a:t>
            </a:r>
            <a:r>
              <a:rPr lang="en-US" dirty="0" err="1"/>
              <a:t>cambio</a:t>
            </a:r>
            <a:r>
              <a:rPr lang="en-US" dirty="0"/>
              <a:t> (commit) al </a:t>
            </a:r>
            <a:r>
              <a:rPr lang="en-US" dirty="0" err="1"/>
              <a:t>repositorio</a:t>
            </a:r>
            <a:r>
              <a:rPr lang="en-US" dirty="0"/>
              <a:t> de código </a:t>
            </a:r>
            <a:r>
              <a:rPr lang="en-US" dirty="0" err="1"/>
              <a:t>compartido</a:t>
            </a:r>
            <a:r>
              <a:rPr lang="en-US" dirty="0"/>
              <a:t>.</a:t>
            </a:r>
            <a:endParaRPr lang="es-ES" dirty="0"/>
          </a:p>
        </p:txBody>
      </p:sp>
      <p:sp>
        <p:nvSpPr>
          <p:cNvPr id="6" name="CuadroTexto 5"/>
          <p:cNvSpPr txBox="1"/>
          <p:nvPr/>
        </p:nvSpPr>
        <p:spPr>
          <a:xfrm>
            <a:off x="8685933" y="6079351"/>
            <a:ext cx="1456104" cy="276999"/>
          </a:xfrm>
          <a:prstGeom prst="rect">
            <a:avLst/>
          </a:prstGeom>
          <a:noFill/>
        </p:spPr>
        <p:txBody>
          <a:bodyPr wrap="none" rtlCol="0">
            <a:spAutoFit/>
          </a:bodyPr>
          <a:lstStyle/>
          <a:p>
            <a:r>
              <a:rPr lang="es-ES" sz="1200" dirty="0"/>
              <a:t>Imagen: </a:t>
            </a:r>
            <a:r>
              <a:rPr lang="es-ES" sz="1200" dirty="0">
                <a:hlinkClick r:id="rId2"/>
              </a:rPr>
              <a:t>TJ Simmons</a:t>
            </a:r>
            <a:endParaRPr lang="es-ES" sz="1200" dirty="0"/>
          </a:p>
        </p:txBody>
      </p:sp>
      <p:pic>
        <p:nvPicPr>
          <p:cNvPr id="7" name="Imagen 6">
            <a:extLs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32034" y="4202191"/>
            <a:ext cx="7615491" cy="2637151"/>
          </a:xfrm>
          <a:prstGeom prst="rect">
            <a:avLst/>
          </a:prstGeom>
        </p:spPr>
      </p:pic>
      <p:sp>
        <p:nvSpPr>
          <p:cNvPr id="4" name="Marcador de número de diapositiva 3"/>
          <p:cNvSpPr>
            <a:spLocks noGrp="1"/>
          </p:cNvSpPr>
          <p:nvPr>
            <p:ph type="sldNum" sz="quarter" idx="12"/>
          </p:nvPr>
        </p:nvSpPr>
        <p:spPr/>
        <p:txBody>
          <a:bodyPr/>
          <a:lstStyle/>
          <a:p>
            <a:fld id="{C9400CC4-AA0F-4E2E-A7D9-25BF1D2A8A65}" type="slidenum">
              <a:rPr lang="es-ES" smtClean="0"/>
              <a:t>3</a:t>
            </a:fld>
            <a:endParaRPr lang="es-ES" dirty="0"/>
          </a:p>
        </p:txBody>
      </p:sp>
    </p:spTree>
    <p:extLst>
      <p:ext uri="{BB962C8B-B14F-4D97-AF65-F5344CB8AC3E}">
        <p14:creationId xmlns:p14="http://schemas.microsoft.com/office/powerpoint/2010/main" val="21596173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1. Concepto de </a:t>
            </a:r>
            <a:r>
              <a:rPr lang="es-ES" dirty="0" err="1"/>
              <a:t>workflow</a:t>
            </a:r>
            <a:r>
              <a:rPr lang="es-ES" dirty="0"/>
              <a:t> o pipeline</a:t>
            </a:r>
            <a:br>
              <a:rPr lang="es-ES" dirty="0"/>
            </a:br>
            <a:r>
              <a:rPr lang="es-ES" dirty="0"/>
              <a:t>Ejecución</a:t>
            </a:r>
          </a:p>
        </p:txBody>
      </p:sp>
      <p:sp>
        <p:nvSpPr>
          <p:cNvPr id="3" name="Marcador de contenido 2"/>
          <p:cNvSpPr>
            <a:spLocks noGrp="1"/>
          </p:cNvSpPr>
          <p:nvPr>
            <p:ph idx="1"/>
          </p:nvPr>
        </p:nvSpPr>
        <p:spPr>
          <a:xfrm>
            <a:off x="527538" y="1491517"/>
            <a:ext cx="11025553" cy="2916096"/>
          </a:xfrm>
        </p:spPr>
        <p:txBody>
          <a:bodyPr>
            <a:normAutofit fontScale="92500" lnSpcReduction="10000"/>
          </a:bodyPr>
          <a:lstStyle/>
          <a:p>
            <a:r>
              <a:rPr lang="en-US" dirty="0" err="1"/>
              <a:t>Cuando</a:t>
            </a:r>
            <a:r>
              <a:rPr lang="en-US" dirty="0"/>
              <a:t> se </a:t>
            </a:r>
            <a:r>
              <a:rPr lang="en-US" dirty="0" err="1"/>
              <a:t>ejecuta</a:t>
            </a:r>
            <a:r>
              <a:rPr lang="en-US" dirty="0"/>
              <a:t> un workflow, se van </a:t>
            </a:r>
            <a:r>
              <a:rPr lang="en-US" dirty="0" err="1"/>
              <a:t>ejecutando</a:t>
            </a:r>
            <a:r>
              <a:rPr lang="en-US" dirty="0"/>
              <a:t> en </a:t>
            </a:r>
            <a:r>
              <a:rPr lang="en-US" dirty="0" err="1"/>
              <a:t>secuencia</a:t>
            </a:r>
            <a:r>
              <a:rPr lang="en-US" dirty="0"/>
              <a:t> los pasos que lo </a:t>
            </a:r>
            <a:r>
              <a:rPr lang="en-US" dirty="0" err="1"/>
              <a:t>componen</a:t>
            </a:r>
            <a:r>
              <a:rPr lang="en-US" dirty="0"/>
              <a:t>.</a:t>
            </a:r>
          </a:p>
          <a:p>
            <a:pPr lvl="1"/>
            <a:r>
              <a:rPr lang="en-US" dirty="0" err="1"/>
              <a:t>Por</a:t>
            </a:r>
            <a:r>
              <a:rPr lang="en-US" dirty="0"/>
              <a:t> </a:t>
            </a:r>
            <a:r>
              <a:rPr lang="en-US" dirty="0" err="1"/>
              <a:t>ejemplo</a:t>
            </a:r>
            <a:r>
              <a:rPr lang="en-US" dirty="0"/>
              <a:t>, la </a:t>
            </a:r>
            <a:r>
              <a:rPr lang="en-US" dirty="0" err="1"/>
              <a:t>construcción</a:t>
            </a:r>
            <a:r>
              <a:rPr lang="en-US" dirty="0"/>
              <a:t> o </a:t>
            </a:r>
            <a:r>
              <a:rPr lang="en-US" dirty="0" err="1"/>
              <a:t>compilación</a:t>
            </a:r>
            <a:r>
              <a:rPr lang="en-US" dirty="0"/>
              <a:t> (build)</a:t>
            </a:r>
          </a:p>
          <a:p>
            <a:r>
              <a:rPr lang="en-US" dirty="0"/>
              <a:t>Si </a:t>
            </a:r>
            <a:r>
              <a:rPr lang="en-US" dirty="0" err="1"/>
              <a:t>alguno</a:t>
            </a:r>
            <a:r>
              <a:rPr lang="en-US" dirty="0"/>
              <a:t> de los pasos </a:t>
            </a:r>
            <a:r>
              <a:rPr lang="en-US" dirty="0" err="1"/>
              <a:t>falla</a:t>
            </a:r>
            <a:r>
              <a:rPr lang="en-US" dirty="0"/>
              <a:t>, se </a:t>
            </a:r>
            <a:r>
              <a:rPr lang="en-US" dirty="0" err="1"/>
              <a:t>aborta</a:t>
            </a:r>
            <a:r>
              <a:rPr lang="en-US" dirty="0"/>
              <a:t> la </a:t>
            </a:r>
            <a:r>
              <a:rPr lang="en-US" dirty="0" err="1"/>
              <a:t>ejecución</a:t>
            </a:r>
            <a:r>
              <a:rPr lang="en-US" dirty="0"/>
              <a:t> del workflow y se </a:t>
            </a:r>
            <a:r>
              <a:rPr lang="en-US" dirty="0" err="1"/>
              <a:t>avisa</a:t>
            </a:r>
            <a:r>
              <a:rPr lang="en-US" dirty="0"/>
              <a:t> a los </a:t>
            </a:r>
            <a:r>
              <a:rPr lang="en-US" dirty="0" err="1"/>
              <a:t>miembros</a:t>
            </a:r>
            <a:r>
              <a:rPr lang="en-US" dirty="0"/>
              <a:t> del </a:t>
            </a:r>
            <a:r>
              <a:rPr lang="en-US" dirty="0" err="1"/>
              <a:t>proyecto</a:t>
            </a:r>
            <a:endParaRPr lang="en-US" dirty="0"/>
          </a:p>
          <a:p>
            <a:pPr lvl="1"/>
            <a:r>
              <a:rPr lang="en-US" dirty="0"/>
              <a:t>Por </a:t>
            </a:r>
            <a:r>
              <a:rPr lang="en-US" dirty="0" err="1"/>
              <a:t>ejemplo</a:t>
            </a:r>
            <a:r>
              <a:rPr lang="en-US" dirty="0"/>
              <a:t>, </a:t>
            </a:r>
            <a:r>
              <a:rPr lang="en-US" dirty="0" err="1"/>
              <a:t>por</a:t>
            </a:r>
            <a:r>
              <a:rPr lang="en-US" dirty="0"/>
              <a:t> email</a:t>
            </a:r>
          </a:p>
        </p:txBody>
      </p:sp>
      <p:sp>
        <p:nvSpPr>
          <p:cNvPr id="6" name="CuadroTexto 5"/>
          <p:cNvSpPr txBox="1"/>
          <p:nvPr/>
        </p:nvSpPr>
        <p:spPr>
          <a:xfrm>
            <a:off x="9703075" y="6079351"/>
            <a:ext cx="1573251" cy="276999"/>
          </a:xfrm>
          <a:prstGeom prst="rect">
            <a:avLst/>
          </a:prstGeom>
          <a:noFill/>
        </p:spPr>
        <p:txBody>
          <a:bodyPr wrap="none" rtlCol="0">
            <a:spAutoFit/>
          </a:bodyPr>
          <a:lstStyle/>
          <a:p>
            <a:r>
              <a:rPr lang="es-ES" sz="1200" dirty="0"/>
              <a:t>Imagen: </a:t>
            </a:r>
            <a:r>
              <a:rPr lang="es-ES" sz="1200" dirty="0">
                <a:hlinkClick r:id="rId2"/>
              </a:rPr>
              <a:t> Samarpit Tuli</a:t>
            </a:r>
            <a:endParaRPr lang="es-ES" sz="1200" dirty="0"/>
          </a:p>
        </p:txBody>
      </p:sp>
      <p:pic>
        <p:nvPicPr>
          <p:cNvPr id="7" name="Imagen 6">
            <a:extLs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8779" y="4523148"/>
            <a:ext cx="9263734" cy="2198327"/>
          </a:xfrm>
          <a:prstGeom prst="rect">
            <a:avLst/>
          </a:prstGeom>
        </p:spPr>
      </p:pic>
      <p:sp>
        <p:nvSpPr>
          <p:cNvPr id="4" name="Marcador de número de diapositiva 3"/>
          <p:cNvSpPr>
            <a:spLocks noGrp="1"/>
          </p:cNvSpPr>
          <p:nvPr>
            <p:ph type="sldNum" sz="quarter" idx="12"/>
          </p:nvPr>
        </p:nvSpPr>
        <p:spPr/>
        <p:txBody>
          <a:bodyPr/>
          <a:lstStyle/>
          <a:p>
            <a:fld id="{C9400CC4-AA0F-4E2E-A7D9-25BF1D2A8A65}" type="slidenum">
              <a:rPr lang="es-ES" smtClean="0"/>
              <a:t>4</a:t>
            </a:fld>
            <a:endParaRPr lang="es-ES" dirty="0"/>
          </a:p>
        </p:txBody>
      </p:sp>
    </p:spTree>
    <p:extLst>
      <p:ext uri="{BB962C8B-B14F-4D97-AF65-F5344CB8AC3E}">
        <p14:creationId xmlns:p14="http://schemas.microsoft.com/office/powerpoint/2010/main" val="14566185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6"/>
          <p:cNvSpPr>
            <a:spLocks noGrp="1"/>
          </p:cNvSpPr>
          <p:nvPr>
            <p:ph type="title"/>
          </p:nvPr>
        </p:nvSpPr>
        <p:spPr/>
        <p:txBody>
          <a:bodyPr/>
          <a:lstStyle/>
          <a:p>
            <a:r>
              <a:rPr lang="es-ES" dirty="0"/>
              <a:t>2. Introducción a GitHub Actions</a:t>
            </a:r>
          </a:p>
        </p:txBody>
      </p:sp>
      <p:sp>
        <p:nvSpPr>
          <p:cNvPr id="8" name="Marcador de contenido 7"/>
          <p:cNvSpPr>
            <a:spLocks noGrp="1"/>
          </p:cNvSpPr>
          <p:nvPr>
            <p:ph idx="1"/>
          </p:nvPr>
        </p:nvSpPr>
        <p:spPr/>
        <p:txBody>
          <a:bodyPr>
            <a:normAutofit fontScale="85000" lnSpcReduction="20000"/>
          </a:bodyPr>
          <a:lstStyle/>
          <a:p>
            <a:r>
              <a:rPr lang="es-ES" dirty="0"/>
              <a:t>2.1 Introducción</a:t>
            </a:r>
          </a:p>
          <a:p>
            <a:r>
              <a:rPr lang="es-ES" dirty="0"/>
              <a:t>2.2 Contexto para integración continua</a:t>
            </a:r>
          </a:p>
          <a:p>
            <a:r>
              <a:rPr lang="es-ES" dirty="0"/>
              <a:t>2.3 Registrarse para usar github.com</a:t>
            </a:r>
          </a:p>
          <a:p>
            <a:r>
              <a:rPr lang="es-ES" dirty="0"/>
              <a:t>2.4 Repositorios</a:t>
            </a:r>
          </a:p>
          <a:p>
            <a:r>
              <a:rPr lang="es-ES" dirty="0"/>
              <a:t>2.5 Creación de un repositorio</a:t>
            </a:r>
          </a:p>
          <a:p>
            <a:r>
              <a:rPr lang="es-ES" dirty="0"/>
              <a:t>2.6 Comandos básicos de Git</a:t>
            </a:r>
          </a:p>
          <a:p>
            <a:r>
              <a:rPr lang="es-ES" dirty="0"/>
              <a:t>2.7 Creación de un proyecto asociado a un repositorio</a:t>
            </a:r>
          </a:p>
          <a:p>
            <a:r>
              <a:rPr lang="es-ES" dirty="0"/>
              <a:t>2.8 Gestión ágil de un proyecto (Scrum)</a:t>
            </a:r>
          </a:p>
          <a:p>
            <a:r>
              <a:rPr lang="es-ES" dirty="0"/>
              <a:t>2.9 Servidor de Integración Continua (CI/CD)</a:t>
            </a:r>
          </a:p>
          <a:p>
            <a:endParaRPr lang="es-ES" dirty="0"/>
          </a:p>
          <a:p>
            <a:endParaRPr lang="es-ES" dirty="0"/>
          </a:p>
        </p:txBody>
      </p:sp>
      <p:sp>
        <p:nvSpPr>
          <p:cNvPr id="4" name="Marcador de número de diapositiva 3"/>
          <p:cNvSpPr>
            <a:spLocks noGrp="1"/>
          </p:cNvSpPr>
          <p:nvPr>
            <p:ph type="sldNum" sz="quarter" idx="12"/>
          </p:nvPr>
        </p:nvSpPr>
        <p:spPr/>
        <p:txBody>
          <a:bodyPr/>
          <a:lstStyle/>
          <a:p>
            <a:fld id="{C9400CC4-AA0F-4E2E-A7D9-25BF1D2A8A65}" type="slidenum">
              <a:rPr lang="es-ES" smtClean="0"/>
              <a:t>5</a:t>
            </a:fld>
            <a:endParaRPr lang="es-ES" dirty="0"/>
          </a:p>
        </p:txBody>
      </p:sp>
    </p:spTree>
    <p:extLst>
      <p:ext uri="{BB962C8B-B14F-4D97-AF65-F5344CB8AC3E}">
        <p14:creationId xmlns:p14="http://schemas.microsoft.com/office/powerpoint/2010/main" val="8741407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2.1 Introducción</a:t>
            </a:r>
          </a:p>
        </p:txBody>
      </p:sp>
      <p:sp>
        <p:nvSpPr>
          <p:cNvPr id="3" name="Marcador de contenido 2"/>
          <p:cNvSpPr>
            <a:spLocks noGrp="1"/>
          </p:cNvSpPr>
          <p:nvPr>
            <p:ph idx="1"/>
          </p:nvPr>
        </p:nvSpPr>
        <p:spPr>
          <a:xfrm>
            <a:off x="527538" y="1491517"/>
            <a:ext cx="11025553" cy="5135314"/>
          </a:xfrm>
        </p:spPr>
        <p:txBody>
          <a:bodyPr>
            <a:normAutofit/>
          </a:bodyPr>
          <a:lstStyle/>
          <a:p>
            <a:r>
              <a:rPr lang="es-ES" dirty="0"/>
              <a:t>GitHub es una aplicación web en github.com que incluye</a:t>
            </a:r>
          </a:p>
          <a:p>
            <a:pPr lvl="1"/>
            <a:r>
              <a:rPr lang="es-ES" dirty="0"/>
              <a:t>Repositorio Git remoto</a:t>
            </a:r>
          </a:p>
          <a:p>
            <a:pPr lvl="1"/>
            <a:r>
              <a:rPr lang="es-ES" dirty="0"/>
              <a:t>Gestor de proyectos ágiles (</a:t>
            </a:r>
            <a:r>
              <a:rPr lang="es-ES" dirty="0" err="1"/>
              <a:t>Scrum</a:t>
            </a:r>
            <a:r>
              <a:rPr lang="es-ES" dirty="0"/>
              <a:t>)</a:t>
            </a:r>
          </a:p>
          <a:p>
            <a:pPr lvl="1"/>
            <a:r>
              <a:rPr lang="es-ES" dirty="0"/>
              <a:t>Servidor de integración continua (CI/CD)</a:t>
            </a:r>
          </a:p>
          <a:p>
            <a:r>
              <a:rPr lang="es-ES" dirty="0"/>
              <a:t>Se puede usar desde github.com gratuitamente para proyectos públicos</a:t>
            </a:r>
          </a:p>
          <a:p>
            <a:pPr lvl="1"/>
            <a:r>
              <a:rPr lang="es-ES" dirty="0">
                <a:hlinkClick r:id="rId2"/>
              </a:rPr>
              <a:t>https://docs.github.com</a:t>
            </a:r>
            <a:r>
              <a:rPr lang="es-ES" dirty="0"/>
              <a:t> </a:t>
            </a:r>
          </a:p>
          <a:p>
            <a:pPr lvl="1"/>
            <a:endParaRPr lang="es-ES" dirty="0"/>
          </a:p>
          <a:p>
            <a:pPr lvl="1"/>
            <a:endParaRPr lang="es-ES" dirty="0"/>
          </a:p>
          <a:p>
            <a:endParaRPr lang="es-ES" dirty="0"/>
          </a:p>
          <a:p>
            <a:pPr lvl="1"/>
            <a:endParaRPr lang="es-ES" dirty="0"/>
          </a:p>
          <a:p>
            <a:pPr lvl="1"/>
            <a:endParaRPr lang="es-ES" dirty="0"/>
          </a:p>
        </p:txBody>
      </p:sp>
      <p:sp>
        <p:nvSpPr>
          <p:cNvPr id="4" name="Marcador de número de diapositiva 3"/>
          <p:cNvSpPr>
            <a:spLocks noGrp="1"/>
          </p:cNvSpPr>
          <p:nvPr>
            <p:ph type="sldNum" sz="quarter" idx="12"/>
          </p:nvPr>
        </p:nvSpPr>
        <p:spPr/>
        <p:txBody>
          <a:bodyPr/>
          <a:lstStyle/>
          <a:p>
            <a:fld id="{C9400CC4-AA0F-4E2E-A7D9-25BF1D2A8A65}" type="slidenum">
              <a:rPr lang="es-ES" smtClean="0"/>
              <a:t>6</a:t>
            </a:fld>
            <a:endParaRPr lang="es-ES" dirty="0"/>
          </a:p>
        </p:txBody>
      </p:sp>
    </p:spTree>
    <p:extLst>
      <p:ext uri="{BB962C8B-B14F-4D97-AF65-F5344CB8AC3E}">
        <p14:creationId xmlns:p14="http://schemas.microsoft.com/office/powerpoint/2010/main" val="18294382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2.2 Contexto para integración continua</a:t>
            </a:r>
          </a:p>
        </p:txBody>
      </p:sp>
      <p:pic>
        <p:nvPicPr>
          <p:cNvPr id="5" name="Imagen 4">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2325033" y="2020076"/>
            <a:ext cx="7740568" cy="4493830"/>
          </a:xfrm>
          <a:prstGeom prst="rect">
            <a:avLst/>
          </a:prstGeom>
        </p:spPr>
      </p:pic>
      <p:sp>
        <p:nvSpPr>
          <p:cNvPr id="6" name="CuadroTexto 5">
            <a:extLst>
              <a:ext uri="{C183D7F6-B498-43B3-948B-1728B52AA6E4}">
                <adec:decorative xmlns:adec="http://schemas.microsoft.com/office/drawing/2017/decorative" val="1"/>
              </a:ext>
            </a:extLst>
          </p:cNvPr>
          <p:cNvSpPr txBox="1"/>
          <p:nvPr/>
        </p:nvSpPr>
        <p:spPr>
          <a:xfrm>
            <a:off x="349389" y="3349378"/>
            <a:ext cx="1913345" cy="707886"/>
          </a:xfrm>
          <a:prstGeom prst="rect">
            <a:avLst/>
          </a:prstGeom>
          <a:noFill/>
        </p:spPr>
        <p:txBody>
          <a:bodyPr wrap="none" rtlCol="0">
            <a:spAutoFit/>
          </a:bodyPr>
          <a:lstStyle/>
          <a:p>
            <a:pPr algn="ctr"/>
            <a:r>
              <a:rPr lang="es-ES" sz="2000" b="1" dirty="0">
                <a:solidFill>
                  <a:srgbClr val="C00000"/>
                </a:solidFill>
              </a:rPr>
              <a:t>GitHub Actions</a:t>
            </a:r>
          </a:p>
          <a:p>
            <a:pPr algn="r"/>
            <a:r>
              <a:rPr lang="es-ES" sz="2000" b="1" dirty="0">
                <a:solidFill>
                  <a:srgbClr val="C00000"/>
                </a:solidFill>
              </a:rPr>
              <a:t>(Servidor CI/CD)</a:t>
            </a:r>
          </a:p>
        </p:txBody>
      </p:sp>
      <p:sp>
        <p:nvSpPr>
          <p:cNvPr id="8" name="Rectángulo redondeado 7">
            <a:extLst>
              <a:ext uri="{C183D7F6-B498-43B3-948B-1728B52AA6E4}">
                <adec:decorative xmlns:adec="http://schemas.microsoft.com/office/drawing/2017/decorative" val="1"/>
              </a:ext>
            </a:extLst>
          </p:cNvPr>
          <p:cNvSpPr/>
          <p:nvPr/>
        </p:nvSpPr>
        <p:spPr>
          <a:xfrm>
            <a:off x="4706175" y="1992410"/>
            <a:ext cx="2773412" cy="1356968"/>
          </a:xfrm>
          <a:prstGeom prst="roundRect">
            <a:avLst/>
          </a:prstGeom>
          <a:noFill/>
          <a:ln w="2540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CuadroTexto 8">
            <a:extLst>
              <a:ext uri="{C183D7F6-B498-43B3-948B-1728B52AA6E4}">
                <adec:decorative xmlns:adec="http://schemas.microsoft.com/office/drawing/2017/decorative" val="1"/>
              </a:ext>
            </a:extLst>
          </p:cNvPr>
          <p:cNvSpPr txBox="1"/>
          <p:nvPr/>
        </p:nvSpPr>
        <p:spPr>
          <a:xfrm>
            <a:off x="4807914" y="1572145"/>
            <a:ext cx="2569934" cy="400110"/>
          </a:xfrm>
          <a:prstGeom prst="rect">
            <a:avLst/>
          </a:prstGeom>
          <a:noFill/>
        </p:spPr>
        <p:txBody>
          <a:bodyPr wrap="none" rtlCol="0">
            <a:spAutoFit/>
          </a:bodyPr>
          <a:lstStyle/>
          <a:p>
            <a:r>
              <a:rPr lang="es-ES" sz="2000" b="1" dirty="0">
                <a:solidFill>
                  <a:srgbClr val="C00000"/>
                </a:solidFill>
              </a:rPr>
              <a:t>GitHub Actions runner</a:t>
            </a:r>
          </a:p>
        </p:txBody>
      </p:sp>
      <p:sp>
        <p:nvSpPr>
          <p:cNvPr id="7" name="Rectángulo redondeado 6">
            <a:extLst>
              <a:ext uri="{C183D7F6-B498-43B3-948B-1728B52AA6E4}">
                <adec:decorative xmlns:adec="http://schemas.microsoft.com/office/drawing/2017/decorative" val="1"/>
              </a:ext>
            </a:extLst>
          </p:cNvPr>
          <p:cNvSpPr/>
          <p:nvPr/>
        </p:nvSpPr>
        <p:spPr>
          <a:xfrm>
            <a:off x="2277010" y="3472668"/>
            <a:ext cx="5659661" cy="1212350"/>
          </a:xfrm>
          <a:prstGeom prst="roundRect">
            <a:avLst/>
          </a:prstGeom>
          <a:noFill/>
          <a:ln w="2540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Rectángulo redondeado 11">
            <a:extLst>
              <a:ext uri="{C183D7F6-B498-43B3-948B-1728B52AA6E4}">
                <adec:decorative xmlns:adec="http://schemas.microsoft.com/office/drawing/2017/decorative" val="1"/>
              </a:ext>
            </a:extLst>
          </p:cNvPr>
          <p:cNvSpPr/>
          <p:nvPr/>
        </p:nvSpPr>
        <p:spPr>
          <a:xfrm>
            <a:off x="8003196" y="2194968"/>
            <a:ext cx="2110428" cy="2490050"/>
          </a:xfrm>
          <a:prstGeom prst="roundRect">
            <a:avLst/>
          </a:prstGeom>
          <a:noFill/>
          <a:ln w="2540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 name="CuadroTexto 12">
            <a:extLst>
              <a:ext uri="{C183D7F6-B498-43B3-948B-1728B52AA6E4}">
                <adec:decorative xmlns:adec="http://schemas.microsoft.com/office/drawing/2017/decorative" val="1"/>
              </a:ext>
            </a:extLst>
          </p:cNvPr>
          <p:cNvSpPr txBox="1"/>
          <p:nvPr/>
        </p:nvSpPr>
        <p:spPr>
          <a:xfrm>
            <a:off x="10132125" y="2101502"/>
            <a:ext cx="1935827" cy="707886"/>
          </a:xfrm>
          <a:prstGeom prst="rect">
            <a:avLst/>
          </a:prstGeom>
          <a:noFill/>
        </p:spPr>
        <p:txBody>
          <a:bodyPr wrap="square" rtlCol="0">
            <a:spAutoFit/>
          </a:bodyPr>
          <a:lstStyle/>
          <a:p>
            <a:r>
              <a:rPr lang="es-ES" sz="2000" b="1" dirty="0">
                <a:solidFill>
                  <a:srgbClr val="C00000"/>
                </a:solidFill>
              </a:rPr>
              <a:t>GitHub</a:t>
            </a:r>
          </a:p>
          <a:p>
            <a:r>
              <a:rPr lang="es-ES" sz="2000" b="1" dirty="0">
                <a:solidFill>
                  <a:srgbClr val="C00000"/>
                </a:solidFill>
              </a:rPr>
              <a:t>(Repositorio Git)</a:t>
            </a:r>
          </a:p>
        </p:txBody>
      </p:sp>
      <p:sp>
        <p:nvSpPr>
          <p:cNvPr id="14" name="Rectángulo redondeado 13">
            <a:extLst>
              <a:ext uri="{C183D7F6-B498-43B3-948B-1728B52AA6E4}">
                <adec:decorative xmlns:adec="http://schemas.microsoft.com/office/drawing/2017/decorative" val="1"/>
              </a:ext>
            </a:extLst>
          </p:cNvPr>
          <p:cNvSpPr/>
          <p:nvPr/>
        </p:nvSpPr>
        <p:spPr>
          <a:xfrm>
            <a:off x="7033756" y="5629716"/>
            <a:ext cx="2344160" cy="958197"/>
          </a:xfrm>
          <a:prstGeom prst="roundRect">
            <a:avLst/>
          </a:prstGeom>
          <a:noFill/>
          <a:ln w="2540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5" name="CuadroTexto 14">
            <a:extLst>
              <a:ext uri="{C183D7F6-B498-43B3-948B-1728B52AA6E4}">
                <adec:decorative xmlns:adec="http://schemas.microsoft.com/office/drawing/2017/decorative" val="1"/>
              </a:ext>
            </a:extLst>
          </p:cNvPr>
          <p:cNvSpPr txBox="1"/>
          <p:nvPr/>
        </p:nvSpPr>
        <p:spPr>
          <a:xfrm>
            <a:off x="7175045" y="6235624"/>
            <a:ext cx="498855" cy="400110"/>
          </a:xfrm>
          <a:prstGeom prst="rect">
            <a:avLst/>
          </a:prstGeom>
          <a:noFill/>
        </p:spPr>
        <p:txBody>
          <a:bodyPr wrap="none" rtlCol="0">
            <a:spAutoFit/>
          </a:bodyPr>
          <a:lstStyle/>
          <a:p>
            <a:r>
              <a:rPr lang="es-ES" sz="2000" b="1" dirty="0">
                <a:solidFill>
                  <a:srgbClr val="C00000"/>
                </a:solidFill>
              </a:rPr>
              <a:t>Git</a:t>
            </a:r>
          </a:p>
        </p:txBody>
      </p:sp>
      <p:sp>
        <p:nvSpPr>
          <p:cNvPr id="16" name="Rectángulo redondeado 15">
            <a:extLst>
              <a:ext uri="{C183D7F6-B498-43B3-948B-1728B52AA6E4}">
                <adec:decorative xmlns:adec="http://schemas.microsoft.com/office/drawing/2017/decorative" val="1"/>
              </a:ext>
            </a:extLst>
          </p:cNvPr>
          <p:cNvSpPr/>
          <p:nvPr/>
        </p:nvSpPr>
        <p:spPr>
          <a:xfrm>
            <a:off x="4564886" y="5629715"/>
            <a:ext cx="2344160" cy="958197"/>
          </a:xfrm>
          <a:prstGeom prst="roundRect">
            <a:avLst/>
          </a:prstGeom>
          <a:noFill/>
          <a:ln w="2540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7" name="Rectángulo redondeado 16">
            <a:extLst>
              <a:ext uri="{C183D7F6-B498-43B3-948B-1728B52AA6E4}">
                <adec:decorative xmlns:adec="http://schemas.microsoft.com/office/drawing/2017/decorative" val="1"/>
              </a:ext>
            </a:extLst>
          </p:cNvPr>
          <p:cNvSpPr/>
          <p:nvPr/>
        </p:nvSpPr>
        <p:spPr>
          <a:xfrm>
            <a:off x="2096016" y="5629014"/>
            <a:ext cx="2344160" cy="958197"/>
          </a:xfrm>
          <a:prstGeom prst="roundRect">
            <a:avLst/>
          </a:prstGeom>
          <a:noFill/>
          <a:ln w="2540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8" name="CuadroTexto 17">
            <a:extLst>
              <a:ext uri="{C183D7F6-B498-43B3-948B-1728B52AA6E4}">
                <adec:decorative xmlns:adec="http://schemas.microsoft.com/office/drawing/2017/decorative" val="1"/>
              </a:ext>
            </a:extLst>
          </p:cNvPr>
          <p:cNvSpPr txBox="1"/>
          <p:nvPr/>
        </p:nvSpPr>
        <p:spPr>
          <a:xfrm>
            <a:off x="2172938" y="6234362"/>
            <a:ext cx="498855" cy="400110"/>
          </a:xfrm>
          <a:prstGeom prst="rect">
            <a:avLst/>
          </a:prstGeom>
          <a:noFill/>
        </p:spPr>
        <p:txBody>
          <a:bodyPr wrap="none" rtlCol="0">
            <a:spAutoFit/>
          </a:bodyPr>
          <a:lstStyle/>
          <a:p>
            <a:r>
              <a:rPr lang="es-ES" sz="2000" b="1" dirty="0">
                <a:solidFill>
                  <a:srgbClr val="C00000"/>
                </a:solidFill>
              </a:rPr>
              <a:t>Git</a:t>
            </a:r>
          </a:p>
        </p:txBody>
      </p:sp>
      <p:sp>
        <p:nvSpPr>
          <p:cNvPr id="19" name="CuadroTexto 18">
            <a:extLst>
              <a:ext uri="{C183D7F6-B498-43B3-948B-1728B52AA6E4}">
                <adec:decorative xmlns:adec="http://schemas.microsoft.com/office/drawing/2017/decorative" val="1"/>
              </a:ext>
            </a:extLst>
          </p:cNvPr>
          <p:cNvSpPr txBox="1"/>
          <p:nvPr/>
        </p:nvSpPr>
        <p:spPr>
          <a:xfrm>
            <a:off x="4706175" y="6222788"/>
            <a:ext cx="498855" cy="400110"/>
          </a:xfrm>
          <a:prstGeom prst="rect">
            <a:avLst/>
          </a:prstGeom>
          <a:noFill/>
        </p:spPr>
        <p:txBody>
          <a:bodyPr wrap="none" rtlCol="0">
            <a:spAutoFit/>
          </a:bodyPr>
          <a:lstStyle/>
          <a:p>
            <a:r>
              <a:rPr lang="es-ES" sz="2000" b="1" dirty="0">
                <a:solidFill>
                  <a:srgbClr val="C00000"/>
                </a:solidFill>
              </a:rPr>
              <a:t>Git</a:t>
            </a:r>
          </a:p>
        </p:txBody>
      </p:sp>
      <p:sp>
        <p:nvSpPr>
          <p:cNvPr id="4" name="Marcador de número de diapositiva 3"/>
          <p:cNvSpPr>
            <a:spLocks noGrp="1"/>
          </p:cNvSpPr>
          <p:nvPr>
            <p:ph type="sldNum" sz="quarter" idx="12"/>
          </p:nvPr>
        </p:nvSpPr>
        <p:spPr>
          <a:xfrm>
            <a:off x="9226061" y="6222788"/>
            <a:ext cx="2743200" cy="365125"/>
          </a:xfrm>
        </p:spPr>
        <p:txBody>
          <a:bodyPr/>
          <a:lstStyle/>
          <a:p>
            <a:fld id="{C9400CC4-AA0F-4E2E-A7D9-25BF1D2A8A65}" type="slidenum">
              <a:rPr lang="es-ES" smtClean="0"/>
              <a:t>7</a:t>
            </a:fld>
            <a:endParaRPr lang="es-ES" dirty="0"/>
          </a:p>
        </p:txBody>
      </p:sp>
      <p:sp>
        <p:nvSpPr>
          <p:cNvPr id="11" name="CuadroTexto 10">
            <a:extLst>
              <a:ext uri="{FF2B5EF4-FFF2-40B4-BE49-F238E27FC236}">
                <a16:creationId xmlns:a16="http://schemas.microsoft.com/office/drawing/2014/main" id="{70616CFE-05BD-6419-E4A6-AA1D2D49CD60}"/>
              </a:ext>
              <a:ext uri="{C183D7F6-B498-43B3-948B-1728B52AA6E4}">
                <adec:decorative xmlns:adec="http://schemas.microsoft.com/office/drawing/2017/decorative" val="1"/>
              </a:ext>
            </a:extLst>
          </p:cNvPr>
          <p:cNvSpPr txBox="1"/>
          <p:nvPr/>
        </p:nvSpPr>
        <p:spPr>
          <a:xfrm>
            <a:off x="10180149" y="3361137"/>
            <a:ext cx="1935827" cy="707886"/>
          </a:xfrm>
          <a:prstGeom prst="rect">
            <a:avLst/>
          </a:prstGeom>
          <a:noFill/>
        </p:spPr>
        <p:txBody>
          <a:bodyPr wrap="square" rtlCol="0">
            <a:spAutoFit/>
          </a:bodyPr>
          <a:lstStyle/>
          <a:p>
            <a:r>
              <a:rPr lang="es-ES" sz="2000" b="1" dirty="0">
                <a:solidFill>
                  <a:srgbClr val="C00000"/>
                </a:solidFill>
              </a:rPr>
              <a:t>GitHub </a:t>
            </a:r>
            <a:r>
              <a:rPr lang="es-ES" sz="2000" b="1" dirty="0" err="1">
                <a:solidFill>
                  <a:srgbClr val="C00000"/>
                </a:solidFill>
              </a:rPr>
              <a:t>Projects</a:t>
            </a:r>
            <a:endParaRPr lang="es-ES" sz="2000" b="1" dirty="0">
              <a:solidFill>
                <a:srgbClr val="C00000"/>
              </a:solidFill>
            </a:endParaRPr>
          </a:p>
          <a:p>
            <a:r>
              <a:rPr lang="es-ES" sz="2000" b="1" dirty="0">
                <a:solidFill>
                  <a:srgbClr val="C00000"/>
                </a:solidFill>
              </a:rPr>
              <a:t>(Gestión ágil)</a:t>
            </a:r>
          </a:p>
        </p:txBody>
      </p:sp>
    </p:spTree>
    <p:extLst>
      <p:ext uri="{BB962C8B-B14F-4D97-AF65-F5344CB8AC3E}">
        <p14:creationId xmlns:p14="http://schemas.microsoft.com/office/powerpoint/2010/main" val="5363523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341E14A-5D44-4E9F-0A92-4C7EDC3B64AB}"/>
              </a:ext>
            </a:extLst>
          </p:cNvPr>
          <p:cNvSpPr>
            <a:spLocks noGrp="1"/>
          </p:cNvSpPr>
          <p:nvPr>
            <p:ph type="title"/>
          </p:nvPr>
        </p:nvSpPr>
        <p:spPr/>
        <p:txBody>
          <a:bodyPr/>
          <a:lstStyle/>
          <a:p>
            <a:r>
              <a:rPr lang="es-ES" dirty="0"/>
              <a:t>2.3 Registrarse para usar GitHub</a:t>
            </a:r>
          </a:p>
        </p:txBody>
      </p:sp>
      <p:sp>
        <p:nvSpPr>
          <p:cNvPr id="3" name="Marcador de contenido 2">
            <a:extLst>
              <a:ext uri="{FF2B5EF4-FFF2-40B4-BE49-F238E27FC236}">
                <a16:creationId xmlns:a16="http://schemas.microsoft.com/office/drawing/2014/main" id="{B643AA02-87F6-F23F-D9F6-811FE01F656F}"/>
              </a:ext>
            </a:extLst>
          </p:cNvPr>
          <p:cNvSpPr>
            <a:spLocks noGrp="1"/>
          </p:cNvSpPr>
          <p:nvPr>
            <p:ph idx="1"/>
          </p:nvPr>
        </p:nvSpPr>
        <p:spPr>
          <a:xfrm>
            <a:off x="527538" y="1491517"/>
            <a:ext cx="5764405" cy="4698268"/>
          </a:xfrm>
        </p:spPr>
        <p:txBody>
          <a:bodyPr>
            <a:normAutofit fontScale="85000" lnSpcReduction="20000"/>
          </a:bodyPr>
          <a:lstStyle/>
          <a:p>
            <a:r>
              <a:rPr lang="es-ES" dirty="0"/>
              <a:t>Para crear una cuenta en github.com hay que acceder a </a:t>
            </a:r>
            <a:r>
              <a:rPr lang="es-ES" dirty="0">
                <a:hlinkClick r:id="rId2"/>
              </a:rPr>
              <a:t>https://github.com</a:t>
            </a:r>
            <a:r>
              <a:rPr lang="es-ES" dirty="0"/>
              <a:t> y seleccionar:</a:t>
            </a:r>
          </a:p>
          <a:p>
            <a:pPr lvl="1"/>
            <a:r>
              <a:rPr lang="es-ES" dirty="0" err="1"/>
              <a:t>Sign</a:t>
            </a:r>
            <a:r>
              <a:rPr lang="es-ES" dirty="0"/>
              <a:t> in &gt; </a:t>
            </a:r>
            <a:r>
              <a:rPr lang="es-ES" dirty="0" err="1"/>
              <a:t>Create</a:t>
            </a:r>
            <a:r>
              <a:rPr lang="es-ES" dirty="0"/>
              <a:t> </a:t>
            </a:r>
            <a:r>
              <a:rPr lang="es-ES" dirty="0" err="1"/>
              <a:t>an</a:t>
            </a:r>
            <a:r>
              <a:rPr lang="es-ES" dirty="0"/>
              <a:t> </a:t>
            </a:r>
            <a:r>
              <a:rPr lang="es-ES" dirty="0" err="1"/>
              <a:t>account</a:t>
            </a:r>
            <a:endParaRPr lang="es-ES" dirty="0"/>
          </a:p>
          <a:p>
            <a:r>
              <a:rPr lang="es-ES" dirty="0"/>
              <a:t>Existen diferentes planes y precios</a:t>
            </a:r>
          </a:p>
          <a:p>
            <a:pPr lvl="1"/>
            <a:r>
              <a:rPr lang="es-ES" dirty="0">
                <a:hlinkClick r:id="rId3"/>
              </a:rPr>
              <a:t>https://docs.github.com/es/get-started/learning-about-github/githubs-plans</a:t>
            </a:r>
            <a:r>
              <a:rPr lang="es-ES" dirty="0"/>
              <a:t> </a:t>
            </a:r>
          </a:p>
          <a:p>
            <a:r>
              <a:rPr lang="es-ES" dirty="0"/>
              <a:t>Con una cuenta personal gratuita se puede trabajar con:</a:t>
            </a:r>
          </a:p>
          <a:p>
            <a:pPr lvl="1"/>
            <a:r>
              <a:rPr lang="es-ES" dirty="0"/>
              <a:t>Repositorios públicos, pudiendo utilizar toda la funcionalidad</a:t>
            </a:r>
          </a:p>
          <a:p>
            <a:pPr lvl="1"/>
            <a:r>
              <a:rPr lang="es-ES" dirty="0"/>
              <a:t>Repositorios privados, con una funcionalidad limitada</a:t>
            </a:r>
          </a:p>
        </p:txBody>
      </p:sp>
      <p:sp>
        <p:nvSpPr>
          <p:cNvPr id="4" name="Marcador de número de diapositiva 3">
            <a:extLst>
              <a:ext uri="{FF2B5EF4-FFF2-40B4-BE49-F238E27FC236}">
                <a16:creationId xmlns:a16="http://schemas.microsoft.com/office/drawing/2014/main" id="{FCE370DE-1920-E4D5-B696-DCCDEF389515}"/>
              </a:ext>
            </a:extLst>
          </p:cNvPr>
          <p:cNvSpPr>
            <a:spLocks noGrp="1"/>
          </p:cNvSpPr>
          <p:nvPr>
            <p:ph type="sldNum" sz="quarter" idx="12"/>
          </p:nvPr>
        </p:nvSpPr>
        <p:spPr/>
        <p:txBody>
          <a:bodyPr/>
          <a:lstStyle/>
          <a:p>
            <a:fld id="{C9400CC4-AA0F-4E2E-A7D9-25BF1D2A8A65}" type="slidenum">
              <a:rPr lang="es-ES" smtClean="0"/>
              <a:t>8</a:t>
            </a:fld>
            <a:endParaRPr lang="es-ES" dirty="0"/>
          </a:p>
        </p:txBody>
      </p:sp>
      <p:pic>
        <p:nvPicPr>
          <p:cNvPr id="5" name="Imagen 4">
            <a:extLst>
              <a:ext uri="{FF2B5EF4-FFF2-40B4-BE49-F238E27FC236}">
                <a16:creationId xmlns:a16="http://schemas.microsoft.com/office/drawing/2014/main" id="{0CDAC92F-3C80-CAE7-7CA7-EBF3504B181A}"/>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6486897" y="2742614"/>
            <a:ext cx="5478327" cy="2032029"/>
          </a:xfrm>
          <a:prstGeom prst="rect">
            <a:avLst/>
          </a:prstGeom>
        </p:spPr>
      </p:pic>
    </p:spTree>
    <p:extLst>
      <p:ext uri="{BB962C8B-B14F-4D97-AF65-F5344CB8AC3E}">
        <p14:creationId xmlns:p14="http://schemas.microsoft.com/office/powerpoint/2010/main" val="6911063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2.4 Repositorios</a:t>
            </a:r>
          </a:p>
        </p:txBody>
      </p:sp>
      <p:sp>
        <p:nvSpPr>
          <p:cNvPr id="3" name="Marcador de contenido 2"/>
          <p:cNvSpPr>
            <a:spLocks noGrp="1"/>
          </p:cNvSpPr>
          <p:nvPr>
            <p:ph idx="1"/>
          </p:nvPr>
        </p:nvSpPr>
        <p:spPr>
          <a:xfrm>
            <a:off x="527539" y="1491517"/>
            <a:ext cx="4349262" cy="4569635"/>
          </a:xfrm>
        </p:spPr>
        <p:txBody>
          <a:bodyPr>
            <a:normAutofit fontScale="92500" lnSpcReduction="10000"/>
          </a:bodyPr>
          <a:lstStyle/>
          <a:p>
            <a:r>
              <a:rPr lang="es-ES" dirty="0"/>
              <a:t>Un repositorio en GitHub es un repositorio Git remoto, compuesto por archivos y carpetas</a:t>
            </a:r>
          </a:p>
          <a:p>
            <a:pPr lvl="1"/>
            <a:r>
              <a:rPr lang="es-ES" dirty="0"/>
              <a:t>Organizados en </a:t>
            </a:r>
            <a:r>
              <a:rPr lang="es-ES" dirty="0" err="1"/>
              <a:t>commits</a:t>
            </a:r>
            <a:r>
              <a:rPr lang="es-ES" dirty="0"/>
              <a:t> y ramas (</a:t>
            </a:r>
            <a:r>
              <a:rPr lang="es-ES" dirty="0" err="1"/>
              <a:t>branches</a:t>
            </a:r>
            <a:r>
              <a:rPr lang="es-ES" dirty="0"/>
              <a:t>)</a:t>
            </a:r>
          </a:p>
          <a:p>
            <a:r>
              <a:rPr lang="es-ES" dirty="0"/>
              <a:t>Documentación:</a:t>
            </a:r>
          </a:p>
          <a:p>
            <a:pPr lvl="1"/>
            <a:r>
              <a:rPr lang="es-ES" dirty="0">
                <a:hlinkClick r:id="rId2"/>
              </a:rPr>
              <a:t>https://docs.github.com/es/repositories/creating-and-managing-repositories/about-repositories</a:t>
            </a:r>
            <a:r>
              <a:rPr lang="es-ES" dirty="0"/>
              <a:t> </a:t>
            </a:r>
          </a:p>
          <a:p>
            <a:pPr lvl="1"/>
            <a:endParaRPr lang="es-ES" dirty="0"/>
          </a:p>
          <a:p>
            <a:pPr lvl="1"/>
            <a:endParaRPr lang="es-ES" dirty="0"/>
          </a:p>
          <a:p>
            <a:pPr lvl="1"/>
            <a:endParaRPr lang="es-ES" dirty="0"/>
          </a:p>
          <a:p>
            <a:endParaRPr lang="es-ES" dirty="0"/>
          </a:p>
          <a:p>
            <a:pPr lvl="1"/>
            <a:endParaRPr lang="es-ES" dirty="0"/>
          </a:p>
          <a:p>
            <a:pPr lvl="1"/>
            <a:endParaRPr lang="es-ES" dirty="0"/>
          </a:p>
        </p:txBody>
      </p:sp>
      <p:sp>
        <p:nvSpPr>
          <p:cNvPr id="4" name="Marcador de número de diapositiva 3"/>
          <p:cNvSpPr>
            <a:spLocks noGrp="1"/>
          </p:cNvSpPr>
          <p:nvPr>
            <p:ph type="sldNum" sz="quarter" idx="12"/>
          </p:nvPr>
        </p:nvSpPr>
        <p:spPr/>
        <p:txBody>
          <a:bodyPr/>
          <a:lstStyle/>
          <a:p>
            <a:fld id="{C9400CC4-AA0F-4E2E-A7D9-25BF1D2A8A65}" type="slidenum">
              <a:rPr lang="es-ES" smtClean="0"/>
              <a:t>9</a:t>
            </a:fld>
            <a:endParaRPr lang="es-ES" dirty="0"/>
          </a:p>
        </p:txBody>
      </p:sp>
      <p:pic>
        <p:nvPicPr>
          <p:cNvPr id="7" name="Imagen 6">
            <a:extLst>
              <a:ext uri="{FF2B5EF4-FFF2-40B4-BE49-F238E27FC236}">
                <a16:creationId xmlns:a16="http://schemas.microsoft.com/office/drawing/2014/main" id="{0BF96809-B476-A351-EBB9-9E5060C7DAB0}"/>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5116282" y="1730473"/>
            <a:ext cx="6890659" cy="4028070"/>
          </a:xfrm>
          <a:prstGeom prst="rect">
            <a:avLst/>
          </a:prstGeom>
        </p:spPr>
      </p:pic>
    </p:spTree>
    <p:extLst>
      <p:ext uri="{BB962C8B-B14F-4D97-AF65-F5344CB8AC3E}">
        <p14:creationId xmlns:p14="http://schemas.microsoft.com/office/powerpoint/2010/main" val="21762877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483FAD-2CEC-0AF5-2466-FA92BF0AAD3D}"/>
              </a:ext>
            </a:extLst>
          </p:cNvPr>
          <p:cNvSpPr>
            <a:spLocks noGrp="1"/>
          </p:cNvSpPr>
          <p:nvPr>
            <p:ph type="title"/>
          </p:nvPr>
        </p:nvSpPr>
        <p:spPr/>
        <p:txBody>
          <a:bodyPr/>
          <a:lstStyle/>
          <a:p>
            <a:r>
              <a:rPr lang="es-ES" dirty="0"/>
              <a:t>2.5 Creación de un repositorio</a:t>
            </a:r>
          </a:p>
        </p:txBody>
      </p:sp>
      <p:sp>
        <p:nvSpPr>
          <p:cNvPr id="3" name="Marcador de contenido 2">
            <a:extLst>
              <a:ext uri="{FF2B5EF4-FFF2-40B4-BE49-F238E27FC236}">
                <a16:creationId xmlns:a16="http://schemas.microsoft.com/office/drawing/2014/main" id="{E4E70E23-EBEA-BB21-B95A-76F822CFA8C1}"/>
              </a:ext>
            </a:extLst>
          </p:cNvPr>
          <p:cNvSpPr>
            <a:spLocks noGrp="1"/>
          </p:cNvSpPr>
          <p:nvPr>
            <p:ph idx="1"/>
          </p:nvPr>
        </p:nvSpPr>
        <p:spPr>
          <a:xfrm>
            <a:off x="527538" y="1491517"/>
            <a:ext cx="4403691" cy="4698268"/>
          </a:xfrm>
        </p:spPr>
        <p:txBody>
          <a:bodyPr/>
          <a:lstStyle/>
          <a:p>
            <a:r>
              <a:rPr lang="es-ES" dirty="0"/>
              <a:t>Un nuevo repositorio se crea seleccionando la opción “New </a:t>
            </a:r>
            <a:r>
              <a:rPr lang="es-ES" dirty="0" err="1"/>
              <a:t>repository</a:t>
            </a:r>
            <a:r>
              <a:rPr lang="es-ES" dirty="0"/>
              <a:t>” desde la página principal de nuestra cuenta</a:t>
            </a:r>
          </a:p>
          <a:p>
            <a:pPr lvl="1"/>
            <a:r>
              <a:rPr lang="es-ES" dirty="0"/>
              <a:t>Se recomienda crear repositorios públicos</a:t>
            </a:r>
          </a:p>
        </p:txBody>
      </p:sp>
      <p:sp>
        <p:nvSpPr>
          <p:cNvPr id="4" name="Marcador de número de diapositiva 3">
            <a:extLst>
              <a:ext uri="{FF2B5EF4-FFF2-40B4-BE49-F238E27FC236}">
                <a16:creationId xmlns:a16="http://schemas.microsoft.com/office/drawing/2014/main" id="{C25B20B8-090A-B519-80F4-42300EC2B5A5}"/>
              </a:ext>
            </a:extLst>
          </p:cNvPr>
          <p:cNvSpPr>
            <a:spLocks noGrp="1"/>
          </p:cNvSpPr>
          <p:nvPr>
            <p:ph type="sldNum" sz="quarter" idx="12"/>
          </p:nvPr>
        </p:nvSpPr>
        <p:spPr/>
        <p:txBody>
          <a:bodyPr/>
          <a:lstStyle/>
          <a:p>
            <a:fld id="{C9400CC4-AA0F-4E2E-A7D9-25BF1D2A8A65}" type="slidenum">
              <a:rPr lang="es-ES" smtClean="0"/>
              <a:t>10</a:t>
            </a:fld>
            <a:endParaRPr lang="es-ES" dirty="0"/>
          </a:p>
        </p:txBody>
      </p:sp>
      <p:pic>
        <p:nvPicPr>
          <p:cNvPr id="6" name="Imagen 5">
            <a:extLst>
              <a:ext uri="{FF2B5EF4-FFF2-40B4-BE49-F238E27FC236}">
                <a16:creationId xmlns:a16="http://schemas.microsoft.com/office/drawing/2014/main" id="{13442119-7812-F65D-A36B-0C25ABFCC3E5}"/>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5752242" y="2151223"/>
            <a:ext cx="6129141" cy="3630451"/>
          </a:xfrm>
          <a:prstGeom prst="rect">
            <a:avLst/>
          </a:prstGeom>
        </p:spPr>
      </p:pic>
      <p:pic>
        <p:nvPicPr>
          <p:cNvPr id="8" name="Imagen 7">
            <a:extLst>
              <a:ext uri="{FF2B5EF4-FFF2-40B4-BE49-F238E27FC236}">
                <a16:creationId xmlns:a16="http://schemas.microsoft.com/office/drawing/2014/main" id="{045532D7-533A-2022-D763-C22403D8C34B}"/>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348551" y="5123647"/>
            <a:ext cx="2455894" cy="1312985"/>
          </a:xfrm>
          <a:prstGeom prst="rect">
            <a:avLst/>
          </a:prstGeom>
        </p:spPr>
      </p:pic>
    </p:spTree>
    <p:extLst>
      <p:ext uri="{BB962C8B-B14F-4D97-AF65-F5344CB8AC3E}">
        <p14:creationId xmlns:p14="http://schemas.microsoft.com/office/powerpoint/2010/main" val="3634513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2.6 Comandos básicos de Git (1/2)</a:t>
            </a:r>
          </a:p>
        </p:txBody>
      </p:sp>
      <p:sp>
        <p:nvSpPr>
          <p:cNvPr id="3" name="Marcador de contenido 2"/>
          <p:cNvSpPr>
            <a:spLocks noGrp="1"/>
          </p:cNvSpPr>
          <p:nvPr>
            <p:ph idx="1"/>
          </p:nvPr>
        </p:nvSpPr>
        <p:spPr>
          <a:xfrm>
            <a:off x="527538" y="1491516"/>
            <a:ext cx="11664462" cy="5366483"/>
          </a:xfrm>
        </p:spPr>
        <p:txBody>
          <a:bodyPr>
            <a:normAutofit fontScale="62500" lnSpcReduction="20000"/>
          </a:bodyPr>
          <a:lstStyle/>
          <a:p>
            <a:r>
              <a:rPr lang="es-ES" dirty="0"/>
              <a:t>Crear repositorio local en la carpeta actual</a:t>
            </a:r>
          </a:p>
          <a:p>
            <a:pPr lvl="1"/>
            <a:r>
              <a:rPr lang="es-ES" dirty="0">
                <a:latin typeface="Courier New" panose="02070309020205020404" pitchFamily="49" charset="0"/>
                <a:cs typeface="Courier New" panose="02070309020205020404" pitchFamily="49" charset="0"/>
              </a:rPr>
              <a:t>git </a:t>
            </a:r>
            <a:r>
              <a:rPr lang="es-ES" dirty="0" err="1">
                <a:latin typeface="Courier New" panose="02070309020205020404" pitchFamily="49" charset="0"/>
                <a:cs typeface="Courier New" panose="02070309020205020404" pitchFamily="49" charset="0"/>
              </a:rPr>
              <a:t>init</a:t>
            </a:r>
            <a:endParaRPr lang="es-ES" dirty="0">
              <a:latin typeface="Courier New" panose="02070309020205020404" pitchFamily="49" charset="0"/>
              <a:cs typeface="Courier New" panose="02070309020205020404" pitchFamily="49" charset="0"/>
            </a:endParaRPr>
          </a:p>
          <a:p>
            <a:r>
              <a:rPr lang="es-ES" dirty="0"/>
              <a:t>Copiar un repositorio local en uno remoto</a:t>
            </a:r>
          </a:p>
          <a:p>
            <a:pPr lvl="1"/>
            <a:r>
              <a:rPr lang="en-US" dirty="0">
                <a:latin typeface="Courier New" panose="02070309020205020404" pitchFamily="49" charset="0"/>
                <a:cs typeface="Courier New" panose="02070309020205020404" pitchFamily="49" charset="0"/>
              </a:rPr>
              <a:t>git remote add origin https://gitlab.com/josehilera/baloncesto.git</a:t>
            </a:r>
          </a:p>
          <a:p>
            <a:r>
              <a:rPr lang="en-US" dirty="0" err="1"/>
              <a:t>Consolidar</a:t>
            </a:r>
            <a:r>
              <a:rPr lang="en-US" dirty="0"/>
              <a:t> </a:t>
            </a:r>
            <a:r>
              <a:rPr lang="en-US" dirty="0" err="1"/>
              <a:t>cambios</a:t>
            </a:r>
            <a:r>
              <a:rPr lang="en-US" dirty="0"/>
              <a:t> </a:t>
            </a:r>
            <a:r>
              <a:rPr lang="en-US" dirty="0" err="1"/>
              <a:t>en</a:t>
            </a:r>
            <a:r>
              <a:rPr lang="en-US" dirty="0"/>
              <a:t> </a:t>
            </a:r>
            <a:r>
              <a:rPr lang="en-US" dirty="0" err="1"/>
              <a:t>repositorio</a:t>
            </a:r>
            <a:r>
              <a:rPr lang="en-US" dirty="0"/>
              <a:t> local</a:t>
            </a:r>
          </a:p>
          <a:p>
            <a:pPr lvl="1"/>
            <a:r>
              <a:rPr lang="en-US" dirty="0">
                <a:latin typeface="Courier New" panose="02070309020205020404" pitchFamily="49" charset="0"/>
                <a:cs typeface="Courier New" panose="02070309020205020404" pitchFamily="49" charset="0"/>
              </a:rPr>
              <a:t>git add .</a:t>
            </a:r>
          </a:p>
          <a:p>
            <a:r>
              <a:rPr lang="en-US" dirty="0" err="1"/>
              <a:t>Ver</a:t>
            </a:r>
            <a:r>
              <a:rPr lang="en-US" dirty="0"/>
              <a:t> </a:t>
            </a:r>
            <a:r>
              <a:rPr lang="en-US" dirty="0" err="1"/>
              <a:t>estado</a:t>
            </a:r>
            <a:r>
              <a:rPr lang="en-US" dirty="0"/>
              <a:t> del </a:t>
            </a:r>
            <a:r>
              <a:rPr lang="en-US" dirty="0" err="1"/>
              <a:t>repositorio</a:t>
            </a:r>
            <a:r>
              <a:rPr lang="en-US" dirty="0"/>
              <a:t> local</a:t>
            </a:r>
          </a:p>
          <a:p>
            <a:pPr lvl="1"/>
            <a:r>
              <a:rPr lang="en-US" dirty="0">
                <a:latin typeface="Courier New" panose="02070309020205020404" pitchFamily="49" charset="0"/>
                <a:cs typeface="Courier New" panose="02070309020205020404" pitchFamily="49" charset="0"/>
              </a:rPr>
              <a:t>git status</a:t>
            </a:r>
          </a:p>
          <a:p>
            <a:r>
              <a:rPr lang="en-US" dirty="0" err="1"/>
              <a:t>Guardar</a:t>
            </a:r>
            <a:r>
              <a:rPr lang="en-US" dirty="0"/>
              <a:t> </a:t>
            </a:r>
            <a:r>
              <a:rPr lang="en-US" dirty="0" err="1"/>
              <a:t>cambios</a:t>
            </a:r>
            <a:r>
              <a:rPr lang="en-US" dirty="0"/>
              <a:t> </a:t>
            </a:r>
            <a:r>
              <a:rPr lang="en-US" dirty="0" err="1"/>
              <a:t>creando</a:t>
            </a:r>
            <a:r>
              <a:rPr lang="en-US" dirty="0"/>
              <a:t> commit </a:t>
            </a:r>
            <a:r>
              <a:rPr lang="en-US" dirty="0" err="1"/>
              <a:t>en</a:t>
            </a:r>
            <a:r>
              <a:rPr lang="en-US" dirty="0"/>
              <a:t> </a:t>
            </a:r>
            <a:r>
              <a:rPr lang="en-US" dirty="0" err="1"/>
              <a:t>repositorio</a:t>
            </a:r>
            <a:r>
              <a:rPr lang="en-US" dirty="0"/>
              <a:t> local</a:t>
            </a:r>
          </a:p>
          <a:p>
            <a:pPr lvl="1"/>
            <a:r>
              <a:rPr lang="en-US" dirty="0">
                <a:latin typeface="Courier New" panose="02070309020205020404" pitchFamily="49" charset="0"/>
                <a:cs typeface="Courier New" panose="02070309020205020404" pitchFamily="49" charset="0"/>
              </a:rPr>
              <a:t>git commit -m "Commit </a:t>
            </a:r>
            <a:r>
              <a:rPr lang="en-US" dirty="0" err="1">
                <a:latin typeface="Courier New" panose="02070309020205020404" pitchFamily="49" charset="0"/>
                <a:cs typeface="Courier New" panose="02070309020205020404" pitchFamily="49" charset="0"/>
              </a:rPr>
              <a:t>inicial</a:t>
            </a:r>
            <a:r>
              <a:rPr lang="en-US" dirty="0">
                <a:latin typeface="Courier New" panose="02070309020205020404" pitchFamily="49" charset="0"/>
                <a:cs typeface="Courier New" panose="02070309020205020404" pitchFamily="49" charset="0"/>
              </a:rPr>
              <a:t>“</a:t>
            </a:r>
          </a:p>
          <a:p>
            <a:r>
              <a:rPr lang="en-US" dirty="0" err="1"/>
              <a:t>Enviar</a:t>
            </a:r>
            <a:r>
              <a:rPr lang="en-US" dirty="0"/>
              <a:t> commit a </a:t>
            </a:r>
            <a:r>
              <a:rPr lang="en-US" dirty="0" err="1"/>
              <a:t>repositorio</a:t>
            </a:r>
            <a:r>
              <a:rPr lang="en-US" dirty="0"/>
              <a:t> </a:t>
            </a:r>
            <a:r>
              <a:rPr lang="en-US" dirty="0" err="1"/>
              <a:t>remoto</a:t>
            </a:r>
            <a:endParaRPr lang="en-US" dirty="0"/>
          </a:p>
          <a:p>
            <a:pPr lvl="1"/>
            <a:r>
              <a:rPr lang="en-US" dirty="0">
                <a:latin typeface="Courier New" panose="02070309020205020404" pitchFamily="49" charset="0"/>
                <a:cs typeface="Courier New" panose="02070309020205020404" pitchFamily="49" charset="0"/>
              </a:rPr>
              <a:t>git push  </a:t>
            </a:r>
          </a:p>
          <a:p>
            <a:pPr lvl="1"/>
            <a:r>
              <a:rPr lang="en-US" dirty="0">
                <a:latin typeface="Courier New" panose="02070309020205020404" pitchFamily="49" charset="0"/>
                <a:cs typeface="Courier New" panose="02070309020205020404" pitchFamily="49" charset="0"/>
              </a:rPr>
              <a:t>git push origin </a:t>
            </a:r>
          </a:p>
          <a:p>
            <a:pPr lvl="1"/>
            <a:r>
              <a:rPr lang="en-US" dirty="0">
                <a:latin typeface="Courier New" panose="02070309020205020404" pitchFamily="49" charset="0"/>
                <a:cs typeface="Courier New" panose="02070309020205020404" pitchFamily="49" charset="0"/>
              </a:rPr>
              <a:t>git push origin </a:t>
            </a:r>
            <a:r>
              <a:rPr lang="en-US" dirty="0" err="1">
                <a:latin typeface="Courier New" panose="02070309020205020404" pitchFamily="49" charset="0"/>
                <a:cs typeface="Courier New" panose="02070309020205020404" pitchFamily="49" charset="0"/>
              </a:rPr>
              <a:t>rama</a:t>
            </a:r>
            <a:endParaRPr lang="en-US" dirty="0">
              <a:latin typeface="Courier New" panose="02070309020205020404" pitchFamily="49" charset="0"/>
              <a:cs typeface="Courier New" panose="02070309020205020404" pitchFamily="49" charset="0"/>
            </a:endParaRPr>
          </a:p>
          <a:p>
            <a:pPr lvl="1"/>
            <a:r>
              <a:rPr lang="en-US" dirty="0">
                <a:latin typeface="Courier New" panose="02070309020205020404" pitchFamily="49" charset="0"/>
                <a:cs typeface="Courier New" panose="02070309020205020404" pitchFamily="49" charset="0"/>
              </a:rPr>
              <a:t>git push –u origin </a:t>
            </a:r>
            <a:r>
              <a:rPr lang="en-US" dirty="0" err="1">
                <a:latin typeface="Courier New" panose="02070309020205020404" pitchFamily="49" charset="0"/>
                <a:cs typeface="Courier New" panose="02070309020205020404" pitchFamily="49" charset="0"/>
              </a:rPr>
              <a:t>rama</a:t>
            </a:r>
            <a:endParaRPr lang="en-US" dirty="0">
              <a:latin typeface="Courier New" panose="02070309020205020404" pitchFamily="49" charset="0"/>
              <a:cs typeface="Courier New" panose="02070309020205020404" pitchFamily="49" charset="0"/>
            </a:endParaRPr>
          </a:p>
          <a:p>
            <a:pPr lvl="1"/>
            <a:endParaRPr lang="en-US" dirty="0">
              <a:latin typeface="Courier New" panose="02070309020205020404" pitchFamily="49" charset="0"/>
              <a:cs typeface="Courier New" panose="02070309020205020404" pitchFamily="49" charset="0"/>
            </a:endParaRPr>
          </a:p>
          <a:p>
            <a:endParaRPr lang="en-US" dirty="0"/>
          </a:p>
          <a:p>
            <a:endParaRPr lang="es-ES" dirty="0"/>
          </a:p>
        </p:txBody>
      </p:sp>
      <p:sp>
        <p:nvSpPr>
          <p:cNvPr id="4" name="Marcador de número de diapositiva 3"/>
          <p:cNvSpPr>
            <a:spLocks noGrp="1"/>
          </p:cNvSpPr>
          <p:nvPr>
            <p:ph type="sldNum" sz="quarter" idx="12"/>
          </p:nvPr>
        </p:nvSpPr>
        <p:spPr/>
        <p:txBody>
          <a:bodyPr/>
          <a:lstStyle/>
          <a:p>
            <a:fld id="{C9400CC4-AA0F-4E2E-A7D9-25BF1D2A8A65}" type="slidenum">
              <a:rPr lang="es-ES" smtClean="0"/>
              <a:t>11</a:t>
            </a:fld>
            <a:endParaRPr lang="es-ES" dirty="0"/>
          </a:p>
        </p:txBody>
      </p:sp>
    </p:spTree>
    <p:extLst>
      <p:ext uri="{BB962C8B-B14F-4D97-AF65-F5344CB8AC3E}">
        <p14:creationId xmlns:p14="http://schemas.microsoft.com/office/powerpoint/2010/main" val="26223105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2.6 Comandos básicos de Git (2/2)</a:t>
            </a:r>
          </a:p>
        </p:txBody>
      </p:sp>
      <p:sp>
        <p:nvSpPr>
          <p:cNvPr id="3" name="Marcador de contenido 2"/>
          <p:cNvSpPr>
            <a:spLocks noGrp="1"/>
          </p:cNvSpPr>
          <p:nvPr>
            <p:ph idx="1"/>
          </p:nvPr>
        </p:nvSpPr>
        <p:spPr>
          <a:xfrm>
            <a:off x="527538" y="1491516"/>
            <a:ext cx="11664462" cy="5229959"/>
          </a:xfrm>
        </p:spPr>
        <p:txBody>
          <a:bodyPr>
            <a:normAutofit fontScale="62500" lnSpcReduction="20000"/>
          </a:bodyPr>
          <a:lstStyle/>
          <a:p>
            <a:r>
              <a:rPr lang="es-ES" dirty="0"/>
              <a:t>Crear rama en repositorio local</a:t>
            </a:r>
          </a:p>
          <a:p>
            <a:pPr lvl="1"/>
            <a:r>
              <a:rPr lang="es-ES" dirty="0">
                <a:latin typeface="Courier New" panose="02070309020205020404" pitchFamily="49" charset="0"/>
                <a:cs typeface="Courier New" panose="02070309020205020404" pitchFamily="49" charset="0"/>
              </a:rPr>
              <a:t>git </a:t>
            </a:r>
            <a:r>
              <a:rPr lang="es-ES" dirty="0" err="1">
                <a:latin typeface="Courier New" panose="02070309020205020404" pitchFamily="49" charset="0"/>
                <a:cs typeface="Courier New" panose="02070309020205020404" pitchFamily="49" charset="0"/>
              </a:rPr>
              <a:t>branch</a:t>
            </a:r>
            <a:r>
              <a:rPr lang="es-ES" dirty="0">
                <a:latin typeface="Courier New" panose="02070309020205020404" pitchFamily="49" charset="0"/>
                <a:cs typeface="Courier New" panose="02070309020205020404" pitchFamily="49" charset="0"/>
              </a:rPr>
              <a:t> rama</a:t>
            </a:r>
          </a:p>
          <a:p>
            <a:r>
              <a:rPr lang="es-ES" dirty="0"/>
              <a:t>Ver ramas en repositorio local</a:t>
            </a:r>
          </a:p>
          <a:p>
            <a:pPr lvl="1"/>
            <a:r>
              <a:rPr lang="es-ES" dirty="0">
                <a:latin typeface="Courier New" panose="02070309020205020404" pitchFamily="49" charset="0"/>
                <a:cs typeface="Courier New" panose="02070309020205020404" pitchFamily="49" charset="0"/>
              </a:rPr>
              <a:t>git </a:t>
            </a:r>
            <a:r>
              <a:rPr lang="es-ES" dirty="0" err="1">
                <a:latin typeface="Courier New" panose="02070309020205020404" pitchFamily="49" charset="0"/>
                <a:cs typeface="Courier New" panose="02070309020205020404" pitchFamily="49" charset="0"/>
              </a:rPr>
              <a:t>branch</a:t>
            </a:r>
            <a:endParaRPr lang="es-ES" dirty="0">
              <a:latin typeface="Courier New" panose="02070309020205020404" pitchFamily="49" charset="0"/>
              <a:cs typeface="Courier New" panose="02070309020205020404" pitchFamily="49" charset="0"/>
            </a:endParaRPr>
          </a:p>
          <a:p>
            <a:r>
              <a:rPr lang="es-ES" dirty="0"/>
              <a:t>Cambiar de rama</a:t>
            </a:r>
          </a:p>
          <a:p>
            <a:pPr lvl="1"/>
            <a:r>
              <a:rPr lang="es-ES" dirty="0">
                <a:latin typeface="Courier New" panose="02070309020205020404" pitchFamily="49" charset="0"/>
                <a:cs typeface="Courier New" panose="02070309020205020404" pitchFamily="49" charset="0"/>
              </a:rPr>
              <a:t>git </a:t>
            </a:r>
            <a:r>
              <a:rPr lang="es-ES" dirty="0" err="1">
                <a:latin typeface="Courier New" panose="02070309020205020404" pitchFamily="49" charset="0"/>
                <a:cs typeface="Courier New" panose="02070309020205020404" pitchFamily="49" charset="0"/>
              </a:rPr>
              <a:t>checkout</a:t>
            </a:r>
            <a:r>
              <a:rPr lang="es-ES" dirty="0">
                <a:latin typeface="Courier New" panose="02070309020205020404" pitchFamily="49" charset="0"/>
                <a:cs typeface="Courier New" panose="02070309020205020404" pitchFamily="49" charset="0"/>
              </a:rPr>
              <a:t> rama</a:t>
            </a:r>
          </a:p>
          <a:p>
            <a:r>
              <a:rPr lang="es-ES" dirty="0"/>
              <a:t>Subir cambios de la rama local actual a una rama remota</a:t>
            </a:r>
          </a:p>
          <a:p>
            <a:pPr lvl="1"/>
            <a:r>
              <a:rPr lang="es-ES" dirty="0">
                <a:latin typeface="Courier New" panose="02070309020205020404" pitchFamily="49" charset="0"/>
                <a:cs typeface="Courier New" panose="02070309020205020404" pitchFamily="49" charset="0"/>
              </a:rPr>
              <a:t>git </a:t>
            </a:r>
            <a:r>
              <a:rPr lang="es-ES" dirty="0" err="1">
                <a:latin typeface="Courier New" panose="02070309020205020404" pitchFamily="49" charset="0"/>
                <a:cs typeface="Courier New" panose="02070309020205020404" pitchFamily="49" charset="0"/>
              </a:rPr>
              <a:t>push</a:t>
            </a:r>
            <a:r>
              <a:rPr lang="es-ES" dirty="0">
                <a:latin typeface="Courier New" panose="02070309020205020404" pitchFamily="49" charset="0"/>
                <a:cs typeface="Courier New" panose="02070309020205020404" pitchFamily="49" charset="0"/>
              </a:rPr>
              <a:t> </a:t>
            </a:r>
            <a:r>
              <a:rPr lang="es-ES" dirty="0" err="1">
                <a:latin typeface="Courier New" panose="02070309020205020404" pitchFamily="49" charset="0"/>
                <a:cs typeface="Courier New" panose="02070309020205020404" pitchFamily="49" charset="0"/>
              </a:rPr>
              <a:t>origin</a:t>
            </a:r>
            <a:r>
              <a:rPr lang="es-ES" dirty="0">
                <a:latin typeface="Courier New" panose="02070309020205020404" pitchFamily="49" charset="0"/>
                <a:cs typeface="Courier New" panose="02070309020205020404" pitchFamily="49" charset="0"/>
              </a:rPr>
              <a:t> rama</a:t>
            </a:r>
          </a:p>
          <a:p>
            <a:r>
              <a:rPr lang="es-ES" dirty="0"/>
              <a:t>Actualizar el repositorio local con la versión actual de una rama del repositorio remoto</a:t>
            </a:r>
          </a:p>
          <a:p>
            <a:pPr lvl="1"/>
            <a:r>
              <a:rPr lang="es-ES" dirty="0">
                <a:latin typeface="Courier New" panose="02070309020205020404" pitchFamily="49" charset="0"/>
                <a:cs typeface="Courier New" panose="02070309020205020404" pitchFamily="49" charset="0"/>
              </a:rPr>
              <a:t>git </a:t>
            </a:r>
            <a:r>
              <a:rPr lang="es-ES" dirty="0" err="1">
                <a:latin typeface="Courier New" panose="02070309020205020404" pitchFamily="49" charset="0"/>
                <a:cs typeface="Courier New" panose="02070309020205020404" pitchFamily="49" charset="0"/>
              </a:rPr>
              <a:t>pull</a:t>
            </a:r>
            <a:r>
              <a:rPr lang="es-ES" dirty="0">
                <a:latin typeface="Courier New" panose="02070309020205020404" pitchFamily="49" charset="0"/>
                <a:cs typeface="Courier New" panose="02070309020205020404" pitchFamily="49" charset="0"/>
              </a:rPr>
              <a:t> </a:t>
            </a:r>
            <a:r>
              <a:rPr lang="es-ES" dirty="0" err="1">
                <a:latin typeface="Courier New" panose="02070309020205020404" pitchFamily="49" charset="0"/>
                <a:cs typeface="Courier New" panose="02070309020205020404" pitchFamily="49" charset="0"/>
              </a:rPr>
              <a:t>origin</a:t>
            </a:r>
            <a:r>
              <a:rPr lang="es-ES" dirty="0">
                <a:latin typeface="Courier New" panose="02070309020205020404" pitchFamily="49" charset="0"/>
                <a:cs typeface="Courier New" panose="02070309020205020404" pitchFamily="49" charset="0"/>
              </a:rPr>
              <a:t> rama</a:t>
            </a:r>
            <a:endParaRPr lang="es-ES" dirty="0"/>
          </a:p>
          <a:p>
            <a:r>
              <a:rPr lang="es-ES" dirty="0"/>
              <a:t>Clonar un repositorio remoto en la carpeta actual del ordenador local</a:t>
            </a:r>
          </a:p>
          <a:p>
            <a:pPr lvl="1"/>
            <a:r>
              <a:rPr lang="es-ES" dirty="0">
                <a:latin typeface="Courier New" panose="02070309020205020404" pitchFamily="49" charset="0"/>
                <a:cs typeface="Courier New" panose="02070309020205020404" pitchFamily="49" charset="0"/>
              </a:rPr>
              <a:t>git clone https://gitlab.com/josehilera/baloncesto.git</a:t>
            </a:r>
          </a:p>
          <a:p>
            <a:r>
              <a:rPr lang="es-ES" dirty="0"/>
              <a:t>Más comandos en la documentación oficial de Git (incluye libro en español)</a:t>
            </a:r>
          </a:p>
          <a:p>
            <a:pPr lvl="1"/>
            <a:r>
              <a:rPr lang="es-ES" dirty="0">
                <a:latin typeface="Courier New" panose="02070309020205020404" pitchFamily="49" charset="0"/>
                <a:cs typeface="Courier New" panose="02070309020205020404" pitchFamily="49" charset="0"/>
                <a:hlinkClick r:id="rId2"/>
              </a:rPr>
              <a:t>https://git-scm.com/doc</a:t>
            </a:r>
            <a:r>
              <a:rPr lang="es-ES" dirty="0">
                <a:latin typeface="Courier New" panose="02070309020205020404" pitchFamily="49" charset="0"/>
                <a:cs typeface="Courier New" panose="02070309020205020404" pitchFamily="49" charset="0"/>
              </a:rPr>
              <a:t> </a:t>
            </a:r>
          </a:p>
          <a:p>
            <a:pPr lvl="1"/>
            <a:endParaRPr lang="es-ES" dirty="0">
              <a:latin typeface="Courier New" panose="02070309020205020404" pitchFamily="49" charset="0"/>
              <a:cs typeface="Courier New" panose="02070309020205020404" pitchFamily="49" charset="0"/>
            </a:endParaRPr>
          </a:p>
          <a:p>
            <a:endParaRPr lang="es-ES" dirty="0">
              <a:latin typeface="Courier New" panose="02070309020205020404" pitchFamily="49" charset="0"/>
              <a:cs typeface="Courier New" panose="02070309020205020404" pitchFamily="49" charset="0"/>
            </a:endParaRPr>
          </a:p>
          <a:p>
            <a:pPr lvl="1"/>
            <a:endParaRPr lang="en-US" dirty="0">
              <a:latin typeface="Courier New" panose="02070309020205020404" pitchFamily="49" charset="0"/>
              <a:cs typeface="Courier New" panose="02070309020205020404" pitchFamily="49" charset="0"/>
            </a:endParaRPr>
          </a:p>
          <a:p>
            <a:endParaRPr lang="en-US" dirty="0"/>
          </a:p>
          <a:p>
            <a:endParaRPr lang="es-ES" dirty="0"/>
          </a:p>
        </p:txBody>
      </p:sp>
      <p:sp>
        <p:nvSpPr>
          <p:cNvPr id="4" name="Marcador de número de diapositiva 3"/>
          <p:cNvSpPr>
            <a:spLocks noGrp="1"/>
          </p:cNvSpPr>
          <p:nvPr>
            <p:ph type="sldNum" sz="quarter" idx="12"/>
          </p:nvPr>
        </p:nvSpPr>
        <p:spPr/>
        <p:txBody>
          <a:bodyPr/>
          <a:lstStyle/>
          <a:p>
            <a:fld id="{C9400CC4-AA0F-4E2E-A7D9-25BF1D2A8A65}" type="slidenum">
              <a:rPr lang="es-ES" smtClean="0"/>
              <a:t>12</a:t>
            </a:fld>
            <a:endParaRPr lang="es-ES" dirty="0"/>
          </a:p>
        </p:txBody>
      </p:sp>
    </p:spTree>
    <p:extLst>
      <p:ext uri="{BB962C8B-B14F-4D97-AF65-F5344CB8AC3E}">
        <p14:creationId xmlns:p14="http://schemas.microsoft.com/office/powerpoint/2010/main" val="19557299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41C57FC-779F-BAF8-CFEA-74125DAF0BE0}"/>
              </a:ext>
            </a:extLst>
          </p:cNvPr>
          <p:cNvSpPr>
            <a:spLocks noGrp="1"/>
          </p:cNvSpPr>
          <p:nvPr>
            <p:ph type="title"/>
          </p:nvPr>
        </p:nvSpPr>
        <p:spPr/>
        <p:txBody>
          <a:bodyPr/>
          <a:lstStyle/>
          <a:p>
            <a:r>
              <a:rPr lang="es-ES" dirty="0"/>
              <a:t>2.7 Creación de un proyecto asociado a un repositorio</a:t>
            </a:r>
          </a:p>
        </p:txBody>
      </p:sp>
      <p:sp>
        <p:nvSpPr>
          <p:cNvPr id="3" name="Marcador de contenido 2">
            <a:extLst>
              <a:ext uri="{FF2B5EF4-FFF2-40B4-BE49-F238E27FC236}">
                <a16:creationId xmlns:a16="http://schemas.microsoft.com/office/drawing/2014/main" id="{10A4DD59-EDC3-7A79-D75F-31BCC7A1D3D9}"/>
              </a:ext>
            </a:extLst>
          </p:cNvPr>
          <p:cNvSpPr>
            <a:spLocks noGrp="1"/>
          </p:cNvSpPr>
          <p:nvPr>
            <p:ph idx="1"/>
          </p:nvPr>
        </p:nvSpPr>
        <p:spPr>
          <a:xfrm>
            <a:off x="527538" y="1491517"/>
            <a:ext cx="5383405" cy="4698268"/>
          </a:xfrm>
        </p:spPr>
        <p:txBody>
          <a:bodyPr/>
          <a:lstStyle/>
          <a:p>
            <a:r>
              <a:rPr lang="es-ES" dirty="0"/>
              <a:t>En un repositorio se puede crear un proyecto para la gestión del desarrollo del software del repositorio</a:t>
            </a:r>
          </a:p>
          <a:p>
            <a:endParaRPr lang="es-ES" dirty="0"/>
          </a:p>
        </p:txBody>
      </p:sp>
      <p:sp>
        <p:nvSpPr>
          <p:cNvPr id="4" name="Marcador de número de diapositiva 3">
            <a:extLst>
              <a:ext uri="{FF2B5EF4-FFF2-40B4-BE49-F238E27FC236}">
                <a16:creationId xmlns:a16="http://schemas.microsoft.com/office/drawing/2014/main" id="{42929740-7726-BDA4-CB81-CB48CB335AB3}"/>
              </a:ext>
            </a:extLst>
          </p:cNvPr>
          <p:cNvSpPr>
            <a:spLocks noGrp="1"/>
          </p:cNvSpPr>
          <p:nvPr>
            <p:ph type="sldNum" sz="quarter" idx="12"/>
          </p:nvPr>
        </p:nvSpPr>
        <p:spPr/>
        <p:txBody>
          <a:bodyPr/>
          <a:lstStyle/>
          <a:p>
            <a:fld id="{C9400CC4-AA0F-4E2E-A7D9-25BF1D2A8A65}" type="slidenum">
              <a:rPr lang="es-ES" smtClean="0"/>
              <a:t>13</a:t>
            </a:fld>
            <a:endParaRPr lang="es-ES" dirty="0"/>
          </a:p>
        </p:txBody>
      </p:sp>
      <p:pic>
        <p:nvPicPr>
          <p:cNvPr id="8" name="Imagen 7">
            <a:extLst>
              <a:ext uri="{FF2B5EF4-FFF2-40B4-BE49-F238E27FC236}">
                <a16:creationId xmlns:a16="http://schemas.microsoft.com/office/drawing/2014/main" id="{C5A8C4A4-2725-E2D3-023A-C9F2774587EF}"/>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1360713" y="3840651"/>
            <a:ext cx="2765040" cy="1852577"/>
          </a:xfrm>
          <a:prstGeom prst="rect">
            <a:avLst/>
          </a:prstGeom>
        </p:spPr>
      </p:pic>
      <p:pic>
        <p:nvPicPr>
          <p:cNvPr id="10" name="Imagen 9">
            <a:extLst>
              <a:ext uri="{FF2B5EF4-FFF2-40B4-BE49-F238E27FC236}">
                <a16:creationId xmlns:a16="http://schemas.microsoft.com/office/drawing/2014/main" id="{8771A5E9-5767-B18B-AC85-B4E2FD5CF6A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5987476" y="2341144"/>
            <a:ext cx="5911446" cy="3352084"/>
          </a:xfrm>
          <a:prstGeom prst="rect">
            <a:avLst/>
          </a:prstGeom>
        </p:spPr>
      </p:pic>
    </p:spTree>
    <p:extLst>
      <p:ext uri="{BB962C8B-B14F-4D97-AF65-F5344CB8AC3E}">
        <p14:creationId xmlns:p14="http://schemas.microsoft.com/office/powerpoint/2010/main" val="26432550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2.8 Gestión ágil de un proyecto (Scrum)</a:t>
            </a:r>
          </a:p>
        </p:txBody>
      </p:sp>
      <p:sp>
        <p:nvSpPr>
          <p:cNvPr id="3" name="Marcador de contenido 2"/>
          <p:cNvSpPr>
            <a:spLocks noGrp="1"/>
          </p:cNvSpPr>
          <p:nvPr>
            <p:ph idx="1"/>
          </p:nvPr>
        </p:nvSpPr>
        <p:spPr>
          <a:xfrm>
            <a:off x="527538" y="1491517"/>
            <a:ext cx="4697605" cy="4724226"/>
          </a:xfrm>
        </p:spPr>
        <p:txBody>
          <a:bodyPr>
            <a:normAutofit fontScale="92500" lnSpcReduction="10000"/>
          </a:bodyPr>
          <a:lstStyle/>
          <a:p>
            <a:r>
              <a:rPr lang="es-ES" dirty="0"/>
              <a:t>En GitHub los siguientes conceptos son equivalente a los conocidos de Scrum</a:t>
            </a:r>
          </a:p>
          <a:p>
            <a:pPr lvl="1"/>
            <a:r>
              <a:rPr lang="es-ES" dirty="0" err="1"/>
              <a:t>Issue</a:t>
            </a:r>
            <a:r>
              <a:rPr lang="es-ES" dirty="0"/>
              <a:t> = </a:t>
            </a:r>
            <a:r>
              <a:rPr lang="es-ES" dirty="0" err="1"/>
              <a:t>User</a:t>
            </a:r>
            <a:r>
              <a:rPr lang="es-ES" dirty="0"/>
              <a:t> </a:t>
            </a:r>
            <a:r>
              <a:rPr lang="es-ES" dirty="0" err="1"/>
              <a:t>Story</a:t>
            </a:r>
            <a:endParaRPr lang="es-ES" dirty="0"/>
          </a:p>
          <a:p>
            <a:pPr lvl="1"/>
            <a:r>
              <a:rPr lang="es-ES" dirty="0" err="1"/>
              <a:t>Board</a:t>
            </a:r>
            <a:r>
              <a:rPr lang="es-ES" dirty="0"/>
              <a:t> = </a:t>
            </a:r>
            <a:r>
              <a:rPr lang="es-ES" dirty="0" err="1"/>
              <a:t>Board</a:t>
            </a:r>
            <a:endParaRPr lang="es-ES" dirty="0"/>
          </a:p>
          <a:p>
            <a:pPr lvl="1"/>
            <a:r>
              <a:rPr lang="es-ES" dirty="0" err="1"/>
              <a:t>Milestone</a:t>
            </a:r>
            <a:r>
              <a:rPr lang="es-ES" dirty="0"/>
              <a:t> = Sprint</a:t>
            </a:r>
          </a:p>
          <a:p>
            <a:pPr lvl="1"/>
            <a:r>
              <a:rPr lang="es-ES" dirty="0" err="1"/>
              <a:t>Issue</a:t>
            </a:r>
            <a:r>
              <a:rPr lang="es-ES" dirty="0"/>
              <a:t> </a:t>
            </a:r>
            <a:r>
              <a:rPr lang="es-ES" dirty="0" err="1"/>
              <a:t>list</a:t>
            </a:r>
            <a:r>
              <a:rPr lang="es-ES" dirty="0"/>
              <a:t> = </a:t>
            </a:r>
            <a:r>
              <a:rPr lang="es-ES" dirty="0" err="1"/>
              <a:t>Product</a:t>
            </a:r>
            <a:r>
              <a:rPr lang="es-ES" dirty="0"/>
              <a:t> Backlog </a:t>
            </a:r>
          </a:p>
          <a:p>
            <a:r>
              <a:rPr lang="es-ES" dirty="0"/>
              <a:t>Documentación:</a:t>
            </a:r>
          </a:p>
          <a:p>
            <a:pPr lvl="1"/>
            <a:r>
              <a:rPr lang="es-ES" dirty="0">
                <a:hlinkClick r:id="rId2"/>
              </a:rPr>
              <a:t>https://docs.github.com/es/issues/planning-and-tracking-with-projects</a:t>
            </a:r>
            <a:r>
              <a:rPr lang="es-ES" dirty="0"/>
              <a:t>  </a:t>
            </a:r>
          </a:p>
          <a:p>
            <a:pPr lvl="1"/>
            <a:endParaRPr lang="es-ES" dirty="0"/>
          </a:p>
          <a:p>
            <a:endParaRPr lang="es-ES" dirty="0"/>
          </a:p>
          <a:p>
            <a:pPr lvl="1"/>
            <a:endParaRPr lang="es-ES" dirty="0"/>
          </a:p>
          <a:p>
            <a:pPr lvl="1"/>
            <a:endParaRPr lang="es-ES" dirty="0"/>
          </a:p>
        </p:txBody>
      </p:sp>
      <p:sp>
        <p:nvSpPr>
          <p:cNvPr id="4" name="Marcador de número de diapositiva 3"/>
          <p:cNvSpPr>
            <a:spLocks noGrp="1"/>
          </p:cNvSpPr>
          <p:nvPr>
            <p:ph type="sldNum" sz="quarter" idx="12"/>
          </p:nvPr>
        </p:nvSpPr>
        <p:spPr/>
        <p:txBody>
          <a:bodyPr/>
          <a:lstStyle/>
          <a:p>
            <a:fld id="{C9400CC4-AA0F-4E2E-A7D9-25BF1D2A8A65}" type="slidenum">
              <a:rPr lang="es-ES" smtClean="0"/>
              <a:t>14</a:t>
            </a:fld>
            <a:endParaRPr lang="es-ES" dirty="0"/>
          </a:p>
        </p:txBody>
      </p:sp>
      <p:pic>
        <p:nvPicPr>
          <p:cNvPr id="9" name="Imagen 8">
            <a:extLst>
              <a:ext uri="{FF2B5EF4-FFF2-40B4-BE49-F238E27FC236}">
                <a16:creationId xmlns:a16="http://schemas.microsoft.com/office/drawing/2014/main" id="{3CF255CC-9841-C474-077A-A5FC69BF13C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5225143" y="2101804"/>
            <a:ext cx="6826352" cy="3205417"/>
          </a:xfrm>
          <a:prstGeom prst="rect">
            <a:avLst/>
          </a:prstGeom>
        </p:spPr>
      </p:pic>
    </p:spTree>
    <p:extLst>
      <p:ext uri="{BB962C8B-B14F-4D97-AF65-F5344CB8AC3E}">
        <p14:creationId xmlns:p14="http://schemas.microsoft.com/office/powerpoint/2010/main" val="3402883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dirty="0"/>
              <a:t>2.9 Servidor de Integración Continua (CI/CD)</a:t>
            </a:r>
            <a:br>
              <a:rPr lang="es-ES" dirty="0"/>
            </a:br>
            <a:r>
              <a:rPr lang="es-ES" dirty="0"/>
              <a:t>GitHub Actions</a:t>
            </a:r>
          </a:p>
        </p:txBody>
      </p:sp>
      <p:sp>
        <p:nvSpPr>
          <p:cNvPr id="3" name="Marcador de contenido 2"/>
          <p:cNvSpPr>
            <a:spLocks noGrp="1"/>
          </p:cNvSpPr>
          <p:nvPr>
            <p:ph idx="1"/>
          </p:nvPr>
        </p:nvSpPr>
        <p:spPr>
          <a:xfrm>
            <a:off x="527537" y="1491517"/>
            <a:ext cx="11441723" cy="4626254"/>
          </a:xfrm>
        </p:spPr>
        <p:txBody>
          <a:bodyPr>
            <a:normAutofit fontScale="85000" lnSpcReduction="10000"/>
          </a:bodyPr>
          <a:lstStyle/>
          <a:p>
            <a:r>
              <a:rPr lang="es-ES" dirty="0"/>
              <a:t>GitHub incluye la funcionalidad “GitHub Actions”, que permite que actúe como servidor de integración continua, para que todos los miembros del proyecto puedan integrar fácilmente sus cambios en el código fuente que se guarda en el repositorio. </a:t>
            </a:r>
          </a:p>
          <a:p>
            <a:r>
              <a:rPr lang="es-ES" dirty="0"/>
              <a:t>Permite configurar el flujo de trabajo (</a:t>
            </a:r>
            <a:r>
              <a:rPr lang="es-ES" dirty="0" err="1"/>
              <a:t>workflow</a:t>
            </a:r>
            <a:r>
              <a:rPr lang="es-ES" dirty="0"/>
              <a:t>) del proyecto en el archivo </a:t>
            </a:r>
            <a:r>
              <a:rPr lang="es-ES" dirty="0" err="1">
                <a:latin typeface="Courier New" panose="02070309020205020404" pitchFamily="49" charset="0"/>
                <a:cs typeface="Courier New" panose="02070309020205020404" pitchFamily="49" charset="0"/>
              </a:rPr>
              <a:t>main.yaml</a:t>
            </a:r>
            <a:r>
              <a:rPr lang="es-ES" dirty="0"/>
              <a:t>, ubicado en la carpeta </a:t>
            </a:r>
            <a:r>
              <a:rPr lang="es-ES" dirty="0">
                <a:latin typeface="Courier New" panose="02070309020205020404" pitchFamily="49" charset="0"/>
                <a:cs typeface="Courier New" panose="02070309020205020404" pitchFamily="49" charset="0"/>
              </a:rPr>
              <a:t>.</a:t>
            </a:r>
            <a:r>
              <a:rPr lang="es-ES" dirty="0" err="1">
                <a:latin typeface="Courier New" panose="02070309020205020404" pitchFamily="49" charset="0"/>
                <a:cs typeface="Courier New" panose="02070309020205020404" pitchFamily="49" charset="0"/>
              </a:rPr>
              <a:t>github</a:t>
            </a:r>
            <a:r>
              <a:rPr lang="es-ES" dirty="0">
                <a:latin typeface="Courier New" panose="02070309020205020404" pitchFamily="49" charset="0"/>
                <a:cs typeface="Courier New" panose="02070309020205020404" pitchFamily="49" charset="0"/>
              </a:rPr>
              <a:t>\</a:t>
            </a:r>
            <a:r>
              <a:rPr lang="es-ES" dirty="0" err="1">
                <a:latin typeface="Courier New" panose="02070309020205020404" pitchFamily="49" charset="0"/>
                <a:cs typeface="Courier New" panose="02070309020205020404" pitchFamily="49" charset="0"/>
              </a:rPr>
              <a:t>workflows</a:t>
            </a:r>
            <a:r>
              <a:rPr lang="es-ES" dirty="0">
                <a:latin typeface="Courier New" panose="02070309020205020404" pitchFamily="49" charset="0"/>
                <a:cs typeface="Courier New" panose="02070309020205020404" pitchFamily="49" charset="0"/>
              </a:rPr>
              <a:t>\</a:t>
            </a:r>
            <a:r>
              <a:rPr lang="es-ES" dirty="0"/>
              <a:t> del propio repositorio</a:t>
            </a:r>
          </a:p>
          <a:p>
            <a:pPr lvl="1"/>
            <a:r>
              <a:rPr lang="es-ES" dirty="0"/>
              <a:t>Definiendo cada uno de los trabajos (</a:t>
            </a:r>
            <a:r>
              <a:rPr lang="es-ES" dirty="0" err="1"/>
              <a:t>jobs</a:t>
            </a:r>
            <a:r>
              <a:rPr lang="es-ES" dirty="0"/>
              <a:t>) a realizar</a:t>
            </a:r>
          </a:p>
          <a:p>
            <a:r>
              <a:rPr lang="es-ES" dirty="0"/>
              <a:t>Re-ejecuta automáticamente el </a:t>
            </a:r>
            <a:r>
              <a:rPr lang="es-ES" dirty="0" err="1"/>
              <a:t>workflow</a:t>
            </a:r>
            <a:r>
              <a:rPr lang="es-ES" dirty="0"/>
              <a:t> cada vez que se suben al repositorio cambios en el código fuente del repositorio, realizando integración continua</a:t>
            </a:r>
          </a:p>
          <a:p>
            <a:r>
              <a:rPr lang="es-ES" dirty="0"/>
              <a:t>Documentación: </a:t>
            </a:r>
            <a:r>
              <a:rPr lang="es-ES" dirty="0">
                <a:hlinkClick r:id="rId2"/>
              </a:rPr>
              <a:t>https://docs.github.com/es/actions</a:t>
            </a:r>
            <a:r>
              <a:rPr lang="es-ES" dirty="0"/>
              <a:t> </a:t>
            </a:r>
          </a:p>
          <a:p>
            <a:endParaRPr lang="es-ES" dirty="0"/>
          </a:p>
        </p:txBody>
      </p:sp>
      <p:sp>
        <p:nvSpPr>
          <p:cNvPr id="4" name="Marcador de número de diapositiva 3"/>
          <p:cNvSpPr>
            <a:spLocks noGrp="1"/>
          </p:cNvSpPr>
          <p:nvPr>
            <p:ph type="sldNum" sz="quarter" idx="12"/>
          </p:nvPr>
        </p:nvSpPr>
        <p:spPr/>
        <p:txBody>
          <a:bodyPr/>
          <a:lstStyle/>
          <a:p>
            <a:fld id="{C9400CC4-AA0F-4E2E-A7D9-25BF1D2A8A65}" type="slidenum">
              <a:rPr lang="es-ES" smtClean="0"/>
              <a:t>15</a:t>
            </a:fld>
            <a:endParaRPr lang="es-ES" dirty="0"/>
          </a:p>
        </p:txBody>
      </p:sp>
    </p:spTree>
    <p:extLst>
      <p:ext uri="{BB962C8B-B14F-4D97-AF65-F5344CB8AC3E}">
        <p14:creationId xmlns:p14="http://schemas.microsoft.com/office/powerpoint/2010/main" val="10187662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3. Definición de </a:t>
            </a:r>
            <a:r>
              <a:rPr lang="es-ES" dirty="0" err="1"/>
              <a:t>workflows</a:t>
            </a:r>
            <a:endParaRPr lang="es-ES" dirty="0"/>
          </a:p>
        </p:txBody>
      </p:sp>
      <p:sp>
        <p:nvSpPr>
          <p:cNvPr id="3" name="Marcador de contenido 2"/>
          <p:cNvSpPr>
            <a:spLocks noGrp="1"/>
          </p:cNvSpPr>
          <p:nvPr>
            <p:ph idx="1"/>
          </p:nvPr>
        </p:nvSpPr>
        <p:spPr>
          <a:xfrm>
            <a:off x="527538" y="1491517"/>
            <a:ext cx="11025553" cy="5135314"/>
          </a:xfrm>
        </p:spPr>
        <p:txBody>
          <a:bodyPr>
            <a:normAutofit/>
          </a:bodyPr>
          <a:lstStyle/>
          <a:p>
            <a:r>
              <a:rPr lang="es-ES" dirty="0"/>
              <a:t>3.1 Archivo .</a:t>
            </a:r>
            <a:r>
              <a:rPr lang="es-ES" dirty="0" err="1"/>
              <a:t>github</a:t>
            </a:r>
            <a:r>
              <a:rPr lang="es-ES" dirty="0"/>
              <a:t>\</a:t>
            </a:r>
            <a:r>
              <a:rPr lang="es-ES" dirty="0" err="1"/>
              <a:t>workflows</a:t>
            </a:r>
            <a:r>
              <a:rPr lang="es-ES" dirty="0"/>
              <a:t>\</a:t>
            </a:r>
            <a:r>
              <a:rPr lang="es-ES" dirty="0" err="1"/>
              <a:t>main.yaml</a:t>
            </a:r>
            <a:endParaRPr lang="es-ES" dirty="0"/>
          </a:p>
          <a:p>
            <a:r>
              <a:rPr lang="es-ES" dirty="0"/>
              <a:t>3.2 Lenguaje de definición de un </a:t>
            </a:r>
            <a:r>
              <a:rPr lang="es-ES" dirty="0" err="1"/>
              <a:t>workflow</a:t>
            </a:r>
            <a:endParaRPr lang="es-ES" dirty="0"/>
          </a:p>
          <a:p>
            <a:r>
              <a:rPr lang="es-ES" dirty="0"/>
              <a:t>3.3 Elementos básicos</a:t>
            </a:r>
          </a:p>
          <a:p>
            <a:r>
              <a:rPr lang="es-ES" dirty="0"/>
              <a:t>3.4 Ejecución del </a:t>
            </a:r>
            <a:r>
              <a:rPr lang="es-ES" dirty="0" err="1"/>
              <a:t>workflow</a:t>
            </a:r>
            <a:r>
              <a:rPr lang="es-ES" dirty="0"/>
              <a:t> de un repositorio</a:t>
            </a:r>
          </a:p>
          <a:p>
            <a:r>
              <a:rPr lang="es-ES" dirty="0"/>
              <a:t>3.5 Elementos “</a:t>
            </a:r>
            <a:r>
              <a:rPr lang="es-ES" dirty="0" err="1"/>
              <a:t>needs</a:t>
            </a:r>
            <a:r>
              <a:rPr lang="es-ES" dirty="0"/>
              <a:t>” y “</a:t>
            </a:r>
            <a:r>
              <a:rPr lang="es-ES" dirty="0" err="1"/>
              <a:t>if</a:t>
            </a:r>
            <a:r>
              <a:rPr lang="es-ES" dirty="0"/>
              <a:t>”</a:t>
            </a:r>
          </a:p>
          <a:p>
            <a:r>
              <a:rPr lang="es-ES" dirty="0"/>
              <a:t>3.6 Elemento “uses”</a:t>
            </a:r>
          </a:p>
          <a:p>
            <a:endParaRPr lang="es-ES" dirty="0"/>
          </a:p>
          <a:p>
            <a:endParaRPr lang="es-ES" dirty="0"/>
          </a:p>
          <a:p>
            <a:endParaRPr lang="es-ES" dirty="0"/>
          </a:p>
          <a:p>
            <a:endParaRPr lang="es-ES" dirty="0"/>
          </a:p>
          <a:p>
            <a:endParaRPr lang="es-ES" dirty="0"/>
          </a:p>
          <a:p>
            <a:endParaRPr lang="es-ES" dirty="0"/>
          </a:p>
        </p:txBody>
      </p:sp>
      <p:sp>
        <p:nvSpPr>
          <p:cNvPr id="4" name="Marcador de número de diapositiva 3"/>
          <p:cNvSpPr>
            <a:spLocks noGrp="1"/>
          </p:cNvSpPr>
          <p:nvPr>
            <p:ph type="sldNum" sz="quarter" idx="12"/>
          </p:nvPr>
        </p:nvSpPr>
        <p:spPr/>
        <p:txBody>
          <a:bodyPr/>
          <a:lstStyle/>
          <a:p>
            <a:fld id="{C9400CC4-AA0F-4E2E-A7D9-25BF1D2A8A65}" type="slidenum">
              <a:rPr lang="es-ES" smtClean="0"/>
              <a:t>16</a:t>
            </a:fld>
            <a:endParaRPr lang="es-ES" dirty="0"/>
          </a:p>
        </p:txBody>
      </p:sp>
    </p:spTree>
    <p:extLst>
      <p:ext uri="{BB962C8B-B14F-4D97-AF65-F5344CB8AC3E}">
        <p14:creationId xmlns:p14="http://schemas.microsoft.com/office/powerpoint/2010/main" val="3186281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13BCBB11-DF51-8BFC-BC3F-F6E73D5B7608}"/>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7749688" y="1629455"/>
            <a:ext cx="3312500" cy="4909457"/>
          </a:xfrm>
          <a:prstGeom prst="rect">
            <a:avLst/>
          </a:prstGeom>
        </p:spPr>
      </p:pic>
      <p:sp>
        <p:nvSpPr>
          <p:cNvPr id="2" name="Título 1"/>
          <p:cNvSpPr>
            <a:spLocks noGrp="1"/>
          </p:cNvSpPr>
          <p:nvPr>
            <p:ph type="title"/>
          </p:nvPr>
        </p:nvSpPr>
        <p:spPr/>
        <p:txBody>
          <a:bodyPr/>
          <a:lstStyle/>
          <a:p>
            <a:r>
              <a:rPr lang="es-ES" dirty="0"/>
              <a:t>3.1 Archivo .</a:t>
            </a:r>
            <a:r>
              <a:rPr lang="es-ES" dirty="0" err="1"/>
              <a:t>github</a:t>
            </a:r>
            <a:r>
              <a:rPr lang="es-ES" dirty="0"/>
              <a:t>\</a:t>
            </a:r>
            <a:r>
              <a:rPr lang="es-ES" dirty="0" err="1"/>
              <a:t>workflows</a:t>
            </a:r>
            <a:r>
              <a:rPr lang="es-ES" dirty="0"/>
              <a:t>\</a:t>
            </a:r>
            <a:r>
              <a:rPr lang="es-ES" dirty="0" err="1"/>
              <a:t>main.yaml</a:t>
            </a:r>
            <a:endParaRPr lang="es-ES" dirty="0"/>
          </a:p>
        </p:txBody>
      </p:sp>
      <p:sp>
        <p:nvSpPr>
          <p:cNvPr id="3" name="Marcador de contenido 2"/>
          <p:cNvSpPr>
            <a:spLocks noGrp="1"/>
          </p:cNvSpPr>
          <p:nvPr>
            <p:ph idx="1"/>
          </p:nvPr>
        </p:nvSpPr>
        <p:spPr>
          <a:xfrm>
            <a:off x="527538" y="1491517"/>
            <a:ext cx="5164345" cy="4698268"/>
          </a:xfrm>
        </p:spPr>
        <p:txBody>
          <a:bodyPr/>
          <a:lstStyle/>
          <a:p>
            <a:r>
              <a:rPr lang="es-ES" dirty="0"/>
              <a:t>El </a:t>
            </a:r>
            <a:r>
              <a:rPr lang="es-ES" dirty="0" err="1"/>
              <a:t>workflow</a:t>
            </a:r>
            <a:r>
              <a:rPr lang="es-ES" dirty="0"/>
              <a:t> de un repositorio se define en el archivo </a:t>
            </a:r>
            <a:r>
              <a:rPr lang="es-ES" dirty="0" err="1"/>
              <a:t>main.yaml</a:t>
            </a:r>
            <a:r>
              <a:rPr lang="es-ES" dirty="0"/>
              <a:t> ubicado en la carpeta .</a:t>
            </a:r>
            <a:r>
              <a:rPr lang="es-ES" dirty="0" err="1"/>
              <a:t>github</a:t>
            </a:r>
            <a:r>
              <a:rPr lang="es-ES" dirty="0"/>
              <a:t>\</a:t>
            </a:r>
            <a:r>
              <a:rPr lang="es-ES" dirty="0" err="1"/>
              <a:t>workflows</a:t>
            </a:r>
            <a:r>
              <a:rPr lang="es-ES" dirty="0"/>
              <a:t> del repositorio</a:t>
            </a:r>
          </a:p>
          <a:p>
            <a:r>
              <a:rPr lang="es-ES" dirty="0"/>
              <a:t>Ejemplo de proyecto: </a:t>
            </a:r>
            <a:r>
              <a:rPr lang="es-ES" dirty="0">
                <a:hlinkClick r:id="rId3"/>
              </a:rPr>
              <a:t>https://github.com/josehilera/baloncesto</a:t>
            </a:r>
            <a:r>
              <a:rPr lang="es-ES" dirty="0"/>
              <a:t> </a:t>
            </a:r>
          </a:p>
          <a:p>
            <a:endParaRPr lang="es-ES" dirty="0"/>
          </a:p>
        </p:txBody>
      </p:sp>
      <p:sp>
        <p:nvSpPr>
          <p:cNvPr id="4" name="Marcador de número de diapositiva 3"/>
          <p:cNvSpPr>
            <a:spLocks noGrp="1"/>
          </p:cNvSpPr>
          <p:nvPr>
            <p:ph type="sldNum" sz="quarter" idx="12"/>
          </p:nvPr>
        </p:nvSpPr>
        <p:spPr/>
        <p:txBody>
          <a:bodyPr/>
          <a:lstStyle/>
          <a:p>
            <a:fld id="{C9400CC4-AA0F-4E2E-A7D9-25BF1D2A8A65}" type="slidenum">
              <a:rPr lang="es-ES" smtClean="0"/>
              <a:t>17</a:t>
            </a:fld>
            <a:endParaRPr lang="es-ES" dirty="0"/>
          </a:p>
        </p:txBody>
      </p:sp>
      <p:sp>
        <p:nvSpPr>
          <p:cNvPr id="6" name="Elipse 5">
            <a:extLst>
              <a:ext uri="{C183D7F6-B498-43B3-948B-1728B52AA6E4}">
                <adec:decorative xmlns:adec="http://schemas.microsoft.com/office/drawing/2017/decorative" val="1"/>
              </a:ext>
            </a:extLst>
          </p:cNvPr>
          <p:cNvSpPr/>
          <p:nvPr/>
        </p:nvSpPr>
        <p:spPr>
          <a:xfrm>
            <a:off x="7879290" y="4689565"/>
            <a:ext cx="1346771" cy="365125"/>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22364478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dirty="0"/>
              <a:t>3.2 Lenguaje de definición de un </a:t>
            </a:r>
            <a:r>
              <a:rPr lang="es-ES" dirty="0" err="1"/>
              <a:t>workflow</a:t>
            </a:r>
            <a:endParaRPr lang="es-ES" dirty="0"/>
          </a:p>
        </p:txBody>
      </p:sp>
      <p:sp>
        <p:nvSpPr>
          <p:cNvPr id="3" name="Marcador de contenido 2"/>
          <p:cNvSpPr>
            <a:spLocks noGrp="1"/>
          </p:cNvSpPr>
          <p:nvPr>
            <p:ph idx="1"/>
          </p:nvPr>
        </p:nvSpPr>
        <p:spPr>
          <a:xfrm>
            <a:off x="527538" y="1491516"/>
            <a:ext cx="6690984" cy="5366483"/>
          </a:xfrm>
        </p:spPr>
        <p:txBody>
          <a:bodyPr>
            <a:normAutofit/>
          </a:bodyPr>
          <a:lstStyle/>
          <a:p>
            <a:r>
              <a:rPr lang="es-ES" dirty="0"/>
              <a:t>Referencia del lenguaje de definición de </a:t>
            </a:r>
            <a:r>
              <a:rPr lang="es-ES" dirty="0" err="1"/>
              <a:t>workflows</a:t>
            </a:r>
            <a:endParaRPr lang="es-ES" dirty="0"/>
          </a:p>
          <a:p>
            <a:pPr lvl="1"/>
            <a:r>
              <a:rPr lang="es-ES" dirty="0">
                <a:hlinkClick r:id="rId2"/>
              </a:rPr>
              <a:t>https://docs.github.com/es/actions/using-workflows/workflow-syntax-for-github-actions</a:t>
            </a:r>
            <a:endParaRPr lang="es-ES" dirty="0"/>
          </a:p>
          <a:p>
            <a:r>
              <a:rPr lang="es-ES" dirty="0"/>
              <a:t>Elementos habituales en un </a:t>
            </a:r>
            <a:r>
              <a:rPr lang="es-ES" dirty="0" err="1"/>
              <a:t>workflow</a:t>
            </a:r>
            <a:endParaRPr lang="es-ES" dirty="0"/>
          </a:p>
          <a:p>
            <a:pPr lvl="1"/>
            <a:r>
              <a:rPr lang="es-ES" dirty="0" err="1"/>
              <a:t>name</a:t>
            </a:r>
            <a:r>
              <a:rPr lang="es-ES" dirty="0"/>
              <a:t>, </a:t>
            </a:r>
            <a:r>
              <a:rPr lang="es-ES" dirty="0" err="1"/>
              <a:t>on</a:t>
            </a:r>
            <a:r>
              <a:rPr lang="es-ES" dirty="0"/>
              <a:t>, </a:t>
            </a:r>
            <a:r>
              <a:rPr lang="es-ES" dirty="0" err="1"/>
              <a:t>jobs</a:t>
            </a:r>
            <a:r>
              <a:rPr lang="es-ES" dirty="0"/>
              <a:t>, </a:t>
            </a:r>
            <a:r>
              <a:rPr lang="es-ES" dirty="0" err="1"/>
              <a:t>runs-on</a:t>
            </a:r>
            <a:r>
              <a:rPr lang="es-ES" dirty="0"/>
              <a:t>, </a:t>
            </a:r>
            <a:r>
              <a:rPr lang="es-ES" dirty="0" err="1"/>
              <a:t>steps</a:t>
            </a:r>
            <a:r>
              <a:rPr lang="es-ES" dirty="0"/>
              <a:t>, uses, run, </a:t>
            </a:r>
            <a:r>
              <a:rPr lang="es-ES" dirty="0" err="1"/>
              <a:t>needs</a:t>
            </a:r>
            <a:r>
              <a:rPr lang="es-ES" dirty="0"/>
              <a:t>, continue-</a:t>
            </a:r>
            <a:r>
              <a:rPr lang="es-ES" dirty="0" err="1"/>
              <a:t>on</a:t>
            </a:r>
            <a:r>
              <a:rPr lang="es-ES" dirty="0"/>
              <a:t>-error, </a:t>
            </a:r>
            <a:r>
              <a:rPr lang="es-ES" dirty="0" err="1"/>
              <a:t>if</a:t>
            </a:r>
            <a:r>
              <a:rPr lang="es-ES" dirty="0"/>
              <a:t>, </a:t>
            </a:r>
            <a:r>
              <a:rPr lang="es-ES" dirty="0" err="1"/>
              <a:t>with</a:t>
            </a:r>
            <a:r>
              <a:rPr lang="es-ES" dirty="0"/>
              <a:t>, …</a:t>
            </a:r>
          </a:p>
          <a:p>
            <a:endParaRPr lang="es-ES" dirty="0"/>
          </a:p>
          <a:p>
            <a:endParaRPr lang="es-ES" dirty="0"/>
          </a:p>
        </p:txBody>
      </p:sp>
      <p:sp>
        <p:nvSpPr>
          <p:cNvPr id="4" name="Marcador de número de diapositiva 3"/>
          <p:cNvSpPr>
            <a:spLocks noGrp="1"/>
          </p:cNvSpPr>
          <p:nvPr>
            <p:ph type="sldNum" sz="quarter" idx="12"/>
          </p:nvPr>
        </p:nvSpPr>
        <p:spPr/>
        <p:txBody>
          <a:bodyPr/>
          <a:lstStyle/>
          <a:p>
            <a:fld id="{C9400CC4-AA0F-4E2E-A7D9-25BF1D2A8A65}" type="slidenum">
              <a:rPr lang="es-ES" smtClean="0"/>
              <a:t>18</a:t>
            </a:fld>
            <a:endParaRPr lang="es-ES" dirty="0"/>
          </a:p>
        </p:txBody>
      </p:sp>
      <p:pic>
        <p:nvPicPr>
          <p:cNvPr id="6" name="Imagen 5">
            <a:extLst>
              <a:ext uri="{FF2B5EF4-FFF2-40B4-BE49-F238E27FC236}">
                <a16:creationId xmlns:a16="http://schemas.microsoft.com/office/drawing/2014/main" id="{4C396DD4-3998-AC8A-5C1F-D2EC086E43A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7218522" y="1492250"/>
            <a:ext cx="4319877" cy="5046662"/>
          </a:xfrm>
          <a:prstGeom prst="rect">
            <a:avLst/>
          </a:prstGeom>
        </p:spPr>
      </p:pic>
    </p:spTree>
    <p:extLst>
      <p:ext uri="{BB962C8B-B14F-4D97-AF65-F5344CB8AC3E}">
        <p14:creationId xmlns:p14="http://schemas.microsoft.com/office/powerpoint/2010/main" val="17139113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3.3 Elementos básicos</a:t>
            </a:r>
          </a:p>
        </p:txBody>
      </p:sp>
      <p:sp>
        <p:nvSpPr>
          <p:cNvPr id="3" name="Marcador de contenido 2"/>
          <p:cNvSpPr>
            <a:spLocks noGrp="1"/>
          </p:cNvSpPr>
          <p:nvPr>
            <p:ph idx="1"/>
          </p:nvPr>
        </p:nvSpPr>
        <p:spPr>
          <a:xfrm>
            <a:off x="527538" y="1491517"/>
            <a:ext cx="7201319" cy="5104492"/>
          </a:xfrm>
        </p:spPr>
        <p:txBody>
          <a:bodyPr>
            <a:normAutofit fontScale="77500" lnSpcReduction="20000"/>
          </a:bodyPr>
          <a:lstStyle/>
          <a:p>
            <a:r>
              <a:rPr lang="es-ES" dirty="0"/>
              <a:t>Se pueden incluir comentarios con “#”</a:t>
            </a:r>
          </a:p>
          <a:p>
            <a:r>
              <a:rPr lang="es-ES" dirty="0"/>
              <a:t>Primero, en “</a:t>
            </a:r>
            <a:r>
              <a:rPr lang="es-ES" dirty="0" err="1"/>
              <a:t>name</a:t>
            </a:r>
            <a:r>
              <a:rPr lang="es-ES" dirty="0"/>
              <a:t>” se indica el nombre del </a:t>
            </a:r>
            <a:r>
              <a:rPr lang="es-ES" dirty="0" err="1"/>
              <a:t>workflow</a:t>
            </a:r>
            <a:endParaRPr lang="es-ES" dirty="0"/>
          </a:p>
          <a:p>
            <a:r>
              <a:rPr lang="es-ES" dirty="0"/>
              <a:t>Después, en “</a:t>
            </a:r>
            <a:r>
              <a:rPr lang="es-ES" dirty="0" err="1"/>
              <a:t>on</a:t>
            </a:r>
            <a:r>
              <a:rPr lang="es-ES" dirty="0"/>
              <a:t>” se indica cuándo debe ejecutarse el </a:t>
            </a:r>
            <a:r>
              <a:rPr lang="es-ES" dirty="0" err="1"/>
              <a:t>workflow</a:t>
            </a:r>
            <a:r>
              <a:rPr lang="es-ES" dirty="0"/>
              <a:t>, por ejemplo, cuando se reciba un “</a:t>
            </a:r>
            <a:r>
              <a:rPr lang="es-ES" dirty="0" err="1"/>
              <a:t>push</a:t>
            </a:r>
            <a:r>
              <a:rPr lang="es-ES" dirty="0"/>
              <a:t>”</a:t>
            </a:r>
          </a:p>
          <a:p>
            <a:r>
              <a:rPr lang="es-ES" dirty="0"/>
              <a:t>A continuación se definen los trabajos en la sección “</a:t>
            </a:r>
            <a:r>
              <a:rPr lang="es-ES" dirty="0" err="1"/>
              <a:t>jobs</a:t>
            </a:r>
            <a:r>
              <a:rPr lang="es-ES" dirty="0"/>
              <a:t>”</a:t>
            </a:r>
          </a:p>
          <a:p>
            <a:pPr lvl="1"/>
            <a:r>
              <a:rPr lang="es-ES" dirty="0"/>
              <a:t>En cada trabajo se usa “</a:t>
            </a:r>
            <a:r>
              <a:rPr lang="es-ES" dirty="0" err="1"/>
              <a:t>runs-on</a:t>
            </a:r>
            <a:r>
              <a:rPr lang="es-ES" dirty="0"/>
              <a:t>” para indicar el runner que ejecutará el trabajo, que puede ser un runner de github.com o se pueden crear runners propios</a:t>
            </a:r>
          </a:p>
          <a:p>
            <a:pPr lvl="1"/>
            <a:r>
              <a:rPr lang="es-ES" dirty="0"/>
              <a:t>Se usa “</a:t>
            </a:r>
            <a:r>
              <a:rPr lang="es-ES" dirty="0" err="1"/>
              <a:t>steps</a:t>
            </a:r>
            <a:r>
              <a:rPr lang="es-ES" dirty="0"/>
              <a:t>” para indicar los pasos que forman el trabajo</a:t>
            </a:r>
          </a:p>
          <a:p>
            <a:pPr lvl="1"/>
            <a:r>
              <a:rPr lang="es-ES" dirty="0"/>
              <a:t>En cada paso se indica con ”run” la secuencia de comandos que debe ejecutar el runner encargado de ejecutar el trabajo</a:t>
            </a:r>
          </a:p>
          <a:p>
            <a:pPr lvl="2"/>
            <a:r>
              <a:rPr lang="es-ES" dirty="0"/>
              <a:t>En el ejemplo. Se indica que se compile el código del repositorio, con el comando “</a:t>
            </a:r>
            <a:r>
              <a:rPr lang="es-ES" dirty="0" err="1"/>
              <a:t>mvn</a:t>
            </a:r>
            <a:r>
              <a:rPr lang="es-ES" dirty="0"/>
              <a:t> </a:t>
            </a:r>
            <a:r>
              <a:rPr lang="es-ES" dirty="0" err="1"/>
              <a:t>package</a:t>
            </a:r>
            <a:r>
              <a:rPr lang="es-ES" dirty="0"/>
              <a:t>” de Maven, que deberá estar instalado en el runner</a:t>
            </a:r>
          </a:p>
          <a:p>
            <a:pPr lvl="1"/>
            <a:r>
              <a:rPr lang="es-ES" dirty="0"/>
              <a:t>Si se </a:t>
            </a:r>
            <a:r>
              <a:rPr lang="es-ES" dirty="0" err="1"/>
              <a:t>re-utilizan</a:t>
            </a:r>
            <a:r>
              <a:rPr lang="es-ES" dirty="0"/>
              <a:t> funciones (</a:t>
            </a:r>
            <a:r>
              <a:rPr lang="es-ES" dirty="0" err="1"/>
              <a:t>actions</a:t>
            </a:r>
            <a:r>
              <a:rPr lang="es-ES" dirty="0"/>
              <a:t>) creadas por terceros se incluye su nombre y versión en “uses” </a:t>
            </a:r>
          </a:p>
          <a:p>
            <a:pPr lvl="1"/>
            <a:endParaRPr lang="es-ES" dirty="0"/>
          </a:p>
          <a:p>
            <a:pPr marL="0" indent="0">
              <a:buNone/>
            </a:pPr>
            <a:endParaRPr lang="es-ES" dirty="0"/>
          </a:p>
        </p:txBody>
      </p:sp>
      <p:sp>
        <p:nvSpPr>
          <p:cNvPr id="4" name="Marcador de número de diapositiva 3"/>
          <p:cNvSpPr>
            <a:spLocks noGrp="1"/>
          </p:cNvSpPr>
          <p:nvPr>
            <p:ph type="sldNum" sz="quarter" idx="12"/>
          </p:nvPr>
        </p:nvSpPr>
        <p:spPr/>
        <p:txBody>
          <a:bodyPr/>
          <a:lstStyle/>
          <a:p>
            <a:fld id="{C9400CC4-AA0F-4E2E-A7D9-25BF1D2A8A65}" type="slidenum">
              <a:rPr lang="es-ES" smtClean="0"/>
              <a:t>19</a:t>
            </a:fld>
            <a:endParaRPr lang="es-ES" dirty="0"/>
          </a:p>
        </p:txBody>
      </p:sp>
      <p:sp>
        <p:nvSpPr>
          <p:cNvPr id="7" name="CuadroTexto 6">
            <a:extLst>
              <a:ext uri="{FF2B5EF4-FFF2-40B4-BE49-F238E27FC236}">
                <a16:creationId xmlns:a16="http://schemas.microsoft.com/office/drawing/2014/main" id="{F00A123F-DDC1-D72E-68C2-6CCD5A2EDAF8}"/>
              </a:ext>
            </a:extLst>
          </p:cNvPr>
          <p:cNvSpPr txBox="1"/>
          <p:nvPr/>
        </p:nvSpPr>
        <p:spPr>
          <a:xfrm>
            <a:off x="8033657" y="1920104"/>
            <a:ext cx="3621504" cy="3323987"/>
          </a:xfrm>
          <a:prstGeom prst="rect">
            <a:avLst/>
          </a:prstGeom>
          <a:noFill/>
          <a:ln>
            <a:solidFill>
              <a:schemeClr val="tx1"/>
            </a:solidFill>
          </a:ln>
        </p:spPr>
        <p:txBody>
          <a:bodyPr wrap="none" rtlCol="0">
            <a:spAutoFit/>
          </a:bodyPr>
          <a:lstStyle/>
          <a:p>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Comentario</a:t>
            </a:r>
            <a:endParaRPr lang="en-US" sz="1400" dirty="0">
              <a:latin typeface="Courier New" panose="02070309020205020404" pitchFamily="49" charset="0"/>
              <a:cs typeface="Courier New" panose="02070309020205020404" pitchFamily="49" charset="0"/>
            </a:endParaRPr>
          </a:p>
          <a:p>
            <a:r>
              <a:rPr lang="en-US" sz="1400" dirty="0">
                <a:latin typeface="Courier New" panose="02070309020205020404" pitchFamily="49" charset="0"/>
                <a:cs typeface="Courier New" panose="02070309020205020404" pitchFamily="49" charset="0"/>
              </a:rPr>
              <a:t>name: CI</a:t>
            </a:r>
          </a:p>
          <a:p>
            <a:r>
              <a:rPr lang="en-US" sz="1400" dirty="0">
                <a:latin typeface="Courier New" panose="02070309020205020404" pitchFamily="49" charset="0"/>
                <a:cs typeface="Courier New" panose="02070309020205020404" pitchFamily="49" charset="0"/>
              </a:rPr>
              <a:t>on: push</a:t>
            </a:r>
          </a:p>
          <a:p>
            <a:r>
              <a:rPr lang="en-US" sz="1400" dirty="0">
                <a:latin typeface="Courier New" panose="02070309020205020404" pitchFamily="49" charset="0"/>
                <a:cs typeface="Courier New" panose="02070309020205020404" pitchFamily="49" charset="0"/>
              </a:rPr>
              <a:t>jobs:</a:t>
            </a:r>
          </a:p>
          <a:p>
            <a:r>
              <a:rPr lang="en-US" sz="1400" dirty="0">
                <a:latin typeface="Courier New" panose="02070309020205020404" pitchFamily="49" charset="0"/>
                <a:cs typeface="Courier New" panose="02070309020205020404" pitchFamily="49" charset="0"/>
              </a:rPr>
              <a:t> build:</a:t>
            </a:r>
          </a:p>
          <a:p>
            <a:r>
              <a:rPr lang="en-US" sz="1400" dirty="0">
                <a:latin typeface="Courier New" panose="02070309020205020404" pitchFamily="49" charset="0"/>
                <a:cs typeface="Courier New" panose="02070309020205020404" pitchFamily="49" charset="0"/>
              </a:rPr>
              <a:t>  runs-on: ubuntu-latest</a:t>
            </a:r>
          </a:p>
          <a:p>
            <a:r>
              <a:rPr lang="en-US" sz="1400" dirty="0">
                <a:latin typeface="Courier New" panose="02070309020205020404" pitchFamily="49" charset="0"/>
                <a:cs typeface="Courier New" panose="02070309020205020404" pitchFamily="49" charset="0"/>
              </a:rPr>
              <a:t>  steps:</a:t>
            </a:r>
          </a:p>
          <a:p>
            <a:r>
              <a:rPr lang="en-US" sz="1400" dirty="0">
                <a:latin typeface="Courier New" panose="02070309020205020404" pitchFamily="49" charset="0"/>
                <a:cs typeface="Courier New" panose="02070309020205020404" pitchFamily="49" charset="0"/>
              </a:rPr>
              <a:t>   - name: </a:t>
            </a:r>
            <a:r>
              <a:rPr lang="en-US" sz="1400" dirty="0" err="1">
                <a:latin typeface="Courier New" panose="02070309020205020404" pitchFamily="49" charset="0"/>
                <a:cs typeface="Courier New" panose="02070309020205020404" pitchFamily="49" charset="0"/>
              </a:rPr>
              <a:t>descargar</a:t>
            </a: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repositorio</a:t>
            </a:r>
            <a:endParaRPr lang="en-US" sz="1400" dirty="0">
              <a:latin typeface="Courier New" panose="02070309020205020404" pitchFamily="49" charset="0"/>
              <a:cs typeface="Courier New" panose="02070309020205020404" pitchFamily="49" charset="0"/>
            </a:endParaRPr>
          </a:p>
          <a:p>
            <a:r>
              <a:rPr lang="en-US" sz="1400" dirty="0">
                <a:latin typeface="Courier New" panose="02070309020205020404" pitchFamily="49" charset="0"/>
                <a:cs typeface="Courier New" panose="02070309020205020404" pitchFamily="49" charset="0"/>
              </a:rPr>
              <a:t>     uses: actions/checkout@v3</a:t>
            </a:r>
          </a:p>
          <a:p>
            <a:r>
              <a:rPr lang="en-US" sz="1400" dirty="0">
                <a:latin typeface="Courier New" panose="02070309020205020404" pitchFamily="49" charset="0"/>
                <a:cs typeface="Courier New" panose="02070309020205020404" pitchFamily="49" charset="0"/>
              </a:rPr>
              <a:t>   - name: </a:t>
            </a:r>
            <a:r>
              <a:rPr lang="en-US" sz="1400" dirty="0" err="1">
                <a:latin typeface="Courier New" panose="02070309020205020404" pitchFamily="49" charset="0"/>
                <a:cs typeface="Courier New" panose="02070309020205020404" pitchFamily="49" charset="0"/>
              </a:rPr>
              <a:t>pruebas-unitarias</a:t>
            </a:r>
            <a:endParaRPr lang="en-US" sz="1400" dirty="0">
              <a:latin typeface="Courier New" panose="02070309020205020404" pitchFamily="49" charset="0"/>
              <a:cs typeface="Courier New" panose="02070309020205020404" pitchFamily="49" charset="0"/>
            </a:endParaRPr>
          </a:p>
          <a:p>
            <a:r>
              <a:rPr lang="en-US" sz="1400" dirty="0">
                <a:latin typeface="Courier New" panose="02070309020205020404" pitchFamily="49" charset="0"/>
                <a:cs typeface="Courier New" panose="02070309020205020404" pitchFamily="49" charset="0"/>
              </a:rPr>
              <a:t>     run: </a:t>
            </a:r>
            <a:r>
              <a:rPr lang="en-US" sz="1400" dirty="0" err="1">
                <a:latin typeface="Courier New" panose="02070309020205020404" pitchFamily="49" charset="0"/>
                <a:cs typeface="Courier New" panose="02070309020205020404" pitchFamily="49" charset="0"/>
              </a:rPr>
              <a:t>mvn</a:t>
            </a:r>
            <a:r>
              <a:rPr lang="en-US" sz="1400" dirty="0">
                <a:latin typeface="Courier New" panose="02070309020205020404" pitchFamily="49" charset="0"/>
                <a:cs typeface="Courier New" panose="02070309020205020404" pitchFamily="49" charset="0"/>
              </a:rPr>
              <a:t> test</a:t>
            </a:r>
          </a:p>
          <a:p>
            <a:r>
              <a:rPr lang="en-US" sz="1400" dirty="0">
                <a:latin typeface="Courier New" panose="02070309020205020404" pitchFamily="49" charset="0"/>
                <a:cs typeface="Courier New" panose="02070309020205020404" pitchFamily="49" charset="0"/>
              </a:rPr>
              <a:t>   - name: </a:t>
            </a:r>
            <a:r>
              <a:rPr lang="en-US" sz="1400" dirty="0" err="1">
                <a:latin typeface="Courier New" panose="02070309020205020404" pitchFamily="49" charset="0"/>
                <a:cs typeface="Courier New" panose="02070309020205020404" pitchFamily="49" charset="0"/>
              </a:rPr>
              <a:t>empaquetar</a:t>
            </a:r>
            <a:endParaRPr lang="en-US" sz="1400" dirty="0">
              <a:latin typeface="Courier New" panose="02070309020205020404" pitchFamily="49" charset="0"/>
              <a:cs typeface="Courier New" panose="02070309020205020404" pitchFamily="49" charset="0"/>
            </a:endParaRPr>
          </a:p>
          <a:p>
            <a:r>
              <a:rPr lang="en-US" sz="1400" dirty="0">
                <a:latin typeface="Courier New" panose="02070309020205020404" pitchFamily="49" charset="0"/>
                <a:cs typeface="Courier New" panose="02070309020205020404" pitchFamily="49" charset="0"/>
              </a:rPr>
              <a:t>     run: </a:t>
            </a:r>
            <a:r>
              <a:rPr lang="en-US" sz="1400" dirty="0" err="1">
                <a:latin typeface="Courier New" panose="02070309020205020404" pitchFamily="49" charset="0"/>
                <a:cs typeface="Courier New" panose="02070309020205020404" pitchFamily="49" charset="0"/>
              </a:rPr>
              <a:t>mvn</a:t>
            </a:r>
            <a:r>
              <a:rPr lang="en-US" sz="1400" dirty="0">
                <a:latin typeface="Courier New" panose="02070309020205020404" pitchFamily="49" charset="0"/>
                <a:cs typeface="Courier New" panose="02070309020205020404" pitchFamily="49" charset="0"/>
              </a:rPr>
              <a:t> package</a:t>
            </a:r>
            <a:endParaRPr lang="en-US" sz="1400" kern="1200" dirty="0">
              <a:solidFill>
                <a:schemeClr val="tx1"/>
              </a:solidFill>
              <a:latin typeface="Courier New" panose="02070309020205020404" pitchFamily="49" charset="0"/>
              <a:ea typeface="+mn-ea"/>
              <a:cs typeface="Courier New" panose="02070309020205020404" pitchFamily="49" charset="0"/>
            </a:endParaRPr>
          </a:p>
          <a:p>
            <a:r>
              <a:rPr lang="en-US" sz="1400" kern="1200" dirty="0">
                <a:solidFill>
                  <a:schemeClr val="tx1"/>
                </a:solidFill>
                <a:latin typeface="Courier New" panose="02070309020205020404" pitchFamily="49" charset="0"/>
                <a:ea typeface="+mn-ea"/>
                <a:cs typeface="Courier New" panose="02070309020205020404" pitchFamily="49" charset="0"/>
              </a:rPr>
              <a:t>... </a:t>
            </a:r>
            <a:endParaRPr lang="es-ES" sz="1400" kern="1200" dirty="0">
              <a:solidFill>
                <a:schemeClr val="tx1"/>
              </a:solidFill>
              <a:latin typeface="Courier New" panose="02070309020205020404" pitchFamily="49" charset="0"/>
              <a:ea typeface="+mn-ea"/>
              <a:cs typeface="Courier New" panose="02070309020205020404" pitchFamily="49" charset="0"/>
            </a:endParaRPr>
          </a:p>
          <a:p>
            <a:endParaRPr lang="es-ES" sz="1400" dirty="0"/>
          </a:p>
        </p:txBody>
      </p:sp>
    </p:spTree>
    <p:extLst>
      <p:ext uri="{BB962C8B-B14F-4D97-AF65-F5344CB8AC3E}">
        <p14:creationId xmlns:p14="http://schemas.microsoft.com/office/powerpoint/2010/main" val="36391352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3.4 Ejecución del </a:t>
            </a:r>
            <a:r>
              <a:rPr lang="es-ES" dirty="0" err="1"/>
              <a:t>workflow</a:t>
            </a:r>
            <a:r>
              <a:rPr lang="es-ES" dirty="0"/>
              <a:t> de un repositorio</a:t>
            </a:r>
          </a:p>
        </p:txBody>
      </p:sp>
      <p:sp>
        <p:nvSpPr>
          <p:cNvPr id="3" name="Marcador de contenido 2"/>
          <p:cNvSpPr>
            <a:spLocks noGrp="1"/>
          </p:cNvSpPr>
          <p:nvPr>
            <p:ph idx="1"/>
          </p:nvPr>
        </p:nvSpPr>
        <p:spPr>
          <a:xfrm>
            <a:off x="527538" y="1491517"/>
            <a:ext cx="11025553" cy="1241409"/>
          </a:xfrm>
        </p:spPr>
        <p:txBody>
          <a:bodyPr>
            <a:normAutofit fontScale="85000" lnSpcReduction="20000"/>
          </a:bodyPr>
          <a:lstStyle/>
          <a:p>
            <a:r>
              <a:rPr lang="es-ES" dirty="0"/>
              <a:t>Una vez configurado el </a:t>
            </a:r>
            <a:r>
              <a:rPr lang="es-ES" dirty="0" err="1"/>
              <a:t>workflow</a:t>
            </a:r>
            <a:r>
              <a:rPr lang="es-ES" dirty="0"/>
              <a:t> en </a:t>
            </a:r>
            <a:r>
              <a:rPr lang="es-ES" dirty="0" err="1"/>
              <a:t>main.yaml</a:t>
            </a:r>
            <a:r>
              <a:rPr lang="es-ES" dirty="0"/>
              <a:t>, cada vez que un desarrollador ejecute “git </a:t>
            </a:r>
            <a:r>
              <a:rPr lang="es-ES" dirty="0" err="1"/>
              <a:t>push</a:t>
            </a:r>
            <a:r>
              <a:rPr lang="es-ES" dirty="0"/>
              <a:t> </a:t>
            </a:r>
            <a:r>
              <a:rPr lang="es-ES" dirty="0" err="1"/>
              <a:t>origin</a:t>
            </a:r>
            <a:r>
              <a:rPr lang="es-ES" dirty="0"/>
              <a:t>” desde su ordenador local hacia el repositorio remoto, GitHub Actions desencadena la ejecución en secuencia de los trabajos definidos.</a:t>
            </a:r>
          </a:p>
          <a:p>
            <a:endParaRPr lang="es-ES" dirty="0"/>
          </a:p>
          <a:p>
            <a:endParaRPr lang="es-ES" dirty="0"/>
          </a:p>
        </p:txBody>
      </p:sp>
      <p:pic>
        <p:nvPicPr>
          <p:cNvPr id="6" name="Imagen 5">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2838609" y="3013204"/>
            <a:ext cx="6387452" cy="3708271"/>
          </a:xfrm>
          <a:prstGeom prst="rect">
            <a:avLst/>
          </a:prstGeom>
        </p:spPr>
      </p:pic>
      <p:sp>
        <p:nvSpPr>
          <p:cNvPr id="7" name="CuadroTexto 6">
            <a:extLst>
              <a:ext uri="{C183D7F6-B498-43B3-948B-1728B52AA6E4}">
                <adec:decorative xmlns:adec="http://schemas.microsoft.com/office/drawing/2017/decorative" val="1"/>
              </a:ext>
            </a:extLst>
          </p:cNvPr>
          <p:cNvSpPr txBox="1"/>
          <p:nvPr/>
        </p:nvSpPr>
        <p:spPr>
          <a:xfrm>
            <a:off x="8880301" y="5752906"/>
            <a:ext cx="2651431" cy="646331"/>
          </a:xfrm>
          <a:prstGeom prst="rect">
            <a:avLst/>
          </a:prstGeom>
          <a:noFill/>
        </p:spPr>
        <p:txBody>
          <a:bodyPr wrap="none" rtlCol="0">
            <a:spAutoFit/>
          </a:bodyPr>
          <a:lstStyle/>
          <a:p>
            <a:r>
              <a:rPr lang="es-ES" b="1" dirty="0">
                <a:solidFill>
                  <a:srgbClr val="C00000"/>
                </a:solidFill>
                <a:cs typeface="Courier New" panose="02070309020205020404" pitchFamily="49" charset="0"/>
              </a:rPr>
              <a:t>1º) Desarrollador ejecuta:</a:t>
            </a:r>
          </a:p>
          <a:p>
            <a:r>
              <a:rPr lang="es-ES" b="1" dirty="0">
                <a:solidFill>
                  <a:srgbClr val="C00000"/>
                </a:solidFill>
                <a:latin typeface="Courier New" panose="02070309020205020404" pitchFamily="49" charset="0"/>
                <a:cs typeface="Courier New" panose="02070309020205020404" pitchFamily="49" charset="0"/>
              </a:rPr>
              <a:t>&gt; git </a:t>
            </a:r>
            <a:r>
              <a:rPr lang="es-ES" b="1" dirty="0" err="1">
                <a:solidFill>
                  <a:srgbClr val="C00000"/>
                </a:solidFill>
                <a:latin typeface="Courier New" panose="02070309020205020404" pitchFamily="49" charset="0"/>
                <a:cs typeface="Courier New" panose="02070309020205020404" pitchFamily="49" charset="0"/>
              </a:rPr>
              <a:t>push</a:t>
            </a:r>
            <a:r>
              <a:rPr lang="es-ES" b="1" dirty="0">
                <a:solidFill>
                  <a:srgbClr val="C00000"/>
                </a:solidFill>
                <a:latin typeface="Courier New" panose="02070309020205020404" pitchFamily="49" charset="0"/>
                <a:cs typeface="Courier New" panose="02070309020205020404" pitchFamily="49" charset="0"/>
              </a:rPr>
              <a:t> </a:t>
            </a:r>
            <a:r>
              <a:rPr lang="es-ES" b="1" dirty="0" err="1">
                <a:solidFill>
                  <a:srgbClr val="C00000"/>
                </a:solidFill>
                <a:latin typeface="Courier New" panose="02070309020205020404" pitchFamily="49" charset="0"/>
                <a:cs typeface="Courier New" panose="02070309020205020404" pitchFamily="49" charset="0"/>
              </a:rPr>
              <a:t>origin</a:t>
            </a:r>
            <a:endParaRPr lang="es-ES" b="1" dirty="0">
              <a:solidFill>
                <a:srgbClr val="C00000"/>
              </a:solidFill>
              <a:latin typeface="Courier New" panose="02070309020205020404" pitchFamily="49" charset="0"/>
              <a:cs typeface="Courier New" panose="02070309020205020404" pitchFamily="49" charset="0"/>
            </a:endParaRPr>
          </a:p>
        </p:txBody>
      </p:sp>
      <p:sp>
        <p:nvSpPr>
          <p:cNvPr id="8" name="CuadroTexto 7">
            <a:extLst>
              <a:ext uri="{C183D7F6-B498-43B3-948B-1728B52AA6E4}">
                <adec:decorative xmlns:adec="http://schemas.microsoft.com/office/drawing/2017/decorative" val="1"/>
              </a:ext>
            </a:extLst>
          </p:cNvPr>
          <p:cNvSpPr txBox="1"/>
          <p:nvPr/>
        </p:nvSpPr>
        <p:spPr>
          <a:xfrm>
            <a:off x="4763682" y="2732926"/>
            <a:ext cx="6409447" cy="369332"/>
          </a:xfrm>
          <a:prstGeom prst="rect">
            <a:avLst/>
          </a:prstGeom>
          <a:noFill/>
        </p:spPr>
        <p:txBody>
          <a:bodyPr wrap="none" rtlCol="0">
            <a:spAutoFit/>
          </a:bodyPr>
          <a:lstStyle/>
          <a:p>
            <a:r>
              <a:rPr lang="es-ES" b="1" dirty="0">
                <a:solidFill>
                  <a:srgbClr val="C00000"/>
                </a:solidFill>
                <a:cs typeface="Courier New" panose="02070309020205020404" pitchFamily="49" charset="0"/>
              </a:rPr>
              <a:t>2º) Se ejecuta el </a:t>
            </a:r>
            <a:r>
              <a:rPr lang="es-ES" b="1" dirty="0" err="1">
                <a:solidFill>
                  <a:srgbClr val="C00000"/>
                </a:solidFill>
                <a:cs typeface="Courier New" panose="02070309020205020404" pitchFamily="49" charset="0"/>
              </a:rPr>
              <a:t>workflow</a:t>
            </a:r>
            <a:r>
              <a:rPr lang="es-ES" b="1" dirty="0">
                <a:solidFill>
                  <a:srgbClr val="C00000"/>
                </a:solidFill>
                <a:cs typeface="Courier New" panose="02070309020205020404" pitchFamily="49" charset="0"/>
              </a:rPr>
              <a:t> (los trabajos indicados en </a:t>
            </a:r>
            <a:r>
              <a:rPr lang="es-ES" b="1" dirty="0" err="1">
                <a:solidFill>
                  <a:srgbClr val="C00000"/>
                </a:solidFill>
                <a:cs typeface="Courier New" panose="02070309020205020404" pitchFamily="49" charset="0"/>
              </a:rPr>
              <a:t>main.yaml</a:t>
            </a:r>
            <a:r>
              <a:rPr lang="es-ES" b="1" dirty="0">
                <a:solidFill>
                  <a:srgbClr val="C00000"/>
                </a:solidFill>
                <a:cs typeface="Courier New" panose="02070309020205020404" pitchFamily="49" charset="0"/>
              </a:rPr>
              <a:t>)</a:t>
            </a:r>
          </a:p>
        </p:txBody>
      </p:sp>
      <p:sp>
        <p:nvSpPr>
          <p:cNvPr id="9" name="CuadroTexto 8">
            <a:extLst>
              <a:ext uri="{C183D7F6-B498-43B3-948B-1728B52AA6E4}">
                <adec:decorative xmlns:adec="http://schemas.microsoft.com/office/drawing/2017/decorative" val="1"/>
              </a:ext>
            </a:extLst>
          </p:cNvPr>
          <p:cNvSpPr txBox="1"/>
          <p:nvPr/>
        </p:nvSpPr>
        <p:spPr>
          <a:xfrm>
            <a:off x="527538" y="4846791"/>
            <a:ext cx="3151225" cy="923330"/>
          </a:xfrm>
          <a:prstGeom prst="rect">
            <a:avLst/>
          </a:prstGeom>
          <a:noFill/>
        </p:spPr>
        <p:txBody>
          <a:bodyPr wrap="square" rtlCol="0">
            <a:spAutoFit/>
          </a:bodyPr>
          <a:lstStyle/>
          <a:p>
            <a:pPr algn="r"/>
            <a:r>
              <a:rPr lang="es-ES" b="1" dirty="0">
                <a:solidFill>
                  <a:srgbClr val="C00000"/>
                </a:solidFill>
                <a:cs typeface="Courier New" panose="02070309020205020404" pitchFamily="49" charset="0"/>
              </a:rPr>
              <a:t>3º) Se muestra en la página de </a:t>
            </a:r>
            <a:r>
              <a:rPr lang="es-ES" b="1" dirty="0" err="1">
                <a:solidFill>
                  <a:srgbClr val="C00000"/>
                </a:solidFill>
                <a:cs typeface="Courier New" panose="02070309020205020404" pitchFamily="49" charset="0"/>
              </a:rPr>
              <a:t>de</a:t>
            </a:r>
            <a:r>
              <a:rPr lang="es-ES" b="1" dirty="0">
                <a:solidFill>
                  <a:srgbClr val="C00000"/>
                </a:solidFill>
                <a:cs typeface="Courier New" panose="02070309020205020404" pitchFamily="49" charset="0"/>
              </a:rPr>
              <a:t> GitHub Actions el resultado</a:t>
            </a:r>
            <a:br>
              <a:rPr lang="es-ES" b="1" dirty="0">
                <a:solidFill>
                  <a:srgbClr val="C00000"/>
                </a:solidFill>
                <a:cs typeface="Courier New" panose="02070309020205020404" pitchFamily="49" charset="0"/>
              </a:rPr>
            </a:br>
            <a:r>
              <a:rPr lang="es-ES" b="1" dirty="0">
                <a:solidFill>
                  <a:srgbClr val="C00000"/>
                </a:solidFill>
                <a:cs typeface="Courier New" panose="02070309020205020404" pitchFamily="49" charset="0"/>
              </a:rPr>
              <a:t>de cada trabajo</a:t>
            </a:r>
          </a:p>
        </p:txBody>
      </p:sp>
      <p:sp>
        <p:nvSpPr>
          <p:cNvPr id="4" name="Marcador de número de diapositiva 3"/>
          <p:cNvSpPr>
            <a:spLocks noGrp="1"/>
          </p:cNvSpPr>
          <p:nvPr>
            <p:ph type="sldNum" sz="quarter" idx="12"/>
          </p:nvPr>
        </p:nvSpPr>
        <p:spPr/>
        <p:txBody>
          <a:bodyPr/>
          <a:lstStyle/>
          <a:p>
            <a:fld id="{C9400CC4-AA0F-4E2E-A7D9-25BF1D2A8A65}" type="slidenum">
              <a:rPr lang="es-ES" smtClean="0"/>
              <a:t>20</a:t>
            </a:fld>
            <a:endParaRPr lang="es-ES" dirty="0"/>
          </a:p>
        </p:txBody>
      </p:sp>
    </p:spTree>
    <p:extLst>
      <p:ext uri="{BB962C8B-B14F-4D97-AF65-F5344CB8AC3E}">
        <p14:creationId xmlns:p14="http://schemas.microsoft.com/office/powerpoint/2010/main" val="15838740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Imagen 10">
            <a:extLst>
              <a:ext uri="{FF2B5EF4-FFF2-40B4-BE49-F238E27FC236}">
                <a16:creationId xmlns:a16="http://schemas.microsoft.com/office/drawing/2014/main" id="{BA7ABF6E-66CA-D2C8-D5B1-24BF3C8E0DB3}"/>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2867139" y="4854910"/>
            <a:ext cx="5289309" cy="946168"/>
          </a:xfrm>
          <a:prstGeom prst="rect">
            <a:avLst/>
          </a:prstGeom>
        </p:spPr>
      </p:pic>
      <p:sp>
        <p:nvSpPr>
          <p:cNvPr id="2" name="Título 1"/>
          <p:cNvSpPr>
            <a:spLocks noGrp="1"/>
          </p:cNvSpPr>
          <p:nvPr>
            <p:ph type="title"/>
          </p:nvPr>
        </p:nvSpPr>
        <p:spPr/>
        <p:txBody>
          <a:bodyPr>
            <a:normAutofit/>
          </a:bodyPr>
          <a:lstStyle/>
          <a:p>
            <a:r>
              <a:rPr lang="es-ES" dirty="0"/>
              <a:t>3.4 Ejecución del </a:t>
            </a:r>
            <a:r>
              <a:rPr lang="es-ES" dirty="0" err="1"/>
              <a:t>workflow</a:t>
            </a:r>
            <a:r>
              <a:rPr lang="es-ES" dirty="0"/>
              <a:t> de un repositorio</a:t>
            </a:r>
            <a:br>
              <a:rPr lang="es-ES" dirty="0"/>
            </a:br>
            <a:r>
              <a:rPr lang="es-ES" dirty="0"/>
              <a:t>Resultado global de la ejecución</a:t>
            </a:r>
          </a:p>
        </p:txBody>
      </p:sp>
      <p:sp>
        <p:nvSpPr>
          <p:cNvPr id="3" name="Marcador de contenido 2"/>
          <p:cNvSpPr>
            <a:spLocks noGrp="1"/>
          </p:cNvSpPr>
          <p:nvPr>
            <p:ph idx="1"/>
          </p:nvPr>
        </p:nvSpPr>
        <p:spPr/>
        <p:txBody>
          <a:bodyPr>
            <a:normAutofit/>
          </a:bodyPr>
          <a:lstStyle/>
          <a:p>
            <a:r>
              <a:rPr lang="es-ES" dirty="0"/>
              <a:t>En la sección Actions, se puede ver la última ejecución del </a:t>
            </a:r>
            <a:r>
              <a:rPr lang="es-ES" dirty="0" err="1"/>
              <a:t>workflow</a:t>
            </a:r>
            <a:r>
              <a:rPr lang="es-ES" dirty="0"/>
              <a:t> (y otras anteriores)  y se indica si terminó con éxito, si todos los trabajos finalizaron sin fallar ninguno</a:t>
            </a:r>
          </a:p>
          <a:p>
            <a:pPr lvl="1"/>
            <a:endParaRPr lang="es-ES" dirty="0"/>
          </a:p>
          <a:p>
            <a:endParaRPr lang="es-ES" dirty="0"/>
          </a:p>
        </p:txBody>
      </p:sp>
      <p:sp>
        <p:nvSpPr>
          <p:cNvPr id="4" name="Marcador de número de diapositiva 3"/>
          <p:cNvSpPr>
            <a:spLocks noGrp="1"/>
          </p:cNvSpPr>
          <p:nvPr>
            <p:ph type="sldNum" sz="quarter" idx="12"/>
          </p:nvPr>
        </p:nvSpPr>
        <p:spPr/>
        <p:txBody>
          <a:bodyPr/>
          <a:lstStyle/>
          <a:p>
            <a:fld id="{C9400CC4-AA0F-4E2E-A7D9-25BF1D2A8A65}" type="slidenum">
              <a:rPr lang="es-ES" smtClean="0"/>
              <a:t>21</a:t>
            </a:fld>
            <a:endParaRPr lang="es-ES" dirty="0"/>
          </a:p>
        </p:txBody>
      </p:sp>
      <p:pic>
        <p:nvPicPr>
          <p:cNvPr id="7" name="Imagen 6">
            <a:extLst>
              <a:ext uri="{FF2B5EF4-FFF2-40B4-BE49-F238E27FC236}">
                <a16:creationId xmlns:a16="http://schemas.microsoft.com/office/drawing/2014/main" id="{D8E8473B-BE49-6B6C-D567-0C7A7FA999CB}"/>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2712584" y="3233056"/>
            <a:ext cx="6072188" cy="1652588"/>
          </a:xfrm>
          <a:prstGeom prst="rect">
            <a:avLst/>
          </a:prstGeom>
        </p:spPr>
      </p:pic>
    </p:spTree>
    <p:extLst>
      <p:ext uri="{BB962C8B-B14F-4D97-AF65-F5344CB8AC3E}">
        <p14:creationId xmlns:p14="http://schemas.microsoft.com/office/powerpoint/2010/main" val="32389383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dirty="0"/>
              <a:t>3.4 Ejecución del </a:t>
            </a:r>
            <a:r>
              <a:rPr lang="es-ES" dirty="0" err="1"/>
              <a:t>workflow</a:t>
            </a:r>
            <a:r>
              <a:rPr lang="es-ES" dirty="0"/>
              <a:t> de un repositorio</a:t>
            </a:r>
            <a:br>
              <a:rPr lang="es-ES" dirty="0"/>
            </a:br>
            <a:r>
              <a:rPr lang="es-ES" dirty="0"/>
              <a:t>Resultado de cada trabajo</a:t>
            </a:r>
          </a:p>
        </p:txBody>
      </p:sp>
      <p:sp>
        <p:nvSpPr>
          <p:cNvPr id="3" name="Marcador de contenido 2"/>
          <p:cNvSpPr>
            <a:spLocks noGrp="1"/>
          </p:cNvSpPr>
          <p:nvPr>
            <p:ph idx="1"/>
          </p:nvPr>
        </p:nvSpPr>
        <p:spPr/>
        <p:txBody>
          <a:bodyPr>
            <a:normAutofit/>
          </a:bodyPr>
          <a:lstStyle/>
          <a:p>
            <a:r>
              <a:rPr lang="es-ES" dirty="0"/>
              <a:t>Si se selecciona una ejecución del </a:t>
            </a:r>
            <a:r>
              <a:rPr lang="es-ES" dirty="0" err="1"/>
              <a:t>workflow</a:t>
            </a:r>
            <a:r>
              <a:rPr lang="es-ES" dirty="0"/>
              <a:t>, se puede ver el resultado de los trabajos</a:t>
            </a:r>
          </a:p>
          <a:p>
            <a:r>
              <a:rPr lang="es-ES" dirty="0"/>
              <a:t>Cuando termina un trabajo se marca en:</a:t>
            </a:r>
          </a:p>
          <a:p>
            <a:pPr lvl="1"/>
            <a:r>
              <a:rPr lang="es-ES" dirty="0"/>
              <a:t>Verde si ha finalizado con éxito</a:t>
            </a:r>
          </a:p>
          <a:p>
            <a:pPr lvl="1"/>
            <a:r>
              <a:rPr lang="es-ES" dirty="0"/>
              <a:t>Rojo si se ha abortado por un error    </a:t>
            </a:r>
          </a:p>
          <a:p>
            <a:pPr lvl="1"/>
            <a:endParaRPr lang="es-ES" dirty="0"/>
          </a:p>
          <a:p>
            <a:endParaRPr lang="es-ES" dirty="0"/>
          </a:p>
        </p:txBody>
      </p:sp>
      <p:sp>
        <p:nvSpPr>
          <p:cNvPr id="4" name="Marcador de número de diapositiva 3"/>
          <p:cNvSpPr>
            <a:spLocks noGrp="1"/>
          </p:cNvSpPr>
          <p:nvPr>
            <p:ph type="sldNum" sz="quarter" idx="12"/>
          </p:nvPr>
        </p:nvSpPr>
        <p:spPr/>
        <p:txBody>
          <a:bodyPr/>
          <a:lstStyle/>
          <a:p>
            <a:fld id="{C9400CC4-AA0F-4E2E-A7D9-25BF1D2A8A65}" type="slidenum">
              <a:rPr lang="es-ES" smtClean="0"/>
              <a:t>22</a:t>
            </a:fld>
            <a:endParaRPr lang="es-ES" dirty="0"/>
          </a:p>
        </p:txBody>
      </p:sp>
      <p:pic>
        <p:nvPicPr>
          <p:cNvPr id="10" name="Imagen 9">
            <a:extLst>
              <a:ext uri="{FF2B5EF4-FFF2-40B4-BE49-F238E27FC236}">
                <a16:creationId xmlns:a16="http://schemas.microsoft.com/office/drawing/2014/main" id="{B9042EAA-C1E3-3DF4-A55F-31174C4F898A}"/>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88851" y="4431060"/>
            <a:ext cx="11102926" cy="1842007"/>
          </a:xfrm>
          <a:prstGeom prst="rect">
            <a:avLst/>
          </a:prstGeom>
        </p:spPr>
      </p:pic>
    </p:spTree>
    <p:extLst>
      <p:ext uri="{BB962C8B-B14F-4D97-AF65-F5344CB8AC3E}">
        <p14:creationId xmlns:p14="http://schemas.microsoft.com/office/powerpoint/2010/main" val="15750416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3.4 Ejecución del </a:t>
            </a:r>
            <a:r>
              <a:rPr lang="es-ES" dirty="0" err="1"/>
              <a:t>workflow</a:t>
            </a:r>
            <a:r>
              <a:rPr lang="es-ES" dirty="0"/>
              <a:t> de un repositorio</a:t>
            </a:r>
            <a:br>
              <a:rPr lang="es-ES" dirty="0"/>
            </a:br>
            <a:r>
              <a:rPr lang="es-ES" dirty="0"/>
              <a:t>Detalle de la ejecución de un trabajo</a:t>
            </a:r>
          </a:p>
        </p:txBody>
      </p:sp>
      <p:sp>
        <p:nvSpPr>
          <p:cNvPr id="3" name="Marcador de contenido 2"/>
          <p:cNvSpPr>
            <a:spLocks noGrp="1"/>
          </p:cNvSpPr>
          <p:nvPr>
            <p:ph idx="1"/>
          </p:nvPr>
        </p:nvSpPr>
        <p:spPr>
          <a:xfrm>
            <a:off x="527539" y="1491517"/>
            <a:ext cx="8006862" cy="2557969"/>
          </a:xfrm>
        </p:spPr>
        <p:txBody>
          <a:bodyPr>
            <a:normAutofit/>
          </a:bodyPr>
          <a:lstStyle/>
          <a:p>
            <a:r>
              <a:rPr lang="es-ES" dirty="0"/>
              <a:t>Si se abre el trabajo, aparecen las secciones:</a:t>
            </a:r>
          </a:p>
          <a:p>
            <a:pPr lvl="1"/>
            <a:r>
              <a:rPr lang="es-ES" dirty="0"/>
              <a:t>Set up </a:t>
            </a:r>
            <a:r>
              <a:rPr lang="es-ES" dirty="0" err="1"/>
              <a:t>job</a:t>
            </a:r>
            <a:endParaRPr lang="es-ES" dirty="0"/>
          </a:p>
          <a:p>
            <a:pPr lvl="1"/>
            <a:r>
              <a:rPr lang="es-ES" dirty="0"/>
              <a:t>Una sección por cada paso (step)</a:t>
            </a:r>
          </a:p>
          <a:p>
            <a:pPr lvl="1"/>
            <a:r>
              <a:rPr lang="es-ES" dirty="0"/>
              <a:t>Complete </a:t>
            </a:r>
            <a:r>
              <a:rPr lang="es-ES" dirty="0" err="1"/>
              <a:t>job</a:t>
            </a:r>
            <a:endParaRPr lang="es-ES" dirty="0"/>
          </a:p>
          <a:p>
            <a:endParaRPr lang="es-ES" dirty="0"/>
          </a:p>
        </p:txBody>
      </p:sp>
      <p:sp>
        <p:nvSpPr>
          <p:cNvPr id="4" name="Marcador de número de diapositiva 3"/>
          <p:cNvSpPr>
            <a:spLocks noGrp="1"/>
          </p:cNvSpPr>
          <p:nvPr>
            <p:ph type="sldNum" sz="quarter" idx="12"/>
          </p:nvPr>
        </p:nvSpPr>
        <p:spPr/>
        <p:txBody>
          <a:bodyPr/>
          <a:lstStyle/>
          <a:p>
            <a:fld id="{C9400CC4-AA0F-4E2E-A7D9-25BF1D2A8A65}" type="slidenum">
              <a:rPr lang="es-ES" smtClean="0"/>
              <a:t>23</a:t>
            </a:fld>
            <a:endParaRPr lang="es-ES" dirty="0"/>
          </a:p>
        </p:txBody>
      </p:sp>
      <p:pic>
        <p:nvPicPr>
          <p:cNvPr id="8" name="Imagen 7">
            <a:extLst>
              <a:ext uri="{FF2B5EF4-FFF2-40B4-BE49-F238E27FC236}">
                <a16:creationId xmlns:a16="http://schemas.microsoft.com/office/drawing/2014/main" id="{0FBAE36B-6F7B-8F83-FFCE-3EF1CD1F2585}"/>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1154406" y="3624358"/>
            <a:ext cx="3293759" cy="3097117"/>
          </a:xfrm>
          <a:prstGeom prst="rect">
            <a:avLst/>
          </a:prstGeom>
        </p:spPr>
      </p:pic>
      <p:cxnSp>
        <p:nvCxnSpPr>
          <p:cNvPr id="11" name="Conector recto de flecha 10">
            <a:extLst>
              <a:ext uri="{C183D7F6-B498-43B3-948B-1728B52AA6E4}">
                <adec:decorative xmlns:adec="http://schemas.microsoft.com/office/drawing/2017/decorative" val="1"/>
              </a:ext>
            </a:extLst>
          </p:cNvPr>
          <p:cNvCxnSpPr>
            <a:cxnSpLocks/>
          </p:cNvCxnSpPr>
          <p:nvPr/>
        </p:nvCxnSpPr>
        <p:spPr>
          <a:xfrm flipH="1">
            <a:off x="2561761" y="4215440"/>
            <a:ext cx="3283868" cy="345430"/>
          </a:xfrm>
          <a:prstGeom prst="straightConnector1">
            <a:avLst/>
          </a:prstGeom>
          <a:ln w="508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Conector recto de flecha 11">
            <a:extLst>
              <a:ext uri="{C183D7F6-B498-43B3-948B-1728B52AA6E4}">
                <adec:decorative xmlns:adec="http://schemas.microsoft.com/office/drawing/2017/decorative" val="1"/>
              </a:ext>
            </a:extLst>
          </p:cNvPr>
          <p:cNvCxnSpPr>
            <a:cxnSpLocks/>
          </p:cNvCxnSpPr>
          <p:nvPr/>
        </p:nvCxnSpPr>
        <p:spPr>
          <a:xfrm flipH="1">
            <a:off x="3005563" y="5163598"/>
            <a:ext cx="3297266" cy="159503"/>
          </a:xfrm>
          <a:prstGeom prst="straightConnector1">
            <a:avLst/>
          </a:prstGeom>
          <a:ln w="508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5" name="CuadroTexto 4">
            <a:extLst>
              <a:ext uri="{FF2B5EF4-FFF2-40B4-BE49-F238E27FC236}">
                <a16:creationId xmlns:a16="http://schemas.microsoft.com/office/drawing/2014/main" id="{EBC08991-DC0B-5849-1021-B4D4005C2700}"/>
              </a:ext>
            </a:extLst>
          </p:cNvPr>
          <p:cNvSpPr txBox="1"/>
          <p:nvPr/>
        </p:nvSpPr>
        <p:spPr>
          <a:xfrm>
            <a:off x="5434834" y="3624358"/>
            <a:ext cx="6199133" cy="2462213"/>
          </a:xfrm>
          <a:prstGeom prst="rect">
            <a:avLst/>
          </a:prstGeom>
          <a:noFill/>
          <a:ln>
            <a:solidFill>
              <a:schemeClr val="tx1"/>
            </a:solidFill>
          </a:ln>
        </p:spPr>
        <p:txBody>
          <a:bodyPr wrap="none" rtlCol="0">
            <a:spAutoFit/>
          </a:bodyPr>
          <a:lstStyle/>
          <a:p>
            <a:r>
              <a:rPr lang="en-US" sz="1400" dirty="0">
                <a:latin typeface="Courier New" panose="02070309020205020404" pitchFamily="49" charset="0"/>
                <a:cs typeface="Courier New" panose="02070309020205020404" pitchFamily="49" charset="0"/>
              </a:rPr>
              <a:t>jobs:</a:t>
            </a:r>
          </a:p>
          <a:p>
            <a:r>
              <a:rPr lang="en-US" sz="1400" dirty="0">
                <a:latin typeface="Courier New" panose="02070309020205020404" pitchFamily="49" charset="0"/>
                <a:cs typeface="Courier New" panose="02070309020205020404" pitchFamily="49" charset="0"/>
              </a:rPr>
              <a:t>  build:</a:t>
            </a:r>
          </a:p>
          <a:p>
            <a:r>
              <a:rPr lang="en-US" sz="1400" dirty="0">
                <a:latin typeface="Courier New" panose="02070309020205020404" pitchFamily="49" charset="0"/>
                <a:cs typeface="Courier New" panose="02070309020205020404" pitchFamily="49" charset="0"/>
              </a:rPr>
              <a:t>    runs-on: ubuntu-latest</a:t>
            </a:r>
          </a:p>
          <a:p>
            <a:r>
              <a:rPr lang="en-US" sz="1400" dirty="0">
                <a:latin typeface="Courier New" panose="02070309020205020404" pitchFamily="49" charset="0"/>
                <a:cs typeface="Courier New" panose="02070309020205020404" pitchFamily="49" charset="0"/>
              </a:rPr>
              <a:t>    steps:</a:t>
            </a:r>
          </a:p>
          <a:p>
            <a:r>
              <a:rPr lang="en-US" sz="1400" dirty="0">
                <a:latin typeface="Courier New" panose="02070309020205020404" pitchFamily="49" charset="0"/>
                <a:cs typeface="Courier New" panose="02070309020205020404" pitchFamily="49" charset="0"/>
              </a:rPr>
              <a:t>      - name: </a:t>
            </a:r>
            <a:r>
              <a:rPr lang="en-US" sz="1400" dirty="0" err="1">
                <a:latin typeface="Courier New" panose="02070309020205020404" pitchFamily="49" charset="0"/>
                <a:cs typeface="Courier New" panose="02070309020205020404" pitchFamily="49" charset="0"/>
              </a:rPr>
              <a:t>descargar</a:t>
            </a: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repositorio</a:t>
            </a:r>
            <a:endParaRPr lang="en-US" sz="1400" dirty="0">
              <a:latin typeface="Courier New" panose="02070309020205020404" pitchFamily="49" charset="0"/>
              <a:cs typeface="Courier New" panose="02070309020205020404" pitchFamily="49" charset="0"/>
            </a:endParaRPr>
          </a:p>
          <a:p>
            <a:r>
              <a:rPr lang="en-US" sz="1400" dirty="0">
                <a:latin typeface="Courier New" panose="02070309020205020404" pitchFamily="49" charset="0"/>
                <a:cs typeface="Courier New" panose="02070309020205020404" pitchFamily="49" charset="0"/>
              </a:rPr>
              <a:t>        uses: actions/checkout@v3</a:t>
            </a:r>
          </a:p>
          <a:p>
            <a:r>
              <a:rPr lang="en-US" sz="1400" dirty="0">
                <a:latin typeface="Courier New" panose="02070309020205020404" pitchFamily="49" charset="0"/>
                <a:cs typeface="Courier New" panose="02070309020205020404" pitchFamily="49" charset="0"/>
              </a:rPr>
              <a:t>      - name: </a:t>
            </a:r>
            <a:r>
              <a:rPr lang="en-US" sz="1400" dirty="0" err="1">
                <a:latin typeface="Courier New" panose="02070309020205020404" pitchFamily="49" charset="0"/>
                <a:cs typeface="Courier New" panose="02070309020205020404" pitchFamily="49" charset="0"/>
              </a:rPr>
              <a:t>pruebas-unitarias</a:t>
            </a:r>
            <a:endParaRPr lang="en-US" sz="1400" dirty="0">
              <a:latin typeface="Courier New" panose="02070309020205020404" pitchFamily="49" charset="0"/>
              <a:cs typeface="Courier New" panose="02070309020205020404" pitchFamily="49" charset="0"/>
            </a:endParaRPr>
          </a:p>
          <a:p>
            <a:r>
              <a:rPr lang="en-US" sz="1400" dirty="0">
                <a:latin typeface="Courier New" panose="02070309020205020404" pitchFamily="49" charset="0"/>
                <a:cs typeface="Courier New" panose="02070309020205020404" pitchFamily="49" charset="0"/>
              </a:rPr>
              <a:t>        run: </a:t>
            </a:r>
            <a:r>
              <a:rPr lang="en-US" sz="1400" dirty="0" err="1">
                <a:latin typeface="Courier New" panose="02070309020205020404" pitchFamily="49" charset="0"/>
                <a:cs typeface="Courier New" panose="02070309020205020404" pitchFamily="49" charset="0"/>
              </a:rPr>
              <a:t>mvn</a:t>
            </a:r>
            <a:r>
              <a:rPr lang="en-US" sz="1400" dirty="0">
                <a:latin typeface="Courier New" panose="02070309020205020404" pitchFamily="49" charset="0"/>
                <a:cs typeface="Courier New" panose="02070309020205020404" pitchFamily="49" charset="0"/>
              </a:rPr>
              <a:t> test</a:t>
            </a:r>
          </a:p>
          <a:p>
            <a:r>
              <a:rPr lang="en-US" sz="1400" dirty="0">
                <a:latin typeface="Courier New" panose="02070309020205020404" pitchFamily="49" charset="0"/>
                <a:cs typeface="Courier New" panose="02070309020205020404" pitchFamily="49" charset="0"/>
              </a:rPr>
              <a:t>      - name: </a:t>
            </a:r>
            <a:r>
              <a:rPr lang="en-US" sz="1400" dirty="0" err="1">
                <a:latin typeface="Courier New" panose="02070309020205020404" pitchFamily="49" charset="0"/>
                <a:cs typeface="Courier New" panose="02070309020205020404" pitchFamily="49" charset="0"/>
              </a:rPr>
              <a:t>compilar</a:t>
            </a:r>
            <a:r>
              <a:rPr lang="en-US" sz="1400" dirty="0">
                <a:latin typeface="Courier New" panose="02070309020205020404" pitchFamily="49" charset="0"/>
                <a:cs typeface="Courier New" panose="02070309020205020404" pitchFamily="49" charset="0"/>
              </a:rPr>
              <a:t> la </a:t>
            </a:r>
            <a:r>
              <a:rPr lang="en-US" sz="1400" dirty="0" err="1">
                <a:latin typeface="Courier New" panose="02070309020205020404" pitchFamily="49" charset="0"/>
                <a:cs typeface="Courier New" panose="02070309020205020404" pitchFamily="49" charset="0"/>
              </a:rPr>
              <a:t>aplicación</a:t>
            </a:r>
            <a:r>
              <a:rPr lang="en-US" sz="1400" dirty="0">
                <a:latin typeface="Courier New" panose="02070309020205020404" pitchFamily="49" charset="0"/>
                <a:cs typeface="Courier New" panose="02070309020205020404" pitchFamily="49" charset="0"/>
              </a:rPr>
              <a:t> sin </a:t>
            </a:r>
            <a:r>
              <a:rPr lang="en-US" sz="1400" dirty="0" err="1">
                <a:latin typeface="Courier New" panose="02070309020205020404" pitchFamily="49" charset="0"/>
                <a:cs typeface="Courier New" panose="02070309020205020404" pitchFamily="49" charset="0"/>
              </a:rPr>
              <a:t>repetir</a:t>
            </a: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pruebas</a:t>
            </a:r>
            <a:endParaRPr lang="en-US" sz="1400" dirty="0">
              <a:latin typeface="Courier New" panose="02070309020205020404" pitchFamily="49" charset="0"/>
              <a:cs typeface="Courier New" panose="02070309020205020404" pitchFamily="49" charset="0"/>
            </a:endParaRPr>
          </a:p>
          <a:p>
            <a:r>
              <a:rPr lang="en-US" sz="1400" dirty="0">
                <a:latin typeface="Courier New" panose="02070309020205020404" pitchFamily="49" charset="0"/>
                <a:cs typeface="Courier New" panose="02070309020205020404" pitchFamily="49" charset="0"/>
              </a:rPr>
              <a:t>        run: </a:t>
            </a:r>
            <a:r>
              <a:rPr lang="en-US" sz="1400" dirty="0" err="1">
                <a:latin typeface="Courier New" panose="02070309020205020404" pitchFamily="49" charset="0"/>
                <a:cs typeface="Courier New" panose="02070309020205020404" pitchFamily="49" charset="0"/>
              </a:rPr>
              <a:t>mvn</a:t>
            </a:r>
            <a:r>
              <a:rPr lang="en-US" sz="1400" dirty="0">
                <a:latin typeface="Courier New" panose="02070309020205020404" pitchFamily="49" charset="0"/>
                <a:cs typeface="Courier New" panose="02070309020205020404" pitchFamily="49" charset="0"/>
              </a:rPr>
              <a:t> package -</a:t>
            </a:r>
            <a:r>
              <a:rPr lang="en-US" sz="1400" dirty="0" err="1">
                <a:latin typeface="Courier New" panose="02070309020205020404" pitchFamily="49" charset="0"/>
                <a:cs typeface="Courier New" panose="02070309020205020404" pitchFamily="49" charset="0"/>
              </a:rPr>
              <a:t>DskipTests</a:t>
            </a:r>
            <a:r>
              <a:rPr lang="en-US" sz="1400" dirty="0">
                <a:latin typeface="Courier New" panose="02070309020205020404" pitchFamily="49" charset="0"/>
                <a:cs typeface="Courier New" panose="02070309020205020404" pitchFamily="49" charset="0"/>
              </a:rPr>
              <a:t>=true</a:t>
            </a:r>
            <a:endParaRPr lang="en-US" sz="1400" kern="1200" dirty="0">
              <a:solidFill>
                <a:schemeClr val="tx1"/>
              </a:solidFill>
              <a:latin typeface="Courier New" panose="02070309020205020404" pitchFamily="49" charset="0"/>
              <a:ea typeface="+mn-ea"/>
              <a:cs typeface="Courier New" panose="02070309020205020404" pitchFamily="49" charset="0"/>
            </a:endParaRPr>
          </a:p>
          <a:p>
            <a:endParaRPr lang="es-ES" sz="1400" dirty="0"/>
          </a:p>
        </p:txBody>
      </p:sp>
    </p:spTree>
    <p:extLst>
      <p:ext uri="{BB962C8B-B14F-4D97-AF65-F5344CB8AC3E}">
        <p14:creationId xmlns:p14="http://schemas.microsoft.com/office/powerpoint/2010/main" val="11426963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3.4 Ejecución del </a:t>
            </a:r>
            <a:r>
              <a:rPr lang="es-ES" dirty="0" err="1"/>
              <a:t>workflow</a:t>
            </a:r>
            <a:r>
              <a:rPr lang="es-ES" dirty="0"/>
              <a:t> de un repositorio</a:t>
            </a:r>
            <a:br>
              <a:rPr lang="es-ES" dirty="0"/>
            </a:br>
            <a:r>
              <a:rPr lang="es-ES" dirty="0"/>
              <a:t>Detalle de la ejecución de un trabajo (Set up </a:t>
            </a:r>
            <a:r>
              <a:rPr lang="es-ES" dirty="0" err="1"/>
              <a:t>job</a:t>
            </a:r>
            <a:r>
              <a:rPr lang="es-ES" dirty="0"/>
              <a:t>)</a:t>
            </a:r>
          </a:p>
        </p:txBody>
      </p:sp>
      <p:sp>
        <p:nvSpPr>
          <p:cNvPr id="3" name="Marcador de contenido 2"/>
          <p:cNvSpPr>
            <a:spLocks noGrp="1"/>
          </p:cNvSpPr>
          <p:nvPr>
            <p:ph idx="1"/>
          </p:nvPr>
        </p:nvSpPr>
        <p:spPr>
          <a:xfrm>
            <a:off x="527539" y="1491517"/>
            <a:ext cx="6341347" cy="4626254"/>
          </a:xfrm>
        </p:spPr>
        <p:txBody>
          <a:bodyPr>
            <a:normAutofit/>
          </a:bodyPr>
          <a:lstStyle/>
          <a:p>
            <a:r>
              <a:rPr lang="es-ES" dirty="0"/>
              <a:t>En la sección Set up </a:t>
            </a:r>
            <a:r>
              <a:rPr lang="es-ES" dirty="0" err="1"/>
              <a:t>job</a:t>
            </a:r>
            <a:r>
              <a:rPr lang="es-ES" dirty="0"/>
              <a:t> se muestra los detalles de la maquina o contenedor que ha ejecutado el trabajo</a:t>
            </a:r>
          </a:p>
          <a:p>
            <a:endParaRPr lang="es-ES" dirty="0"/>
          </a:p>
        </p:txBody>
      </p:sp>
      <p:sp>
        <p:nvSpPr>
          <p:cNvPr id="4" name="Marcador de número de diapositiva 3"/>
          <p:cNvSpPr>
            <a:spLocks noGrp="1"/>
          </p:cNvSpPr>
          <p:nvPr>
            <p:ph type="sldNum" sz="quarter" idx="12"/>
          </p:nvPr>
        </p:nvSpPr>
        <p:spPr/>
        <p:txBody>
          <a:bodyPr/>
          <a:lstStyle/>
          <a:p>
            <a:fld id="{C9400CC4-AA0F-4E2E-A7D9-25BF1D2A8A65}" type="slidenum">
              <a:rPr lang="es-ES" smtClean="0"/>
              <a:t>24</a:t>
            </a:fld>
            <a:endParaRPr lang="es-ES" dirty="0"/>
          </a:p>
        </p:txBody>
      </p:sp>
      <p:pic>
        <p:nvPicPr>
          <p:cNvPr id="6" name="Imagen 5">
            <a:extLst>
              <a:ext uri="{FF2B5EF4-FFF2-40B4-BE49-F238E27FC236}">
                <a16:creationId xmlns:a16="http://schemas.microsoft.com/office/drawing/2014/main" id="{E9A7E453-8F2B-8F83-42DE-E3B5E10D5C13}"/>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673361" y="2816625"/>
            <a:ext cx="3924300" cy="3467100"/>
          </a:xfrm>
          <a:prstGeom prst="rect">
            <a:avLst/>
          </a:prstGeom>
        </p:spPr>
      </p:pic>
    </p:spTree>
    <p:extLst>
      <p:ext uri="{BB962C8B-B14F-4D97-AF65-F5344CB8AC3E}">
        <p14:creationId xmlns:p14="http://schemas.microsoft.com/office/powerpoint/2010/main" val="34588042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dirty="0"/>
              <a:t>3.4 Ejecución del </a:t>
            </a:r>
            <a:r>
              <a:rPr lang="es-ES" dirty="0" err="1"/>
              <a:t>workflow</a:t>
            </a:r>
            <a:r>
              <a:rPr lang="es-ES" dirty="0"/>
              <a:t> de un repositorio</a:t>
            </a:r>
            <a:br>
              <a:rPr lang="es-ES" dirty="0"/>
            </a:br>
            <a:r>
              <a:rPr lang="es-ES" dirty="0"/>
              <a:t>Detalle de la ejecución de un trabajo (</a:t>
            </a:r>
            <a:r>
              <a:rPr lang="es-ES" dirty="0" err="1"/>
              <a:t>steps</a:t>
            </a:r>
            <a:r>
              <a:rPr lang="es-ES" dirty="0"/>
              <a:t>)</a:t>
            </a:r>
          </a:p>
        </p:txBody>
      </p:sp>
      <p:sp>
        <p:nvSpPr>
          <p:cNvPr id="3" name="Marcador de contenido 2">
            <a:extLst>
              <a:ext uri="{C183D7F6-B498-43B3-948B-1728B52AA6E4}">
                <adec:decorative xmlns:adec="http://schemas.microsoft.com/office/drawing/2017/decorative" val="0"/>
              </a:ext>
            </a:extLst>
          </p:cNvPr>
          <p:cNvSpPr>
            <a:spLocks noGrp="1"/>
          </p:cNvSpPr>
          <p:nvPr>
            <p:ph idx="1"/>
          </p:nvPr>
        </p:nvSpPr>
        <p:spPr>
          <a:xfrm>
            <a:off x="527539" y="1491517"/>
            <a:ext cx="10924232" cy="2557969"/>
          </a:xfrm>
        </p:spPr>
        <p:txBody>
          <a:bodyPr>
            <a:normAutofit/>
          </a:bodyPr>
          <a:lstStyle/>
          <a:p>
            <a:r>
              <a:rPr lang="es-ES" dirty="0"/>
              <a:t>En cada uno de los pasos se muestra el contenido de la pantalla de la máquina o contenedor cuando ejecuta los comandos indicados en ese paso del </a:t>
            </a:r>
            <a:r>
              <a:rPr lang="es-ES" dirty="0" err="1"/>
              <a:t>workflow</a:t>
            </a:r>
            <a:r>
              <a:rPr lang="es-ES" dirty="0"/>
              <a:t>.</a:t>
            </a:r>
          </a:p>
        </p:txBody>
      </p:sp>
      <p:sp>
        <p:nvSpPr>
          <p:cNvPr id="4" name="Marcador de número de diapositiva 3"/>
          <p:cNvSpPr>
            <a:spLocks noGrp="1"/>
          </p:cNvSpPr>
          <p:nvPr>
            <p:ph type="sldNum" sz="quarter" idx="12"/>
          </p:nvPr>
        </p:nvSpPr>
        <p:spPr/>
        <p:txBody>
          <a:bodyPr/>
          <a:lstStyle/>
          <a:p>
            <a:fld id="{C9400CC4-AA0F-4E2E-A7D9-25BF1D2A8A65}" type="slidenum">
              <a:rPr lang="es-ES" smtClean="0"/>
              <a:t>25</a:t>
            </a:fld>
            <a:endParaRPr lang="es-ES" dirty="0"/>
          </a:p>
        </p:txBody>
      </p:sp>
      <p:pic>
        <p:nvPicPr>
          <p:cNvPr id="9" name="Imagen 8">
            <a:extLst>
              <a:ext uri="{FF2B5EF4-FFF2-40B4-BE49-F238E27FC236}">
                <a16:creationId xmlns:a16="http://schemas.microsoft.com/office/drawing/2014/main" id="{21267B72-EFE6-1CF0-86B7-6D09290CC0D0}"/>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994103" y="3504027"/>
            <a:ext cx="5124450" cy="2600325"/>
          </a:xfrm>
          <a:prstGeom prst="rect">
            <a:avLst/>
          </a:prstGeom>
        </p:spPr>
      </p:pic>
      <p:cxnSp>
        <p:nvCxnSpPr>
          <p:cNvPr id="11" name="Conector recto de flecha 10">
            <a:extLst>
              <a:ext uri="{FF2B5EF4-FFF2-40B4-BE49-F238E27FC236}">
                <a16:creationId xmlns:a16="http://schemas.microsoft.com/office/drawing/2014/main" id="{B1BF064E-2911-E1D8-5418-1A010167187C}"/>
              </a:ext>
              <a:ext uri="{C183D7F6-B498-43B3-948B-1728B52AA6E4}">
                <adec:decorative xmlns:adec="http://schemas.microsoft.com/office/drawing/2017/decorative" val="1"/>
              </a:ext>
            </a:extLst>
          </p:cNvPr>
          <p:cNvCxnSpPr>
            <a:cxnSpLocks/>
          </p:cNvCxnSpPr>
          <p:nvPr/>
        </p:nvCxnSpPr>
        <p:spPr>
          <a:xfrm flipV="1">
            <a:off x="5442857" y="3929743"/>
            <a:ext cx="2449286" cy="1436740"/>
          </a:xfrm>
          <a:prstGeom prst="straightConnector1">
            <a:avLst/>
          </a:prstGeom>
          <a:ln w="508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5" name="CuadroTexto 4">
            <a:extLst>
              <a:ext uri="{FF2B5EF4-FFF2-40B4-BE49-F238E27FC236}">
                <a16:creationId xmlns:a16="http://schemas.microsoft.com/office/drawing/2014/main" id="{72DDC140-59F5-81F1-97F7-03AAB2C02D94}"/>
              </a:ext>
            </a:extLst>
          </p:cNvPr>
          <p:cNvSpPr txBox="1"/>
          <p:nvPr/>
        </p:nvSpPr>
        <p:spPr>
          <a:xfrm>
            <a:off x="527539" y="3642139"/>
            <a:ext cx="6199133" cy="2462213"/>
          </a:xfrm>
          <a:prstGeom prst="rect">
            <a:avLst/>
          </a:prstGeom>
          <a:noFill/>
          <a:ln>
            <a:solidFill>
              <a:schemeClr val="tx1"/>
            </a:solidFill>
          </a:ln>
        </p:spPr>
        <p:txBody>
          <a:bodyPr wrap="none" rtlCol="0">
            <a:spAutoFit/>
          </a:bodyPr>
          <a:lstStyle/>
          <a:p>
            <a:r>
              <a:rPr lang="en-US" sz="1400" dirty="0">
                <a:latin typeface="Courier New" panose="02070309020205020404" pitchFamily="49" charset="0"/>
                <a:cs typeface="Courier New" panose="02070309020205020404" pitchFamily="49" charset="0"/>
              </a:rPr>
              <a:t>jobs:</a:t>
            </a:r>
          </a:p>
          <a:p>
            <a:r>
              <a:rPr lang="en-US" sz="1400" dirty="0">
                <a:latin typeface="Courier New" panose="02070309020205020404" pitchFamily="49" charset="0"/>
                <a:cs typeface="Courier New" panose="02070309020205020404" pitchFamily="49" charset="0"/>
              </a:rPr>
              <a:t>  build:</a:t>
            </a:r>
          </a:p>
          <a:p>
            <a:r>
              <a:rPr lang="en-US" sz="1400" dirty="0">
                <a:latin typeface="Courier New" panose="02070309020205020404" pitchFamily="49" charset="0"/>
                <a:cs typeface="Courier New" panose="02070309020205020404" pitchFamily="49" charset="0"/>
              </a:rPr>
              <a:t>    runs-on: ubuntu-latest</a:t>
            </a:r>
          </a:p>
          <a:p>
            <a:r>
              <a:rPr lang="en-US" sz="1400" dirty="0">
                <a:latin typeface="Courier New" panose="02070309020205020404" pitchFamily="49" charset="0"/>
                <a:cs typeface="Courier New" panose="02070309020205020404" pitchFamily="49" charset="0"/>
              </a:rPr>
              <a:t>    steps:</a:t>
            </a:r>
          </a:p>
          <a:p>
            <a:r>
              <a:rPr lang="en-US" sz="1400" dirty="0">
                <a:latin typeface="Courier New" panose="02070309020205020404" pitchFamily="49" charset="0"/>
                <a:cs typeface="Courier New" panose="02070309020205020404" pitchFamily="49" charset="0"/>
              </a:rPr>
              <a:t>      - name: </a:t>
            </a:r>
            <a:r>
              <a:rPr lang="en-US" sz="1400" dirty="0" err="1">
                <a:latin typeface="Courier New" panose="02070309020205020404" pitchFamily="49" charset="0"/>
                <a:cs typeface="Courier New" panose="02070309020205020404" pitchFamily="49" charset="0"/>
              </a:rPr>
              <a:t>descargar</a:t>
            </a: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repositorio</a:t>
            </a:r>
            <a:endParaRPr lang="en-US" sz="1400" dirty="0">
              <a:latin typeface="Courier New" panose="02070309020205020404" pitchFamily="49" charset="0"/>
              <a:cs typeface="Courier New" panose="02070309020205020404" pitchFamily="49" charset="0"/>
            </a:endParaRPr>
          </a:p>
          <a:p>
            <a:r>
              <a:rPr lang="en-US" sz="1400" dirty="0">
                <a:latin typeface="Courier New" panose="02070309020205020404" pitchFamily="49" charset="0"/>
                <a:cs typeface="Courier New" panose="02070309020205020404" pitchFamily="49" charset="0"/>
              </a:rPr>
              <a:t>        uses: actions/checkout@v3</a:t>
            </a:r>
          </a:p>
          <a:p>
            <a:r>
              <a:rPr lang="en-US" sz="1400" dirty="0">
                <a:latin typeface="Courier New" panose="02070309020205020404" pitchFamily="49" charset="0"/>
                <a:cs typeface="Courier New" panose="02070309020205020404" pitchFamily="49" charset="0"/>
              </a:rPr>
              <a:t>      - name: </a:t>
            </a:r>
            <a:r>
              <a:rPr lang="en-US" sz="1400" dirty="0" err="1">
                <a:latin typeface="Courier New" panose="02070309020205020404" pitchFamily="49" charset="0"/>
                <a:cs typeface="Courier New" panose="02070309020205020404" pitchFamily="49" charset="0"/>
              </a:rPr>
              <a:t>pruebas-unitarias</a:t>
            </a:r>
            <a:endParaRPr lang="en-US" sz="1400" dirty="0">
              <a:latin typeface="Courier New" panose="02070309020205020404" pitchFamily="49" charset="0"/>
              <a:cs typeface="Courier New" panose="02070309020205020404" pitchFamily="49" charset="0"/>
            </a:endParaRPr>
          </a:p>
          <a:p>
            <a:r>
              <a:rPr lang="en-US" sz="1400" dirty="0">
                <a:latin typeface="Courier New" panose="02070309020205020404" pitchFamily="49" charset="0"/>
                <a:cs typeface="Courier New" panose="02070309020205020404" pitchFamily="49" charset="0"/>
              </a:rPr>
              <a:t>        run: </a:t>
            </a:r>
            <a:r>
              <a:rPr lang="en-US" sz="1400" dirty="0" err="1">
                <a:latin typeface="Courier New" panose="02070309020205020404" pitchFamily="49" charset="0"/>
                <a:cs typeface="Courier New" panose="02070309020205020404" pitchFamily="49" charset="0"/>
              </a:rPr>
              <a:t>mvn</a:t>
            </a:r>
            <a:r>
              <a:rPr lang="en-US" sz="1400" dirty="0">
                <a:latin typeface="Courier New" panose="02070309020205020404" pitchFamily="49" charset="0"/>
                <a:cs typeface="Courier New" panose="02070309020205020404" pitchFamily="49" charset="0"/>
              </a:rPr>
              <a:t> test</a:t>
            </a:r>
          </a:p>
          <a:p>
            <a:r>
              <a:rPr lang="en-US" sz="1400" dirty="0">
                <a:latin typeface="Courier New" panose="02070309020205020404" pitchFamily="49" charset="0"/>
                <a:cs typeface="Courier New" panose="02070309020205020404" pitchFamily="49" charset="0"/>
              </a:rPr>
              <a:t>      - name: </a:t>
            </a:r>
            <a:r>
              <a:rPr lang="en-US" sz="1400" dirty="0" err="1">
                <a:latin typeface="Courier New" panose="02070309020205020404" pitchFamily="49" charset="0"/>
                <a:cs typeface="Courier New" panose="02070309020205020404" pitchFamily="49" charset="0"/>
              </a:rPr>
              <a:t>compilar</a:t>
            </a:r>
            <a:r>
              <a:rPr lang="en-US" sz="1400" dirty="0">
                <a:latin typeface="Courier New" panose="02070309020205020404" pitchFamily="49" charset="0"/>
                <a:cs typeface="Courier New" panose="02070309020205020404" pitchFamily="49" charset="0"/>
              </a:rPr>
              <a:t> la </a:t>
            </a:r>
            <a:r>
              <a:rPr lang="en-US" sz="1400" dirty="0" err="1">
                <a:latin typeface="Courier New" panose="02070309020205020404" pitchFamily="49" charset="0"/>
                <a:cs typeface="Courier New" panose="02070309020205020404" pitchFamily="49" charset="0"/>
              </a:rPr>
              <a:t>aplicación</a:t>
            </a:r>
            <a:r>
              <a:rPr lang="en-US" sz="1400" dirty="0">
                <a:latin typeface="Courier New" panose="02070309020205020404" pitchFamily="49" charset="0"/>
                <a:cs typeface="Courier New" panose="02070309020205020404" pitchFamily="49" charset="0"/>
              </a:rPr>
              <a:t> sin </a:t>
            </a:r>
            <a:r>
              <a:rPr lang="en-US" sz="1400" dirty="0" err="1">
                <a:latin typeface="Courier New" panose="02070309020205020404" pitchFamily="49" charset="0"/>
                <a:cs typeface="Courier New" panose="02070309020205020404" pitchFamily="49" charset="0"/>
              </a:rPr>
              <a:t>repetir</a:t>
            </a: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pruebas</a:t>
            </a:r>
            <a:endParaRPr lang="en-US" sz="1400" dirty="0">
              <a:latin typeface="Courier New" panose="02070309020205020404" pitchFamily="49" charset="0"/>
              <a:cs typeface="Courier New" panose="02070309020205020404" pitchFamily="49" charset="0"/>
            </a:endParaRPr>
          </a:p>
          <a:p>
            <a:r>
              <a:rPr lang="en-US" sz="1400" dirty="0">
                <a:latin typeface="Courier New" panose="02070309020205020404" pitchFamily="49" charset="0"/>
                <a:cs typeface="Courier New" panose="02070309020205020404" pitchFamily="49" charset="0"/>
              </a:rPr>
              <a:t>        run: </a:t>
            </a:r>
            <a:r>
              <a:rPr lang="en-US" sz="1400" dirty="0" err="1">
                <a:latin typeface="Courier New" panose="02070309020205020404" pitchFamily="49" charset="0"/>
                <a:cs typeface="Courier New" panose="02070309020205020404" pitchFamily="49" charset="0"/>
              </a:rPr>
              <a:t>mvn</a:t>
            </a:r>
            <a:r>
              <a:rPr lang="en-US" sz="1400" dirty="0">
                <a:latin typeface="Courier New" panose="02070309020205020404" pitchFamily="49" charset="0"/>
                <a:cs typeface="Courier New" panose="02070309020205020404" pitchFamily="49" charset="0"/>
              </a:rPr>
              <a:t> package -</a:t>
            </a:r>
            <a:r>
              <a:rPr lang="en-US" sz="1400" dirty="0" err="1">
                <a:latin typeface="Courier New" panose="02070309020205020404" pitchFamily="49" charset="0"/>
                <a:cs typeface="Courier New" panose="02070309020205020404" pitchFamily="49" charset="0"/>
              </a:rPr>
              <a:t>DskipTests</a:t>
            </a:r>
            <a:r>
              <a:rPr lang="en-US" sz="1400" dirty="0">
                <a:latin typeface="Courier New" panose="02070309020205020404" pitchFamily="49" charset="0"/>
                <a:cs typeface="Courier New" panose="02070309020205020404" pitchFamily="49" charset="0"/>
              </a:rPr>
              <a:t>=true</a:t>
            </a:r>
            <a:endParaRPr lang="en-US" sz="1400" kern="1200" dirty="0">
              <a:solidFill>
                <a:schemeClr val="tx1"/>
              </a:solidFill>
              <a:latin typeface="Courier New" panose="02070309020205020404" pitchFamily="49" charset="0"/>
              <a:ea typeface="+mn-ea"/>
              <a:cs typeface="Courier New" panose="02070309020205020404" pitchFamily="49" charset="0"/>
            </a:endParaRPr>
          </a:p>
          <a:p>
            <a:endParaRPr lang="es-ES" sz="1400" dirty="0"/>
          </a:p>
        </p:txBody>
      </p:sp>
    </p:spTree>
    <p:extLst>
      <p:ext uri="{BB962C8B-B14F-4D97-AF65-F5344CB8AC3E}">
        <p14:creationId xmlns:p14="http://schemas.microsoft.com/office/powerpoint/2010/main" val="28832762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3.4 Ejecución del </a:t>
            </a:r>
            <a:r>
              <a:rPr lang="es-ES" dirty="0" err="1"/>
              <a:t>workflow</a:t>
            </a:r>
            <a:r>
              <a:rPr lang="es-ES" dirty="0"/>
              <a:t> de un repositorio</a:t>
            </a:r>
            <a:br>
              <a:rPr lang="es-ES" dirty="0"/>
            </a:br>
            <a:r>
              <a:rPr lang="es-ES" dirty="0"/>
              <a:t>Borrado de resultados</a:t>
            </a:r>
          </a:p>
        </p:txBody>
      </p:sp>
      <p:sp>
        <p:nvSpPr>
          <p:cNvPr id="3" name="Marcador de contenido 2"/>
          <p:cNvSpPr>
            <a:spLocks noGrp="1"/>
          </p:cNvSpPr>
          <p:nvPr>
            <p:ph idx="1"/>
          </p:nvPr>
        </p:nvSpPr>
        <p:spPr>
          <a:xfrm>
            <a:off x="527538" y="1491517"/>
            <a:ext cx="5955455" cy="4698268"/>
          </a:xfrm>
        </p:spPr>
        <p:txBody>
          <a:bodyPr>
            <a:normAutofit fontScale="92500" lnSpcReduction="20000"/>
          </a:bodyPr>
          <a:lstStyle/>
          <a:p>
            <a:r>
              <a:rPr lang="es-ES" dirty="0"/>
              <a:t>Al finalizar la ejecución del trabajo, si el runner se ejecuta en un contenedor gestionado por GitHub (ej. “</a:t>
            </a:r>
            <a:r>
              <a:rPr lang="es-ES" dirty="0" err="1"/>
              <a:t>ubuntu-latest</a:t>
            </a:r>
            <a:r>
              <a:rPr lang="es-ES" dirty="0"/>
              <a:t>”), se realiza una limpieza y no se mantiene ningún archivo  generado durante el trabajo.</a:t>
            </a:r>
          </a:p>
          <a:p>
            <a:r>
              <a:rPr lang="es-ES" dirty="0"/>
              <a:t>Si queremos mantener los archivos con los resultados, por ejemplo, de la compilación, debemos usar un runner instalado en una máquina o contenedor propio (ej. uno llamado “mi-runner”)</a:t>
            </a:r>
          </a:p>
        </p:txBody>
      </p:sp>
      <p:sp>
        <p:nvSpPr>
          <p:cNvPr id="4" name="Marcador de número de diapositiva 3"/>
          <p:cNvSpPr>
            <a:spLocks noGrp="1"/>
          </p:cNvSpPr>
          <p:nvPr>
            <p:ph type="sldNum" sz="quarter" idx="12"/>
          </p:nvPr>
        </p:nvSpPr>
        <p:spPr/>
        <p:txBody>
          <a:bodyPr/>
          <a:lstStyle/>
          <a:p>
            <a:fld id="{C9400CC4-AA0F-4E2E-A7D9-25BF1D2A8A65}" type="slidenum">
              <a:rPr lang="es-ES" smtClean="0"/>
              <a:t>26</a:t>
            </a:fld>
            <a:endParaRPr lang="es-ES" dirty="0"/>
          </a:p>
        </p:txBody>
      </p:sp>
      <p:sp>
        <p:nvSpPr>
          <p:cNvPr id="6" name="CuadroTexto 5">
            <a:extLst>
              <a:ext uri="{FF2B5EF4-FFF2-40B4-BE49-F238E27FC236}">
                <a16:creationId xmlns:a16="http://schemas.microsoft.com/office/drawing/2014/main" id="{4094D8A2-26AC-308B-56BA-A13104DB2152}"/>
              </a:ext>
            </a:extLst>
          </p:cNvPr>
          <p:cNvSpPr txBox="1"/>
          <p:nvPr/>
        </p:nvSpPr>
        <p:spPr>
          <a:xfrm>
            <a:off x="7223219" y="2270443"/>
            <a:ext cx="2977097" cy="954107"/>
          </a:xfrm>
          <a:prstGeom prst="rect">
            <a:avLst/>
          </a:prstGeom>
          <a:noFill/>
          <a:ln>
            <a:solidFill>
              <a:schemeClr val="tx1"/>
            </a:solidFill>
          </a:ln>
        </p:spPr>
        <p:txBody>
          <a:bodyPr wrap="none" rtlCol="0">
            <a:spAutoFit/>
          </a:bodyPr>
          <a:lstStyle/>
          <a:p>
            <a:r>
              <a:rPr lang="en-US" sz="1400" dirty="0">
                <a:latin typeface="Courier New" panose="02070309020205020404" pitchFamily="49" charset="0"/>
                <a:cs typeface="Courier New" panose="02070309020205020404" pitchFamily="49" charset="0"/>
              </a:rPr>
              <a:t>jobs:</a:t>
            </a:r>
          </a:p>
          <a:p>
            <a:r>
              <a:rPr lang="en-US" sz="1400" dirty="0">
                <a:latin typeface="Courier New" panose="02070309020205020404" pitchFamily="49" charset="0"/>
                <a:cs typeface="Courier New" panose="02070309020205020404" pitchFamily="49" charset="0"/>
              </a:rPr>
              <a:t>  build:</a:t>
            </a:r>
          </a:p>
          <a:p>
            <a:r>
              <a:rPr lang="en-US" sz="1400" dirty="0">
                <a:latin typeface="Courier New" panose="02070309020205020404" pitchFamily="49" charset="0"/>
                <a:cs typeface="Courier New" panose="02070309020205020404" pitchFamily="49" charset="0"/>
              </a:rPr>
              <a:t>    runs-on: ubuntu-latest</a:t>
            </a:r>
          </a:p>
          <a:p>
            <a:endParaRPr lang="es-ES" sz="1400" dirty="0"/>
          </a:p>
        </p:txBody>
      </p:sp>
      <p:sp>
        <p:nvSpPr>
          <p:cNvPr id="7" name="CuadroTexto 6">
            <a:extLst>
              <a:ext uri="{FF2B5EF4-FFF2-40B4-BE49-F238E27FC236}">
                <a16:creationId xmlns:a16="http://schemas.microsoft.com/office/drawing/2014/main" id="{01E57A0F-4136-CCD3-BB1F-73C440605F4D}"/>
              </a:ext>
            </a:extLst>
          </p:cNvPr>
          <p:cNvSpPr txBox="1"/>
          <p:nvPr/>
        </p:nvSpPr>
        <p:spPr>
          <a:xfrm>
            <a:off x="7223218" y="4285845"/>
            <a:ext cx="2977097" cy="954107"/>
          </a:xfrm>
          <a:prstGeom prst="rect">
            <a:avLst/>
          </a:prstGeom>
          <a:noFill/>
          <a:ln>
            <a:solidFill>
              <a:schemeClr val="tx1"/>
            </a:solidFill>
          </a:ln>
        </p:spPr>
        <p:txBody>
          <a:bodyPr wrap="square" rtlCol="0">
            <a:spAutoFit/>
          </a:bodyPr>
          <a:lstStyle/>
          <a:p>
            <a:r>
              <a:rPr lang="en-US" sz="1400" dirty="0">
                <a:latin typeface="Courier New" panose="02070309020205020404" pitchFamily="49" charset="0"/>
                <a:cs typeface="Courier New" panose="02070309020205020404" pitchFamily="49" charset="0"/>
              </a:rPr>
              <a:t>jobs:</a:t>
            </a:r>
          </a:p>
          <a:p>
            <a:r>
              <a:rPr lang="en-US" sz="1400" dirty="0">
                <a:latin typeface="Courier New" panose="02070309020205020404" pitchFamily="49" charset="0"/>
                <a:cs typeface="Courier New" panose="02070309020205020404" pitchFamily="49" charset="0"/>
              </a:rPr>
              <a:t>  build:</a:t>
            </a:r>
          </a:p>
          <a:p>
            <a:r>
              <a:rPr lang="en-US" sz="1400" dirty="0">
                <a:latin typeface="Courier New" panose="02070309020205020404" pitchFamily="49" charset="0"/>
                <a:cs typeface="Courier New" panose="02070309020205020404" pitchFamily="49" charset="0"/>
              </a:rPr>
              <a:t>    runs-on: mi-runner</a:t>
            </a:r>
          </a:p>
          <a:p>
            <a:endParaRPr lang="es-ES" sz="1400" dirty="0"/>
          </a:p>
        </p:txBody>
      </p:sp>
    </p:spTree>
    <p:extLst>
      <p:ext uri="{BB962C8B-B14F-4D97-AF65-F5344CB8AC3E}">
        <p14:creationId xmlns:p14="http://schemas.microsoft.com/office/powerpoint/2010/main" val="24294085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3.5 Elementos </a:t>
            </a:r>
            <a:r>
              <a:rPr lang="es-ES" dirty="0" err="1"/>
              <a:t>needs</a:t>
            </a:r>
            <a:r>
              <a:rPr lang="es-ES" dirty="0"/>
              <a:t> y </a:t>
            </a:r>
            <a:r>
              <a:rPr lang="es-ES" dirty="0" err="1"/>
              <a:t>if</a:t>
            </a:r>
            <a:endParaRPr lang="es-ES" dirty="0"/>
          </a:p>
        </p:txBody>
      </p:sp>
      <p:sp>
        <p:nvSpPr>
          <p:cNvPr id="3" name="Marcador de contenido 2"/>
          <p:cNvSpPr>
            <a:spLocks noGrp="1"/>
          </p:cNvSpPr>
          <p:nvPr>
            <p:ph idx="1"/>
          </p:nvPr>
        </p:nvSpPr>
        <p:spPr>
          <a:xfrm>
            <a:off x="527538" y="1491517"/>
            <a:ext cx="10608548" cy="2537558"/>
          </a:xfrm>
        </p:spPr>
        <p:txBody>
          <a:bodyPr>
            <a:normAutofit fontScale="85000" lnSpcReduction="20000"/>
          </a:bodyPr>
          <a:lstStyle/>
          <a:p>
            <a:r>
              <a:rPr lang="es-ES" dirty="0"/>
              <a:t>Para que los trabajos se ejecuten en secuencia, hay que utilizar la sección “</a:t>
            </a:r>
            <a:r>
              <a:rPr lang="es-ES" dirty="0" err="1"/>
              <a:t>needs</a:t>
            </a:r>
            <a:r>
              <a:rPr lang="es-ES" dirty="0"/>
              <a:t>” para indicar que un trabajo no se debe ejecutar hasta que haya finalizado el citado en esta sección.</a:t>
            </a:r>
          </a:p>
          <a:p>
            <a:r>
              <a:rPr lang="es-ES" dirty="0"/>
              <a:t>También podemos establecer una condición utilizando “</a:t>
            </a:r>
            <a:r>
              <a:rPr lang="es-ES" dirty="0" err="1"/>
              <a:t>if</a:t>
            </a:r>
            <a:r>
              <a:rPr lang="es-ES" dirty="0"/>
              <a:t>” para indicar que los pasos de un trabajo sólo se ejecuten si se cumple la condición (ej. que los cambios hayan ocurrido en la rama master).</a:t>
            </a:r>
          </a:p>
        </p:txBody>
      </p:sp>
      <p:sp>
        <p:nvSpPr>
          <p:cNvPr id="4" name="Marcador de número de diapositiva 3"/>
          <p:cNvSpPr>
            <a:spLocks noGrp="1"/>
          </p:cNvSpPr>
          <p:nvPr>
            <p:ph type="sldNum" sz="quarter" idx="12"/>
          </p:nvPr>
        </p:nvSpPr>
        <p:spPr/>
        <p:txBody>
          <a:bodyPr/>
          <a:lstStyle/>
          <a:p>
            <a:fld id="{C9400CC4-AA0F-4E2E-A7D9-25BF1D2A8A65}" type="slidenum">
              <a:rPr lang="es-ES" smtClean="0"/>
              <a:t>27</a:t>
            </a:fld>
            <a:endParaRPr lang="es-ES" dirty="0"/>
          </a:p>
        </p:txBody>
      </p:sp>
      <p:sp>
        <p:nvSpPr>
          <p:cNvPr id="5" name="CuadroTexto 4">
            <a:extLst>
              <a:ext uri="{FF2B5EF4-FFF2-40B4-BE49-F238E27FC236}">
                <a16:creationId xmlns:a16="http://schemas.microsoft.com/office/drawing/2014/main" id="{F9299D1A-9379-E3F8-B8D0-226C8010B576}"/>
              </a:ext>
            </a:extLst>
          </p:cNvPr>
          <p:cNvSpPr txBox="1"/>
          <p:nvPr/>
        </p:nvSpPr>
        <p:spPr>
          <a:xfrm>
            <a:off x="3537754" y="4043819"/>
            <a:ext cx="4588115" cy="2677656"/>
          </a:xfrm>
          <a:prstGeom prst="rect">
            <a:avLst/>
          </a:prstGeom>
          <a:noFill/>
          <a:ln>
            <a:solidFill>
              <a:schemeClr val="tx1"/>
            </a:solidFill>
          </a:ln>
        </p:spPr>
        <p:txBody>
          <a:bodyPr wrap="none" rtlCol="0">
            <a:spAutoFit/>
          </a:bodyPr>
          <a:lstStyle/>
          <a:p>
            <a:r>
              <a:rPr lang="en-US" sz="1400" dirty="0">
                <a:latin typeface="Courier New" panose="02070309020205020404" pitchFamily="49" charset="0"/>
                <a:cs typeface="Courier New" panose="02070309020205020404" pitchFamily="49" charset="0"/>
              </a:rPr>
              <a:t>jobs:</a:t>
            </a:r>
          </a:p>
          <a:p>
            <a:r>
              <a:rPr lang="en-US" sz="1400" dirty="0">
                <a:latin typeface="Courier New" panose="02070309020205020404" pitchFamily="49" charset="0"/>
                <a:cs typeface="Courier New" panose="02070309020205020404" pitchFamily="49" charset="0"/>
              </a:rPr>
              <a:t> ...</a:t>
            </a:r>
          </a:p>
          <a:p>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qa</a:t>
            </a:r>
            <a:r>
              <a:rPr lang="en-US" sz="1400" dirty="0">
                <a:latin typeface="Courier New" panose="02070309020205020404" pitchFamily="49" charset="0"/>
                <a:cs typeface="Courier New" panose="02070309020205020404" pitchFamily="49" charset="0"/>
              </a:rPr>
              <a:t>:</a:t>
            </a:r>
          </a:p>
          <a:p>
            <a:r>
              <a:rPr lang="en-US" sz="1400" dirty="0">
                <a:latin typeface="Courier New" panose="02070309020205020404" pitchFamily="49" charset="0"/>
                <a:cs typeface="Courier New" panose="02070309020205020404" pitchFamily="49" charset="0"/>
              </a:rPr>
              <a:t>    ...</a:t>
            </a:r>
          </a:p>
          <a:p>
            <a:r>
              <a:rPr lang="en-US" sz="1400" dirty="0">
                <a:latin typeface="Courier New" panose="02070309020205020404" pitchFamily="49" charset="0"/>
                <a:cs typeface="Courier New" panose="02070309020205020404" pitchFamily="49" charset="0"/>
              </a:rPr>
              <a:t> deploy:</a:t>
            </a:r>
          </a:p>
          <a:p>
            <a:r>
              <a:rPr lang="en-US" sz="1400" dirty="0">
                <a:latin typeface="Courier New" panose="02070309020205020404" pitchFamily="49" charset="0"/>
                <a:cs typeface="Courier New" panose="02070309020205020404" pitchFamily="49" charset="0"/>
              </a:rPr>
              <a:t>    runs-on: ubuntu-latest</a:t>
            </a:r>
          </a:p>
          <a:p>
            <a:r>
              <a:rPr lang="en-US" sz="1400" dirty="0">
                <a:latin typeface="Courier New" panose="02070309020205020404" pitchFamily="49" charset="0"/>
                <a:cs typeface="Courier New" panose="02070309020205020404" pitchFamily="49" charset="0"/>
              </a:rPr>
              <a:t>    </a:t>
            </a:r>
            <a:r>
              <a:rPr lang="en-US" sz="1400" b="1" dirty="0">
                <a:latin typeface="Courier New" panose="02070309020205020404" pitchFamily="49" charset="0"/>
                <a:cs typeface="Courier New" panose="02070309020205020404" pitchFamily="49" charset="0"/>
              </a:rPr>
              <a:t>needs</a:t>
            </a: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qa</a:t>
            </a:r>
            <a:endParaRPr lang="en-US" sz="1400" dirty="0">
              <a:latin typeface="Courier New" panose="02070309020205020404" pitchFamily="49" charset="0"/>
              <a:cs typeface="Courier New" panose="02070309020205020404" pitchFamily="49" charset="0"/>
            </a:endParaRPr>
          </a:p>
          <a:p>
            <a:r>
              <a:rPr lang="en-US" sz="1400" dirty="0">
                <a:latin typeface="Courier New" panose="02070309020205020404" pitchFamily="49" charset="0"/>
                <a:cs typeface="Courier New" panose="02070309020205020404" pitchFamily="49" charset="0"/>
              </a:rPr>
              <a:t>    </a:t>
            </a:r>
            <a:r>
              <a:rPr lang="en-US" sz="1400" b="1" dirty="0">
                <a:latin typeface="Courier New" panose="02070309020205020404" pitchFamily="49" charset="0"/>
                <a:cs typeface="Courier New" panose="02070309020205020404" pitchFamily="49" charset="0"/>
              </a:rPr>
              <a:t>if</a:t>
            </a: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github.ref</a:t>
            </a:r>
            <a:r>
              <a:rPr lang="en-US" sz="1400" dirty="0">
                <a:latin typeface="Courier New" panose="02070309020205020404" pitchFamily="49" charset="0"/>
                <a:cs typeface="Courier New" panose="02070309020205020404" pitchFamily="49" charset="0"/>
              </a:rPr>
              <a:t> == 'refs/heads/master'</a:t>
            </a:r>
          </a:p>
          <a:p>
            <a:r>
              <a:rPr lang="en-US" sz="1400" dirty="0">
                <a:latin typeface="Courier New" panose="02070309020205020404" pitchFamily="49" charset="0"/>
                <a:cs typeface="Courier New" panose="02070309020205020404" pitchFamily="49" charset="0"/>
              </a:rPr>
              <a:t>    steps:</a:t>
            </a:r>
          </a:p>
          <a:p>
            <a:r>
              <a:rPr lang="en-US" sz="1400" dirty="0">
                <a:latin typeface="Courier New" panose="02070309020205020404" pitchFamily="49" charset="0"/>
                <a:cs typeface="Courier New" panose="02070309020205020404" pitchFamily="49" charset="0"/>
              </a:rPr>
              <a:t>      - name: </a:t>
            </a:r>
            <a:r>
              <a:rPr lang="en-US" sz="1400" dirty="0" err="1">
                <a:latin typeface="Courier New" panose="02070309020205020404" pitchFamily="49" charset="0"/>
                <a:cs typeface="Courier New" panose="02070309020205020404" pitchFamily="49" charset="0"/>
              </a:rPr>
              <a:t>Descargar</a:t>
            </a: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repositorio</a:t>
            </a:r>
            <a:endParaRPr lang="en-US" sz="1400" dirty="0">
              <a:latin typeface="Courier New" panose="02070309020205020404" pitchFamily="49" charset="0"/>
              <a:cs typeface="Courier New" panose="02070309020205020404" pitchFamily="49" charset="0"/>
            </a:endParaRPr>
          </a:p>
          <a:p>
            <a:r>
              <a:rPr lang="en-US" sz="1400" dirty="0">
                <a:latin typeface="Courier New" panose="02070309020205020404" pitchFamily="49" charset="0"/>
                <a:cs typeface="Courier New" panose="02070309020205020404" pitchFamily="49" charset="0"/>
              </a:rPr>
              <a:t>        uses: actions/checkout@v3</a:t>
            </a:r>
            <a:endParaRPr lang="en-US" sz="1400" kern="1200" dirty="0">
              <a:solidFill>
                <a:schemeClr val="tx1"/>
              </a:solidFill>
              <a:latin typeface="Courier New" panose="02070309020205020404" pitchFamily="49" charset="0"/>
              <a:ea typeface="+mn-ea"/>
              <a:cs typeface="Courier New" panose="02070309020205020404" pitchFamily="49" charset="0"/>
            </a:endParaRPr>
          </a:p>
          <a:p>
            <a:endParaRPr lang="es-ES" sz="1400" dirty="0"/>
          </a:p>
        </p:txBody>
      </p:sp>
    </p:spTree>
    <p:extLst>
      <p:ext uri="{BB962C8B-B14F-4D97-AF65-F5344CB8AC3E}">
        <p14:creationId xmlns:p14="http://schemas.microsoft.com/office/powerpoint/2010/main" val="28573763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9E05F1B-27C7-38CF-ED62-309B4BACF736}"/>
              </a:ext>
            </a:extLst>
          </p:cNvPr>
          <p:cNvSpPr>
            <a:spLocks noGrp="1"/>
          </p:cNvSpPr>
          <p:nvPr>
            <p:ph type="title"/>
          </p:nvPr>
        </p:nvSpPr>
        <p:spPr/>
        <p:txBody>
          <a:bodyPr/>
          <a:lstStyle/>
          <a:p>
            <a:r>
              <a:rPr lang="es-ES" dirty="0"/>
              <a:t>3.6 Elemento “uses”</a:t>
            </a:r>
          </a:p>
        </p:txBody>
      </p:sp>
      <p:sp>
        <p:nvSpPr>
          <p:cNvPr id="3" name="Marcador de contenido 2">
            <a:extLst>
              <a:ext uri="{FF2B5EF4-FFF2-40B4-BE49-F238E27FC236}">
                <a16:creationId xmlns:a16="http://schemas.microsoft.com/office/drawing/2014/main" id="{F3DA36A4-991A-58C3-1A06-EA1F086E9329}"/>
              </a:ext>
            </a:extLst>
          </p:cNvPr>
          <p:cNvSpPr>
            <a:spLocks noGrp="1"/>
          </p:cNvSpPr>
          <p:nvPr>
            <p:ph idx="1"/>
          </p:nvPr>
        </p:nvSpPr>
        <p:spPr>
          <a:xfrm>
            <a:off x="527538" y="1491517"/>
            <a:ext cx="11025553" cy="2176969"/>
          </a:xfrm>
        </p:spPr>
        <p:txBody>
          <a:bodyPr>
            <a:normAutofit fontScale="77500" lnSpcReduction="20000"/>
          </a:bodyPr>
          <a:lstStyle/>
          <a:p>
            <a:pPr algn="just">
              <a:lnSpc>
                <a:spcPct val="115000"/>
              </a:lnSpc>
              <a:spcAft>
                <a:spcPts val="1000"/>
              </a:spcAft>
            </a:pPr>
            <a:r>
              <a:rPr lang="es-ES_tradnl" sz="2800" dirty="0">
                <a:latin typeface="Arial" panose="020B0604020202020204" pitchFamily="34" charset="0"/>
                <a:ea typeface="Calibri" panose="020F0502020204030204" pitchFamily="34" charset="0"/>
              </a:rPr>
              <a:t>Con el elemento </a:t>
            </a:r>
            <a:r>
              <a:rPr lang="es-ES_tradnl" sz="2800" dirty="0">
                <a:effectLst/>
                <a:latin typeface="Arial" panose="020B0604020202020204" pitchFamily="34" charset="0"/>
                <a:ea typeface="Calibri" panose="020F0502020204030204" pitchFamily="34" charset="0"/>
              </a:rPr>
              <a:t>“uses” se pueden reutilizar funciones creadas por otros autores, denominadas “</a:t>
            </a:r>
            <a:r>
              <a:rPr lang="es-ES_tradnl" sz="2800" dirty="0">
                <a:effectLst/>
                <a:latin typeface="Arial" panose="020B0604020202020204" pitchFamily="34" charset="0"/>
                <a:ea typeface="Calibri" panose="020F0502020204030204" pitchFamily="34" charset="0"/>
                <a:hlinkClick r:id="rId2"/>
              </a:rPr>
              <a:t>actions</a:t>
            </a:r>
            <a:r>
              <a:rPr lang="es-ES_tradnl" sz="2800" dirty="0">
                <a:effectLst/>
                <a:latin typeface="Arial" panose="020B0604020202020204" pitchFamily="34" charset="0"/>
                <a:ea typeface="Calibri" panose="020F0502020204030204" pitchFamily="34" charset="0"/>
              </a:rPr>
              <a:t>”, que se pueden integrar en un </a:t>
            </a:r>
            <a:r>
              <a:rPr lang="es-ES_tradnl" sz="2800" dirty="0" err="1">
                <a:effectLst/>
                <a:latin typeface="Arial" panose="020B0604020202020204" pitchFamily="34" charset="0"/>
                <a:ea typeface="Calibri" panose="020F0502020204030204" pitchFamily="34" charset="0"/>
              </a:rPr>
              <a:t>workflow</a:t>
            </a:r>
            <a:endParaRPr lang="es-ES_tradnl" sz="2800" dirty="0">
              <a:effectLst/>
              <a:latin typeface="Arial" panose="020B0604020202020204" pitchFamily="34" charset="0"/>
              <a:ea typeface="Calibri" panose="020F0502020204030204" pitchFamily="34" charset="0"/>
            </a:endParaRPr>
          </a:p>
          <a:p>
            <a:pPr algn="just">
              <a:lnSpc>
                <a:spcPct val="115000"/>
              </a:lnSpc>
              <a:spcAft>
                <a:spcPts val="1000"/>
              </a:spcAft>
            </a:pPr>
            <a:r>
              <a:rPr lang="es-ES_tradnl" sz="2800" dirty="0">
                <a:effectLst/>
                <a:latin typeface="Arial" panose="020B0604020202020204" pitchFamily="34" charset="0"/>
                <a:ea typeface="Calibri" panose="020F0502020204030204" pitchFamily="34" charset="0"/>
              </a:rPr>
              <a:t>Las actions se puede encontrar en el </a:t>
            </a:r>
            <a:r>
              <a:rPr lang="es-ES_tradnl" sz="2800" dirty="0">
                <a:effectLst/>
                <a:latin typeface="Arial" panose="020B0604020202020204" pitchFamily="34" charset="0"/>
                <a:ea typeface="Calibri" panose="020F0502020204030204" pitchFamily="34" charset="0"/>
                <a:hlinkClick r:id="rId3"/>
              </a:rPr>
              <a:t>Market</a:t>
            </a:r>
            <a:r>
              <a:rPr lang="es-ES_tradnl" sz="2800" dirty="0">
                <a:latin typeface="Arial" panose="020B0604020202020204" pitchFamily="34" charset="0"/>
                <a:ea typeface="Calibri" panose="020F0502020204030204" pitchFamily="34" charset="0"/>
                <a:hlinkClick r:id="rId3"/>
              </a:rPr>
              <a:t>place de GitHub</a:t>
            </a:r>
            <a:endParaRPr lang="es-ES_tradnl" sz="2800" dirty="0">
              <a:latin typeface="Arial" panose="020B0604020202020204" pitchFamily="34" charset="0"/>
              <a:ea typeface="Calibri" panose="020F0502020204030204" pitchFamily="34" charset="0"/>
            </a:endParaRPr>
          </a:p>
          <a:p>
            <a:pPr lvl="1" algn="just">
              <a:lnSpc>
                <a:spcPct val="115000"/>
              </a:lnSpc>
              <a:spcAft>
                <a:spcPts val="1000"/>
              </a:spcAft>
            </a:pPr>
            <a:r>
              <a:rPr lang="es-ES_tradnl" dirty="0">
                <a:latin typeface="Arial" panose="020B0604020202020204" pitchFamily="34" charset="0"/>
                <a:ea typeface="Calibri" panose="020F0502020204030204" pitchFamily="34" charset="0"/>
              </a:rPr>
              <a:t>Cuando se está editando el archivo </a:t>
            </a:r>
            <a:r>
              <a:rPr lang="es-ES_tradnl" dirty="0" err="1">
                <a:latin typeface="Arial" panose="020B0604020202020204" pitchFamily="34" charset="0"/>
                <a:ea typeface="Calibri" panose="020F0502020204030204" pitchFamily="34" charset="0"/>
              </a:rPr>
              <a:t>main.yaml</a:t>
            </a:r>
            <a:r>
              <a:rPr lang="es-ES_tradnl" dirty="0">
                <a:latin typeface="Arial" panose="020B0604020202020204" pitchFamily="34" charset="0"/>
                <a:ea typeface="Calibri" panose="020F0502020204030204" pitchFamily="34" charset="0"/>
              </a:rPr>
              <a:t>, se puede acceder directamente a un buscador de actions en el Marketplace</a:t>
            </a:r>
          </a:p>
        </p:txBody>
      </p:sp>
      <p:sp>
        <p:nvSpPr>
          <p:cNvPr id="4" name="Marcador de número de diapositiva 3">
            <a:extLst>
              <a:ext uri="{FF2B5EF4-FFF2-40B4-BE49-F238E27FC236}">
                <a16:creationId xmlns:a16="http://schemas.microsoft.com/office/drawing/2014/main" id="{94E9B0D4-E5F1-EC38-6877-A36D456F47AD}"/>
              </a:ext>
            </a:extLst>
          </p:cNvPr>
          <p:cNvSpPr>
            <a:spLocks noGrp="1"/>
          </p:cNvSpPr>
          <p:nvPr>
            <p:ph type="sldNum" sz="quarter" idx="12"/>
          </p:nvPr>
        </p:nvSpPr>
        <p:spPr/>
        <p:txBody>
          <a:bodyPr/>
          <a:lstStyle/>
          <a:p>
            <a:fld id="{C9400CC4-AA0F-4E2E-A7D9-25BF1D2A8A65}" type="slidenum">
              <a:rPr lang="es-ES" smtClean="0"/>
              <a:t>28</a:t>
            </a:fld>
            <a:endParaRPr lang="es-ES" dirty="0"/>
          </a:p>
        </p:txBody>
      </p:sp>
      <p:pic>
        <p:nvPicPr>
          <p:cNvPr id="6" name="Imagen 5">
            <a:extLst>
              <a:ext uri="{FF2B5EF4-FFF2-40B4-BE49-F238E27FC236}">
                <a16:creationId xmlns:a16="http://schemas.microsoft.com/office/drawing/2014/main" id="{42A83082-A641-2D5B-18C4-EB8F51A5CA73}"/>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621971" y="3645976"/>
            <a:ext cx="8948057" cy="3075499"/>
          </a:xfrm>
          <a:prstGeom prst="rect">
            <a:avLst/>
          </a:prstGeom>
        </p:spPr>
      </p:pic>
    </p:spTree>
    <p:extLst>
      <p:ext uri="{BB962C8B-B14F-4D97-AF65-F5344CB8AC3E}">
        <p14:creationId xmlns:p14="http://schemas.microsoft.com/office/powerpoint/2010/main" val="9218266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D0E99F53-C4B9-66E6-D56E-A2B392334FE6}"/>
              </a:ext>
            </a:extLst>
          </p:cNvPr>
          <p:cNvSpPr txBox="1"/>
          <p:nvPr/>
        </p:nvSpPr>
        <p:spPr>
          <a:xfrm>
            <a:off x="8347757" y="2286685"/>
            <a:ext cx="3621504" cy="3108543"/>
          </a:xfrm>
          <a:prstGeom prst="rect">
            <a:avLst/>
          </a:prstGeom>
          <a:noFill/>
          <a:ln>
            <a:solidFill>
              <a:schemeClr val="tx1"/>
            </a:solidFill>
          </a:ln>
        </p:spPr>
        <p:txBody>
          <a:bodyPr wrap="none" rtlCol="0">
            <a:spAutoFit/>
          </a:bodyPr>
          <a:lstStyle/>
          <a:p>
            <a:endParaRPr lang="en-US" sz="1400" dirty="0">
              <a:latin typeface="Courier New" panose="02070309020205020404" pitchFamily="49" charset="0"/>
              <a:cs typeface="Courier New" panose="02070309020205020404" pitchFamily="49" charset="0"/>
            </a:endParaRPr>
          </a:p>
          <a:p>
            <a:r>
              <a:rPr lang="en-US" sz="1400" dirty="0">
                <a:latin typeface="Courier New" panose="02070309020205020404" pitchFamily="49" charset="0"/>
                <a:cs typeface="Courier New" panose="02070309020205020404" pitchFamily="49" charset="0"/>
              </a:rPr>
              <a:t>name: CI</a:t>
            </a:r>
          </a:p>
          <a:p>
            <a:r>
              <a:rPr lang="en-US" sz="1400" dirty="0">
                <a:latin typeface="Courier New" panose="02070309020205020404" pitchFamily="49" charset="0"/>
                <a:cs typeface="Courier New" panose="02070309020205020404" pitchFamily="49" charset="0"/>
              </a:rPr>
              <a:t>on: push</a:t>
            </a:r>
          </a:p>
          <a:p>
            <a:r>
              <a:rPr lang="en-US" sz="1400" dirty="0">
                <a:latin typeface="Courier New" panose="02070309020205020404" pitchFamily="49" charset="0"/>
                <a:cs typeface="Courier New" panose="02070309020205020404" pitchFamily="49" charset="0"/>
              </a:rPr>
              <a:t>jobs:</a:t>
            </a:r>
          </a:p>
          <a:p>
            <a:r>
              <a:rPr lang="en-US" sz="1400" dirty="0">
                <a:latin typeface="Courier New" panose="02070309020205020404" pitchFamily="49" charset="0"/>
                <a:cs typeface="Courier New" panose="02070309020205020404" pitchFamily="49" charset="0"/>
              </a:rPr>
              <a:t> build:</a:t>
            </a:r>
          </a:p>
          <a:p>
            <a:r>
              <a:rPr lang="en-US" sz="1400" dirty="0">
                <a:latin typeface="Courier New" panose="02070309020205020404" pitchFamily="49" charset="0"/>
                <a:cs typeface="Courier New" panose="02070309020205020404" pitchFamily="49" charset="0"/>
              </a:rPr>
              <a:t>  runs-on: ubuntu-latest</a:t>
            </a:r>
          </a:p>
          <a:p>
            <a:r>
              <a:rPr lang="en-US" sz="1400" dirty="0">
                <a:latin typeface="Courier New" panose="02070309020205020404" pitchFamily="49" charset="0"/>
                <a:cs typeface="Courier New" panose="02070309020205020404" pitchFamily="49" charset="0"/>
              </a:rPr>
              <a:t>  steps:</a:t>
            </a:r>
          </a:p>
          <a:p>
            <a:r>
              <a:rPr lang="en-US" sz="1400" dirty="0">
                <a:latin typeface="Courier New" panose="02070309020205020404" pitchFamily="49" charset="0"/>
                <a:cs typeface="Courier New" panose="02070309020205020404" pitchFamily="49" charset="0"/>
              </a:rPr>
              <a:t>   - name: </a:t>
            </a:r>
            <a:r>
              <a:rPr lang="en-US" sz="1400" dirty="0" err="1">
                <a:latin typeface="Courier New" panose="02070309020205020404" pitchFamily="49" charset="0"/>
                <a:cs typeface="Courier New" panose="02070309020205020404" pitchFamily="49" charset="0"/>
              </a:rPr>
              <a:t>descargar</a:t>
            </a: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repositorio</a:t>
            </a:r>
            <a:endParaRPr lang="en-US" sz="1400" dirty="0">
              <a:latin typeface="Courier New" panose="02070309020205020404" pitchFamily="49" charset="0"/>
              <a:cs typeface="Courier New" panose="02070309020205020404" pitchFamily="49" charset="0"/>
            </a:endParaRPr>
          </a:p>
          <a:p>
            <a:r>
              <a:rPr lang="en-US" sz="1400" dirty="0">
                <a:latin typeface="Courier New" panose="02070309020205020404" pitchFamily="49" charset="0"/>
                <a:cs typeface="Courier New" panose="02070309020205020404" pitchFamily="49" charset="0"/>
              </a:rPr>
              <a:t>     </a:t>
            </a:r>
            <a:r>
              <a:rPr lang="en-US" sz="1400" b="1" dirty="0">
                <a:latin typeface="Courier New" panose="02070309020205020404" pitchFamily="49" charset="0"/>
                <a:cs typeface="Courier New" panose="02070309020205020404" pitchFamily="49" charset="0"/>
              </a:rPr>
              <a:t>uses: actions/checkout@v3</a:t>
            </a:r>
          </a:p>
          <a:p>
            <a:r>
              <a:rPr lang="en-US" sz="1400" dirty="0">
                <a:latin typeface="Courier New" panose="02070309020205020404" pitchFamily="49" charset="0"/>
                <a:cs typeface="Courier New" panose="02070309020205020404" pitchFamily="49" charset="0"/>
              </a:rPr>
              <a:t>   - name: </a:t>
            </a:r>
            <a:r>
              <a:rPr lang="en-US" sz="1400" dirty="0" err="1">
                <a:latin typeface="Courier New" panose="02070309020205020404" pitchFamily="49" charset="0"/>
                <a:cs typeface="Courier New" panose="02070309020205020404" pitchFamily="49" charset="0"/>
              </a:rPr>
              <a:t>pruebas-unitarias</a:t>
            </a:r>
            <a:endParaRPr lang="en-US" sz="1400" dirty="0">
              <a:latin typeface="Courier New" panose="02070309020205020404" pitchFamily="49" charset="0"/>
              <a:cs typeface="Courier New" panose="02070309020205020404" pitchFamily="49" charset="0"/>
            </a:endParaRPr>
          </a:p>
          <a:p>
            <a:r>
              <a:rPr lang="en-US" sz="1400" dirty="0">
                <a:latin typeface="Courier New" panose="02070309020205020404" pitchFamily="49" charset="0"/>
                <a:cs typeface="Courier New" panose="02070309020205020404" pitchFamily="49" charset="0"/>
              </a:rPr>
              <a:t>     run: </a:t>
            </a:r>
            <a:r>
              <a:rPr lang="en-US" sz="1400" dirty="0" err="1">
                <a:latin typeface="Courier New" panose="02070309020205020404" pitchFamily="49" charset="0"/>
                <a:cs typeface="Courier New" panose="02070309020205020404" pitchFamily="49" charset="0"/>
              </a:rPr>
              <a:t>mvn</a:t>
            </a:r>
            <a:r>
              <a:rPr lang="en-US" sz="1400" dirty="0">
                <a:latin typeface="Courier New" panose="02070309020205020404" pitchFamily="49" charset="0"/>
                <a:cs typeface="Courier New" panose="02070309020205020404" pitchFamily="49" charset="0"/>
              </a:rPr>
              <a:t> test</a:t>
            </a:r>
          </a:p>
          <a:p>
            <a:r>
              <a:rPr lang="en-US" sz="1400" dirty="0">
                <a:latin typeface="Courier New" panose="02070309020205020404" pitchFamily="49" charset="0"/>
                <a:cs typeface="Courier New" panose="02070309020205020404" pitchFamily="49" charset="0"/>
              </a:rPr>
              <a:t>   - name: </a:t>
            </a:r>
            <a:r>
              <a:rPr lang="en-US" sz="1400" dirty="0" err="1">
                <a:latin typeface="Courier New" panose="02070309020205020404" pitchFamily="49" charset="0"/>
                <a:cs typeface="Courier New" panose="02070309020205020404" pitchFamily="49" charset="0"/>
              </a:rPr>
              <a:t>empaquetar</a:t>
            </a:r>
            <a:endParaRPr lang="en-US" sz="1400" dirty="0">
              <a:latin typeface="Courier New" panose="02070309020205020404" pitchFamily="49" charset="0"/>
              <a:cs typeface="Courier New" panose="02070309020205020404" pitchFamily="49" charset="0"/>
            </a:endParaRPr>
          </a:p>
          <a:p>
            <a:r>
              <a:rPr lang="en-US" sz="1400" dirty="0">
                <a:latin typeface="Courier New" panose="02070309020205020404" pitchFamily="49" charset="0"/>
                <a:cs typeface="Courier New" panose="02070309020205020404" pitchFamily="49" charset="0"/>
              </a:rPr>
              <a:t>     run: </a:t>
            </a:r>
            <a:r>
              <a:rPr lang="en-US" sz="1400" dirty="0" err="1">
                <a:latin typeface="Courier New" panose="02070309020205020404" pitchFamily="49" charset="0"/>
                <a:cs typeface="Courier New" panose="02070309020205020404" pitchFamily="49" charset="0"/>
              </a:rPr>
              <a:t>mvn</a:t>
            </a:r>
            <a:r>
              <a:rPr lang="en-US" sz="1400" dirty="0">
                <a:latin typeface="Courier New" panose="02070309020205020404" pitchFamily="49" charset="0"/>
                <a:cs typeface="Courier New" panose="02070309020205020404" pitchFamily="49" charset="0"/>
              </a:rPr>
              <a:t> package</a:t>
            </a:r>
            <a:endParaRPr lang="en-US" sz="1400" kern="1200" dirty="0">
              <a:solidFill>
                <a:schemeClr val="tx1"/>
              </a:solidFill>
              <a:latin typeface="Courier New" panose="02070309020205020404" pitchFamily="49" charset="0"/>
              <a:ea typeface="+mn-ea"/>
              <a:cs typeface="Courier New" panose="02070309020205020404" pitchFamily="49" charset="0"/>
            </a:endParaRPr>
          </a:p>
          <a:p>
            <a:endParaRPr lang="es-ES" sz="1400" dirty="0"/>
          </a:p>
        </p:txBody>
      </p:sp>
      <p:sp>
        <p:nvSpPr>
          <p:cNvPr id="2" name="Título 1">
            <a:extLst>
              <a:ext uri="{FF2B5EF4-FFF2-40B4-BE49-F238E27FC236}">
                <a16:creationId xmlns:a16="http://schemas.microsoft.com/office/drawing/2014/main" id="{E9E05F1B-27C7-38CF-ED62-309B4BACF736}"/>
              </a:ext>
            </a:extLst>
          </p:cNvPr>
          <p:cNvSpPr>
            <a:spLocks noGrp="1"/>
          </p:cNvSpPr>
          <p:nvPr>
            <p:ph type="title"/>
          </p:nvPr>
        </p:nvSpPr>
        <p:spPr/>
        <p:txBody>
          <a:bodyPr/>
          <a:lstStyle/>
          <a:p>
            <a:r>
              <a:rPr lang="es-ES" dirty="0"/>
              <a:t>3.6 Elemento “uses”</a:t>
            </a:r>
            <a:br>
              <a:rPr lang="es-ES" dirty="0"/>
            </a:br>
            <a:r>
              <a:rPr lang="es-ES" dirty="0"/>
              <a:t>Ejemplo</a:t>
            </a:r>
          </a:p>
        </p:txBody>
      </p:sp>
      <p:sp>
        <p:nvSpPr>
          <p:cNvPr id="3" name="Marcador de contenido 2">
            <a:extLst>
              <a:ext uri="{FF2B5EF4-FFF2-40B4-BE49-F238E27FC236}">
                <a16:creationId xmlns:a16="http://schemas.microsoft.com/office/drawing/2014/main" id="{F3DA36A4-991A-58C3-1A06-EA1F086E9329}"/>
              </a:ext>
            </a:extLst>
          </p:cNvPr>
          <p:cNvSpPr>
            <a:spLocks noGrp="1"/>
          </p:cNvSpPr>
          <p:nvPr>
            <p:ph idx="1"/>
          </p:nvPr>
        </p:nvSpPr>
        <p:spPr>
          <a:xfrm>
            <a:off x="527538" y="1491517"/>
            <a:ext cx="7593205" cy="4864833"/>
          </a:xfrm>
        </p:spPr>
        <p:txBody>
          <a:bodyPr>
            <a:normAutofit fontScale="92500" lnSpcReduction="20000"/>
          </a:bodyPr>
          <a:lstStyle/>
          <a:p>
            <a:pPr algn="just">
              <a:lnSpc>
                <a:spcPct val="115000"/>
              </a:lnSpc>
              <a:spcAft>
                <a:spcPts val="1000"/>
              </a:spcAft>
            </a:pPr>
            <a:r>
              <a:rPr lang="es-ES" sz="2800" dirty="0">
                <a:latin typeface="Calibri" panose="020F0502020204030204" pitchFamily="34" charset="0"/>
                <a:ea typeface="Calibri" panose="020F0502020204030204" pitchFamily="34" charset="0"/>
                <a:cs typeface="Calibri" panose="020F0502020204030204" pitchFamily="34" charset="0"/>
              </a:rPr>
              <a:t>Un ejemplo puede ser la acción llamada “</a:t>
            </a:r>
            <a:r>
              <a:rPr lang="es-ES" sz="2800" dirty="0" err="1">
                <a:latin typeface="Calibri" panose="020F0502020204030204" pitchFamily="34" charset="0"/>
                <a:ea typeface="Calibri" panose="020F0502020204030204" pitchFamily="34" charset="0"/>
                <a:cs typeface="Calibri" panose="020F0502020204030204" pitchFamily="34" charset="0"/>
              </a:rPr>
              <a:t>checkout</a:t>
            </a:r>
            <a:r>
              <a:rPr lang="es-ES" sz="2800" dirty="0">
                <a:latin typeface="Calibri" panose="020F0502020204030204" pitchFamily="34" charset="0"/>
                <a:ea typeface="Calibri" panose="020F0502020204030204" pitchFamily="34" charset="0"/>
                <a:cs typeface="Calibri" panose="020F0502020204030204" pitchFamily="34" charset="0"/>
              </a:rPr>
              <a:t>”</a:t>
            </a:r>
          </a:p>
          <a:p>
            <a:pPr lvl="1" algn="just">
              <a:lnSpc>
                <a:spcPct val="115000"/>
              </a:lnSpc>
              <a:spcAft>
                <a:spcPts val="1000"/>
              </a:spcAft>
            </a:pPr>
            <a:r>
              <a:rPr lang="es-ES" dirty="0">
                <a:latin typeface="Calibri" panose="020F0502020204030204" pitchFamily="34" charset="0"/>
                <a:ea typeface="Calibri" panose="020F0502020204030204" pitchFamily="34" charset="0"/>
                <a:cs typeface="Calibri" panose="020F0502020204030204" pitchFamily="34" charset="0"/>
              </a:rPr>
              <a:t>Disponible en </a:t>
            </a:r>
            <a:r>
              <a:rPr lang="es-ES" dirty="0">
                <a:latin typeface="Calibri" panose="020F0502020204030204" pitchFamily="34" charset="0"/>
                <a:ea typeface="Calibri" panose="020F0502020204030204" pitchFamily="34" charset="0"/>
                <a:cs typeface="Calibri" panose="020F0502020204030204" pitchFamily="34" charset="0"/>
                <a:hlinkClick r:id="rId2"/>
              </a:rPr>
              <a:t>https://github.com/actions/checkout</a:t>
            </a:r>
            <a:r>
              <a:rPr lang="es-ES" dirty="0">
                <a:latin typeface="Calibri" panose="020F0502020204030204" pitchFamily="34" charset="0"/>
                <a:ea typeface="Calibri" panose="020F0502020204030204" pitchFamily="34" charset="0"/>
                <a:cs typeface="Calibri" panose="020F0502020204030204" pitchFamily="34" charset="0"/>
              </a:rPr>
              <a:t>  </a:t>
            </a:r>
          </a:p>
          <a:p>
            <a:pPr algn="just">
              <a:lnSpc>
                <a:spcPct val="115000"/>
              </a:lnSpc>
              <a:spcAft>
                <a:spcPts val="1000"/>
              </a:spcAft>
            </a:pPr>
            <a:r>
              <a:rPr lang="es-ES" sz="2800" dirty="0">
                <a:latin typeface="Calibri" panose="020F0502020204030204" pitchFamily="34" charset="0"/>
                <a:ea typeface="Calibri" panose="020F0502020204030204" pitchFamily="34" charset="0"/>
                <a:cs typeface="Calibri" panose="020F0502020204030204" pitchFamily="34" charset="0"/>
              </a:rPr>
              <a:t>Esta acción hace que el runner que ejecuta un trabajo:</a:t>
            </a:r>
          </a:p>
          <a:p>
            <a:pPr lvl="1" algn="just">
              <a:lnSpc>
                <a:spcPct val="115000"/>
              </a:lnSpc>
              <a:spcAft>
                <a:spcPts val="1000"/>
              </a:spcAft>
            </a:pPr>
            <a:r>
              <a:rPr lang="es-ES" dirty="0">
                <a:latin typeface="Calibri" panose="020F0502020204030204" pitchFamily="34" charset="0"/>
                <a:ea typeface="Calibri" panose="020F0502020204030204" pitchFamily="34" charset="0"/>
                <a:cs typeface="Calibri" panose="020F0502020204030204" pitchFamily="34" charset="0"/>
              </a:rPr>
              <a:t>reciba todo el contenido del repositorio (el código fuente de la aplicación que se está desarrollando),</a:t>
            </a:r>
          </a:p>
          <a:p>
            <a:pPr lvl="1" algn="just">
              <a:lnSpc>
                <a:spcPct val="115000"/>
              </a:lnSpc>
              <a:spcAft>
                <a:spcPts val="1000"/>
              </a:spcAft>
            </a:pPr>
            <a:r>
              <a:rPr lang="es-ES" dirty="0">
                <a:latin typeface="Calibri" panose="020F0502020204030204" pitchFamily="34" charset="0"/>
                <a:ea typeface="Calibri" panose="020F0502020204030204" pitchFamily="34" charset="0"/>
                <a:cs typeface="Calibri" panose="020F0502020204030204" pitchFamily="34" charset="0"/>
              </a:rPr>
              <a:t>y lo guarde en la carpeta de trabajo que se indicó al crear el runner (por defecto, el nombre es _</a:t>
            </a:r>
            <a:r>
              <a:rPr lang="es-ES" dirty="0" err="1">
                <a:latin typeface="Calibri" panose="020F0502020204030204" pitchFamily="34" charset="0"/>
                <a:ea typeface="Calibri" panose="020F0502020204030204" pitchFamily="34" charset="0"/>
                <a:cs typeface="Calibri" panose="020F0502020204030204" pitchFamily="34" charset="0"/>
              </a:rPr>
              <a:t>work</a:t>
            </a:r>
            <a:r>
              <a:rPr lang="es-ES" dirty="0">
                <a:latin typeface="Calibri" panose="020F0502020204030204" pitchFamily="34" charset="0"/>
                <a:ea typeface="Calibri" panose="020F0502020204030204" pitchFamily="34" charset="0"/>
                <a:cs typeface="Calibri" panose="020F0502020204030204" pitchFamily="34" charset="0"/>
              </a:rPr>
              <a:t>), para poder trabajar con dichos archivos, por ejemplo, para compilarlos o para ejecutar las pruebas.</a:t>
            </a:r>
          </a:p>
        </p:txBody>
      </p:sp>
      <p:sp>
        <p:nvSpPr>
          <p:cNvPr id="4" name="Marcador de número de diapositiva 3">
            <a:extLst>
              <a:ext uri="{FF2B5EF4-FFF2-40B4-BE49-F238E27FC236}">
                <a16:creationId xmlns:a16="http://schemas.microsoft.com/office/drawing/2014/main" id="{94E9B0D4-E5F1-EC38-6877-A36D456F47AD}"/>
              </a:ext>
            </a:extLst>
          </p:cNvPr>
          <p:cNvSpPr>
            <a:spLocks noGrp="1"/>
          </p:cNvSpPr>
          <p:nvPr>
            <p:ph type="sldNum" sz="quarter" idx="12"/>
          </p:nvPr>
        </p:nvSpPr>
        <p:spPr/>
        <p:txBody>
          <a:bodyPr/>
          <a:lstStyle/>
          <a:p>
            <a:fld id="{C9400CC4-AA0F-4E2E-A7D9-25BF1D2A8A65}" type="slidenum">
              <a:rPr lang="es-ES" smtClean="0"/>
              <a:t>29</a:t>
            </a:fld>
            <a:endParaRPr lang="es-ES" dirty="0"/>
          </a:p>
        </p:txBody>
      </p:sp>
      <p:sp>
        <p:nvSpPr>
          <p:cNvPr id="7" name="Rectángulo redondeado 5">
            <a:extLst>
              <a:ext uri="{FF2B5EF4-FFF2-40B4-BE49-F238E27FC236}">
                <a16:creationId xmlns:a16="http://schemas.microsoft.com/office/drawing/2014/main" id="{4BE3D554-9CB4-1640-B870-2B92D4EA547D}"/>
              </a:ext>
              <a:ext uri="{C183D7F6-B498-43B3-948B-1728B52AA6E4}">
                <adec:decorative xmlns:adec="http://schemas.microsoft.com/office/drawing/2017/decorative" val="1"/>
              </a:ext>
            </a:extLst>
          </p:cNvPr>
          <p:cNvSpPr/>
          <p:nvPr/>
        </p:nvSpPr>
        <p:spPr>
          <a:xfrm>
            <a:off x="8915767" y="4027717"/>
            <a:ext cx="2797261" cy="217714"/>
          </a:xfrm>
          <a:prstGeom prst="roundRect">
            <a:avLst/>
          </a:prstGeom>
          <a:noFill/>
          <a:ln w="38100">
            <a:solidFill>
              <a:srgbClr val="C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29307648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4. GitHub Actions Runner</a:t>
            </a:r>
          </a:p>
        </p:txBody>
      </p:sp>
      <p:sp>
        <p:nvSpPr>
          <p:cNvPr id="3" name="Marcador de contenido 2"/>
          <p:cNvSpPr>
            <a:spLocks noGrp="1"/>
          </p:cNvSpPr>
          <p:nvPr>
            <p:ph idx="1"/>
          </p:nvPr>
        </p:nvSpPr>
        <p:spPr/>
        <p:txBody>
          <a:bodyPr>
            <a:normAutofit/>
          </a:bodyPr>
          <a:lstStyle/>
          <a:p>
            <a:r>
              <a:rPr lang="es-ES" dirty="0"/>
              <a:t>4.1 Introducción</a:t>
            </a:r>
          </a:p>
          <a:p>
            <a:r>
              <a:rPr lang="es-ES" dirty="0"/>
              <a:t>4.2 Utilizar un runner hospedado en GitHub</a:t>
            </a:r>
          </a:p>
          <a:p>
            <a:r>
              <a:rPr lang="es-ES" dirty="0"/>
              <a:t>4.3 Utilizar un runner autohospedado</a:t>
            </a:r>
          </a:p>
          <a:p>
            <a:r>
              <a:rPr lang="es-ES" dirty="0"/>
              <a:t>4.4 Instalar el programa GitHub Actions Runner</a:t>
            </a:r>
          </a:p>
        </p:txBody>
      </p:sp>
      <p:sp>
        <p:nvSpPr>
          <p:cNvPr id="4" name="Marcador de número de diapositiva 3"/>
          <p:cNvSpPr>
            <a:spLocks noGrp="1"/>
          </p:cNvSpPr>
          <p:nvPr>
            <p:ph type="sldNum" sz="quarter" idx="12"/>
          </p:nvPr>
        </p:nvSpPr>
        <p:spPr/>
        <p:txBody>
          <a:bodyPr/>
          <a:lstStyle/>
          <a:p>
            <a:fld id="{C9400CC4-AA0F-4E2E-A7D9-25BF1D2A8A65}" type="slidenum">
              <a:rPr lang="es-ES" smtClean="0"/>
              <a:t>30</a:t>
            </a:fld>
            <a:endParaRPr lang="es-ES" dirty="0"/>
          </a:p>
        </p:txBody>
      </p:sp>
    </p:spTree>
    <p:extLst>
      <p:ext uri="{BB962C8B-B14F-4D97-AF65-F5344CB8AC3E}">
        <p14:creationId xmlns:p14="http://schemas.microsoft.com/office/powerpoint/2010/main" val="428125963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4.1 Introducción</a:t>
            </a:r>
          </a:p>
        </p:txBody>
      </p:sp>
      <p:sp>
        <p:nvSpPr>
          <p:cNvPr id="3" name="Marcador de contenido 2"/>
          <p:cNvSpPr>
            <a:spLocks noGrp="1"/>
          </p:cNvSpPr>
          <p:nvPr>
            <p:ph idx="1"/>
          </p:nvPr>
        </p:nvSpPr>
        <p:spPr>
          <a:xfrm>
            <a:off x="527538" y="1491516"/>
            <a:ext cx="6767113" cy="5366483"/>
          </a:xfrm>
        </p:spPr>
        <p:txBody>
          <a:bodyPr>
            <a:normAutofit fontScale="92500" lnSpcReduction="20000"/>
          </a:bodyPr>
          <a:lstStyle/>
          <a:p>
            <a:r>
              <a:rPr lang="es-ES" dirty="0"/>
              <a:t>GitHub no ejecuta los comandos de la sección “run” de los trabajos.</a:t>
            </a:r>
          </a:p>
          <a:p>
            <a:r>
              <a:rPr lang="es-ES" dirty="0"/>
              <a:t>GitHub ordena a un programa llamado GitHub Actions Runner que los ejecute.</a:t>
            </a:r>
          </a:p>
          <a:p>
            <a:r>
              <a:rPr lang="es-ES" dirty="0"/>
              <a:t>El programa GitHub Actions Runner puede descargarse e instalarse en cualquier máquina (Linux, Windows, Mac) que tenga acceso a Internet.</a:t>
            </a:r>
          </a:p>
          <a:p>
            <a:pPr lvl="1"/>
            <a:r>
              <a:rPr lang="es-ES" dirty="0"/>
              <a:t>Podemos usar </a:t>
            </a:r>
            <a:r>
              <a:rPr lang="es-ES" dirty="0">
                <a:hlinkClick r:id="rId2"/>
              </a:rPr>
              <a:t>runners compartidos</a:t>
            </a:r>
            <a:r>
              <a:rPr lang="es-ES" dirty="0"/>
              <a:t> de forma gratuita, hospedados en GitHub, pero con algunas limitaciones.</a:t>
            </a:r>
          </a:p>
          <a:p>
            <a:pPr lvl="1"/>
            <a:r>
              <a:rPr lang="es-ES" dirty="0"/>
              <a:t>Pero podemos instalar y usar nuestro propio </a:t>
            </a:r>
            <a:r>
              <a:rPr lang="es-ES" dirty="0">
                <a:hlinkClick r:id="rId3"/>
              </a:rPr>
              <a:t>runner autohospedado</a:t>
            </a:r>
            <a:r>
              <a:rPr lang="es-ES" dirty="0"/>
              <a:t> sin limitaciones.</a:t>
            </a:r>
          </a:p>
        </p:txBody>
      </p:sp>
      <p:sp>
        <p:nvSpPr>
          <p:cNvPr id="4" name="Marcador de número de diapositiva 3"/>
          <p:cNvSpPr>
            <a:spLocks noGrp="1"/>
          </p:cNvSpPr>
          <p:nvPr>
            <p:ph type="sldNum" sz="quarter" idx="12"/>
          </p:nvPr>
        </p:nvSpPr>
        <p:spPr/>
        <p:txBody>
          <a:bodyPr/>
          <a:lstStyle/>
          <a:p>
            <a:fld id="{C9400CC4-AA0F-4E2E-A7D9-25BF1D2A8A65}" type="slidenum">
              <a:rPr lang="es-ES" smtClean="0"/>
              <a:t>31</a:t>
            </a:fld>
            <a:endParaRPr lang="es-ES" dirty="0"/>
          </a:p>
        </p:txBody>
      </p:sp>
      <p:pic>
        <p:nvPicPr>
          <p:cNvPr id="5" name="Imagen 4">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7099443" y="2536650"/>
            <a:ext cx="5092557" cy="2956513"/>
          </a:xfrm>
          <a:prstGeom prst="rect">
            <a:avLst/>
          </a:prstGeom>
        </p:spPr>
      </p:pic>
      <p:sp>
        <p:nvSpPr>
          <p:cNvPr id="6" name="Rectángulo redondeado 5">
            <a:extLst>
              <a:ext uri="{C183D7F6-B498-43B3-948B-1728B52AA6E4}">
                <adec:decorative xmlns:adec="http://schemas.microsoft.com/office/drawing/2017/decorative" val="1"/>
              </a:ext>
            </a:extLst>
          </p:cNvPr>
          <p:cNvSpPr/>
          <p:nvPr/>
        </p:nvSpPr>
        <p:spPr>
          <a:xfrm>
            <a:off x="8589196" y="2536651"/>
            <a:ext cx="1986561" cy="978529"/>
          </a:xfrm>
          <a:prstGeom prst="roundRect">
            <a:avLst/>
          </a:prstGeom>
          <a:noFill/>
          <a:ln w="2540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CuadroTexto 6"/>
          <p:cNvSpPr txBox="1"/>
          <p:nvPr/>
        </p:nvSpPr>
        <p:spPr>
          <a:xfrm>
            <a:off x="8284536" y="2136539"/>
            <a:ext cx="2722370" cy="400110"/>
          </a:xfrm>
          <a:prstGeom prst="rect">
            <a:avLst/>
          </a:prstGeom>
          <a:noFill/>
        </p:spPr>
        <p:txBody>
          <a:bodyPr wrap="square" rtlCol="0">
            <a:spAutoFit/>
          </a:bodyPr>
          <a:lstStyle/>
          <a:p>
            <a:r>
              <a:rPr lang="es-ES" sz="2000" b="1" dirty="0">
                <a:solidFill>
                  <a:srgbClr val="C00000"/>
                </a:solidFill>
              </a:rPr>
              <a:t>GitHub Actions Runner</a:t>
            </a:r>
          </a:p>
        </p:txBody>
      </p:sp>
    </p:spTree>
    <p:extLst>
      <p:ext uri="{BB962C8B-B14F-4D97-AF65-F5344CB8AC3E}">
        <p14:creationId xmlns:p14="http://schemas.microsoft.com/office/powerpoint/2010/main" val="38974901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4.2 Utilizar un runner hospedado en GitHub</a:t>
            </a:r>
          </a:p>
        </p:txBody>
      </p:sp>
      <p:sp>
        <p:nvSpPr>
          <p:cNvPr id="3" name="Marcador de contenido 2"/>
          <p:cNvSpPr>
            <a:spLocks noGrp="1"/>
          </p:cNvSpPr>
          <p:nvPr>
            <p:ph idx="1"/>
          </p:nvPr>
        </p:nvSpPr>
        <p:spPr>
          <a:xfrm>
            <a:off x="527538" y="1491517"/>
            <a:ext cx="11043976" cy="1325563"/>
          </a:xfrm>
        </p:spPr>
        <p:txBody>
          <a:bodyPr>
            <a:normAutofit fontScale="92500" lnSpcReduction="20000"/>
          </a:bodyPr>
          <a:lstStyle/>
          <a:p>
            <a:r>
              <a:rPr lang="es-ES" dirty="0"/>
              <a:t>En la sección Actions &gt; Runners &gt; GitHub-</a:t>
            </a:r>
            <a:r>
              <a:rPr lang="es-ES" dirty="0" err="1"/>
              <a:t>hosted</a:t>
            </a:r>
            <a:r>
              <a:rPr lang="es-ES" dirty="0"/>
              <a:t> runners de un repositorio, se pueden encontrar los runners hospedados en GitHub que se pueden usar de forma gratuita (ej. uno alojado en un contenedor </a:t>
            </a:r>
            <a:r>
              <a:rPr lang="es-ES" dirty="0" err="1"/>
              <a:t>ubuntu-latest</a:t>
            </a:r>
            <a:r>
              <a:rPr lang="es-ES" dirty="0"/>
              <a:t>)</a:t>
            </a:r>
          </a:p>
        </p:txBody>
      </p:sp>
      <p:sp>
        <p:nvSpPr>
          <p:cNvPr id="4" name="Marcador de número de diapositiva 3"/>
          <p:cNvSpPr>
            <a:spLocks noGrp="1"/>
          </p:cNvSpPr>
          <p:nvPr>
            <p:ph type="sldNum" sz="quarter" idx="12"/>
          </p:nvPr>
        </p:nvSpPr>
        <p:spPr/>
        <p:txBody>
          <a:bodyPr/>
          <a:lstStyle/>
          <a:p>
            <a:fld id="{C9400CC4-AA0F-4E2E-A7D9-25BF1D2A8A65}" type="slidenum">
              <a:rPr lang="es-ES" smtClean="0"/>
              <a:t>32</a:t>
            </a:fld>
            <a:endParaRPr lang="es-ES" dirty="0"/>
          </a:p>
        </p:txBody>
      </p:sp>
      <p:pic>
        <p:nvPicPr>
          <p:cNvPr id="11" name="Imagen 10">
            <a:extLst>
              <a:ext uri="{FF2B5EF4-FFF2-40B4-BE49-F238E27FC236}">
                <a16:creationId xmlns:a16="http://schemas.microsoft.com/office/drawing/2014/main" id="{C24B84EF-C03A-5594-A849-E13E7200F61D}"/>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1402908" y="3298371"/>
            <a:ext cx="9739858" cy="3423104"/>
          </a:xfrm>
          <a:prstGeom prst="rect">
            <a:avLst/>
          </a:prstGeom>
        </p:spPr>
      </p:pic>
      <p:sp>
        <p:nvSpPr>
          <p:cNvPr id="9" name="Elipse 8">
            <a:extLst>
              <a:ext uri="{FF2B5EF4-FFF2-40B4-BE49-F238E27FC236}">
                <a16:creationId xmlns:a16="http://schemas.microsoft.com/office/drawing/2014/main" id="{16B6399F-70CC-BD5D-01B0-21302981A5CF}"/>
              </a:ext>
              <a:ext uri="{C183D7F6-B498-43B3-948B-1728B52AA6E4}">
                <adec:decorative xmlns:adec="http://schemas.microsoft.com/office/drawing/2017/decorative" val="1"/>
              </a:ext>
            </a:extLst>
          </p:cNvPr>
          <p:cNvSpPr/>
          <p:nvPr/>
        </p:nvSpPr>
        <p:spPr>
          <a:xfrm>
            <a:off x="9442321" y="5752789"/>
            <a:ext cx="1346771" cy="968685"/>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14509328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9E05F1B-27C7-38CF-ED62-309B4BACF736}"/>
              </a:ext>
            </a:extLst>
          </p:cNvPr>
          <p:cNvSpPr>
            <a:spLocks noGrp="1"/>
          </p:cNvSpPr>
          <p:nvPr>
            <p:ph type="title"/>
          </p:nvPr>
        </p:nvSpPr>
        <p:spPr/>
        <p:txBody>
          <a:bodyPr/>
          <a:lstStyle/>
          <a:p>
            <a:r>
              <a:rPr lang="es-ES" dirty="0"/>
              <a:t>4.2 Utilizar un runner hospedado en GitHub</a:t>
            </a:r>
            <a:br>
              <a:rPr lang="es-ES" dirty="0"/>
            </a:br>
            <a:r>
              <a:rPr lang="es-ES" dirty="0"/>
              <a:t>Ejemplo</a:t>
            </a:r>
          </a:p>
        </p:txBody>
      </p:sp>
      <p:sp>
        <p:nvSpPr>
          <p:cNvPr id="3" name="Marcador de contenido 2">
            <a:extLst>
              <a:ext uri="{FF2B5EF4-FFF2-40B4-BE49-F238E27FC236}">
                <a16:creationId xmlns:a16="http://schemas.microsoft.com/office/drawing/2014/main" id="{F3DA36A4-991A-58C3-1A06-EA1F086E9329}"/>
              </a:ext>
            </a:extLst>
          </p:cNvPr>
          <p:cNvSpPr>
            <a:spLocks noGrp="1"/>
          </p:cNvSpPr>
          <p:nvPr>
            <p:ph idx="1"/>
          </p:nvPr>
        </p:nvSpPr>
        <p:spPr>
          <a:xfrm>
            <a:off x="527538" y="1491518"/>
            <a:ext cx="7593205" cy="3896912"/>
          </a:xfrm>
        </p:spPr>
        <p:txBody>
          <a:bodyPr>
            <a:normAutofit fontScale="92500" lnSpcReduction="20000"/>
          </a:bodyPr>
          <a:lstStyle/>
          <a:p>
            <a:pPr algn="just">
              <a:lnSpc>
                <a:spcPct val="115000"/>
              </a:lnSpc>
              <a:spcAft>
                <a:spcPts val="1000"/>
              </a:spcAft>
            </a:pPr>
            <a:r>
              <a:rPr lang="es-ES" sz="2800" dirty="0">
                <a:latin typeface="Calibri" panose="020F0502020204030204" pitchFamily="34" charset="0"/>
                <a:ea typeface="Calibri" panose="020F0502020204030204" pitchFamily="34" charset="0"/>
                <a:cs typeface="Calibri" panose="020F0502020204030204" pitchFamily="34" charset="0"/>
              </a:rPr>
              <a:t>En la sección “</a:t>
            </a:r>
            <a:r>
              <a:rPr lang="es-ES" sz="2800" dirty="0" err="1">
                <a:latin typeface="Calibri" panose="020F0502020204030204" pitchFamily="34" charset="0"/>
                <a:ea typeface="Calibri" panose="020F0502020204030204" pitchFamily="34" charset="0"/>
                <a:cs typeface="Calibri" panose="020F0502020204030204" pitchFamily="34" charset="0"/>
              </a:rPr>
              <a:t>runs-on</a:t>
            </a:r>
            <a:r>
              <a:rPr lang="es-ES" sz="2800" dirty="0">
                <a:latin typeface="Calibri" panose="020F0502020204030204" pitchFamily="34" charset="0"/>
                <a:ea typeface="Calibri" panose="020F0502020204030204" pitchFamily="34" charset="0"/>
                <a:cs typeface="Calibri" panose="020F0502020204030204" pitchFamily="34" charset="0"/>
              </a:rPr>
              <a:t>” de cada trabajo de un </a:t>
            </a:r>
            <a:r>
              <a:rPr lang="es-ES" sz="2800" dirty="0" err="1">
                <a:latin typeface="Calibri" panose="020F0502020204030204" pitchFamily="34" charset="0"/>
                <a:ea typeface="Calibri" panose="020F0502020204030204" pitchFamily="34" charset="0"/>
                <a:cs typeface="Calibri" panose="020F0502020204030204" pitchFamily="34" charset="0"/>
              </a:rPr>
              <a:t>workflow</a:t>
            </a:r>
            <a:r>
              <a:rPr lang="es-ES" sz="2800" dirty="0">
                <a:latin typeface="Calibri" panose="020F0502020204030204" pitchFamily="34" charset="0"/>
                <a:ea typeface="Calibri" panose="020F0502020204030204" pitchFamily="34" charset="0"/>
                <a:cs typeface="Calibri" panose="020F0502020204030204" pitchFamily="34" charset="0"/>
              </a:rPr>
              <a:t> se puede indicar </a:t>
            </a:r>
            <a:r>
              <a:rPr lang="es-ES" dirty="0">
                <a:latin typeface="Calibri" panose="020F0502020204030204" pitchFamily="34" charset="0"/>
                <a:ea typeface="Calibri" panose="020F0502020204030204" pitchFamily="34" charset="0"/>
                <a:cs typeface="Calibri" panose="020F0502020204030204" pitchFamily="34" charset="0"/>
              </a:rPr>
              <a:t>el runner que tiene que ejecutar el trabajo.</a:t>
            </a:r>
          </a:p>
          <a:p>
            <a:pPr algn="just">
              <a:lnSpc>
                <a:spcPct val="115000"/>
              </a:lnSpc>
              <a:spcAft>
                <a:spcPts val="1000"/>
              </a:spcAft>
            </a:pPr>
            <a:r>
              <a:rPr lang="es-ES" sz="2800" dirty="0">
                <a:latin typeface="Calibri" panose="020F0502020204030204" pitchFamily="34" charset="0"/>
                <a:ea typeface="Calibri" panose="020F0502020204030204" pitchFamily="34" charset="0"/>
                <a:cs typeface="Calibri" panose="020F0502020204030204" pitchFamily="34" charset="0"/>
              </a:rPr>
              <a:t>Por ejemp</a:t>
            </a:r>
            <a:r>
              <a:rPr lang="es-ES" dirty="0">
                <a:latin typeface="Calibri" panose="020F0502020204030204" pitchFamily="34" charset="0"/>
                <a:ea typeface="Calibri" panose="020F0502020204030204" pitchFamily="34" charset="0"/>
                <a:cs typeface="Calibri" panose="020F0502020204030204" pitchFamily="34" charset="0"/>
              </a:rPr>
              <a:t>lo, si se utiliza </a:t>
            </a:r>
            <a:r>
              <a:rPr lang="es-ES" dirty="0" err="1">
                <a:latin typeface="Calibri" panose="020F0502020204030204" pitchFamily="34" charset="0"/>
                <a:ea typeface="Calibri" panose="020F0502020204030204" pitchFamily="34" charset="0"/>
                <a:cs typeface="Calibri" panose="020F0502020204030204" pitchFamily="34" charset="0"/>
              </a:rPr>
              <a:t>ubuntu-latest</a:t>
            </a:r>
            <a:r>
              <a:rPr lang="es-ES" dirty="0">
                <a:latin typeface="Calibri" panose="020F0502020204030204" pitchFamily="34" charset="0"/>
                <a:ea typeface="Calibri" panose="020F0502020204030204" pitchFamily="34" charset="0"/>
                <a:cs typeface="Calibri" panose="020F0502020204030204" pitchFamily="34" charset="0"/>
              </a:rPr>
              <a:t>, se indicaría como:</a:t>
            </a:r>
          </a:p>
          <a:p>
            <a:pPr lvl="1" algn="just">
              <a:lnSpc>
                <a:spcPct val="115000"/>
              </a:lnSpc>
              <a:spcAft>
                <a:spcPts val="1000"/>
              </a:spcAft>
            </a:pPr>
            <a:r>
              <a:rPr lang="es-ES" dirty="0" err="1">
                <a:latin typeface="Calibri" panose="020F0502020204030204" pitchFamily="34" charset="0"/>
                <a:ea typeface="Calibri" panose="020F0502020204030204" pitchFamily="34" charset="0"/>
                <a:cs typeface="Calibri" panose="020F0502020204030204" pitchFamily="34" charset="0"/>
              </a:rPr>
              <a:t>runs-on</a:t>
            </a:r>
            <a:r>
              <a:rPr lang="es-ES" dirty="0">
                <a:latin typeface="Calibri" panose="020F0502020204030204" pitchFamily="34" charset="0"/>
                <a:ea typeface="Calibri" panose="020F0502020204030204" pitchFamily="34" charset="0"/>
                <a:cs typeface="Calibri" panose="020F0502020204030204" pitchFamily="34" charset="0"/>
              </a:rPr>
              <a:t>: </a:t>
            </a:r>
            <a:r>
              <a:rPr lang="es-ES" dirty="0" err="1">
                <a:latin typeface="Calibri" panose="020F0502020204030204" pitchFamily="34" charset="0"/>
                <a:ea typeface="Calibri" panose="020F0502020204030204" pitchFamily="34" charset="0"/>
                <a:cs typeface="Calibri" panose="020F0502020204030204" pitchFamily="34" charset="0"/>
              </a:rPr>
              <a:t>ubuntu-latest</a:t>
            </a:r>
            <a:endParaRPr lang="es-ES" dirty="0">
              <a:latin typeface="Calibri" panose="020F0502020204030204" pitchFamily="34" charset="0"/>
              <a:ea typeface="Calibri" panose="020F0502020204030204" pitchFamily="34" charset="0"/>
              <a:cs typeface="Calibri" panose="020F0502020204030204" pitchFamily="34" charset="0"/>
            </a:endParaRPr>
          </a:p>
          <a:p>
            <a:pPr algn="just">
              <a:lnSpc>
                <a:spcPct val="115000"/>
              </a:lnSpc>
              <a:spcAft>
                <a:spcPts val="1000"/>
              </a:spcAft>
            </a:pPr>
            <a:r>
              <a:rPr lang="es-ES" dirty="0">
                <a:latin typeface="Calibri" panose="020F0502020204030204" pitchFamily="34" charset="0"/>
                <a:ea typeface="Calibri" panose="020F0502020204030204" pitchFamily="34" charset="0"/>
                <a:cs typeface="Calibri" panose="020F0502020204030204" pitchFamily="34" charset="0"/>
              </a:rPr>
              <a:t>En un mismo </a:t>
            </a:r>
            <a:r>
              <a:rPr lang="es-ES" dirty="0" err="1">
                <a:latin typeface="Calibri" panose="020F0502020204030204" pitchFamily="34" charset="0"/>
                <a:ea typeface="Calibri" panose="020F0502020204030204" pitchFamily="34" charset="0"/>
                <a:cs typeface="Calibri" panose="020F0502020204030204" pitchFamily="34" charset="0"/>
              </a:rPr>
              <a:t>workflow</a:t>
            </a:r>
            <a:r>
              <a:rPr lang="es-ES" dirty="0">
                <a:latin typeface="Calibri" panose="020F0502020204030204" pitchFamily="34" charset="0"/>
                <a:ea typeface="Calibri" panose="020F0502020204030204" pitchFamily="34" charset="0"/>
                <a:cs typeface="Calibri" panose="020F0502020204030204" pitchFamily="34" charset="0"/>
              </a:rPr>
              <a:t> se pueden usar diferentes runners en diferentes trabajos.</a:t>
            </a:r>
          </a:p>
        </p:txBody>
      </p:sp>
      <p:sp>
        <p:nvSpPr>
          <p:cNvPr id="4" name="Marcador de número de diapositiva 3">
            <a:extLst>
              <a:ext uri="{FF2B5EF4-FFF2-40B4-BE49-F238E27FC236}">
                <a16:creationId xmlns:a16="http://schemas.microsoft.com/office/drawing/2014/main" id="{94E9B0D4-E5F1-EC38-6877-A36D456F47AD}"/>
              </a:ext>
            </a:extLst>
          </p:cNvPr>
          <p:cNvSpPr>
            <a:spLocks noGrp="1"/>
          </p:cNvSpPr>
          <p:nvPr>
            <p:ph type="sldNum" sz="quarter" idx="12"/>
          </p:nvPr>
        </p:nvSpPr>
        <p:spPr/>
        <p:txBody>
          <a:bodyPr/>
          <a:lstStyle/>
          <a:p>
            <a:fld id="{C9400CC4-AA0F-4E2E-A7D9-25BF1D2A8A65}" type="slidenum">
              <a:rPr lang="es-ES" smtClean="0"/>
              <a:t>33</a:t>
            </a:fld>
            <a:endParaRPr lang="es-ES" dirty="0"/>
          </a:p>
        </p:txBody>
      </p:sp>
      <p:sp>
        <p:nvSpPr>
          <p:cNvPr id="6" name="CuadroTexto 5">
            <a:extLst>
              <a:ext uri="{FF2B5EF4-FFF2-40B4-BE49-F238E27FC236}">
                <a16:creationId xmlns:a16="http://schemas.microsoft.com/office/drawing/2014/main" id="{4CA5266D-BD88-1E36-C996-CE066087E9D7}"/>
              </a:ext>
            </a:extLst>
          </p:cNvPr>
          <p:cNvSpPr txBox="1"/>
          <p:nvPr/>
        </p:nvSpPr>
        <p:spPr>
          <a:xfrm>
            <a:off x="8347757" y="2178963"/>
            <a:ext cx="3621504" cy="3323987"/>
          </a:xfrm>
          <a:prstGeom prst="rect">
            <a:avLst/>
          </a:prstGeom>
          <a:noFill/>
          <a:ln>
            <a:solidFill>
              <a:schemeClr val="tx1"/>
            </a:solidFill>
          </a:ln>
        </p:spPr>
        <p:txBody>
          <a:bodyPr wrap="none" rtlCol="0">
            <a:spAutoFit/>
          </a:bodyPr>
          <a:lstStyle/>
          <a:p>
            <a:endParaRPr lang="en-US" sz="1400" dirty="0">
              <a:latin typeface="Courier New" panose="02070309020205020404" pitchFamily="49" charset="0"/>
              <a:cs typeface="Courier New" panose="02070309020205020404" pitchFamily="49" charset="0"/>
            </a:endParaRPr>
          </a:p>
          <a:p>
            <a:r>
              <a:rPr lang="en-US" sz="1400" dirty="0">
                <a:latin typeface="Courier New" panose="02070309020205020404" pitchFamily="49" charset="0"/>
                <a:cs typeface="Courier New" panose="02070309020205020404" pitchFamily="49" charset="0"/>
              </a:rPr>
              <a:t>name: CI</a:t>
            </a:r>
          </a:p>
          <a:p>
            <a:r>
              <a:rPr lang="en-US" sz="1400" dirty="0">
                <a:latin typeface="Courier New" panose="02070309020205020404" pitchFamily="49" charset="0"/>
                <a:cs typeface="Courier New" panose="02070309020205020404" pitchFamily="49" charset="0"/>
              </a:rPr>
              <a:t>on: push</a:t>
            </a:r>
          </a:p>
          <a:p>
            <a:r>
              <a:rPr lang="en-US" sz="1400" dirty="0">
                <a:latin typeface="Courier New" panose="02070309020205020404" pitchFamily="49" charset="0"/>
                <a:cs typeface="Courier New" panose="02070309020205020404" pitchFamily="49" charset="0"/>
              </a:rPr>
              <a:t>jobs:</a:t>
            </a:r>
          </a:p>
          <a:p>
            <a:r>
              <a:rPr lang="en-US" sz="1400" dirty="0">
                <a:latin typeface="Courier New" panose="02070309020205020404" pitchFamily="49" charset="0"/>
                <a:cs typeface="Courier New" panose="02070309020205020404" pitchFamily="49" charset="0"/>
              </a:rPr>
              <a:t> build:</a:t>
            </a:r>
          </a:p>
          <a:p>
            <a:r>
              <a:rPr lang="en-US" sz="1400" dirty="0">
                <a:latin typeface="Courier New" panose="02070309020205020404" pitchFamily="49" charset="0"/>
                <a:cs typeface="Courier New" panose="02070309020205020404" pitchFamily="49" charset="0"/>
              </a:rPr>
              <a:t>  </a:t>
            </a:r>
            <a:r>
              <a:rPr lang="en-US" sz="1400" b="1" dirty="0">
                <a:latin typeface="Courier New" panose="02070309020205020404" pitchFamily="49" charset="0"/>
                <a:cs typeface="Courier New" panose="02070309020205020404" pitchFamily="49" charset="0"/>
              </a:rPr>
              <a:t>runs-on: ubuntu-latest</a:t>
            </a:r>
          </a:p>
          <a:p>
            <a:r>
              <a:rPr lang="en-US" sz="1400" dirty="0">
                <a:latin typeface="Courier New" panose="02070309020205020404" pitchFamily="49" charset="0"/>
                <a:cs typeface="Courier New" panose="02070309020205020404" pitchFamily="49" charset="0"/>
              </a:rPr>
              <a:t>  steps:</a:t>
            </a:r>
          </a:p>
          <a:p>
            <a:r>
              <a:rPr lang="en-US" sz="1400" dirty="0">
                <a:latin typeface="Courier New" panose="02070309020205020404" pitchFamily="49" charset="0"/>
                <a:cs typeface="Courier New" panose="02070309020205020404" pitchFamily="49" charset="0"/>
              </a:rPr>
              <a:t>   - name: </a:t>
            </a:r>
            <a:r>
              <a:rPr lang="en-US" sz="1400" dirty="0" err="1">
                <a:latin typeface="Courier New" panose="02070309020205020404" pitchFamily="49" charset="0"/>
                <a:cs typeface="Courier New" panose="02070309020205020404" pitchFamily="49" charset="0"/>
              </a:rPr>
              <a:t>descargar</a:t>
            </a: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repositorio</a:t>
            </a:r>
            <a:endParaRPr lang="en-US" sz="1400" dirty="0">
              <a:latin typeface="Courier New" panose="02070309020205020404" pitchFamily="49" charset="0"/>
              <a:cs typeface="Courier New" panose="02070309020205020404" pitchFamily="49" charset="0"/>
            </a:endParaRPr>
          </a:p>
          <a:p>
            <a:r>
              <a:rPr lang="en-US" sz="1400" dirty="0">
                <a:latin typeface="Courier New" panose="02070309020205020404" pitchFamily="49" charset="0"/>
                <a:cs typeface="Courier New" panose="02070309020205020404" pitchFamily="49" charset="0"/>
              </a:rPr>
              <a:t>     </a:t>
            </a:r>
            <a:r>
              <a:rPr lang="en-US" sz="1400" b="0" dirty="0">
                <a:latin typeface="Courier New" panose="02070309020205020404" pitchFamily="49" charset="0"/>
                <a:cs typeface="Courier New" panose="02070309020205020404" pitchFamily="49" charset="0"/>
              </a:rPr>
              <a:t>uses: actions/checkout@v3</a:t>
            </a:r>
          </a:p>
          <a:p>
            <a:r>
              <a:rPr lang="en-US" sz="1400" dirty="0">
                <a:latin typeface="Courier New" panose="02070309020205020404" pitchFamily="49" charset="0"/>
                <a:cs typeface="Courier New" panose="02070309020205020404" pitchFamily="49" charset="0"/>
              </a:rPr>
              <a:t>   - name: </a:t>
            </a:r>
            <a:r>
              <a:rPr lang="en-US" sz="1400" dirty="0" err="1">
                <a:latin typeface="Courier New" panose="02070309020205020404" pitchFamily="49" charset="0"/>
                <a:cs typeface="Courier New" panose="02070309020205020404" pitchFamily="49" charset="0"/>
              </a:rPr>
              <a:t>pruebas-unitarias</a:t>
            </a:r>
            <a:endParaRPr lang="en-US" sz="1400" dirty="0">
              <a:latin typeface="Courier New" panose="02070309020205020404" pitchFamily="49" charset="0"/>
              <a:cs typeface="Courier New" panose="02070309020205020404" pitchFamily="49" charset="0"/>
            </a:endParaRPr>
          </a:p>
          <a:p>
            <a:r>
              <a:rPr lang="en-US" sz="1400" dirty="0">
                <a:latin typeface="Courier New" panose="02070309020205020404" pitchFamily="49" charset="0"/>
                <a:cs typeface="Courier New" panose="02070309020205020404" pitchFamily="49" charset="0"/>
              </a:rPr>
              <a:t>     run: </a:t>
            </a:r>
            <a:r>
              <a:rPr lang="en-US" sz="1400" dirty="0" err="1">
                <a:latin typeface="Courier New" panose="02070309020205020404" pitchFamily="49" charset="0"/>
                <a:cs typeface="Courier New" panose="02070309020205020404" pitchFamily="49" charset="0"/>
              </a:rPr>
              <a:t>mvn</a:t>
            </a:r>
            <a:r>
              <a:rPr lang="en-US" sz="1400" dirty="0">
                <a:latin typeface="Courier New" panose="02070309020205020404" pitchFamily="49" charset="0"/>
                <a:cs typeface="Courier New" panose="02070309020205020404" pitchFamily="49" charset="0"/>
              </a:rPr>
              <a:t> test</a:t>
            </a:r>
          </a:p>
          <a:p>
            <a:r>
              <a:rPr lang="en-US" sz="1400" dirty="0">
                <a:latin typeface="Courier New" panose="02070309020205020404" pitchFamily="49" charset="0"/>
                <a:cs typeface="Courier New" panose="02070309020205020404" pitchFamily="49" charset="0"/>
              </a:rPr>
              <a:t>   - name: </a:t>
            </a:r>
            <a:r>
              <a:rPr lang="en-US" sz="1400" dirty="0" err="1">
                <a:latin typeface="Courier New" panose="02070309020205020404" pitchFamily="49" charset="0"/>
                <a:cs typeface="Courier New" panose="02070309020205020404" pitchFamily="49" charset="0"/>
              </a:rPr>
              <a:t>empaquetar</a:t>
            </a:r>
            <a:endParaRPr lang="en-US" sz="1400" dirty="0">
              <a:latin typeface="Courier New" panose="02070309020205020404" pitchFamily="49" charset="0"/>
              <a:cs typeface="Courier New" panose="02070309020205020404" pitchFamily="49" charset="0"/>
            </a:endParaRPr>
          </a:p>
          <a:p>
            <a:r>
              <a:rPr lang="en-US" sz="1400" dirty="0">
                <a:latin typeface="Courier New" panose="02070309020205020404" pitchFamily="49" charset="0"/>
                <a:cs typeface="Courier New" panose="02070309020205020404" pitchFamily="49" charset="0"/>
              </a:rPr>
              <a:t>     run: </a:t>
            </a:r>
            <a:r>
              <a:rPr lang="en-US" sz="1400" dirty="0" err="1">
                <a:latin typeface="Courier New" panose="02070309020205020404" pitchFamily="49" charset="0"/>
                <a:cs typeface="Courier New" panose="02070309020205020404" pitchFamily="49" charset="0"/>
              </a:rPr>
              <a:t>mvn</a:t>
            </a:r>
            <a:r>
              <a:rPr lang="en-US" sz="1400" dirty="0">
                <a:latin typeface="Courier New" panose="02070309020205020404" pitchFamily="49" charset="0"/>
                <a:cs typeface="Courier New" panose="02070309020205020404" pitchFamily="49" charset="0"/>
              </a:rPr>
              <a:t> package</a:t>
            </a:r>
            <a:endParaRPr lang="en-US" sz="1400" kern="1200" dirty="0">
              <a:solidFill>
                <a:schemeClr val="tx1"/>
              </a:solidFill>
              <a:latin typeface="Courier New" panose="02070309020205020404" pitchFamily="49" charset="0"/>
              <a:ea typeface="+mn-ea"/>
              <a:cs typeface="Courier New" panose="02070309020205020404" pitchFamily="49" charset="0"/>
            </a:endParaRPr>
          </a:p>
          <a:p>
            <a:r>
              <a:rPr lang="en-US" sz="1400" kern="1200" dirty="0">
                <a:solidFill>
                  <a:schemeClr val="tx1"/>
                </a:solidFill>
                <a:latin typeface="Courier New" panose="02070309020205020404" pitchFamily="49" charset="0"/>
                <a:ea typeface="+mn-ea"/>
                <a:cs typeface="Courier New" panose="02070309020205020404" pitchFamily="49" charset="0"/>
              </a:rPr>
              <a:t>... </a:t>
            </a:r>
            <a:endParaRPr lang="es-ES" sz="1400" kern="1200" dirty="0">
              <a:solidFill>
                <a:schemeClr val="tx1"/>
              </a:solidFill>
              <a:latin typeface="Courier New" panose="02070309020205020404" pitchFamily="49" charset="0"/>
              <a:ea typeface="+mn-ea"/>
              <a:cs typeface="Courier New" panose="02070309020205020404" pitchFamily="49" charset="0"/>
            </a:endParaRPr>
          </a:p>
          <a:p>
            <a:endParaRPr lang="es-ES" sz="1400" dirty="0"/>
          </a:p>
        </p:txBody>
      </p:sp>
      <p:sp>
        <p:nvSpPr>
          <p:cNvPr id="7" name="Rectángulo redondeado 5">
            <a:extLst>
              <a:ext uri="{FF2B5EF4-FFF2-40B4-BE49-F238E27FC236}">
                <a16:creationId xmlns:a16="http://schemas.microsoft.com/office/drawing/2014/main" id="{4BE3D554-9CB4-1640-B870-2B92D4EA547D}"/>
              </a:ext>
              <a:ext uri="{C183D7F6-B498-43B3-948B-1728B52AA6E4}">
                <adec:decorative xmlns:adec="http://schemas.microsoft.com/office/drawing/2017/decorative" val="1"/>
              </a:ext>
            </a:extLst>
          </p:cNvPr>
          <p:cNvSpPr/>
          <p:nvPr/>
        </p:nvSpPr>
        <p:spPr>
          <a:xfrm>
            <a:off x="8545650" y="3276596"/>
            <a:ext cx="2797261" cy="217714"/>
          </a:xfrm>
          <a:prstGeom prst="roundRect">
            <a:avLst/>
          </a:prstGeom>
          <a:noFill/>
          <a:ln w="38100">
            <a:solidFill>
              <a:srgbClr val="C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9871645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800CE240-FFC7-1AB2-BAE9-C55CD00E3FBE}"/>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762000" y="4029798"/>
            <a:ext cx="10668000" cy="2443796"/>
          </a:xfrm>
          <a:prstGeom prst="rect">
            <a:avLst/>
          </a:prstGeom>
        </p:spPr>
      </p:pic>
      <p:sp>
        <p:nvSpPr>
          <p:cNvPr id="2" name="Título 1"/>
          <p:cNvSpPr>
            <a:spLocks noGrp="1"/>
          </p:cNvSpPr>
          <p:nvPr>
            <p:ph type="title"/>
          </p:nvPr>
        </p:nvSpPr>
        <p:spPr/>
        <p:txBody>
          <a:bodyPr/>
          <a:lstStyle/>
          <a:p>
            <a:r>
              <a:rPr lang="es-ES" dirty="0"/>
              <a:t>4.3 Utilizar un runner autohospedado</a:t>
            </a:r>
          </a:p>
        </p:txBody>
      </p:sp>
      <p:sp>
        <p:nvSpPr>
          <p:cNvPr id="3" name="Marcador de contenido 2"/>
          <p:cNvSpPr>
            <a:spLocks noGrp="1"/>
          </p:cNvSpPr>
          <p:nvPr>
            <p:ph idx="1"/>
          </p:nvPr>
        </p:nvSpPr>
        <p:spPr>
          <a:xfrm>
            <a:off x="527538" y="1491517"/>
            <a:ext cx="11043976" cy="1763312"/>
          </a:xfrm>
        </p:spPr>
        <p:txBody>
          <a:bodyPr>
            <a:normAutofit fontScale="85000" lnSpcReduction="20000"/>
          </a:bodyPr>
          <a:lstStyle/>
          <a:p>
            <a:r>
              <a:rPr lang="es-ES" dirty="0"/>
              <a:t>En la sección Actions &gt; Runners &gt; </a:t>
            </a:r>
            <a:r>
              <a:rPr lang="es-ES" dirty="0" err="1"/>
              <a:t>Self-hosted</a:t>
            </a:r>
            <a:r>
              <a:rPr lang="es-ES" dirty="0"/>
              <a:t> runners de un repositorio, se pueden añadir runners propios, seleccionando “New runner”</a:t>
            </a:r>
          </a:p>
          <a:p>
            <a:r>
              <a:rPr lang="es-ES" dirty="0"/>
              <a:t>Para poder utilizar un runner propio hay que instalar previamente en nuestra máquina el programa GitHub Actions Runner </a:t>
            </a:r>
          </a:p>
        </p:txBody>
      </p:sp>
      <p:sp>
        <p:nvSpPr>
          <p:cNvPr id="4" name="Marcador de número de diapositiva 3"/>
          <p:cNvSpPr>
            <a:spLocks noGrp="1"/>
          </p:cNvSpPr>
          <p:nvPr>
            <p:ph type="sldNum" sz="quarter" idx="12"/>
          </p:nvPr>
        </p:nvSpPr>
        <p:spPr/>
        <p:txBody>
          <a:bodyPr/>
          <a:lstStyle/>
          <a:p>
            <a:fld id="{C9400CC4-AA0F-4E2E-A7D9-25BF1D2A8A65}" type="slidenum">
              <a:rPr lang="es-ES" smtClean="0"/>
              <a:t>34</a:t>
            </a:fld>
            <a:endParaRPr lang="es-ES" dirty="0"/>
          </a:p>
        </p:txBody>
      </p:sp>
      <p:sp>
        <p:nvSpPr>
          <p:cNvPr id="9" name="Elipse 8">
            <a:extLst>
              <a:ext uri="{FF2B5EF4-FFF2-40B4-BE49-F238E27FC236}">
                <a16:creationId xmlns:a16="http://schemas.microsoft.com/office/drawing/2014/main" id="{16B6399F-70CC-BD5D-01B0-21302981A5CF}"/>
              </a:ext>
              <a:ext uri="{C183D7F6-B498-43B3-948B-1728B52AA6E4}">
                <adec:decorative xmlns:adec="http://schemas.microsoft.com/office/drawing/2017/decorative" val="1"/>
              </a:ext>
            </a:extLst>
          </p:cNvPr>
          <p:cNvSpPr/>
          <p:nvPr/>
        </p:nvSpPr>
        <p:spPr>
          <a:xfrm>
            <a:off x="10297886" y="4287269"/>
            <a:ext cx="1273628" cy="587828"/>
          </a:xfrm>
          <a:prstGeom prst="ellipse">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360009253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4.4 Instalar el programa GitHub Actions Runner</a:t>
            </a:r>
          </a:p>
        </p:txBody>
      </p:sp>
      <p:sp>
        <p:nvSpPr>
          <p:cNvPr id="3" name="Marcador de contenido 2"/>
          <p:cNvSpPr>
            <a:spLocks noGrp="1"/>
          </p:cNvSpPr>
          <p:nvPr>
            <p:ph idx="1"/>
          </p:nvPr>
        </p:nvSpPr>
        <p:spPr/>
        <p:txBody>
          <a:bodyPr>
            <a:normAutofit fontScale="92500" lnSpcReduction="10000"/>
          </a:bodyPr>
          <a:lstStyle/>
          <a:p>
            <a:r>
              <a:rPr lang="es-ES" dirty="0"/>
              <a:t>Para utilizar un runner propio autohospedado, hay que instalarlo en un ordenador con acceso a Internet</a:t>
            </a:r>
          </a:p>
          <a:p>
            <a:r>
              <a:rPr lang="es-ES" dirty="0"/>
              <a:t>Se debe instalar el programa </a:t>
            </a:r>
            <a:r>
              <a:rPr lang="es-ES" dirty="0">
                <a:hlinkClick r:id="rId2"/>
              </a:rPr>
              <a:t>GitHub Actions Runner</a:t>
            </a:r>
            <a:r>
              <a:rPr lang="es-ES" dirty="0"/>
              <a:t>, disponible para Linux, Windows y Mac</a:t>
            </a:r>
          </a:p>
          <a:p>
            <a:r>
              <a:rPr lang="es-ES" dirty="0"/>
              <a:t>Se puede instalar en un contenedor Docker</a:t>
            </a:r>
          </a:p>
          <a:p>
            <a:r>
              <a:rPr lang="es-ES" dirty="0"/>
              <a:t>Los comandos que hay que ejecutar en nuestra máquina o contenedor para descargar e instalar un runner, dependen del sistema operativo, y se indican en la sección Actions &gt; Runners &gt; </a:t>
            </a:r>
            <a:r>
              <a:rPr lang="es-ES" dirty="0" err="1"/>
              <a:t>Self-hosted</a:t>
            </a:r>
            <a:r>
              <a:rPr lang="es-ES" dirty="0"/>
              <a:t> runners &gt; New runner &gt; New </a:t>
            </a:r>
            <a:r>
              <a:rPr lang="es-ES" dirty="0" err="1"/>
              <a:t>self-hosted</a:t>
            </a:r>
            <a:r>
              <a:rPr lang="es-ES" dirty="0"/>
              <a:t> runner</a:t>
            </a:r>
          </a:p>
        </p:txBody>
      </p:sp>
      <p:sp>
        <p:nvSpPr>
          <p:cNvPr id="4" name="Marcador de número de diapositiva 3"/>
          <p:cNvSpPr>
            <a:spLocks noGrp="1"/>
          </p:cNvSpPr>
          <p:nvPr>
            <p:ph type="sldNum" sz="quarter" idx="12"/>
          </p:nvPr>
        </p:nvSpPr>
        <p:spPr/>
        <p:txBody>
          <a:bodyPr/>
          <a:lstStyle/>
          <a:p>
            <a:fld id="{C9400CC4-AA0F-4E2E-A7D9-25BF1D2A8A65}" type="slidenum">
              <a:rPr lang="es-ES" smtClean="0"/>
              <a:t>35</a:t>
            </a:fld>
            <a:endParaRPr lang="es-ES" dirty="0"/>
          </a:p>
        </p:txBody>
      </p:sp>
    </p:spTree>
    <p:extLst>
      <p:ext uri="{BB962C8B-B14F-4D97-AF65-F5344CB8AC3E}">
        <p14:creationId xmlns:p14="http://schemas.microsoft.com/office/powerpoint/2010/main" val="33575946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4.4 Instalar el programa GitHub Actions Runner</a:t>
            </a:r>
            <a:br>
              <a:rPr lang="es-ES" dirty="0"/>
            </a:br>
            <a:r>
              <a:rPr lang="es-ES" dirty="0"/>
              <a:t>Ejemplo</a:t>
            </a:r>
          </a:p>
        </p:txBody>
      </p:sp>
      <p:sp>
        <p:nvSpPr>
          <p:cNvPr id="3" name="Marcador de contenido 2"/>
          <p:cNvSpPr>
            <a:spLocks noGrp="1"/>
          </p:cNvSpPr>
          <p:nvPr>
            <p:ph idx="1"/>
          </p:nvPr>
        </p:nvSpPr>
        <p:spPr>
          <a:xfrm>
            <a:off x="527538" y="1491517"/>
            <a:ext cx="11025553" cy="1325563"/>
          </a:xfrm>
        </p:spPr>
        <p:txBody>
          <a:bodyPr>
            <a:normAutofit fontScale="77500" lnSpcReduction="20000"/>
          </a:bodyPr>
          <a:lstStyle/>
          <a:p>
            <a:r>
              <a:rPr lang="es-ES" dirty="0"/>
              <a:t>Se ejecutan los comandos que indica GitHub en nuestra máquina, y se le da el nombre que se desee (por ejemplo, “mi-runner”)</a:t>
            </a:r>
          </a:p>
          <a:p>
            <a:r>
              <a:rPr lang="es-ES" dirty="0"/>
              <a:t>Una vez creado y activado en nuestra máquina, hay que indicar su nombre en el </a:t>
            </a:r>
            <a:r>
              <a:rPr lang="es-ES" dirty="0" err="1"/>
              <a:t>workflow</a:t>
            </a:r>
            <a:endParaRPr lang="es-ES" dirty="0"/>
          </a:p>
        </p:txBody>
      </p:sp>
      <p:sp>
        <p:nvSpPr>
          <p:cNvPr id="4" name="Marcador de número de diapositiva 3"/>
          <p:cNvSpPr>
            <a:spLocks noGrp="1"/>
          </p:cNvSpPr>
          <p:nvPr>
            <p:ph type="sldNum" sz="quarter" idx="12"/>
          </p:nvPr>
        </p:nvSpPr>
        <p:spPr/>
        <p:txBody>
          <a:bodyPr/>
          <a:lstStyle/>
          <a:p>
            <a:fld id="{C9400CC4-AA0F-4E2E-A7D9-25BF1D2A8A65}" type="slidenum">
              <a:rPr lang="es-ES" smtClean="0"/>
              <a:t>36</a:t>
            </a:fld>
            <a:endParaRPr lang="es-ES" dirty="0"/>
          </a:p>
        </p:txBody>
      </p:sp>
      <p:pic>
        <p:nvPicPr>
          <p:cNvPr id="7" name="Imagen 6">
            <a:extLst>
              <a:ext uri="{FF2B5EF4-FFF2-40B4-BE49-F238E27FC236}">
                <a16:creationId xmlns:a16="http://schemas.microsoft.com/office/drawing/2014/main" id="{58FB573E-C016-4067-771E-3EB8D3068288}"/>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1276350" y="2817080"/>
            <a:ext cx="5886450" cy="3726234"/>
          </a:xfrm>
          <a:prstGeom prst="rect">
            <a:avLst/>
          </a:prstGeom>
        </p:spPr>
      </p:pic>
      <p:sp>
        <p:nvSpPr>
          <p:cNvPr id="5" name="CuadroTexto 4">
            <a:extLst>
              <a:ext uri="{FF2B5EF4-FFF2-40B4-BE49-F238E27FC236}">
                <a16:creationId xmlns:a16="http://schemas.microsoft.com/office/drawing/2014/main" id="{64C4EA90-1ACB-5118-849E-334AAFA0CE2D}"/>
              </a:ext>
            </a:extLst>
          </p:cNvPr>
          <p:cNvSpPr txBox="1"/>
          <p:nvPr/>
        </p:nvSpPr>
        <p:spPr>
          <a:xfrm>
            <a:off x="8246710" y="3032363"/>
            <a:ext cx="3621504" cy="3323987"/>
          </a:xfrm>
          <a:prstGeom prst="rect">
            <a:avLst/>
          </a:prstGeom>
          <a:noFill/>
          <a:ln>
            <a:solidFill>
              <a:schemeClr val="tx1"/>
            </a:solidFill>
          </a:ln>
        </p:spPr>
        <p:txBody>
          <a:bodyPr wrap="none" rtlCol="0">
            <a:spAutoFit/>
          </a:bodyPr>
          <a:lstStyle/>
          <a:p>
            <a:endParaRPr lang="en-US" sz="1400" dirty="0">
              <a:latin typeface="Courier New" panose="02070309020205020404" pitchFamily="49" charset="0"/>
              <a:cs typeface="Courier New" panose="02070309020205020404" pitchFamily="49" charset="0"/>
            </a:endParaRPr>
          </a:p>
          <a:p>
            <a:r>
              <a:rPr lang="en-US" sz="1400" dirty="0">
                <a:latin typeface="Courier New" panose="02070309020205020404" pitchFamily="49" charset="0"/>
                <a:cs typeface="Courier New" panose="02070309020205020404" pitchFamily="49" charset="0"/>
              </a:rPr>
              <a:t>name: CI</a:t>
            </a:r>
          </a:p>
          <a:p>
            <a:r>
              <a:rPr lang="en-US" sz="1400" dirty="0">
                <a:latin typeface="Courier New" panose="02070309020205020404" pitchFamily="49" charset="0"/>
                <a:cs typeface="Courier New" panose="02070309020205020404" pitchFamily="49" charset="0"/>
              </a:rPr>
              <a:t>on: push</a:t>
            </a:r>
          </a:p>
          <a:p>
            <a:r>
              <a:rPr lang="en-US" sz="1400" dirty="0">
                <a:latin typeface="Courier New" panose="02070309020205020404" pitchFamily="49" charset="0"/>
                <a:cs typeface="Courier New" panose="02070309020205020404" pitchFamily="49" charset="0"/>
              </a:rPr>
              <a:t>jobs:</a:t>
            </a:r>
          </a:p>
          <a:p>
            <a:r>
              <a:rPr lang="en-US" sz="1400" dirty="0">
                <a:latin typeface="Courier New" panose="02070309020205020404" pitchFamily="49" charset="0"/>
                <a:cs typeface="Courier New" panose="02070309020205020404" pitchFamily="49" charset="0"/>
              </a:rPr>
              <a:t> build:</a:t>
            </a:r>
          </a:p>
          <a:p>
            <a:r>
              <a:rPr lang="en-US" sz="1400" dirty="0">
                <a:latin typeface="Courier New" panose="02070309020205020404" pitchFamily="49" charset="0"/>
                <a:cs typeface="Courier New" panose="02070309020205020404" pitchFamily="49" charset="0"/>
              </a:rPr>
              <a:t>  </a:t>
            </a:r>
            <a:r>
              <a:rPr lang="en-US" sz="1400" b="1" dirty="0">
                <a:latin typeface="Courier New" panose="02070309020205020404" pitchFamily="49" charset="0"/>
                <a:cs typeface="Courier New" panose="02070309020205020404" pitchFamily="49" charset="0"/>
              </a:rPr>
              <a:t>runs-on: mi-runner</a:t>
            </a:r>
          </a:p>
          <a:p>
            <a:r>
              <a:rPr lang="en-US" sz="1400" dirty="0">
                <a:latin typeface="Courier New" panose="02070309020205020404" pitchFamily="49" charset="0"/>
                <a:cs typeface="Courier New" panose="02070309020205020404" pitchFamily="49" charset="0"/>
              </a:rPr>
              <a:t>  steps:</a:t>
            </a:r>
          </a:p>
          <a:p>
            <a:r>
              <a:rPr lang="en-US" sz="1400" dirty="0">
                <a:latin typeface="Courier New" panose="02070309020205020404" pitchFamily="49" charset="0"/>
                <a:cs typeface="Courier New" panose="02070309020205020404" pitchFamily="49" charset="0"/>
              </a:rPr>
              <a:t>   - name: </a:t>
            </a:r>
            <a:r>
              <a:rPr lang="en-US" sz="1400" dirty="0" err="1">
                <a:latin typeface="Courier New" panose="02070309020205020404" pitchFamily="49" charset="0"/>
                <a:cs typeface="Courier New" panose="02070309020205020404" pitchFamily="49" charset="0"/>
              </a:rPr>
              <a:t>descargar</a:t>
            </a: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repositorio</a:t>
            </a:r>
            <a:endParaRPr lang="en-US" sz="1400" dirty="0">
              <a:latin typeface="Courier New" panose="02070309020205020404" pitchFamily="49" charset="0"/>
              <a:cs typeface="Courier New" panose="02070309020205020404" pitchFamily="49" charset="0"/>
            </a:endParaRPr>
          </a:p>
          <a:p>
            <a:r>
              <a:rPr lang="en-US" sz="1400" b="0" dirty="0">
                <a:latin typeface="Courier New" panose="02070309020205020404" pitchFamily="49" charset="0"/>
                <a:cs typeface="Courier New" panose="02070309020205020404" pitchFamily="49" charset="0"/>
              </a:rPr>
              <a:t>     uses: actions/checkout@v3</a:t>
            </a:r>
          </a:p>
          <a:p>
            <a:r>
              <a:rPr lang="en-US" sz="1400" dirty="0">
                <a:latin typeface="Courier New" panose="02070309020205020404" pitchFamily="49" charset="0"/>
                <a:cs typeface="Courier New" panose="02070309020205020404" pitchFamily="49" charset="0"/>
              </a:rPr>
              <a:t>   - name: </a:t>
            </a:r>
            <a:r>
              <a:rPr lang="en-US" sz="1400" dirty="0" err="1">
                <a:latin typeface="Courier New" panose="02070309020205020404" pitchFamily="49" charset="0"/>
                <a:cs typeface="Courier New" panose="02070309020205020404" pitchFamily="49" charset="0"/>
              </a:rPr>
              <a:t>pruebas-unitarias</a:t>
            </a:r>
            <a:endParaRPr lang="en-US" sz="1400" dirty="0">
              <a:latin typeface="Courier New" panose="02070309020205020404" pitchFamily="49" charset="0"/>
              <a:cs typeface="Courier New" panose="02070309020205020404" pitchFamily="49" charset="0"/>
            </a:endParaRPr>
          </a:p>
          <a:p>
            <a:r>
              <a:rPr lang="en-US" sz="1400" dirty="0">
                <a:latin typeface="Courier New" panose="02070309020205020404" pitchFamily="49" charset="0"/>
                <a:cs typeface="Courier New" panose="02070309020205020404" pitchFamily="49" charset="0"/>
              </a:rPr>
              <a:t>     run: </a:t>
            </a:r>
            <a:r>
              <a:rPr lang="en-US" sz="1400" dirty="0" err="1">
                <a:latin typeface="Courier New" panose="02070309020205020404" pitchFamily="49" charset="0"/>
                <a:cs typeface="Courier New" panose="02070309020205020404" pitchFamily="49" charset="0"/>
              </a:rPr>
              <a:t>mvn</a:t>
            </a:r>
            <a:r>
              <a:rPr lang="en-US" sz="1400" dirty="0">
                <a:latin typeface="Courier New" panose="02070309020205020404" pitchFamily="49" charset="0"/>
                <a:cs typeface="Courier New" panose="02070309020205020404" pitchFamily="49" charset="0"/>
              </a:rPr>
              <a:t> test</a:t>
            </a:r>
          </a:p>
          <a:p>
            <a:r>
              <a:rPr lang="en-US" sz="1400" dirty="0">
                <a:latin typeface="Courier New" panose="02070309020205020404" pitchFamily="49" charset="0"/>
                <a:cs typeface="Courier New" panose="02070309020205020404" pitchFamily="49" charset="0"/>
              </a:rPr>
              <a:t>   - name: </a:t>
            </a:r>
            <a:r>
              <a:rPr lang="en-US" sz="1400" dirty="0" err="1">
                <a:latin typeface="Courier New" panose="02070309020205020404" pitchFamily="49" charset="0"/>
                <a:cs typeface="Courier New" panose="02070309020205020404" pitchFamily="49" charset="0"/>
              </a:rPr>
              <a:t>empaquetar</a:t>
            </a:r>
            <a:endParaRPr lang="en-US" sz="1400" dirty="0">
              <a:latin typeface="Courier New" panose="02070309020205020404" pitchFamily="49" charset="0"/>
              <a:cs typeface="Courier New" panose="02070309020205020404" pitchFamily="49" charset="0"/>
            </a:endParaRPr>
          </a:p>
          <a:p>
            <a:r>
              <a:rPr lang="en-US" sz="1400" dirty="0">
                <a:latin typeface="Courier New" panose="02070309020205020404" pitchFamily="49" charset="0"/>
                <a:cs typeface="Courier New" panose="02070309020205020404" pitchFamily="49" charset="0"/>
              </a:rPr>
              <a:t>     run: </a:t>
            </a:r>
            <a:r>
              <a:rPr lang="en-US" sz="1400" dirty="0" err="1">
                <a:latin typeface="Courier New" panose="02070309020205020404" pitchFamily="49" charset="0"/>
                <a:cs typeface="Courier New" panose="02070309020205020404" pitchFamily="49" charset="0"/>
              </a:rPr>
              <a:t>mvn</a:t>
            </a:r>
            <a:r>
              <a:rPr lang="en-US" sz="1400" dirty="0">
                <a:latin typeface="Courier New" panose="02070309020205020404" pitchFamily="49" charset="0"/>
                <a:cs typeface="Courier New" panose="02070309020205020404" pitchFamily="49" charset="0"/>
              </a:rPr>
              <a:t> package</a:t>
            </a:r>
            <a:endParaRPr lang="en-US" sz="1400" kern="1200" dirty="0">
              <a:solidFill>
                <a:schemeClr val="tx1"/>
              </a:solidFill>
              <a:latin typeface="Courier New" panose="02070309020205020404" pitchFamily="49" charset="0"/>
              <a:ea typeface="+mn-ea"/>
              <a:cs typeface="Courier New" panose="02070309020205020404" pitchFamily="49" charset="0"/>
            </a:endParaRPr>
          </a:p>
          <a:p>
            <a:r>
              <a:rPr lang="en-US" sz="1400" kern="1200" dirty="0">
                <a:solidFill>
                  <a:schemeClr val="tx1"/>
                </a:solidFill>
                <a:latin typeface="Courier New" panose="02070309020205020404" pitchFamily="49" charset="0"/>
                <a:ea typeface="+mn-ea"/>
                <a:cs typeface="Courier New" panose="02070309020205020404" pitchFamily="49" charset="0"/>
              </a:rPr>
              <a:t>... </a:t>
            </a:r>
            <a:endParaRPr lang="es-ES" sz="1400" kern="1200" dirty="0">
              <a:solidFill>
                <a:schemeClr val="tx1"/>
              </a:solidFill>
              <a:latin typeface="Courier New" panose="02070309020205020404" pitchFamily="49" charset="0"/>
              <a:ea typeface="+mn-ea"/>
              <a:cs typeface="Courier New" panose="02070309020205020404" pitchFamily="49" charset="0"/>
            </a:endParaRPr>
          </a:p>
          <a:p>
            <a:endParaRPr lang="es-ES" sz="1400" dirty="0"/>
          </a:p>
        </p:txBody>
      </p:sp>
      <p:sp>
        <p:nvSpPr>
          <p:cNvPr id="9" name="Rectángulo redondeado 5">
            <a:extLst>
              <a:ext uri="{FF2B5EF4-FFF2-40B4-BE49-F238E27FC236}">
                <a16:creationId xmlns:a16="http://schemas.microsoft.com/office/drawing/2014/main" id="{1BE04D16-F88C-670C-D1FD-9749D2D4DFB2}"/>
              </a:ext>
              <a:ext uri="{C183D7F6-B498-43B3-948B-1728B52AA6E4}">
                <adec:decorative xmlns:adec="http://schemas.microsoft.com/office/drawing/2017/decorative" val="1"/>
              </a:ext>
            </a:extLst>
          </p:cNvPr>
          <p:cNvSpPr/>
          <p:nvPr/>
        </p:nvSpPr>
        <p:spPr>
          <a:xfrm>
            <a:off x="8453538" y="4141779"/>
            <a:ext cx="2797261" cy="217714"/>
          </a:xfrm>
          <a:prstGeom prst="roundRect">
            <a:avLst/>
          </a:prstGeom>
          <a:noFill/>
          <a:ln w="38100">
            <a:solidFill>
              <a:srgbClr val="C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335097327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5. Conclusiones</a:t>
            </a:r>
          </a:p>
        </p:txBody>
      </p:sp>
      <p:sp>
        <p:nvSpPr>
          <p:cNvPr id="3" name="Marcador de contenido 2"/>
          <p:cNvSpPr>
            <a:spLocks noGrp="1"/>
          </p:cNvSpPr>
          <p:nvPr>
            <p:ph idx="1"/>
          </p:nvPr>
        </p:nvSpPr>
        <p:spPr>
          <a:xfrm>
            <a:off x="527538" y="1491517"/>
            <a:ext cx="11267195" cy="4698268"/>
          </a:xfrm>
        </p:spPr>
        <p:txBody>
          <a:bodyPr>
            <a:normAutofit/>
          </a:bodyPr>
          <a:lstStyle/>
          <a:p>
            <a:r>
              <a:rPr lang="es-ES" dirty="0"/>
              <a:t>En CI/CD un </a:t>
            </a:r>
            <a:r>
              <a:rPr lang="es-ES" dirty="0" err="1"/>
              <a:t>workflow</a:t>
            </a:r>
            <a:r>
              <a:rPr lang="es-ES" dirty="0"/>
              <a:t> (o pipeline) representa la automatización del flujo de trabajo de un proyecto, divido en trabajos</a:t>
            </a:r>
          </a:p>
          <a:p>
            <a:r>
              <a:rPr lang="es-ES" dirty="0"/>
              <a:t>En un repositorio de GitHub se define el </a:t>
            </a:r>
            <a:r>
              <a:rPr lang="es-ES" dirty="0" err="1"/>
              <a:t>workflow</a:t>
            </a:r>
            <a:r>
              <a:rPr lang="es-ES" dirty="0"/>
              <a:t> en el archivo .</a:t>
            </a:r>
            <a:r>
              <a:rPr lang="es-ES" dirty="0" err="1"/>
              <a:t>github</a:t>
            </a:r>
            <a:r>
              <a:rPr lang="es-ES" dirty="0"/>
              <a:t>\</a:t>
            </a:r>
            <a:r>
              <a:rPr lang="es-ES" dirty="0" err="1"/>
              <a:t>workflows</a:t>
            </a:r>
            <a:r>
              <a:rPr lang="es-ES" dirty="0"/>
              <a:t>\</a:t>
            </a:r>
            <a:r>
              <a:rPr lang="es-ES" dirty="0" err="1"/>
              <a:t>main.yaml</a:t>
            </a:r>
            <a:endParaRPr lang="es-ES" dirty="0"/>
          </a:p>
          <a:p>
            <a:r>
              <a:rPr lang="es-ES" dirty="0"/>
              <a:t>La ejecución de los trabajos del </a:t>
            </a:r>
            <a:r>
              <a:rPr lang="es-ES" dirty="0" err="1"/>
              <a:t>workflow</a:t>
            </a:r>
            <a:r>
              <a:rPr lang="es-ES" dirty="0"/>
              <a:t> se realiza en una máquina en la que está instalado el programa GitHub Actions Runner</a:t>
            </a:r>
          </a:p>
          <a:p>
            <a:pPr lvl="1"/>
            <a:r>
              <a:rPr lang="es-ES" dirty="0"/>
              <a:t>El runner puede estar hospedado en GitHub (con limitaciones si es gratuito)</a:t>
            </a:r>
          </a:p>
          <a:p>
            <a:pPr lvl="1"/>
            <a:r>
              <a:rPr lang="es-ES" dirty="0"/>
              <a:t>O puede estar auto hospedado en una máquina propia del desarrollador</a:t>
            </a:r>
          </a:p>
        </p:txBody>
      </p:sp>
      <p:sp>
        <p:nvSpPr>
          <p:cNvPr id="4" name="Marcador de número de diapositiva 3"/>
          <p:cNvSpPr>
            <a:spLocks noGrp="1"/>
          </p:cNvSpPr>
          <p:nvPr>
            <p:ph type="sldNum" sz="quarter" idx="12"/>
          </p:nvPr>
        </p:nvSpPr>
        <p:spPr/>
        <p:txBody>
          <a:bodyPr/>
          <a:lstStyle/>
          <a:p>
            <a:fld id="{C9400CC4-AA0F-4E2E-A7D9-25BF1D2A8A65}" type="slidenum">
              <a:rPr lang="es-ES" smtClean="0"/>
              <a:t>37</a:t>
            </a:fld>
            <a:endParaRPr lang="es-ES" dirty="0"/>
          </a:p>
        </p:txBody>
      </p:sp>
    </p:spTree>
    <p:extLst>
      <p:ext uri="{BB962C8B-B14F-4D97-AF65-F5344CB8AC3E}">
        <p14:creationId xmlns:p14="http://schemas.microsoft.com/office/powerpoint/2010/main" val="1839463669"/>
      </p:ext>
    </p:extLst>
  </p:cSld>
  <p:clrMapOvr>
    <a:masterClrMapping/>
  </p:clrMapOvr>
</p:sld>
</file>

<file path=ppt/theme/theme1.xml><?xml version="1.0" encoding="utf-8"?>
<a:theme xmlns:a="http://schemas.openxmlformats.org/drawingml/2006/main" name="Tema de Office">
  <a:themeElements>
    <a:clrScheme name="Personalizado 5">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17406D"/>
      </a:hlink>
      <a:folHlink>
        <a:srgbClr val="17406D"/>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iseño personalizado">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10291</TotalTime>
  <Words>2794</Words>
  <Application>Microsoft Office PowerPoint</Application>
  <PresentationFormat>Panorámica</PresentationFormat>
  <Paragraphs>358</Paragraphs>
  <Slides>37</Slides>
  <Notes>2</Notes>
  <HiddenSlides>0</HiddenSlides>
  <MMClips>0</MMClips>
  <ScaleCrop>false</ScaleCrop>
  <HeadingPairs>
    <vt:vector size="6" baseType="variant">
      <vt:variant>
        <vt:lpstr>Fuentes usadas</vt:lpstr>
      </vt:variant>
      <vt:variant>
        <vt:i4>5</vt:i4>
      </vt:variant>
      <vt:variant>
        <vt:lpstr>Tema</vt:lpstr>
      </vt:variant>
      <vt:variant>
        <vt:i4>2</vt:i4>
      </vt:variant>
      <vt:variant>
        <vt:lpstr>Títulos de diapositiva</vt:lpstr>
      </vt:variant>
      <vt:variant>
        <vt:i4>37</vt:i4>
      </vt:variant>
    </vt:vector>
  </HeadingPairs>
  <TitlesOfParts>
    <vt:vector size="44" baseType="lpstr">
      <vt:lpstr>Arial</vt:lpstr>
      <vt:lpstr>Calibri</vt:lpstr>
      <vt:lpstr>Calibri Light</vt:lpstr>
      <vt:lpstr>Courier New</vt:lpstr>
      <vt:lpstr>Wingdings</vt:lpstr>
      <vt:lpstr>Tema de Office</vt:lpstr>
      <vt:lpstr>Diseño personalizado</vt:lpstr>
      <vt:lpstr>Diseño de flujos de trabajo para la Integración Continua</vt:lpstr>
      <vt:lpstr>Contenido</vt:lpstr>
      <vt:lpstr>1. Concepto de workflow o pipeline</vt:lpstr>
      <vt:lpstr>1. Concepto de workflow o pipeline Ejecución</vt:lpstr>
      <vt:lpstr>2. Introducción a GitHub Actions</vt:lpstr>
      <vt:lpstr>2.1 Introducción</vt:lpstr>
      <vt:lpstr>2.2 Contexto para integración continua</vt:lpstr>
      <vt:lpstr>2.3 Registrarse para usar GitHub</vt:lpstr>
      <vt:lpstr>2.4 Repositorios</vt:lpstr>
      <vt:lpstr>2.5 Creación de un repositorio</vt:lpstr>
      <vt:lpstr>2.6 Comandos básicos de Git (1/2)</vt:lpstr>
      <vt:lpstr>2.6 Comandos básicos de Git (2/2)</vt:lpstr>
      <vt:lpstr>2.7 Creación de un proyecto asociado a un repositorio</vt:lpstr>
      <vt:lpstr>2.8 Gestión ágil de un proyecto (Scrum)</vt:lpstr>
      <vt:lpstr>2.9 Servidor de Integración Continua (CI/CD) GitHub Actions</vt:lpstr>
      <vt:lpstr>3. Definición de workflows</vt:lpstr>
      <vt:lpstr>3.1 Archivo .github\workflows\main.yaml</vt:lpstr>
      <vt:lpstr>3.2 Lenguaje de definición de un workflow</vt:lpstr>
      <vt:lpstr>3.3 Elementos básicos</vt:lpstr>
      <vt:lpstr>3.4 Ejecución del workflow de un repositorio</vt:lpstr>
      <vt:lpstr>3.4 Ejecución del workflow de un repositorio Resultado global de la ejecución</vt:lpstr>
      <vt:lpstr>3.4 Ejecución del workflow de un repositorio Resultado de cada trabajo</vt:lpstr>
      <vt:lpstr>3.4 Ejecución del workflow de un repositorio Detalle de la ejecución de un trabajo</vt:lpstr>
      <vt:lpstr>3.4 Ejecución del workflow de un repositorio Detalle de la ejecución de un trabajo (Set up job)</vt:lpstr>
      <vt:lpstr>3.4 Ejecución del workflow de un repositorio Detalle de la ejecución de un trabajo (steps)</vt:lpstr>
      <vt:lpstr>3.4 Ejecución del workflow de un repositorio Borrado de resultados</vt:lpstr>
      <vt:lpstr>3.5 Elementos needs y if</vt:lpstr>
      <vt:lpstr>3.6 Elemento “uses”</vt:lpstr>
      <vt:lpstr>3.6 Elemento “uses” Ejemplo</vt:lpstr>
      <vt:lpstr>4. GitHub Actions Runner</vt:lpstr>
      <vt:lpstr>4.1 Introducción</vt:lpstr>
      <vt:lpstr>4.2 Utilizar un runner hospedado en GitHub</vt:lpstr>
      <vt:lpstr>4.2 Utilizar un runner hospedado en GitHub Ejemplo</vt:lpstr>
      <vt:lpstr>4.3 Utilizar un runner autohospedado</vt:lpstr>
      <vt:lpstr>4.4 Instalar el programa GitHub Actions Runner</vt:lpstr>
      <vt:lpstr>4.4 Instalar el programa GitHub Actions Runner Ejemplo</vt:lpstr>
      <vt:lpstr>5. Conclusiones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Diseño de flujos de trabajo</dc:title>
  <dc:creator>Hilera González José Ramón</dc:creator>
  <cp:lastModifiedBy>jose hilera</cp:lastModifiedBy>
  <cp:revision>627</cp:revision>
  <cp:lastPrinted>2020-04-11T11:36:40Z</cp:lastPrinted>
  <dcterms:created xsi:type="dcterms:W3CDTF">2016-04-13T08:22:41Z</dcterms:created>
  <dcterms:modified xsi:type="dcterms:W3CDTF">2025-12-04T18:19:47Z</dcterms:modified>
</cp:coreProperties>
</file>