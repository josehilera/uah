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2" r:id="rId2"/>
  </p:sldMasterIdLst>
  <p:notesMasterIdLst>
    <p:notesMasterId r:id="rId22"/>
  </p:notesMasterIdLst>
  <p:sldIdLst>
    <p:sldId id="461" r:id="rId3"/>
    <p:sldId id="478" r:id="rId4"/>
    <p:sldId id="462" r:id="rId5"/>
    <p:sldId id="463" r:id="rId6"/>
    <p:sldId id="477" r:id="rId7"/>
    <p:sldId id="476" r:id="rId8"/>
    <p:sldId id="460" r:id="rId9"/>
    <p:sldId id="464" r:id="rId10"/>
    <p:sldId id="465" r:id="rId11"/>
    <p:sldId id="466" r:id="rId12"/>
    <p:sldId id="467" r:id="rId13"/>
    <p:sldId id="468" r:id="rId14"/>
    <p:sldId id="469" r:id="rId15"/>
    <p:sldId id="470" r:id="rId16"/>
    <p:sldId id="471" r:id="rId17"/>
    <p:sldId id="472" r:id="rId18"/>
    <p:sldId id="473" r:id="rId19"/>
    <p:sldId id="474" r:id="rId20"/>
    <p:sldId id="475" r:id="rId2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85" autoAdjust="0"/>
    <p:restoredTop sz="92639" autoAdjust="0"/>
  </p:normalViewPr>
  <p:slideViewPr>
    <p:cSldViewPr snapToGrid="0">
      <p:cViewPr varScale="1">
        <p:scale>
          <a:sx n="78" d="100"/>
          <a:sy n="78" d="100"/>
        </p:scale>
        <p:origin x="974" y="62"/>
      </p:cViewPr>
      <p:guideLst/>
    </p:cSldViewPr>
  </p:slideViewPr>
  <p:notesTextViewPr>
    <p:cViewPr>
      <p:scale>
        <a:sx n="150" d="100"/>
        <a:sy n="150" d="100"/>
      </p:scale>
      <p:origin x="0" y="0"/>
    </p:cViewPr>
  </p:notesTextViewPr>
  <p:notesViewPr>
    <p:cSldViewPr snapToGrid="0">
      <p:cViewPr varScale="1">
        <p:scale>
          <a:sx n="52" d="100"/>
          <a:sy n="52" d="100"/>
        </p:scale>
        <p:origin x="2608" y="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6FEF4D-0142-46B4-AC7F-5B868160AD8E}" type="datetimeFigureOut">
              <a:rPr lang="es-ES" smtClean="0"/>
              <a:t>04/12/2024</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B8CBC7-3B2B-4C22-92A9-AEE2213136AA}" type="slidenum">
              <a:rPr lang="es-ES" smtClean="0"/>
              <a:t>‹Nº›</a:t>
            </a:fld>
            <a:endParaRPr lang="es-ES" dirty="0"/>
          </a:p>
        </p:txBody>
      </p:sp>
    </p:spTree>
    <p:extLst>
      <p:ext uri="{BB962C8B-B14F-4D97-AF65-F5344CB8AC3E}">
        <p14:creationId xmlns:p14="http://schemas.microsoft.com/office/powerpoint/2010/main" val="316109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0"/>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1</a:t>
            </a:fld>
            <a:endParaRPr lang="es-ES"/>
          </a:p>
        </p:txBody>
      </p:sp>
    </p:spTree>
    <p:extLst>
      <p:ext uri="{BB962C8B-B14F-4D97-AF65-F5344CB8AC3E}">
        <p14:creationId xmlns:p14="http://schemas.microsoft.com/office/powerpoint/2010/main" val="2033812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09B8CBC7-3B2B-4C22-92A9-AEE2213136AA}" type="slidenum">
              <a:rPr lang="es-ES" smtClean="0"/>
              <a:t>3</a:t>
            </a:fld>
            <a:endParaRPr lang="es-ES" dirty="0"/>
          </a:p>
        </p:txBody>
      </p:sp>
    </p:spTree>
    <p:extLst>
      <p:ext uri="{BB962C8B-B14F-4D97-AF65-F5344CB8AC3E}">
        <p14:creationId xmlns:p14="http://schemas.microsoft.com/office/powerpoint/2010/main" val="3522596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09B8CBC7-3B2B-4C22-92A9-AEE2213136AA}" type="slidenum">
              <a:rPr lang="es-ES" smtClean="0"/>
              <a:t>4</a:t>
            </a:fld>
            <a:endParaRPr lang="es-ES" dirty="0"/>
          </a:p>
        </p:txBody>
      </p:sp>
    </p:spTree>
    <p:extLst>
      <p:ext uri="{BB962C8B-B14F-4D97-AF65-F5344CB8AC3E}">
        <p14:creationId xmlns:p14="http://schemas.microsoft.com/office/powerpoint/2010/main" val="3904500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09B8CBC7-3B2B-4C22-92A9-AEE2213136AA}" type="slidenum">
              <a:rPr lang="es-ES" smtClean="0"/>
              <a:t>5</a:t>
            </a:fld>
            <a:endParaRPr lang="es-ES" dirty="0"/>
          </a:p>
        </p:txBody>
      </p:sp>
    </p:spTree>
    <p:extLst>
      <p:ext uri="{BB962C8B-B14F-4D97-AF65-F5344CB8AC3E}">
        <p14:creationId xmlns:p14="http://schemas.microsoft.com/office/powerpoint/2010/main" val="3995888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6</a:t>
            </a:fld>
            <a:endParaRPr lang="es-ES" dirty="0"/>
          </a:p>
        </p:txBody>
      </p:sp>
    </p:spTree>
    <p:extLst>
      <p:ext uri="{BB962C8B-B14F-4D97-AF65-F5344CB8AC3E}">
        <p14:creationId xmlns:p14="http://schemas.microsoft.com/office/powerpoint/2010/main" val="23237860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7</a:t>
            </a:fld>
            <a:endParaRPr lang="es-ES" dirty="0"/>
          </a:p>
        </p:txBody>
      </p:sp>
    </p:spTree>
    <p:extLst>
      <p:ext uri="{BB962C8B-B14F-4D97-AF65-F5344CB8AC3E}">
        <p14:creationId xmlns:p14="http://schemas.microsoft.com/office/powerpoint/2010/main" val="3791443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8</a:t>
            </a:fld>
            <a:endParaRPr lang="es-ES" dirty="0"/>
          </a:p>
        </p:txBody>
      </p:sp>
    </p:spTree>
    <p:extLst>
      <p:ext uri="{BB962C8B-B14F-4D97-AF65-F5344CB8AC3E}">
        <p14:creationId xmlns:p14="http://schemas.microsoft.com/office/powerpoint/2010/main" val="1594774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9</a:t>
            </a:fld>
            <a:endParaRPr lang="es-ES" dirty="0"/>
          </a:p>
        </p:txBody>
      </p:sp>
    </p:spTree>
    <p:extLst>
      <p:ext uri="{BB962C8B-B14F-4D97-AF65-F5344CB8AC3E}">
        <p14:creationId xmlns:p14="http://schemas.microsoft.com/office/powerpoint/2010/main" val="578571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10</a:t>
            </a:fld>
            <a:endParaRPr lang="es-ES" dirty="0"/>
          </a:p>
        </p:txBody>
      </p:sp>
    </p:spTree>
    <p:extLst>
      <p:ext uri="{BB962C8B-B14F-4D97-AF65-F5344CB8AC3E}">
        <p14:creationId xmlns:p14="http://schemas.microsoft.com/office/powerpoint/2010/main" val="1399145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11</a:t>
            </a:fld>
            <a:endParaRPr lang="es-ES" dirty="0"/>
          </a:p>
        </p:txBody>
      </p:sp>
    </p:spTree>
    <p:extLst>
      <p:ext uri="{BB962C8B-B14F-4D97-AF65-F5344CB8AC3E}">
        <p14:creationId xmlns:p14="http://schemas.microsoft.com/office/powerpoint/2010/main" val="35510277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12</a:t>
            </a:fld>
            <a:endParaRPr lang="es-ES" dirty="0"/>
          </a:p>
        </p:txBody>
      </p:sp>
    </p:spTree>
    <p:extLst>
      <p:ext uri="{BB962C8B-B14F-4D97-AF65-F5344CB8AC3E}">
        <p14:creationId xmlns:p14="http://schemas.microsoft.com/office/powerpoint/2010/main" val="3362051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13</a:t>
            </a:fld>
            <a:endParaRPr lang="es-ES" dirty="0"/>
          </a:p>
        </p:txBody>
      </p:sp>
    </p:spTree>
    <p:extLst>
      <p:ext uri="{BB962C8B-B14F-4D97-AF65-F5344CB8AC3E}">
        <p14:creationId xmlns:p14="http://schemas.microsoft.com/office/powerpoint/2010/main" val="2756103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14</a:t>
            </a:fld>
            <a:endParaRPr lang="es-ES" dirty="0"/>
          </a:p>
        </p:txBody>
      </p:sp>
    </p:spTree>
    <p:extLst>
      <p:ext uri="{BB962C8B-B14F-4D97-AF65-F5344CB8AC3E}">
        <p14:creationId xmlns:p14="http://schemas.microsoft.com/office/powerpoint/2010/main" val="26420994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15</a:t>
            </a:fld>
            <a:endParaRPr lang="es-ES" dirty="0"/>
          </a:p>
        </p:txBody>
      </p:sp>
    </p:spTree>
    <p:extLst>
      <p:ext uri="{BB962C8B-B14F-4D97-AF65-F5344CB8AC3E}">
        <p14:creationId xmlns:p14="http://schemas.microsoft.com/office/powerpoint/2010/main" val="32254439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16</a:t>
            </a:fld>
            <a:endParaRPr lang="es-ES" dirty="0"/>
          </a:p>
        </p:txBody>
      </p:sp>
    </p:spTree>
    <p:extLst>
      <p:ext uri="{BB962C8B-B14F-4D97-AF65-F5344CB8AC3E}">
        <p14:creationId xmlns:p14="http://schemas.microsoft.com/office/powerpoint/2010/main" val="384951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17</a:t>
            </a:fld>
            <a:endParaRPr lang="es-ES" dirty="0"/>
          </a:p>
        </p:txBody>
      </p:sp>
    </p:spTree>
    <p:extLst>
      <p:ext uri="{BB962C8B-B14F-4D97-AF65-F5344CB8AC3E}">
        <p14:creationId xmlns:p14="http://schemas.microsoft.com/office/powerpoint/2010/main" val="27616930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18</a:t>
            </a:fld>
            <a:endParaRPr lang="es-ES" dirty="0"/>
          </a:p>
        </p:txBody>
      </p:sp>
    </p:spTree>
    <p:extLst>
      <p:ext uri="{BB962C8B-B14F-4D97-AF65-F5344CB8AC3E}">
        <p14:creationId xmlns:p14="http://schemas.microsoft.com/office/powerpoint/2010/main" val="35945143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19</a:t>
            </a:fld>
            <a:endParaRPr lang="es-ES" dirty="0"/>
          </a:p>
        </p:txBody>
      </p:sp>
    </p:spTree>
    <p:extLst>
      <p:ext uri="{BB962C8B-B14F-4D97-AF65-F5344CB8AC3E}">
        <p14:creationId xmlns:p14="http://schemas.microsoft.com/office/powerpoint/2010/main" val="3821222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0" y="0"/>
            <a:ext cx="12192000" cy="2387600"/>
          </a:xfrm>
          <a:solidFill>
            <a:schemeClr val="accent1">
              <a:lumMod val="40000"/>
              <a:lumOff val="60000"/>
            </a:schemeClr>
          </a:solidFill>
        </p:spPr>
        <p:txBody>
          <a:bodyPr anchor="ctr"/>
          <a:lstStyle>
            <a:lvl1pPr algn="r">
              <a:defRPr sz="6000"/>
            </a:lvl1pPr>
          </a:lstStyle>
          <a:p>
            <a:r>
              <a:rPr lang="es-ES" dirty="0"/>
              <a:t>Haga clic para modificar el estilo de título del patrón</a:t>
            </a:r>
          </a:p>
        </p:txBody>
      </p:sp>
      <p:sp>
        <p:nvSpPr>
          <p:cNvPr id="3" name="Subtítulo 2"/>
          <p:cNvSpPr>
            <a:spLocks noGrp="1"/>
          </p:cNvSpPr>
          <p:nvPr>
            <p:ph type="subTitle" idx="1"/>
          </p:nvPr>
        </p:nvSpPr>
        <p:spPr>
          <a:xfrm>
            <a:off x="240323" y="2854692"/>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Tree>
    <p:extLst>
      <p:ext uri="{BB962C8B-B14F-4D97-AF65-F5344CB8AC3E}">
        <p14:creationId xmlns:p14="http://schemas.microsoft.com/office/powerpoint/2010/main" val="1311319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Indice">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a:solidFill>
            <a:schemeClr val="accent1">
              <a:lumMod val="40000"/>
              <a:lumOff val="60000"/>
            </a:schemeClr>
          </a:solidFill>
        </p:spPr>
        <p:txBody>
          <a:bodyPr/>
          <a:lstStyle>
            <a:lvl1pPr algn="ctr">
              <a:defRPr/>
            </a:lvl1pPr>
          </a:lstStyle>
          <a:p>
            <a:r>
              <a:rPr lang="es-ES" dirty="0"/>
              <a:t>Haga clic para modificar el estilo de título del patrón</a:t>
            </a:r>
          </a:p>
        </p:txBody>
      </p:sp>
      <p:sp>
        <p:nvSpPr>
          <p:cNvPr id="3" name="Marcador de contenido 2"/>
          <p:cNvSpPr>
            <a:spLocks noGrp="1"/>
          </p:cNvSpPr>
          <p:nvPr>
            <p:ph idx="1"/>
          </p:nvPr>
        </p:nvSpPr>
        <p:spPr>
          <a:xfrm>
            <a:off x="1345223" y="1491517"/>
            <a:ext cx="9161585" cy="4698268"/>
          </a:xfrm>
        </p:spPr>
        <p:txBody>
          <a:bodyPr/>
          <a:lstStyle>
            <a:lvl1pPr marL="228600" indent="-228600">
              <a:lnSpc>
                <a:spcPct val="120000"/>
              </a:lnSpc>
              <a:buFont typeface="Wingdings" panose="05000000000000000000" pitchFamily="2" charset="2"/>
              <a:buChar char="§"/>
              <a:defRPr/>
            </a:lvl1pPr>
            <a:lvl2pPr marL="685800" indent="-228600">
              <a:spcBef>
                <a:spcPts val="1200"/>
              </a:spcBef>
              <a:buFont typeface="Courier New" panose="02070309020205020404" pitchFamily="49" charset="0"/>
              <a:buChar char="o"/>
              <a:defRPr/>
            </a:lvl2pPr>
            <a:lvl3pPr>
              <a:spcBef>
                <a:spcPts val="1200"/>
              </a:spcBef>
              <a:defRPr/>
            </a:lvl3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p:cNvSpPr>
            <a:spLocks noGrp="1"/>
          </p:cNvSpPr>
          <p:nvPr>
            <p:ph type="dt" sz="half" idx="10"/>
          </p:nvPr>
        </p:nvSpPr>
        <p:spPr/>
        <p:txBody>
          <a:bodyPr/>
          <a:lstStyle/>
          <a:p>
            <a:fld id="{29A70EA5-8E19-4BC4-934C-2C82A50D6490}" type="datetime1">
              <a:rPr lang="es-ES" smtClean="0"/>
              <a:t>04/12/2024</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a:xfrm>
            <a:off x="9226061" y="6356350"/>
            <a:ext cx="2743200" cy="365125"/>
          </a:xfrm>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184316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a:solidFill>
            <a:schemeClr val="accent1">
              <a:lumMod val="40000"/>
              <a:lumOff val="60000"/>
            </a:schemeClr>
          </a:solidFill>
        </p:spPr>
        <p:txBody>
          <a:bodyPr/>
          <a:lstStyle>
            <a:lvl1pPr marL="354013" indent="0">
              <a:defRPr/>
            </a:lvl1pPr>
          </a:lstStyle>
          <a:p>
            <a:r>
              <a:rPr lang="es-ES" dirty="0"/>
              <a:t>Haga clic para modificar el estilo de título del patrón</a:t>
            </a:r>
          </a:p>
        </p:txBody>
      </p:sp>
      <p:sp>
        <p:nvSpPr>
          <p:cNvPr id="3" name="Marcador de contenido 2"/>
          <p:cNvSpPr>
            <a:spLocks noGrp="1"/>
          </p:cNvSpPr>
          <p:nvPr>
            <p:ph idx="1"/>
          </p:nvPr>
        </p:nvSpPr>
        <p:spPr>
          <a:xfrm>
            <a:off x="527538" y="1491517"/>
            <a:ext cx="11025553" cy="4698268"/>
          </a:xfrm>
        </p:spPr>
        <p:txBody>
          <a:bodyPr/>
          <a:lstStyle>
            <a:lvl1pPr marL="228600" indent="-228600">
              <a:lnSpc>
                <a:spcPct val="120000"/>
              </a:lnSpc>
              <a:buFont typeface="Wingdings" panose="05000000000000000000" pitchFamily="2" charset="2"/>
              <a:buChar char="§"/>
              <a:defRPr/>
            </a:lvl1pPr>
            <a:lvl2pPr marL="685800" indent="-228600">
              <a:spcBef>
                <a:spcPts val="1200"/>
              </a:spcBef>
              <a:buFont typeface="Courier New" panose="02070309020205020404" pitchFamily="49" charset="0"/>
              <a:buChar char="o"/>
              <a:defRPr/>
            </a:lvl2pPr>
            <a:lvl3pPr>
              <a:spcBef>
                <a:spcPts val="1200"/>
              </a:spcBef>
              <a:defRPr/>
            </a:lvl3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p:cNvSpPr>
            <a:spLocks noGrp="1"/>
          </p:cNvSpPr>
          <p:nvPr>
            <p:ph type="dt" sz="half" idx="10"/>
          </p:nvPr>
        </p:nvSpPr>
        <p:spPr/>
        <p:txBody>
          <a:bodyPr/>
          <a:lstStyle/>
          <a:p>
            <a:fld id="{29A70EA5-8E19-4BC4-934C-2C82A50D6490}" type="datetime1">
              <a:rPr lang="es-ES" smtClean="0"/>
              <a:t>04/12/2024</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a:xfrm>
            <a:off x="9226061" y="6356350"/>
            <a:ext cx="2743200" cy="365125"/>
          </a:xfrm>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171519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A36C9D08-3C16-416B-B8F9-4D4A629F38C9}" type="datetime1">
              <a:rPr lang="es-ES" smtClean="0"/>
              <a:t>04/12/2024</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021949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69E1E605-5CBB-40FE-87B4-05B62A5CAB7C}" type="datetime1">
              <a:rPr lang="es-ES" smtClean="0"/>
              <a:t>04/12/2024</a:t>
            </a:fld>
            <a:endParaRPr lang="es-ES" dirty="0"/>
          </a:p>
        </p:txBody>
      </p:sp>
      <p:sp>
        <p:nvSpPr>
          <p:cNvPr id="8" name="Marcador de pie de página 7"/>
          <p:cNvSpPr>
            <a:spLocks noGrp="1"/>
          </p:cNvSpPr>
          <p:nvPr>
            <p:ph type="ftr" sz="quarter" idx="11"/>
          </p:nvPr>
        </p:nvSpPr>
        <p:spPr/>
        <p:txBody>
          <a:bodyPr/>
          <a:lstStyle/>
          <a:p>
            <a:endParaRPr lang="es-ES" dirty="0"/>
          </a:p>
        </p:txBody>
      </p:sp>
      <p:sp>
        <p:nvSpPr>
          <p:cNvPr id="9" name="Marcador de número de diapositiva 8"/>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1488140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5EC06281-1CDF-413F-B502-D8EF9109D251}" type="datetime1">
              <a:rPr lang="es-ES" smtClean="0"/>
              <a:t>04/12/2024</a:t>
            </a:fld>
            <a:endParaRPr lang="es-ES" dirty="0"/>
          </a:p>
        </p:txBody>
      </p:sp>
      <p:sp>
        <p:nvSpPr>
          <p:cNvPr id="4" name="Marcador de pie de página 3"/>
          <p:cNvSpPr>
            <a:spLocks noGrp="1"/>
          </p:cNvSpPr>
          <p:nvPr>
            <p:ph type="ftr" sz="quarter" idx="11"/>
          </p:nvPr>
        </p:nvSpPr>
        <p:spPr/>
        <p:txBody>
          <a:bodyPr/>
          <a:lstStyle/>
          <a:p>
            <a:endParaRPr lang="es-ES" dirty="0"/>
          </a:p>
        </p:txBody>
      </p:sp>
      <p:sp>
        <p:nvSpPr>
          <p:cNvPr id="5" name="Marcador de número de diapositiva 4"/>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1665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82C46C39-2265-4ECA-84D0-AFE501AC4C1C}" type="datetime1">
              <a:rPr lang="es-ES" smtClean="0"/>
              <a:t>04/12/2024</a:t>
            </a:fld>
            <a:endParaRPr lang="es-ES" dirty="0"/>
          </a:p>
        </p:txBody>
      </p:sp>
      <p:sp>
        <p:nvSpPr>
          <p:cNvPr id="4" name="Marcador de pie de página 3"/>
          <p:cNvSpPr>
            <a:spLocks noGrp="1"/>
          </p:cNvSpPr>
          <p:nvPr>
            <p:ph type="ftr" sz="quarter" idx="11"/>
          </p:nvPr>
        </p:nvSpPr>
        <p:spPr/>
        <p:txBody>
          <a:bodyPr/>
          <a:lstStyle/>
          <a:p>
            <a:endParaRPr lang="es-ES" dirty="0"/>
          </a:p>
        </p:txBody>
      </p:sp>
      <p:sp>
        <p:nvSpPr>
          <p:cNvPr id="5" name="Marcador de número de diapositiva 4"/>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1340353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350D3683-7933-4D92-B730-4B8490CCDF4B}" type="datetime1">
              <a:rPr lang="es-ES" smtClean="0"/>
              <a:t>04/12/2024</a:t>
            </a:fld>
            <a:endParaRPr lang="es-ES" dirty="0"/>
          </a:p>
        </p:txBody>
      </p:sp>
      <p:sp>
        <p:nvSpPr>
          <p:cNvPr id="3" name="Marcador de pie de página 2"/>
          <p:cNvSpPr>
            <a:spLocks noGrp="1"/>
          </p:cNvSpPr>
          <p:nvPr>
            <p:ph type="ftr" sz="quarter" idx="11"/>
          </p:nvPr>
        </p:nvSpPr>
        <p:spPr/>
        <p:txBody>
          <a:bodyPr/>
          <a:lstStyle/>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545139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5C35D45B-6432-4BD4-BB2B-6E8E1493A879}" type="datetime1">
              <a:rPr lang="es-ES" smtClean="0"/>
              <a:t>04/12/2024</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378924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9290BFDE-1D6E-4E03-A53A-F1B29D2D0A86}" type="datetime1">
              <a:rPr lang="es-ES" smtClean="0"/>
              <a:t>04/12/2024</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287348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A02143F0-BAC6-4443-92A3-9EA2CC19B9B7}" type="datetime1">
              <a:rPr lang="es-ES" smtClean="0"/>
              <a:t>04/12/2024</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3593880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A67633C-AB28-4AC7-B7B0-41DFBCF1B247}" type="datetime1">
              <a:rPr lang="es-ES" smtClean="0"/>
              <a:t>04/12/2024</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4113803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960B338E-2CA8-4990-93F8-04B6F142715C}" type="datetimeFigureOut">
              <a:rPr lang="es-ES" smtClean="0"/>
              <a:t>04/12/2024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12633489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60B338E-2CA8-4990-93F8-04B6F142715C}" type="datetimeFigureOut">
              <a:rPr lang="es-ES" smtClean="0"/>
              <a:t>04/12/2024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3309229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960B338E-2CA8-4990-93F8-04B6F142715C}" type="datetimeFigureOut">
              <a:rPr lang="es-ES" smtClean="0"/>
              <a:t>04/12/2024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19183556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960B338E-2CA8-4990-93F8-04B6F142715C}" type="datetimeFigureOut">
              <a:rPr lang="es-ES" smtClean="0"/>
              <a:t>04/12/2024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32885864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960B338E-2CA8-4990-93F8-04B6F142715C}" type="datetimeFigureOut">
              <a:rPr lang="es-ES" smtClean="0"/>
              <a:t>04/12/2024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229766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960B338E-2CA8-4990-93F8-04B6F142715C}" type="datetimeFigureOut">
              <a:rPr lang="es-ES" smtClean="0"/>
              <a:t>04/12/2024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6989982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960B338E-2CA8-4990-93F8-04B6F142715C}" type="datetimeFigureOut">
              <a:rPr lang="es-ES" smtClean="0"/>
              <a:t>04/12/2024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3297037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960B338E-2CA8-4990-93F8-04B6F142715C}" type="datetimeFigureOut">
              <a:rPr lang="es-ES" smtClean="0"/>
              <a:t>04/12/2024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5398797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960B338E-2CA8-4990-93F8-04B6F142715C}" type="datetimeFigureOut">
              <a:rPr lang="es-ES" smtClean="0"/>
              <a:t>04/12/2024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14308488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60B338E-2CA8-4990-93F8-04B6F142715C}" type="datetimeFigureOut">
              <a:rPr lang="es-ES" smtClean="0"/>
              <a:t>04/12/2024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4384880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60B338E-2CA8-4990-93F8-04B6F142715C}" type="datetimeFigureOut">
              <a:rPr lang="es-ES" smtClean="0"/>
              <a:t>04/12/2024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3351310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C46C39-2265-4ECA-84D0-AFE501AC4C1C}" type="datetime1">
              <a:rPr lang="es-ES" smtClean="0"/>
              <a:t>04/12/2024</a:t>
            </a:fld>
            <a:endParaRPr lang="es-ES" dirty="0"/>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0755781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2" r:id="rId4"/>
    <p:sldLayoutId id="2147483653" r:id="rId5"/>
    <p:sldLayoutId id="2147483654" r:id="rId6"/>
    <p:sldLayoutId id="2147483661" r:id="rId7"/>
    <p:sldLayoutId id="2147483655" r:id="rId8"/>
    <p:sldLayoutId id="2147483656" r:id="rId9"/>
    <p:sldLayoutId id="2147483657" r:id="rId10"/>
    <p:sldLayoutId id="2147483658" r:id="rId11"/>
    <p:sldLayoutId id="2147483659"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0B338E-2CA8-4990-93F8-04B6F142715C}" type="datetimeFigureOut">
              <a:rPr lang="es-ES" smtClean="0"/>
              <a:t>04/12/2024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C9350B-99D0-4E5C-997D-9130554D6298}" type="slidenum">
              <a:rPr lang="es-ES" smtClean="0"/>
              <a:t>‹Nº›</a:t>
            </a:fld>
            <a:endParaRPr lang="es-ES"/>
          </a:p>
        </p:txBody>
      </p:sp>
    </p:spTree>
    <p:extLst>
      <p:ext uri="{BB962C8B-B14F-4D97-AF65-F5344CB8AC3E}">
        <p14:creationId xmlns:p14="http://schemas.microsoft.com/office/powerpoint/2010/main" val="92211199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hyperlink" Target="https://martinfowler.com/articles/continuousIntegration.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hyperlink" Target="https://insights.sei.cmu.edu/devops/2015/04/continuous-integration-in-devops.html"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ctrTitle"/>
          </p:nvPr>
        </p:nvSpPr>
        <p:spPr/>
        <p:txBody>
          <a:bodyPr>
            <a:normAutofit/>
          </a:bodyPr>
          <a:lstStyle/>
          <a:p>
            <a:r>
              <a:rPr lang="es-ES" dirty="0"/>
              <a:t>Principios de la</a:t>
            </a:r>
            <a:br>
              <a:rPr lang="es-ES" dirty="0"/>
            </a:br>
            <a:r>
              <a:rPr lang="es-ES" dirty="0"/>
              <a:t>Integración Continua</a:t>
            </a:r>
          </a:p>
        </p:txBody>
      </p:sp>
      <p:sp>
        <p:nvSpPr>
          <p:cNvPr id="6" name="Subtítulo 5"/>
          <p:cNvSpPr>
            <a:spLocks noGrp="1"/>
          </p:cNvSpPr>
          <p:nvPr>
            <p:ph type="subTitle" idx="1"/>
          </p:nvPr>
        </p:nvSpPr>
        <p:spPr>
          <a:xfrm>
            <a:off x="703385" y="4210492"/>
            <a:ext cx="11087100" cy="1908953"/>
          </a:xfrm>
        </p:spPr>
        <p:txBody>
          <a:bodyPr>
            <a:normAutofit/>
          </a:bodyPr>
          <a:lstStyle/>
          <a:p>
            <a:pPr algn="r"/>
            <a:r>
              <a:rPr lang="en-US" b="1" dirty="0"/>
              <a:t>				</a:t>
            </a:r>
            <a:r>
              <a:rPr lang="en-US" b="1" dirty="0" err="1"/>
              <a:t>Asignatura</a:t>
            </a:r>
            <a:r>
              <a:rPr lang="en-US" b="1" dirty="0"/>
              <a:t>: Integración Continua </a:t>
            </a:r>
            <a:r>
              <a:rPr lang="en-US" b="1" dirty="0" err="1"/>
              <a:t>en</a:t>
            </a:r>
            <a:r>
              <a:rPr lang="en-US" b="1" dirty="0"/>
              <a:t> el Desarrollo </a:t>
            </a:r>
            <a:r>
              <a:rPr lang="en-US" b="1" dirty="0" err="1"/>
              <a:t>Ágil</a:t>
            </a:r>
            <a:endParaRPr lang="en-US" b="1" dirty="0"/>
          </a:p>
          <a:p>
            <a:pPr algn="r"/>
            <a:r>
              <a:rPr lang="en-US" b="1" dirty="0" err="1"/>
              <a:t>Máster</a:t>
            </a:r>
            <a:r>
              <a:rPr lang="en-US" b="1" dirty="0"/>
              <a:t> </a:t>
            </a:r>
            <a:r>
              <a:rPr lang="en-US" b="1" dirty="0" err="1"/>
              <a:t>Universitario</a:t>
            </a:r>
            <a:r>
              <a:rPr lang="en-US" b="1" dirty="0"/>
              <a:t> </a:t>
            </a:r>
            <a:r>
              <a:rPr lang="en-US" b="1" dirty="0" err="1"/>
              <a:t>en</a:t>
            </a:r>
            <a:r>
              <a:rPr lang="en-US" b="1" dirty="0"/>
              <a:t> Desarrollo </a:t>
            </a:r>
            <a:r>
              <a:rPr lang="en-US" b="1" dirty="0" err="1"/>
              <a:t>Ágil</a:t>
            </a:r>
            <a:r>
              <a:rPr lang="en-US" b="1" dirty="0"/>
              <a:t> de Software para la Web</a:t>
            </a:r>
          </a:p>
          <a:p>
            <a:pPr algn="r"/>
            <a:r>
              <a:rPr lang="en-US" b="1" dirty="0"/>
              <a:t>José Ramón </a:t>
            </a:r>
            <a:r>
              <a:rPr lang="en-US" b="1" dirty="0" err="1"/>
              <a:t>Hilera</a:t>
            </a:r>
            <a:r>
              <a:rPr lang="en-US" b="1" dirty="0"/>
              <a:t> González </a:t>
            </a:r>
            <a:endParaRPr lang="es-ES" dirty="0"/>
          </a:p>
        </p:txBody>
      </p:sp>
      <p:pic>
        <p:nvPicPr>
          <p:cNvPr id="7" name="Imagen 6" title="Licencia CC BY-SA">
            <a:hlinkClick r:id="rId3"/>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8917" y="5972364"/>
            <a:ext cx="1658180" cy="584132"/>
          </a:xfrm>
          <a:prstGeom prst="rect">
            <a:avLst/>
          </a:prstGeom>
        </p:spPr>
      </p:pic>
      <p:sp>
        <p:nvSpPr>
          <p:cNvPr id="4" name="Marcador de número de diapositiva 3"/>
          <p:cNvSpPr>
            <a:spLocks noGrp="1"/>
          </p:cNvSpPr>
          <p:nvPr>
            <p:ph type="sldNum" sz="quarter" idx="4294967295"/>
          </p:nvPr>
        </p:nvSpPr>
        <p:spPr>
          <a:xfrm>
            <a:off x="9173309" y="6373934"/>
            <a:ext cx="2743200" cy="365125"/>
          </a:xfrm>
        </p:spPr>
        <p:txBody>
          <a:bodyPr/>
          <a:lstStyle/>
          <a:p>
            <a:fld id="{C9400CC4-AA0F-4E2E-A7D9-25BF1D2A8A65}" type="slidenum">
              <a:rPr lang="es-ES" smtClean="0"/>
              <a:t>1</a:t>
            </a:fld>
            <a:endParaRPr lang="es-ES"/>
          </a:p>
        </p:txBody>
      </p:sp>
    </p:spTree>
    <p:extLst>
      <p:ext uri="{BB962C8B-B14F-4D97-AF65-F5344CB8AC3E}">
        <p14:creationId xmlns:p14="http://schemas.microsoft.com/office/powerpoint/2010/main" val="3983213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Contenido</a:t>
            </a:r>
          </a:p>
        </p:txBody>
      </p:sp>
      <p:sp>
        <p:nvSpPr>
          <p:cNvPr id="3" name="Marcador de contenido 2"/>
          <p:cNvSpPr>
            <a:spLocks noGrp="1"/>
          </p:cNvSpPr>
          <p:nvPr>
            <p:ph idx="1"/>
          </p:nvPr>
        </p:nvSpPr>
        <p:spPr/>
        <p:txBody>
          <a:bodyPr>
            <a:normAutofit lnSpcReduction="10000"/>
          </a:bodyPr>
          <a:lstStyle/>
          <a:p>
            <a:pPr marL="514350" indent="-514350">
              <a:buFont typeface="+mj-lt"/>
              <a:buAutoNum type="arabicPeriod"/>
            </a:pPr>
            <a:r>
              <a:rPr lang="es-ES" dirty="0"/>
              <a:t>Definición de Integración Continua</a:t>
            </a:r>
          </a:p>
          <a:p>
            <a:pPr marL="514350" indent="-514350">
              <a:buFont typeface="+mj-lt"/>
              <a:buAutoNum type="arabicPeriod"/>
            </a:pPr>
            <a:r>
              <a:rPr lang="es-ES" dirty="0"/>
              <a:t>Entorno de trabajo en Integración Continua </a:t>
            </a:r>
          </a:p>
          <a:p>
            <a:pPr marL="514350" indent="-514350">
              <a:buFont typeface="+mj-lt"/>
              <a:buAutoNum type="arabicPeriod"/>
            </a:pPr>
            <a:r>
              <a:rPr lang="es-ES" dirty="0"/>
              <a:t>Principios de la Integración Continua </a:t>
            </a:r>
          </a:p>
          <a:p>
            <a:pPr marL="514350" indent="-514350">
              <a:buFont typeface="+mj-lt"/>
              <a:buAutoNum type="arabicPeriod"/>
            </a:pPr>
            <a:r>
              <a:rPr lang="es-ES" dirty="0"/>
              <a:t>Beneficios de la Integración Continua </a:t>
            </a:r>
          </a:p>
          <a:p>
            <a:pPr marL="514350" indent="-514350">
              <a:buFont typeface="+mj-lt"/>
              <a:buAutoNum type="arabicPeriod"/>
            </a:pPr>
            <a:r>
              <a:rPr lang="es-ES" dirty="0"/>
              <a:t>Introducir la Integración Continua</a:t>
            </a:r>
          </a:p>
          <a:p>
            <a:endParaRPr lang="es-ES" dirty="0"/>
          </a:p>
          <a:p>
            <a:pPr marL="0" indent="0">
              <a:buNone/>
            </a:pPr>
            <a:r>
              <a:rPr lang="es-ES" dirty="0"/>
              <a:t>Fuente: </a:t>
            </a:r>
            <a:r>
              <a:rPr lang="es-ES" dirty="0">
                <a:hlinkClick r:id="rId2"/>
              </a:rPr>
              <a:t>https://martinfowler.com/articles/continuousIntegration.html</a:t>
            </a:r>
            <a:r>
              <a:rPr lang="es-ES" dirty="0"/>
              <a:t> </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2</a:t>
            </a:fld>
            <a:endParaRPr lang="es-ES" dirty="0"/>
          </a:p>
        </p:txBody>
      </p:sp>
    </p:spTree>
    <p:extLst>
      <p:ext uri="{BB962C8B-B14F-4D97-AF65-F5344CB8AC3E}">
        <p14:creationId xmlns:p14="http://schemas.microsoft.com/office/powerpoint/2010/main" val="3676354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1. Definición de Integración Continua (original)</a:t>
            </a:r>
          </a:p>
        </p:txBody>
      </p:sp>
      <p:sp>
        <p:nvSpPr>
          <p:cNvPr id="3" name="Marcador de contenido 2"/>
          <p:cNvSpPr>
            <a:spLocks noGrp="1"/>
          </p:cNvSpPr>
          <p:nvPr>
            <p:ph idx="1"/>
          </p:nvPr>
        </p:nvSpPr>
        <p:spPr>
          <a:xfrm>
            <a:off x="527538" y="1491517"/>
            <a:ext cx="11025553" cy="4864833"/>
          </a:xfrm>
        </p:spPr>
        <p:txBody>
          <a:bodyPr>
            <a:normAutofit/>
          </a:bodyPr>
          <a:lstStyle/>
          <a:p>
            <a:r>
              <a:rPr lang="es-ES" dirty="0"/>
              <a:t>Martin </a:t>
            </a:r>
            <a:r>
              <a:rPr lang="es-ES" dirty="0" err="1"/>
              <a:t>Fowler</a:t>
            </a:r>
            <a:r>
              <a:rPr lang="es-ES" dirty="0"/>
              <a:t> (2006).</a:t>
            </a:r>
          </a:p>
          <a:p>
            <a:r>
              <a:rPr lang="en-US" i="1" dirty="0"/>
              <a:t>Continuous Integration is a software development practice where members of a team integrate their work frequently, usually each person integrates at least daily - leading to multiple integrations per day. Each integration is verified by an automated build (including test) to detect integration errors as quickly as possible. Many teams find that this approach leads to significantly reduced integration problems and allows a team to develop cohesive software more rapidly.</a:t>
            </a:r>
          </a:p>
          <a:p>
            <a:endParaRPr lang="en-US" i="1" dirty="0"/>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3</a:t>
            </a:fld>
            <a:endParaRPr lang="es-ES" dirty="0"/>
          </a:p>
        </p:txBody>
      </p:sp>
    </p:spTree>
    <p:extLst>
      <p:ext uri="{BB962C8B-B14F-4D97-AF65-F5344CB8AC3E}">
        <p14:creationId xmlns:p14="http://schemas.microsoft.com/office/powerpoint/2010/main" val="1876134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1. Definición de Integración Continua (traducida)</a:t>
            </a:r>
          </a:p>
        </p:txBody>
      </p:sp>
      <p:sp>
        <p:nvSpPr>
          <p:cNvPr id="3" name="Marcador de contenido 2"/>
          <p:cNvSpPr>
            <a:spLocks noGrp="1"/>
          </p:cNvSpPr>
          <p:nvPr>
            <p:ph idx="1"/>
          </p:nvPr>
        </p:nvSpPr>
        <p:spPr>
          <a:xfrm>
            <a:off x="527538" y="1491517"/>
            <a:ext cx="11025553" cy="4864833"/>
          </a:xfrm>
        </p:spPr>
        <p:txBody>
          <a:bodyPr>
            <a:normAutofit fontScale="92500"/>
          </a:bodyPr>
          <a:lstStyle/>
          <a:p>
            <a:r>
              <a:rPr lang="en-US" dirty="0"/>
              <a:t>La Integración Continua </a:t>
            </a:r>
            <a:r>
              <a:rPr lang="en-US" dirty="0" err="1"/>
              <a:t>es</a:t>
            </a:r>
            <a:r>
              <a:rPr lang="en-US" dirty="0"/>
              <a:t> </a:t>
            </a:r>
            <a:r>
              <a:rPr lang="en-US" dirty="0" err="1"/>
              <a:t>una</a:t>
            </a:r>
            <a:r>
              <a:rPr lang="en-US" dirty="0"/>
              <a:t> </a:t>
            </a:r>
            <a:r>
              <a:rPr lang="en-US" dirty="0" err="1"/>
              <a:t>práctica</a:t>
            </a:r>
            <a:r>
              <a:rPr lang="en-US" dirty="0"/>
              <a:t> de </a:t>
            </a:r>
            <a:r>
              <a:rPr lang="en-US" dirty="0" err="1"/>
              <a:t>desarrollo</a:t>
            </a:r>
            <a:r>
              <a:rPr lang="en-US" dirty="0"/>
              <a:t> de software </a:t>
            </a:r>
            <a:r>
              <a:rPr lang="en-US" dirty="0" err="1"/>
              <a:t>donde</a:t>
            </a:r>
            <a:r>
              <a:rPr lang="en-US" dirty="0"/>
              <a:t> los </a:t>
            </a:r>
            <a:r>
              <a:rPr lang="en-US" dirty="0" err="1"/>
              <a:t>miembros</a:t>
            </a:r>
            <a:r>
              <a:rPr lang="en-US" dirty="0"/>
              <a:t> de un </a:t>
            </a:r>
            <a:r>
              <a:rPr lang="en-US" dirty="0" err="1"/>
              <a:t>equipo</a:t>
            </a:r>
            <a:r>
              <a:rPr lang="en-US" dirty="0"/>
              <a:t> </a:t>
            </a:r>
            <a:r>
              <a:rPr lang="en-US" dirty="0" err="1"/>
              <a:t>integran</a:t>
            </a:r>
            <a:r>
              <a:rPr lang="en-US" dirty="0"/>
              <a:t> </a:t>
            </a:r>
            <a:r>
              <a:rPr lang="en-US" dirty="0" err="1"/>
              <a:t>su</a:t>
            </a:r>
            <a:r>
              <a:rPr lang="en-US" dirty="0"/>
              <a:t> trabajo </a:t>
            </a:r>
            <a:r>
              <a:rPr lang="en-US" dirty="0" err="1"/>
              <a:t>frecuentemente</a:t>
            </a:r>
            <a:r>
              <a:rPr lang="en-US" dirty="0"/>
              <a:t>, </a:t>
            </a:r>
            <a:r>
              <a:rPr lang="en-US" dirty="0" err="1"/>
              <a:t>normalmente</a:t>
            </a:r>
            <a:r>
              <a:rPr lang="en-US" dirty="0"/>
              <a:t> </a:t>
            </a:r>
            <a:r>
              <a:rPr lang="en-US" dirty="0" err="1"/>
              <a:t>cada</a:t>
            </a:r>
            <a:r>
              <a:rPr lang="en-US" dirty="0"/>
              <a:t> persona </a:t>
            </a:r>
            <a:r>
              <a:rPr lang="en-US" dirty="0" err="1"/>
              <a:t>integra</a:t>
            </a:r>
            <a:r>
              <a:rPr lang="en-US" dirty="0"/>
              <a:t> al </a:t>
            </a:r>
            <a:r>
              <a:rPr lang="en-US" dirty="0" err="1"/>
              <a:t>menos</a:t>
            </a:r>
            <a:r>
              <a:rPr lang="en-US" dirty="0"/>
              <a:t> </a:t>
            </a:r>
            <a:r>
              <a:rPr lang="en-US" dirty="0" err="1"/>
              <a:t>diariamente</a:t>
            </a:r>
            <a:r>
              <a:rPr lang="en-US" dirty="0"/>
              <a:t>, </a:t>
            </a:r>
            <a:r>
              <a:rPr lang="en-US" dirty="0" err="1"/>
              <a:t>obteniéndose</a:t>
            </a:r>
            <a:r>
              <a:rPr lang="en-US" dirty="0"/>
              <a:t> multiples </a:t>
            </a:r>
            <a:r>
              <a:rPr lang="en-US" dirty="0" err="1"/>
              <a:t>integraciones</a:t>
            </a:r>
            <a:r>
              <a:rPr lang="en-US" dirty="0"/>
              <a:t> </a:t>
            </a:r>
            <a:r>
              <a:rPr lang="en-US" dirty="0" err="1"/>
              <a:t>por</a:t>
            </a:r>
            <a:r>
              <a:rPr lang="en-US" dirty="0"/>
              <a:t> </a:t>
            </a:r>
            <a:r>
              <a:rPr lang="en-US" dirty="0" err="1"/>
              <a:t>día</a:t>
            </a:r>
            <a:r>
              <a:rPr lang="en-US" dirty="0"/>
              <a:t>. </a:t>
            </a:r>
          </a:p>
          <a:p>
            <a:r>
              <a:rPr lang="en-US" dirty="0" err="1"/>
              <a:t>Cada</a:t>
            </a:r>
            <a:r>
              <a:rPr lang="en-US" dirty="0"/>
              <a:t> </a:t>
            </a:r>
            <a:r>
              <a:rPr lang="en-US" dirty="0" err="1"/>
              <a:t>integración</a:t>
            </a:r>
            <a:r>
              <a:rPr lang="en-US" dirty="0"/>
              <a:t> </a:t>
            </a:r>
            <a:r>
              <a:rPr lang="en-US" dirty="0" err="1"/>
              <a:t>es</a:t>
            </a:r>
            <a:r>
              <a:rPr lang="en-US" dirty="0"/>
              <a:t> </a:t>
            </a:r>
            <a:r>
              <a:rPr lang="en-US" dirty="0" err="1"/>
              <a:t>verificada</a:t>
            </a:r>
            <a:r>
              <a:rPr lang="en-US" dirty="0"/>
              <a:t> </a:t>
            </a:r>
            <a:r>
              <a:rPr lang="en-US" dirty="0" err="1"/>
              <a:t>por</a:t>
            </a:r>
            <a:r>
              <a:rPr lang="en-US" dirty="0"/>
              <a:t> </a:t>
            </a:r>
            <a:r>
              <a:rPr lang="en-US" dirty="0" err="1"/>
              <a:t>una</a:t>
            </a:r>
            <a:r>
              <a:rPr lang="en-US" dirty="0"/>
              <a:t> </a:t>
            </a:r>
            <a:r>
              <a:rPr lang="en-US" dirty="0" err="1"/>
              <a:t>construcción</a:t>
            </a:r>
            <a:r>
              <a:rPr lang="en-US" dirty="0"/>
              <a:t> </a:t>
            </a:r>
            <a:r>
              <a:rPr lang="en-US" dirty="0" err="1"/>
              <a:t>automatizada</a:t>
            </a:r>
            <a:r>
              <a:rPr lang="en-US" dirty="0"/>
              <a:t> del software (</a:t>
            </a:r>
            <a:r>
              <a:rPr lang="en-US" dirty="0" err="1"/>
              <a:t>incluyendo</a:t>
            </a:r>
            <a:r>
              <a:rPr lang="en-US" dirty="0"/>
              <a:t> </a:t>
            </a:r>
            <a:r>
              <a:rPr lang="en-US" dirty="0" err="1"/>
              <a:t>pruebas</a:t>
            </a:r>
            <a:r>
              <a:rPr lang="en-US" dirty="0"/>
              <a:t>) para </a:t>
            </a:r>
            <a:r>
              <a:rPr lang="en-US" dirty="0" err="1"/>
              <a:t>detectar</a:t>
            </a:r>
            <a:r>
              <a:rPr lang="en-US" dirty="0"/>
              <a:t> </a:t>
            </a:r>
            <a:r>
              <a:rPr lang="en-US" dirty="0" err="1"/>
              <a:t>errores</a:t>
            </a:r>
            <a:r>
              <a:rPr lang="en-US" dirty="0"/>
              <a:t> de </a:t>
            </a:r>
            <a:r>
              <a:rPr lang="en-US" dirty="0" err="1"/>
              <a:t>integración</a:t>
            </a:r>
            <a:r>
              <a:rPr lang="en-US" dirty="0"/>
              <a:t> lo antes possible. </a:t>
            </a:r>
          </a:p>
          <a:p>
            <a:r>
              <a:rPr lang="en-US" dirty="0" err="1"/>
              <a:t>Muchos</a:t>
            </a:r>
            <a:r>
              <a:rPr lang="en-US" dirty="0"/>
              <a:t> </a:t>
            </a:r>
            <a:r>
              <a:rPr lang="en-US" dirty="0" err="1"/>
              <a:t>equipos</a:t>
            </a:r>
            <a:r>
              <a:rPr lang="en-US" dirty="0"/>
              <a:t> </a:t>
            </a:r>
            <a:r>
              <a:rPr lang="en-US" dirty="0" err="1"/>
              <a:t>encuentran</a:t>
            </a:r>
            <a:r>
              <a:rPr lang="en-US" dirty="0"/>
              <a:t> que </a:t>
            </a:r>
            <a:r>
              <a:rPr lang="en-US" dirty="0" err="1"/>
              <a:t>este</a:t>
            </a:r>
            <a:r>
              <a:rPr lang="en-US" dirty="0"/>
              <a:t> </a:t>
            </a:r>
            <a:r>
              <a:rPr lang="en-US" dirty="0" err="1"/>
              <a:t>enfoque</a:t>
            </a:r>
            <a:r>
              <a:rPr lang="en-US" dirty="0"/>
              <a:t> </a:t>
            </a:r>
            <a:r>
              <a:rPr lang="en-US" dirty="0" err="1"/>
              <a:t>consigue</a:t>
            </a:r>
            <a:r>
              <a:rPr lang="en-US" dirty="0"/>
              <a:t> </a:t>
            </a:r>
            <a:r>
              <a:rPr lang="en-US" dirty="0" err="1"/>
              <a:t>reducir</a:t>
            </a:r>
            <a:r>
              <a:rPr lang="en-US" dirty="0"/>
              <a:t> </a:t>
            </a:r>
            <a:r>
              <a:rPr lang="en-US" dirty="0" err="1"/>
              <a:t>significativamente</a:t>
            </a:r>
            <a:r>
              <a:rPr lang="en-US" dirty="0"/>
              <a:t> los </a:t>
            </a:r>
            <a:r>
              <a:rPr lang="en-US" dirty="0" err="1"/>
              <a:t>problemas</a:t>
            </a:r>
            <a:r>
              <a:rPr lang="en-US" dirty="0"/>
              <a:t> de </a:t>
            </a:r>
            <a:r>
              <a:rPr lang="en-US" dirty="0" err="1"/>
              <a:t>integración</a:t>
            </a:r>
            <a:r>
              <a:rPr lang="en-US" dirty="0"/>
              <a:t> y </a:t>
            </a:r>
            <a:r>
              <a:rPr lang="en-US" dirty="0" err="1"/>
              <a:t>permite</a:t>
            </a:r>
            <a:r>
              <a:rPr lang="en-US" dirty="0"/>
              <a:t> a un </a:t>
            </a:r>
            <a:r>
              <a:rPr lang="en-US" dirty="0" err="1"/>
              <a:t>equipo</a:t>
            </a:r>
            <a:r>
              <a:rPr lang="en-US" dirty="0"/>
              <a:t> </a:t>
            </a:r>
            <a:r>
              <a:rPr lang="en-US" dirty="0" err="1"/>
              <a:t>desarrollar</a:t>
            </a:r>
            <a:r>
              <a:rPr lang="en-US" dirty="0"/>
              <a:t> software </a:t>
            </a:r>
            <a:r>
              <a:rPr lang="en-US" dirty="0" err="1"/>
              <a:t>más</a:t>
            </a:r>
            <a:r>
              <a:rPr lang="en-US" dirty="0"/>
              <a:t> </a:t>
            </a:r>
            <a:r>
              <a:rPr lang="en-US" dirty="0" err="1"/>
              <a:t>rápidamente</a:t>
            </a:r>
            <a:r>
              <a:rPr lang="en-US" dirty="0"/>
              <a:t>.</a:t>
            </a:r>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4</a:t>
            </a:fld>
            <a:endParaRPr lang="es-ES" dirty="0"/>
          </a:p>
        </p:txBody>
      </p:sp>
    </p:spTree>
    <p:extLst>
      <p:ext uri="{BB962C8B-B14F-4D97-AF65-F5344CB8AC3E}">
        <p14:creationId xmlns:p14="http://schemas.microsoft.com/office/powerpoint/2010/main" val="195192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2. Entorno de trabajo en Integración Continua </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5</a:t>
            </a:fld>
            <a:endParaRPr lang="es-ES" dirty="0"/>
          </a:p>
        </p:txBody>
      </p:sp>
      <p:pic>
        <p:nvPicPr>
          <p:cNvPr id="8" name="Imagen 7" title="&quot;&quot;">
            <a:extLst>
              <a:ext uri="{C183D7F6-B498-43B3-948B-1728B52AA6E4}">
                <adec:decorative xmlns="" xmlns:adec="http://schemas.microsoft.com/office/drawing/2017/decorative" val="1"/>
              </a:ext>
            </a:extLst>
          </p:cNvPr>
          <p:cNvPicPr>
            <a:picLocks noChangeAspect="1"/>
          </p:cNvPicPr>
          <p:nvPr/>
        </p:nvPicPr>
        <p:blipFill>
          <a:blip r:embed="rId3"/>
          <a:stretch>
            <a:fillRect/>
          </a:stretch>
        </p:blipFill>
        <p:spPr>
          <a:xfrm>
            <a:off x="1269868" y="1438274"/>
            <a:ext cx="9100250" cy="5283201"/>
          </a:xfrm>
          <a:prstGeom prst="rect">
            <a:avLst/>
          </a:prstGeom>
        </p:spPr>
      </p:pic>
      <p:sp>
        <p:nvSpPr>
          <p:cNvPr id="9" name="CuadroTexto 8"/>
          <p:cNvSpPr txBox="1"/>
          <p:nvPr/>
        </p:nvSpPr>
        <p:spPr>
          <a:xfrm>
            <a:off x="10043566" y="5769576"/>
            <a:ext cx="1994970" cy="276999"/>
          </a:xfrm>
          <a:prstGeom prst="rect">
            <a:avLst/>
          </a:prstGeom>
          <a:noFill/>
        </p:spPr>
        <p:txBody>
          <a:bodyPr wrap="none" rtlCol="0">
            <a:spAutoFit/>
          </a:bodyPr>
          <a:lstStyle/>
          <a:p>
            <a:r>
              <a:rPr lang="es-ES" sz="1200" dirty="0"/>
              <a:t>Imagen: </a:t>
            </a:r>
            <a:r>
              <a:rPr lang="es-ES" sz="1200" dirty="0">
                <a:hlinkClick r:id="rId4"/>
              </a:rPr>
              <a:t>insights.sei.cmu.edu</a:t>
            </a:r>
            <a:endParaRPr lang="es-ES" sz="1200" dirty="0"/>
          </a:p>
        </p:txBody>
      </p:sp>
    </p:spTree>
    <p:extLst>
      <p:ext uri="{BB962C8B-B14F-4D97-AF65-F5344CB8AC3E}">
        <p14:creationId xmlns:p14="http://schemas.microsoft.com/office/powerpoint/2010/main" val="1056202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3. Principios de la Integración Continua</a:t>
            </a:r>
            <a:br>
              <a:rPr lang="es-ES" dirty="0"/>
            </a:br>
            <a:r>
              <a:rPr lang="es-ES" dirty="0"/>
              <a:t>(</a:t>
            </a:r>
            <a:r>
              <a:rPr lang="es-ES" dirty="0" err="1"/>
              <a:t>Fowler</a:t>
            </a:r>
            <a:r>
              <a:rPr lang="es-ES" dirty="0"/>
              <a:t>, 2006)</a:t>
            </a:r>
          </a:p>
        </p:txBody>
      </p:sp>
      <p:sp>
        <p:nvSpPr>
          <p:cNvPr id="3" name="Marcador de contenido 2"/>
          <p:cNvSpPr>
            <a:spLocks noGrp="1"/>
          </p:cNvSpPr>
          <p:nvPr>
            <p:ph idx="1"/>
          </p:nvPr>
        </p:nvSpPr>
        <p:spPr>
          <a:xfrm>
            <a:off x="527538" y="1491516"/>
            <a:ext cx="11025553" cy="5518883"/>
          </a:xfrm>
        </p:spPr>
        <p:txBody>
          <a:bodyPr>
            <a:normAutofit fontScale="77500" lnSpcReduction="20000"/>
          </a:bodyPr>
          <a:lstStyle/>
          <a:p>
            <a:pPr marL="514350" indent="-514350">
              <a:buFont typeface="+mj-lt"/>
              <a:buAutoNum type="arabicPeriod"/>
            </a:pPr>
            <a:r>
              <a:rPr lang="es-ES" dirty="0"/>
              <a:t>Mantener un único repositorio de código fuente compartido</a:t>
            </a:r>
          </a:p>
          <a:p>
            <a:pPr marL="514350" indent="-514350">
              <a:buFont typeface="+mj-lt"/>
              <a:buAutoNum type="arabicPeriod"/>
            </a:pPr>
            <a:r>
              <a:rPr lang="es-ES" dirty="0"/>
              <a:t>Automatizar la construcción (</a:t>
            </a:r>
            <a:r>
              <a:rPr lang="es-ES" dirty="0" err="1"/>
              <a:t>build</a:t>
            </a:r>
            <a:r>
              <a:rPr lang="es-ES" dirty="0"/>
              <a:t>)</a:t>
            </a:r>
          </a:p>
          <a:p>
            <a:pPr marL="514350" indent="-514350">
              <a:buFont typeface="+mj-lt"/>
              <a:buAutoNum type="arabicPeriod"/>
            </a:pPr>
            <a:r>
              <a:rPr lang="es-ES" dirty="0"/>
              <a:t>Incluir pruebas automatizadas en el proceso de construcción</a:t>
            </a:r>
          </a:p>
          <a:p>
            <a:pPr marL="514350" indent="-514350">
              <a:buFont typeface="+mj-lt"/>
              <a:buAutoNum type="arabicPeriod"/>
            </a:pPr>
            <a:r>
              <a:rPr lang="es-ES" dirty="0"/>
              <a:t>Enviar cada día cambios (hacer </a:t>
            </a:r>
            <a:r>
              <a:rPr lang="es-ES" dirty="0" err="1"/>
              <a:t>commits</a:t>
            </a:r>
            <a:r>
              <a:rPr lang="es-ES" dirty="0"/>
              <a:t>) al repositorio compartido</a:t>
            </a:r>
          </a:p>
          <a:p>
            <a:pPr marL="514350" indent="-514350">
              <a:buFont typeface="+mj-lt"/>
              <a:buAutoNum type="arabicPeriod"/>
            </a:pPr>
            <a:r>
              <a:rPr lang="es-ES" dirty="0"/>
              <a:t>Utilizar un servidor de integración para volver a construir el software a partir de cada </a:t>
            </a:r>
            <a:r>
              <a:rPr lang="es-ES" dirty="0" err="1"/>
              <a:t>commit</a:t>
            </a:r>
            <a:endParaRPr lang="es-ES" dirty="0"/>
          </a:p>
          <a:p>
            <a:pPr marL="514350" indent="-514350">
              <a:buFont typeface="+mj-lt"/>
              <a:buAutoNum type="arabicPeriod"/>
            </a:pPr>
            <a:r>
              <a:rPr lang="es-ES" dirty="0"/>
              <a:t>Reparar inmediatamente las construcciones fallidas</a:t>
            </a:r>
          </a:p>
          <a:p>
            <a:pPr marL="514350" indent="-514350">
              <a:buFont typeface="+mj-lt"/>
              <a:buAutoNum type="arabicPeriod"/>
            </a:pPr>
            <a:r>
              <a:rPr lang="es-ES" dirty="0"/>
              <a:t>Construir rápidamente</a:t>
            </a:r>
          </a:p>
          <a:p>
            <a:pPr marL="514350" indent="-514350">
              <a:buFont typeface="+mj-lt"/>
              <a:buAutoNum type="arabicPeriod"/>
            </a:pPr>
            <a:r>
              <a:rPr lang="es-ES" dirty="0"/>
              <a:t>Probar en un entorno similar al entorno de producción</a:t>
            </a:r>
          </a:p>
          <a:p>
            <a:pPr marL="514350" indent="-514350">
              <a:buFont typeface="+mj-lt"/>
              <a:buAutoNum type="arabicPeriod"/>
            </a:pPr>
            <a:r>
              <a:rPr lang="es-ES" dirty="0"/>
              <a:t>Todo el equipo debe poder obtener el último ejecutable</a:t>
            </a:r>
          </a:p>
          <a:p>
            <a:pPr marL="514350" indent="-514350">
              <a:buFont typeface="+mj-lt"/>
              <a:buAutoNum type="arabicPeriod"/>
            </a:pPr>
            <a:r>
              <a:rPr lang="es-ES" dirty="0"/>
              <a:t>Todo el equipo puede ver lo que está ocurriendo</a:t>
            </a:r>
          </a:p>
          <a:p>
            <a:pPr marL="514350" indent="-514350">
              <a:buFont typeface="+mj-lt"/>
              <a:buAutoNum type="arabicPeriod"/>
            </a:pPr>
            <a:r>
              <a:rPr lang="es-ES" dirty="0"/>
              <a:t>Automatizar el despliegue</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6</a:t>
            </a:fld>
            <a:endParaRPr lang="es-ES" dirty="0"/>
          </a:p>
        </p:txBody>
      </p:sp>
    </p:spTree>
    <p:extLst>
      <p:ext uri="{BB962C8B-B14F-4D97-AF65-F5344CB8AC3E}">
        <p14:creationId xmlns:p14="http://schemas.microsoft.com/office/powerpoint/2010/main" val="3342350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P1. Mantener un único repositorio de código fuente compartido </a:t>
            </a:r>
          </a:p>
        </p:txBody>
      </p:sp>
      <p:sp>
        <p:nvSpPr>
          <p:cNvPr id="3" name="Marcador de contenido 2"/>
          <p:cNvSpPr>
            <a:spLocks noGrp="1"/>
          </p:cNvSpPr>
          <p:nvPr>
            <p:ph idx="1"/>
          </p:nvPr>
        </p:nvSpPr>
        <p:spPr>
          <a:xfrm>
            <a:off x="527538" y="1491517"/>
            <a:ext cx="8089989" cy="5229958"/>
          </a:xfrm>
        </p:spPr>
        <p:txBody>
          <a:bodyPr>
            <a:normAutofit fontScale="62500" lnSpcReduction="20000"/>
          </a:bodyPr>
          <a:lstStyle/>
          <a:p>
            <a:r>
              <a:rPr lang="es-ES" dirty="0"/>
              <a:t>Utilizar un repositorio compartido como sistema de gestión del código fuente, que asegure que todo el equipo de desarrollo puede </a:t>
            </a:r>
            <a:r>
              <a:rPr lang="es-ES" b="1" dirty="0"/>
              <a:t>acceder al código </a:t>
            </a:r>
            <a:r>
              <a:rPr lang="es-ES" dirty="0"/>
              <a:t>y localizar cualquier archivo que necesite.</a:t>
            </a:r>
          </a:p>
          <a:p>
            <a:r>
              <a:rPr lang="es-ES" dirty="0"/>
              <a:t>Todo lo que se necesite para construir (generar) el producto final debe estar en el repositorio: código para pruebas, esquema de base de datos, ficheros de propiedades o configuración, comandos (scripts) de instalación, librerías externas, etc. Pero </a:t>
            </a:r>
            <a:r>
              <a:rPr lang="es-ES" b="1" dirty="0"/>
              <a:t>no el propio producto final </a:t>
            </a:r>
            <a:r>
              <a:rPr lang="es-ES" dirty="0"/>
              <a:t>(</a:t>
            </a:r>
            <a:r>
              <a:rPr lang="es-ES" dirty="0" err="1"/>
              <a:t>jar</a:t>
            </a:r>
            <a:r>
              <a:rPr lang="es-ES" dirty="0"/>
              <a:t>, </a:t>
            </a:r>
            <a:r>
              <a:rPr lang="es-ES" dirty="0" err="1"/>
              <a:t>war</a:t>
            </a:r>
            <a:r>
              <a:rPr lang="es-ES" dirty="0"/>
              <a:t>, etc.).</a:t>
            </a:r>
          </a:p>
          <a:p>
            <a:r>
              <a:rPr lang="es-ES" dirty="0"/>
              <a:t>Cada desarrollador puede estar utilizando en su máquina local un entorno de desarrollo (IDE) diferente al que usan otros desarrolladores (Eclipse, </a:t>
            </a:r>
            <a:r>
              <a:rPr lang="es-ES" dirty="0" err="1"/>
              <a:t>IntelliJ</a:t>
            </a:r>
            <a:r>
              <a:rPr lang="es-ES" dirty="0"/>
              <a:t>, Visual Studio </a:t>
            </a:r>
            <a:r>
              <a:rPr lang="es-ES" dirty="0" err="1"/>
              <a:t>Code</a:t>
            </a:r>
            <a:r>
              <a:rPr lang="es-ES" dirty="0"/>
              <a:t>, </a:t>
            </a:r>
            <a:r>
              <a:rPr lang="es-ES" dirty="0" err="1"/>
              <a:t>NetBeans</a:t>
            </a:r>
            <a:r>
              <a:rPr lang="es-ES" dirty="0"/>
              <a:t>, etc.), pero se puede incluir en el repositorio compartido archivos sobre la configuración de algún entorno de desarrollo (IDE), si se quiere facilitar a los desarrolladores que compartan una misma configuración.</a:t>
            </a:r>
          </a:p>
          <a:p>
            <a:r>
              <a:rPr lang="es-ES" dirty="0"/>
              <a:t>El repositorio debe estar sometido a un sistema de </a:t>
            </a:r>
            <a:r>
              <a:rPr lang="es-ES" b="1" dirty="0"/>
              <a:t>control de versiones </a:t>
            </a:r>
            <a:r>
              <a:rPr lang="es-ES" dirty="0"/>
              <a:t>que permita crear múltiples </a:t>
            </a:r>
            <a:r>
              <a:rPr lang="es-ES" b="1" dirty="0"/>
              <a:t>ramas</a:t>
            </a:r>
            <a:r>
              <a:rPr lang="es-ES" dirty="0"/>
              <a:t> para manejar diferentes flujos de desarrollo. Se recomienda usar el mínimo de ramas posible. Al menos hay que mantener una rama principal, que suele llamarse rama </a:t>
            </a:r>
            <a:r>
              <a:rPr lang="es-ES" b="1" dirty="0"/>
              <a:t>master</a:t>
            </a:r>
            <a:r>
              <a:rPr lang="es-ES" dirty="0"/>
              <a:t> (o </a:t>
            </a:r>
            <a:r>
              <a:rPr lang="es-ES" dirty="0" err="1"/>
              <a:t>mainline</a:t>
            </a:r>
            <a:r>
              <a:rPr lang="es-ES" dirty="0"/>
              <a:t>).</a:t>
            </a:r>
          </a:p>
          <a:p>
            <a:pPr marL="0" indent="0">
              <a:buNone/>
            </a:pPr>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7</a:t>
            </a:fld>
            <a:endParaRPr lang="es-ES" dirty="0"/>
          </a:p>
        </p:txBody>
      </p:sp>
      <p:pic>
        <p:nvPicPr>
          <p:cNvPr id="5" name="Imagen 4" title="&quot;&quot;">
            <a:extLst>
              <a:ext uri="{C183D7F6-B498-43B3-948B-1728B52AA6E4}">
                <adec:decorative xmlns="" xmlns:adec="http://schemas.microsoft.com/office/drawing/2017/decorative" val="1"/>
              </a:ext>
            </a:extLst>
          </p:cNvPr>
          <p:cNvPicPr>
            <a:picLocks noChangeAspect="1"/>
          </p:cNvPicPr>
          <p:nvPr/>
        </p:nvPicPr>
        <p:blipFill>
          <a:blip r:embed="rId3"/>
          <a:stretch>
            <a:fillRect/>
          </a:stretch>
        </p:blipFill>
        <p:spPr>
          <a:xfrm>
            <a:off x="8728317" y="2900182"/>
            <a:ext cx="3240944" cy="1881548"/>
          </a:xfrm>
          <a:prstGeom prst="rect">
            <a:avLst/>
          </a:prstGeom>
        </p:spPr>
      </p:pic>
      <p:sp>
        <p:nvSpPr>
          <p:cNvPr id="7" name="Elipse 6" title="&quot;&quot;">
            <a:extLst>
              <a:ext uri="{C183D7F6-B498-43B3-948B-1728B52AA6E4}">
                <adec:decorative xmlns="" xmlns:adec="http://schemas.microsoft.com/office/drawing/2017/decorative" val="1"/>
              </a:ext>
            </a:extLst>
          </p:cNvPr>
          <p:cNvSpPr/>
          <p:nvPr/>
        </p:nvSpPr>
        <p:spPr>
          <a:xfrm>
            <a:off x="10972800" y="2535382"/>
            <a:ext cx="1219200" cy="1571114"/>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13598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P2. Automatizar la construcción (</a:t>
            </a:r>
            <a:r>
              <a:rPr lang="es-ES" dirty="0" err="1"/>
              <a:t>build</a:t>
            </a:r>
            <a:r>
              <a:rPr lang="es-ES" dirty="0"/>
              <a:t>)</a:t>
            </a:r>
          </a:p>
        </p:txBody>
      </p:sp>
      <p:sp>
        <p:nvSpPr>
          <p:cNvPr id="3" name="Marcador de contenido 2"/>
          <p:cNvSpPr>
            <a:spLocks noGrp="1"/>
          </p:cNvSpPr>
          <p:nvPr>
            <p:ph idx="1"/>
          </p:nvPr>
        </p:nvSpPr>
        <p:spPr>
          <a:xfrm>
            <a:off x="527539" y="1491517"/>
            <a:ext cx="7812898" cy="5229958"/>
          </a:xfrm>
        </p:spPr>
        <p:txBody>
          <a:bodyPr>
            <a:normAutofit fontScale="77500" lnSpcReduction="20000"/>
          </a:bodyPr>
          <a:lstStyle/>
          <a:p>
            <a:r>
              <a:rPr lang="en-US" dirty="0"/>
              <a:t>La </a:t>
            </a:r>
            <a:r>
              <a:rPr lang="en-US" dirty="0" err="1"/>
              <a:t>construcción</a:t>
            </a:r>
            <a:r>
              <a:rPr lang="en-US" dirty="0"/>
              <a:t> </a:t>
            </a:r>
            <a:r>
              <a:rPr lang="en-US" dirty="0" err="1"/>
              <a:t>consiste</a:t>
            </a:r>
            <a:r>
              <a:rPr lang="en-US" dirty="0"/>
              <a:t> en </a:t>
            </a:r>
            <a:r>
              <a:rPr lang="en-US" dirty="0" err="1"/>
              <a:t>convertir</a:t>
            </a:r>
            <a:r>
              <a:rPr lang="en-US" dirty="0"/>
              <a:t> el </a:t>
            </a:r>
            <a:r>
              <a:rPr lang="en-US" dirty="0" err="1"/>
              <a:t>código</a:t>
            </a:r>
            <a:r>
              <a:rPr lang="en-US" dirty="0"/>
              <a:t> </a:t>
            </a:r>
            <a:r>
              <a:rPr lang="en-US" dirty="0" err="1"/>
              <a:t>fuente</a:t>
            </a:r>
            <a:r>
              <a:rPr lang="en-US" dirty="0"/>
              <a:t> en un </a:t>
            </a:r>
            <a:r>
              <a:rPr lang="en-US" dirty="0" err="1"/>
              <a:t>producto</a:t>
            </a:r>
            <a:r>
              <a:rPr lang="en-US" dirty="0"/>
              <a:t> </a:t>
            </a:r>
            <a:r>
              <a:rPr lang="en-US" dirty="0" err="1"/>
              <a:t>ejecutable</a:t>
            </a:r>
            <a:r>
              <a:rPr lang="en-US" dirty="0"/>
              <a:t>, lo </a:t>
            </a:r>
            <a:r>
              <a:rPr lang="en-US" dirty="0" err="1"/>
              <a:t>cual</a:t>
            </a:r>
            <a:r>
              <a:rPr lang="en-US" dirty="0"/>
              <a:t> </a:t>
            </a:r>
            <a:r>
              <a:rPr lang="en-US" dirty="0" err="1"/>
              <a:t>puede</a:t>
            </a:r>
            <a:r>
              <a:rPr lang="en-US" dirty="0"/>
              <a:t> </a:t>
            </a:r>
            <a:r>
              <a:rPr lang="en-US" dirty="0" err="1"/>
              <a:t>implicar</a:t>
            </a:r>
            <a:r>
              <a:rPr lang="en-US" dirty="0"/>
              <a:t> </a:t>
            </a:r>
            <a:r>
              <a:rPr lang="en-US" dirty="0" err="1"/>
              <a:t>compilar</a:t>
            </a:r>
            <a:r>
              <a:rPr lang="en-US" dirty="0"/>
              <a:t>, </a:t>
            </a:r>
            <a:r>
              <a:rPr lang="en-US" dirty="0" err="1"/>
              <a:t>descargar</a:t>
            </a:r>
            <a:r>
              <a:rPr lang="en-US" dirty="0"/>
              <a:t> </a:t>
            </a:r>
            <a:r>
              <a:rPr lang="en-US" dirty="0" err="1"/>
              <a:t>librerías</a:t>
            </a:r>
            <a:r>
              <a:rPr lang="en-US" dirty="0"/>
              <a:t>, mover </a:t>
            </a:r>
            <a:r>
              <a:rPr lang="en-US" dirty="0" err="1"/>
              <a:t>archivos</a:t>
            </a:r>
            <a:r>
              <a:rPr lang="en-US" dirty="0"/>
              <a:t>, </a:t>
            </a:r>
            <a:r>
              <a:rPr lang="en-US" dirty="0" err="1"/>
              <a:t>cargar</a:t>
            </a:r>
            <a:r>
              <a:rPr lang="en-US" dirty="0"/>
              <a:t> </a:t>
            </a:r>
            <a:r>
              <a:rPr lang="en-US" dirty="0" err="1"/>
              <a:t>esquemas</a:t>
            </a:r>
            <a:r>
              <a:rPr lang="en-US" dirty="0"/>
              <a:t> en bases de </a:t>
            </a:r>
            <a:r>
              <a:rPr lang="en-US" dirty="0" err="1"/>
              <a:t>datos</a:t>
            </a:r>
            <a:r>
              <a:rPr lang="en-US" dirty="0"/>
              <a:t>, etc. </a:t>
            </a:r>
          </a:p>
          <a:p>
            <a:r>
              <a:rPr lang="en-US" dirty="0"/>
              <a:t>Hay que </a:t>
            </a:r>
            <a:r>
              <a:rPr lang="en-US" dirty="0" err="1"/>
              <a:t>hacerlo</a:t>
            </a:r>
            <a:r>
              <a:rPr lang="en-US" dirty="0"/>
              <a:t> </a:t>
            </a:r>
            <a:r>
              <a:rPr lang="en-US" dirty="0" err="1"/>
              <a:t>mediante</a:t>
            </a:r>
            <a:r>
              <a:rPr lang="en-US" dirty="0"/>
              <a:t> </a:t>
            </a:r>
            <a:r>
              <a:rPr lang="en-US" dirty="0" err="1"/>
              <a:t>una</a:t>
            </a:r>
            <a:r>
              <a:rPr lang="en-US" dirty="0"/>
              <a:t> </a:t>
            </a:r>
            <a:r>
              <a:rPr lang="en-US" dirty="0" err="1"/>
              <a:t>secuencia</a:t>
            </a:r>
            <a:r>
              <a:rPr lang="en-US" dirty="0"/>
              <a:t> de </a:t>
            </a:r>
            <a:r>
              <a:rPr lang="en-US" dirty="0" err="1"/>
              <a:t>comandos</a:t>
            </a:r>
            <a:r>
              <a:rPr lang="en-US" dirty="0"/>
              <a:t> (script) </a:t>
            </a:r>
            <a:r>
              <a:rPr lang="en-US" dirty="0" err="1"/>
              <a:t>desde</a:t>
            </a:r>
            <a:r>
              <a:rPr lang="en-US" dirty="0"/>
              <a:t> </a:t>
            </a:r>
            <a:r>
              <a:rPr lang="en-US" dirty="0" err="1"/>
              <a:t>una</a:t>
            </a:r>
            <a:r>
              <a:rPr lang="en-US" dirty="0"/>
              <a:t> </a:t>
            </a:r>
            <a:r>
              <a:rPr lang="en-US" dirty="0" err="1"/>
              <a:t>consola</a:t>
            </a:r>
            <a:r>
              <a:rPr lang="en-US" dirty="0"/>
              <a:t> o </a:t>
            </a:r>
            <a:r>
              <a:rPr lang="en-US" dirty="0" err="1"/>
              <a:t>intérprete</a:t>
            </a:r>
            <a:r>
              <a:rPr lang="en-US" dirty="0"/>
              <a:t> de </a:t>
            </a:r>
            <a:r>
              <a:rPr lang="en-US" dirty="0" err="1"/>
              <a:t>comandos</a:t>
            </a:r>
            <a:r>
              <a:rPr lang="en-US" dirty="0"/>
              <a:t> (shell) del </a:t>
            </a:r>
            <a:r>
              <a:rPr lang="en-US" dirty="0" err="1"/>
              <a:t>sistema</a:t>
            </a:r>
            <a:r>
              <a:rPr lang="en-US" dirty="0"/>
              <a:t> </a:t>
            </a:r>
            <a:r>
              <a:rPr lang="en-US" dirty="0" err="1"/>
              <a:t>operativo</a:t>
            </a:r>
            <a:r>
              <a:rPr lang="en-US" dirty="0"/>
              <a:t>.</a:t>
            </a:r>
          </a:p>
          <a:p>
            <a:pPr lvl="1"/>
            <a:r>
              <a:rPr lang="en-US" dirty="0" err="1"/>
              <a:t>Ej</a:t>
            </a:r>
            <a:r>
              <a:rPr lang="en-US" dirty="0"/>
              <a:t>. # </a:t>
            </a:r>
            <a:r>
              <a:rPr lang="en-US" dirty="0" err="1"/>
              <a:t>mvn</a:t>
            </a:r>
            <a:r>
              <a:rPr lang="en-US" dirty="0"/>
              <a:t> package</a:t>
            </a:r>
          </a:p>
          <a:p>
            <a:r>
              <a:rPr lang="en-US" dirty="0"/>
              <a:t>No se </a:t>
            </a:r>
            <a:r>
              <a:rPr lang="en-US" dirty="0" err="1"/>
              <a:t>puede</a:t>
            </a:r>
            <a:r>
              <a:rPr lang="en-US" dirty="0"/>
              <a:t> </a:t>
            </a:r>
            <a:r>
              <a:rPr lang="en-US" dirty="0" err="1"/>
              <a:t>depender</a:t>
            </a:r>
            <a:r>
              <a:rPr lang="en-US" dirty="0"/>
              <a:t> de un </a:t>
            </a:r>
            <a:r>
              <a:rPr lang="en-US" dirty="0" err="1"/>
              <a:t>entorno</a:t>
            </a:r>
            <a:r>
              <a:rPr lang="en-US" dirty="0"/>
              <a:t> de </a:t>
            </a:r>
            <a:r>
              <a:rPr lang="en-US" dirty="0" err="1"/>
              <a:t>desarrollo</a:t>
            </a:r>
            <a:r>
              <a:rPr lang="en-US" dirty="0"/>
              <a:t> (IDE), </a:t>
            </a:r>
            <a:r>
              <a:rPr lang="en-US" dirty="0" err="1"/>
              <a:t>como</a:t>
            </a:r>
            <a:r>
              <a:rPr lang="en-US" dirty="0"/>
              <a:t> Eclipse, </a:t>
            </a:r>
            <a:r>
              <a:rPr lang="en-US" dirty="0" err="1"/>
              <a:t>IntelliJ</a:t>
            </a:r>
            <a:r>
              <a:rPr lang="en-US" dirty="0"/>
              <a:t>, </a:t>
            </a:r>
            <a:r>
              <a:rPr lang="en-US" dirty="0" err="1"/>
              <a:t>NetBeans</a:t>
            </a:r>
            <a:r>
              <a:rPr lang="en-US" dirty="0"/>
              <a:t>, VS Code, etc. </a:t>
            </a:r>
            <a:r>
              <a:rPr lang="en-US" dirty="0" err="1"/>
              <a:t>Cada</a:t>
            </a:r>
            <a:r>
              <a:rPr lang="en-US" dirty="0"/>
              <a:t> </a:t>
            </a:r>
            <a:r>
              <a:rPr lang="en-US" dirty="0" err="1"/>
              <a:t>desarrollador</a:t>
            </a:r>
            <a:r>
              <a:rPr lang="en-US" dirty="0"/>
              <a:t> </a:t>
            </a:r>
            <a:r>
              <a:rPr lang="en-US" dirty="0" err="1"/>
              <a:t>puede</a:t>
            </a:r>
            <a:r>
              <a:rPr lang="en-US" dirty="0"/>
              <a:t> </a:t>
            </a:r>
            <a:r>
              <a:rPr lang="en-US" dirty="0" err="1"/>
              <a:t>trabajar</a:t>
            </a:r>
            <a:r>
              <a:rPr lang="en-US" dirty="0"/>
              <a:t> de forma individual con un IDE, </a:t>
            </a:r>
            <a:r>
              <a:rPr lang="en-US" dirty="0" err="1"/>
              <a:t>pero</a:t>
            </a:r>
            <a:r>
              <a:rPr lang="en-US" dirty="0"/>
              <a:t> la </a:t>
            </a:r>
            <a:r>
              <a:rPr lang="en-US" dirty="0" err="1"/>
              <a:t>construcción</a:t>
            </a:r>
            <a:r>
              <a:rPr lang="en-US" dirty="0"/>
              <a:t> a </a:t>
            </a:r>
            <a:r>
              <a:rPr lang="en-US" dirty="0" err="1"/>
              <a:t>partir</a:t>
            </a:r>
            <a:r>
              <a:rPr lang="en-US" dirty="0"/>
              <a:t> del </a:t>
            </a:r>
            <a:r>
              <a:rPr lang="en-US" dirty="0" err="1"/>
              <a:t>repositorio</a:t>
            </a:r>
            <a:r>
              <a:rPr lang="en-US" dirty="0"/>
              <a:t> </a:t>
            </a:r>
            <a:r>
              <a:rPr lang="en-US" dirty="0" err="1"/>
              <a:t>compartido</a:t>
            </a:r>
            <a:r>
              <a:rPr lang="en-US" dirty="0"/>
              <a:t> </a:t>
            </a:r>
            <a:r>
              <a:rPr lang="en-US" dirty="0" err="1"/>
              <a:t>debe</a:t>
            </a:r>
            <a:r>
              <a:rPr lang="en-US" dirty="0"/>
              <a:t> </a:t>
            </a:r>
            <a:r>
              <a:rPr lang="en-US" dirty="0" err="1"/>
              <a:t>poderse</a:t>
            </a:r>
            <a:r>
              <a:rPr lang="en-US" dirty="0"/>
              <a:t> </a:t>
            </a:r>
            <a:r>
              <a:rPr lang="en-US" dirty="0" err="1"/>
              <a:t>hacer</a:t>
            </a:r>
            <a:r>
              <a:rPr lang="en-US" dirty="0"/>
              <a:t> sin </a:t>
            </a:r>
            <a:r>
              <a:rPr lang="en-US" dirty="0" err="1"/>
              <a:t>ningún</a:t>
            </a:r>
            <a:r>
              <a:rPr lang="en-US" dirty="0"/>
              <a:t> </a:t>
            </a:r>
            <a:r>
              <a:rPr lang="en-US" dirty="0" err="1"/>
              <a:t>entorno</a:t>
            </a:r>
            <a:r>
              <a:rPr lang="en-US" dirty="0"/>
              <a:t> de </a:t>
            </a:r>
            <a:r>
              <a:rPr lang="en-US" dirty="0" err="1"/>
              <a:t>desarrollo</a:t>
            </a:r>
            <a:r>
              <a:rPr lang="en-US" dirty="0"/>
              <a:t>, </a:t>
            </a:r>
            <a:r>
              <a:rPr lang="en-US" dirty="0" err="1"/>
              <a:t>utilizando</a:t>
            </a:r>
            <a:r>
              <a:rPr lang="en-US" dirty="0"/>
              <a:t> </a:t>
            </a:r>
            <a:r>
              <a:rPr lang="en-US" dirty="0" err="1"/>
              <a:t>sólo</a:t>
            </a:r>
            <a:r>
              <a:rPr lang="en-US" dirty="0"/>
              <a:t> scripts de </a:t>
            </a:r>
            <a:r>
              <a:rPr lang="en-US" dirty="0" err="1"/>
              <a:t>comandos</a:t>
            </a:r>
            <a:r>
              <a:rPr lang="en-US" dirty="0"/>
              <a:t>.</a:t>
            </a:r>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8</a:t>
            </a:fld>
            <a:endParaRPr lang="es-ES" dirty="0"/>
          </a:p>
        </p:txBody>
      </p:sp>
      <p:pic>
        <p:nvPicPr>
          <p:cNvPr id="5" name="Imagen 4" title="&quot;&quot;">
            <a:extLst>
              <a:ext uri="{C183D7F6-B498-43B3-948B-1728B52AA6E4}">
                <adec:decorative xmlns="" xmlns:adec="http://schemas.microsoft.com/office/drawing/2017/decorative" val="1"/>
              </a:ext>
            </a:extLst>
          </p:cNvPr>
          <p:cNvPicPr>
            <a:picLocks noChangeAspect="1"/>
          </p:cNvPicPr>
          <p:nvPr/>
        </p:nvPicPr>
        <p:blipFill>
          <a:blip r:embed="rId3"/>
          <a:stretch>
            <a:fillRect/>
          </a:stretch>
        </p:blipFill>
        <p:spPr>
          <a:xfrm>
            <a:off x="8728317" y="2900182"/>
            <a:ext cx="3240944" cy="1881548"/>
          </a:xfrm>
          <a:prstGeom prst="rect">
            <a:avLst/>
          </a:prstGeom>
        </p:spPr>
      </p:pic>
      <p:sp>
        <p:nvSpPr>
          <p:cNvPr id="6" name="Elipse 5" title="&quot;&quot;">
            <a:extLst>
              <a:ext uri="{C183D7F6-B498-43B3-948B-1728B52AA6E4}">
                <adec:decorative xmlns="" xmlns:adec="http://schemas.microsoft.com/office/drawing/2017/decorative" val="1"/>
              </a:ext>
            </a:extLst>
          </p:cNvPr>
          <p:cNvSpPr/>
          <p:nvPr/>
        </p:nvSpPr>
        <p:spPr>
          <a:xfrm>
            <a:off x="10280073" y="3172691"/>
            <a:ext cx="540327" cy="692728"/>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276416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P3. Incluir pruebas automatizadas en el proceso de construcción</a:t>
            </a:r>
          </a:p>
        </p:txBody>
      </p:sp>
      <p:sp>
        <p:nvSpPr>
          <p:cNvPr id="3" name="Marcador de contenido 2"/>
          <p:cNvSpPr>
            <a:spLocks noGrp="1"/>
          </p:cNvSpPr>
          <p:nvPr>
            <p:ph idx="1"/>
          </p:nvPr>
        </p:nvSpPr>
        <p:spPr>
          <a:xfrm>
            <a:off x="527539" y="1491517"/>
            <a:ext cx="8095762" cy="5229958"/>
          </a:xfrm>
        </p:spPr>
        <p:txBody>
          <a:bodyPr>
            <a:normAutofit fontScale="70000" lnSpcReduction="20000"/>
          </a:bodyPr>
          <a:lstStyle/>
          <a:p>
            <a:r>
              <a:rPr lang="es-ES" dirty="0"/>
              <a:t>Hay que crear un conjunto (suite) de pruebas (</a:t>
            </a:r>
            <a:r>
              <a:rPr lang="es-ES" dirty="0" err="1"/>
              <a:t>tests</a:t>
            </a:r>
            <a:r>
              <a:rPr lang="es-ES" dirty="0"/>
              <a:t>) para detectar errores (bugs).</a:t>
            </a:r>
          </a:p>
          <a:p>
            <a:r>
              <a:rPr lang="es-ES" dirty="0"/>
              <a:t>Las pruebas deben poder ser ejecutadas con un simple comando y el código fuente debe formar parte del código fuente del proyecto (</a:t>
            </a:r>
            <a:r>
              <a:rPr lang="es-ES" dirty="0" err="1"/>
              <a:t>self-testing</a:t>
            </a:r>
            <a:r>
              <a:rPr lang="es-ES" dirty="0"/>
              <a:t>).</a:t>
            </a:r>
          </a:p>
          <a:p>
            <a:r>
              <a:rPr lang="es-ES" dirty="0"/>
              <a:t>La suite de pruebas debe fallar si una de las pruebas que incluye falla.</a:t>
            </a:r>
          </a:p>
          <a:p>
            <a:r>
              <a:rPr lang="es-ES" dirty="0"/>
              <a:t>Las pruebas unitarias (conocidas como </a:t>
            </a:r>
            <a:r>
              <a:rPr lang="es-ES" dirty="0" err="1"/>
              <a:t>Xunit</a:t>
            </a:r>
            <a:r>
              <a:rPr lang="es-ES" dirty="0"/>
              <a:t>) son un punto de partida para probar partes del producto software,  pero hay que complementarlas con otras pruebas que abarquen todo el producto , como las pruebas </a:t>
            </a:r>
            <a:r>
              <a:rPr lang="es-ES" dirty="0" err="1"/>
              <a:t>end</a:t>
            </a:r>
            <a:r>
              <a:rPr lang="es-ES" dirty="0"/>
              <a:t>-to-</a:t>
            </a:r>
            <a:r>
              <a:rPr lang="es-ES" dirty="0" err="1"/>
              <a:t>end</a:t>
            </a:r>
            <a:r>
              <a:rPr lang="es-ES" dirty="0"/>
              <a:t>, usando herramientas como </a:t>
            </a:r>
            <a:r>
              <a:rPr lang="es-ES" dirty="0" err="1"/>
              <a:t>Selenium</a:t>
            </a:r>
            <a:r>
              <a:rPr lang="es-ES" dirty="0"/>
              <a:t>.</a:t>
            </a:r>
          </a:p>
          <a:p>
            <a:r>
              <a:rPr lang="es-ES" dirty="0"/>
              <a:t>Siempre hay que tener en cuenta que las pruebas demuestran la existencia de errores, pero no demuestran la ausencia de errores.</a:t>
            </a:r>
          </a:p>
          <a:p>
            <a:r>
              <a:rPr lang="es-ES" dirty="0"/>
              <a:t>Y también que son mejores las pruebas imperfectas que se ejecutan frecuentemente que las pruebas perfectas que no se ejecutan nunca</a:t>
            </a:r>
            <a:r>
              <a:rPr lang="en-US" dirty="0"/>
              <a:t>.</a:t>
            </a:r>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9</a:t>
            </a:fld>
            <a:endParaRPr lang="es-ES" dirty="0"/>
          </a:p>
        </p:txBody>
      </p:sp>
      <p:pic>
        <p:nvPicPr>
          <p:cNvPr id="5" name="Imagen 4" title="&quot;&quot;">
            <a:extLst>
              <a:ext uri="{C183D7F6-B498-43B3-948B-1728B52AA6E4}">
                <adec:decorative xmlns="" xmlns:adec="http://schemas.microsoft.com/office/drawing/2017/decorative" val="1"/>
              </a:ext>
            </a:extLst>
          </p:cNvPr>
          <p:cNvPicPr>
            <a:picLocks noChangeAspect="1"/>
          </p:cNvPicPr>
          <p:nvPr/>
        </p:nvPicPr>
        <p:blipFill>
          <a:blip r:embed="rId3"/>
          <a:stretch>
            <a:fillRect/>
          </a:stretch>
        </p:blipFill>
        <p:spPr>
          <a:xfrm>
            <a:off x="8728317" y="2900182"/>
            <a:ext cx="3240944" cy="1881548"/>
          </a:xfrm>
          <a:prstGeom prst="rect">
            <a:avLst/>
          </a:prstGeom>
        </p:spPr>
      </p:pic>
      <p:sp>
        <p:nvSpPr>
          <p:cNvPr id="6" name="Elipse 5" title="&quot;&quot;">
            <a:extLst>
              <a:ext uri="{C183D7F6-B498-43B3-948B-1728B52AA6E4}">
                <adec:decorative xmlns="" xmlns:adec="http://schemas.microsoft.com/office/drawing/2017/decorative" val="1"/>
              </a:ext>
            </a:extLst>
          </p:cNvPr>
          <p:cNvSpPr/>
          <p:nvPr/>
        </p:nvSpPr>
        <p:spPr>
          <a:xfrm>
            <a:off x="10216573" y="2801864"/>
            <a:ext cx="540327" cy="692728"/>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289135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P4. Enviar cada día cambios (hacer </a:t>
            </a:r>
            <a:r>
              <a:rPr lang="es-ES" dirty="0" err="1"/>
              <a:t>commits</a:t>
            </a:r>
            <a:r>
              <a:rPr lang="es-ES" dirty="0"/>
              <a:t>) al repositorio compartido</a:t>
            </a:r>
          </a:p>
        </p:txBody>
      </p:sp>
      <p:sp>
        <p:nvSpPr>
          <p:cNvPr id="3" name="Marcador de contenido 2"/>
          <p:cNvSpPr>
            <a:spLocks noGrp="1"/>
          </p:cNvSpPr>
          <p:nvPr>
            <p:ph idx="1"/>
          </p:nvPr>
        </p:nvSpPr>
        <p:spPr>
          <a:xfrm>
            <a:off x="527538" y="1491517"/>
            <a:ext cx="8006861" cy="5229958"/>
          </a:xfrm>
        </p:spPr>
        <p:txBody>
          <a:bodyPr>
            <a:normAutofit fontScale="77500" lnSpcReduction="20000"/>
          </a:bodyPr>
          <a:lstStyle/>
          <a:p>
            <a:r>
              <a:rPr lang="es-ES" dirty="0"/>
              <a:t>Cada desarrollador debe hacer cambios en un replica del código fuente en su máquina local, compilar y probar en su máquina; y si no hay problemas, entonces puede enviar (subir) los cambios (hacer un </a:t>
            </a:r>
            <a:r>
              <a:rPr lang="es-ES" dirty="0" err="1"/>
              <a:t>commit</a:t>
            </a:r>
            <a:r>
              <a:rPr lang="es-ES" dirty="0"/>
              <a:t>) al repositorio compartido.</a:t>
            </a:r>
          </a:p>
          <a:p>
            <a:r>
              <a:rPr lang="es-ES" dirty="0"/>
              <a:t>Haciendo esto frecuentemente, los desarrolladores descubren rápidamente si hay conflictos entre dos desarrolladores. La clave para reparar problemas rápidamente es encontrarlos rápidamente. Si los desarrolladores suben cambios cada mucho tiempo, los futuros conflictos permanecen sin ser detectados durante mucho tiempo, y serán difíciles de resolver.</a:t>
            </a:r>
          </a:p>
          <a:p>
            <a:r>
              <a:rPr lang="es-ES" dirty="0"/>
              <a:t>Además, los  </a:t>
            </a:r>
            <a:r>
              <a:rPr lang="es-ES" dirty="0" err="1"/>
              <a:t>commits</a:t>
            </a:r>
            <a:r>
              <a:rPr lang="es-ES" dirty="0"/>
              <a:t> frecuentes animan a los desarrolladores a descomponer su trabajo en trozos pequeños, de pocas horas, lo que ayuda a un mejor seguimiento del progreso del desarrollo y proporciona una sensación de progreso.</a:t>
            </a:r>
            <a:r>
              <a:rPr lang="en-US" dirty="0"/>
              <a:t> </a:t>
            </a:r>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10</a:t>
            </a:fld>
            <a:endParaRPr lang="es-ES" dirty="0"/>
          </a:p>
        </p:txBody>
      </p:sp>
      <p:pic>
        <p:nvPicPr>
          <p:cNvPr id="5" name="Imagen 4" title="&quot;&quot;">
            <a:extLst>
              <a:ext uri="{C183D7F6-B498-43B3-948B-1728B52AA6E4}">
                <adec:decorative xmlns="" xmlns:adec="http://schemas.microsoft.com/office/drawing/2017/decorative" val="1"/>
              </a:ext>
            </a:extLst>
          </p:cNvPr>
          <p:cNvPicPr>
            <a:picLocks noChangeAspect="1"/>
          </p:cNvPicPr>
          <p:nvPr/>
        </p:nvPicPr>
        <p:blipFill>
          <a:blip r:embed="rId3"/>
          <a:stretch>
            <a:fillRect/>
          </a:stretch>
        </p:blipFill>
        <p:spPr>
          <a:xfrm>
            <a:off x="8728317" y="2900182"/>
            <a:ext cx="3240944" cy="1881548"/>
          </a:xfrm>
          <a:prstGeom prst="rect">
            <a:avLst/>
          </a:prstGeom>
        </p:spPr>
      </p:pic>
      <p:sp>
        <p:nvSpPr>
          <p:cNvPr id="6" name="Elipse 5" title="&quot;&quot;">
            <a:extLst>
              <a:ext uri="{C183D7F6-B498-43B3-948B-1728B52AA6E4}">
                <adec:decorative xmlns="" xmlns:adec="http://schemas.microsoft.com/office/drawing/2017/decorative" val="1"/>
              </a:ext>
            </a:extLst>
          </p:cNvPr>
          <p:cNvSpPr/>
          <p:nvPr/>
        </p:nvSpPr>
        <p:spPr>
          <a:xfrm>
            <a:off x="11232573" y="3962400"/>
            <a:ext cx="736688" cy="43180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118410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P5. Utilizar un servidor de integración para volver a construir el software a partir de cada </a:t>
            </a:r>
            <a:r>
              <a:rPr lang="es-ES" dirty="0" err="1"/>
              <a:t>commit</a:t>
            </a:r>
            <a:r>
              <a:rPr lang="es-ES" dirty="0"/>
              <a:t> </a:t>
            </a:r>
          </a:p>
        </p:txBody>
      </p:sp>
      <p:sp>
        <p:nvSpPr>
          <p:cNvPr id="3" name="Marcador de contenido 2"/>
          <p:cNvSpPr>
            <a:spLocks noGrp="1"/>
          </p:cNvSpPr>
          <p:nvPr>
            <p:ph idx="1"/>
          </p:nvPr>
        </p:nvSpPr>
        <p:spPr>
          <a:xfrm>
            <a:off x="527538" y="1491517"/>
            <a:ext cx="7978039" cy="5229958"/>
          </a:xfrm>
        </p:spPr>
        <p:txBody>
          <a:bodyPr>
            <a:normAutofit fontScale="85000" lnSpcReduction="20000"/>
          </a:bodyPr>
          <a:lstStyle/>
          <a:p>
            <a:r>
              <a:rPr lang="es-ES" dirty="0"/>
              <a:t>Un servidor de integración actúa como un monitor del repositorio. Cada vez que un desarrollador envía un </a:t>
            </a:r>
            <a:r>
              <a:rPr lang="es-ES" dirty="0" err="1"/>
              <a:t>commit</a:t>
            </a:r>
            <a:r>
              <a:rPr lang="es-ES" dirty="0"/>
              <a:t> al repositorio, el servidor inicia una nueva construcción automática del producto, y otros trabajos que se hayan definido en el pipeline del proyecto, y al finalizar envía al desarrollador una notificación, normalmente por email,  indicando si ha finalizado con éxito o se ha interrumpido por algún error.</a:t>
            </a:r>
          </a:p>
          <a:p>
            <a:r>
              <a:rPr lang="es-ES" dirty="0"/>
              <a:t>Si una organización lanza construcciones regularmente a unas horas planificadas (por ejemplo, cada noche), no es suficiente para considerarse Integración Continua.  El punto clave de la Integración Continua es en encontrar los problemas cuanto antes</a:t>
            </a:r>
            <a:r>
              <a:rPr lang="en-US" dirty="0"/>
              <a:t>. </a:t>
            </a:r>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11</a:t>
            </a:fld>
            <a:endParaRPr lang="es-ES" dirty="0"/>
          </a:p>
        </p:txBody>
      </p:sp>
      <p:pic>
        <p:nvPicPr>
          <p:cNvPr id="5" name="Imagen 4" title="&quot;&quot;">
            <a:extLst>
              <a:ext uri="{C183D7F6-B498-43B3-948B-1728B52AA6E4}">
                <adec:decorative xmlns="" xmlns:adec="http://schemas.microsoft.com/office/drawing/2017/decorative" val="1"/>
              </a:ext>
            </a:extLst>
          </p:cNvPr>
          <p:cNvPicPr>
            <a:picLocks noChangeAspect="1"/>
          </p:cNvPicPr>
          <p:nvPr/>
        </p:nvPicPr>
        <p:blipFill>
          <a:blip r:embed="rId3"/>
          <a:stretch>
            <a:fillRect/>
          </a:stretch>
        </p:blipFill>
        <p:spPr>
          <a:xfrm>
            <a:off x="8728317" y="2900182"/>
            <a:ext cx="3240944" cy="1881548"/>
          </a:xfrm>
          <a:prstGeom prst="rect">
            <a:avLst/>
          </a:prstGeom>
        </p:spPr>
      </p:pic>
      <p:sp>
        <p:nvSpPr>
          <p:cNvPr id="6" name="Elipse 5" title="&quot;&quot;">
            <a:extLst>
              <a:ext uri="{C183D7F6-B498-43B3-948B-1728B52AA6E4}">
                <adec:decorative xmlns="" xmlns:adec="http://schemas.microsoft.com/office/drawing/2017/decorative" val="1"/>
              </a:ext>
            </a:extLst>
          </p:cNvPr>
          <p:cNvSpPr/>
          <p:nvPr/>
        </p:nvSpPr>
        <p:spPr>
          <a:xfrm>
            <a:off x="8601076" y="3514725"/>
            <a:ext cx="1257300" cy="49530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456018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P6. Reparar inmediatamente las construcciones fallidas</a:t>
            </a:r>
          </a:p>
        </p:txBody>
      </p:sp>
      <p:sp>
        <p:nvSpPr>
          <p:cNvPr id="3" name="Marcador de contenido 2"/>
          <p:cNvSpPr>
            <a:spLocks noGrp="1"/>
          </p:cNvSpPr>
          <p:nvPr>
            <p:ph idx="1"/>
          </p:nvPr>
        </p:nvSpPr>
        <p:spPr>
          <a:xfrm>
            <a:off x="527539" y="1491517"/>
            <a:ext cx="8200778" cy="5229958"/>
          </a:xfrm>
        </p:spPr>
        <p:txBody>
          <a:bodyPr>
            <a:normAutofit fontScale="92500"/>
          </a:bodyPr>
          <a:lstStyle/>
          <a:p>
            <a:r>
              <a:rPr lang="en-US" dirty="0"/>
              <a:t>“Nobody has a higher priority task than fixing the build” (Kent Beck).</a:t>
            </a:r>
          </a:p>
          <a:p>
            <a:r>
              <a:rPr lang="es-ES" dirty="0"/>
              <a:t>A menudo la forma más rápida de reparar una construcción es revertir el último </a:t>
            </a:r>
            <a:r>
              <a:rPr lang="es-ES" dirty="0" err="1"/>
              <a:t>commit</a:t>
            </a:r>
            <a:r>
              <a:rPr lang="es-ES" dirty="0"/>
              <a:t> enviado al repositorio, volviendo el contenido del repositorio a la situación de la última construcción sin errores.</a:t>
            </a:r>
          </a:p>
          <a:p>
            <a:r>
              <a:rPr lang="es-ES" dirty="0"/>
              <a:t>El equipo no debe intentar reparar directamente sobre el repositorio, a menos que sea un problema menor, habría que revertir el repositorio, hacer la reparación en una máquina de un desarrollador y volver a enviar un </a:t>
            </a:r>
            <a:r>
              <a:rPr lang="es-ES" dirty="0" err="1"/>
              <a:t>commit</a:t>
            </a:r>
            <a:r>
              <a:rPr lang="en-US" dirty="0"/>
              <a:t>.</a:t>
            </a:r>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12</a:t>
            </a:fld>
            <a:endParaRPr lang="es-ES" dirty="0"/>
          </a:p>
        </p:txBody>
      </p:sp>
      <p:pic>
        <p:nvPicPr>
          <p:cNvPr id="5" name="Imagen 4" title="&quot;&quot;">
            <a:extLst>
              <a:ext uri="{C183D7F6-B498-43B3-948B-1728B52AA6E4}">
                <adec:decorative xmlns="" xmlns:adec="http://schemas.microsoft.com/office/drawing/2017/decorative" val="1"/>
              </a:ext>
            </a:extLst>
          </p:cNvPr>
          <p:cNvPicPr>
            <a:picLocks noChangeAspect="1"/>
          </p:cNvPicPr>
          <p:nvPr/>
        </p:nvPicPr>
        <p:blipFill>
          <a:blip r:embed="rId3"/>
          <a:stretch>
            <a:fillRect/>
          </a:stretch>
        </p:blipFill>
        <p:spPr>
          <a:xfrm>
            <a:off x="8728317" y="2900182"/>
            <a:ext cx="3240944" cy="1881548"/>
          </a:xfrm>
          <a:prstGeom prst="rect">
            <a:avLst/>
          </a:prstGeom>
        </p:spPr>
      </p:pic>
      <p:sp>
        <p:nvSpPr>
          <p:cNvPr id="7" name="Elipse 6" title="&quot;&quot;">
            <a:extLst>
              <a:ext uri="{C183D7F6-B498-43B3-948B-1728B52AA6E4}">
                <adec:decorative xmlns="" xmlns:adec="http://schemas.microsoft.com/office/drawing/2017/decorative" val="1"/>
              </a:ext>
            </a:extLst>
          </p:cNvPr>
          <p:cNvSpPr/>
          <p:nvPr/>
        </p:nvSpPr>
        <p:spPr>
          <a:xfrm>
            <a:off x="9721273" y="2900182"/>
            <a:ext cx="540327" cy="692728"/>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Elipse 7" title="&quot;&quot;">
            <a:extLst>
              <a:ext uri="{C183D7F6-B498-43B3-948B-1728B52AA6E4}">
                <adec:decorative xmlns="" xmlns:adec="http://schemas.microsoft.com/office/drawing/2017/decorative" val="1"/>
              </a:ext>
            </a:extLst>
          </p:cNvPr>
          <p:cNvSpPr/>
          <p:nvPr/>
        </p:nvSpPr>
        <p:spPr>
          <a:xfrm>
            <a:off x="9601200" y="4318000"/>
            <a:ext cx="1015999" cy="58420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404955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P7. Construir rápidamente</a:t>
            </a:r>
          </a:p>
        </p:txBody>
      </p:sp>
      <p:sp>
        <p:nvSpPr>
          <p:cNvPr id="3" name="Marcador de contenido 2"/>
          <p:cNvSpPr>
            <a:spLocks noGrp="1"/>
          </p:cNvSpPr>
          <p:nvPr>
            <p:ph idx="1"/>
          </p:nvPr>
        </p:nvSpPr>
        <p:spPr>
          <a:xfrm>
            <a:off x="527539" y="1491517"/>
            <a:ext cx="8200778" cy="5229958"/>
          </a:xfrm>
        </p:spPr>
        <p:txBody>
          <a:bodyPr>
            <a:normAutofit fontScale="70000" lnSpcReduction="20000"/>
          </a:bodyPr>
          <a:lstStyle/>
          <a:p>
            <a:r>
              <a:rPr lang="es-ES" dirty="0"/>
              <a:t>En la mayoría de proyectos el objetivo de realizar construcciones de hasta diez minutos es razonable. Merece la pena reducir al máximo el tiempo, porque cada minuto que se reduzca la construcción es un minuto ahorrado para cada desarrollador cada vez que hace </a:t>
            </a:r>
            <a:r>
              <a:rPr lang="es-ES" dirty="0" err="1"/>
              <a:t>commits</a:t>
            </a:r>
            <a:r>
              <a:rPr lang="es-ES" dirty="0"/>
              <a:t>, y la integración continua demanda </a:t>
            </a:r>
            <a:r>
              <a:rPr lang="es-ES" dirty="0" err="1"/>
              <a:t>commits</a:t>
            </a:r>
            <a:r>
              <a:rPr lang="es-ES" dirty="0"/>
              <a:t> frecuentes, lo cual supone al final un considerable ahorro de tiempo.</a:t>
            </a:r>
          </a:p>
          <a:p>
            <a:r>
              <a:rPr lang="es-ES" dirty="0"/>
              <a:t>El cuello de botella habitual son las pruebas, especialmente aquellas que necesitan el uso de servicios externos, como una base de datos.</a:t>
            </a:r>
          </a:p>
          <a:p>
            <a:r>
              <a:rPr lang="es-ES" dirty="0"/>
              <a:t>En estos casos se puede separar la construcción en dos partes, una parte con la compilación y pruebas unitarias, que produce un </a:t>
            </a:r>
            <a:r>
              <a:rPr lang="es-ES" dirty="0" err="1"/>
              <a:t>commit</a:t>
            </a:r>
            <a:r>
              <a:rPr lang="es-ES" dirty="0"/>
              <a:t> en el repositorio suficientemente estable para que otras personas puedan seguir trabajando. Y una segunda parte para pruebas </a:t>
            </a:r>
            <a:r>
              <a:rPr lang="es-ES" dirty="0" err="1"/>
              <a:t>end</a:t>
            </a:r>
            <a:r>
              <a:rPr lang="es-ES" dirty="0"/>
              <a:t>-to-</a:t>
            </a:r>
            <a:r>
              <a:rPr lang="es-ES" dirty="0" err="1"/>
              <a:t>end</a:t>
            </a:r>
            <a:r>
              <a:rPr lang="es-ES" dirty="0"/>
              <a:t>. </a:t>
            </a:r>
          </a:p>
          <a:p>
            <a:r>
              <a:rPr lang="es-ES" dirty="0"/>
              <a:t>También se pueden lanzar pruebas en paralelo si se dispone de varias máquinas que puedan trabajar simultáneamente.</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13</a:t>
            </a:fld>
            <a:endParaRPr lang="es-ES" dirty="0"/>
          </a:p>
        </p:txBody>
      </p:sp>
      <p:pic>
        <p:nvPicPr>
          <p:cNvPr id="5" name="Imagen 4" title="&quot;&quot;">
            <a:extLst>
              <a:ext uri="{C183D7F6-B498-43B3-948B-1728B52AA6E4}">
                <adec:decorative xmlns="" xmlns:adec="http://schemas.microsoft.com/office/drawing/2017/decorative" val="1"/>
              </a:ext>
            </a:extLst>
          </p:cNvPr>
          <p:cNvPicPr>
            <a:picLocks noChangeAspect="1"/>
          </p:cNvPicPr>
          <p:nvPr/>
        </p:nvPicPr>
        <p:blipFill>
          <a:blip r:embed="rId3"/>
          <a:stretch>
            <a:fillRect/>
          </a:stretch>
        </p:blipFill>
        <p:spPr>
          <a:xfrm>
            <a:off x="8728317" y="2900182"/>
            <a:ext cx="3240944" cy="1881548"/>
          </a:xfrm>
          <a:prstGeom prst="rect">
            <a:avLst/>
          </a:prstGeom>
        </p:spPr>
      </p:pic>
      <p:sp>
        <p:nvSpPr>
          <p:cNvPr id="6" name="Elipse 5" title="&quot;&quot;">
            <a:extLst>
              <a:ext uri="{C183D7F6-B498-43B3-948B-1728B52AA6E4}">
                <adec:decorative xmlns="" xmlns:adec="http://schemas.microsoft.com/office/drawing/2017/decorative" val="1"/>
              </a:ext>
            </a:extLst>
          </p:cNvPr>
          <p:cNvSpPr/>
          <p:nvPr/>
        </p:nvSpPr>
        <p:spPr>
          <a:xfrm>
            <a:off x="10185401" y="2734228"/>
            <a:ext cx="609599" cy="1203061"/>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668866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P8. Probar en un entorno similar al entorno de producción</a:t>
            </a:r>
          </a:p>
        </p:txBody>
      </p:sp>
      <p:sp>
        <p:nvSpPr>
          <p:cNvPr id="3" name="Marcador de contenido 2"/>
          <p:cNvSpPr>
            <a:spLocks noGrp="1"/>
          </p:cNvSpPr>
          <p:nvPr>
            <p:ph idx="1"/>
          </p:nvPr>
        </p:nvSpPr>
        <p:spPr>
          <a:xfrm>
            <a:off x="527539" y="1491517"/>
            <a:ext cx="7917962" cy="5229958"/>
          </a:xfrm>
        </p:spPr>
        <p:txBody>
          <a:bodyPr>
            <a:normAutofit fontScale="92500"/>
          </a:bodyPr>
          <a:lstStyle/>
          <a:p>
            <a:r>
              <a:rPr lang="es-ES" dirty="0"/>
              <a:t>El objetivo debería ser duplicar exactamente el entorno de producción, y si no se puede, ser conscientes de los riesgos que se están asumiendo por cada diferencia entre el entorno de prueba y el de producción.</a:t>
            </a:r>
          </a:p>
          <a:p>
            <a:r>
              <a:rPr lang="es-ES" dirty="0"/>
              <a:t> Se trata de utilizar el mismo software de gestión de bases de datos, la misma versión del sistema operativo, las mismas librerías externas, los mismos puertos del servidor, etc.</a:t>
            </a:r>
          </a:p>
          <a:p>
            <a:r>
              <a:rPr lang="es-ES" dirty="0"/>
              <a:t>Esto se puede conseguir en gran medida mediante el uso de máquinas virtuales y/o contenedores. </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14</a:t>
            </a:fld>
            <a:endParaRPr lang="es-ES" dirty="0"/>
          </a:p>
        </p:txBody>
      </p:sp>
      <p:pic>
        <p:nvPicPr>
          <p:cNvPr id="5" name="Imagen 4" title="&quot;&quot;">
            <a:extLst>
              <a:ext uri="{C183D7F6-B498-43B3-948B-1728B52AA6E4}">
                <adec:decorative xmlns="" xmlns:adec="http://schemas.microsoft.com/office/drawing/2017/decorative" val="1"/>
              </a:ext>
            </a:extLst>
          </p:cNvPr>
          <p:cNvPicPr>
            <a:picLocks noChangeAspect="1"/>
          </p:cNvPicPr>
          <p:nvPr/>
        </p:nvPicPr>
        <p:blipFill>
          <a:blip r:embed="rId3"/>
          <a:stretch>
            <a:fillRect/>
          </a:stretch>
        </p:blipFill>
        <p:spPr>
          <a:xfrm>
            <a:off x="8728317" y="2900182"/>
            <a:ext cx="3240944" cy="1881548"/>
          </a:xfrm>
          <a:prstGeom prst="rect">
            <a:avLst/>
          </a:prstGeom>
        </p:spPr>
      </p:pic>
      <p:sp>
        <p:nvSpPr>
          <p:cNvPr id="7" name="Elipse 6" title="&quot;&quot;">
            <a:extLst>
              <a:ext uri="{C183D7F6-B498-43B3-948B-1728B52AA6E4}">
                <adec:decorative xmlns="" xmlns:adec="http://schemas.microsoft.com/office/drawing/2017/decorative" val="1"/>
              </a:ext>
            </a:extLst>
          </p:cNvPr>
          <p:cNvSpPr/>
          <p:nvPr/>
        </p:nvSpPr>
        <p:spPr>
          <a:xfrm>
            <a:off x="10216573" y="2801864"/>
            <a:ext cx="540327" cy="692728"/>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632413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P9. Todo el equipo debe poder acceder al último ejecutable</a:t>
            </a:r>
          </a:p>
        </p:txBody>
      </p:sp>
      <p:sp>
        <p:nvSpPr>
          <p:cNvPr id="3" name="Marcador de contenido 2"/>
          <p:cNvSpPr>
            <a:spLocks noGrp="1"/>
          </p:cNvSpPr>
          <p:nvPr>
            <p:ph idx="1"/>
          </p:nvPr>
        </p:nvSpPr>
        <p:spPr>
          <a:xfrm>
            <a:off x="527539" y="1491517"/>
            <a:ext cx="7816362" cy="5229958"/>
          </a:xfrm>
        </p:spPr>
        <p:txBody>
          <a:bodyPr>
            <a:normAutofit fontScale="92500" lnSpcReduction="10000"/>
          </a:bodyPr>
          <a:lstStyle/>
          <a:p>
            <a:r>
              <a:rPr lang="es-ES" dirty="0"/>
              <a:t>Todos los implicados en el proyecto deberían poder conseguir el último ejecutable y ser capaces de ejecutarlo, para demostraciones, para hacer pruebas de funcionamiento, o simplemente para ver lo que ha cambiado desde la semana anterior.</a:t>
            </a:r>
          </a:p>
          <a:p>
            <a:r>
              <a:rPr lang="es-ES" dirty="0"/>
              <a:t>Es recomendable almacenar los ejecutables en un almacén específico (como un </a:t>
            </a:r>
            <a:r>
              <a:rPr lang="es-ES" dirty="0" err="1"/>
              <a:t>nexus</a:t>
            </a:r>
            <a:r>
              <a:rPr lang="es-ES" dirty="0"/>
              <a:t>, </a:t>
            </a:r>
            <a:r>
              <a:rPr lang="es-ES" dirty="0" err="1"/>
              <a:t>npm</a:t>
            </a:r>
            <a:r>
              <a:rPr lang="es-ES" dirty="0"/>
              <a:t>, etc.). No deberían estar en el repositorio del código fuente.</a:t>
            </a:r>
          </a:p>
          <a:p>
            <a:r>
              <a:rPr lang="es-ES" dirty="0"/>
              <a:t>En desarrollos ágiles (como </a:t>
            </a:r>
            <a:r>
              <a:rPr lang="es-ES" dirty="0" err="1"/>
              <a:t>Scrum</a:t>
            </a:r>
            <a:r>
              <a:rPr lang="es-ES" dirty="0"/>
              <a:t>), conviene conservar en el almacén los ejecutables obtenidos en las diferentes iteraciones.</a:t>
            </a:r>
          </a:p>
        </p:txBody>
      </p:sp>
      <p:pic>
        <p:nvPicPr>
          <p:cNvPr id="5" name="Imagen 4" title="&quot;&quot;">
            <a:extLst>
              <a:ext uri="{C183D7F6-B498-43B3-948B-1728B52AA6E4}">
                <adec:decorative xmlns="" xmlns:adec="http://schemas.microsoft.com/office/drawing/2017/decorative" val="1"/>
              </a:ext>
            </a:extLst>
          </p:cNvPr>
          <p:cNvPicPr>
            <a:picLocks noChangeAspect="1"/>
          </p:cNvPicPr>
          <p:nvPr/>
        </p:nvPicPr>
        <p:blipFill>
          <a:blip r:embed="rId3"/>
          <a:stretch>
            <a:fillRect/>
          </a:stretch>
        </p:blipFill>
        <p:spPr>
          <a:xfrm>
            <a:off x="8728317" y="2900182"/>
            <a:ext cx="3240944" cy="1881548"/>
          </a:xfrm>
          <a:prstGeom prst="rect">
            <a:avLst/>
          </a:prstGeom>
        </p:spPr>
      </p:pic>
      <p:sp>
        <p:nvSpPr>
          <p:cNvPr id="6" name="Elipse 5" title="&quot;&quot;">
            <a:extLst>
              <a:ext uri="{C183D7F6-B498-43B3-948B-1728B52AA6E4}">
                <adec:decorative xmlns="" xmlns:adec="http://schemas.microsoft.com/office/drawing/2017/decorative" val="1"/>
              </a:ext>
            </a:extLst>
          </p:cNvPr>
          <p:cNvSpPr/>
          <p:nvPr/>
        </p:nvSpPr>
        <p:spPr>
          <a:xfrm>
            <a:off x="8578274" y="2683144"/>
            <a:ext cx="1188026" cy="83475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bo 6"/>
          <p:cNvSpPr/>
          <p:nvPr/>
        </p:nvSpPr>
        <p:spPr>
          <a:xfrm>
            <a:off x="8728317" y="2900182"/>
            <a:ext cx="885583" cy="439918"/>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900" dirty="0"/>
              <a:t>Ejecutables</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15</a:t>
            </a:fld>
            <a:endParaRPr lang="es-ES" dirty="0"/>
          </a:p>
        </p:txBody>
      </p:sp>
      <p:sp>
        <p:nvSpPr>
          <p:cNvPr id="8" name="Flecha abajo 7" title="&quot;&quot;">
            <a:extLst>
              <a:ext uri="{C183D7F6-B498-43B3-948B-1728B52AA6E4}">
                <adec:decorative xmlns="" xmlns:adec="http://schemas.microsoft.com/office/drawing/2017/decorative" val="1"/>
              </a:ext>
            </a:extLst>
          </p:cNvPr>
          <p:cNvSpPr/>
          <p:nvPr/>
        </p:nvSpPr>
        <p:spPr>
          <a:xfrm rot="10800000">
            <a:off x="9118601" y="3375873"/>
            <a:ext cx="107460" cy="2374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4012268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P10. Todo el equipo puede ver lo que está ocurriendo </a:t>
            </a:r>
          </a:p>
        </p:txBody>
      </p:sp>
      <p:sp>
        <p:nvSpPr>
          <p:cNvPr id="3" name="Marcador de contenido 2"/>
          <p:cNvSpPr>
            <a:spLocks noGrp="1"/>
          </p:cNvSpPr>
          <p:nvPr>
            <p:ph idx="1"/>
          </p:nvPr>
        </p:nvSpPr>
        <p:spPr>
          <a:xfrm>
            <a:off x="527539" y="1491517"/>
            <a:ext cx="8184662" cy="5229958"/>
          </a:xfrm>
        </p:spPr>
        <p:txBody>
          <a:bodyPr>
            <a:normAutofit fontScale="85000" lnSpcReduction="20000"/>
          </a:bodyPr>
          <a:lstStyle/>
          <a:p>
            <a:r>
              <a:rPr lang="es-ES" dirty="0"/>
              <a:t>La integración continua se basa en la comunicación, hay que asegurar que todos los participantes puedan ver fácilmente el estado del proyecto y los cambios que se han hecho.</a:t>
            </a:r>
          </a:p>
          <a:p>
            <a:r>
              <a:rPr lang="es-ES" dirty="0"/>
              <a:t>Se recomienda utilizar una página web (normalmente en el servidor de integración continua) que muestre visualmente toda esta información, con indicadores de colores que permitan distinguir cuando un trabajo (compilación, construcción, test, etc.) ha fallado (rojo) o ha tenido éxito (verde). También se debería poder ver el historial de cambios, funcionalidades añadidas, calendario, etc.</a:t>
            </a:r>
          </a:p>
          <a:p>
            <a:r>
              <a:rPr lang="en-US" dirty="0"/>
              <a:t>Se </a:t>
            </a:r>
            <a:r>
              <a:rPr lang="en-US" dirty="0" err="1"/>
              <a:t>trata</a:t>
            </a:r>
            <a:r>
              <a:rPr lang="en-US" dirty="0"/>
              <a:t> de que </a:t>
            </a:r>
            <a:r>
              <a:rPr lang="en-US" dirty="0" err="1"/>
              <a:t>todo</a:t>
            </a:r>
            <a:r>
              <a:rPr lang="en-US" dirty="0"/>
              <a:t> el </a:t>
            </a:r>
            <a:r>
              <a:rPr lang="en-US" dirty="0" err="1"/>
              <a:t>equipo</a:t>
            </a:r>
            <a:r>
              <a:rPr lang="en-US" dirty="0"/>
              <a:t> </a:t>
            </a:r>
            <a:r>
              <a:rPr lang="en-US" dirty="0" err="1"/>
              <a:t>conozca</a:t>
            </a:r>
            <a:r>
              <a:rPr lang="en-US" dirty="0"/>
              <a:t> lo que </a:t>
            </a:r>
            <a:r>
              <a:rPr lang="en-US" dirty="0" err="1"/>
              <a:t>cada</a:t>
            </a:r>
            <a:r>
              <a:rPr lang="en-US" dirty="0"/>
              <a:t> </a:t>
            </a:r>
            <a:r>
              <a:rPr lang="en-US" dirty="0" err="1"/>
              <a:t>miembro</a:t>
            </a:r>
            <a:r>
              <a:rPr lang="en-US" dirty="0"/>
              <a:t> ha </a:t>
            </a:r>
            <a:r>
              <a:rPr lang="en-US" dirty="0" err="1"/>
              <a:t>estado</a:t>
            </a:r>
            <a:r>
              <a:rPr lang="en-US" dirty="0"/>
              <a:t> </a:t>
            </a:r>
            <a:r>
              <a:rPr lang="en-US" dirty="0" err="1"/>
              <a:t>haciendo</a:t>
            </a:r>
            <a:r>
              <a:rPr lang="en-US" dirty="0"/>
              <a:t> y </a:t>
            </a:r>
            <a:r>
              <a:rPr lang="en-US" dirty="0" err="1"/>
              <a:t>cómo</a:t>
            </a:r>
            <a:r>
              <a:rPr lang="en-US" dirty="0"/>
              <a:t> ha </a:t>
            </a:r>
            <a:r>
              <a:rPr lang="en-US" dirty="0" err="1"/>
              <a:t>ido</a:t>
            </a:r>
            <a:r>
              <a:rPr lang="en-US" dirty="0"/>
              <a:t> </a:t>
            </a:r>
            <a:r>
              <a:rPr lang="en-US" dirty="0" err="1"/>
              <a:t>evolucionando</a:t>
            </a:r>
            <a:r>
              <a:rPr lang="en-US" dirty="0"/>
              <a:t> el </a:t>
            </a:r>
            <a:r>
              <a:rPr lang="en-US" dirty="0" err="1"/>
              <a:t>producto</a:t>
            </a:r>
            <a:r>
              <a:rPr lang="en-US" dirty="0"/>
              <a:t> que se </a:t>
            </a:r>
            <a:r>
              <a:rPr lang="en-US" dirty="0" err="1"/>
              <a:t>desarrolla</a:t>
            </a:r>
            <a:r>
              <a:rPr lang="en-US" dirty="0"/>
              <a:t>.</a:t>
            </a:r>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16</a:t>
            </a:fld>
            <a:endParaRPr lang="es-ES" dirty="0"/>
          </a:p>
        </p:txBody>
      </p:sp>
      <p:pic>
        <p:nvPicPr>
          <p:cNvPr id="5" name="Imagen 4" title="&quot;&quot;">
            <a:extLst>
              <a:ext uri="{C183D7F6-B498-43B3-948B-1728B52AA6E4}">
                <adec:decorative xmlns="" xmlns:adec="http://schemas.microsoft.com/office/drawing/2017/decorative" val="1"/>
              </a:ext>
            </a:extLst>
          </p:cNvPr>
          <p:cNvPicPr>
            <a:picLocks noChangeAspect="1"/>
          </p:cNvPicPr>
          <p:nvPr/>
        </p:nvPicPr>
        <p:blipFill>
          <a:blip r:embed="rId3"/>
          <a:stretch>
            <a:fillRect/>
          </a:stretch>
        </p:blipFill>
        <p:spPr>
          <a:xfrm>
            <a:off x="8728317" y="2900182"/>
            <a:ext cx="3240944" cy="1881548"/>
          </a:xfrm>
          <a:prstGeom prst="rect">
            <a:avLst/>
          </a:prstGeom>
        </p:spPr>
      </p:pic>
      <p:sp>
        <p:nvSpPr>
          <p:cNvPr id="6" name="Elipse 5" title="&quot;&quot;">
            <a:extLst>
              <a:ext uri="{C183D7F6-B498-43B3-948B-1728B52AA6E4}">
                <adec:decorative xmlns="" xmlns:adec="http://schemas.microsoft.com/office/drawing/2017/decorative" val="1"/>
              </a:ext>
            </a:extLst>
          </p:cNvPr>
          <p:cNvSpPr/>
          <p:nvPr/>
        </p:nvSpPr>
        <p:spPr>
          <a:xfrm>
            <a:off x="8601076" y="3514725"/>
            <a:ext cx="1257300" cy="49530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017748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P11. Automatizar el despliegue  </a:t>
            </a:r>
          </a:p>
        </p:txBody>
      </p:sp>
      <p:sp>
        <p:nvSpPr>
          <p:cNvPr id="3" name="Marcador de contenido 2"/>
          <p:cNvSpPr>
            <a:spLocks noGrp="1"/>
          </p:cNvSpPr>
          <p:nvPr>
            <p:ph idx="1"/>
          </p:nvPr>
        </p:nvSpPr>
        <p:spPr>
          <a:xfrm>
            <a:off x="527539" y="1491517"/>
            <a:ext cx="8260862" cy="5229958"/>
          </a:xfrm>
        </p:spPr>
        <p:txBody>
          <a:bodyPr>
            <a:normAutofit fontScale="85000" lnSpcReduction="20000"/>
          </a:bodyPr>
          <a:lstStyle/>
          <a:p>
            <a:r>
              <a:rPr lang="es-ES" dirty="0"/>
              <a:t>Para hacer integración continua se necesitan múltiples entornos, uno para ejecutar pruebas unitarias, otro para pruebas de integración, otro para pruebas de rendimiento, etc. Por tanto, es importante preparar secuencias de comandos (scripts) que permitan desplegar la aplicación en cualquier entorno rápidamente.</a:t>
            </a:r>
          </a:p>
          <a:p>
            <a:r>
              <a:rPr lang="es-ES" dirty="0"/>
              <a:t>No es necesario desplegar en producción cada día, pero tener preparado el despliegue automático ayuda a acelerar el proceso y a reducir errores.</a:t>
            </a:r>
          </a:p>
          <a:p>
            <a:r>
              <a:rPr lang="es-ES" dirty="0"/>
              <a:t>Un entorno puede estar basado en </a:t>
            </a:r>
            <a:r>
              <a:rPr lang="es-ES" dirty="0" err="1"/>
              <a:t>clusters</a:t>
            </a:r>
            <a:r>
              <a:rPr lang="es-ES" dirty="0"/>
              <a:t> de máquinas o nodos, por lo que se deben usar herramientas (ej. </a:t>
            </a:r>
            <a:r>
              <a:rPr lang="es-ES" dirty="0" err="1"/>
              <a:t>Kubernetes</a:t>
            </a:r>
            <a:r>
              <a:rPr lang="es-ES" dirty="0"/>
              <a:t>) que faciliten el despliegue automático y gradual de lo que corresponda a cada nodo del entorno.</a:t>
            </a:r>
            <a:endParaRPr lang="en-US" dirty="0"/>
          </a:p>
        </p:txBody>
      </p:sp>
      <p:pic>
        <p:nvPicPr>
          <p:cNvPr id="7" name="Imagen 6" title="&quot;&quot;">
            <a:extLst>
              <a:ext uri="{C183D7F6-B498-43B3-948B-1728B52AA6E4}">
                <adec:decorative xmlns="" xmlns:adec="http://schemas.microsoft.com/office/drawing/2017/decorative" val="1"/>
              </a:ext>
            </a:extLst>
          </p:cNvPr>
          <p:cNvPicPr>
            <a:picLocks noChangeAspect="1"/>
          </p:cNvPicPr>
          <p:nvPr/>
        </p:nvPicPr>
        <p:blipFill>
          <a:blip r:embed="rId3"/>
          <a:stretch>
            <a:fillRect/>
          </a:stretch>
        </p:blipFill>
        <p:spPr>
          <a:xfrm>
            <a:off x="8728317" y="2900182"/>
            <a:ext cx="3240944" cy="1881548"/>
          </a:xfrm>
          <a:prstGeom prst="rect">
            <a:avLst/>
          </a:prstGeom>
        </p:spPr>
      </p:pic>
      <p:sp>
        <p:nvSpPr>
          <p:cNvPr id="8" name="Elipse 7" title="&quot;&quot;">
            <a:extLst>
              <a:ext uri="{C183D7F6-B498-43B3-948B-1728B52AA6E4}">
                <adec:decorative xmlns="" xmlns:adec="http://schemas.microsoft.com/office/drawing/2017/decorative" val="1"/>
              </a:ext>
            </a:extLst>
          </p:cNvPr>
          <p:cNvSpPr/>
          <p:nvPr/>
        </p:nvSpPr>
        <p:spPr>
          <a:xfrm>
            <a:off x="9080502" y="2207453"/>
            <a:ext cx="1188026" cy="758861"/>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bo 8"/>
          <p:cNvSpPr/>
          <p:nvPr/>
        </p:nvSpPr>
        <p:spPr>
          <a:xfrm>
            <a:off x="8461617" y="2900182"/>
            <a:ext cx="885583" cy="439918"/>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900" dirty="0"/>
              <a:t>Ejecutables</a:t>
            </a:r>
          </a:p>
        </p:txBody>
      </p:sp>
      <p:sp>
        <p:nvSpPr>
          <p:cNvPr id="10" name="Flecha abajo 9" title="&quot;&quot;">
            <a:extLst>
              <a:ext uri="{C183D7F6-B498-43B3-948B-1728B52AA6E4}">
                <adec:decorative xmlns="" xmlns:adec="http://schemas.microsoft.com/office/drawing/2017/decorative" val="1"/>
              </a:ext>
            </a:extLst>
          </p:cNvPr>
          <p:cNvSpPr/>
          <p:nvPr/>
        </p:nvSpPr>
        <p:spPr>
          <a:xfrm rot="10800000">
            <a:off x="8902701" y="3375873"/>
            <a:ext cx="107460" cy="2374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ubo 10"/>
          <p:cNvSpPr/>
          <p:nvPr/>
        </p:nvSpPr>
        <p:spPr>
          <a:xfrm>
            <a:off x="9230213" y="2368603"/>
            <a:ext cx="885583" cy="439918"/>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900" dirty="0"/>
              <a:t>Entornos de despliegue</a:t>
            </a:r>
          </a:p>
        </p:txBody>
      </p:sp>
      <p:sp>
        <p:nvSpPr>
          <p:cNvPr id="12" name="Flecha abajo 11" title="&quot;&quot;">
            <a:extLst>
              <a:ext uri="{C183D7F6-B498-43B3-948B-1728B52AA6E4}">
                <adec:decorative xmlns="" xmlns:adec="http://schemas.microsoft.com/office/drawing/2017/decorative" val="1"/>
              </a:ext>
            </a:extLst>
          </p:cNvPr>
          <p:cNvSpPr/>
          <p:nvPr/>
        </p:nvSpPr>
        <p:spPr>
          <a:xfrm rot="10800000">
            <a:off x="9502528" y="2808521"/>
            <a:ext cx="111371" cy="8047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17</a:t>
            </a:fld>
            <a:endParaRPr lang="es-ES" dirty="0"/>
          </a:p>
        </p:txBody>
      </p:sp>
    </p:spTree>
    <p:extLst>
      <p:ext uri="{BB962C8B-B14F-4D97-AF65-F5344CB8AC3E}">
        <p14:creationId xmlns:p14="http://schemas.microsoft.com/office/powerpoint/2010/main" val="8527210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4. Beneficios de la Integración Continua</a:t>
            </a:r>
          </a:p>
        </p:txBody>
      </p:sp>
      <p:sp>
        <p:nvSpPr>
          <p:cNvPr id="3" name="Marcador de contenido 2"/>
          <p:cNvSpPr>
            <a:spLocks noGrp="1"/>
          </p:cNvSpPr>
          <p:nvPr>
            <p:ph idx="1"/>
          </p:nvPr>
        </p:nvSpPr>
        <p:spPr>
          <a:xfrm>
            <a:off x="527538" y="1491517"/>
            <a:ext cx="11025553" cy="5229958"/>
          </a:xfrm>
        </p:spPr>
        <p:txBody>
          <a:bodyPr>
            <a:normAutofit fontScale="92500" lnSpcReduction="10000"/>
          </a:bodyPr>
          <a:lstStyle/>
          <a:p>
            <a:r>
              <a:rPr lang="es-ES" dirty="0"/>
              <a:t>Reduce los riesgos</a:t>
            </a:r>
          </a:p>
          <a:p>
            <a:pPr lvl="1"/>
            <a:r>
              <a:rPr lang="en-US" dirty="0"/>
              <a:t>El </a:t>
            </a:r>
            <a:r>
              <a:rPr lang="es-ES" dirty="0"/>
              <a:t>problema con la integración diferida es que es muy difícil predecir cuánto tiempo llevará realizar la integración, y también conocer en qué momento nos encontramos en el proceso de desarrollo, se trabaja a ciegas. Con la integración continua se eliminan situaciones de ceguera (</a:t>
            </a:r>
            <a:r>
              <a:rPr lang="es-ES" dirty="0" err="1"/>
              <a:t>blind</a:t>
            </a:r>
            <a:r>
              <a:rPr lang="es-ES" dirty="0"/>
              <a:t> spots), porque en cada momento todos los participantes conocen la situación actual, lo que funciona, lo que no funciona, los errores cometidos, etc. </a:t>
            </a:r>
            <a:r>
              <a:rPr lang="en-US" dirty="0"/>
              <a:t> </a:t>
            </a:r>
          </a:p>
          <a:p>
            <a:r>
              <a:rPr lang="es-ES" dirty="0"/>
              <a:t>Reduce los errores, tanto en desarrollo como en producción </a:t>
            </a:r>
          </a:p>
          <a:p>
            <a:pPr lvl="1"/>
            <a:r>
              <a:rPr lang="es-ES" dirty="0"/>
              <a:t>Esto es cierto siempre que se diseñen buenas pruebas, por lo que es necesario mejorar constantemente el diseño de todas las pruebas.</a:t>
            </a:r>
          </a:p>
          <a:p>
            <a:r>
              <a:rPr lang="es-ES" dirty="0"/>
              <a:t>Ayuda a eliminar barreras entre clientes y desarrolladores </a:t>
            </a:r>
          </a:p>
          <a:p>
            <a:pPr lvl="1"/>
            <a:r>
              <a:rPr lang="es-ES" dirty="0"/>
              <a:t>El despliegue frecuente permite a los usuarios obtener nuevas funcionalidades más rápidamente, y pueden dar rápidas opiniones (</a:t>
            </a:r>
            <a:r>
              <a:rPr lang="es-ES" dirty="0" err="1"/>
              <a:t>feeedback</a:t>
            </a:r>
            <a:r>
              <a:rPr lang="es-ES" dirty="0"/>
              <a:t>) sobre ellas, y generalmente ello redunda en una mayor participación en el desarrollo.</a:t>
            </a:r>
          </a:p>
          <a:p>
            <a:endParaRPr lang="en-U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18</a:t>
            </a:fld>
            <a:endParaRPr lang="es-ES" dirty="0"/>
          </a:p>
        </p:txBody>
      </p:sp>
    </p:spTree>
    <p:extLst>
      <p:ext uri="{BB962C8B-B14F-4D97-AF65-F5344CB8AC3E}">
        <p14:creationId xmlns:p14="http://schemas.microsoft.com/office/powerpoint/2010/main" val="10863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5. Introducir la Integración Continua</a:t>
            </a:r>
          </a:p>
        </p:txBody>
      </p:sp>
      <p:sp>
        <p:nvSpPr>
          <p:cNvPr id="3" name="Marcador de contenido 2"/>
          <p:cNvSpPr>
            <a:spLocks noGrp="1"/>
          </p:cNvSpPr>
          <p:nvPr>
            <p:ph idx="1"/>
          </p:nvPr>
        </p:nvSpPr>
        <p:spPr>
          <a:xfrm>
            <a:off x="527538" y="1491517"/>
            <a:ext cx="11025553" cy="5229958"/>
          </a:xfrm>
        </p:spPr>
        <p:txBody>
          <a:bodyPr>
            <a:normAutofit lnSpcReduction="10000"/>
          </a:bodyPr>
          <a:lstStyle/>
          <a:p>
            <a:pPr marL="514350" indent="-514350">
              <a:buFont typeface="+mj-lt"/>
              <a:buAutoNum type="arabicPeriod"/>
            </a:pPr>
            <a:r>
              <a:rPr lang="es-ES" dirty="0"/>
              <a:t>Uno de los primeros pasos debe ser conseguir automatizar la construcción de la aplicación a partir del contenido del repositorio de código fuente. Para ello hay que conseguir herramientas (como </a:t>
            </a:r>
            <a:r>
              <a:rPr lang="es-ES" dirty="0" err="1"/>
              <a:t>Maven</a:t>
            </a:r>
            <a:r>
              <a:rPr lang="es-ES" dirty="0"/>
              <a:t> o </a:t>
            </a:r>
            <a:r>
              <a:rPr lang="es-ES" dirty="0" err="1"/>
              <a:t>Gradle</a:t>
            </a:r>
            <a:r>
              <a:rPr lang="es-ES" dirty="0"/>
              <a:t>), que permitan construir la aplicación completa con un único comando.</a:t>
            </a:r>
          </a:p>
          <a:p>
            <a:pPr marL="514350" indent="-514350">
              <a:buFont typeface="+mj-lt"/>
              <a:buAutoNum type="arabicPeriod"/>
            </a:pPr>
            <a:r>
              <a:rPr lang="es-ES" dirty="0"/>
              <a:t>Hay que introducir el diseño de pruebas automatizadas como parte del proceso de desarrollo. Para ello hay que conseguir herramientas (como </a:t>
            </a:r>
            <a:r>
              <a:rPr lang="es-ES" dirty="0" err="1"/>
              <a:t>JUnit</a:t>
            </a:r>
            <a:r>
              <a:rPr lang="es-ES" dirty="0"/>
              <a:t>, </a:t>
            </a:r>
            <a:r>
              <a:rPr lang="es-ES" dirty="0" err="1"/>
              <a:t>Selenium</a:t>
            </a:r>
            <a:r>
              <a:rPr lang="es-ES" dirty="0"/>
              <a:t>, et.) que permitan diseñar diferentes tipos de pruebas.</a:t>
            </a:r>
          </a:p>
          <a:p>
            <a:pPr marL="514350" indent="-514350">
              <a:buFont typeface="+mj-lt"/>
              <a:buAutoNum type="arabicPeriod"/>
            </a:pPr>
            <a:r>
              <a:rPr lang="es-ES" dirty="0"/>
              <a:t>Hay que intentar reducir al máximo el tiempo de construcción de la aplicación, tratando de llegar a un objetivo de diez minutos máximo.</a:t>
            </a:r>
          </a:p>
          <a:p>
            <a:pPr marL="514350" indent="-514350">
              <a:buFont typeface="+mj-lt"/>
              <a:buAutoNum type="arabicPeriod"/>
            </a:pPr>
            <a:endParaRPr lang="en-US" dirty="0"/>
          </a:p>
          <a:p>
            <a:endParaRPr lang="en-U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19</a:t>
            </a:fld>
            <a:endParaRPr lang="es-ES" dirty="0"/>
          </a:p>
        </p:txBody>
      </p:sp>
    </p:spTree>
    <p:extLst>
      <p:ext uri="{BB962C8B-B14F-4D97-AF65-F5344CB8AC3E}">
        <p14:creationId xmlns:p14="http://schemas.microsoft.com/office/powerpoint/2010/main" val="4028070299"/>
      </p:ext>
    </p:extLst>
  </p:cSld>
  <p:clrMapOvr>
    <a:masterClrMapping/>
  </p:clrMapOvr>
</p:sld>
</file>

<file path=ppt/theme/theme1.xml><?xml version="1.0" encoding="utf-8"?>
<a:theme xmlns:a="http://schemas.openxmlformats.org/drawingml/2006/main" name="Tema de Office">
  <a:themeElements>
    <a:clrScheme name="Azul">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8147</TotalTime>
  <Words>2178</Words>
  <Application>Microsoft Office PowerPoint</Application>
  <PresentationFormat>Panorámica</PresentationFormat>
  <Paragraphs>133</Paragraphs>
  <Slides>19</Slides>
  <Notes>18</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19</vt:i4>
      </vt:variant>
    </vt:vector>
  </HeadingPairs>
  <TitlesOfParts>
    <vt:vector size="26" baseType="lpstr">
      <vt:lpstr>Arial</vt:lpstr>
      <vt:lpstr>Calibri</vt:lpstr>
      <vt:lpstr>Calibri Light</vt:lpstr>
      <vt:lpstr>Courier New</vt:lpstr>
      <vt:lpstr>Wingdings</vt:lpstr>
      <vt:lpstr>Tema de Office</vt:lpstr>
      <vt:lpstr>Diseño personalizado</vt:lpstr>
      <vt:lpstr>Principios de la Integración Continua</vt:lpstr>
      <vt:lpstr>Contenido</vt:lpstr>
      <vt:lpstr>1. Definición de Integración Continua (original)</vt:lpstr>
      <vt:lpstr>1. Definición de Integración Continua (traducida)</vt:lpstr>
      <vt:lpstr>2. Entorno de trabajo en Integración Continua </vt:lpstr>
      <vt:lpstr>3. Principios de la Integración Continua (Fowler, 2006)</vt:lpstr>
      <vt:lpstr>P1. Mantener un único repositorio de código fuente compartido </vt:lpstr>
      <vt:lpstr>P2. Automatizar la construcción (build)</vt:lpstr>
      <vt:lpstr>P3. Incluir pruebas automatizadas en el proceso de construcción</vt:lpstr>
      <vt:lpstr>P4. Enviar cada día cambios (hacer commits) al repositorio compartido</vt:lpstr>
      <vt:lpstr>P5. Utilizar un servidor de integración para volver a construir el software a partir de cada commit </vt:lpstr>
      <vt:lpstr>P6. Reparar inmediatamente las construcciones fallidas</vt:lpstr>
      <vt:lpstr>P7. Construir rápidamente</vt:lpstr>
      <vt:lpstr>P8. Probar en un entorno similar al entorno de producción</vt:lpstr>
      <vt:lpstr>P9. Todo el equipo debe poder acceder al último ejecutable</vt:lpstr>
      <vt:lpstr>P10. Todo el equipo puede ver lo que está ocurriendo </vt:lpstr>
      <vt:lpstr>P11. Automatizar el despliegue  </vt:lpstr>
      <vt:lpstr>4. Beneficios de la Integración Continua</vt:lpstr>
      <vt:lpstr>5. Introducir la Integración Continua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Principios Integración Continua</dc:title>
  <dc:creator>Hilera González José Ramón</dc:creator>
  <cp:lastModifiedBy>Hilera González José Ramón</cp:lastModifiedBy>
  <cp:revision>526</cp:revision>
  <cp:lastPrinted>2020-04-11T11:36:40Z</cp:lastPrinted>
  <dcterms:created xsi:type="dcterms:W3CDTF">2016-04-13T08:22:41Z</dcterms:created>
  <dcterms:modified xsi:type="dcterms:W3CDTF">2024-12-04T13:49:52Z</dcterms:modified>
</cp:coreProperties>
</file>