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2" r:id="rId2"/>
  </p:sldMasterIdLst>
  <p:notesMasterIdLst>
    <p:notesMasterId r:id="rId22"/>
  </p:notesMasterIdLst>
  <p:sldIdLst>
    <p:sldId id="461" r:id="rId3"/>
    <p:sldId id="462" r:id="rId4"/>
    <p:sldId id="469" r:id="rId5"/>
    <p:sldId id="460" r:id="rId6"/>
    <p:sldId id="463" r:id="rId7"/>
    <p:sldId id="474" r:id="rId8"/>
    <p:sldId id="475" r:id="rId9"/>
    <p:sldId id="483" r:id="rId10"/>
    <p:sldId id="484" r:id="rId11"/>
    <p:sldId id="466" r:id="rId12"/>
    <p:sldId id="482" r:id="rId13"/>
    <p:sldId id="486" r:id="rId14"/>
    <p:sldId id="467" r:id="rId15"/>
    <p:sldId id="468" r:id="rId16"/>
    <p:sldId id="476" r:id="rId17"/>
    <p:sldId id="477" r:id="rId18"/>
    <p:sldId id="481" r:id="rId19"/>
    <p:sldId id="478" r:id="rId20"/>
    <p:sldId id="479" r:id="rId2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3716" autoAdjust="0"/>
  </p:normalViewPr>
  <p:slideViewPr>
    <p:cSldViewPr snapToGrid="0">
      <p:cViewPr varScale="1">
        <p:scale>
          <a:sx n="68" d="100"/>
          <a:sy n="68" d="100"/>
        </p:scale>
        <p:origin x="1330" y="77"/>
      </p:cViewPr>
      <p:guideLst/>
    </p:cSldViewPr>
  </p:slideViewPr>
  <p:notesTextViewPr>
    <p:cViewPr>
      <p:scale>
        <a:sx n="75" d="100"/>
        <a:sy n="75" d="100"/>
      </p:scale>
      <p:origin x="0" y="0"/>
    </p:cViewPr>
  </p:notesTextViewPr>
  <p:notesViewPr>
    <p:cSldViewPr snapToGrid="0">
      <p:cViewPr varScale="1">
        <p:scale>
          <a:sx n="52" d="100"/>
          <a:sy n="52" d="100"/>
        </p:scale>
        <p:origin x="2608" y="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6FEF4D-0142-46B4-AC7F-5B868160AD8E}" type="datetimeFigureOut">
              <a:rPr lang="es-ES" smtClean="0"/>
              <a:t>04/12/2025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8CBC7-3B2B-4C22-92A9-AEE2213136AA}" type="slidenum">
              <a:rPr lang="es-ES" smtClean="0"/>
              <a:t>‹Nº›</a:t>
            </a:fld>
            <a:endParaRPr lang="es-ES" dirty="0"/>
          </a:p>
        </p:txBody>
      </p:sp>
    </p:spTree>
    <p:extLst>
      <p:ext uri="{BB962C8B-B14F-4D97-AF65-F5344CB8AC3E}">
        <p14:creationId xmlns:p14="http://schemas.microsoft.com/office/powerpoint/2010/main" val="316109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1</a:t>
            </a:fld>
            <a:endParaRPr lang="es-ES"/>
          </a:p>
        </p:txBody>
      </p:sp>
    </p:spTree>
    <p:extLst>
      <p:ext uri="{BB962C8B-B14F-4D97-AF65-F5344CB8AC3E}">
        <p14:creationId xmlns:p14="http://schemas.microsoft.com/office/powerpoint/2010/main" val="2033812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2</a:t>
            </a:fld>
            <a:endParaRPr lang="es-ES" dirty="0"/>
          </a:p>
        </p:txBody>
      </p:sp>
    </p:spTree>
    <p:extLst>
      <p:ext uri="{BB962C8B-B14F-4D97-AF65-F5344CB8AC3E}">
        <p14:creationId xmlns:p14="http://schemas.microsoft.com/office/powerpoint/2010/main" val="16068103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err="1"/>
              <a:t>yuhy</a:t>
            </a:r>
            <a:endParaRPr lang="es-ES" dirty="0"/>
          </a:p>
        </p:txBody>
      </p:sp>
      <p:sp>
        <p:nvSpPr>
          <p:cNvPr id="4" name="Marcador de número de diapositiva 3"/>
          <p:cNvSpPr>
            <a:spLocks noGrp="1"/>
          </p:cNvSpPr>
          <p:nvPr>
            <p:ph type="sldNum" sz="quarter" idx="10"/>
          </p:nvPr>
        </p:nvSpPr>
        <p:spPr/>
        <p:txBody>
          <a:bodyPr/>
          <a:lstStyle/>
          <a:p>
            <a:fld id="{09B8CBC7-3B2B-4C22-92A9-AEE2213136AA}" type="slidenum">
              <a:rPr lang="es-ES" smtClean="0"/>
              <a:t>5</a:t>
            </a:fld>
            <a:endParaRPr lang="es-ES" dirty="0"/>
          </a:p>
        </p:txBody>
      </p:sp>
    </p:spTree>
    <p:extLst>
      <p:ext uri="{BB962C8B-B14F-4D97-AF65-F5344CB8AC3E}">
        <p14:creationId xmlns:p14="http://schemas.microsoft.com/office/powerpoint/2010/main" val="34067898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0" y="0"/>
            <a:ext cx="12192000" cy="2387600"/>
          </a:xfrm>
          <a:solidFill>
            <a:schemeClr val="accent1">
              <a:lumMod val="40000"/>
              <a:lumOff val="60000"/>
            </a:schemeClr>
          </a:solidFill>
        </p:spPr>
        <p:txBody>
          <a:bodyPr anchor="ctr"/>
          <a:lstStyle>
            <a:lvl1pPr algn="r">
              <a:defRPr sz="6000"/>
            </a:lvl1pPr>
          </a:lstStyle>
          <a:p>
            <a:r>
              <a:rPr lang="es-ES" dirty="0"/>
              <a:t>Haga clic para modificar el estilo de título del patrón</a:t>
            </a:r>
          </a:p>
        </p:txBody>
      </p:sp>
      <p:sp>
        <p:nvSpPr>
          <p:cNvPr id="3" name="Subtítulo 2"/>
          <p:cNvSpPr>
            <a:spLocks noGrp="1"/>
          </p:cNvSpPr>
          <p:nvPr>
            <p:ph type="subTitle" idx="1"/>
          </p:nvPr>
        </p:nvSpPr>
        <p:spPr>
          <a:xfrm>
            <a:off x="240323" y="2854692"/>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Tree>
    <p:extLst>
      <p:ext uri="{BB962C8B-B14F-4D97-AF65-F5344CB8AC3E}">
        <p14:creationId xmlns:p14="http://schemas.microsoft.com/office/powerpoint/2010/main" val="1311319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Indice">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algn="ctr">
              <a:defRPr/>
            </a:lvl1pPr>
          </a:lstStyle>
          <a:p>
            <a:r>
              <a:rPr lang="es-ES" dirty="0"/>
              <a:t>Haga clic para modificar el estilo de título del patrón</a:t>
            </a:r>
          </a:p>
        </p:txBody>
      </p:sp>
      <p:sp>
        <p:nvSpPr>
          <p:cNvPr id="3" name="Marcador de contenido 2"/>
          <p:cNvSpPr>
            <a:spLocks noGrp="1"/>
          </p:cNvSpPr>
          <p:nvPr>
            <p:ph idx="1"/>
          </p:nvPr>
        </p:nvSpPr>
        <p:spPr>
          <a:xfrm>
            <a:off x="1345223" y="1491517"/>
            <a:ext cx="9161585"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84316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0" y="0"/>
            <a:ext cx="12192000" cy="1325563"/>
          </a:xfrm>
          <a:solidFill>
            <a:schemeClr val="accent1">
              <a:lumMod val="40000"/>
              <a:lumOff val="60000"/>
            </a:schemeClr>
          </a:solidFill>
        </p:spPr>
        <p:txBody>
          <a:bodyPr/>
          <a:lstStyle>
            <a:lvl1pPr marL="354013" indent="0">
              <a:defRPr/>
            </a:lvl1pPr>
          </a:lstStyle>
          <a:p>
            <a:r>
              <a:rPr lang="es-ES" dirty="0"/>
              <a:t>Haga clic para modificar el estilo de título del patrón</a:t>
            </a:r>
          </a:p>
        </p:txBody>
      </p:sp>
      <p:sp>
        <p:nvSpPr>
          <p:cNvPr id="3" name="Marcador de contenido 2"/>
          <p:cNvSpPr>
            <a:spLocks noGrp="1"/>
          </p:cNvSpPr>
          <p:nvPr>
            <p:ph idx="1"/>
          </p:nvPr>
        </p:nvSpPr>
        <p:spPr>
          <a:xfrm>
            <a:off x="527538" y="1491517"/>
            <a:ext cx="11025553" cy="4698268"/>
          </a:xfrm>
        </p:spPr>
        <p:txBody>
          <a:bodyPr/>
          <a:lstStyle>
            <a:lvl1pPr marL="228600" indent="-228600">
              <a:lnSpc>
                <a:spcPct val="120000"/>
              </a:lnSpc>
              <a:buFont typeface="Wingdings" panose="05000000000000000000" pitchFamily="2" charset="2"/>
              <a:buChar char="§"/>
              <a:defRPr/>
            </a:lvl1pPr>
            <a:lvl2pPr marL="685800" indent="-228600">
              <a:spcBef>
                <a:spcPts val="1200"/>
              </a:spcBef>
              <a:buFont typeface="Courier New" panose="02070309020205020404" pitchFamily="49" charset="0"/>
              <a:buChar char="o"/>
              <a:defRPr/>
            </a:lvl2pPr>
            <a:lvl3pPr>
              <a:spcBef>
                <a:spcPts val="1200"/>
              </a:spcBef>
              <a:defRPr/>
            </a:lvl3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4" name="Marcador de fecha 3"/>
          <p:cNvSpPr>
            <a:spLocks noGrp="1"/>
          </p:cNvSpPr>
          <p:nvPr>
            <p:ph type="dt" sz="half" idx="10"/>
          </p:nvPr>
        </p:nvSpPr>
        <p:spPr/>
        <p:txBody>
          <a:bodyPr/>
          <a:lstStyle/>
          <a:p>
            <a:fld id="{29A70EA5-8E19-4BC4-934C-2C82A50D6490}"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a:xfrm>
            <a:off x="9226061" y="6356350"/>
            <a:ext cx="2743200" cy="365125"/>
          </a:xfrm>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17151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A36C9D08-3C16-416B-B8F9-4D4A629F38C9}"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021949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69E1E605-5CBB-40FE-87B4-05B62A5CAB7C}" type="datetime1">
              <a:rPr lang="es-ES" smtClean="0"/>
              <a:t>04/12/2025</a:t>
            </a:fld>
            <a:endParaRPr lang="es-ES" dirty="0"/>
          </a:p>
        </p:txBody>
      </p:sp>
      <p:sp>
        <p:nvSpPr>
          <p:cNvPr id="8" name="Marcador de pie de página 7"/>
          <p:cNvSpPr>
            <a:spLocks noGrp="1"/>
          </p:cNvSpPr>
          <p:nvPr>
            <p:ph type="ftr" sz="quarter" idx="11"/>
          </p:nvPr>
        </p:nvSpPr>
        <p:spPr/>
        <p:txBody>
          <a:bodyPr/>
          <a:lstStyle/>
          <a:p>
            <a:endParaRPr lang="es-ES" dirty="0"/>
          </a:p>
        </p:txBody>
      </p:sp>
      <p:sp>
        <p:nvSpPr>
          <p:cNvPr id="9" name="Marcador de número de diapositiva 8"/>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488140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5EC06281-1CDF-413F-B502-D8EF9109D251}" type="datetime1">
              <a:rPr lang="es-ES" smtClean="0"/>
              <a:t>04/12/2025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1665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82C46C39-2265-4ECA-84D0-AFE501AC4C1C}" type="datetime1">
              <a:rPr lang="es-ES" smtClean="0"/>
              <a:t>04/12/2025</a:t>
            </a:fld>
            <a:endParaRPr lang="es-ES" dirty="0"/>
          </a:p>
        </p:txBody>
      </p:sp>
      <p:sp>
        <p:nvSpPr>
          <p:cNvPr id="4" name="Marcador de pie de página 3"/>
          <p:cNvSpPr>
            <a:spLocks noGrp="1"/>
          </p:cNvSpPr>
          <p:nvPr>
            <p:ph type="ftr" sz="quarter" idx="11"/>
          </p:nvPr>
        </p:nvSpPr>
        <p:spPr/>
        <p:txBody>
          <a:bodyPr/>
          <a:lstStyle/>
          <a:p>
            <a:endParaRPr lang="es-ES" dirty="0"/>
          </a:p>
        </p:txBody>
      </p:sp>
      <p:sp>
        <p:nvSpPr>
          <p:cNvPr id="5" name="Marcador de número de diapositiva 4"/>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134035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350D3683-7933-4D92-B730-4B8490CCDF4B}" type="datetime1">
              <a:rPr lang="es-ES" smtClean="0"/>
              <a:t>04/12/2025</a:t>
            </a:fld>
            <a:endParaRPr lang="es-ES" dirty="0"/>
          </a:p>
        </p:txBody>
      </p:sp>
      <p:sp>
        <p:nvSpPr>
          <p:cNvPr id="3" name="Marcador de pie de página 2"/>
          <p:cNvSpPr>
            <a:spLocks noGrp="1"/>
          </p:cNvSpPr>
          <p:nvPr>
            <p:ph type="ftr" sz="quarter" idx="11"/>
          </p:nvPr>
        </p:nvSpPr>
        <p:spPr/>
        <p:txBody>
          <a:bodyPr/>
          <a:lstStyle/>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54513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5C35D45B-6432-4BD4-BB2B-6E8E1493A879}"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378924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290BFDE-1D6E-4E03-A53A-F1B29D2D0A86}" type="datetime1">
              <a:rPr lang="es-ES" smtClean="0"/>
              <a:t>04/12/2025</a:t>
            </a:fld>
            <a:endParaRPr lang="es-ES" dirty="0"/>
          </a:p>
        </p:txBody>
      </p:sp>
      <p:sp>
        <p:nvSpPr>
          <p:cNvPr id="6" name="Marcador de pie de página 5"/>
          <p:cNvSpPr>
            <a:spLocks noGrp="1"/>
          </p:cNvSpPr>
          <p:nvPr>
            <p:ph type="ftr" sz="quarter" idx="11"/>
          </p:nvPr>
        </p:nvSpPr>
        <p:spPr/>
        <p:txBody>
          <a:bodyPr/>
          <a:lstStyle/>
          <a:p>
            <a:endParaRPr lang="es-ES" dirty="0"/>
          </a:p>
        </p:txBody>
      </p:sp>
      <p:sp>
        <p:nvSpPr>
          <p:cNvPr id="7" name="Marcador de número de diapositiva 6"/>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28734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A02143F0-BAC6-4443-92A3-9EA2CC19B9B7}"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3593880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A67633C-AB28-4AC7-B7B0-41DFBCF1B247}" type="datetime1">
              <a:rPr lang="es-ES" smtClean="0"/>
              <a:t>04/12/2025</a:t>
            </a:fld>
            <a:endParaRPr lang="es-ES" dirty="0"/>
          </a:p>
        </p:txBody>
      </p:sp>
      <p:sp>
        <p:nvSpPr>
          <p:cNvPr id="5" name="Marcador de pie de página 4"/>
          <p:cNvSpPr>
            <a:spLocks noGrp="1"/>
          </p:cNvSpPr>
          <p:nvPr>
            <p:ph type="ftr" sz="quarter" idx="11"/>
          </p:nvPr>
        </p:nvSpPr>
        <p:spPr/>
        <p:txBody>
          <a:bodyPr/>
          <a:lstStyle/>
          <a:p>
            <a:endParaRPr lang="es-ES" dirty="0"/>
          </a:p>
        </p:txBody>
      </p:sp>
      <p:sp>
        <p:nvSpPr>
          <p:cNvPr id="6" name="Marcador de número de diapositiva 5"/>
          <p:cNvSpPr>
            <a:spLocks noGrp="1"/>
          </p:cNvSpPr>
          <p:nvPr>
            <p:ph type="sldNum" sz="quarter" idx="12"/>
          </p:nvPr>
        </p:nvSpPr>
        <p:spPr/>
        <p:txBody>
          <a:bodyPr/>
          <a:lstStyle/>
          <a:p>
            <a:fld id="{C9400CC4-AA0F-4E2E-A7D9-25BF1D2A8A65}" type="slidenum">
              <a:rPr lang="es-ES" smtClean="0"/>
              <a:t>‹Nº›</a:t>
            </a:fld>
            <a:endParaRPr lang="es-ES" dirty="0"/>
          </a:p>
        </p:txBody>
      </p:sp>
    </p:spTree>
    <p:extLst>
      <p:ext uri="{BB962C8B-B14F-4D97-AF65-F5344CB8AC3E}">
        <p14:creationId xmlns:p14="http://schemas.microsoft.com/office/powerpoint/2010/main" val="24113803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2633489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0922953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9183556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2885864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960B338E-2CA8-4990-93F8-04B6F142715C}" type="datetimeFigureOut">
              <a:rPr lang="es-ES" smtClean="0"/>
              <a:t>04/12/2025</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229766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960B338E-2CA8-4990-93F8-04B6F142715C}" type="datetimeFigureOut">
              <a:rPr lang="es-ES" smtClean="0"/>
              <a:t>04/12/2025</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6989982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960B338E-2CA8-4990-93F8-04B6F142715C}" type="datetimeFigureOut">
              <a:rPr lang="es-ES" smtClean="0"/>
              <a:t>04/12/2025</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3297037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5398797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960B338E-2CA8-4990-93F8-04B6F142715C}" type="datetimeFigureOut">
              <a:rPr lang="es-ES" smtClean="0"/>
              <a:t>04/12/2025</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14308488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24384880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960B338E-2CA8-4990-93F8-04B6F142715C}" type="datetimeFigureOut">
              <a:rPr lang="es-ES" smtClean="0"/>
              <a:t>04/12/2025</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62C9350B-99D0-4E5C-997D-9130554D6298}" type="slidenum">
              <a:rPr lang="es-ES" smtClean="0"/>
              <a:t>‹Nº›</a:t>
            </a:fld>
            <a:endParaRPr lang="es-ES"/>
          </a:p>
        </p:txBody>
      </p:sp>
    </p:spTree>
    <p:extLst>
      <p:ext uri="{BB962C8B-B14F-4D97-AF65-F5344CB8AC3E}">
        <p14:creationId xmlns:p14="http://schemas.microsoft.com/office/powerpoint/2010/main" val="33513105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C46C39-2265-4ECA-84D0-AFE501AC4C1C}" type="datetime1">
              <a:rPr lang="es-ES" smtClean="0"/>
              <a:t>04/12/2025</a:t>
            </a:fld>
            <a:endParaRPr lang="es-ES" dirty="0"/>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00CC4-AA0F-4E2E-A7D9-25BF1D2A8A65}" type="slidenum">
              <a:rPr lang="es-ES" smtClean="0"/>
              <a:t>‹Nº›</a:t>
            </a:fld>
            <a:endParaRPr lang="es-ES" dirty="0"/>
          </a:p>
        </p:txBody>
      </p:sp>
    </p:spTree>
    <p:extLst>
      <p:ext uri="{BB962C8B-B14F-4D97-AF65-F5344CB8AC3E}">
        <p14:creationId xmlns:p14="http://schemas.microsoft.com/office/powerpoint/2010/main" val="4075578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2" r:id="rId4"/>
    <p:sldLayoutId id="2147483653" r:id="rId5"/>
    <p:sldLayoutId id="2147483654" r:id="rId6"/>
    <p:sldLayoutId id="2147483661" r:id="rId7"/>
    <p:sldLayoutId id="2147483655" r:id="rId8"/>
    <p:sldLayoutId id="2147483656" r:id="rId9"/>
    <p:sldLayoutId id="2147483657" r:id="rId10"/>
    <p:sldLayoutId id="2147483658" r:id="rId11"/>
    <p:sldLayoutId id="2147483659"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0B338E-2CA8-4990-93F8-04B6F142715C}" type="datetimeFigureOut">
              <a:rPr lang="es-ES" smtClean="0"/>
              <a:t>04/12/2025</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9350B-99D0-4E5C-997D-9130554D6298}" type="slidenum">
              <a:rPr lang="es-ES" smtClean="0"/>
              <a:t>‹Nº›</a:t>
            </a:fld>
            <a:endParaRPr lang="es-ES"/>
          </a:p>
        </p:txBody>
      </p:sp>
    </p:spTree>
    <p:extLst>
      <p:ext uri="{BB962C8B-B14F-4D97-AF65-F5344CB8AC3E}">
        <p14:creationId xmlns:p14="http://schemas.microsoft.com/office/powerpoint/2010/main" val="9221119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exemplifi.io/insights/effective-devops-for-enterprise-websites/"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hyperlink" Target="https://dev.to/flippedcoding/difference-between-development-stage-and-production-d0p"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clouddefense.ai/how-to-implement-effective-ci-cd-pipeline/"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zone.com/articles/learn-how-to-setup-a-cicd-pipeline-from-scratch" TargetMode="Externa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ing.oreilly.com/library/view/learning-devops/9781838642730/"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medium.com/taptuit/the-eight-phases-of-a-devops-pipeline-fda53ec9bba"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8" Type="http://schemas.openxmlformats.org/officeDocument/2006/relationships/hyperlink" Target="https://www.quora.com/What-is-DevOps-lifecycle" TargetMode="External"/><Relationship Id="rId3" Type="http://schemas.openxmlformats.org/officeDocument/2006/relationships/image" Target="../media/image8.png"/><Relationship Id="rId7" Type="http://schemas.openxmlformats.org/officeDocument/2006/relationships/image" Target="../media/image10.png"/><Relationship Id="rId2" Type="http://schemas.openxmlformats.org/officeDocument/2006/relationships/hyperlink" Target="https://www.digitalbizmagazine.com/integrar-el-mainframe-en-devops/" TargetMode="External"/><Relationship Id="rId1" Type="http://schemas.openxmlformats.org/officeDocument/2006/relationships/slideLayout" Target="../slideLayouts/slideLayout3.xml"/><Relationship Id="rId6" Type="http://schemas.openxmlformats.org/officeDocument/2006/relationships/hyperlink" Target="https://www.atlassian.com/devops/what-is-devops" TargetMode="External"/><Relationship Id="rId5" Type="http://schemas.openxmlformats.org/officeDocument/2006/relationships/image" Target="../media/image9.png"/><Relationship Id="rId4" Type="http://schemas.openxmlformats.org/officeDocument/2006/relationships/hyperlink" Target="https://en.wikipedia.org/wiki/DevOps_toolchain" TargetMode="External"/><Relationship Id="rId9"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hyperlink" Target="https://www.osolabs.com/blog/post/devops-tools-of-the-trade" TargetMode="External"/><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hyperlink" Target="https://agilemanifesto.org/iso/es/principles.html" TargetMode="External"/><Relationship Id="rId1" Type="http://schemas.openxmlformats.org/officeDocument/2006/relationships/slideLayout" Target="../slideLayouts/slideLayout3.xml"/><Relationship Id="rId4" Type="http://schemas.openxmlformats.org/officeDocument/2006/relationships/hyperlink" Target="https://medium.com/@nanduribalajee/how-the-combination-of-agile-devops-will-benefit-21f6e9dbb17a" TargetMode="External"/></Relationships>
</file>

<file path=ppt/slides/_rels/slide15.xml.rels><?xml version="1.0" encoding="UTF-8" standalone="yes"?>
<Relationships xmlns="http://schemas.openxmlformats.org/package/2006/relationships"><Relationship Id="rId2" Type="http://schemas.openxmlformats.org/officeDocument/2006/relationships/hyperlink" Target="https://youtu.be/M_3VeKPFi5U" TargetMode="Externa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https://nvie.com/posts/a-successful-git-branching-model/" TargetMode="External"/><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www.nicoespeon.com/en/2013/08/which-git-workflow-for-my-project/" TargetMode="External"/><Relationship Id="rId2" Type="http://schemas.openxmlformats.org/officeDocument/2006/relationships/image" Target="../media/image16.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ctrTitle"/>
          </p:nvPr>
        </p:nvSpPr>
        <p:spPr/>
        <p:txBody>
          <a:bodyPr>
            <a:normAutofit/>
          </a:bodyPr>
          <a:lstStyle/>
          <a:p>
            <a:r>
              <a:rPr lang="es-ES" dirty="0"/>
              <a:t>Conceptos relacionados con la</a:t>
            </a:r>
            <a:br>
              <a:rPr lang="es-ES" dirty="0"/>
            </a:br>
            <a:r>
              <a:rPr lang="es-ES" dirty="0"/>
              <a:t>Integración Continua</a:t>
            </a:r>
          </a:p>
        </p:txBody>
      </p:sp>
      <p:sp>
        <p:nvSpPr>
          <p:cNvPr id="6" name="Subtítulo 5"/>
          <p:cNvSpPr>
            <a:spLocks noGrp="1"/>
          </p:cNvSpPr>
          <p:nvPr>
            <p:ph type="subTitle" idx="1"/>
          </p:nvPr>
        </p:nvSpPr>
        <p:spPr>
          <a:xfrm>
            <a:off x="703385" y="4210492"/>
            <a:ext cx="11087100" cy="1908953"/>
          </a:xfrm>
        </p:spPr>
        <p:txBody>
          <a:bodyPr>
            <a:normAutofit/>
          </a:bodyPr>
          <a:lstStyle/>
          <a:p>
            <a:pPr algn="r"/>
            <a:r>
              <a:rPr lang="en-US" b="1" dirty="0"/>
              <a:t>				</a:t>
            </a:r>
            <a:r>
              <a:rPr lang="en-US" b="1" dirty="0" err="1"/>
              <a:t>Asignatura</a:t>
            </a:r>
            <a:r>
              <a:rPr lang="en-US" b="1" dirty="0"/>
              <a:t>: Integración Continua </a:t>
            </a:r>
            <a:r>
              <a:rPr lang="en-US" b="1" dirty="0" err="1"/>
              <a:t>en</a:t>
            </a:r>
            <a:r>
              <a:rPr lang="en-US" b="1" dirty="0"/>
              <a:t> el Desarrollo </a:t>
            </a:r>
            <a:r>
              <a:rPr lang="en-US" b="1" dirty="0" err="1"/>
              <a:t>Ágil</a:t>
            </a:r>
            <a:endParaRPr lang="en-US" b="1" dirty="0"/>
          </a:p>
          <a:p>
            <a:pPr algn="r"/>
            <a:r>
              <a:rPr lang="en-US" b="1" dirty="0" err="1"/>
              <a:t>Máster</a:t>
            </a:r>
            <a:r>
              <a:rPr lang="en-US" b="1" dirty="0"/>
              <a:t> </a:t>
            </a:r>
            <a:r>
              <a:rPr lang="en-US" b="1" dirty="0" err="1"/>
              <a:t>Universitario</a:t>
            </a:r>
            <a:r>
              <a:rPr lang="en-US" b="1" dirty="0"/>
              <a:t> </a:t>
            </a:r>
            <a:r>
              <a:rPr lang="en-US" b="1" dirty="0" err="1"/>
              <a:t>en</a:t>
            </a:r>
            <a:r>
              <a:rPr lang="en-US" b="1" dirty="0"/>
              <a:t> Desarrollo </a:t>
            </a:r>
            <a:r>
              <a:rPr lang="en-US" b="1" dirty="0" err="1"/>
              <a:t>Ágil</a:t>
            </a:r>
            <a:r>
              <a:rPr lang="en-US" b="1" dirty="0"/>
              <a:t> de Software para la Web</a:t>
            </a:r>
          </a:p>
          <a:p>
            <a:pPr algn="r"/>
            <a:r>
              <a:rPr lang="en-US" b="1" dirty="0"/>
              <a:t>José Ramón </a:t>
            </a:r>
            <a:r>
              <a:rPr lang="en-US" b="1" dirty="0" err="1"/>
              <a:t>Hilera</a:t>
            </a:r>
            <a:r>
              <a:rPr lang="en-US" b="1" dirty="0"/>
              <a:t> González </a:t>
            </a:r>
            <a:endParaRPr lang="es-ES" dirty="0"/>
          </a:p>
        </p:txBody>
      </p:sp>
      <p:pic>
        <p:nvPicPr>
          <p:cNvPr id="7" name="Imagen 6" title="Licencia CC BY-SA">
            <a:hlinkClick r:id="rId3"/>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917" y="5972364"/>
            <a:ext cx="1658180" cy="584132"/>
          </a:xfrm>
          <a:prstGeom prst="rect">
            <a:avLst/>
          </a:prstGeom>
        </p:spPr>
      </p:pic>
      <p:sp>
        <p:nvSpPr>
          <p:cNvPr id="4" name="Marcador de número de diapositiva 3"/>
          <p:cNvSpPr>
            <a:spLocks noGrp="1"/>
          </p:cNvSpPr>
          <p:nvPr>
            <p:ph type="sldNum" sz="quarter" idx="4294967295"/>
          </p:nvPr>
        </p:nvSpPr>
        <p:spPr>
          <a:xfrm>
            <a:off x="9173309" y="6373934"/>
            <a:ext cx="2743200" cy="365125"/>
          </a:xfrm>
        </p:spPr>
        <p:txBody>
          <a:bodyPr/>
          <a:lstStyle/>
          <a:p>
            <a:fld id="{C9400CC4-AA0F-4E2E-A7D9-25BF1D2A8A65}" type="slidenum">
              <a:rPr lang="es-ES" smtClean="0"/>
              <a:t>1</a:t>
            </a:fld>
            <a:endParaRPr lang="es-ES"/>
          </a:p>
        </p:txBody>
      </p:sp>
    </p:spTree>
    <p:extLst>
      <p:ext uri="{BB962C8B-B14F-4D97-AF65-F5344CB8AC3E}">
        <p14:creationId xmlns:p14="http://schemas.microsoft.com/office/powerpoint/2010/main" val="3983213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Conceptos</a:t>
            </a:r>
          </a:p>
        </p:txBody>
      </p:sp>
      <p:sp>
        <p:nvSpPr>
          <p:cNvPr id="6" name="Marcador de contenido 5"/>
          <p:cNvSpPr>
            <a:spLocks noGrp="1"/>
          </p:cNvSpPr>
          <p:nvPr>
            <p:ph idx="1"/>
          </p:nvPr>
        </p:nvSpPr>
        <p:spPr/>
        <p:txBody>
          <a:bodyPr>
            <a:normAutofit/>
          </a:bodyPr>
          <a:lstStyle/>
          <a:p>
            <a:pPr marL="514350" indent="-514350">
              <a:buFont typeface="+mj-lt"/>
              <a:buAutoNum type="arabicPeriod"/>
            </a:pPr>
            <a:r>
              <a:rPr lang="es-ES" dirty="0"/>
              <a:t>CI/CD</a:t>
            </a:r>
          </a:p>
          <a:p>
            <a:pPr marL="514350" indent="-514350">
              <a:buFont typeface="+mj-lt"/>
              <a:buAutoNum type="arabicPeriod"/>
            </a:pPr>
            <a:r>
              <a:rPr lang="es-ES" dirty="0"/>
              <a:t>Entornos: desarrollo, pre-producción, producción</a:t>
            </a:r>
          </a:p>
          <a:p>
            <a:pPr marL="514350" indent="-514350">
              <a:buFont typeface="+mj-lt"/>
              <a:buAutoNum type="arabicPeriod"/>
            </a:pPr>
            <a:r>
              <a:rPr lang="es-ES" dirty="0"/>
              <a:t>CI/CD </a:t>
            </a:r>
            <a:r>
              <a:rPr lang="es-ES" dirty="0" err="1"/>
              <a:t>workflow</a:t>
            </a:r>
            <a:r>
              <a:rPr lang="es-ES" dirty="0"/>
              <a:t> (o pipeline)</a:t>
            </a:r>
          </a:p>
          <a:p>
            <a:pPr marL="514350" indent="-514350">
              <a:buFont typeface="+mj-lt"/>
              <a:buAutoNum type="arabicPeriod"/>
            </a:pPr>
            <a:r>
              <a:rPr lang="es-ES" dirty="0" err="1"/>
              <a:t>DevOps</a:t>
            </a:r>
            <a:endParaRPr lang="es-ES" dirty="0"/>
          </a:p>
          <a:p>
            <a:pPr marL="514350" indent="-514350">
              <a:buFont typeface="+mj-lt"/>
              <a:buAutoNum type="arabicPeriod"/>
            </a:pPr>
            <a:r>
              <a:rPr lang="es-ES" dirty="0"/>
              <a:t>Desarrollo ágil</a:t>
            </a:r>
          </a:p>
          <a:p>
            <a:pPr marL="514350" indent="-514350">
              <a:buFont typeface="+mj-lt"/>
              <a:buAutoNum type="arabicPeriod"/>
            </a:pPr>
            <a:r>
              <a:rPr lang="es-ES" dirty="0"/>
              <a:t>Flujos de trabajo en ramas</a:t>
            </a:r>
          </a:p>
          <a:p>
            <a:pPr marL="514350" indent="-514350">
              <a:buFont typeface="+mj-lt"/>
              <a:buAutoNum type="arabicPeriod"/>
            </a:pPr>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2</a:t>
            </a:fld>
            <a:endParaRPr lang="es-ES" dirty="0"/>
          </a:p>
        </p:txBody>
      </p:sp>
    </p:spTree>
    <p:extLst>
      <p:ext uri="{BB962C8B-B14F-4D97-AF65-F5344CB8AC3E}">
        <p14:creationId xmlns:p14="http://schemas.microsoft.com/office/powerpoint/2010/main" val="1508331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4"/>
          <p:cNvSpPr>
            <a:spLocks noGrp="1"/>
          </p:cNvSpPr>
          <p:nvPr>
            <p:ph type="title"/>
          </p:nvPr>
        </p:nvSpPr>
        <p:spPr/>
        <p:txBody>
          <a:bodyPr/>
          <a:lstStyle/>
          <a:p>
            <a:r>
              <a:rPr lang="es-ES" dirty="0"/>
              <a:t>1. CI/CD (1/3)</a:t>
            </a:r>
          </a:p>
        </p:txBody>
      </p:sp>
      <p:sp>
        <p:nvSpPr>
          <p:cNvPr id="6" name="Marcador de contenido 5"/>
          <p:cNvSpPr>
            <a:spLocks noGrp="1"/>
          </p:cNvSpPr>
          <p:nvPr>
            <p:ph idx="1"/>
          </p:nvPr>
        </p:nvSpPr>
        <p:spPr/>
        <p:txBody>
          <a:bodyPr/>
          <a:lstStyle/>
          <a:p>
            <a:r>
              <a:rPr lang="es-ES" dirty="0"/>
              <a:t>CI/CD hace referencia a la combinación de Integración Continua (CI) con:</a:t>
            </a:r>
          </a:p>
          <a:p>
            <a:pPr lvl="1"/>
            <a:r>
              <a:rPr lang="es-ES" dirty="0"/>
              <a:t>Entrega continua: </a:t>
            </a:r>
            <a:r>
              <a:rPr lang="es-ES" dirty="0" err="1"/>
              <a:t>Continous</a:t>
            </a:r>
            <a:r>
              <a:rPr lang="es-ES" dirty="0"/>
              <a:t> </a:t>
            </a:r>
            <a:r>
              <a:rPr lang="es-ES" dirty="0" err="1"/>
              <a:t>Delivery</a:t>
            </a:r>
            <a:r>
              <a:rPr lang="es-ES" dirty="0"/>
              <a:t> (CD)</a:t>
            </a:r>
          </a:p>
          <a:p>
            <a:pPr lvl="1"/>
            <a:r>
              <a:rPr lang="es-ES" dirty="0"/>
              <a:t>Despliegue Continuo: </a:t>
            </a:r>
            <a:r>
              <a:rPr lang="es-ES" dirty="0" err="1"/>
              <a:t>Continous</a:t>
            </a:r>
            <a:r>
              <a:rPr lang="es-ES" dirty="0"/>
              <a:t> </a:t>
            </a:r>
            <a:r>
              <a:rPr lang="es-ES" dirty="0" err="1"/>
              <a:t>Deployment</a:t>
            </a:r>
            <a:r>
              <a:rPr lang="es-ES" dirty="0"/>
              <a:t> (CD)</a:t>
            </a:r>
          </a:p>
          <a:p>
            <a:pPr lvl="1"/>
            <a:endParaRPr lang="es-ES" dirty="0"/>
          </a:p>
          <a:p>
            <a:pPr lvl="1"/>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3</a:t>
            </a:fld>
            <a:endParaRPr lang="es-ES" dirty="0"/>
          </a:p>
        </p:txBody>
      </p:sp>
    </p:spTree>
    <p:extLst>
      <p:ext uri="{BB962C8B-B14F-4D97-AF65-F5344CB8AC3E}">
        <p14:creationId xmlns:p14="http://schemas.microsoft.com/office/powerpoint/2010/main" val="1400660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1. CI/CD (2/3)</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4</a:t>
            </a:fld>
            <a:endParaRPr lang="es-ES" dirty="0"/>
          </a:p>
        </p:txBody>
      </p:sp>
      <p:pic>
        <p:nvPicPr>
          <p:cNvPr id="9" name="Imagen 8" title="&quot;&quot;">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7722" y="1406869"/>
            <a:ext cx="9536624" cy="5438856"/>
          </a:xfrm>
          <a:prstGeom prst="rect">
            <a:avLst/>
          </a:prstGeom>
        </p:spPr>
      </p:pic>
      <p:sp>
        <p:nvSpPr>
          <p:cNvPr id="12" name="CuadroTexto 11"/>
          <p:cNvSpPr txBox="1"/>
          <p:nvPr/>
        </p:nvSpPr>
        <p:spPr>
          <a:xfrm>
            <a:off x="10356625" y="5761591"/>
            <a:ext cx="1206099" cy="276999"/>
          </a:xfrm>
          <a:prstGeom prst="rect">
            <a:avLst/>
          </a:prstGeom>
          <a:noFill/>
        </p:spPr>
        <p:txBody>
          <a:bodyPr wrap="none" rtlCol="0">
            <a:spAutoFit/>
          </a:bodyPr>
          <a:lstStyle/>
          <a:p>
            <a:r>
              <a:rPr lang="es-ES" sz="1200" dirty="0"/>
              <a:t>Imagen: </a:t>
            </a:r>
            <a:r>
              <a:rPr lang="es-ES" sz="1200" dirty="0" err="1"/>
              <a:t>linuxnix</a:t>
            </a:r>
            <a:endParaRPr lang="es-ES" sz="1200" dirty="0"/>
          </a:p>
        </p:txBody>
      </p:sp>
    </p:spTree>
    <p:extLst>
      <p:ext uri="{BB962C8B-B14F-4D97-AF65-F5344CB8AC3E}">
        <p14:creationId xmlns:p14="http://schemas.microsoft.com/office/powerpoint/2010/main" val="313598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5686" y="0"/>
            <a:ext cx="12192000" cy="1325563"/>
          </a:xfrm>
        </p:spPr>
        <p:txBody>
          <a:bodyPr>
            <a:normAutofit/>
          </a:bodyPr>
          <a:lstStyle/>
          <a:p>
            <a:r>
              <a:rPr lang="es-ES" dirty="0"/>
              <a:t>1. CI/CD (3/3)</a:t>
            </a:r>
          </a:p>
        </p:txBody>
      </p:sp>
      <p:sp>
        <p:nvSpPr>
          <p:cNvPr id="3" name="Marcador de contenido 2"/>
          <p:cNvSpPr>
            <a:spLocks noGrp="1"/>
          </p:cNvSpPr>
          <p:nvPr>
            <p:ph idx="1"/>
          </p:nvPr>
        </p:nvSpPr>
        <p:spPr/>
        <p:txBody>
          <a:bodyPr>
            <a:normAutofit/>
          </a:bodyPr>
          <a:lstStyle/>
          <a:p>
            <a:r>
              <a:rPr lang="es-ES" b="1" dirty="0"/>
              <a:t>Entrega Continua (</a:t>
            </a:r>
            <a:r>
              <a:rPr lang="es-ES" b="1" dirty="0" err="1"/>
              <a:t>Continous</a:t>
            </a:r>
            <a:r>
              <a:rPr lang="es-ES" b="1" dirty="0"/>
              <a:t> </a:t>
            </a:r>
            <a:r>
              <a:rPr lang="es-ES" b="1" dirty="0" err="1"/>
              <a:t>Delivery</a:t>
            </a:r>
            <a:r>
              <a:rPr lang="es-ES" b="1" dirty="0"/>
              <a:t>-CD): </a:t>
            </a:r>
            <a:r>
              <a:rPr lang="es-ES" dirty="0"/>
              <a:t>En un proceso de desarrollo, en el que se aplica integración continua (CI), se realiza entrega continua si el despliegue del producto final a producción se realiza de forma </a:t>
            </a:r>
            <a:r>
              <a:rPr lang="es-ES" u="sng" dirty="0"/>
              <a:t>manual</a:t>
            </a:r>
            <a:r>
              <a:rPr lang="es-ES" dirty="0"/>
              <a:t>, </a:t>
            </a:r>
            <a:r>
              <a:rPr lang="es-ES" u="sng" dirty="0"/>
              <a:t>con</a:t>
            </a:r>
            <a:r>
              <a:rPr lang="es-ES" dirty="0"/>
              <a:t> la intervención de una persona.</a:t>
            </a:r>
          </a:p>
          <a:p>
            <a:r>
              <a:rPr lang="es-ES" b="1" dirty="0"/>
              <a:t>Despliegue Continuo (</a:t>
            </a:r>
            <a:r>
              <a:rPr lang="es-ES" b="1" dirty="0" err="1"/>
              <a:t>Continous</a:t>
            </a:r>
            <a:r>
              <a:rPr lang="es-ES" b="1" dirty="0"/>
              <a:t> </a:t>
            </a:r>
            <a:r>
              <a:rPr lang="es-ES" b="1" dirty="0" err="1"/>
              <a:t>Deployment</a:t>
            </a:r>
            <a:r>
              <a:rPr lang="es-ES" b="1" dirty="0"/>
              <a:t>-CD): </a:t>
            </a:r>
            <a:r>
              <a:rPr lang="es-ES" dirty="0"/>
              <a:t>En un proceso de desarrollo, en el que se aplica integración continua (CI), se realiza despliegue continuo si el despliegue del producto final a producción se realiza de forma </a:t>
            </a:r>
            <a:r>
              <a:rPr lang="es-ES" u="sng" dirty="0"/>
              <a:t>automática</a:t>
            </a:r>
            <a:r>
              <a:rPr lang="es-ES" dirty="0"/>
              <a:t>, </a:t>
            </a:r>
            <a:r>
              <a:rPr lang="es-ES" u="sng" dirty="0"/>
              <a:t>sin</a:t>
            </a:r>
            <a:r>
              <a:rPr lang="es-ES" dirty="0"/>
              <a:t> la intervención de una persona.</a:t>
            </a:r>
          </a:p>
          <a:p>
            <a:endParaRPr lang="es-ES" dirty="0"/>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5</a:t>
            </a:fld>
            <a:endParaRPr lang="es-ES" dirty="0"/>
          </a:p>
        </p:txBody>
      </p:sp>
    </p:spTree>
    <p:extLst>
      <p:ext uri="{BB962C8B-B14F-4D97-AF65-F5344CB8AC3E}">
        <p14:creationId xmlns:p14="http://schemas.microsoft.com/office/powerpoint/2010/main" val="4230587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Entornos: desarrollo, pre-producción, producción (1/2)</a:t>
            </a:r>
          </a:p>
        </p:txBody>
      </p:sp>
      <p:sp>
        <p:nvSpPr>
          <p:cNvPr id="3" name="Marcador de contenido 2"/>
          <p:cNvSpPr>
            <a:spLocks noGrp="1"/>
          </p:cNvSpPr>
          <p:nvPr>
            <p:ph idx="1"/>
          </p:nvPr>
        </p:nvSpPr>
        <p:spPr/>
        <p:txBody>
          <a:bodyPr>
            <a:normAutofit/>
          </a:bodyPr>
          <a:lstStyle/>
          <a:p>
            <a:r>
              <a:rPr lang="es-ES" dirty="0"/>
              <a:t>Habitualmente en un proyecto hay, al menos, tres entornos en los que se instala el producto software desarrollado</a:t>
            </a:r>
          </a:p>
          <a:p>
            <a:pPr lvl="1"/>
            <a:r>
              <a:rPr lang="es-ES" dirty="0"/>
              <a:t>Desarrollo (</a:t>
            </a:r>
            <a:r>
              <a:rPr lang="es-ES" dirty="0" err="1"/>
              <a:t>Development</a:t>
            </a:r>
            <a:r>
              <a:rPr lang="es-ES" dirty="0"/>
              <a:t>), Pre-producción (</a:t>
            </a:r>
            <a:r>
              <a:rPr lang="es-ES" dirty="0" err="1"/>
              <a:t>Stage</a:t>
            </a:r>
            <a:r>
              <a:rPr lang="es-ES" dirty="0"/>
              <a:t>), Producción (</a:t>
            </a:r>
            <a:r>
              <a:rPr lang="es-ES" dirty="0" err="1"/>
              <a:t>Production</a:t>
            </a:r>
            <a:r>
              <a:rPr lang="es-ES" dirty="0"/>
              <a:t>)</a:t>
            </a:r>
          </a:p>
        </p:txBody>
      </p:sp>
      <p:sp>
        <p:nvSpPr>
          <p:cNvPr id="5" name="CuadroTexto 4"/>
          <p:cNvSpPr txBox="1"/>
          <p:nvPr/>
        </p:nvSpPr>
        <p:spPr>
          <a:xfrm>
            <a:off x="9107909" y="5441339"/>
            <a:ext cx="1254702" cy="276999"/>
          </a:xfrm>
          <a:prstGeom prst="rect">
            <a:avLst/>
          </a:prstGeom>
          <a:noFill/>
        </p:spPr>
        <p:txBody>
          <a:bodyPr wrap="none" rtlCol="0">
            <a:spAutoFit/>
          </a:bodyPr>
          <a:lstStyle/>
          <a:p>
            <a:r>
              <a:rPr lang="es-ES" sz="1200" dirty="0"/>
              <a:t>Imagen: </a:t>
            </a:r>
            <a:r>
              <a:rPr lang="es-ES" sz="1200" dirty="0">
                <a:hlinkClick r:id="rId2"/>
              </a:rPr>
              <a:t>V. Pabba</a:t>
            </a:r>
            <a:endParaRPr lang="es-ES" sz="1200" dirty="0"/>
          </a:p>
        </p:txBody>
      </p:sp>
      <p:pic>
        <p:nvPicPr>
          <p:cNvPr id="7" name="Imagen 6" title="&quot;&quot;">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88404" y="3247028"/>
            <a:ext cx="6419505" cy="3610972"/>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6</a:t>
            </a:fld>
            <a:endParaRPr lang="es-ES" dirty="0"/>
          </a:p>
        </p:txBody>
      </p:sp>
    </p:spTree>
    <p:extLst>
      <p:ext uri="{BB962C8B-B14F-4D97-AF65-F5344CB8AC3E}">
        <p14:creationId xmlns:p14="http://schemas.microsoft.com/office/powerpoint/2010/main" val="1942455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2. Entornos: desarrollo, pre-producción, producción (2/2)</a:t>
            </a:r>
          </a:p>
        </p:txBody>
      </p:sp>
      <p:sp>
        <p:nvSpPr>
          <p:cNvPr id="3" name="Marcador de contenido 2"/>
          <p:cNvSpPr>
            <a:spLocks noGrp="1"/>
          </p:cNvSpPr>
          <p:nvPr>
            <p:ph idx="1"/>
          </p:nvPr>
        </p:nvSpPr>
        <p:spPr/>
        <p:txBody>
          <a:bodyPr>
            <a:normAutofit fontScale="70000" lnSpcReduction="20000"/>
          </a:bodyPr>
          <a:lstStyle/>
          <a:p>
            <a:r>
              <a:rPr lang="es-ES" u="sng" dirty="0"/>
              <a:t>Desarrollo</a:t>
            </a:r>
            <a:r>
              <a:rPr lang="es-ES" dirty="0"/>
              <a:t> (</a:t>
            </a:r>
            <a:r>
              <a:rPr lang="es-ES" dirty="0" err="1"/>
              <a:t>Development</a:t>
            </a:r>
            <a:r>
              <a:rPr lang="es-ES" dirty="0"/>
              <a:t>): Suele haber un entorno local en la máquina de cada desarrollador para sus pruebas particulares antes de subir cambios al repositorio, y un entorno compartido gestionado por el servidor de integración continua</a:t>
            </a:r>
          </a:p>
          <a:p>
            <a:pPr lvl="1"/>
            <a:r>
              <a:rPr lang="es-ES" dirty="0"/>
              <a:t>Ej. Aplicación web: Entorno basado en un contenedor compuesto por un servidor web en el que se instala la aplicación y un servidor base de datos en el que se instala una base de datos con datos de prueba </a:t>
            </a:r>
          </a:p>
          <a:p>
            <a:r>
              <a:rPr lang="es-ES" u="sng" dirty="0"/>
              <a:t>Pre-producción</a:t>
            </a:r>
            <a:r>
              <a:rPr lang="es-ES" dirty="0"/>
              <a:t> (</a:t>
            </a:r>
            <a:r>
              <a:rPr lang="es-ES" dirty="0" err="1"/>
              <a:t>Stage</a:t>
            </a:r>
            <a:r>
              <a:rPr lang="es-ES" dirty="0"/>
              <a:t>): Réplica privada del entorno de producción, que sólo utilizan los desarrolladores, personal de aseguramiento de la calidad (QA) y, en su caso, un pequeño grupo de usuarios, para poder probar y asegurarnos de que esté todo correcto y que cuando se exponga en producción no haya ningún fallo </a:t>
            </a:r>
          </a:p>
          <a:p>
            <a:pPr lvl="1"/>
            <a:r>
              <a:rPr lang="es-ES" dirty="0"/>
              <a:t>Ej. Aplicación web: Servidor web y servidor de base de datos con datos de prueba, en la nube.</a:t>
            </a:r>
          </a:p>
          <a:p>
            <a:r>
              <a:rPr lang="es-ES" u="sng" dirty="0"/>
              <a:t>Producción</a:t>
            </a:r>
            <a:r>
              <a:rPr lang="es-ES" dirty="0"/>
              <a:t> (</a:t>
            </a:r>
            <a:r>
              <a:rPr lang="es-ES" dirty="0" err="1"/>
              <a:t>Production</a:t>
            </a:r>
            <a:r>
              <a:rPr lang="es-ES" dirty="0"/>
              <a:t>): Entorno de acceso público en el que queda instalado el producto software para su utilización por cualquier usuario</a:t>
            </a:r>
          </a:p>
          <a:p>
            <a:pPr lvl="1"/>
            <a:r>
              <a:rPr lang="es-ES" dirty="0"/>
              <a:t>Ej. Aplicación web: Servidor web público y servidor de base de datos empresarial con datos reales, en la nube.</a:t>
            </a:r>
          </a:p>
        </p:txBody>
      </p:sp>
      <p:sp>
        <p:nvSpPr>
          <p:cNvPr id="5" name="CuadroTexto 4"/>
          <p:cNvSpPr txBox="1"/>
          <p:nvPr/>
        </p:nvSpPr>
        <p:spPr>
          <a:xfrm>
            <a:off x="4203839" y="6355739"/>
            <a:ext cx="2374176" cy="276999"/>
          </a:xfrm>
          <a:prstGeom prst="rect">
            <a:avLst/>
          </a:prstGeom>
          <a:noFill/>
        </p:spPr>
        <p:txBody>
          <a:bodyPr wrap="none" rtlCol="0">
            <a:spAutoFit/>
          </a:bodyPr>
          <a:lstStyle/>
          <a:p>
            <a:r>
              <a:rPr lang="es-ES" sz="1200" dirty="0"/>
              <a:t>Referencias: Autentia, </a:t>
            </a:r>
            <a:r>
              <a:rPr lang="es-ES" sz="1200" dirty="0">
                <a:hlinkClick r:id="rId2"/>
              </a:rPr>
              <a:t>Milecia McG</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7</a:t>
            </a:fld>
            <a:endParaRPr lang="es-ES" dirty="0"/>
          </a:p>
        </p:txBody>
      </p:sp>
    </p:spTree>
    <p:extLst>
      <p:ext uri="{BB962C8B-B14F-4D97-AF65-F5344CB8AC3E}">
        <p14:creationId xmlns:p14="http://schemas.microsoft.com/office/powerpoint/2010/main" val="3806871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CI/CD </a:t>
            </a:r>
            <a:r>
              <a:rPr lang="es-ES" dirty="0" err="1"/>
              <a:t>workflow</a:t>
            </a:r>
            <a:r>
              <a:rPr lang="es-ES" dirty="0"/>
              <a:t> (o pipeline)</a:t>
            </a:r>
          </a:p>
        </p:txBody>
      </p:sp>
      <p:sp>
        <p:nvSpPr>
          <p:cNvPr id="3" name="Marcador de contenido 2"/>
          <p:cNvSpPr>
            <a:spLocks noGrp="1"/>
          </p:cNvSpPr>
          <p:nvPr>
            <p:ph idx="1"/>
          </p:nvPr>
        </p:nvSpPr>
        <p:spPr>
          <a:xfrm>
            <a:off x="527538" y="1491517"/>
            <a:ext cx="11025553" cy="2525679"/>
          </a:xfrm>
        </p:spPr>
        <p:txBody>
          <a:bodyPr>
            <a:normAutofit fontScale="85000" lnSpcReduction="20000"/>
          </a:bodyPr>
          <a:lstStyle/>
          <a:p>
            <a:r>
              <a:rPr lang="en-US" dirty="0"/>
              <a:t>El workflow (o pipeline) de un </a:t>
            </a:r>
            <a:r>
              <a:rPr lang="en-US" dirty="0" err="1"/>
              <a:t>proyecto</a:t>
            </a:r>
            <a:r>
              <a:rPr lang="en-US" dirty="0"/>
              <a:t> de </a:t>
            </a:r>
            <a:r>
              <a:rPr lang="en-US" dirty="0" err="1"/>
              <a:t>desarrollo</a:t>
            </a:r>
            <a:r>
              <a:rPr lang="en-US" dirty="0"/>
              <a:t> es la </a:t>
            </a:r>
            <a:r>
              <a:rPr lang="en-US" dirty="0" err="1"/>
              <a:t>secuencia</a:t>
            </a:r>
            <a:r>
              <a:rPr lang="en-US" dirty="0"/>
              <a:t> de pasos o </a:t>
            </a:r>
            <a:r>
              <a:rPr lang="en-US" dirty="0" err="1"/>
              <a:t>trabajos</a:t>
            </a:r>
            <a:r>
              <a:rPr lang="en-US" dirty="0"/>
              <a:t> </a:t>
            </a:r>
            <a:r>
              <a:rPr lang="en-US" dirty="0" err="1"/>
              <a:t>automatizados</a:t>
            </a:r>
            <a:r>
              <a:rPr lang="en-US" dirty="0"/>
              <a:t> </a:t>
            </a:r>
            <a:r>
              <a:rPr lang="en-US" dirty="0" err="1"/>
              <a:t>establecidos</a:t>
            </a:r>
            <a:r>
              <a:rPr lang="en-US" dirty="0"/>
              <a:t> para </a:t>
            </a:r>
            <a:r>
              <a:rPr lang="en-US" dirty="0" err="1"/>
              <a:t>conseguir</a:t>
            </a:r>
            <a:r>
              <a:rPr lang="en-US" dirty="0"/>
              <a:t> </a:t>
            </a:r>
            <a:r>
              <a:rPr lang="en-US" dirty="0" err="1"/>
              <a:t>obtener</a:t>
            </a:r>
            <a:r>
              <a:rPr lang="en-US" dirty="0"/>
              <a:t> el </a:t>
            </a:r>
            <a:r>
              <a:rPr lang="en-US" dirty="0" err="1"/>
              <a:t>producto</a:t>
            </a:r>
            <a:r>
              <a:rPr lang="en-US" dirty="0"/>
              <a:t> software </a:t>
            </a:r>
            <a:r>
              <a:rPr lang="en-US" dirty="0" err="1"/>
              <a:t>aplicando</a:t>
            </a:r>
            <a:r>
              <a:rPr lang="en-US" dirty="0"/>
              <a:t> </a:t>
            </a:r>
            <a:r>
              <a:rPr lang="en-US" dirty="0" err="1"/>
              <a:t>integración</a:t>
            </a:r>
            <a:r>
              <a:rPr lang="en-US" dirty="0"/>
              <a:t>, </a:t>
            </a:r>
            <a:r>
              <a:rPr lang="en-US" dirty="0" err="1"/>
              <a:t>entrega</a:t>
            </a:r>
            <a:r>
              <a:rPr lang="en-US" dirty="0"/>
              <a:t> y/o </a:t>
            </a:r>
            <a:r>
              <a:rPr lang="en-US" dirty="0" err="1"/>
              <a:t>despliegue</a:t>
            </a:r>
            <a:r>
              <a:rPr lang="en-US" dirty="0"/>
              <a:t> continuo.</a:t>
            </a:r>
          </a:p>
          <a:p>
            <a:r>
              <a:rPr lang="en-US" dirty="0"/>
              <a:t>Un </a:t>
            </a:r>
            <a:r>
              <a:rPr lang="en-US" dirty="0" err="1"/>
              <a:t>servidor</a:t>
            </a:r>
            <a:r>
              <a:rPr lang="en-US" dirty="0"/>
              <a:t> de </a:t>
            </a:r>
            <a:r>
              <a:rPr lang="en-US" dirty="0" err="1"/>
              <a:t>integración</a:t>
            </a:r>
            <a:r>
              <a:rPr lang="en-US" dirty="0"/>
              <a:t> continua se </a:t>
            </a:r>
            <a:r>
              <a:rPr lang="en-US" dirty="0" err="1"/>
              <a:t>encarga</a:t>
            </a:r>
            <a:r>
              <a:rPr lang="en-US" dirty="0"/>
              <a:t> de </a:t>
            </a:r>
            <a:r>
              <a:rPr lang="en-US" dirty="0" err="1"/>
              <a:t>ordenar</a:t>
            </a:r>
            <a:r>
              <a:rPr lang="en-US" dirty="0"/>
              <a:t> la </a:t>
            </a:r>
            <a:r>
              <a:rPr lang="en-US" dirty="0" err="1"/>
              <a:t>ejecución</a:t>
            </a:r>
            <a:r>
              <a:rPr lang="en-US" dirty="0"/>
              <a:t> de los pasos del workflow (o pipeline) del </a:t>
            </a:r>
            <a:r>
              <a:rPr lang="en-US" dirty="0" err="1"/>
              <a:t>proyecto</a:t>
            </a:r>
            <a:r>
              <a:rPr lang="en-US" dirty="0"/>
              <a:t> </a:t>
            </a:r>
            <a:r>
              <a:rPr lang="en-US" dirty="0" err="1"/>
              <a:t>cada</a:t>
            </a:r>
            <a:r>
              <a:rPr lang="en-US" dirty="0"/>
              <a:t> </a:t>
            </a:r>
            <a:r>
              <a:rPr lang="en-US" dirty="0" err="1"/>
              <a:t>vez</a:t>
            </a:r>
            <a:r>
              <a:rPr lang="en-US" dirty="0"/>
              <a:t> que se </a:t>
            </a:r>
            <a:r>
              <a:rPr lang="en-US" dirty="0" err="1"/>
              <a:t>sube</a:t>
            </a:r>
            <a:r>
              <a:rPr lang="en-US" dirty="0"/>
              <a:t> un </a:t>
            </a:r>
            <a:r>
              <a:rPr lang="en-US" dirty="0" err="1"/>
              <a:t>cambio</a:t>
            </a:r>
            <a:r>
              <a:rPr lang="en-US" dirty="0"/>
              <a:t> (commit) al </a:t>
            </a:r>
            <a:r>
              <a:rPr lang="en-US" dirty="0" err="1"/>
              <a:t>repositorio</a:t>
            </a:r>
            <a:r>
              <a:rPr lang="en-US" dirty="0"/>
              <a:t> de código </a:t>
            </a:r>
            <a:r>
              <a:rPr lang="en-US" dirty="0" err="1"/>
              <a:t>compartido</a:t>
            </a:r>
            <a:r>
              <a:rPr lang="en-US" dirty="0"/>
              <a:t>.</a:t>
            </a:r>
            <a:endParaRPr lang="es-ES" dirty="0"/>
          </a:p>
        </p:txBody>
      </p:sp>
      <p:sp>
        <p:nvSpPr>
          <p:cNvPr id="6" name="CuadroTexto 5"/>
          <p:cNvSpPr txBox="1"/>
          <p:nvPr/>
        </p:nvSpPr>
        <p:spPr>
          <a:xfrm>
            <a:off x="8685933" y="6079351"/>
            <a:ext cx="1456104" cy="276999"/>
          </a:xfrm>
          <a:prstGeom prst="rect">
            <a:avLst/>
          </a:prstGeom>
          <a:noFill/>
        </p:spPr>
        <p:txBody>
          <a:bodyPr wrap="none" rtlCol="0">
            <a:spAutoFit/>
          </a:bodyPr>
          <a:lstStyle/>
          <a:p>
            <a:r>
              <a:rPr lang="es-ES" sz="1200" dirty="0"/>
              <a:t>Imagen: </a:t>
            </a:r>
            <a:r>
              <a:rPr lang="es-ES" sz="1200" dirty="0">
                <a:hlinkClick r:id="rId2"/>
              </a:rPr>
              <a:t>TJ Simmons</a:t>
            </a:r>
            <a:endParaRPr lang="es-ES" sz="1200" dirty="0"/>
          </a:p>
        </p:txBody>
      </p:sp>
      <p:pic>
        <p:nvPicPr>
          <p:cNvPr id="7" name="Imagen 6" title="&quot;&quot;">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2034" y="4202191"/>
            <a:ext cx="7615491" cy="2637151"/>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8</a:t>
            </a:fld>
            <a:endParaRPr lang="es-ES" dirty="0"/>
          </a:p>
        </p:txBody>
      </p:sp>
    </p:spTree>
    <p:extLst>
      <p:ext uri="{BB962C8B-B14F-4D97-AF65-F5344CB8AC3E}">
        <p14:creationId xmlns:p14="http://schemas.microsoft.com/office/powerpoint/2010/main" val="21596173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3. CI/CD </a:t>
            </a:r>
            <a:r>
              <a:rPr lang="es-ES" dirty="0" err="1"/>
              <a:t>workflow</a:t>
            </a:r>
            <a:r>
              <a:rPr lang="es-ES" dirty="0"/>
              <a:t> (o pipeline)</a:t>
            </a:r>
            <a:br>
              <a:rPr lang="es-ES" dirty="0"/>
            </a:br>
            <a:r>
              <a:rPr lang="es-ES" dirty="0"/>
              <a:t>Ejecución</a:t>
            </a:r>
          </a:p>
        </p:txBody>
      </p:sp>
      <p:sp>
        <p:nvSpPr>
          <p:cNvPr id="3" name="Marcador de contenido 2"/>
          <p:cNvSpPr>
            <a:spLocks noGrp="1"/>
          </p:cNvSpPr>
          <p:nvPr>
            <p:ph idx="1"/>
          </p:nvPr>
        </p:nvSpPr>
        <p:spPr>
          <a:xfrm>
            <a:off x="527538" y="1491517"/>
            <a:ext cx="11025553" cy="2916096"/>
          </a:xfrm>
        </p:spPr>
        <p:txBody>
          <a:bodyPr>
            <a:normAutofit fontScale="92500" lnSpcReduction="10000"/>
          </a:bodyPr>
          <a:lstStyle/>
          <a:p>
            <a:r>
              <a:rPr lang="en-US" dirty="0" err="1"/>
              <a:t>Cuando</a:t>
            </a:r>
            <a:r>
              <a:rPr lang="en-US" dirty="0"/>
              <a:t> se </a:t>
            </a:r>
            <a:r>
              <a:rPr lang="en-US" dirty="0" err="1"/>
              <a:t>ejecuta</a:t>
            </a:r>
            <a:r>
              <a:rPr lang="en-US" dirty="0"/>
              <a:t> un workflow (o pipeline), se van </a:t>
            </a:r>
            <a:r>
              <a:rPr lang="en-US" dirty="0" err="1"/>
              <a:t>ejecutando</a:t>
            </a:r>
            <a:r>
              <a:rPr lang="en-US" dirty="0"/>
              <a:t> en </a:t>
            </a:r>
            <a:r>
              <a:rPr lang="en-US" dirty="0" err="1"/>
              <a:t>secuencia</a:t>
            </a:r>
            <a:r>
              <a:rPr lang="en-US" dirty="0"/>
              <a:t> los pasos o </a:t>
            </a:r>
            <a:r>
              <a:rPr lang="en-US" dirty="0" err="1"/>
              <a:t>trabajos</a:t>
            </a:r>
            <a:r>
              <a:rPr lang="en-US" dirty="0"/>
              <a:t> que lo </a:t>
            </a:r>
            <a:r>
              <a:rPr lang="en-US" dirty="0" err="1"/>
              <a:t>componen</a:t>
            </a:r>
            <a:r>
              <a:rPr lang="en-US" dirty="0"/>
              <a:t>.</a:t>
            </a:r>
          </a:p>
          <a:p>
            <a:pPr lvl="1"/>
            <a:r>
              <a:rPr lang="en-US" dirty="0"/>
              <a:t>Por </a:t>
            </a:r>
            <a:r>
              <a:rPr lang="en-US" dirty="0" err="1"/>
              <a:t>ejemplo</a:t>
            </a:r>
            <a:r>
              <a:rPr lang="en-US" dirty="0"/>
              <a:t>, la </a:t>
            </a:r>
            <a:r>
              <a:rPr lang="en-US" dirty="0" err="1"/>
              <a:t>construcción</a:t>
            </a:r>
            <a:r>
              <a:rPr lang="en-US" dirty="0"/>
              <a:t> o </a:t>
            </a:r>
            <a:r>
              <a:rPr lang="en-US" dirty="0" err="1"/>
              <a:t>compilación</a:t>
            </a:r>
            <a:r>
              <a:rPr lang="en-US" dirty="0"/>
              <a:t> (build)</a:t>
            </a:r>
          </a:p>
          <a:p>
            <a:r>
              <a:rPr lang="en-US" dirty="0"/>
              <a:t>Si </a:t>
            </a:r>
            <a:r>
              <a:rPr lang="en-US" dirty="0" err="1"/>
              <a:t>alguno</a:t>
            </a:r>
            <a:r>
              <a:rPr lang="en-US" dirty="0"/>
              <a:t> de los pasos </a:t>
            </a:r>
            <a:r>
              <a:rPr lang="en-US" dirty="0" err="1"/>
              <a:t>falla</a:t>
            </a:r>
            <a:r>
              <a:rPr lang="en-US" dirty="0"/>
              <a:t>, se </a:t>
            </a:r>
            <a:r>
              <a:rPr lang="en-US" dirty="0" err="1"/>
              <a:t>aborta</a:t>
            </a:r>
            <a:r>
              <a:rPr lang="en-US" dirty="0"/>
              <a:t> la </a:t>
            </a:r>
            <a:r>
              <a:rPr lang="en-US" dirty="0" err="1"/>
              <a:t>ejecución</a:t>
            </a:r>
            <a:r>
              <a:rPr lang="en-US" dirty="0"/>
              <a:t> del workflow y se </a:t>
            </a:r>
            <a:r>
              <a:rPr lang="en-US" dirty="0" err="1"/>
              <a:t>avisa</a:t>
            </a:r>
            <a:r>
              <a:rPr lang="en-US" dirty="0"/>
              <a:t> a los </a:t>
            </a:r>
            <a:r>
              <a:rPr lang="en-US" dirty="0" err="1"/>
              <a:t>miembros</a:t>
            </a:r>
            <a:r>
              <a:rPr lang="en-US" dirty="0"/>
              <a:t> del </a:t>
            </a:r>
            <a:r>
              <a:rPr lang="en-US" dirty="0" err="1"/>
              <a:t>proyecto</a:t>
            </a:r>
            <a:endParaRPr lang="en-US" dirty="0"/>
          </a:p>
          <a:p>
            <a:pPr lvl="1"/>
            <a:r>
              <a:rPr lang="en-US" dirty="0"/>
              <a:t>Por </a:t>
            </a:r>
            <a:r>
              <a:rPr lang="en-US" dirty="0" err="1"/>
              <a:t>ejemplo</a:t>
            </a:r>
            <a:r>
              <a:rPr lang="en-US" dirty="0"/>
              <a:t>, </a:t>
            </a:r>
            <a:r>
              <a:rPr lang="en-US" dirty="0" err="1"/>
              <a:t>por</a:t>
            </a:r>
            <a:r>
              <a:rPr lang="en-US" dirty="0"/>
              <a:t> email.</a:t>
            </a:r>
          </a:p>
        </p:txBody>
      </p:sp>
      <p:sp>
        <p:nvSpPr>
          <p:cNvPr id="6" name="CuadroTexto 5"/>
          <p:cNvSpPr txBox="1"/>
          <p:nvPr/>
        </p:nvSpPr>
        <p:spPr>
          <a:xfrm>
            <a:off x="9703075" y="6079351"/>
            <a:ext cx="1573251" cy="276999"/>
          </a:xfrm>
          <a:prstGeom prst="rect">
            <a:avLst/>
          </a:prstGeom>
          <a:noFill/>
        </p:spPr>
        <p:txBody>
          <a:bodyPr wrap="none" rtlCol="0">
            <a:spAutoFit/>
          </a:bodyPr>
          <a:lstStyle/>
          <a:p>
            <a:r>
              <a:rPr lang="es-ES" sz="1200" dirty="0"/>
              <a:t>Imagen: </a:t>
            </a:r>
            <a:r>
              <a:rPr lang="es-ES" sz="1200" dirty="0">
                <a:hlinkClick r:id="rId2"/>
              </a:rPr>
              <a:t> Samarpit Tuli</a:t>
            </a:r>
            <a:endParaRPr lang="es-ES" sz="1200" dirty="0"/>
          </a:p>
        </p:txBody>
      </p:sp>
      <p:pic>
        <p:nvPicPr>
          <p:cNvPr id="7" name="Imagen 6" title="&quot;&quot;">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779" y="4523148"/>
            <a:ext cx="9263734" cy="2198327"/>
          </a:xfrm>
          <a:prstGeom prst="rect">
            <a:avLst/>
          </a:prstGeom>
        </p:spPr>
      </p:pic>
      <p:sp>
        <p:nvSpPr>
          <p:cNvPr id="4" name="Marcador de número de diapositiva 3"/>
          <p:cNvSpPr>
            <a:spLocks noGrp="1"/>
          </p:cNvSpPr>
          <p:nvPr>
            <p:ph type="sldNum" sz="quarter" idx="12"/>
          </p:nvPr>
        </p:nvSpPr>
        <p:spPr/>
        <p:txBody>
          <a:bodyPr/>
          <a:lstStyle/>
          <a:p>
            <a:fld id="{C9400CC4-AA0F-4E2E-A7D9-25BF1D2A8A65}" type="slidenum">
              <a:rPr lang="es-ES" smtClean="0"/>
              <a:t>9</a:t>
            </a:fld>
            <a:endParaRPr lang="es-ES" dirty="0"/>
          </a:p>
        </p:txBody>
      </p:sp>
    </p:spTree>
    <p:extLst>
      <p:ext uri="{BB962C8B-B14F-4D97-AF65-F5344CB8AC3E}">
        <p14:creationId xmlns:p14="http://schemas.microsoft.com/office/powerpoint/2010/main" val="1456618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 </a:t>
            </a:r>
            <a:r>
              <a:rPr lang="es-ES" dirty="0" err="1"/>
              <a:t>DevOps</a:t>
            </a:r>
            <a:endParaRPr lang="es-ES" dirty="0"/>
          </a:p>
        </p:txBody>
      </p:sp>
      <p:sp>
        <p:nvSpPr>
          <p:cNvPr id="3" name="Marcador de contenido 2"/>
          <p:cNvSpPr>
            <a:spLocks noGrp="1"/>
          </p:cNvSpPr>
          <p:nvPr>
            <p:ph idx="1"/>
          </p:nvPr>
        </p:nvSpPr>
        <p:spPr>
          <a:xfrm>
            <a:off x="527538" y="1491516"/>
            <a:ext cx="7517036" cy="5536008"/>
          </a:xfrm>
        </p:spPr>
        <p:txBody>
          <a:bodyPr>
            <a:normAutofit fontScale="77500" lnSpcReduction="20000"/>
          </a:bodyPr>
          <a:lstStyle/>
          <a:p>
            <a:r>
              <a:rPr lang="es-ES" dirty="0" err="1"/>
              <a:t>DevOps</a:t>
            </a:r>
            <a:r>
              <a:rPr lang="es-ES" dirty="0"/>
              <a:t> = </a:t>
            </a:r>
            <a:r>
              <a:rPr lang="es-ES" dirty="0" err="1"/>
              <a:t>Dev</a:t>
            </a:r>
            <a:r>
              <a:rPr lang="es-ES" dirty="0"/>
              <a:t> (Desarrollo) + </a:t>
            </a:r>
            <a:r>
              <a:rPr lang="es-ES" dirty="0" err="1"/>
              <a:t>Ops</a:t>
            </a:r>
            <a:r>
              <a:rPr lang="es-ES" dirty="0"/>
              <a:t> (Operaciones).</a:t>
            </a:r>
          </a:p>
          <a:p>
            <a:r>
              <a:rPr lang="es-ES" dirty="0"/>
              <a:t>Marco de trabajo en el que tanto el departamento de desarrollo como el de operaciones (IT) colaboran estrechamente para producir y mantener software de calidad que cambia con frecuencia, automatizando al máximo las tareas relacionadas con la planificación, codificación, construcción, prueba, liberación, despliegue, operación y monitorización.</a:t>
            </a:r>
          </a:p>
          <a:p>
            <a:r>
              <a:rPr lang="es-ES" dirty="0"/>
              <a:t>No se trata de que los desarrolladores asuman las funciones de los administradores de sistemas ni viceversa, se trata de colaborar estrechamente entre ellos para acortar el tiempo de puesta en producción de nuevas funcionalidades del software.</a:t>
            </a:r>
          </a:p>
          <a:p>
            <a:r>
              <a:rPr lang="es-ES" dirty="0" err="1"/>
              <a:t>DevOps</a:t>
            </a:r>
            <a:r>
              <a:rPr lang="es-ES" dirty="0"/>
              <a:t> se basa en la aplicación de prácticas de CI/CD y en el uso de herramientas que automaticen los procesos.</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10</a:t>
            </a:fld>
            <a:endParaRPr lang="es-ES" dirty="0"/>
          </a:p>
        </p:txBody>
      </p:sp>
      <p:pic>
        <p:nvPicPr>
          <p:cNvPr id="5" name="Imagen 4" title="&quot;&quot;">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44574" y="1654138"/>
            <a:ext cx="4058249" cy="4061551"/>
          </a:xfrm>
          <a:prstGeom prst="rect">
            <a:avLst/>
          </a:prstGeom>
        </p:spPr>
      </p:pic>
      <p:sp>
        <p:nvSpPr>
          <p:cNvPr id="6" name="CuadroTexto 5"/>
          <p:cNvSpPr txBox="1"/>
          <p:nvPr/>
        </p:nvSpPr>
        <p:spPr>
          <a:xfrm>
            <a:off x="9226061" y="5767265"/>
            <a:ext cx="1468992" cy="276999"/>
          </a:xfrm>
          <a:prstGeom prst="rect">
            <a:avLst/>
          </a:prstGeom>
          <a:noFill/>
        </p:spPr>
        <p:txBody>
          <a:bodyPr wrap="none" rtlCol="0">
            <a:spAutoFit/>
          </a:bodyPr>
          <a:lstStyle/>
          <a:p>
            <a:r>
              <a:rPr lang="es-ES" sz="1200" dirty="0"/>
              <a:t>Imagen: </a:t>
            </a:r>
            <a:r>
              <a:rPr lang="es-ES" sz="1200" dirty="0" err="1">
                <a:hlinkClick r:id="rId3"/>
              </a:rPr>
              <a:t>Mikael</a:t>
            </a:r>
            <a:r>
              <a:rPr lang="es-ES" sz="1200" dirty="0">
                <a:hlinkClick r:id="rId3"/>
              </a:rPr>
              <a:t> </a:t>
            </a:r>
            <a:r>
              <a:rPr lang="es-ES" sz="1200" dirty="0" err="1">
                <a:hlinkClick r:id="rId3"/>
              </a:rPr>
              <a:t>Krief</a:t>
            </a:r>
            <a:endParaRPr lang="es-ES" sz="1200" dirty="0"/>
          </a:p>
        </p:txBody>
      </p:sp>
    </p:spTree>
    <p:extLst>
      <p:ext uri="{BB962C8B-B14F-4D97-AF65-F5344CB8AC3E}">
        <p14:creationId xmlns:p14="http://schemas.microsoft.com/office/powerpoint/2010/main" val="1611832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 </a:t>
            </a:r>
            <a:r>
              <a:rPr lang="es-ES" dirty="0" err="1"/>
              <a:t>DevOps</a:t>
            </a:r>
            <a:br>
              <a:rPr lang="es-ES" dirty="0"/>
            </a:br>
            <a:r>
              <a:rPr lang="es-ES" dirty="0"/>
              <a:t>Ciclo de vida, ejemplo con 8 fases</a:t>
            </a:r>
          </a:p>
        </p:txBody>
      </p:sp>
      <p:sp>
        <p:nvSpPr>
          <p:cNvPr id="3" name="Marcador de contenido 2"/>
          <p:cNvSpPr>
            <a:spLocks noGrp="1"/>
          </p:cNvSpPr>
          <p:nvPr>
            <p:ph idx="1"/>
          </p:nvPr>
        </p:nvSpPr>
        <p:spPr>
          <a:xfrm>
            <a:off x="527538" y="1491516"/>
            <a:ext cx="8010287" cy="5546282"/>
          </a:xfrm>
        </p:spPr>
        <p:txBody>
          <a:bodyPr>
            <a:normAutofit fontScale="55000" lnSpcReduction="20000"/>
          </a:bodyPr>
          <a:lstStyle/>
          <a:p>
            <a:r>
              <a:rPr lang="es-ES" b="1" dirty="0"/>
              <a:t>Plan (</a:t>
            </a:r>
            <a:r>
              <a:rPr lang="es-ES" b="1" dirty="0" err="1"/>
              <a:t>Planficación</a:t>
            </a:r>
            <a:r>
              <a:rPr lang="es-ES" b="1" dirty="0"/>
              <a:t>):  </a:t>
            </a:r>
            <a:r>
              <a:rPr lang="es-ES" dirty="0"/>
              <a:t>Esta fase incluye todo lo que sucede antes de que los desarrolladores empiecen a escribir código</a:t>
            </a:r>
            <a:r>
              <a:rPr lang="en-US" dirty="0"/>
              <a:t>: </a:t>
            </a:r>
            <a:r>
              <a:rPr lang="en-US" dirty="0" err="1"/>
              <a:t>requisitos</a:t>
            </a:r>
            <a:r>
              <a:rPr lang="en-US" dirty="0"/>
              <a:t>, </a:t>
            </a:r>
            <a:r>
              <a:rPr lang="en-US" dirty="0" err="1"/>
              <a:t>historias</a:t>
            </a:r>
            <a:r>
              <a:rPr lang="en-US" dirty="0"/>
              <a:t> de </a:t>
            </a:r>
            <a:r>
              <a:rPr lang="en-US" dirty="0" err="1"/>
              <a:t>usuario</a:t>
            </a:r>
            <a:r>
              <a:rPr lang="en-US" dirty="0"/>
              <a:t>, etc.</a:t>
            </a:r>
            <a:endParaRPr lang="es-ES" dirty="0"/>
          </a:p>
          <a:p>
            <a:r>
              <a:rPr lang="es-ES" b="1" dirty="0" err="1"/>
              <a:t>Code</a:t>
            </a:r>
            <a:r>
              <a:rPr lang="es-ES" b="1" dirty="0"/>
              <a:t> (Codificación): </a:t>
            </a:r>
            <a:r>
              <a:rPr lang="es-ES" dirty="0"/>
              <a:t>Cada desarrollador trabaja en su entorno personal elaborando una parte del código fuente que le corresponde.</a:t>
            </a:r>
          </a:p>
          <a:p>
            <a:r>
              <a:rPr lang="es-ES" b="1" dirty="0" err="1"/>
              <a:t>Build</a:t>
            </a:r>
            <a:r>
              <a:rPr lang="es-ES" b="1" dirty="0"/>
              <a:t> (Construcción): </a:t>
            </a:r>
            <a:r>
              <a:rPr lang="es-ES" dirty="0"/>
              <a:t>Cuando un desarrollador ha terminado su parte, la envía al repositorio compartido y el servidor de CI/CD ordena la compilación de todo el proyecto, y la ejecución de las correspondientes pruebas (unitarias, integración).</a:t>
            </a:r>
          </a:p>
          <a:p>
            <a:r>
              <a:rPr lang="es-ES" b="1" dirty="0"/>
              <a:t>Test (Prueba): </a:t>
            </a:r>
            <a:r>
              <a:rPr lang="es-ES" dirty="0"/>
              <a:t>Se completan las pruebas que no hayan hecho en la fase anterior, normalmente son pruebas funcionales (</a:t>
            </a:r>
            <a:r>
              <a:rPr lang="es-ES" dirty="0" err="1"/>
              <a:t>end</a:t>
            </a:r>
            <a:r>
              <a:rPr lang="es-ES" dirty="0"/>
              <a:t>-to-</a:t>
            </a:r>
            <a:r>
              <a:rPr lang="es-ES" dirty="0" err="1"/>
              <a:t>end</a:t>
            </a:r>
            <a:r>
              <a:rPr lang="es-ES" dirty="0"/>
              <a:t>) que requieren una instalación de la aplicación en un entorno para pruebas. </a:t>
            </a:r>
          </a:p>
          <a:p>
            <a:r>
              <a:rPr lang="es-ES" b="1" dirty="0" err="1"/>
              <a:t>Release</a:t>
            </a:r>
            <a:r>
              <a:rPr lang="es-ES" b="1" dirty="0"/>
              <a:t> (Liberación): </a:t>
            </a:r>
            <a:r>
              <a:rPr lang="es-ES" dirty="0"/>
              <a:t>Esta fase puede no ser necesaria si se despliega directamente a producción. Si existe se despliega la aplicación en un entorno de pre-producción para seguir haciendo pruebas.</a:t>
            </a:r>
          </a:p>
          <a:p>
            <a:r>
              <a:rPr lang="es-ES" b="1" dirty="0" err="1"/>
              <a:t>Deploy</a:t>
            </a:r>
            <a:r>
              <a:rPr lang="es-ES" b="1" dirty="0"/>
              <a:t> (Despliegue): </a:t>
            </a:r>
            <a:r>
              <a:rPr lang="es-ES" dirty="0"/>
              <a:t>Se despliega la aplicación en el entorno de producción.</a:t>
            </a:r>
          </a:p>
          <a:p>
            <a:r>
              <a:rPr lang="es-ES" b="1" dirty="0" err="1"/>
              <a:t>Operate</a:t>
            </a:r>
            <a:r>
              <a:rPr lang="es-ES" b="1" dirty="0"/>
              <a:t> (Operación): </a:t>
            </a:r>
            <a:r>
              <a:rPr lang="es-ES" dirty="0"/>
              <a:t>La aplicación queda operativa para que los usuarios la utilicen.</a:t>
            </a:r>
          </a:p>
          <a:p>
            <a:r>
              <a:rPr lang="es-ES" b="1" dirty="0"/>
              <a:t>Monitor (Monitorización):</a:t>
            </a:r>
            <a:r>
              <a:rPr lang="es-ES" dirty="0"/>
              <a:t> Se recogen datos sobre el funcionamiento de la aplicación y las opiniones de los usuarios, que se tendrán en cuenta en siguientes iteraciones </a:t>
            </a:r>
          </a:p>
          <a:p>
            <a:endParaRPr lang="es-ES"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11</a:t>
            </a:fld>
            <a:endParaRPr lang="es-ES" dirty="0"/>
          </a:p>
        </p:txBody>
      </p:sp>
      <p:sp>
        <p:nvSpPr>
          <p:cNvPr id="5" name="CuadroTexto 4"/>
          <p:cNvSpPr txBox="1"/>
          <p:nvPr/>
        </p:nvSpPr>
        <p:spPr>
          <a:xfrm>
            <a:off x="9560861" y="5060425"/>
            <a:ext cx="1517338" cy="276999"/>
          </a:xfrm>
          <a:prstGeom prst="rect">
            <a:avLst/>
          </a:prstGeom>
          <a:noFill/>
        </p:spPr>
        <p:txBody>
          <a:bodyPr wrap="none" rtlCol="0">
            <a:spAutoFit/>
          </a:bodyPr>
          <a:lstStyle/>
          <a:p>
            <a:r>
              <a:rPr lang="es-ES" sz="1200" dirty="0"/>
              <a:t>Fuente: </a:t>
            </a:r>
            <a:r>
              <a:rPr lang="es-ES" sz="1200" dirty="0">
                <a:hlinkClick r:id="rId2"/>
              </a:rPr>
              <a:t>JakobTheDev</a:t>
            </a:r>
            <a:endParaRPr lang="es-ES" sz="1200" dirty="0"/>
          </a:p>
        </p:txBody>
      </p:sp>
      <p:pic>
        <p:nvPicPr>
          <p:cNvPr id="7" name="Marcador de contenido 4" title="&quot;&quot;">
            <a:extLs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84413" y="3263554"/>
            <a:ext cx="3618545" cy="1678315"/>
          </a:xfrm>
          <a:prstGeom prst="rect">
            <a:avLst/>
          </a:prstGeom>
        </p:spPr>
      </p:pic>
    </p:spTree>
    <p:extLst>
      <p:ext uri="{BB962C8B-B14F-4D97-AF65-F5344CB8AC3E}">
        <p14:creationId xmlns:p14="http://schemas.microsoft.com/office/powerpoint/2010/main" val="454220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a:t>4. </a:t>
            </a:r>
            <a:r>
              <a:rPr lang="es-ES" dirty="0" err="1"/>
              <a:t>DevOps</a:t>
            </a:r>
            <a:br>
              <a:rPr lang="es-ES" dirty="0"/>
            </a:br>
            <a:r>
              <a:rPr lang="es-ES" dirty="0"/>
              <a:t>Ciclo de vida, otros ejemplos</a:t>
            </a:r>
          </a:p>
        </p:txBody>
      </p:sp>
      <p:sp>
        <p:nvSpPr>
          <p:cNvPr id="5" name="CuadroTexto 4"/>
          <p:cNvSpPr txBox="1"/>
          <p:nvPr/>
        </p:nvSpPr>
        <p:spPr>
          <a:xfrm>
            <a:off x="1733743" y="3676517"/>
            <a:ext cx="1845570" cy="276999"/>
          </a:xfrm>
          <a:prstGeom prst="rect">
            <a:avLst/>
          </a:prstGeom>
          <a:noFill/>
        </p:spPr>
        <p:txBody>
          <a:bodyPr wrap="none" rtlCol="0">
            <a:spAutoFit/>
          </a:bodyPr>
          <a:lstStyle/>
          <a:p>
            <a:r>
              <a:rPr lang="es-ES" sz="1200" dirty="0"/>
              <a:t>Fuente: </a:t>
            </a:r>
            <a:r>
              <a:rPr lang="es-ES" sz="1200" dirty="0" err="1">
                <a:hlinkClick r:id="rId2"/>
              </a:rPr>
              <a:t>digitalbizmagazine</a:t>
            </a:r>
            <a:endParaRPr lang="es-ES" sz="1200" dirty="0"/>
          </a:p>
        </p:txBody>
      </p:sp>
      <p:pic>
        <p:nvPicPr>
          <p:cNvPr id="10" name="Imagen 9" title="&quot;&quot;">
            <a:extLs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48007" y="1557425"/>
            <a:ext cx="3749654" cy="2123828"/>
          </a:xfrm>
          <a:prstGeom prst="rect">
            <a:avLst/>
          </a:prstGeom>
        </p:spPr>
      </p:pic>
      <p:sp>
        <p:nvSpPr>
          <p:cNvPr id="11" name="CuadroTexto 10"/>
          <p:cNvSpPr txBox="1"/>
          <p:nvPr/>
        </p:nvSpPr>
        <p:spPr>
          <a:xfrm>
            <a:off x="8034516" y="3702457"/>
            <a:ext cx="1318118" cy="276999"/>
          </a:xfrm>
          <a:prstGeom prst="rect">
            <a:avLst/>
          </a:prstGeom>
          <a:noFill/>
        </p:spPr>
        <p:txBody>
          <a:bodyPr wrap="none" rtlCol="0">
            <a:spAutoFit/>
          </a:bodyPr>
          <a:lstStyle/>
          <a:p>
            <a:r>
              <a:rPr lang="es-ES" sz="1200" dirty="0"/>
              <a:t>Fuente: </a:t>
            </a:r>
            <a:r>
              <a:rPr lang="es-ES" sz="1200" dirty="0">
                <a:hlinkClick r:id="rId4"/>
              </a:rPr>
              <a:t>Wikipedia</a:t>
            </a:r>
            <a:endParaRPr lang="es-ES" sz="1200" dirty="0"/>
          </a:p>
        </p:txBody>
      </p:sp>
      <p:pic>
        <p:nvPicPr>
          <p:cNvPr id="12" name="Imagen 11" title="&quot;&quot;">
            <a:extLst>
              <a:ext uri="{C183D7F6-B498-43B3-948B-1728B52AA6E4}">
                <adec:decorative xmlns:adec="http://schemas.microsoft.com/office/drawing/2017/decorative" val="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64584" y="4030573"/>
            <a:ext cx="4471804" cy="2534022"/>
          </a:xfrm>
          <a:prstGeom prst="rect">
            <a:avLst/>
          </a:prstGeom>
        </p:spPr>
      </p:pic>
      <p:sp>
        <p:nvSpPr>
          <p:cNvPr id="13" name="CuadroTexto 12"/>
          <p:cNvSpPr txBox="1"/>
          <p:nvPr/>
        </p:nvSpPr>
        <p:spPr>
          <a:xfrm>
            <a:off x="1673014" y="6426095"/>
            <a:ext cx="1238159" cy="276999"/>
          </a:xfrm>
          <a:prstGeom prst="rect">
            <a:avLst/>
          </a:prstGeom>
          <a:noFill/>
        </p:spPr>
        <p:txBody>
          <a:bodyPr wrap="none" rtlCol="0">
            <a:spAutoFit/>
          </a:bodyPr>
          <a:lstStyle/>
          <a:p>
            <a:r>
              <a:rPr lang="es-ES" sz="1200" dirty="0"/>
              <a:t>Fuente: </a:t>
            </a:r>
            <a:r>
              <a:rPr lang="es-ES" sz="1200" dirty="0">
                <a:hlinkClick r:id="rId6"/>
              </a:rPr>
              <a:t>atlassian</a:t>
            </a:r>
            <a:endParaRPr lang="es-ES" sz="1200" dirty="0"/>
          </a:p>
        </p:txBody>
      </p:sp>
      <p:pic>
        <p:nvPicPr>
          <p:cNvPr id="16" name="Imagen 15" title="&quot;&quot;">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970872" y="4571931"/>
            <a:ext cx="5277336" cy="1510369"/>
          </a:xfrm>
          <a:prstGeom prst="rect">
            <a:avLst/>
          </a:prstGeom>
        </p:spPr>
      </p:pic>
      <p:sp>
        <p:nvSpPr>
          <p:cNvPr id="17" name="CuadroTexto 16"/>
          <p:cNvSpPr txBox="1"/>
          <p:nvPr/>
        </p:nvSpPr>
        <p:spPr>
          <a:xfrm>
            <a:off x="7987902" y="6249719"/>
            <a:ext cx="1060098" cy="276999"/>
          </a:xfrm>
          <a:prstGeom prst="rect">
            <a:avLst/>
          </a:prstGeom>
          <a:noFill/>
        </p:spPr>
        <p:txBody>
          <a:bodyPr wrap="none" rtlCol="0">
            <a:spAutoFit/>
          </a:bodyPr>
          <a:lstStyle/>
          <a:p>
            <a:r>
              <a:rPr lang="es-ES" sz="1200" dirty="0"/>
              <a:t>Fuente: </a:t>
            </a:r>
            <a:r>
              <a:rPr lang="es-ES" sz="1200" dirty="0">
                <a:hlinkClick r:id="rId8"/>
              </a:rPr>
              <a:t>quora</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12</a:t>
            </a:fld>
            <a:endParaRPr lang="es-ES" dirty="0"/>
          </a:p>
        </p:txBody>
      </p:sp>
      <p:pic>
        <p:nvPicPr>
          <p:cNvPr id="3" name="Imagen 2" title="&quot;&quot;"/>
          <p:cNvPicPr>
            <a:picLocks noChangeAspect="1"/>
          </p:cNvPicPr>
          <p:nvPr/>
        </p:nvPicPr>
        <p:blipFill>
          <a:blip r:embed="rId9"/>
          <a:stretch>
            <a:fillRect/>
          </a:stretch>
        </p:blipFill>
        <p:spPr>
          <a:xfrm>
            <a:off x="572332" y="1556242"/>
            <a:ext cx="3892434" cy="2146215"/>
          </a:xfrm>
          <a:prstGeom prst="rect">
            <a:avLst/>
          </a:prstGeom>
        </p:spPr>
      </p:pic>
    </p:spTree>
    <p:extLst>
      <p:ext uri="{BB962C8B-B14F-4D97-AF65-F5344CB8AC3E}">
        <p14:creationId xmlns:p14="http://schemas.microsoft.com/office/powerpoint/2010/main" val="3351467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4. </a:t>
            </a:r>
            <a:r>
              <a:rPr lang="es-ES" dirty="0" err="1"/>
              <a:t>DevOps</a:t>
            </a:r>
            <a:br>
              <a:rPr lang="es-ES" dirty="0"/>
            </a:br>
            <a:r>
              <a:rPr lang="es-ES" dirty="0"/>
              <a:t>Herramientas</a:t>
            </a:r>
          </a:p>
        </p:txBody>
      </p:sp>
      <p:sp>
        <p:nvSpPr>
          <p:cNvPr id="3" name="Marcador de contenido 2"/>
          <p:cNvSpPr>
            <a:spLocks noGrp="1"/>
          </p:cNvSpPr>
          <p:nvPr>
            <p:ph idx="1"/>
          </p:nvPr>
        </p:nvSpPr>
        <p:spPr>
          <a:xfrm>
            <a:off x="527538" y="1491517"/>
            <a:ext cx="11025553" cy="913639"/>
          </a:xfrm>
        </p:spPr>
        <p:txBody>
          <a:bodyPr>
            <a:normAutofit fontScale="92500" lnSpcReduction="20000"/>
          </a:bodyPr>
          <a:lstStyle/>
          <a:p>
            <a:r>
              <a:rPr lang="es-ES" dirty="0" err="1"/>
              <a:t>DevOps</a:t>
            </a:r>
            <a:r>
              <a:rPr lang="es-ES" dirty="0"/>
              <a:t> se basa en el uso de un conjunto o combinación de herramientas (</a:t>
            </a:r>
            <a:r>
              <a:rPr lang="es-ES" dirty="0" err="1"/>
              <a:t>toolchain</a:t>
            </a:r>
            <a:r>
              <a:rPr lang="es-ES" dirty="0"/>
              <a:t>) que permitan la máxima automatización de cada tarea</a:t>
            </a:r>
          </a:p>
          <a:p>
            <a:endParaRPr lang="es-ES" dirty="0"/>
          </a:p>
        </p:txBody>
      </p:sp>
      <p:pic>
        <p:nvPicPr>
          <p:cNvPr id="5" name="Imagen 4" title="&quot;&quot;">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7600" y="2541681"/>
            <a:ext cx="7683500" cy="4316319"/>
          </a:xfrm>
          <a:prstGeom prst="rect">
            <a:avLst/>
          </a:prstGeom>
        </p:spPr>
      </p:pic>
      <p:sp>
        <p:nvSpPr>
          <p:cNvPr id="6" name="CuadroTexto 5"/>
          <p:cNvSpPr txBox="1"/>
          <p:nvPr/>
        </p:nvSpPr>
        <p:spPr>
          <a:xfrm>
            <a:off x="9892820" y="6210300"/>
            <a:ext cx="1198918" cy="276999"/>
          </a:xfrm>
          <a:prstGeom prst="rect">
            <a:avLst/>
          </a:prstGeom>
          <a:noFill/>
        </p:spPr>
        <p:txBody>
          <a:bodyPr wrap="none" rtlCol="0">
            <a:spAutoFit/>
          </a:bodyPr>
          <a:lstStyle/>
          <a:p>
            <a:r>
              <a:rPr lang="es-ES" sz="1200" dirty="0"/>
              <a:t>Imagen: </a:t>
            </a:r>
            <a:r>
              <a:rPr lang="es-ES" sz="1200" dirty="0">
                <a:hlinkClick r:id="rId3"/>
              </a:rPr>
              <a:t>osolabs</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13</a:t>
            </a:fld>
            <a:endParaRPr lang="es-ES" dirty="0"/>
          </a:p>
        </p:txBody>
      </p:sp>
    </p:spTree>
    <p:extLst>
      <p:ext uri="{BB962C8B-B14F-4D97-AF65-F5344CB8AC3E}">
        <p14:creationId xmlns:p14="http://schemas.microsoft.com/office/powerpoint/2010/main" val="929338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5. Desarrollo ágil</a:t>
            </a:r>
          </a:p>
        </p:txBody>
      </p:sp>
      <p:sp>
        <p:nvSpPr>
          <p:cNvPr id="3" name="Marcador de contenido 2"/>
          <p:cNvSpPr>
            <a:spLocks noGrp="1"/>
          </p:cNvSpPr>
          <p:nvPr>
            <p:ph idx="1"/>
          </p:nvPr>
        </p:nvSpPr>
        <p:spPr>
          <a:xfrm>
            <a:off x="527538" y="1491517"/>
            <a:ext cx="7948092" cy="4698268"/>
          </a:xfrm>
        </p:spPr>
        <p:txBody>
          <a:bodyPr>
            <a:normAutofit/>
          </a:bodyPr>
          <a:lstStyle/>
          <a:p>
            <a:r>
              <a:rPr lang="es-ES" dirty="0"/>
              <a:t>CI/CD ayuda a cumplir los principios del </a:t>
            </a:r>
            <a:r>
              <a:rPr lang="es-ES" dirty="0">
                <a:hlinkClick r:id="rId2"/>
              </a:rPr>
              <a:t>manifiesto ágil</a:t>
            </a:r>
            <a:r>
              <a:rPr lang="es-ES" dirty="0"/>
              <a:t>, especialmente:</a:t>
            </a:r>
          </a:p>
          <a:p>
            <a:pPr lvl="1"/>
            <a:r>
              <a:rPr lang="es-ES" dirty="0"/>
              <a:t>Nuestra mayor prioridad es satisfacer al cliente mediante la entrega temprana y continua de software con valor. </a:t>
            </a:r>
          </a:p>
          <a:p>
            <a:pPr lvl="1"/>
            <a:r>
              <a:rPr lang="es-ES" dirty="0"/>
              <a:t>Entregamos software funcional frecuentemente, entre dos semanas y dos meses, con preferencia al periodo de tiempo más corto posible. </a:t>
            </a:r>
          </a:p>
          <a:p>
            <a:pPr lvl="1"/>
            <a:r>
              <a:rPr lang="es-ES" dirty="0"/>
              <a:t>El software funcionando es la medida principal de progreso.</a:t>
            </a:r>
          </a:p>
          <a:p>
            <a:r>
              <a:rPr lang="es-ES" dirty="0" err="1"/>
              <a:t>DevOps</a:t>
            </a:r>
            <a:r>
              <a:rPr lang="es-ES" dirty="0"/>
              <a:t> está soportado por metodologías ágiles</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14</a:t>
            </a:fld>
            <a:endParaRPr lang="es-ES" dirty="0"/>
          </a:p>
        </p:txBody>
      </p:sp>
      <p:pic>
        <p:nvPicPr>
          <p:cNvPr id="5" name="Imagen 4" title="&quot;&quot;">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75630" y="2854334"/>
            <a:ext cx="3716370" cy="2770178"/>
          </a:xfrm>
          <a:prstGeom prst="rect">
            <a:avLst/>
          </a:prstGeom>
        </p:spPr>
      </p:pic>
      <p:sp>
        <p:nvSpPr>
          <p:cNvPr id="6" name="CuadroTexto 5"/>
          <p:cNvSpPr txBox="1"/>
          <p:nvPr/>
        </p:nvSpPr>
        <p:spPr>
          <a:xfrm>
            <a:off x="9086625" y="5713431"/>
            <a:ext cx="1719060" cy="276999"/>
          </a:xfrm>
          <a:prstGeom prst="rect">
            <a:avLst/>
          </a:prstGeom>
          <a:noFill/>
        </p:spPr>
        <p:txBody>
          <a:bodyPr wrap="none" rtlCol="0">
            <a:spAutoFit/>
          </a:bodyPr>
          <a:lstStyle/>
          <a:p>
            <a:r>
              <a:rPr lang="es-ES" sz="1200" dirty="0"/>
              <a:t>Imagen: </a:t>
            </a:r>
            <a:r>
              <a:rPr lang="es-ES" sz="1200" dirty="0">
                <a:hlinkClick r:id="rId4"/>
              </a:rPr>
              <a:t>Nanduri Balajee</a:t>
            </a:r>
            <a:endParaRPr lang="es-ES" sz="1200" dirty="0"/>
          </a:p>
        </p:txBody>
      </p:sp>
    </p:spTree>
    <p:extLst>
      <p:ext uri="{BB962C8B-B14F-4D97-AF65-F5344CB8AC3E}">
        <p14:creationId xmlns:p14="http://schemas.microsoft.com/office/powerpoint/2010/main" val="669369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6. Flujos de trabajo en ramas</a:t>
            </a:r>
          </a:p>
        </p:txBody>
      </p:sp>
      <p:sp>
        <p:nvSpPr>
          <p:cNvPr id="3" name="Marcador de contenido 2"/>
          <p:cNvSpPr>
            <a:spLocks noGrp="1"/>
          </p:cNvSpPr>
          <p:nvPr>
            <p:ph idx="1"/>
          </p:nvPr>
        </p:nvSpPr>
        <p:spPr/>
        <p:txBody>
          <a:bodyPr>
            <a:normAutofit fontScale="92500" lnSpcReduction="10000"/>
          </a:bodyPr>
          <a:lstStyle/>
          <a:p>
            <a:r>
              <a:rPr lang="es-ES" dirty="0"/>
              <a:t>En un repositorio de código fuente utilizado para la integración continua en un proyecto, las ramas se organizan aplicando un tipo de flujo de trabajo en ramas, que se basa en una política o estrategia de ramas</a:t>
            </a:r>
          </a:p>
          <a:p>
            <a:r>
              <a:rPr lang="es-ES" dirty="0"/>
              <a:t>Los flujos más conocidos para repositorios Git son</a:t>
            </a:r>
          </a:p>
          <a:p>
            <a:pPr lvl="1"/>
            <a:r>
              <a:rPr lang="es-ES" dirty="0" err="1"/>
              <a:t>GitFlow</a:t>
            </a:r>
            <a:endParaRPr lang="es-ES" dirty="0"/>
          </a:p>
          <a:p>
            <a:pPr lvl="1"/>
            <a:r>
              <a:rPr lang="es-ES" dirty="0"/>
              <a:t>GitLab </a:t>
            </a:r>
            <a:r>
              <a:rPr lang="es-ES" dirty="0" err="1"/>
              <a:t>Flow</a:t>
            </a:r>
            <a:endParaRPr lang="es-ES" dirty="0"/>
          </a:p>
          <a:p>
            <a:pPr lvl="1"/>
            <a:r>
              <a:rPr lang="es-ES" dirty="0" err="1"/>
              <a:t>GitHub</a:t>
            </a:r>
            <a:r>
              <a:rPr lang="es-ES" dirty="0"/>
              <a:t> </a:t>
            </a:r>
            <a:r>
              <a:rPr lang="es-ES" dirty="0" err="1"/>
              <a:t>Flow</a:t>
            </a:r>
            <a:endParaRPr lang="es-ES" dirty="0"/>
          </a:p>
          <a:p>
            <a:pPr lvl="1"/>
            <a:r>
              <a:rPr lang="es-ES" dirty="0" err="1"/>
              <a:t>Release</a:t>
            </a:r>
            <a:r>
              <a:rPr lang="es-ES" dirty="0"/>
              <a:t> </a:t>
            </a:r>
            <a:r>
              <a:rPr lang="es-ES" dirty="0" err="1"/>
              <a:t>Flow</a:t>
            </a:r>
            <a:endParaRPr lang="es-ES" dirty="0"/>
          </a:p>
          <a:p>
            <a:pPr lvl="1"/>
            <a:r>
              <a:rPr lang="es-ES" dirty="0" err="1"/>
              <a:t>Trunk-Based</a:t>
            </a:r>
            <a:endParaRPr lang="es-ES" dirty="0"/>
          </a:p>
          <a:p>
            <a:pPr lvl="1"/>
            <a:r>
              <a:rPr lang="es-ES" dirty="0"/>
              <a:t>Master-</a:t>
            </a:r>
            <a:r>
              <a:rPr lang="es-ES" dirty="0" err="1"/>
              <a:t>only</a:t>
            </a:r>
            <a:r>
              <a:rPr lang="es-ES" dirty="0"/>
              <a:t> </a:t>
            </a:r>
            <a:r>
              <a:rPr lang="es-ES" dirty="0" err="1"/>
              <a:t>flow</a:t>
            </a:r>
            <a:endParaRPr lang="es-ES" dirty="0"/>
          </a:p>
        </p:txBody>
      </p:sp>
      <p:sp>
        <p:nvSpPr>
          <p:cNvPr id="6" name="CuadroTexto 5"/>
          <p:cNvSpPr txBox="1"/>
          <p:nvPr/>
        </p:nvSpPr>
        <p:spPr>
          <a:xfrm>
            <a:off x="4203839" y="6355739"/>
            <a:ext cx="1506823" cy="276999"/>
          </a:xfrm>
          <a:prstGeom prst="rect">
            <a:avLst/>
          </a:prstGeom>
          <a:noFill/>
        </p:spPr>
        <p:txBody>
          <a:bodyPr wrap="none" rtlCol="0">
            <a:spAutoFit/>
          </a:bodyPr>
          <a:lstStyle/>
          <a:p>
            <a:r>
              <a:rPr lang="es-ES" sz="1200" dirty="0"/>
              <a:t>Referencia: </a:t>
            </a:r>
            <a:r>
              <a:rPr lang="es-ES" sz="1200" dirty="0" err="1">
                <a:hlinkClick r:id="rId2"/>
              </a:rPr>
              <a:t>CodelyTV</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15</a:t>
            </a:fld>
            <a:endParaRPr lang="es-ES" dirty="0"/>
          </a:p>
        </p:txBody>
      </p:sp>
    </p:spTree>
    <p:extLst>
      <p:ext uri="{BB962C8B-B14F-4D97-AF65-F5344CB8AC3E}">
        <p14:creationId xmlns:p14="http://schemas.microsoft.com/office/powerpoint/2010/main" val="1971754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title="&quot;&quot;">
            <a:extLst>
              <a:ext uri="{C183D7F6-B498-43B3-948B-1728B52AA6E4}">
                <adec:decorative xmlns:adec="http://schemas.microsoft.com/office/drawing/2017/decorative" val="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85158" y="1350195"/>
            <a:ext cx="4156153" cy="5507806"/>
          </a:xfrm>
          <a:prstGeom prst="rect">
            <a:avLst/>
          </a:prstGeom>
        </p:spPr>
      </p:pic>
      <p:sp>
        <p:nvSpPr>
          <p:cNvPr id="2" name="Título 1"/>
          <p:cNvSpPr>
            <a:spLocks noGrp="1"/>
          </p:cNvSpPr>
          <p:nvPr>
            <p:ph type="title"/>
          </p:nvPr>
        </p:nvSpPr>
        <p:spPr/>
        <p:txBody>
          <a:bodyPr/>
          <a:lstStyle/>
          <a:p>
            <a:r>
              <a:rPr lang="es-ES" dirty="0"/>
              <a:t>6. Flujos de trabajo en ramas</a:t>
            </a:r>
            <a:br>
              <a:rPr lang="es-ES" dirty="0"/>
            </a:br>
            <a:r>
              <a:rPr lang="es-ES" dirty="0"/>
              <a:t>Git-</a:t>
            </a:r>
            <a:r>
              <a:rPr lang="es-ES" dirty="0" err="1"/>
              <a:t>Flow</a:t>
            </a:r>
            <a:endParaRPr lang="es-ES" dirty="0"/>
          </a:p>
        </p:txBody>
      </p:sp>
      <p:sp>
        <p:nvSpPr>
          <p:cNvPr id="3" name="Marcador de contenido 2"/>
          <p:cNvSpPr>
            <a:spLocks noGrp="1"/>
          </p:cNvSpPr>
          <p:nvPr>
            <p:ph idx="1"/>
          </p:nvPr>
        </p:nvSpPr>
        <p:spPr>
          <a:xfrm>
            <a:off x="527539" y="1491517"/>
            <a:ext cx="6376696" cy="4698268"/>
          </a:xfrm>
        </p:spPr>
        <p:txBody>
          <a:bodyPr>
            <a:normAutofit fontScale="92500"/>
          </a:bodyPr>
          <a:lstStyle/>
          <a:p>
            <a:r>
              <a:rPr lang="es-ES" dirty="0"/>
              <a:t>Está basado en dos grandes ramas con infinito tiempo de vida:</a:t>
            </a:r>
          </a:p>
          <a:p>
            <a:pPr lvl="1"/>
            <a:r>
              <a:rPr lang="es-ES" dirty="0"/>
              <a:t>rama master </a:t>
            </a:r>
          </a:p>
          <a:p>
            <a:pPr lvl="1"/>
            <a:r>
              <a:rPr lang="es-ES" dirty="0"/>
              <a:t>rama </a:t>
            </a:r>
            <a:r>
              <a:rPr lang="es-ES" dirty="0" err="1"/>
              <a:t>develop</a:t>
            </a:r>
            <a:endParaRPr lang="es-ES" dirty="0"/>
          </a:p>
          <a:p>
            <a:r>
              <a:rPr lang="es-ES" dirty="0"/>
              <a:t>varias ramas de apoyo</a:t>
            </a:r>
          </a:p>
          <a:p>
            <a:pPr lvl="1"/>
            <a:r>
              <a:rPr lang="es-ES" dirty="0"/>
              <a:t>unas orientadas al desarrollo de nuevas funcionalidades (ramas </a:t>
            </a:r>
            <a:r>
              <a:rPr lang="es-ES" dirty="0" err="1"/>
              <a:t>feature</a:t>
            </a:r>
            <a:r>
              <a:rPr lang="es-ES" dirty="0"/>
              <a:t>-*),</a:t>
            </a:r>
          </a:p>
          <a:p>
            <a:pPr lvl="1"/>
            <a:r>
              <a:rPr lang="es-ES" dirty="0"/>
              <a:t>otras al arreglo de errores (ramas </a:t>
            </a:r>
            <a:r>
              <a:rPr lang="es-ES" dirty="0" err="1"/>
              <a:t>hotfix</a:t>
            </a:r>
            <a:r>
              <a:rPr lang="es-ES" dirty="0"/>
              <a:t>-*) </a:t>
            </a:r>
          </a:p>
          <a:p>
            <a:pPr lvl="1"/>
            <a:r>
              <a:rPr lang="es-ES" dirty="0"/>
              <a:t>y otras orientadas a la preparación de nuevas versiones de producción (ramas </a:t>
            </a:r>
            <a:r>
              <a:rPr lang="es-ES" dirty="0" err="1"/>
              <a:t>release</a:t>
            </a:r>
            <a:r>
              <a:rPr lang="es-ES" dirty="0"/>
              <a:t>-*).</a:t>
            </a:r>
          </a:p>
        </p:txBody>
      </p:sp>
      <p:sp>
        <p:nvSpPr>
          <p:cNvPr id="7" name="CuadroTexto 6"/>
          <p:cNvSpPr txBox="1"/>
          <p:nvPr/>
        </p:nvSpPr>
        <p:spPr>
          <a:xfrm>
            <a:off x="7111944" y="6342722"/>
            <a:ext cx="1443665" cy="276999"/>
          </a:xfrm>
          <a:prstGeom prst="rect">
            <a:avLst/>
          </a:prstGeom>
          <a:noFill/>
        </p:spPr>
        <p:txBody>
          <a:bodyPr wrap="none" rtlCol="0">
            <a:spAutoFit/>
          </a:bodyPr>
          <a:lstStyle/>
          <a:p>
            <a:r>
              <a:rPr lang="es-ES" sz="1200" dirty="0"/>
              <a:t>Imagen: </a:t>
            </a:r>
            <a:r>
              <a:rPr lang="es-ES" sz="1200" dirty="0">
                <a:hlinkClick r:id="rId3"/>
              </a:rPr>
              <a:t>V. </a:t>
            </a:r>
            <a:r>
              <a:rPr lang="es-ES" sz="1200" dirty="0" err="1">
                <a:hlinkClick r:id="rId3"/>
              </a:rPr>
              <a:t>Driessen</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16</a:t>
            </a:fld>
            <a:endParaRPr lang="es-ES" dirty="0"/>
          </a:p>
        </p:txBody>
      </p:sp>
    </p:spTree>
    <p:extLst>
      <p:ext uri="{BB962C8B-B14F-4D97-AF65-F5344CB8AC3E}">
        <p14:creationId xmlns:p14="http://schemas.microsoft.com/office/powerpoint/2010/main" val="2897307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title="&quot;&quot;">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36980" y="1354992"/>
            <a:ext cx="4532281" cy="5366483"/>
          </a:xfrm>
          <a:prstGeom prst="rect">
            <a:avLst/>
          </a:prstGeom>
        </p:spPr>
      </p:pic>
      <p:sp>
        <p:nvSpPr>
          <p:cNvPr id="2" name="Título 1"/>
          <p:cNvSpPr>
            <a:spLocks noGrp="1"/>
          </p:cNvSpPr>
          <p:nvPr>
            <p:ph type="title"/>
          </p:nvPr>
        </p:nvSpPr>
        <p:spPr/>
        <p:txBody>
          <a:bodyPr/>
          <a:lstStyle/>
          <a:p>
            <a:r>
              <a:rPr lang="es-ES" dirty="0"/>
              <a:t>6. Flujos de trabajo en ramas</a:t>
            </a:r>
            <a:br>
              <a:rPr lang="es-ES" dirty="0"/>
            </a:br>
            <a:r>
              <a:rPr lang="es-ES" dirty="0"/>
              <a:t>GitLab </a:t>
            </a:r>
            <a:r>
              <a:rPr lang="es-ES" dirty="0" err="1"/>
              <a:t>Flow</a:t>
            </a:r>
            <a:endParaRPr lang="es-ES" dirty="0"/>
          </a:p>
        </p:txBody>
      </p:sp>
      <p:sp>
        <p:nvSpPr>
          <p:cNvPr id="3" name="Marcador de contenido 2"/>
          <p:cNvSpPr>
            <a:spLocks noGrp="1"/>
          </p:cNvSpPr>
          <p:nvPr>
            <p:ph idx="1"/>
          </p:nvPr>
        </p:nvSpPr>
        <p:spPr>
          <a:xfrm>
            <a:off x="527539" y="1491517"/>
            <a:ext cx="6376696" cy="4698268"/>
          </a:xfrm>
        </p:spPr>
        <p:txBody>
          <a:bodyPr>
            <a:normAutofit lnSpcReduction="10000"/>
          </a:bodyPr>
          <a:lstStyle/>
          <a:p>
            <a:r>
              <a:rPr lang="es-ES" dirty="0"/>
              <a:t>Está basado en tres ramas con infinito tiempo de vida</a:t>
            </a:r>
          </a:p>
          <a:p>
            <a:pPr lvl="1"/>
            <a:r>
              <a:rPr lang="es-ES" dirty="0"/>
              <a:t>rama master</a:t>
            </a:r>
          </a:p>
          <a:p>
            <a:pPr lvl="1"/>
            <a:r>
              <a:rPr lang="es-ES" dirty="0"/>
              <a:t>rama pre-</a:t>
            </a:r>
            <a:r>
              <a:rPr lang="es-ES" dirty="0" err="1"/>
              <a:t>production</a:t>
            </a:r>
            <a:endParaRPr lang="es-ES" dirty="0"/>
          </a:p>
          <a:p>
            <a:pPr lvl="1"/>
            <a:r>
              <a:rPr lang="es-ES" dirty="0"/>
              <a:t>rama </a:t>
            </a:r>
            <a:r>
              <a:rPr lang="es-ES" dirty="0" err="1"/>
              <a:t>production</a:t>
            </a:r>
            <a:endParaRPr lang="es-ES" dirty="0"/>
          </a:p>
          <a:p>
            <a:r>
              <a:rPr lang="es-ES" dirty="0"/>
              <a:t>Y varias ramas orientadas al desarrollo de nuevas funcionalidades o reparar errores</a:t>
            </a:r>
          </a:p>
          <a:p>
            <a:pPr lvl="1"/>
            <a:r>
              <a:rPr lang="es-ES" dirty="0"/>
              <a:t>ramas </a:t>
            </a:r>
            <a:r>
              <a:rPr lang="es-ES" dirty="0" err="1"/>
              <a:t>feature</a:t>
            </a:r>
            <a:r>
              <a:rPr lang="es-ES" dirty="0"/>
              <a:t> o </a:t>
            </a:r>
            <a:r>
              <a:rPr lang="es-ES" dirty="0" err="1"/>
              <a:t>hotfix</a:t>
            </a:r>
            <a:endParaRPr lang="es-ES" dirty="0"/>
          </a:p>
        </p:txBody>
      </p:sp>
      <p:sp>
        <p:nvSpPr>
          <p:cNvPr id="7" name="CuadroTexto 6"/>
          <p:cNvSpPr txBox="1"/>
          <p:nvPr/>
        </p:nvSpPr>
        <p:spPr>
          <a:xfrm>
            <a:off x="7217464" y="5929981"/>
            <a:ext cx="1127553" cy="276999"/>
          </a:xfrm>
          <a:prstGeom prst="rect">
            <a:avLst/>
          </a:prstGeom>
          <a:noFill/>
        </p:spPr>
        <p:txBody>
          <a:bodyPr wrap="none" rtlCol="0">
            <a:spAutoFit/>
          </a:bodyPr>
          <a:lstStyle/>
          <a:p>
            <a:r>
              <a:rPr lang="es-ES" sz="1200" dirty="0"/>
              <a:t>Imagen: GitLab</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17</a:t>
            </a:fld>
            <a:endParaRPr lang="es-ES" dirty="0"/>
          </a:p>
        </p:txBody>
      </p:sp>
    </p:spTree>
    <p:extLst>
      <p:ext uri="{BB962C8B-B14F-4D97-AF65-F5344CB8AC3E}">
        <p14:creationId xmlns:p14="http://schemas.microsoft.com/office/powerpoint/2010/main" val="24058467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6. Flujos de trabajo en ramas</a:t>
            </a:r>
            <a:br>
              <a:rPr lang="es-ES" dirty="0"/>
            </a:br>
            <a:r>
              <a:rPr lang="es-ES" dirty="0" err="1"/>
              <a:t>GitHub</a:t>
            </a:r>
            <a:r>
              <a:rPr lang="es-ES" dirty="0"/>
              <a:t> </a:t>
            </a:r>
            <a:r>
              <a:rPr lang="es-ES" dirty="0" err="1"/>
              <a:t>Flow</a:t>
            </a:r>
            <a:endParaRPr lang="es-ES" dirty="0"/>
          </a:p>
        </p:txBody>
      </p:sp>
      <p:sp>
        <p:nvSpPr>
          <p:cNvPr id="3" name="Marcador de contenido 2"/>
          <p:cNvSpPr>
            <a:spLocks noGrp="1"/>
          </p:cNvSpPr>
          <p:nvPr>
            <p:ph idx="1"/>
          </p:nvPr>
        </p:nvSpPr>
        <p:spPr>
          <a:xfrm>
            <a:off x="527539" y="1491517"/>
            <a:ext cx="6376696" cy="4698268"/>
          </a:xfrm>
        </p:spPr>
        <p:txBody>
          <a:bodyPr>
            <a:normAutofit/>
          </a:bodyPr>
          <a:lstStyle/>
          <a:p>
            <a:r>
              <a:rPr lang="es-ES" dirty="0"/>
              <a:t>Está basado en una rama con infinito tiempo de vida</a:t>
            </a:r>
          </a:p>
          <a:p>
            <a:pPr lvl="1"/>
            <a:r>
              <a:rPr lang="es-ES" dirty="0"/>
              <a:t>rama master</a:t>
            </a:r>
          </a:p>
          <a:p>
            <a:r>
              <a:rPr lang="es-ES" dirty="0"/>
              <a:t>Y varias ramas orientadas al desarrollo de nuevas funcionalidades</a:t>
            </a:r>
          </a:p>
          <a:p>
            <a:pPr lvl="1"/>
            <a:r>
              <a:rPr lang="es-ES" dirty="0"/>
              <a:t>ramas </a:t>
            </a:r>
            <a:r>
              <a:rPr lang="es-ES" dirty="0" err="1"/>
              <a:t>feature</a:t>
            </a:r>
            <a:r>
              <a:rPr lang="es-ES" dirty="0"/>
              <a:t>-*</a:t>
            </a:r>
          </a:p>
        </p:txBody>
      </p:sp>
      <p:pic>
        <p:nvPicPr>
          <p:cNvPr id="5" name="Imagen 4" title="&quot;&quot;">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6624" y="1491517"/>
            <a:ext cx="5082637" cy="4960654"/>
          </a:xfrm>
          <a:prstGeom prst="rect">
            <a:avLst/>
          </a:prstGeom>
        </p:spPr>
      </p:pic>
      <p:sp>
        <p:nvSpPr>
          <p:cNvPr id="7" name="CuadroTexto 6"/>
          <p:cNvSpPr txBox="1"/>
          <p:nvPr/>
        </p:nvSpPr>
        <p:spPr>
          <a:xfrm>
            <a:off x="5758534" y="6051285"/>
            <a:ext cx="1443665" cy="276999"/>
          </a:xfrm>
          <a:prstGeom prst="rect">
            <a:avLst/>
          </a:prstGeom>
          <a:noFill/>
        </p:spPr>
        <p:txBody>
          <a:bodyPr wrap="none" rtlCol="0">
            <a:spAutoFit/>
          </a:bodyPr>
          <a:lstStyle/>
          <a:p>
            <a:r>
              <a:rPr lang="es-ES" sz="1200" dirty="0"/>
              <a:t>Imagen: </a:t>
            </a:r>
            <a:r>
              <a:rPr lang="es-ES" sz="1200" dirty="0">
                <a:hlinkClick r:id="rId3"/>
              </a:rPr>
              <a:t>nicoespeon</a:t>
            </a:r>
            <a:endParaRPr lang="es-ES" sz="1200" dirty="0"/>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18</a:t>
            </a:fld>
            <a:endParaRPr lang="es-ES" dirty="0"/>
          </a:p>
        </p:txBody>
      </p:sp>
    </p:spTree>
    <p:extLst>
      <p:ext uri="{BB962C8B-B14F-4D97-AF65-F5344CB8AC3E}">
        <p14:creationId xmlns:p14="http://schemas.microsoft.com/office/powerpoint/2010/main" val="501038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6. Flujos de trabajo en ramas</a:t>
            </a:r>
            <a:br>
              <a:rPr lang="es-ES" dirty="0"/>
            </a:br>
            <a:r>
              <a:rPr lang="es-ES" dirty="0" err="1"/>
              <a:t>GitHub</a:t>
            </a:r>
            <a:r>
              <a:rPr lang="es-ES" dirty="0"/>
              <a:t> </a:t>
            </a:r>
            <a:r>
              <a:rPr lang="es-ES" dirty="0" err="1"/>
              <a:t>Flow</a:t>
            </a:r>
            <a:r>
              <a:rPr lang="es-ES" dirty="0"/>
              <a:t> (Principios)</a:t>
            </a:r>
          </a:p>
        </p:txBody>
      </p:sp>
      <p:sp>
        <p:nvSpPr>
          <p:cNvPr id="3" name="Marcador de contenido 2"/>
          <p:cNvSpPr>
            <a:spLocks noGrp="1"/>
          </p:cNvSpPr>
          <p:nvPr>
            <p:ph idx="1"/>
          </p:nvPr>
        </p:nvSpPr>
        <p:spPr/>
        <p:txBody>
          <a:bodyPr>
            <a:normAutofit fontScale="92500"/>
          </a:bodyPr>
          <a:lstStyle/>
          <a:p>
            <a:r>
              <a:rPr lang="es-ES" dirty="0"/>
              <a:t> Todo lo que está en la rama master está listo para ser puesto en producción</a:t>
            </a:r>
          </a:p>
          <a:p>
            <a:r>
              <a:rPr lang="es-ES" dirty="0"/>
              <a:t> Para trabajar en algo nuevo, hay que crear una nueva rama a partir de la rama master con un nombre descriptivo. El trabajo se irá integrando sobre esa rama en local y regularmente también a esa rama en el repositorio compartido</a:t>
            </a:r>
          </a:p>
          <a:p>
            <a:r>
              <a:rPr lang="es-ES" dirty="0"/>
              <a:t>Cuando creamos que la rama está lista para integrarla en la rama master, se debe abrir una </a:t>
            </a:r>
            <a:r>
              <a:rPr lang="es-ES" dirty="0" err="1"/>
              <a:t>pull</a:t>
            </a:r>
            <a:r>
              <a:rPr lang="es-ES" dirty="0"/>
              <a:t> </a:t>
            </a:r>
            <a:r>
              <a:rPr lang="es-ES" dirty="0" err="1"/>
              <a:t>request</a:t>
            </a:r>
            <a:r>
              <a:rPr lang="es-ES" dirty="0"/>
              <a:t> (solicitud de integración de cambios).</a:t>
            </a:r>
          </a:p>
          <a:p>
            <a:r>
              <a:rPr lang="es-ES" dirty="0"/>
              <a:t> Alguien debe revisar y visar los cambios para fusionarlos con la rama master</a:t>
            </a:r>
          </a:p>
          <a:p>
            <a:r>
              <a:rPr lang="es-ES" dirty="0"/>
              <a:t> Los cambios integrados se pueden poner en producción.</a:t>
            </a:r>
          </a:p>
        </p:txBody>
      </p:sp>
      <p:sp>
        <p:nvSpPr>
          <p:cNvPr id="4" name="Marcador de número de diapositiva 3"/>
          <p:cNvSpPr>
            <a:spLocks noGrp="1"/>
          </p:cNvSpPr>
          <p:nvPr>
            <p:ph type="sldNum" sz="quarter" idx="12"/>
          </p:nvPr>
        </p:nvSpPr>
        <p:spPr/>
        <p:txBody>
          <a:bodyPr/>
          <a:lstStyle/>
          <a:p>
            <a:fld id="{C9400CC4-AA0F-4E2E-A7D9-25BF1D2A8A65}" type="slidenum">
              <a:rPr lang="es-ES" smtClean="0"/>
              <a:t>19</a:t>
            </a:fld>
            <a:endParaRPr lang="es-ES" dirty="0"/>
          </a:p>
        </p:txBody>
      </p:sp>
    </p:spTree>
    <p:extLst>
      <p:ext uri="{BB962C8B-B14F-4D97-AF65-F5344CB8AC3E}">
        <p14:creationId xmlns:p14="http://schemas.microsoft.com/office/powerpoint/2010/main" val="3281866739"/>
      </p:ext>
    </p:extLst>
  </p:cSld>
  <p:clrMapOvr>
    <a:masterClrMapping/>
  </p:clrMapOvr>
</p:sld>
</file>

<file path=ppt/theme/theme1.xml><?xml version="1.0" encoding="utf-8"?>
<a:theme xmlns:a="http://schemas.openxmlformats.org/drawingml/2006/main" name="Tema de Office">
  <a:themeElements>
    <a:clrScheme name="Personalizado 5">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17406D"/>
      </a:hlink>
      <a:folHlink>
        <a:srgbClr val="17406D"/>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seño personalizad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9325</TotalTime>
  <Words>1516</Words>
  <Application>Microsoft Office PowerPoint</Application>
  <PresentationFormat>Panorámica</PresentationFormat>
  <Paragraphs>135</Paragraphs>
  <Slides>19</Slides>
  <Notes>3</Notes>
  <HiddenSlides>0</HiddenSlides>
  <MMClips>0</MMClips>
  <ScaleCrop>false</ScaleCrop>
  <HeadingPairs>
    <vt:vector size="6" baseType="variant">
      <vt:variant>
        <vt:lpstr>Fuentes usadas</vt:lpstr>
      </vt:variant>
      <vt:variant>
        <vt:i4>5</vt:i4>
      </vt:variant>
      <vt:variant>
        <vt:lpstr>Tema</vt:lpstr>
      </vt:variant>
      <vt:variant>
        <vt:i4>2</vt:i4>
      </vt:variant>
      <vt:variant>
        <vt:lpstr>Títulos de diapositiva</vt:lpstr>
      </vt:variant>
      <vt:variant>
        <vt:i4>19</vt:i4>
      </vt:variant>
    </vt:vector>
  </HeadingPairs>
  <TitlesOfParts>
    <vt:vector size="26" baseType="lpstr">
      <vt:lpstr>Arial</vt:lpstr>
      <vt:lpstr>Calibri</vt:lpstr>
      <vt:lpstr>Calibri Light</vt:lpstr>
      <vt:lpstr>Courier New</vt:lpstr>
      <vt:lpstr>Wingdings</vt:lpstr>
      <vt:lpstr>Tema de Office</vt:lpstr>
      <vt:lpstr>Diseño personalizado</vt:lpstr>
      <vt:lpstr>Conceptos relacionados con la Integración Continua</vt:lpstr>
      <vt:lpstr>Conceptos</vt:lpstr>
      <vt:lpstr>1. CI/CD (1/3)</vt:lpstr>
      <vt:lpstr>1. CI/CD (2/3)</vt:lpstr>
      <vt:lpstr>1. CI/CD (3/3)</vt:lpstr>
      <vt:lpstr>2. Entornos: desarrollo, pre-producción, producción (1/2)</vt:lpstr>
      <vt:lpstr>2. Entornos: desarrollo, pre-producción, producción (2/2)</vt:lpstr>
      <vt:lpstr>3. CI/CD workflow (o pipeline)</vt:lpstr>
      <vt:lpstr>3. CI/CD workflow (o pipeline) Ejecución</vt:lpstr>
      <vt:lpstr>4. DevOps</vt:lpstr>
      <vt:lpstr>4. DevOps Ciclo de vida, ejemplo con 8 fases</vt:lpstr>
      <vt:lpstr>4. DevOps Ciclo de vida, otros ejemplos</vt:lpstr>
      <vt:lpstr>4. DevOps Herramientas</vt:lpstr>
      <vt:lpstr>5. Desarrollo ágil</vt:lpstr>
      <vt:lpstr>6. Flujos de trabajo en ramas</vt:lpstr>
      <vt:lpstr>6. Flujos de trabajo en ramas Git-Flow</vt:lpstr>
      <vt:lpstr>6. Flujos de trabajo en ramas GitLab Flow</vt:lpstr>
      <vt:lpstr>6. Flujos de trabajo en ramas GitHub Flow</vt:lpstr>
      <vt:lpstr>6. Flujos de trabajo en ramas GitHub Flow (Principios)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Conceptos Integración Continua</dc:title>
  <dc:creator>Hilera González José Ramón</dc:creator>
  <cp:lastModifiedBy>jose hilera</cp:lastModifiedBy>
  <cp:revision>550</cp:revision>
  <cp:lastPrinted>2020-04-11T11:36:40Z</cp:lastPrinted>
  <dcterms:created xsi:type="dcterms:W3CDTF">2016-04-13T08:22:41Z</dcterms:created>
  <dcterms:modified xsi:type="dcterms:W3CDTF">2025-12-04T17:38:33Z</dcterms:modified>
</cp:coreProperties>
</file>